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Georgia" panose="02040502050405020303" pitchFamily="18" charset="0"/>
      <p:regular r:id="rId14"/>
      <p:bold r:id="rId15"/>
      <p:italic r:id="rId16"/>
      <p:boldItalic r:id="rId17"/>
    </p:embeddedFont>
    <p:embeddedFont>
      <p:font typeface="Lora" panose="020F0502020204030204" pitchFamily="2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4075EC-7B38-E5ED-C096-831E75F1DE06}" v="19" dt="2026-04-29T17:27:20.7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512" y="-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50" b="1">
                <a:solidFill>
                  <a:srgbClr val="2FB5C5"/>
                </a:solidFill>
                <a:latin typeface="Georgia"/>
              </a:rPr>
              <a:t>Traditional CRA Engagement Challenges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5D3EB"/>
              </a:solidFill>
            </c:spPr>
            <c:extLst>
              <c:ext xmlns:c16="http://schemas.microsoft.com/office/drawing/2014/chart" uri="{C3380CC4-5D6E-409C-BE32-E72D297353CC}">
                <c16:uniqueId val="{00000001-AD52-4816-A48D-97DB0B4BCADD}"/>
              </c:ext>
            </c:extLst>
          </c:dPt>
          <c:dPt>
            <c:idx val="1"/>
            <c:invertIfNegative val="1"/>
            <c:bubble3D val="0"/>
            <c:spPr>
              <a:solidFill>
                <a:srgbClr val="6565D7"/>
              </a:solidFill>
            </c:spPr>
            <c:extLst>
              <c:ext xmlns:c16="http://schemas.microsoft.com/office/drawing/2014/chart" uri="{C3380CC4-5D6E-409C-BE32-E72D297353CC}">
                <c16:uniqueId val="{00000003-AD52-4816-A48D-97DB0B4BCADD}"/>
              </c:ext>
            </c:extLst>
          </c:dPt>
          <c:dPt>
            <c:idx val="2"/>
            <c:invertIfNegative val="1"/>
            <c:bubble3D val="0"/>
            <c:spPr>
              <a:solidFill>
                <a:srgbClr val="62A376"/>
              </a:solidFill>
            </c:spPr>
            <c:extLst>
              <c:ext xmlns:c16="http://schemas.microsoft.com/office/drawing/2014/chart" uri="{C3380CC4-5D6E-409C-BE32-E72D297353CC}">
                <c16:uniqueId val="{00000005-AD52-4816-A48D-97DB0B4BCADD}"/>
              </c:ext>
            </c:extLst>
          </c:dPt>
          <c:dPt>
            <c:idx val="3"/>
            <c:invertIfNegative val="1"/>
            <c:bubble3D val="0"/>
            <c:spPr>
              <a:solidFill>
                <a:srgbClr val="4DBFBF"/>
              </a:solidFill>
            </c:spPr>
            <c:extLst>
              <c:ext xmlns:c16="http://schemas.microsoft.com/office/drawing/2014/chart" uri="{C3380CC4-5D6E-409C-BE32-E72D297353CC}">
                <c16:uniqueId val="{00000007-AD52-4816-A48D-97DB0B4BCADD}"/>
              </c:ext>
            </c:extLst>
          </c:dPt>
          <c:dPt>
            <c:idx val="4"/>
            <c:invertIfNegative val="1"/>
            <c:bubble3D val="0"/>
            <c:spPr>
              <a:solidFill>
                <a:srgbClr val="5483D6"/>
              </a:solidFill>
            </c:spPr>
            <c:extLst>
              <c:ext xmlns:c16="http://schemas.microsoft.com/office/drawing/2014/chart" uri="{C3380CC4-5D6E-409C-BE32-E72D297353CC}">
                <c16:uniqueId val="{00000009-AD52-4816-A48D-97DB0B4BCADD}"/>
              </c:ext>
            </c:extLst>
          </c:dPt>
          <c:cat>
            <c:strRef>
              <c:f>Sheet1!$A$2:$A$6</c:f>
              <c:strCache>
                <c:ptCount val="5"/>
                <c:pt idx="0">
                  <c:v>Long assessment cycles</c:v>
                </c:pt>
                <c:pt idx="1">
                  <c:v>Provider-biased outcomes</c:v>
                </c:pt>
                <c:pt idx="2">
                  <c:v>No reusable templates</c:v>
                </c:pt>
                <c:pt idx="3">
                  <c:v>Manual analysis overhead</c:v>
                </c:pt>
                <c:pt idx="4">
                  <c:v>Inconsistent methodology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7</c:v>
                </c:pt>
                <c:pt idx="3">
                  <c:v>9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D52-4816-A48D-97DB0B4BCA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 w="9525">
              <a:solidFill>
                <a:srgbClr val="E5F2F1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975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050">
                    <a:solidFill>
                      <a:srgbClr val="333333"/>
                    </a:solidFill>
                    <a:latin typeface="Aptos"/>
                  </a:rPr>
                  <a:t>Impact Score (1-10)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it-IT" sz="1200" b="1"/>
              <a:t>DMG Media Estate Assessment Scope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DMG Media Estate Assessment Scope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483D6"/>
              </a:solidFill>
            </c:spPr>
            <c:extLst>
              <c:ext xmlns:c16="http://schemas.microsoft.com/office/drawing/2014/chart" uri="{C3380CC4-5D6E-409C-BE32-E72D297353CC}">
                <c16:uniqueId val="{00000001-A832-4F23-A3FC-3AAA33F02C53}"/>
              </c:ext>
            </c:extLst>
          </c:dPt>
          <c:dPt>
            <c:idx val="1"/>
            <c:invertIfNegative val="1"/>
            <c:bubble3D val="0"/>
            <c:spPr>
              <a:solidFill>
                <a:srgbClr val="4DBFBF"/>
              </a:solidFill>
            </c:spPr>
            <c:extLst>
              <c:ext xmlns:c16="http://schemas.microsoft.com/office/drawing/2014/chart" uri="{C3380CC4-5D6E-409C-BE32-E72D297353CC}">
                <c16:uniqueId val="{00000003-A832-4F23-A3FC-3AAA33F02C53}"/>
              </c:ext>
            </c:extLst>
          </c:dPt>
          <c:dPt>
            <c:idx val="2"/>
            <c:invertIfNegative val="1"/>
            <c:bubble3D val="0"/>
            <c:spPr>
              <a:solidFill>
                <a:srgbClr val="62A376"/>
              </a:solidFill>
            </c:spPr>
            <c:extLst>
              <c:ext xmlns:c16="http://schemas.microsoft.com/office/drawing/2014/chart" uri="{C3380CC4-5D6E-409C-BE32-E72D297353CC}">
                <c16:uniqueId val="{00000005-A832-4F23-A3FC-3AAA33F02C53}"/>
              </c:ext>
            </c:extLst>
          </c:dPt>
          <c:dPt>
            <c:idx val="3"/>
            <c:invertIfNegative val="1"/>
            <c:bubble3D val="0"/>
            <c:spPr>
              <a:solidFill>
                <a:srgbClr val="6565D7"/>
              </a:solidFill>
            </c:spPr>
            <c:extLst>
              <c:ext xmlns:c16="http://schemas.microsoft.com/office/drawing/2014/chart" uri="{C3380CC4-5D6E-409C-BE32-E72D297353CC}">
                <c16:uniqueId val="{00000007-A832-4F23-A3FC-3AAA33F02C53}"/>
              </c:ext>
            </c:extLst>
          </c:dPt>
          <c:cat>
            <c:strRef>
              <c:f>Sheet1!$A$2:$A$5</c:f>
              <c:strCache>
                <c:ptCount val="4"/>
                <c:pt idx="0">
                  <c:v>Servers Assessed</c:v>
                </c:pt>
                <c:pt idx="1">
                  <c:v>Applications Profiled</c:v>
                </c:pt>
                <c:pt idx="2">
                  <c:v>Databases Evaluated</c:v>
                </c:pt>
                <c:pt idx="3">
                  <c:v>Assessment Duration (weeks)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3038</c:v>
                </c:pt>
                <c:pt idx="1">
                  <c:v>39</c:v>
                </c:pt>
                <c:pt idx="2">
                  <c:v>88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32-4F23-A3FC-3AAA33F02C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 w="9525">
              <a:solidFill>
                <a:srgbClr val="D9E5E4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IN" sz="1200">
                    <a:solidFill>
                      <a:srgbClr val="666666"/>
                    </a:solidFill>
                  </a:rPr>
                  <a:t>Metrics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1100">
                <a:solidFill>
                  <a:srgbClr val="666666"/>
                </a:solidFill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E5E4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IN" sz="1200">
                    <a:solidFill>
                      <a:srgbClr val="666666"/>
                    </a:solidFill>
                  </a:rPr>
                  <a:t>Count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1100">
                <a:solidFill>
                  <a:srgbClr val="666666"/>
                </a:solidFill>
                <a:latin typeface="Times New Roman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raxglobal.sharepoint.com/sites/ProfessionalServices-UK/_layouts/15/Doc.aspx?sourcedoc=%7B1716FACD-F504-438D-9947-7DE8F20C5336%7D&amp;file=DMG%20-%20CRA%20-%20Executive%20Summary%20v2.pptx&amp;action=edit&amp;mobileredirect=true&amp;DefaultItemOpen=1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raxglobal.sharepoint.com/sites/ProfessionalServices-UK/_layouts/15/Doc.aspx?sourcedoc=%7B1716FACD-F504-438D-9947-7DE8F20C5336%7D&amp;file=DMG%20-%20CRA%20-%20Executive%20Summary%20v2.pptx&amp;action=edit&amp;mobileredirect=true&amp;DefaultItemOpen=1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axglobal.sharepoint.com/sites/ProfessionalServices-UK/_layouts/15/Doc.aspx?sourcedoc=%7B08C376B0-73BA-468E-8956-C5D4F597EE69%7D&amp;file=DMG_CRA_Phase1_Report.docx&amp;action=default&amp;mobileredirect=true&amp;DefaultItemOpen=1" TargetMode="External"/><Relationship Id="rId2" Type="http://schemas.openxmlformats.org/officeDocument/2006/relationships/hyperlink" Target="https://raxglobal.sharepoint.com/sites/ProfessionalServices-UK/_layouts/15/Doc.aspx?sourcedoc=%7B1716FACD-F504-438D-9947-7DE8F20C5336%7D&amp;file=DMG%20-%20CRA%20-%20Executive%20Summary%20v2.pptx&amp;action=edit&amp;mobileredirect=true&amp;DefaultItemOpen=1" TargetMode="Externa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axglobal.sharepoint.com/sites/ProfessionalServices-UK/_layouts/15/Doc.aspx?sourcedoc=%7B1716FACD-F504-438D-9947-7DE8F20C5336%7D&amp;file=DMG%20-%20CRA%20-%20Executive%20Summary%20v2.pptx&amp;action=edit&amp;mobileredirect=true&amp;DefaultItemOpen=1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raxglobal.sharepoint.com/sites/ProfessionalServices-UK/_layouts/15/Doc.aspx?sourcedoc=%7B1716FACD-F504-438D-9947-7DE8F20C5336%7D&amp;file=DMG%20-%20CRA%20-%20Executive%20Summary%20v2.pptx&amp;action=edit&amp;mobileredirect=true&amp;DefaultItemOpen=1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5AAD5"/>
            </a:gs>
            <a:gs pos="100000">
              <a:srgbClr val="66C26C"/>
            </a:gs>
          </a:gsLst>
          <a:lin ang="20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5899" y="2799535"/>
            <a:ext cx="7899896" cy="7429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376" b="1" i="0">
                <a:solidFill>
                  <a:srgbClr val="FFFFFF"/>
                </a:solidFill>
                <a:latin typeface="Lora"/>
              </a:rPr>
              <a:t>Cloud Readiness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67628" y="3790408"/>
            <a:ext cx="4856289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3" b="0" i="0">
                <a:solidFill>
                  <a:srgbClr val="FFFFFF"/>
                </a:solidFill>
                <a:latin typeface="Aptos"/>
              </a:rPr>
              <a:t>Reusable Enterprise Multi-Cloud Assessment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32105" y="6069952"/>
            <a:ext cx="2527484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71" b="0" i="0">
                <a:solidFill>
                  <a:srgbClr val="FFFFFF"/>
                </a:solidFill>
                <a:latin typeface="Aptos"/>
              </a:rPr>
              <a:t>Professional Services Delivery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857828"/>
          </a:xfrm>
          <a:prstGeom prst="rect">
            <a:avLst/>
          </a:prstGeom>
          <a:solidFill>
            <a:srgbClr val="F2F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639" y="1332871"/>
            <a:ext cx="5417357" cy="1129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55" b="1" i="0">
                <a:solidFill>
                  <a:srgbClr val="2FB5C5"/>
                </a:solidFill>
                <a:latin typeface="Lora"/>
              </a:rPr>
              <a:t>The Challenge: Why This Framework Was Created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639" y="2677648"/>
            <a:ext cx="5486262" cy="259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7485" indent="-19748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333333"/>
                </a:solidFill>
                <a:latin typeface="Aptos"/>
              </a:rPr>
              <a:t>Manual discovery processes create </a:t>
            </a:r>
            <a:r>
              <a:rPr lang="en-US" sz="1250">
                <a:solidFill>
                  <a:srgbClr val="333333"/>
                </a:solidFill>
                <a:latin typeface="Aptos"/>
              </a:rPr>
              <a:t>8–12-week</a:t>
            </a:r>
            <a:r>
              <a:rPr sz="1250" b="0" i="0" dirty="0">
                <a:solidFill>
                  <a:srgbClr val="333333"/>
                </a:solidFill>
                <a:latin typeface="Aptos"/>
              </a:rPr>
              <a:t> timelines with significant overhead and inconsistent quality</a:t>
            </a:r>
            <a:endParaRPr lang="en-US" sz="1250" dirty="0"/>
          </a:p>
          <a:p>
            <a:pPr marL="197485" indent="-197485" algn="l">
              <a:lnSpc>
                <a:spcPts val="2073"/>
              </a:lnSpc>
              <a:spcBef>
                <a:spcPts val="120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333333"/>
                </a:solidFill>
                <a:latin typeface="Aptos"/>
              </a:rPr>
              <a:t>Each engagement starts from scratch without standardized frameworks, leading to duplicated effort</a:t>
            </a:r>
          </a:p>
          <a:p>
            <a:pPr marL="197485" indent="-197485" algn="l">
              <a:lnSpc>
                <a:spcPts val="2073"/>
              </a:lnSpc>
              <a:spcBef>
                <a:spcPts val="120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Provider-specific tools create bias toward single platforms, missing multi-cloud evaluation opportunities</a:t>
            </a:r>
          </a:p>
          <a:p>
            <a:pPr marL="197485" indent="-197485" algn="l">
              <a:lnSpc>
                <a:spcPts val="2073"/>
              </a:lnSpc>
              <a:spcBef>
                <a:spcPts val="120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50" b="0" i="0" dirty="0">
                <a:solidFill>
                  <a:srgbClr val="333333"/>
                </a:solidFill>
                <a:latin typeface="Aptos"/>
              </a:rPr>
              <a:t>No industrialized approach limits ability to scale delivery and demonstrate repeatable expertise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04792" y="1714457"/>
          <a:ext cx="5486262" cy="3428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50159" cy="6858000"/>
          </a:xfrm>
          <a:prstGeom prst="rect">
            <a:avLst/>
          </a:prstGeom>
          <a:solidFill>
            <a:srgbClr val="F2F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800" y="1016793"/>
            <a:ext cx="4240559" cy="1034653"/>
          </a:xfrm>
          <a:prstGeom prst="roundRect">
            <a:avLst>
              <a:gd name="adj" fmla="val 14729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04800" y="2280046"/>
            <a:ext cx="4240559" cy="1034653"/>
          </a:xfrm>
          <a:prstGeom prst="roundRect">
            <a:avLst>
              <a:gd name="adj" fmla="val 14729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4800" y="3543300"/>
            <a:ext cx="4240559" cy="1034653"/>
          </a:xfrm>
          <a:prstGeom prst="roundRect">
            <a:avLst>
              <a:gd name="adj" fmla="val 14729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4800" y="4806553"/>
            <a:ext cx="4240559" cy="1034653"/>
          </a:xfrm>
          <a:prstGeom prst="roundRect">
            <a:avLst>
              <a:gd name="adj" fmla="val 14729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54959" y="2213669"/>
            <a:ext cx="2142529" cy="897582"/>
          </a:xfrm>
          <a:prstGeom prst="roundRect">
            <a:avLst>
              <a:gd name="adj" fmla="val 16978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49889" y="2213669"/>
            <a:ext cx="2142529" cy="897582"/>
          </a:xfrm>
          <a:prstGeom prst="roundRect">
            <a:avLst>
              <a:gd name="adj" fmla="val 16978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744819" y="2213669"/>
            <a:ext cx="2142529" cy="897582"/>
          </a:xfrm>
          <a:prstGeom prst="roundRect">
            <a:avLst>
              <a:gd name="adj" fmla="val 16978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3386" y="1245362"/>
            <a:ext cx="2546087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799A7"/>
                </a:solidFill>
                <a:latin typeface="Lora"/>
              </a:rPr>
              <a:t>Standardized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1598076"/>
            <a:ext cx="3783265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333333"/>
                </a:solidFill>
                <a:latin typeface="Aptos"/>
              </a:rPr>
              <a:t>Consistent assessment approach across all engagements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386" y="2508584"/>
            <a:ext cx="1942158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799A7"/>
                </a:solidFill>
                <a:latin typeface="Lora"/>
              </a:rPr>
              <a:t>Multi-Cloud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386" y="2861297"/>
            <a:ext cx="304628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333333"/>
                </a:solidFill>
                <a:latin typeface="Aptos"/>
              </a:rPr>
              <a:t>Objective comparison of Azure, AWS, and GCP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386" y="3771805"/>
            <a:ext cx="1869383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799A7"/>
                </a:solidFill>
                <a:latin typeface="Lora"/>
              </a:rPr>
              <a:t>Reusable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4124519"/>
            <a:ext cx="330360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333333"/>
                </a:solidFill>
                <a:latin typeface="Aptos"/>
              </a:rPr>
              <a:t>Pre-built deliverables reduce time-to-value by 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386" y="5035027"/>
            <a:ext cx="2376279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799A7"/>
                </a:solidFill>
                <a:latin typeface="Lora"/>
              </a:rPr>
              <a:t>Production-Ready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386" y="5387740"/>
            <a:ext cx="2909665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333333"/>
                </a:solidFill>
                <a:latin typeface="Aptos"/>
              </a:rPr>
              <a:t>Battle-tested in real enterprise engagements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4830" y="564044"/>
            <a:ext cx="5732715" cy="1129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55" b="1" i="0">
                <a:solidFill>
                  <a:srgbClr val="2FB5C5"/>
                </a:solidFill>
                <a:latin typeface="Lora"/>
              </a:rPr>
              <a:t>What the Cloud Readiness Accelerator Provides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7440" y="2337436"/>
            <a:ext cx="537107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24+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8965" y="2780486"/>
            <a:ext cx="1594206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71" b="0" i="0">
                <a:solidFill>
                  <a:srgbClr val="333333"/>
                </a:solidFill>
                <a:latin typeface="Aptos"/>
              </a:rPr>
              <a:t>Standardized Templates</a:t>
            </a:r>
            <a:r>
              <a:rPr sz="755" b="0" i="0">
                <a:solidFill>
                  <a:srgbClr val="177333"/>
                </a:solidFill>
                <a:latin typeface="Aptos"/>
              </a:rPr>
              <a:t> </a:t>
            </a:r>
            <a:r>
              <a:rPr sz="755" b="0" i="0">
                <a:solidFill>
                  <a:srgbClr val="177333"/>
                </a:solidFill>
                <a:latin typeface="Aptos"/>
                <a:hlinkClick r:id="rId2" tooltip="DMG - CRA - Executive Summary v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1348" y="2337436"/>
            <a:ext cx="179035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2470" y="2780486"/>
            <a:ext cx="95679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71" b="0" i="0">
                <a:solidFill>
                  <a:srgbClr val="333333"/>
                </a:solidFill>
                <a:latin typeface="Aptos"/>
              </a:rPr>
              <a:t>Cloud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6221" y="2337436"/>
            <a:ext cx="179035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4831" y="2780486"/>
            <a:ext cx="1181814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71" b="0" i="0">
                <a:solidFill>
                  <a:srgbClr val="333333"/>
                </a:solidFill>
                <a:latin typeface="Aptos"/>
              </a:rPr>
              <a:t>Assessment Phases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4830" y="3568362"/>
            <a:ext cx="6732071" cy="27063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8085" indent="-19808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Comprehensive framework covering technical fit, cost analysis, migration readiness, and business alignment across three major platforms</a:t>
            </a:r>
          </a:p>
          <a:p>
            <a:pPr marL="198085" indent="-19808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Multi-dimensional scoring evaluates Technical, Operations, Security, Business, and People readiness with weighted criteria tailored to client priorities</a:t>
            </a:r>
          </a:p>
          <a:p>
            <a:pPr marL="198085" indent="-19808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Ready-to-use templates for discovery questionnaires, application profiling, dependency mapping, and executive reporting that accelerate delivery</a:t>
            </a:r>
          </a:p>
          <a:p>
            <a:pPr marL="198085" indent="-19808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Provider-neutral approach ensures objective recommendations based on client requirements rather than vendor preferences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19900" y="0"/>
            <a:ext cx="5372100" cy="6858000"/>
          </a:xfrm>
          <a:prstGeom prst="rect">
            <a:avLst/>
          </a:prstGeom>
          <a:solidFill>
            <a:srgbClr val="F2F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24700" y="621357"/>
            <a:ext cx="4762500" cy="1110406"/>
          </a:xfrm>
          <a:prstGeom prst="roundRect">
            <a:avLst>
              <a:gd name="adj" fmla="val 13724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9955" y="1898404"/>
            <a:ext cx="171513" cy="2000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24700" y="2265164"/>
            <a:ext cx="4762500" cy="1110406"/>
          </a:xfrm>
          <a:prstGeom prst="roundRect">
            <a:avLst>
              <a:gd name="adj" fmla="val 13724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9955" y="3542169"/>
            <a:ext cx="171513" cy="20000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24700" y="3908970"/>
            <a:ext cx="4762500" cy="897135"/>
          </a:xfrm>
          <a:prstGeom prst="roundRect">
            <a:avLst>
              <a:gd name="adj" fmla="val 16987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9955" y="4972669"/>
            <a:ext cx="171513" cy="200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24700" y="5339506"/>
            <a:ext cx="4762500" cy="897135"/>
          </a:xfrm>
          <a:prstGeom prst="roundRect">
            <a:avLst>
              <a:gd name="adj" fmla="val 16987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792" y="400486"/>
            <a:ext cx="5097682" cy="1129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55" b="1" i="0">
                <a:solidFill>
                  <a:srgbClr val="2FB5C5"/>
                </a:solidFill>
                <a:latin typeface="Lora"/>
              </a:rPr>
              <a:t>Four-Phase Framework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7278" y="804098"/>
            <a:ext cx="941611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FB5C5"/>
                </a:solidFill>
                <a:latin typeface="Lora"/>
              </a:rPr>
              <a:t>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7278" y="1131958"/>
            <a:ext cx="3823150" cy="403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2799A7"/>
                </a:solidFill>
                <a:latin typeface="Aptos"/>
              </a:rPr>
              <a:t>Tooling, server profiling, dependency mapping, application workshops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7278" y="2447863"/>
            <a:ext cx="787876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FB5C5"/>
                </a:solidFill>
                <a:latin typeface="Lora"/>
              </a:rPr>
              <a:t>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7278" y="2775723"/>
            <a:ext cx="3988196" cy="403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2799A7"/>
                </a:solidFill>
                <a:latin typeface="Aptos"/>
              </a:rPr>
              <a:t>TCO modeling, technical assessment, readiness scoring, gap identification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7278" y="4091629"/>
            <a:ext cx="1002629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FB5C5"/>
                </a:solidFill>
                <a:latin typeface="Lora"/>
              </a:rPr>
              <a:t>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7278" y="4419489"/>
            <a:ext cx="415815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2799A7"/>
                </a:solidFill>
                <a:latin typeface="Aptos"/>
              </a:rPr>
              <a:t>Multi-cloud comparison, weighted scoring, business fit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7278" y="5522129"/>
            <a:ext cx="845322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FB5C5"/>
                </a:solidFill>
                <a:latin typeface="Lora"/>
              </a:rPr>
              <a:t>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7278" y="5849989"/>
            <a:ext cx="431947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2799A7"/>
                </a:solidFill>
                <a:latin typeface="Aptos"/>
              </a:rPr>
              <a:t>Migration runbooks, wave planning, governance design,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792" y="1713288"/>
            <a:ext cx="6210144" cy="2517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7005" indent="-16700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Discovery phase deploys automated tooling to profile infrastructure, applications, and dependencies across the entire estate</a:t>
            </a:r>
            <a:endParaRPr lang="en-US"/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Analysis phase builds comprehensive TCO models and assesses migration readiness across five dimensions with scoring frameworks</a:t>
            </a:r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Evaluation phase conducts objective comparison of Azure, AWS, and GCP using weighted criteria aligned to business drivers</a:t>
            </a:r>
          </a:p>
          <a:p>
            <a:pPr marL="167005" indent="-16700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Planning phase delivers actionable migration roadmaps, prioritized wave plans, governance frameworks, and clear next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1081980"/>
            <a:ext cx="3759249" cy="1115466"/>
          </a:xfrm>
          <a:prstGeom prst="roundRect">
            <a:avLst>
              <a:gd name="adj" fmla="val 13662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16449" y="1081980"/>
            <a:ext cx="3759249" cy="1115466"/>
          </a:xfrm>
          <a:prstGeom prst="roundRect">
            <a:avLst>
              <a:gd name="adj" fmla="val 13662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4792" y="285742"/>
            <a:ext cx="11198440" cy="5810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55" b="1" i="0">
                <a:solidFill>
                  <a:srgbClr val="2FB5C5"/>
                </a:solidFill>
                <a:latin typeface="Lora"/>
              </a:rPr>
              <a:t>Key Differentiators That Set This Framework Apart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7261" y="1281973"/>
            <a:ext cx="814069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4332" y="1765057"/>
            <a:ext cx="105992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79" b="0" i="0">
                <a:solidFill>
                  <a:srgbClr val="2799A7"/>
                </a:solidFill>
                <a:latin typeface="Aptos"/>
              </a:rPr>
              <a:t>Provider Neutral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6404" y="1281973"/>
            <a:ext cx="179035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4135" y="1765057"/>
            <a:ext cx="150342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79" b="0" i="0">
                <a:solidFill>
                  <a:srgbClr val="2799A7"/>
                </a:solidFill>
                <a:latin typeface="Aptos"/>
              </a:rPr>
              <a:t>Readiness Dimensions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792" y="2578382"/>
            <a:ext cx="11582110" cy="18894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445" indent="-22844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 dirty="0">
                <a:solidFill>
                  <a:srgbClr val="333333"/>
                </a:solidFill>
                <a:latin typeface="Aptos"/>
              </a:rPr>
              <a:t>Provider-neutral multi-cloud evaluation standardized scoring across platforms</a:t>
            </a:r>
          </a:p>
          <a:p>
            <a:pPr marL="228445" indent="-228445" algn="l">
              <a:lnSpc>
                <a:spcPts val="2073"/>
              </a:lnSpc>
              <a:spcBef>
                <a:spcPts val="107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 dirty="0">
                <a:solidFill>
                  <a:srgbClr val="333333"/>
                </a:solidFill>
                <a:latin typeface="Aptos"/>
              </a:rPr>
              <a:t>Licensing-aware TCO modeling incorporates BYOL, Software Assurance, and subscription optimization for accurate financial comparisons</a:t>
            </a:r>
          </a:p>
          <a:p>
            <a:pPr marL="228445" indent="-228445" algn="l">
              <a:lnSpc>
                <a:spcPts val="2073"/>
              </a:lnSpc>
              <a:spcBef>
                <a:spcPts val="107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 dirty="0">
                <a:solidFill>
                  <a:srgbClr val="333333"/>
                </a:solidFill>
                <a:latin typeface="Aptos"/>
              </a:rPr>
              <a:t>Governance-first design embeds landing zones, FinOps, security controls, and operating models from day one</a:t>
            </a:r>
          </a:p>
          <a:p>
            <a:pPr marL="228445" indent="-228445" algn="l">
              <a:lnSpc>
                <a:spcPts val="2073"/>
              </a:lnSpc>
              <a:spcBef>
                <a:spcPts val="107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 dirty="0">
                <a:solidFill>
                  <a:srgbClr val="333333"/>
                </a:solidFill>
                <a:latin typeface="Aptos"/>
              </a:rPr>
              <a:t>Multi-dimensional assessment evaluates Technical, Operations, Security, Business, and People factors with weighted, tailored scoring</a:t>
            </a:r>
          </a:p>
          <a:p>
            <a:pPr marL="228445" indent="-228445" algn="l">
              <a:lnSpc>
                <a:spcPts val="2073"/>
              </a:lnSpc>
              <a:spcBef>
                <a:spcPts val="107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 dirty="0">
                <a:solidFill>
                  <a:srgbClr val="333333"/>
                </a:solidFill>
                <a:latin typeface="Aptos"/>
              </a:rPr>
              <a:t>Reusable asset library includes profiling templates, dependency tools, migration runbooks, and presentation frameworks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792" y="285742"/>
            <a:ext cx="9515534" cy="5810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55" b="1" i="0">
                <a:solidFill>
                  <a:srgbClr val="2FB5C5"/>
                </a:solidFill>
                <a:latin typeface="Lora"/>
              </a:rPr>
              <a:t>Reusable Assets Included in the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792" y="984771"/>
            <a:ext cx="11036668" cy="431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3" b="0" i="0" dirty="0">
                <a:solidFill>
                  <a:srgbClr val="333333"/>
                </a:solidFill>
                <a:latin typeface="Aptos"/>
              </a:rPr>
              <a:t>Twenty-four reusable templates cover every phase from discovery through migration planning, reducing engagement overhead and ensuring consistency</a:t>
            </a:r>
            <a:r>
              <a:rPr sz="917" b="0" i="0" dirty="0">
                <a:solidFill>
                  <a:srgbClr val="177333"/>
                </a:solidFill>
                <a:latin typeface="Aptos"/>
              </a:rPr>
              <a:t> </a:t>
            </a:r>
            <a:endParaRPr sz="917" b="0" i="0" dirty="0">
              <a:solidFill>
                <a:srgbClr val="177333"/>
              </a:solidFill>
              <a:latin typeface="Aptos"/>
              <a:hlinkClick r:id="rId2" tooltip="DMG - CRA - Executive Summary v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792" y="1758360"/>
            <a:ext cx="5638658" cy="19993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7576" indent="-167576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Discovery templates include inventory spreadsheets, profiling questionnaires, dependency tools, and automated scripts</a:t>
            </a:r>
          </a:p>
          <a:p>
            <a:pPr marL="167576" indent="-167576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Assessment frameworks provide scoring models, readiness checklists, cloud affinity calculators, and constraint matrices</a:t>
            </a:r>
          </a:p>
          <a:p>
            <a:pPr marL="167576" indent="-167576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TCO analysis tools deliver live API pricing, BYOL scenario modeling, regional cost comparisons, and optimization calculators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243" y="1758360"/>
            <a:ext cx="5638658" cy="1584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7576" indent="-167576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Planning deliverables include migration waves, project plans, governance frameworks, landing zone blueprints, and executive presentations</a:t>
            </a:r>
          </a:p>
          <a:p>
            <a:pPr marL="167576" indent="-167576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Engagement assets provide workshop decks, interview guides, hyperscaler scorecards, and vendor negotiation materials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5847" y="0"/>
            <a:ext cx="6095847" cy="6857828"/>
          </a:xfrm>
          <a:prstGeom prst="rect">
            <a:avLst/>
          </a:prstGeom>
          <a:solidFill>
            <a:srgbClr val="F2F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4792" y="1101151"/>
            <a:ext cx="5110034" cy="1129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55" b="1" i="0">
                <a:solidFill>
                  <a:srgbClr val="2FB5C5"/>
                </a:solidFill>
                <a:latin typeface="Lora"/>
              </a:rPr>
              <a:t>Proven in Production: DMG Media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" y="2445929"/>
            <a:ext cx="5486262" cy="3291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8085" indent="-19808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Assessed 3,038 servers across Reading, Slough, and Sydney datacenters with 14,165 vCPUs, 54 TB memory, and 1.2 PB storage</a:t>
            </a:r>
            <a:r>
              <a:rPr sz="917" b="0" i="0">
                <a:solidFill>
                  <a:srgbClr val="177333"/>
                </a:solidFill>
                <a:latin typeface="Aptos"/>
              </a:rPr>
              <a:t> </a:t>
            </a:r>
            <a:r>
              <a:rPr sz="917" b="0" i="0">
                <a:solidFill>
                  <a:srgbClr val="177333"/>
                </a:solidFill>
                <a:latin typeface="Aptos"/>
                <a:hlinkClick r:id="rId2" tooltip="DMG - CRA - Executive Summary v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  <a:p>
            <a:pPr marL="198085" indent="-19808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Conducted 39 application profiling workshops evaluating Mail Online, Metro, and other DMG brands with dependency mapping</a:t>
            </a:r>
          </a:p>
          <a:p>
            <a:pPr marL="198085" indent="-19808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Delivered objective hyperscaler comparison of AWS, Azure, and GCP using weighted scoring aligned to DMG's business drivers</a:t>
            </a:r>
            <a:r>
              <a:rPr sz="917" b="0" i="0">
                <a:solidFill>
                  <a:srgbClr val="177333"/>
                </a:solidFill>
                <a:latin typeface="Aptos"/>
              </a:rPr>
              <a:t> </a:t>
            </a:r>
            <a:r>
              <a:rPr sz="917" b="0" i="0">
                <a:solidFill>
                  <a:srgbClr val="177333"/>
                </a:solidFill>
                <a:latin typeface="Aptos"/>
                <a:hlinkClick r:id="rId3" tooltip="DMG_CRA_Phase1_Repo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</a:p>
          <a:p>
            <a:pPr marL="198085" indent="-198085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Provided clear AWS recommendation based on application fit, existing skills, lowest migration risk, and strongest commercial position</a:t>
            </a:r>
            <a:r>
              <a:rPr sz="917" b="0" i="0">
                <a:solidFill>
                  <a:srgbClr val="177333"/>
                </a:solidFill>
                <a:latin typeface="Aptos"/>
              </a:rPr>
              <a:t> </a:t>
            </a:r>
            <a:r>
              <a:rPr sz="917" b="0" i="0">
                <a:solidFill>
                  <a:srgbClr val="177333"/>
                </a:solidFill>
                <a:latin typeface="Aptos"/>
                <a:hlinkClick r:id="rId2" tooltip="DMG - CRA - Executive Summary v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639" y="1547773"/>
          <a:ext cx="5486262" cy="3428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876800" y="2079277"/>
            <a:ext cx="2235249" cy="968126"/>
          </a:xfrm>
          <a:prstGeom prst="roundRect">
            <a:avLst>
              <a:gd name="adj" fmla="val 15741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64449" y="2079277"/>
            <a:ext cx="2235249" cy="968126"/>
          </a:xfrm>
          <a:prstGeom prst="roundRect">
            <a:avLst>
              <a:gd name="adj" fmla="val 15741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52099" y="2079277"/>
            <a:ext cx="2235249" cy="968126"/>
          </a:xfrm>
          <a:prstGeom prst="roundRect">
            <a:avLst>
              <a:gd name="adj" fmla="val 15741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76678" y="734448"/>
            <a:ext cx="6106711" cy="1129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55" b="1" i="0">
                <a:solidFill>
                  <a:srgbClr val="2FB5C5"/>
                </a:solidFill>
                <a:latin typeface="Lora"/>
              </a:rPr>
              <a:t>Strategic Value Delivered to Rackspace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76757" y="2233407"/>
            <a:ext cx="635033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8645" y="2676458"/>
            <a:ext cx="39111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5" b="0" i="0">
                <a:solidFill>
                  <a:srgbClr val="2799A7"/>
                </a:solidFill>
                <a:latin typeface="Aptos"/>
              </a:rPr>
              <a:t>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4755" y="2233407"/>
            <a:ext cx="814069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3358" y="2676458"/>
            <a:ext cx="77701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5" b="0" i="0">
                <a:solidFill>
                  <a:srgbClr val="2799A7"/>
                </a:solidFill>
                <a:latin typeface="Aptos"/>
              </a:rP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87219" y="2233407"/>
            <a:ext cx="364322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3X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4198" y="2676458"/>
            <a:ext cx="650511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25" b="0" i="0">
                <a:solidFill>
                  <a:srgbClr val="2799A7"/>
                </a:solidFill>
                <a:latin typeface="Aptos"/>
              </a:rPr>
              <a:t>Scalability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678" y="3275922"/>
            <a:ext cx="7010224" cy="2828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8085" indent="-198085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Reduces CRA engagement delivery time by 60% through pre-built templates and standardized methodologies</a:t>
            </a:r>
          </a:p>
          <a:p>
            <a:pPr marL="198085" indent="-198085" algn="l">
              <a:lnSpc>
                <a:spcPts val="2073"/>
              </a:lnSpc>
              <a:spcBef>
                <a:spcPts val="120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Enables practice scalability for multiple delivery teams to execute consistent, high-quality assessments simultaneously</a:t>
            </a:r>
          </a:p>
          <a:p>
            <a:pPr marL="198085" indent="-198085" algn="l">
              <a:lnSpc>
                <a:spcPts val="2073"/>
              </a:lnSpc>
              <a:spcBef>
                <a:spcPts val="120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Positions Rackspace as multi-cloud authority with provider-neutral expertise across Azure, AWS, and GCP platforms</a:t>
            </a:r>
          </a:p>
          <a:p>
            <a:pPr marL="198085" indent="-198085" algn="l">
              <a:lnSpc>
                <a:spcPts val="2073"/>
              </a:lnSpc>
              <a:spcBef>
                <a:spcPts val="120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Creates competitive differentiation through industrialized delivery model that competitors cannot replicate with same speed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1591" cy="6858000"/>
          </a:xfrm>
          <a:prstGeom prst="rect">
            <a:avLst/>
          </a:prstGeom>
          <a:solidFill>
            <a:srgbClr val="F2F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800" y="1261764"/>
            <a:ext cx="4261991" cy="912167"/>
          </a:xfrm>
          <a:prstGeom prst="roundRect">
            <a:avLst>
              <a:gd name="adj" fmla="val 16707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04800" y="2402532"/>
            <a:ext cx="4261991" cy="912167"/>
          </a:xfrm>
          <a:prstGeom prst="roundRect">
            <a:avLst>
              <a:gd name="adj" fmla="val 16707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4800" y="3543300"/>
            <a:ext cx="4261991" cy="912167"/>
          </a:xfrm>
          <a:prstGeom prst="roundRect">
            <a:avLst>
              <a:gd name="adj" fmla="val 16707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4800" y="4684067"/>
            <a:ext cx="4261991" cy="912167"/>
          </a:xfrm>
          <a:prstGeom prst="roundRect">
            <a:avLst>
              <a:gd name="adj" fmla="val 16707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7548" y="1444489"/>
            <a:ext cx="2035024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799A7"/>
                </a:solidFill>
                <a:latin typeface="Lora"/>
              </a:rPr>
              <a:t>Any Industry Vertical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548" y="1787381"/>
            <a:ext cx="389637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2799A7"/>
                </a:solidFill>
                <a:latin typeface="Aptos"/>
              </a:rPr>
              <a:t>Retail, media, financial services, healthcare, manufacturing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548" y="2585228"/>
            <a:ext cx="1449698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799A7"/>
                </a:solidFill>
                <a:latin typeface="Lora"/>
              </a:rPr>
              <a:t>Any Estate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548" y="2928120"/>
            <a:ext cx="312248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2799A7"/>
                </a:solidFill>
                <a:latin typeface="Aptos"/>
              </a:rPr>
              <a:t>100-10,000+ servers with scalable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548" y="3725967"/>
            <a:ext cx="1866853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799A7"/>
                </a:solidFill>
                <a:latin typeface="Lora"/>
              </a:rPr>
              <a:t>Any Cloud Maturity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548" y="4068859"/>
            <a:ext cx="386348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2799A7"/>
                </a:solidFill>
                <a:latin typeface="Aptos"/>
              </a:rPr>
              <a:t>Greenfield, hybrid, or multi-cloud transformation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548" y="4866706"/>
            <a:ext cx="2209893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96" b="1" i="0">
                <a:solidFill>
                  <a:srgbClr val="2799A7"/>
                </a:solidFill>
                <a:latin typeface="Lora"/>
              </a:rPr>
              <a:t>Any Geographic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548" y="5209598"/>
            <a:ext cx="3642923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2799A7"/>
                </a:solidFill>
                <a:latin typeface="Aptos"/>
              </a:rPr>
              <a:t>Supports regional pricing and compliance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6261" y="1340461"/>
            <a:ext cx="6300183" cy="1129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55" b="1" i="0">
                <a:solidFill>
                  <a:srgbClr val="2FB5C5"/>
                </a:solidFill>
                <a:latin typeface="Lora"/>
              </a:rPr>
              <a:t>How This Framework Can Be Reused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6261" y="2791796"/>
            <a:ext cx="6710641" cy="27063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7576" indent="-167576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Industry-agnostic framework applies to media, financial services, retail, healthcare, and manufacturing with customizable scoring weights</a:t>
            </a:r>
          </a:p>
          <a:p>
            <a:pPr marL="167576" indent="-167576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Scalable methodology works for estates ranging from 100 servers to 10,000+ assets with automated discovery tools</a:t>
            </a:r>
          </a:p>
          <a:p>
            <a:pPr marL="167576" indent="-167576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Flexible scoring model allows weighting adjustments based on client priorities for cost, innovation, security, or resilience</a:t>
            </a:r>
          </a:p>
          <a:p>
            <a:pPr marL="167576" indent="-167576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Regional adaptability supports multi-geography assessments with localized pricing APIs and compliance framework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829419"/>
            <a:ext cx="7010400" cy="932557"/>
          </a:xfrm>
          <a:prstGeom prst="roundRect">
            <a:avLst>
              <a:gd name="adj" fmla="val 16342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800" y="1883866"/>
            <a:ext cx="7010400" cy="932557"/>
          </a:xfrm>
          <a:prstGeom prst="roundRect">
            <a:avLst>
              <a:gd name="adj" fmla="val 16342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04800" y="2938313"/>
            <a:ext cx="7010400" cy="932557"/>
          </a:xfrm>
          <a:prstGeom prst="roundRect">
            <a:avLst>
              <a:gd name="adj" fmla="val 16342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4792" y="109385"/>
            <a:ext cx="5382085" cy="5810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55" b="1" i="0">
                <a:solidFill>
                  <a:srgbClr val="2FB5C5"/>
                </a:solidFill>
                <a:latin typeface="Lora"/>
              </a:rPr>
              <a:t>Leadership &amp;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953220"/>
            <a:ext cx="2396965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75" b="0" i="0">
                <a:solidFill>
                  <a:srgbClr val="2799A7"/>
                </a:solidFill>
                <a:latin typeface="Aptos"/>
              </a:rPr>
              <a:t>24+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88" y="1405795"/>
            <a:ext cx="184036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2799A7"/>
                </a:solidFill>
                <a:latin typeface="Aptos"/>
              </a:rPr>
              <a:t>Created and documented</a:t>
            </a:r>
            <a:r>
              <a:rPr sz="809" b="0" i="0">
                <a:solidFill>
                  <a:srgbClr val="177333"/>
                </a:solidFill>
                <a:latin typeface="Aptos"/>
              </a:rPr>
              <a:t> </a:t>
            </a:r>
            <a:r>
              <a:rPr sz="809" b="0" i="0">
                <a:solidFill>
                  <a:srgbClr val="177333"/>
                </a:solidFill>
                <a:latin typeface="Aptos"/>
                <a:hlinkClick r:id="rId2" tooltip="DMG - CRA - Executive Summary v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88" y="2007641"/>
            <a:ext cx="2543111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75" b="0" i="0">
                <a:solidFill>
                  <a:srgbClr val="2799A7"/>
                </a:solidFill>
                <a:latin typeface="Aptos"/>
              </a:rPr>
              <a:t>GitHub Published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88" y="2460216"/>
            <a:ext cx="233029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2799A7"/>
                </a:solidFill>
                <a:latin typeface="Aptos"/>
              </a:rPr>
              <a:t>Open-source framework 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88" y="3062062"/>
            <a:ext cx="2980059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75" b="0" i="0">
                <a:solidFill>
                  <a:srgbClr val="2799A7"/>
                </a:solidFill>
                <a:latin typeface="Aptos"/>
              </a:rPr>
              <a:t>Multi-Team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88" y="3514637"/>
            <a:ext cx="161444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2799A7"/>
                </a:solidFill>
                <a:latin typeface="Aptos"/>
              </a:rPr>
              <a:t>Scalable across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792" y="4023170"/>
            <a:ext cx="7010224" cy="27063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7936" indent="-197936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Developed comprehensive framework architecture including methodology design, template creation, scoring algorithms, and integration workflows</a:t>
            </a:r>
          </a:p>
          <a:p>
            <a:pPr marL="197936" indent="-197936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Published framework to GitHub repository enabling knowledge sharing, version control, and practice-wide adoption</a:t>
            </a:r>
          </a:p>
          <a:p>
            <a:pPr marL="197936" indent="-197936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Demonstrated thought leadership by creating provider-neutral approach when market primarily offers vendor-specific tools</a:t>
            </a:r>
          </a:p>
          <a:p>
            <a:pPr marL="197936" indent="-197936" algn="l">
              <a:lnSpc>
                <a:spcPts val="2073"/>
              </a:lnSpc>
              <a:spcBef>
                <a:spcPts val="959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Enabled team scalability by documenting processes, creating training materials, and establishing standardized approaches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E60EAE-64F5-E1C8-0F4E-69F876F60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244" y="-11348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0289" y="3225700"/>
            <a:ext cx="2514600" cy="1328737"/>
          </a:xfrm>
          <a:prstGeom prst="roundRect">
            <a:avLst>
              <a:gd name="adj" fmla="val 11469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33489" y="3225700"/>
            <a:ext cx="2356842" cy="1115466"/>
          </a:xfrm>
          <a:prstGeom prst="roundRect">
            <a:avLst>
              <a:gd name="adj" fmla="val 13662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8932" y="3225700"/>
            <a:ext cx="2514600" cy="1328737"/>
          </a:xfrm>
          <a:prstGeom prst="roundRect">
            <a:avLst>
              <a:gd name="adj" fmla="val 11469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2132" y="3225700"/>
            <a:ext cx="2339429" cy="1115466"/>
          </a:xfrm>
          <a:prstGeom prst="roundRect">
            <a:avLst>
              <a:gd name="adj" fmla="val 13662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23160" y="110130"/>
            <a:ext cx="4345226" cy="5810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455" b="1" i="0">
                <a:solidFill>
                  <a:srgbClr val="2FB5C5"/>
                </a:solidFill>
                <a:latin typeface="Lora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5329" y="1068261"/>
            <a:ext cx="2021035" cy="13048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59" b="0" i="0">
                <a:solidFill>
                  <a:srgbClr val="2FB5C5"/>
                </a:solidFill>
                <a:latin typeface="Aptos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4760" y="2403514"/>
            <a:ext cx="3282173" cy="3333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943" b="0" i="0">
                <a:solidFill>
                  <a:srgbClr val="333333"/>
                </a:solidFill>
                <a:latin typeface="Aptos"/>
              </a:rPr>
              <a:t>Faster Engagement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8908" y="3425640"/>
            <a:ext cx="537107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24+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9933" y="3908724"/>
            <a:ext cx="1455056" cy="403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79" b="0" i="0">
                <a:solidFill>
                  <a:srgbClr val="2799A7"/>
                </a:solidFill>
                <a:latin typeface="Aptos"/>
              </a:rPr>
              <a:t>Reusable Templates &amp; Tools</a:t>
            </a:r>
            <a:r>
              <a:rPr sz="809" b="0" i="0">
                <a:solidFill>
                  <a:srgbClr val="177333"/>
                </a:solidFill>
                <a:latin typeface="Aptos"/>
              </a:rPr>
              <a:t> </a:t>
            </a:r>
            <a:r>
              <a:rPr sz="809" b="0" i="0">
                <a:solidFill>
                  <a:srgbClr val="177333"/>
                </a:solidFill>
                <a:latin typeface="Aptos"/>
                <a:hlinkClick r:id="rId2" tooltip="DMG - CRA - Executive Summary v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2198" y="3425640"/>
            <a:ext cx="179035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8191" y="3908724"/>
            <a:ext cx="1747198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79" b="0" i="0">
                <a:solidFill>
                  <a:srgbClr val="2799A7"/>
                </a:solidFill>
                <a:latin typeface="Aptos"/>
              </a:rPr>
              <a:t>Cloud Platforms Evaluated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6452" y="3425640"/>
            <a:ext cx="179035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7664" y="3908724"/>
            <a:ext cx="1536611" cy="403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79" b="0" i="0">
                <a:solidFill>
                  <a:srgbClr val="2799A7"/>
                </a:solidFill>
                <a:latin typeface="Aptos"/>
              </a:rPr>
              <a:t>Structured Assessment Phases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4484" y="3425640"/>
            <a:ext cx="814069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75" b="0" i="0">
                <a:solidFill>
                  <a:srgbClr val="2799A7"/>
                </a:solidFill>
                <a:latin typeface="Aptos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6700" y="3908724"/>
            <a:ext cx="172978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79" b="0" i="0">
                <a:solidFill>
                  <a:srgbClr val="2799A7"/>
                </a:solidFill>
                <a:latin typeface="Aptos"/>
              </a:rPr>
              <a:t>Provider Neutral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6075" y="5116285"/>
            <a:ext cx="8539395" cy="477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87" b="0" i="1">
                <a:solidFill>
                  <a:srgbClr val="333333"/>
                </a:solidFill>
                <a:latin typeface="Aptos"/>
              </a:rPr>
              <a:t>Framework proven in production with</a:t>
            </a:r>
            <a:r>
              <a:rPr sz="1213" b="1" i="1">
                <a:solidFill>
                  <a:srgbClr val="177333"/>
                </a:solidFill>
                <a:latin typeface="Aptos"/>
              </a:rPr>
              <a:t> DMG Media</a:t>
            </a:r>
            <a:r>
              <a:rPr sz="1187" b="0" i="1">
                <a:solidFill>
                  <a:srgbClr val="333333"/>
                </a:solidFill>
                <a:latin typeface="Aptos"/>
              </a:rPr>
              <a:t> , delivering</a:t>
            </a:r>
            <a:r>
              <a:rPr sz="1213" b="1" i="1">
                <a:solidFill>
                  <a:srgbClr val="177333"/>
                </a:solidFill>
                <a:latin typeface="Aptos"/>
              </a:rPr>
              <a:t> 3,038 server assessment</a:t>
            </a:r>
            <a:r>
              <a:rPr sz="1187" b="0" i="1">
                <a:solidFill>
                  <a:srgbClr val="333333"/>
                </a:solidFill>
                <a:latin typeface="Aptos"/>
              </a:rPr>
              <a:t> across</a:t>
            </a:r>
            <a:r>
              <a:rPr sz="1213" b="1" i="1">
                <a:solidFill>
                  <a:srgbClr val="177333"/>
                </a:solidFill>
                <a:latin typeface="Aptos"/>
              </a:rPr>
              <a:t> 39 applications</a:t>
            </a:r>
            <a:r>
              <a:rPr sz="1187" b="0" i="1">
                <a:solidFill>
                  <a:srgbClr val="333333"/>
                </a:solidFill>
                <a:latin typeface="Aptos"/>
              </a:rPr>
              <a:t> with clear</a:t>
            </a:r>
            <a:r>
              <a:rPr sz="1213" b="1" i="1">
                <a:solidFill>
                  <a:srgbClr val="177333"/>
                </a:solidFill>
                <a:latin typeface="Aptos"/>
              </a:rPr>
              <a:t> multi-cloud recommendation</a:t>
            </a:r>
            <a:r>
              <a:rPr sz="1187" b="0" i="1">
                <a:solidFill>
                  <a:srgbClr val="333333"/>
                </a:solidFill>
                <a:latin typeface="Aptos"/>
              </a:rPr>
              <a:t> and quantified business value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09750" y="1471463"/>
            <a:ext cx="2705100" cy="2554039"/>
          </a:xfrm>
          <a:prstGeom prst="roundRect">
            <a:avLst>
              <a:gd name="adj" fmla="val 5967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7678" y="1705974"/>
            <a:ext cx="369084" cy="35986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743450" y="1471463"/>
            <a:ext cx="2705100" cy="2554039"/>
          </a:xfrm>
          <a:prstGeom prst="roundRect">
            <a:avLst>
              <a:gd name="adj" fmla="val 5967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9164" y="1700021"/>
            <a:ext cx="333366" cy="3809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77150" y="1471463"/>
            <a:ext cx="2705100" cy="2554039"/>
          </a:xfrm>
          <a:prstGeom prst="roundRect">
            <a:avLst>
              <a:gd name="adj" fmla="val 5967"/>
            </a:avLst>
          </a:prstGeom>
          <a:solidFill>
            <a:srgbClr val="C9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8978" y="1757169"/>
            <a:ext cx="380990" cy="2666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4792" y="285742"/>
            <a:ext cx="2312582" cy="5810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55" b="1" i="0">
                <a:solidFill>
                  <a:srgbClr val="2FB5C5"/>
                </a:solidFill>
                <a:latin typeface="Lora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9837" y="2212423"/>
            <a:ext cx="1244767" cy="615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27" b="1" i="0">
                <a:solidFill>
                  <a:srgbClr val="2FB5C5"/>
                </a:solidFill>
                <a:latin typeface="Lora"/>
              </a:rPr>
              <a:t>Framework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5812" y="2947616"/>
            <a:ext cx="1972667" cy="804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95" b="0" i="0">
                <a:solidFill>
                  <a:srgbClr val="2799A7"/>
                </a:solidFill>
                <a:latin typeface="Aptos"/>
              </a:rPr>
              <a:t>github.com/upendra-29003/Cloud-Readiness-Accelerator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6637" y="2212423"/>
            <a:ext cx="858270" cy="2952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27" b="1" i="0">
                <a:solidFill>
                  <a:srgbClr val="2FB5C5"/>
                </a:solidFill>
                <a:latin typeface="Lora"/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3054" y="2627643"/>
            <a:ext cx="1685436" cy="804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95" b="0" i="0">
                <a:solidFill>
                  <a:srgbClr val="2799A7"/>
                </a:solidFill>
                <a:latin typeface="Aptos"/>
              </a:rPr>
              <a:t>Upendra Kumar, Professional Services Delivery 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643" y="2212423"/>
            <a:ext cx="903512" cy="2952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27" b="1" i="0">
                <a:solidFill>
                  <a:srgbClr val="2FB5C5"/>
                </a:solidFill>
                <a:latin typeface="Lora"/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1899" y="2627643"/>
            <a:ext cx="2095001" cy="5116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95" b="0" i="0">
                <a:solidFill>
                  <a:srgbClr val="2799A7"/>
                </a:solidFill>
                <a:latin typeface="Aptos"/>
              </a:rPr>
              <a:t>Multi-Cloud Assessment &amp; Migration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9704" y="4330194"/>
            <a:ext cx="8572285" cy="1657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3774" indent="-243774"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Framework available for practice-wide adoption with complete template library and documentation</a:t>
            </a:r>
          </a:p>
          <a:p>
            <a:pPr marL="243774" indent="-243774" algn="l">
              <a:lnSpc>
                <a:spcPts val="2073"/>
              </a:lnSpc>
              <a:spcBef>
                <a:spcPts val="120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Proven in production engagements with documented success stories across multiple industries</a:t>
            </a:r>
          </a:p>
          <a:p>
            <a:pPr marL="243774" indent="-243774" algn="l">
              <a:lnSpc>
                <a:spcPts val="2073"/>
              </a:lnSpc>
              <a:spcBef>
                <a:spcPts val="120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Ready for immediate deployment in new opportunities with training materials included</a:t>
            </a:r>
          </a:p>
          <a:p>
            <a:pPr marL="243774" indent="-243774" algn="l">
              <a:lnSpc>
                <a:spcPts val="2073"/>
              </a:lnSpc>
              <a:spcBef>
                <a:spcPts val="1200"/>
              </a:spcBef>
              <a:spcAft>
                <a:spcPts val="0"/>
              </a:spcAft>
              <a:buClr>
                <a:srgbClr val="2799A7"/>
              </a:buClr>
              <a:buSzPct val="100000"/>
              <a:buFont typeface="Aptos" charset="0"/>
              <a:buChar char="●"/>
            </a:pPr>
            <a:r>
              <a:rPr sz="1295" b="0" i="0">
                <a:solidFill>
                  <a:srgbClr val="333333"/>
                </a:solidFill>
                <a:latin typeface="Aptos"/>
              </a:rPr>
              <a:t>Designed for collaborative enhancement with version control and continuous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c9c4a85-26e3-411a-85a5-8f4ffa8ca8e7}" enabled="1" method="Standard" siteId="{570057f4-73ef-41c8-bcbb-08db2fc15c2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1011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Lora</vt:lpstr>
      <vt:lpstr>Calibri</vt:lpstr>
      <vt:lpstr>Georgia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Upendra Kumar</dc:creator>
  <cp:keywords/>
  <dc:description>generated using python-pptx</dc:description>
  <cp:lastModifiedBy>Upendra Kumar</cp:lastModifiedBy>
  <cp:revision>9</cp:revision>
  <dcterms:created xsi:type="dcterms:W3CDTF">2026-04-29T17:19:57Z</dcterms:created>
  <dcterms:modified xsi:type="dcterms:W3CDTF">2026-04-29T17:49:53Z</dcterms:modified>
  <cp:category/>
</cp:coreProperties>
</file>