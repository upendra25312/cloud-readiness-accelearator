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1.svg" ContentType="image/svg+xml"/>
  <Override PartName="/ppt/media/image12.svg" ContentType="image/svg+xml"/>
  <Override PartName="/ppt/media/image15.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1" r:id="rId5"/>
    <p:sldMasterId id="2147483702" r:id="rId6"/>
  </p:sldMasterIdLst>
  <p:sldIdLst>
    <p:sldId id="259" r:id="rId14"/>
    <p:sldId id="256" r:id="rId7"/>
    <p:sldId id="257" r:id="rId8"/>
    <p:sldId id="258" r:id="rId9"/>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9" autoAdjust="0"/>
    <p:restoredTop sz="94660"/>
  </p:normalViewPr>
  <p:slideViewPr>
    <p:cSldViewPr snapToGrid="0">
      <p:cViewPr varScale="1">
        <p:scale>
          <a:sx n="111" d="100"/>
          <a:sy n="111" d="100"/>
        </p:scale>
        <p:origin x="78" y="5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svg"/><Relationship Id="rId3"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660770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18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8623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731797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38612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78067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92760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89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75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07780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endParaRPr lang="en-US" dirty="0"/>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18488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225049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669675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2465571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067705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ktiv Grotesk" panose="020B0604020202020204" pitchFamily="34" charset="0"/>
            </a:pPr>
            <a:r>
              <a:rPr lang="en-US"/>
              <a:t>Click to edit Master title style</a:t>
            </a:r>
            <a:endParaRPr lang="en-US" dirty="0"/>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595806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3106630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3943890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1602138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422864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969275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5509421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006747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endParaRPr lang="en-US" dirty="0"/>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1133023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36198070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1911464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445741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F1CF194A-E23E-49A3-93E0-ADE4C34170AD}" type="slidenum">
              <a:rPr lang="en-US" smtClean="0"/>
              <a:t>‹#›</a:t>
            </a:fld>
            <a:endParaRPr lang="en-US"/>
          </a:p>
        </p:txBody>
      </p:sp>
    </p:spTree>
    <p:extLst>
      <p:ext uri="{BB962C8B-B14F-4D97-AF65-F5344CB8AC3E}">
        <p14:creationId xmlns:p14="http://schemas.microsoft.com/office/powerpoint/2010/main" val="2285473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780222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D4768-C99B-35D7-8232-2C05A46710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D29FC6-C551-7A5F-C9F6-CD42C2EA4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D5F440-FE33-8E9F-5AAC-5A3A9CE2CE5F}"/>
              </a:ext>
            </a:extLst>
          </p:cNvPr>
          <p:cNvSpPr>
            <a:spLocks noGrp="1"/>
          </p:cNvSpPr>
          <p:nvPr>
            <p:ph type="dt" sz="half" idx="10"/>
          </p:nvPr>
        </p:nvSpPr>
        <p:spPr/>
        <p:txBody>
          <a:bodyPr/>
          <a:lstStyle/>
          <a:p>
            <a:fld id="{287C37E3-6B3E-44D8-A35D-8E211C722F01}" type="datetimeFigureOut">
              <a:rPr lang="en-US" smtClean="0"/>
              <a:t>4/26/2026</a:t>
            </a:fld>
            <a:endParaRPr lang="en-US"/>
          </a:p>
        </p:txBody>
      </p:sp>
      <p:sp>
        <p:nvSpPr>
          <p:cNvPr id="5" name="Footer Placeholder 4">
            <a:extLst>
              <a:ext uri="{FF2B5EF4-FFF2-40B4-BE49-F238E27FC236}">
                <a16:creationId xmlns:a16="http://schemas.microsoft.com/office/drawing/2014/main" id="{1E8DFABF-B043-77A3-B7D4-42A9E773C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360D28-81D3-D708-26C5-E6E872A8C46E}"/>
              </a:ext>
            </a:extLst>
          </p:cNvPr>
          <p:cNvSpPr>
            <a:spLocks noGrp="1"/>
          </p:cNvSpPr>
          <p:nvPr>
            <p:ph type="sldNum" sz="quarter" idx="12"/>
          </p:nvPr>
        </p:nvSpPr>
        <p:spPr/>
        <p:txBody>
          <a:bodyPr/>
          <a:lstStyle/>
          <a:p>
            <a:fld id="{F1CF194A-E23E-49A3-93E0-ADE4C34170AD}" type="slidenum">
              <a:rPr lang="en-US" smtClean="0"/>
              <a:t>‹#›</a:t>
            </a:fld>
            <a:endParaRPr lang="en-US"/>
          </a:p>
        </p:txBody>
      </p:sp>
    </p:spTree>
    <p:extLst>
      <p:ext uri="{BB962C8B-B14F-4D97-AF65-F5344CB8AC3E}">
        <p14:creationId xmlns:p14="http://schemas.microsoft.com/office/powerpoint/2010/main" val="37218957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9778143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344005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9642890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503794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071373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573838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9612696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endParaRPr lang="en-US" dirty="0"/>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999802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35553636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103032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858036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8513382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3037625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939033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677303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4806629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5247719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ktiv Grotesk"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83212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8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020 8734 2600  </a:t>
            </a:r>
            <a:br>
              <a:rPr lang="en-US" sz="1500" dirty="0">
                <a:solidFill>
                  <a:schemeClr val="tx1"/>
                </a:solidFill>
              </a:rPr>
            </a:br>
            <a:r>
              <a:rPr lang="en-US" sz="1500" dirty="0">
                <a:solidFill>
                  <a:schemeClr val="tx1"/>
                </a:solidFill>
              </a:rPr>
              <a:t>U.K. support: 020 8734 2700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0668199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552778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1535714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6514321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3652123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svg"/><Relationship Id="rId33"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theme" Target="../theme/theme2.xml"/><Relationship Id="rId12" Type="http://schemas.openxmlformats.org/officeDocument/2006/relationships/image" Target="../media/image4.svg"/><Relationship Id="rId13"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 Id="rId9" Type="http://schemas.openxmlformats.org/officeDocument/2006/relationships/slideLayout" Target="../slideLayouts/slideLayout49.xml"/><Relationship Id="rId10" Type="http://schemas.openxmlformats.org/officeDocument/2006/relationships/slideLayout" Target="../slideLayouts/slideLayout50.xml"/><Relationship Id="rId11" Type="http://schemas.openxmlformats.org/officeDocument/2006/relationships/slideLayout" Target="../slideLayouts/slideLayout51.xml"/><Relationship Id="rId12" Type="http://schemas.openxmlformats.org/officeDocument/2006/relationships/slideLayout" Target="../slideLayouts/slideLayout52.xml"/><Relationship Id="rId13" Type="http://schemas.openxmlformats.org/officeDocument/2006/relationships/slideLayout" Target="../slideLayouts/slideLayout53.xml"/><Relationship Id="rId14" Type="http://schemas.openxmlformats.org/officeDocument/2006/relationships/theme" Target="../theme/theme3.xml"/><Relationship Id="rId15" Type="http://schemas.openxmlformats.org/officeDocument/2006/relationships/image" Target="../media/image1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F1CF194A-E23E-49A3-93E0-ADE4C34170AD}" type="slidenum">
              <a:rPr lang="en-US" smtClean="0"/>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endParaRPr lang="en-US" dirty="0"/>
          </a:p>
        </p:txBody>
      </p:sp>
    </p:spTree>
    <p:extLst>
      <p:ext uri="{BB962C8B-B14F-4D97-AF65-F5344CB8AC3E}">
        <p14:creationId xmlns:p14="http://schemas.microsoft.com/office/powerpoint/2010/main" val="2101451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endParaRPr lang="en-US" dirty="0"/>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101594CF-9E60-FEE9-725B-28644E2BEFC6}"/>
              </a:ext>
            </a:extLst>
          </p:cNvPr>
          <p:cNvPicPr>
            <a:picLocks noChangeAspect="1"/>
          </p:cNvPicPr>
          <p:nvPr/>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54368660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0836107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zure.microsoft.com/en-us/pricing/calculator/" TargetMode="External"/><Relationship Id="rId3" Type="http://schemas.openxmlformats.org/officeDocument/2006/relationships/hyperlink" Target="https://one.rackspace.com/display/ETS/HOWTO%3A+Use+the+Azure+online+calculators"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zure.microsoft.com/en-us/pricing/calculator/" TargetMode="Externa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p:txBody>
      </p:sp>
      <p:sp>
        <p:nvSpPr>
          <p:cNvPr id="5" name="Rectangle 4"/>
          <p:cNvSpPr/>
          <p:nvPr/>
        </p:nvSpPr>
        <p:spPr>
          <a:xfrm>
            <a:off x="0" y="0"/>
            <a:ext cx="12192000" cy="1508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234440"/>
            <a:ext cx="12192000" cy="1371600"/>
          </a:xfrm>
          <a:prstGeom prst="rect">
            <a:avLst/>
          </a:prstGeom>
          <a:solidFill>
            <a:srgbClr val="E3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9728"/>
            <a:ext cx="2743200" cy="320040"/>
          </a:xfrm>
          <a:prstGeom prst="rect">
            <a:avLst/>
          </a:prstGeom>
          <a:noFill/>
        </p:spPr>
        <p:txBody>
          <a:bodyPr wrap="none">
            <a:spAutoFit/>
          </a:bodyPr>
          <a:lstStyle/>
          <a:p>
            <a:r>
              <a:rPr b="1" sz="1000">
                <a:solidFill>
                  <a:srgbClr val="FFFFFF"/>
                </a:solidFill>
              </a:rPr>
              <a:t>RACKSPACE TECHNOLOGY</a:t>
            </a:r>
          </a:p>
        </p:txBody>
      </p:sp>
      <p:sp>
        <p:nvSpPr>
          <p:cNvPr id="8" name="TextBox 7"/>
          <p:cNvSpPr txBox="1"/>
          <p:nvPr/>
        </p:nvSpPr>
        <p:spPr>
          <a:xfrm>
            <a:off x="365760" y="1371600"/>
            <a:ext cx="11460480" cy="1097280"/>
          </a:xfrm>
          <a:prstGeom prst="rect">
            <a:avLst/>
          </a:prstGeom>
          <a:noFill/>
        </p:spPr>
        <p:txBody>
          <a:bodyPr wrap="square">
            <a:spAutoFit/>
          </a:bodyPr>
          <a:lstStyle/>
          <a:p>
            <a:r>
              <a:rPr b="1" sz="2600">
                <a:solidFill>
                  <a:srgbClr val="FFFFFF"/>
                </a:solidFill>
              </a:rPr>
              <a:t>Azure Pricing Calculator Walkthrough</a:t>
            </a:r>
          </a:p>
        </p:txBody>
      </p:sp>
      <p:sp>
        <p:nvSpPr>
          <p:cNvPr id="9" name="TextBox 8"/>
          <p:cNvSpPr txBox="1"/>
          <p:nvPr/>
        </p:nvSpPr>
        <p:spPr>
          <a:xfrm>
            <a:off x="365760" y="2743200"/>
            <a:ext cx="11460480" cy="365760"/>
          </a:xfrm>
          <a:prstGeom prst="rect">
            <a:avLst/>
          </a:prstGeom>
          <a:noFill/>
        </p:spPr>
        <p:txBody>
          <a:bodyPr wrap="none">
            <a:spAutoFit/>
          </a:bodyPr>
          <a:lstStyle/>
          <a:p>
            <a:r>
              <a:rPr sz="1200">
                <a:solidFill>
                  <a:srgbClr val="646464"/>
                </a:solidFill>
              </a:rPr>
              <a:t>Phase 3: TCO Validation</a:t>
            </a:r>
          </a:p>
        </p:txBody>
      </p:sp>
      <p:sp>
        <p:nvSpPr>
          <p:cNvPr id="10" name="TextBox 9"/>
          <p:cNvSpPr txBox="1"/>
          <p:nvPr/>
        </p:nvSpPr>
        <p:spPr>
          <a:xfrm>
            <a:off x="365760" y="3291840"/>
            <a:ext cx="11460480" cy="960120"/>
          </a:xfrm>
          <a:prstGeom prst="rect">
            <a:avLst/>
          </a:prstGeom>
          <a:noFill/>
        </p:spPr>
        <p:txBody>
          <a:bodyPr wrap="square">
            <a:spAutoFit/>
          </a:bodyPr>
          <a:lstStyle/>
          <a:p>
            <a:r>
              <a:rPr b="1" sz="900">
                <a:solidFill>
                  <a:srgbClr val="E31C3D"/>
                </a:solidFill>
              </a:rPr>
              <a:t>PURPOSE</a:t>
            </a:r>
          </a:p>
          <a:p>
            <a:r>
              <a:rPr sz="900"/>
              <a:t>Step-by-step guide for validating Azure pricing using the Azure Pricing Calculator and Azure Migrate pricing tool. Use this to verify TCO model prices match current Azure published rates.</a:t>
            </a:r>
          </a:p>
        </p:txBody>
      </p:sp>
      <p:sp>
        <p:nvSpPr>
          <p:cNvPr id="11" name="TextBox 10"/>
          <p:cNvSpPr txBox="1"/>
          <p:nvPr/>
        </p:nvSpPr>
        <p:spPr>
          <a:xfrm>
            <a:off x="365760" y="4457700"/>
            <a:ext cx="3657600" cy="502920"/>
          </a:xfrm>
          <a:prstGeom prst="rect">
            <a:avLst/>
          </a:prstGeom>
          <a:noFill/>
        </p:spPr>
        <p:txBody>
          <a:bodyPr wrap="square">
            <a:spAutoFit/>
          </a:bodyPr>
          <a:lstStyle/>
          <a:p>
            <a:r>
              <a:rPr b="1" sz="900">
                <a:solidFill>
                  <a:srgbClr val="E31C3D"/>
                </a:solidFill>
              </a:rPr>
              <a:t>AUDIENCE</a:t>
            </a:r>
          </a:p>
          <a:p>
            <a:r>
              <a:rPr sz="900"/>
              <a:t>Rackspace Platform Architect (Azure)</a:t>
            </a:r>
          </a:p>
        </p:txBody>
      </p:sp>
      <p:sp>
        <p:nvSpPr>
          <p:cNvPr id="12" name="TextBox 11"/>
          <p:cNvSpPr txBox="1"/>
          <p:nvPr/>
        </p:nvSpPr>
        <p:spPr>
          <a:xfrm>
            <a:off x="4023360" y="4457700"/>
            <a:ext cx="4632960" cy="502920"/>
          </a:xfrm>
          <a:prstGeom prst="rect">
            <a:avLst/>
          </a:prstGeom>
          <a:noFill/>
        </p:spPr>
        <p:txBody>
          <a:bodyPr wrap="square">
            <a:spAutoFit/>
          </a:bodyPr>
          <a:lstStyle/>
          <a:p>
            <a:r>
              <a:rPr b="1" sz="900">
                <a:solidFill>
                  <a:srgbClr val="E31C3D"/>
                </a:solidFill>
              </a:rPr>
              <a:t>WHEN TO USE</a:t>
            </a:r>
          </a:p>
          <a:p>
            <a:r>
              <a:rPr sz="900"/>
              <a:t>Phase 3, during TCO model validation (see TCO-TEMPLATES-AUDIT-SPEC.md 4B.9)</a:t>
            </a:r>
          </a:p>
        </p:txBody>
      </p:sp>
      <p:sp>
        <p:nvSpPr>
          <p:cNvPr id="13" name="TextBox 12"/>
          <p:cNvSpPr txBox="1"/>
          <p:nvPr/>
        </p:nvSpPr>
        <p:spPr>
          <a:xfrm>
            <a:off x="9387840" y="4457700"/>
            <a:ext cx="2438400" cy="502920"/>
          </a:xfrm>
          <a:prstGeom prst="rect">
            <a:avLst/>
          </a:prstGeom>
          <a:noFill/>
        </p:spPr>
        <p:txBody>
          <a:bodyPr wrap="square">
            <a:spAutoFit/>
          </a:bodyPr>
          <a:lstStyle/>
          <a:p>
            <a:r>
              <a:rPr b="1" sz="900">
                <a:solidFill>
                  <a:srgbClr val="E31C3D"/>
                </a:solidFill>
              </a:rPr>
              <a:t>VERSION</a:t>
            </a:r>
          </a:p>
          <a:p>
            <a:r>
              <a:rPr sz="900"/>
              <a:t>v1.0</a:t>
            </a:r>
          </a:p>
        </p:txBody>
      </p:sp>
      <p:sp>
        <p:nvSpPr>
          <p:cNvPr id="14" name="TextBox 13"/>
          <p:cNvSpPr txBox="1"/>
          <p:nvPr/>
        </p:nvSpPr>
        <p:spPr>
          <a:xfrm>
            <a:off x="365760" y="5143500"/>
            <a:ext cx="11460480" cy="1097280"/>
          </a:xfrm>
          <a:prstGeom prst="rect">
            <a:avLst/>
          </a:prstGeom>
          <a:noFill/>
        </p:spPr>
        <p:txBody>
          <a:bodyPr wrap="square">
            <a:spAutoFit/>
          </a:bodyPr>
          <a:lstStyle/>
          <a:p>
            <a:r>
              <a:rPr b="1" sz="900">
                <a:solidFill>
                  <a:srgbClr val="E31C3D"/>
                </a:solidFill>
              </a:rPr>
              <a:t>WHAT TO CUSTOMISE</a:t>
            </a:r>
          </a:p>
          <a:p>
            <a:r>
              <a:rPr sz="900"/>
              <a:t>- Update pricing screenshots to current Azure pricing (valid for 90 days from last update)</a:t>
            </a:r>
          </a:p>
          <a:p>
            <a:r>
              <a:rPr sz="900"/>
              <a:t>- Confirm region selected matches customer requirements</a:t>
            </a:r>
          </a:p>
          <a:p>
            <a:r>
              <a:rPr sz="900"/>
              <a:t>- Update AHB eligibility count from your infrastructure-profiling.xlsx</a:t>
            </a:r>
          </a:p>
        </p:txBody>
      </p:sp>
      <p:sp>
        <p:nvSpPr>
          <p:cNvPr id="15" name="TextBox 14"/>
          <p:cNvSpPr txBox="1"/>
          <p:nvPr/>
        </p:nvSpPr>
        <p:spPr>
          <a:xfrm>
            <a:off x="365760" y="6377940"/>
            <a:ext cx="11460480" cy="228600"/>
          </a:xfrm>
          <a:prstGeom prst="rect">
            <a:avLst/>
          </a:prstGeom>
          <a:noFill/>
        </p:spPr>
        <p:txBody>
          <a:bodyPr wrap="none">
            <a:spAutoFit/>
          </a:bodyPr>
          <a:lstStyle/>
          <a:p>
            <a:r>
              <a:rPr sz="700">
                <a:solidFill>
                  <a:srgbClr val="646464"/>
                </a:solidFill>
              </a:rPr>
              <a:t>CRA Framework v2.0 -- Rackspace Cloud Solutions Architecture  |  Confidential  |  (c) 2026 Rackspace Technology</a:t>
            </a:r>
          </a:p>
        </p:txBody>
      </p:sp>
      <p:pic>
        <p:nvPicPr>
          <p:cNvPr id="16" name="Picture 15" descr="rackspace-logo-white.png"/>
          <p:cNvPicPr>
            <a:picLocks noChangeAspect="1"/>
          </p:cNvPicPr>
          <p:nvPr/>
        </p:nvPicPr>
        <p:blipFill>
          <a:blip r:embed="rId2"/>
          <a:stretch>
            <a:fillRect/>
          </a:stretch>
        </p:blipFill>
        <p:spPr>
          <a:xfrm>
            <a:off x="9265920" y="164592"/>
            <a:ext cx="2560320" cy="3268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DCA792D-A6E4-EB80-466A-295526845773}"/>
              </a:ext>
            </a:extLst>
          </p:cNvPr>
          <p:cNvSpPr>
            <a:spLocks noGrp="1"/>
          </p:cNvSpPr>
          <p:nvPr>
            <p:ph type="body" sz="quarter" idx="10"/>
          </p:nvPr>
        </p:nvSpPr>
        <p:spPr>
          <a:xfrm>
            <a:off x="348870" y="5317262"/>
            <a:ext cx="5686425" cy="551433"/>
          </a:xfrm>
        </p:spPr>
        <p:txBody>
          <a:bodyPr/>
          <a:lstStyle/>
          <a:p>
            <a:r>
              <a:rPr lang="en-US" dirty="0"/>
              <a:t>Gerard Le Canu</a:t>
            </a:r>
          </a:p>
          <a:p>
            <a:r>
              <a:rPr lang="en-US" dirty="0"/>
              <a:t>Principal Architect</a:t>
            </a:r>
          </a:p>
        </p:txBody>
      </p:sp>
      <p:sp>
        <p:nvSpPr>
          <p:cNvPr id="4" name="Title 3">
            <a:extLst>
              <a:ext uri="{FF2B5EF4-FFF2-40B4-BE49-F238E27FC236}">
                <a16:creationId xmlns:a16="http://schemas.microsoft.com/office/drawing/2014/main" id="{0022DC85-EF6C-0157-7B45-88B4497917A1}"/>
              </a:ext>
            </a:extLst>
          </p:cNvPr>
          <p:cNvSpPr>
            <a:spLocks noGrp="1"/>
          </p:cNvSpPr>
          <p:nvPr>
            <p:ph type="ctrTitle"/>
          </p:nvPr>
        </p:nvSpPr>
        <p:spPr>
          <a:xfrm>
            <a:off x="323545" y="1701072"/>
            <a:ext cx="3519585" cy="1265218"/>
          </a:xfrm>
        </p:spPr>
        <p:txBody>
          <a:bodyPr/>
          <a:lstStyle/>
          <a:p>
            <a:r>
              <a:rPr lang="en-US" dirty="0"/>
              <a:t>Azure Calc</a:t>
            </a:r>
            <a:br>
              <a:rPr lang="en-US" dirty="0"/>
            </a:br>
            <a:endParaRPr lang="en-US" dirty="0"/>
          </a:p>
        </p:txBody>
      </p:sp>
      <p:sp>
        <p:nvSpPr>
          <p:cNvPr id="5" name="Subtitle 4">
            <a:extLst>
              <a:ext uri="{FF2B5EF4-FFF2-40B4-BE49-F238E27FC236}">
                <a16:creationId xmlns:a16="http://schemas.microsoft.com/office/drawing/2014/main" id="{56DDA1A7-7FC4-4AB2-BADF-65D0881215EB}"/>
              </a:ext>
            </a:extLst>
          </p:cNvPr>
          <p:cNvSpPr>
            <a:spLocks noGrp="1"/>
          </p:cNvSpPr>
          <p:nvPr>
            <p:ph type="subTitle" idx="1"/>
          </p:nvPr>
        </p:nvSpPr>
        <p:spPr/>
        <p:txBody>
          <a:bodyPr/>
          <a:lstStyle/>
          <a:p>
            <a:r>
              <a:rPr lang="en-US" dirty="0"/>
              <a:t>RAX Best practices</a:t>
            </a:r>
          </a:p>
        </p:txBody>
      </p:sp>
      <p:pic>
        <p:nvPicPr>
          <p:cNvPr id="7" name="Picture 6"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778727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0D36C32-7714-E35B-E4BA-DDF59688795D}"/>
              </a:ext>
            </a:extLst>
          </p:cNvPr>
          <p:cNvSpPr>
            <a:spLocks noGrp="1"/>
          </p:cNvSpPr>
          <p:nvPr>
            <p:ph type="body" sz="quarter" idx="12"/>
          </p:nvPr>
        </p:nvSpPr>
        <p:spPr>
          <a:xfrm>
            <a:off x="361950" y="1390650"/>
            <a:ext cx="11468100" cy="5044971"/>
          </a:xfrm>
        </p:spPr>
        <p:txBody>
          <a:bodyPr/>
          <a:lstStyle/>
          <a:p>
            <a:r>
              <a:rPr lang="en-US" dirty="0">
                <a:hlinkClick r:id="rId2"/>
              </a:rPr>
              <a:t>https://azure.microsoft.com/en-us/pricing/calculator/</a:t>
            </a:r>
            <a:endParaRPr lang="en-US" dirty="0"/>
          </a:p>
          <a:p>
            <a:endParaRPr lang="en-US" dirty="0"/>
          </a:p>
          <a:p>
            <a:r>
              <a:rPr lang="en-US" dirty="0">
                <a:hlinkClick r:id="rId3"/>
              </a:rPr>
              <a:t>https://one.rackspace.com/display/ETS/HOWTO%3A+Use+the+Azure+online+calculators</a:t>
            </a:r>
            <a:endParaRPr lang="en-US" dirty="0"/>
          </a:p>
          <a:p>
            <a:endParaRPr lang="en-US" dirty="0"/>
          </a:p>
          <a:p>
            <a:r>
              <a:rPr lang="en-US" dirty="0"/>
              <a:t>Compute:</a:t>
            </a:r>
          </a:p>
          <a:p>
            <a:pPr lvl="1"/>
            <a:r>
              <a:rPr lang="en-US" dirty="0"/>
              <a:t>Avoid: A-series, B-series,</a:t>
            </a:r>
          </a:p>
          <a:p>
            <a:pPr lvl="1"/>
            <a:r>
              <a:rPr lang="en-US" dirty="0"/>
              <a:t>D-series – CPU:RAM 1:4 </a:t>
            </a:r>
          </a:p>
          <a:p>
            <a:pPr lvl="1"/>
            <a:r>
              <a:rPr lang="en-US" dirty="0"/>
              <a:t>E-series – 1:8</a:t>
            </a:r>
          </a:p>
          <a:p>
            <a:pPr lvl="1"/>
            <a:r>
              <a:rPr lang="en-US" dirty="0"/>
              <a:t>F-series – 1:2</a:t>
            </a:r>
          </a:p>
          <a:p>
            <a:pPr lvl="1"/>
            <a:r>
              <a:rPr lang="en-US" dirty="0"/>
              <a:t>Highly specialized: N-series, M-Series, G-Series, L-series, H-series</a:t>
            </a:r>
          </a:p>
          <a:p>
            <a:pPr lvl="1"/>
            <a:r>
              <a:rPr lang="en-US" dirty="0"/>
              <a:t>Little ‘a’ (AMD), little ‘d’ (temp drive), little ‘s’ (SSD)</a:t>
            </a:r>
          </a:p>
          <a:p>
            <a:pPr lvl="1"/>
            <a:endParaRPr lang="en-US" dirty="0"/>
          </a:p>
          <a:p>
            <a:r>
              <a:rPr lang="en-US" dirty="0"/>
              <a:t>Storage:</a:t>
            </a:r>
          </a:p>
          <a:p>
            <a:pPr lvl="1"/>
            <a:endParaRPr lang="en-US" dirty="0"/>
          </a:p>
        </p:txBody>
      </p:sp>
      <p:sp>
        <p:nvSpPr>
          <p:cNvPr id="5" name="Title 4">
            <a:extLst>
              <a:ext uri="{FF2B5EF4-FFF2-40B4-BE49-F238E27FC236}">
                <a16:creationId xmlns:a16="http://schemas.microsoft.com/office/drawing/2014/main" id="{75AB443F-B0DE-3BB4-B392-DCC64517C977}"/>
              </a:ext>
            </a:extLst>
          </p:cNvPr>
          <p:cNvSpPr>
            <a:spLocks noGrp="1"/>
          </p:cNvSpPr>
          <p:nvPr>
            <p:ph type="title"/>
          </p:nvPr>
        </p:nvSpPr>
        <p:spPr/>
        <p:txBody>
          <a:bodyPr/>
          <a:lstStyle/>
          <a:p>
            <a:r>
              <a:rPr lang="en-US" dirty="0"/>
              <a:t>Azure Calculator – Rackspace Best Practices</a:t>
            </a:r>
          </a:p>
        </p:txBody>
      </p:sp>
      <p:pic>
        <p:nvPicPr>
          <p:cNvPr id="7" name="Picture 6" descr="image.png"/>
          <p:cNvPicPr>
            <a:picLocks noChangeAspect="1"/>
          </p:cNvPicPr>
          <p:nvPr/>
        </p:nvPicPr>
        <p:blipFill>
          <a:blip r:embed="rId4"/>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763908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0D36C32-7714-E35B-E4BA-DDF59688795D}"/>
              </a:ext>
            </a:extLst>
          </p:cNvPr>
          <p:cNvSpPr>
            <a:spLocks noGrp="1"/>
          </p:cNvSpPr>
          <p:nvPr>
            <p:ph type="body" sz="quarter" idx="12"/>
          </p:nvPr>
        </p:nvSpPr>
        <p:spPr>
          <a:xfrm>
            <a:off x="361950" y="1390650"/>
            <a:ext cx="11468100" cy="3211135"/>
          </a:xfrm>
        </p:spPr>
        <p:txBody>
          <a:bodyPr/>
          <a:lstStyle/>
          <a:p>
            <a:r>
              <a:rPr lang="en-US" dirty="0">
                <a:hlinkClick r:id="rId2"/>
              </a:rPr>
              <a:t>https://azure.microsoft.com/en-us/pricing/calculator/</a:t>
            </a:r>
            <a:endParaRPr lang="en-US" dirty="0"/>
          </a:p>
          <a:p>
            <a:pPr lvl="1"/>
            <a:endParaRPr lang="en-US" dirty="0"/>
          </a:p>
          <a:p>
            <a:r>
              <a:rPr lang="en-US"/>
              <a:t>Storage - Disks</a:t>
            </a:r>
            <a:endParaRPr lang="en-US" dirty="0"/>
          </a:p>
          <a:p>
            <a:pPr lvl="1"/>
            <a:r>
              <a:rPr lang="en-US" dirty="0"/>
              <a:t>Standard HDD</a:t>
            </a:r>
          </a:p>
          <a:p>
            <a:pPr lvl="1"/>
            <a:r>
              <a:rPr lang="en-US" dirty="0"/>
              <a:t>Standard SSD</a:t>
            </a:r>
          </a:p>
          <a:p>
            <a:pPr lvl="1"/>
            <a:r>
              <a:rPr lang="en-US" dirty="0"/>
              <a:t>Premium SSD</a:t>
            </a:r>
          </a:p>
          <a:p>
            <a:pPr lvl="1"/>
            <a:r>
              <a:rPr lang="en-US" dirty="0"/>
              <a:t>Premium SSD v2</a:t>
            </a:r>
          </a:p>
          <a:p>
            <a:pPr lvl="1"/>
            <a:r>
              <a:rPr lang="en-US" dirty="0"/>
              <a:t>Ultra SSD</a:t>
            </a:r>
          </a:p>
          <a:p>
            <a:pPr lvl="1"/>
            <a:endParaRPr lang="en-US" dirty="0"/>
          </a:p>
        </p:txBody>
      </p:sp>
      <p:sp>
        <p:nvSpPr>
          <p:cNvPr id="5" name="Title 4">
            <a:extLst>
              <a:ext uri="{FF2B5EF4-FFF2-40B4-BE49-F238E27FC236}">
                <a16:creationId xmlns:a16="http://schemas.microsoft.com/office/drawing/2014/main" id="{75AB443F-B0DE-3BB4-B392-DCC64517C977}"/>
              </a:ext>
            </a:extLst>
          </p:cNvPr>
          <p:cNvSpPr>
            <a:spLocks noGrp="1"/>
          </p:cNvSpPr>
          <p:nvPr>
            <p:ph type="title"/>
          </p:nvPr>
        </p:nvSpPr>
        <p:spPr/>
        <p:txBody>
          <a:bodyPr/>
          <a:lstStyle/>
          <a:p>
            <a:r>
              <a:rPr lang="en-US" dirty="0"/>
              <a:t>Azure Calculator – Rackspace Best Practices</a:t>
            </a:r>
          </a:p>
        </p:txBody>
      </p:sp>
      <p:pic>
        <p:nvPicPr>
          <p:cNvPr id="7" name="Picture 6"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741706471"/>
      </p:ext>
    </p:extLst>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F1FEDCEC89334CBA4C9EC99D7329E9" ma:contentTypeVersion="23" ma:contentTypeDescription="Create a new document." ma:contentTypeScope="" ma:versionID="c5f685c7667753326a004e3cc46bd719">
  <xsd:schema xmlns:xsd="http://www.w3.org/2001/XMLSchema" xmlns:xs="http://www.w3.org/2001/XMLSchema" xmlns:p="http://schemas.microsoft.com/office/2006/metadata/properties" xmlns:ns2="4be47b89-f4a8-4285-a7ca-db2b7c99ceb2" xmlns:ns3="48e12400-3b83-4a9e-9457-ce71372368ea" targetNamespace="http://schemas.microsoft.com/office/2006/metadata/properties" ma:root="true" ma:fieldsID="b7f31d1ddaddf8702b506a7136371616" ns2:_="" ns3:_="">
    <xsd:import namespace="4be47b89-f4a8-4285-a7ca-db2b7c99ceb2"/>
    <xsd:import namespace="48e12400-3b83-4a9e-9457-ce71372368e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EventHashCode" minOccurs="0"/>
                <xsd:element ref="ns3:MediaServiceGenerationTime" minOccurs="0"/>
                <xsd:element ref="ns3:MediaServiceAutoKeyPoints" minOccurs="0"/>
                <xsd:element ref="ns3:MediaServiceKeyPoints" minOccurs="0"/>
                <xsd:element ref="ns3:_Flow_SignoffStatus" minOccurs="0"/>
                <xsd:element ref="ns3:MediaLengthInSeconds" minOccurs="0"/>
                <xsd:element ref="ns3:lcf76f155ced4ddcb4097134ff3c332f" minOccurs="0"/>
                <xsd:element ref="ns2:TaxCatchAll" minOccurs="0"/>
                <xsd:element ref="ns3:Approved_x002f_Final" minOccurs="0"/>
                <xsd:element ref="ns3:Tag" minOccurs="0"/>
                <xsd:element ref="ns3:ScopeTag" minOccurs="0"/>
                <xsd:element ref="ns3:MediaServiceObjectDetectorVersions" minOccurs="0"/>
                <xsd:element ref="ns3:MediaServiceSearchPropertie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47b89-f4a8-4285-a7ca-db2b7c99ceb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4ca01e2a-9f54-4fa5-882b-533b838f4da1}" ma:internalName="TaxCatchAll" ma:showField="CatchAllData" ma:web="4be47b89-f4a8-4285-a7ca-db2b7c99ce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e12400-3b83-4a9e-9457-ce71372368ea"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_Flow_SignoffStatus" ma:index="19" nillable="true" ma:displayName="Sign-off status" ma:internalName="Sign_x002d_off_x0020_status">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Approved_x002f_Final" ma:index="24" nillable="true" ma:displayName="Approved/Final" ma:default="0" ma:format="Dropdown" ma:internalName="Approved_x002f_Final">
      <xsd:simpleType>
        <xsd:restriction base="dms:Boolean"/>
      </xsd:simpleType>
    </xsd:element>
    <xsd:element name="Tag" ma:index="25" nillable="true" ma:displayName="Tag" ma:format="Dropdown" ma:internalName="Tag">
      <xsd:simpleType>
        <xsd:restriction base="dms:Text">
          <xsd:maxLength value="255"/>
        </xsd:restriction>
      </xsd:simpleType>
    </xsd:element>
    <xsd:element name="ScopeTag" ma:index="26" nillable="true" ma:displayName="Scope Tag" ma:format="Dropdown" ma:internalName="ScopeTag">
      <xsd:simpleType>
        <xsd:restriction base="dms:Text">
          <xsd:maxLength value="255"/>
        </xsd:restriction>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MediaServiceLocation" ma:index="30" nillable="true" ma:displayName="Location" ma:descrip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proved_x002f_Final xmlns="48e12400-3b83-4a9e-9457-ce71372368ea">false</Approved_x002f_Final>
    <lcf76f155ced4ddcb4097134ff3c332f xmlns="48e12400-3b83-4a9e-9457-ce71372368ea">
      <Terms xmlns="http://schemas.microsoft.com/office/infopath/2007/PartnerControls"/>
    </lcf76f155ced4ddcb4097134ff3c332f>
    <Tag xmlns="48e12400-3b83-4a9e-9457-ce71372368ea" xsi:nil="true"/>
    <_Flow_SignoffStatus xmlns="48e12400-3b83-4a9e-9457-ce71372368ea" xsi:nil="true"/>
    <TaxCatchAll xmlns="4be47b89-f4a8-4285-a7ca-db2b7c99ceb2" xsi:nil="true"/>
    <ScopeTag xmlns="48e12400-3b83-4a9e-9457-ce71372368ea" xsi:nil="true"/>
  </documentManagement>
</p:properties>
</file>

<file path=customXml/itemProps1.xml><?xml version="1.0" encoding="utf-8"?>
<ds:datastoreItem xmlns:ds="http://schemas.openxmlformats.org/officeDocument/2006/customXml" ds:itemID="{C9D73B2D-B2E7-4FBD-BB6C-A0B37C619A66}">
  <ds:schemaRefs>
    <ds:schemaRef ds:uri="http://schemas.microsoft.com/sharepoint/v3/contenttype/forms"/>
  </ds:schemaRefs>
</ds:datastoreItem>
</file>

<file path=customXml/itemProps2.xml><?xml version="1.0" encoding="utf-8"?>
<ds:datastoreItem xmlns:ds="http://schemas.openxmlformats.org/officeDocument/2006/customXml" ds:itemID="{905950EB-24DC-4BEC-8F90-AA8926D097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47b89-f4a8-4285-a7ca-db2b7c99ceb2"/>
    <ds:schemaRef ds:uri="48e12400-3b83-4a9e-9457-ce71372368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A90803-65A8-4799-9C59-11F659CBDC6A}">
  <ds:schemaRefs>
    <ds:schemaRef ds:uri="http://schemas.microsoft.com/office/2006/metadata/properties"/>
    <ds:schemaRef ds:uri="http://schemas.microsoft.com/office/infopath/2007/PartnerControls"/>
    <ds:schemaRef ds:uri="48e12400-3b83-4a9e-9457-ce71372368ea"/>
    <ds:schemaRef ds:uri="4be47b89-f4a8-4285-a7ca-db2b7c99ceb2"/>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Rackspace Presentation Template</Template>
  <TotalTime>1052</TotalTime>
  <Words>146</Words>
  <Application>Microsoft Office PowerPoint</Application>
  <PresentationFormat>Widescreen</PresentationFormat>
  <Paragraphs>27</Paragraphs>
  <Slides>3</Slides>
  <Notes>0</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Content Slides</vt:lpstr>
      <vt:lpstr>1_Content Slides</vt:lpstr>
      <vt:lpstr>1_Titles and Breakers</vt:lpstr>
      <vt:lpstr>Azure Calc </vt:lpstr>
      <vt:lpstr>Azure Calculator – Rackspace Best Practices</vt:lpstr>
      <vt:lpstr>Azure Calculator – Rackspace Best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Calc</dc:title>
  <dc:creator>Gerry Le Canu</dc:creator>
  <cp:lastModifiedBy>Gerry Le Canu</cp:lastModifiedBy>
  <cp:revision>3</cp:revision>
  <dcterms:created xsi:type="dcterms:W3CDTF">2023-12-18T16:30:41Z</dcterms:created>
  <dcterms:modified xsi:type="dcterms:W3CDTF">2026-04-26T13:00:38Z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0x01010009F1FEDCEC89334CBA4C9EC99D7329E9</vt:lpwstr>
  </property>
</Properties>
</file>