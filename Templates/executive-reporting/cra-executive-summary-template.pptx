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34.svg" ContentType="image/svg+xml"/>
  <Override PartName="/ppt/media/image4.svg" ContentType="image/svg+xml"/>
  <Override PartName="/ppt/media/image5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65"/>
  </p:notesMasterIdLst>
  <p:handoutMasterIdLst>
    <p:handoutMasterId r:id="rId66"/>
  </p:handoutMasterIdLst>
  <p:sldIdLst>
    <p:sldId id="275" r:id="rId74"/>
    <p:sldId id="257" r:id="rId17"/>
    <p:sldId id="300" r:id="rId18"/>
    <p:sldId id="2147483644" r:id="rId19"/>
    <p:sldId id="276" r:id="rId20"/>
    <p:sldId id="279" r:id="rId21"/>
    <p:sldId id="280" r:id="rId22"/>
    <p:sldId id="2147483647" r:id="rId23"/>
    <p:sldId id="278" r:id="rId24"/>
    <p:sldId id="263" r:id="rId25"/>
    <p:sldId id="273" r:id="rId26"/>
    <p:sldId id="274" r:id="rId27"/>
    <p:sldId id="284" r:id="rId28"/>
    <p:sldId id="262" r:id="rId29"/>
    <p:sldId id="269" r:id="rId30"/>
    <p:sldId id="258" r:id="rId31"/>
    <p:sldId id="289" r:id="rId32"/>
    <p:sldId id="294" r:id="rId33"/>
    <p:sldId id="291" r:id="rId34"/>
    <p:sldId id="256" r:id="rId35"/>
    <p:sldId id="265" r:id="rId36"/>
    <p:sldId id="281" r:id="rId37"/>
    <p:sldId id="288" r:id="rId38"/>
    <p:sldId id="270" r:id="rId39"/>
    <p:sldId id="295" r:id="rId40"/>
    <p:sldId id="287" r:id="rId41"/>
    <p:sldId id="259" r:id="rId42"/>
    <p:sldId id="267" r:id="rId43"/>
    <p:sldId id="285" r:id="rId44"/>
    <p:sldId id="290" r:id="rId45"/>
    <p:sldId id="260" r:id="rId46"/>
    <p:sldId id="266" r:id="rId47"/>
    <p:sldId id="268" r:id="rId48"/>
    <p:sldId id="272" r:id="rId49"/>
    <p:sldId id="264" r:id="rId50"/>
    <p:sldId id="261" r:id="rId51"/>
    <p:sldId id="292" r:id="rId52"/>
    <p:sldId id="293" r:id="rId53"/>
    <p:sldId id="271" r:id="rId54"/>
    <p:sldId id="277" r:id="rId55"/>
    <p:sldId id="282" r:id="rId56"/>
    <p:sldId id="296" r:id="rId57"/>
    <p:sldId id="297" r:id="rId58"/>
    <p:sldId id="283" r:id="rId59"/>
    <p:sldId id="298" r:id="rId60"/>
    <p:sldId id="299" r:id="rId61"/>
    <p:sldId id="302" r:id="rId62"/>
    <p:sldId id="303" r:id="rId63"/>
    <p:sldId id="286" r:id="rId64"/>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279"/>
            <p14:sldId id="280"/>
            <p14:sldId id="2147483647"/>
            <p14:sldId id="278"/>
            <p14:sldId id="263"/>
            <p14:sldId id="273"/>
            <p14:sldId id="274"/>
            <p14:sldId id="284"/>
            <p14:sldId id="262"/>
            <p14:sldId id="269"/>
            <p14:sldId id="258"/>
            <p14:sldId id="289"/>
            <p14:sldId id="294"/>
            <p14:sldId id="291"/>
            <p14:sldId id="256"/>
            <p14:sldId id="265"/>
            <p14:sldId id="281"/>
            <p14:sldId id="288"/>
            <p14:sldId id="270"/>
            <p14:sldId id="295"/>
            <p14:sldId id="287"/>
            <p14:sldId id="259"/>
            <p14:sldId id="267"/>
            <p14:sldId id="285"/>
            <p14:sldId id="290"/>
            <p14:sldId id="260"/>
            <p14:sldId id="266"/>
            <p14:sldId id="268"/>
            <p14:sldId id="272"/>
            <p14:sldId id="264"/>
            <p14:sldId id="261"/>
            <p14:sldId id="292"/>
            <p14:sldId id="293"/>
            <p14:sldId id="271"/>
            <p14:sldId id="277"/>
            <p14:sldId id="282"/>
            <p14:sldId id="296"/>
            <p14:sldId id="297"/>
            <p14:sldId id="283"/>
            <p14:sldId id="298"/>
            <p14:sldId id="299"/>
            <p14:sldId id="302"/>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5008A"/>
    <a:srgbClr val="00B0F0"/>
    <a:srgbClr val="E57100"/>
    <a:srgbClr val="0059C8"/>
    <a:srgbClr val="222E63"/>
    <a:srgbClr val="0070C0"/>
    <a:srgbClr val="005F5E"/>
    <a:srgbClr val="00BEBC"/>
    <a:srgbClr val="B9B9B9"/>
    <a:srgbClr val="1926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CF7E06-240E-1343-A1E5-871FE010CEB6}" v="5477" dt="2026-04-24T20:29:30.211"/>
    <p1510:client id="{2831069D-04EE-8039-C50E-B0DAEF8E5787}" v="3" dt="2026-04-24T16:48:57.900"/>
    <p1510:client id="{AD96EFEE-CE80-4130-85D5-36991E656D5E}" v="285" dt="2026-04-24T16:57:13.783"/>
    <p1510:client id="{F1DC32E6-CB85-4111-BB42-A9E1F057CE70}" v="902" dt="2026-04-25T00:22:27.0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3" d="100"/>
          <a:sy n="53"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commentAuthors" Target="commentAuthors.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 Id="rId74" Type="http://schemas.openxmlformats.org/officeDocument/2006/relationships/slide" Target="slides/slid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Skills Gap</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err="1">
              <a:solidFill>
                <a:srgbClr val="FF0000"/>
              </a:solidFill>
              <a:latin typeface="Fira Sans Light" panose="020B0403050000020004" pitchFamily="34" charset="0"/>
            </a:rPr>
            <a:t>Vmware</a:t>
          </a:r>
          <a:r>
            <a:rPr lang="en-GB" noProof="0">
              <a:solidFill>
                <a:srgbClr val="FF0000"/>
              </a:solidFill>
              <a:latin typeface="Fira Sans Light" panose="020B0403050000020004" pitchFamily="34" charset="0"/>
            </a:rPr>
            <a:t> Tools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Appliances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Cloud Skills required</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16954F88-3A74-664C-8130-FCC27D52769A}">
      <dgm:prSet/>
      <dgm:spPr/>
      <dgm:t>
        <a:bodyPr/>
        <a:lstStyle/>
        <a:p>
          <a:r>
            <a:rPr lang="en-GB" noProof="0">
              <a:latin typeface="Fira Sans" panose="020B0503050000020004" pitchFamily="34" charset="0"/>
            </a:rPr>
            <a:t>Suggest partner to aid during transition phase</a:t>
          </a:r>
        </a:p>
      </dgm:t>
    </dgm:pt>
    <dgm:pt modelId="{DD57F892-C7E0-C641-BC4A-39B2D06EAA0A}" type="parTrans" cxnId="{A82F1264-B424-2D41-81EC-06E85E22579D}">
      <dgm:prSet/>
      <dgm:spPr/>
      <dgm:t>
        <a:bodyPr/>
        <a:lstStyle/>
        <a:p>
          <a:endParaRPr lang="en-GB"/>
        </a:p>
      </dgm:t>
    </dgm:pt>
    <dgm:pt modelId="{32B515B4-389B-694F-B8E6-A6D00A827070}" type="sibTrans" cxnId="{A82F1264-B424-2D41-81EC-06E85E22579D}">
      <dgm:prSet/>
      <dgm:spPr/>
      <dgm:t>
        <a:bodyPr/>
        <a:lstStyle/>
        <a:p>
          <a:endParaRPr lang="en-GB"/>
        </a:p>
      </dgm:t>
    </dgm:pt>
    <dgm:pt modelId="{0A7472A9-B525-7F4F-8C44-C17EC33EBA19}">
      <dgm:prSet/>
      <dgm:spPr/>
      <dgm:t>
        <a:bodyPr/>
        <a:lstStyle/>
        <a:p>
          <a:r>
            <a:rPr lang="en-GB" noProof="0">
              <a:latin typeface="Fira Sans" panose="020B0503050000020004" pitchFamily="34" charset="0"/>
            </a:rPr>
            <a:t>Build fully featured LZ</a:t>
          </a:r>
        </a:p>
      </dgm:t>
    </dgm:pt>
    <dgm:pt modelId="{645F45D7-5CA7-7742-8973-D8AC8F02723C}" type="parTrans" cxnId="{30B61044-C2A0-814A-812E-228E61537756}">
      <dgm:prSet/>
      <dgm:spPr/>
      <dgm:t>
        <a:bodyPr/>
        <a:lstStyle/>
        <a:p>
          <a:endParaRPr lang="en-GB"/>
        </a:p>
      </dgm:t>
    </dgm:pt>
    <dgm:pt modelId="{22BCDA6D-D79D-FB4A-BB05-DD0999909D92}" type="sibTrans" cxnId="{30B61044-C2A0-814A-812E-228E61537756}">
      <dgm:prSet/>
      <dgm:spPr/>
      <dgm:t>
        <a:bodyPr/>
        <a:lstStyle/>
        <a:p>
          <a:endParaRPr lang="en-GB"/>
        </a:p>
      </dgm:t>
    </dgm:pt>
    <dgm:pt modelId="{8C35E451-1656-0A46-84DA-72611F217055}">
      <dgm:prSet/>
      <dgm:spPr/>
      <dgm:t>
        <a:bodyPr/>
        <a:lstStyle/>
        <a:p>
          <a:r>
            <a:rPr lang="en-GB" noProof="0">
              <a:latin typeface="Fira Sans" panose="020B0503050000020004" pitchFamily="34" charset="0"/>
            </a:rPr>
            <a:t>Assist with migrations</a:t>
          </a:r>
        </a:p>
      </dgm:t>
    </dgm:pt>
    <dgm:pt modelId="{63EF9B05-7D0C-4D4B-9DCB-B4B79F0EDB64}" type="parTrans" cxnId="{B10653F7-BE42-0E4C-B44B-E84CE9285AAA}">
      <dgm:prSet/>
      <dgm:spPr/>
      <dgm:t>
        <a:bodyPr/>
        <a:lstStyle/>
        <a:p>
          <a:endParaRPr lang="en-GB"/>
        </a:p>
      </dgm:t>
    </dgm:pt>
    <dgm:pt modelId="{38D61FE1-3F7B-2D47-AD21-5E16BF6D989E}" type="sibTrans" cxnId="{B10653F7-BE42-0E4C-B44B-E84CE9285AAA}">
      <dgm:prSet/>
      <dgm:spPr/>
      <dgm:t>
        <a:bodyPr/>
        <a:lstStyle/>
        <a:p>
          <a:endParaRPr lang="en-GB"/>
        </a:p>
      </dgm:t>
    </dgm:pt>
    <dgm:pt modelId="{75213998-756B-E54B-A368-8A7F9703B2BD}">
      <dgm:prSet/>
      <dgm:spPr/>
      <dgm:t>
        <a:bodyPr/>
        <a:lstStyle/>
        <a:p>
          <a:r>
            <a:rPr lang="en-GB" noProof="0">
              <a:latin typeface="Fira Sans" panose="020B0503050000020004" pitchFamily="34" charset="0"/>
            </a:rPr>
            <a:t>Develop core security practices</a:t>
          </a:r>
        </a:p>
      </dgm:t>
    </dgm:pt>
    <dgm:pt modelId="{92A05DDC-EB76-DA49-AB57-C7BD161368E3}" type="parTrans" cxnId="{39EAFCF2-F1B1-7C41-874F-FB07E5C12D08}">
      <dgm:prSet/>
      <dgm:spPr/>
      <dgm:t>
        <a:bodyPr/>
        <a:lstStyle/>
        <a:p>
          <a:endParaRPr lang="en-GB"/>
        </a:p>
      </dgm:t>
    </dgm:pt>
    <dgm:pt modelId="{6B4B8AD9-069D-E74E-8825-5A3DDF43059C}" type="sibTrans" cxnId="{39EAFCF2-F1B1-7C41-874F-FB07E5C12D08}">
      <dgm:prSet/>
      <dgm:spPr/>
      <dgm:t>
        <a:bodyPr/>
        <a:lstStyle/>
        <a:p>
          <a:endParaRPr lang="en-GB"/>
        </a:p>
      </dgm:t>
    </dgm:pt>
    <dgm:pt modelId="{93B87697-539B-134A-B943-F534150F60CE}">
      <dgm:prSet/>
      <dgm:spPr/>
      <dgm:t>
        <a:bodyPr/>
        <a:lstStyle/>
        <a:p>
          <a:r>
            <a:rPr lang="en-GB" noProof="0">
              <a:latin typeface="Fira Sans" panose="020B0503050000020004" pitchFamily="34" charset="0"/>
            </a:rPr>
            <a:t>Build foundational FinOps concept</a:t>
          </a:r>
        </a:p>
      </dgm:t>
    </dgm:pt>
    <dgm:pt modelId="{A11B60DD-3467-874B-8CFD-54E64F89D5A2}" type="parTrans" cxnId="{819045B1-0944-1847-9735-2C0B4DBF4E2E}">
      <dgm:prSet/>
      <dgm:spPr/>
      <dgm:t>
        <a:bodyPr/>
        <a:lstStyle/>
        <a:p>
          <a:endParaRPr lang="en-GB"/>
        </a:p>
      </dgm:t>
    </dgm:pt>
    <dgm:pt modelId="{CF97E92E-7F45-1F40-B1E3-FACDF2AE138B}" type="sibTrans" cxnId="{819045B1-0944-1847-9735-2C0B4DBF4E2E}">
      <dgm:prSet/>
      <dgm:spPr/>
      <dgm:t>
        <a:bodyPr/>
        <a:lstStyle/>
        <a:p>
          <a:endParaRPr lang="en-GB"/>
        </a:p>
      </dgm:t>
    </dgm:pt>
    <dgm:pt modelId="{AB2CF87C-0892-BA4C-8637-E8B5894053FE}">
      <dgm:prSet/>
      <dgm:spPr/>
      <dgm:t>
        <a:bodyPr/>
        <a:lstStyle/>
        <a:p>
          <a:r>
            <a:rPr lang="en-GB" noProof="0">
              <a:latin typeface="Fira Sans" panose="020B0503050000020004" pitchFamily="34" charset="0"/>
            </a:rPr>
            <a:t>Develop DevOps automation processes</a:t>
          </a:r>
        </a:p>
      </dgm:t>
    </dgm:pt>
    <dgm:pt modelId="{7C1BB8D1-166C-7244-846D-31DCF1BF36A5}" type="parTrans" cxnId="{23BFAC70-F648-744E-B08A-78E93E82391B}">
      <dgm:prSet/>
      <dgm:spPr/>
      <dgm:t>
        <a:bodyPr/>
        <a:lstStyle/>
        <a:p>
          <a:endParaRPr lang="en-GB"/>
        </a:p>
      </dgm:t>
    </dgm:pt>
    <dgm:pt modelId="{7B011FB4-2E62-3A40-BC75-0FE4A15C5155}" type="sibTrans" cxnId="{23BFAC70-F648-744E-B08A-78E93E82391B}">
      <dgm:prSet/>
      <dgm:spPr/>
      <dgm:t>
        <a:bodyPr/>
        <a:lstStyle/>
        <a:p>
          <a:endParaRPr lang="en-GB"/>
        </a:p>
      </dgm:t>
    </dgm:pt>
    <dgm:pt modelId="{E073F3B9-C127-C744-9B8E-DAD4B2A7D9B6}">
      <dgm:prSet/>
      <dgm:spPr/>
      <dgm:t>
        <a:bodyPr/>
        <a:lstStyle/>
        <a:p>
          <a:r>
            <a:rPr lang="en-GB" noProof="0">
              <a:latin typeface="Fira Sans" panose="020B0503050000020004" pitchFamily="34" charset="0"/>
            </a:rPr>
            <a:t>Upskill in-house team</a:t>
          </a:r>
        </a:p>
      </dgm:t>
    </dgm:pt>
    <dgm:pt modelId="{3E18BAAF-620F-FD4B-8F65-4D0892E92959}" type="parTrans" cxnId="{82E4A26D-FA54-BA41-9C42-6175E2A995B2}">
      <dgm:prSet/>
      <dgm:spPr/>
      <dgm:t>
        <a:bodyPr/>
        <a:lstStyle/>
        <a:p>
          <a:endParaRPr lang="en-GB"/>
        </a:p>
      </dgm:t>
    </dgm:pt>
    <dgm:pt modelId="{242E5462-48EC-5F43-872D-8DDF2846A091}" type="sibTrans" cxnId="{82E4A26D-FA54-BA41-9C42-6175E2A995B2}">
      <dgm:prSet/>
      <dgm:spPr/>
      <dgm:t>
        <a:bodyPr/>
        <a:lstStyle/>
        <a:p>
          <a:endParaRPr lang="en-GB"/>
        </a:p>
      </dgm:t>
    </dgm:pt>
    <dgm:pt modelId="{81E4F34C-D836-7D4E-9845-B2A76B4C2A15}">
      <dgm:prSet/>
      <dgm:spPr/>
      <dgm:t>
        <a:bodyPr/>
        <a:lstStyle/>
        <a:p>
          <a:r>
            <a:rPr lang="en-GB" noProof="0">
              <a:latin typeface="Fira Sans" panose="020B0503050000020004" pitchFamily="34" charset="0"/>
            </a:rPr>
            <a:t>Where possible having </a:t>
          </a:r>
          <a:r>
            <a:rPr lang="en-GB" noProof="0" err="1">
              <a:latin typeface="Fira Sans" panose="020B0503050000020004" pitchFamily="34" charset="0"/>
            </a:rPr>
            <a:t>vmware</a:t>
          </a:r>
          <a:r>
            <a:rPr lang="en-GB" noProof="0">
              <a:latin typeface="Fira Sans" panose="020B0503050000020004" pitchFamily="34" charset="0"/>
            </a:rPr>
            <a:t> tools enabled gives a better perspective of performance inside the VM</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189F5D36-4D28-AD40-BF8C-80A2160ABA3A}">
      <dgm:prSet/>
      <dgm:spPr/>
      <dgm:t>
        <a:bodyPr/>
        <a:lstStyle/>
        <a:p>
          <a:r>
            <a:rPr lang="en-GB" noProof="0">
              <a:latin typeface="Fira Sans" panose="020B0503050000020004" pitchFamily="34" charset="0"/>
            </a:rPr>
            <a:t>Update where possible</a:t>
          </a:r>
        </a:p>
      </dgm:t>
    </dgm:pt>
    <dgm:pt modelId="{D4C7E502-1277-4549-A3D5-5ED28B0136CF}" type="parTrans" cxnId="{E1C8DCEA-E3E0-B94E-ABD1-61D6AE7FADF0}">
      <dgm:prSet/>
      <dgm:spPr/>
      <dgm:t>
        <a:bodyPr/>
        <a:lstStyle/>
        <a:p>
          <a:endParaRPr lang="en-GB"/>
        </a:p>
      </dgm:t>
    </dgm:pt>
    <dgm:pt modelId="{C7B8A242-B684-3C4F-9D52-2024316B229E}" type="sibTrans" cxnId="{E1C8DCEA-E3E0-B94E-ABD1-61D6AE7FADF0}">
      <dgm:prSet/>
      <dgm:spPr/>
      <dgm:t>
        <a:bodyPr/>
        <a:lstStyle/>
        <a:p>
          <a:endParaRPr lang="en-GB"/>
        </a:p>
      </dgm:t>
    </dgm:pt>
    <dgm:pt modelId="{42CF1815-E0C4-4145-ACB2-028AD54AEA4D}">
      <dgm:prSet/>
      <dgm:spPr/>
      <dgm:t>
        <a:bodyPr/>
        <a:lstStyle/>
        <a:p>
          <a:r>
            <a:rPr lang="en-GB" noProof="0">
              <a:latin typeface="Fira Sans" panose="020B0503050000020004" pitchFamily="34" charset="0"/>
            </a:rPr>
            <a:t>challenge</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40BF7488-157F-484F-BDD9-FD7EB27E7C1F}">
      <dgm:prSet/>
      <dgm:spPr/>
      <dgm:t>
        <a:bodyPr/>
        <a:lstStyle/>
        <a:p>
          <a:r>
            <a:rPr lang="en-GB"/>
            <a:t>response</a:t>
          </a:r>
        </a:p>
      </dgm:t>
    </dgm:pt>
    <dgm:pt modelId="{7D9D8C42-D9AD-614B-82FA-70BDE6EACA66}" type="parTrans" cxnId="{661830A7-1D81-B14D-AD0A-9CC9E387F888}">
      <dgm:prSet/>
      <dgm:spPr/>
      <dgm:t>
        <a:bodyPr/>
        <a:lstStyle/>
        <a:p>
          <a:endParaRPr lang="en-GB"/>
        </a:p>
      </dgm:t>
    </dgm:pt>
    <dgm:pt modelId="{76F448E5-FF89-2B48-8399-861826BE4A78}" type="sibTrans" cxnId="{661830A7-1D81-B14D-AD0A-9CC9E387F888}">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BD40D908-17F7-824E-B7EF-3CE16B79531E}" type="presOf" srcId="{8991AD4B-0CB7-2F49-90F8-8706A88E8773}" destId="{1861625B-4C31-AC44-9FC7-4500A780C9AA}" srcOrd="1" destOrd="0" presId="urn:microsoft.com/office/officeart/2005/8/layout/list1"/>
    <dgm:cxn modelId="{E78F260A-C447-1341-AFDE-241ABB152CA2}" type="presOf" srcId="{9F50EAA7-9774-4045-99BA-BD72AD537A36}" destId="{18912804-9AEF-6C4F-A7BD-95034F12280A}" srcOrd="0" destOrd="0" presId="urn:microsoft.com/office/officeart/2005/8/layout/list1"/>
    <dgm:cxn modelId="{9A24F216-E6B5-1F4F-ADAB-361463774BDD}" type="presOf" srcId="{75213998-756B-E54B-A368-8A7F9703B2BD}" destId="{A7946707-CC26-B84C-AD3D-ADCEF5197422}" srcOrd="0" destOrd="4" presId="urn:microsoft.com/office/officeart/2005/8/layout/list1"/>
    <dgm:cxn modelId="{462A3519-B79A-D34E-844E-859B8EDFBEAD}" type="presOf" srcId="{0A7472A9-B525-7F4F-8C44-C17EC33EBA19}"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DA141E3C-33D2-E943-AF4D-3D924954471E}" type="presOf" srcId="{1662FC78-A305-C440-8706-2E62710DD74C}" destId="{92EF13FC-0710-DF41-932B-2F4AF28A143F}" srcOrd="0" destOrd="0" presId="urn:microsoft.com/office/officeart/2005/8/layout/list1"/>
    <dgm:cxn modelId="{6191FB3D-DCF4-5844-872D-FA925FB38F8B}" type="presOf" srcId="{1662FC78-A305-C440-8706-2E62710DD74C}" destId="{F91A1701-4279-DA45-AB93-345512E9FE74}" srcOrd="1" destOrd="0" presId="urn:microsoft.com/office/officeart/2005/8/layout/list1"/>
    <dgm:cxn modelId="{30B61044-C2A0-814A-812E-228E61537756}" srcId="{9F50EAA7-9774-4045-99BA-BD72AD537A36}" destId="{0A7472A9-B525-7F4F-8C44-C17EC33EBA19}" srcOrd="2" destOrd="0" parTransId="{645F45D7-5CA7-7742-8973-D8AC8F02723C}" sibTransId="{22BCDA6D-D79D-FB4A-BB05-DD0999909D92}"/>
    <dgm:cxn modelId="{A82F1264-B424-2D41-81EC-06E85E22579D}" srcId="{9F50EAA7-9774-4045-99BA-BD72AD537A36}" destId="{16954F88-3A74-664C-8130-FCC27D52769A}" srcOrd="1" destOrd="0" parTransId="{DD57F892-C7E0-C641-BC4A-39B2D06EAA0A}" sibTransId="{32B515B4-389B-694F-B8E6-A6D00A827070}"/>
    <dgm:cxn modelId="{82E4A26D-FA54-BA41-9C42-6175E2A995B2}" srcId="{9F50EAA7-9774-4045-99BA-BD72AD537A36}" destId="{E073F3B9-C127-C744-9B8E-DAD4B2A7D9B6}" srcOrd="7" destOrd="0" parTransId="{3E18BAAF-620F-FD4B-8F65-4D0892E92959}" sibTransId="{242E5462-48EC-5F43-872D-8DDF2846A091}"/>
    <dgm:cxn modelId="{76035C4E-8583-1D41-96ED-6821A1021342}" srcId="{37306C49-EB3B-F04D-98FE-2509FB0D9ACD}" destId="{1662FC78-A305-C440-8706-2E62710DD74C}" srcOrd="1" destOrd="0" parTransId="{E6EF2829-939B-C54B-8D26-09F3CB5CDA68}" sibTransId="{98AFFD20-2257-F641-B9EC-73DC618DCB94}"/>
    <dgm:cxn modelId="{D59B8D4E-1A4B-BF4C-A1D4-0709F0378BEE}" type="presOf" srcId="{81E4F34C-D836-7D4E-9845-B2A76B4C2A15}" destId="{6EF8F0BE-A990-2C46-B789-BD6D93B89083}" srcOrd="0" destOrd="0" presId="urn:microsoft.com/office/officeart/2005/8/layout/list1"/>
    <dgm:cxn modelId="{23BFAC70-F648-744E-B08A-78E93E82391B}" srcId="{9F50EAA7-9774-4045-99BA-BD72AD537A36}" destId="{AB2CF87C-0892-BA4C-8637-E8B5894053FE}" srcOrd="6" destOrd="0" parTransId="{7C1BB8D1-166C-7244-846D-31DCF1BF36A5}" sibTransId="{7B011FB4-2E62-3A40-BC75-0FE4A15C5155}"/>
    <dgm:cxn modelId="{E27C635A-778C-A448-B94F-D7610D1FD525}" type="presOf" srcId="{93B87697-539B-134A-B943-F534150F60CE}" destId="{A7946707-CC26-B84C-AD3D-ADCEF5197422}" srcOrd="0" destOrd="5" presId="urn:microsoft.com/office/officeart/2005/8/layout/list1"/>
    <dgm:cxn modelId="{4E3BE07E-86A5-AE4D-A287-931257A2560D}" type="presOf" srcId="{8C35E451-1656-0A46-84DA-72611F217055}" destId="{A7946707-CC26-B84C-AD3D-ADCEF5197422}" srcOrd="0" destOrd="3"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E7CD9682-B65B-0849-91EC-4363AA7AC99A}" type="presOf" srcId="{E073F3B9-C127-C744-9B8E-DAD4B2A7D9B6}" destId="{A7946707-CC26-B84C-AD3D-ADCEF5197422}" srcOrd="0" destOrd="7" presId="urn:microsoft.com/office/officeart/2005/8/layout/list1"/>
    <dgm:cxn modelId="{B9E78E89-F7D5-B94F-81A3-850393511D04}" type="presOf" srcId="{0123180F-55F9-9B43-9D90-6050C97D9B85}" destId="{A7946707-CC26-B84C-AD3D-ADCEF5197422}" srcOrd="0" destOrd="0" presId="urn:microsoft.com/office/officeart/2005/8/layout/list1"/>
    <dgm:cxn modelId="{17D9E18E-D7EA-7C40-802F-59CF06625096}" srcId="{9F50EAA7-9774-4045-99BA-BD72AD537A36}" destId="{0123180F-55F9-9B43-9D90-6050C97D9B85}" srcOrd="0" destOrd="0" parTransId="{AD63FBCB-E2AA-4A47-B13D-96B05DCAB120}" sibTransId="{D8E077D4-D57D-914E-B869-5E89F4852011}"/>
    <dgm:cxn modelId="{A6EDF78E-CB0F-624A-AE33-2BCF51BB85C8}" type="presOf" srcId="{8991AD4B-0CB7-2F49-90F8-8706A88E8773}" destId="{B3C2A1F5-65A9-5744-9FA4-BF78532F0A84}" srcOrd="0"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661830A7-1D81-B14D-AD0A-9CC9E387F888}" srcId="{8991AD4B-0CB7-2F49-90F8-8706A88E8773}" destId="{40BF7488-157F-484F-BDD9-FD7EB27E7C1F}" srcOrd="1" destOrd="0" parTransId="{7D9D8C42-D9AD-614B-82FA-70BDE6EACA66}" sibTransId="{76F448E5-FF89-2B48-8399-861826BE4A78}"/>
    <dgm:cxn modelId="{D0D234A9-AA2E-9747-A89F-4DE6109D45A5}" type="presOf" srcId="{42CF1815-E0C4-4145-ACB2-028AD54AEA4D}" destId="{022DB784-03D2-A845-9D72-54957B3FC1F9}" srcOrd="0" destOrd="0" presId="urn:microsoft.com/office/officeart/2005/8/layout/list1"/>
    <dgm:cxn modelId="{F209AFAA-B7A2-5D47-AB8E-365C993D7EB1}" type="presOf" srcId="{189F5D36-4D28-AD40-BF8C-80A2160ABA3A}" destId="{6EF8F0BE-A990-2C46-B789-BD6D93B89083}" srcOrd="0" destOrd="1" presId="urn:microsoft.com/office/officeart/2005/8/layout/list1"/>
    <dgm:cxn modelId="{819045B1-0944-1847-9735-2C0B4DBF4E2E}" srcId="{9F50EAA7-9774-4045-99BA-BD72AD537A36}" destId="{93B87697-539B-134A-B943-F534150F60CE}" srcOrd="5" destOrd="0" parTransId="{A11B60DD-3467-874B-8CFD-54E64F89D5A2}" sibTransId="{CF97E92E-7F45-1F40-B1E3-FACDF2AE138B}"/>
    <dgm:cxn modelId="{8F4F51C2-88B1-F24B-B3B0-9A825ED849C1}" srcId="{37306C49-EB3B-F04D-98FE-2509FB0D9ACD}" destId="{9F50EAA7-9774-4045-99BA-BD72AD537A36}" srcOrd="0" destOrd="0" parTransId="{5B9A9636-FE89-8746-BAD0-3D3D065055A0}" sibTransId="{62809083-D5F4-2848-8AD5-3687489C2B0C}"/>
    <dgm:cxn modelId="{6BAE8ACC-D504-944D-900A-6B8DE302295F}" type="presOf" srcId="{9F50EAA7-9774-4045-99BA-BD72AD537A36}" destId="{40FE246F-30B4-0241-855E-3F1CA0A4AD4E}" srcOrd="1" destOrd="0" presId="urn:microsoft.com/office/officeart/2005/8/layout/list1"/>
    <dgm:cxn modelId="{B04651E7-E8A6-EB49-A530-2C2E103EAABE}" type="presOf" srcId="{AB2CF87C-0892-BA4C-8637-E8B5894053FE}" destId="{A7946707-CC26-B84C-AD3D-ADCEF5197422}" srcOrd="0" destOrd="6" presId="urn:microsoft.com/office/officeart/2005/8/layout/list1"/>
    <dgm:cxn modelId="{E1C8DCEA-E3E0-B94E-ABD1-61D6AE7FADF0}" srcId="{1662FC78-A305-C440-8706-2E62710DD74C}" destId="{189F5D36-4D28-AD40-BF8C-80A2160ABA3A}" srcOrd="1" destOrd="0" parTransId="{D4C7E502-1277-4549-A3D5-5ED28B0136CF}" sibTransId="{C7B8A242-B684-3C4F-9D52-2024316B229E}"/>
    <dgm:cxn modelId="{F79426F0-D792-5045-B7A5-7F9F6CB64641}" type="presOf" srcId="{16954F88-3A74-664C-8130-FCC27D52769A}" destId="{A7946707-CC26-B84C-AD3D-ADCEF5197422}" srcOrd="0" destOrd="1" presId="urn:microsoft.com/office/officeart/2005/8/layout/list1"/>
    <dgm:cxn modelId="{39EAFCF2-F1B1-7C41-874F-FB07E5C12D08}" srcId="{9F50EAA7-9774-4045-99BA-BD72AD537A36}" destId="{75213998-756B-E54B-A368-8A7F9703B2BD}" srcOrd="4" destOrd="0" parTransId="{92A05DDC-EB76-DA49-AB57-C7BD161368E3}" sibTransId="{6B4B8AD9-069D-E74E-8825-5A3DDF43059C}"/>
    <dgm:cxn modelId="{B10653F7-BE42-0E4C-B44B-E84CE9285AAA}" srcId="{9F50EAA7-9774-4045-99BA-BD72AD537A36}" destId="{8C35E451-1656-0A46-84DA-72611F217055}" srcOrd="3" destOrd="0" parTransId="{63EF9B05-7D0C-4D4B-9DCB-B4B79F0EDB64}" sibTransId="{38D61FE1-3F7B-2D47-AD21-5E16BF6D989E}"/>
    <dgm:cxn modelId="{1679A3F8-6D80-FA4B-8680-A5B6C2834DC7}" type="presOf" srcId="{40BF7488-157F-484F-BDD9-FD7EB27E7C1F}" destId="{022DB784-03D2-A845-9D72-54957B3FC1F9}" srcOrd="0" destOrd="1" presId="urn:microsoft.com/office/officeart/2005/8/layout/list1"/>
    <dgm:cxn modelId="{3F254E4C-498B-9348-B8F1-9F6E37962E49}" type="presParOf" srcId="{1DB2552C-4861-624B-8106-2ABC70D7774A}" destId="{4D214363-F676-274A-9F5A-3FA40C6AE313}" srcOrd="0" destOrd="0" presId="urn:microsoft.com/office/officeart/2005/8/layout/list1"/>
    <dgm:cxn modelId="{FB5C0A1F-2BA8-FD48-87B1-C11E68E2A0A0}" type="presParOf" srcId="{4D214363-F676-274A-9F5A-3FA40C6AE313}" destId="{18912804-9AEF-6C4F-A7BD-95034F12280A}" srcOrd="0" destOrd="0" presId="urn:microsoft.com/office/officeart/2005/8/layout/list1"/>
    <dgm:cxn modelId="{7695FE12-73C7-DF41-9FC1-E97C21A1F656}" type="presParOf" srcId="{4D214363-F676-274A-9F5A-3FA40C6AE313}" destId="{40FE246F-30B4-0241-855E-3F1CA0A4AD4E}" srcOrd="1" destOrd="0" presId="urn:microsoft.com/office/officeart/2005/8/layout/list1"/>
    <dgm:cxn modelId="{43B405F7-D499-EE4D-BCD1-45C45AA59957}" type="presParOf" srcId="{1DB2552C-4861-624B-8106-2ABC70D7774A}" destId="{AA101175-655D-AF47-8CBB-19B65FD1A423}" srcOrd="1" destOrd="0" presId="urn:microsoft.com/office/officeart/2005/8/layout/list1"/>
    <dgm:cxn modelId="{E05F38A8-E7F3-2748-964A-EC8807A37D71}" type="presParOf" srcId="{1DB2552C-4861-624B-8106-2ABC70D7774A}" destId="{A7946707-CC26-B84C-AD3D-ADCEF5197422}" srcOrd="2" destOrd="0" presId="urn:microsoft.com/office/officeart/2005/8/layout/list1"/>
    <dgm:cxn modelId="{22AAA826-52D6-FE4F-9034-59963AD394E1}" type="presParOf" srcId="{1DB2552C-4861-624B-8106-2ABC70D7774A}" destId="{FA79C2BC-D1E9-FE47-95B5-C330B7C545FC}" srcOrd="3" destOrd="0" presId="urn:microsoft.com/office/officeart/2005/8/layout/list1"/>
    <dgm:cxn modelId="{7E8B9944-6B8D-B64F-9266-F4CFE1D251D0}" type="presParOf" srcId="{1DB2552C-4861-624B-8106-2ABC70D7774A}" destId="{43DC8091-A1AA-6745-83FE-A2E55E9DFA5E}" srcOrd="4" destOrd="0" presId="urn:microsoft.com/office/officeart/2005/8/layout/list1"/>
    <dgm:cxn modelId="{7337F7A0-F115-B94C-BAAD-C1A9A92B6DA7}" type="presParOf" srcId="{43DC8091-A1AA-6745-83FE-A2E55E9DFA5E}" destId="{92EF13FC-0710-DF41-932B-2F4AF28A143F}" srcOrd="0" destOrd="0" presId="urn:microsoft.com/office/officeart/2005/8/layout/list1"/>
    <dgm:cxn modelId="{DE93740A-2D52-124D-8200-CB351E643D17}" type="presParOf" srcId="{43DC8091-A1AA-6745-83FE-A2E55E9DFA5E}" destId="{F91A1701-4279-DA45-AB93-345512E9FE74}" srcOrd="1" destOrd="0" presId="urn:microsoft.com/office/officeart/2005/8/layout/list1"/>
    <dgm:cxn modelId="{4D30765C-589D-5942-B476-0755BE7326D3}" type="presParOf" srcId="{1DB2552C-4861-624B-8106-2ABC70D7774A}" destId="{0F26F94E-6FE7-BD4C-A6B0-72661D46F6B5}" srcOrd="5" destOrd="0" presId="urn:microsoft.com/office/officeart/2005/8/layout/list1"/>
    <dgm:cxn modelId="{C63C79AC-CE0E-E348-BD17-6D56779EF91D}" type="presParOf" srcId="{1DB2552C-4861-624B-8106-2ABC70D7774A}" destId="{6EF8F0BE-A990-2C46-B789-BD6D93B89083}" srcOrd="6" destOrd="0" presId="urn:microsoft.com/office/officeart/2005/8/layout/list1"/>
    <dgm:cxn modelId="{4450E3C4-60C3-F94A-A917-268F8CA12FC9}" type="presParOf" srcId="{1DB2552C-4861-624B-8106-2ABC70D7774A}" destId="{0D0ED172-AE17-854F-A0FA-410DF75FED16}" srcOrd="7" destOrd="0" presId="urn:microsoft.com/office/officeart/2005/8/layout/list1"/>
    <dgm:cxn modelId="{8BA9AFE3-DECA-7541-B147-0CF1C0485E54}" type="presParOf" srcId="{1DB2552C-4861-624B-8106-2ABC70D7774A}" destId="{0E60A50C-456A-1241-97D4-5F96AF310345}" srcOrd="8" destOrd="0" presId="urn:microsoft.com/office/officeart/2005/8/layout/list1"/>
    <dgm:cxn modelId="{20FE2B25-0423-5A4C-BED4-D20ECC5B728F}" type="presParOf" srcId="{0E60A50C-456A-1241-97D4-5F96AF310345}" destId="{B3C2A1F5-65A9-5744-9FA4-BF78532F0A84}" srcOrd="0" destOrd="0" presId="urn:microsoft.com/office/officeart/2005/8/layout/list1"/>
    <dgm:cxn modelId="{A9EA51BA-CD99-F94A-8DA9-3743A53E7518}" type="presParOf" srcId="{0E60A50C-456A-1241-97D4-5F96AF310345}" destId="{1861625B-4C31-AC44-9FC7-4500A780C9AA}" srcOrd="1" destOrd="0" presId="urn:microsoft.com/office/officeart/2005/8/layout/list1"/>
    <dgm:cxn modelId="{6DC82F1E-F1BF-1349-8A2E-FA1644A2E8CA}" type="presParOf" srcId="{1DB2552C-4861-624B-8106-2ABC70D7774A}" destId="{DDAAB8AC-2D22-1943-9822-CF8FCF6BC02A}" srcOrd="9" destOrd="0" presId="urn:microsoft.com/office/officeart/2005/8/layout/list1"/>
    <dgm:cxn modelId="{04CCCE67-0D83-024D-92B5-25FBFE6D5BAC}"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7306C49-EB3B-F04D-98FE-2509FB0D9ACD}"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en-GB"/>
        </a:p>
      </dgm:t>
    </dgm:pt>
    <dgm:pt modelId="{9F50EAA7-9774-4045-99BA-BD72AD537A36}">
      <dgm:prSet phldrT="[Text]"/>
      <dgm:spPr/>
      <dgm:t>
        <a:bodyPr/>
        <a:lstStyle/>
        <a:p>
          <a:r>
            <a:rPr lang="en-GB" noProof="0">
              <a:solidFill>
                <a:srgbClr val="FF0000"/>
              </a:solidFill>
              <a:latin typeface="Fira Sans Light" panose="020B0403050000020004" pitchFamily="34" charset="0"/>
            </a:rPr>
            <a:t>Standardised Access</a:t>
          </a:r>
          <a:endParaRPr lang="en-GB"/>
        </a:p>
      </dgm:t>
    </dgm:pt>
    <dgm:pt modelId="{5B9A9636-FE89-8746-BAD0-3D3D065055A0}" type="parTrans" cxnId="{8F4F51C2-88B1-F24B-B3B0-9A825ED849C1}">
      <dgm:prSet/>
      <dgm:spPr/>
      <dgm:t>
        <a:bodyPr/>
        <a:lstStyle/>
        <a:p>
          <a:endParaRPr lang="en-GB"/>
        </a:p>
      </dgm:t>
    </dgm:pt>
    <dgm:pt modelId="{62809083-D5F4-2848-8AD5-3687489C2B0C}" type="sibTrans" cxnId="{8F4F51C2-88B1-F24B-B3B0-9A825ED849C1}">
      <dgm:prSet/>
      <dgm:spPr/>
      <dgm:t>
        <a:bodyPr/>
        <a:lstStyle/>
        <a:p>
          <a:endParaRPr lang="en-GB"/>
        </a:p>
      </dgm:t>
    </dgm:pt>
    <dgm:pt modelId="{1662FC78-A305-C440-8706-2E62710DD74C}">
      <dgm:prSet/>
      <dgm:spPr/>
      <dgm:t>
        <a:bodyPr/>
        <a:lstStyle/>
        <a:p>
          <a:r>
            <a:rPr lang="en-GB" noProof="0">
              <a:solidFill>
                <a:srgbClr val="FF0000"/>
              </a:solidFill>
              <a:latin typeface="Fira Sans Light" panose="020B0403050000020004" pitchFamily="34" charset="0"/>
            </a:rPr>
            <a:t>Legacy OS</a:t>
          </a:r>
        </a:p>
      </dgm:t>
    </dgm:pt>
    <dgm:pt modelId="{E6EF2829-939B-C54B-8D26-09F3CB5CDA68}" type="parTrans" cxnId="{76035C4E-8583-1D41-96ED-6821A1021342}">
      <dgm:prSet/>
      <dgm:spPr/>
      <dgm:t>
        <a:bodyPr/>
        <a:lstStyle/>
        <a:p>
          <a:endParaRPr lang="en-GB"/>
        </a:p>
      </dgm:t>
    </dgm:pt>
    <dgm:pt modelId="{98AFFD20-2257-F641-B9EC-73DC618DCB94}" type="sibTrans" cxnId="{76035C4E-8583-1D41-96ED-6821A1021342}">
      <dgm:prSet/>
      <dgm:spPr/>
      <dgm:t>
        <a:bodyPr/>
        <a:lstStyle/>
        <a:p>
          <a:endParaRPr lang="en-GB"/>
        </a:p>
      </dgm:t>
    </dgm:pt>
    <dgm:pt modelId="{8991AD4B-0CB7-2F49-90F8-8706A88E8773}">
      <dgm:prSet/>
      <dgm:spPr/>
      <dgm:t>
        <a:bodyPr/>
        <a:lstStyle/>
        <a:p>
          <a:r>
            <a:rPr lang="en-GB" noProof="0">
              <a:solidFill>
                <a:srgbClr val="FF0000"/>
              </a:solidFill>
              <a:latin typeface="Fira Sans Light" panose="020B0403050000020004" pitchFamily="34" charset="0"/>
            </a:rPr>
            <a:t>Naming Conventions</a:t>
          </a:r>
        </a:p>
      </dgm:t>
    </dgm:pt>
    <dgm:pt modelId="{62C52F19-ED56-9942-B2B8-CF96F6F46CEC}" type="parTrans" cxnId="{4C87D5A2-CEEF-AD47-A0C4-0EE660CEF81A}">
      <dgm:prSet/>
      <dgm:spPr/>
      <dgm:t>
        <a:bodyPr/>
        <a:lstStyle/>
        <a:p>
          <a:endParaRPr lang="en-GB"/>
        </a:p>
      </dgm:t>
    </dgm:pt>
    <dgm:pt modelId="{C33DBD77-4CF1-A747-9537-BAEA2BA9E20B}" type="sibTrans" cxnId="{4C87D5A2-CEEF-AD47-A0C4-0EE660CEF81A}">
      <dgm:prSet/>
      <dgm:spPr/>
      <dgm:t>
        <a:bodyPr/>
        <a:lstStyle/>
        <a:p>
          <a:endParaRPr lang="en-GB"/>
        </a:p>
      </dgm:t>
    </dgm:pt>
    <dgm:pt modelId="{0123180F-55F9-9B43-9D90-6050C97D9B85}">
      <dgm:prSet/>
      <dgm:spPr/>
      <dgm:t>
        <a:bodyPr/>
        <a:lstStyle/>
        <a:p>
          <a:r>
            <a:rPr lang="en-GB" noProof="0">
              <a:latin typeface="Fira Sans" panose="020B0503050000020004" pitchFamily="34" charset="0"/>
            </a:rPr>
            <a:t>Consistent logins required for administrator access</a:t>
          </a:r>
          <a:endParaRPr lang="en-GB"/>
        </a:p>
      </dgm:t>
    </dgm:pt>
    <dgm:pt modelId="{AD63FBCB-E2AA-4A47-B13D-96B05DCAB120}" type="parTrans" cxnId="{17D9E18E-D7EA-7C40-802F-59CF06625096}">
      <dgm:prSet/>
      <dgm:spPr/>
      <dgm:t>
        <a:bodyPr/>
        <a:lstStyle/>
        <a:p>
          <a:endParaRPr lang="en-GB"/>
        </a:p>
      </dgm:t>
    </dgm:pt>
    <dgm:pt modelId="{D8E077D4-D57D-914E-B869-5E89F4852011}" type="sibTrans" cxnId="{17D9E18E-D7EA-7C40-802F-59CF06625096}">
      <dgm:prSet/>
      <dgm:spPr/>
      <dgm:t>
        <a:bodyPr/>
        <a:lstStyle/>
        <a:p>
          <a:endParaRPr lang="en-GB"/>
        </a:p>
      </dgm:t>
    </dgm:pt>
    <dgm:pt modelId="{81E4F34C-D836-7D4E-9845-B2A76B4C2A15}">
      <dgm:prSet/>
      <dgm:spPr/>
      <dgm:t>
        <a:bodyPr/>
        <a:lstStyle/>
        <a:p>
          <a:r>
            <a:rPr lang="en-GB" noProof="0">
              <a:latin typeface="Fira Sans" panose="020B0503050000020004" pitchFamily="34" charset="0"/>
            </a:rPr>
            <a:t>Old unsupported OS types will take longer to move to Cloud</a:t>
          </a:r>
          <a:endParaRPr lang="en-GB"/>
        </a:p>
      </dgm:t>
    </dgm:pt>
    <dgm:pt modelId="{8749706C-4E2F-884D-B13E-A97335F60867}" type="parTrans" cxnId="{53454381-68C1-514B-8CA3-352982D266A4}">
      <dgm:prSet/>
      <dgm:spPr/>
      <dgm:t>
        <a:bodyPr/>
        <a:lstStyle/>
        <a:p>
          <a:endParaRPr lang="en-GB"/>
        </a:p>
      </dgm:t>
    </dgm:pt>
    <dgm:pt modelId="{0A0A75CF-853F-2D4C-9099-6051DD3642EF}" type="sibTrans" cxnId="{53454381-68C1-514B-8CA3-352982D266A4}">
      <dgm:prSet/>
      <dgm:spPr/>
      <dgm:t>
        <a:bodyPr/>
        <a:lstStyle/>
        <a:p>
          <a:endParaRPr lang="en-GB"/>
        </a:p>
      </dgm:t>
    </dgm:pt>
    <dgm:pt modelId="{42CF1815-E0C4-4145-ACB2-028AD54AEA4D}">
      <dgm:prSet/>
      <dgm:spPr/>
      <dgm:t>
        <a:bodyPr/>
        <a:lstStyle/>
        <a:p>
          <a:r>
            <a:rPr lang="en-GB" noProof="0">
              <a:latin typeface="Fira Sans" panose="020B0503050000020004" pitchFamily="34" charset="0"/>
            </a:rPr>
            <a:t>Risk of duplication or accidentally leaving out of migration</a:t>
          </a:r>
          <a:endParaRPr lang="en-GB"/>
        </a:p>
      </dgm:t>
    </dgm:pt>
    <dgm:pt modelId="{68A5B697-CA34-2648-B133-69962E14E163}" type="parTrans" cxnId="{C29BC228-F3C6-B749-89F1-ECFE901471F4}">
      <dgm:prSet/>
      <dgm:spPr/>
      <dgm:t>
        <a:bodyPr/>
        <a:lstStyle/>
        <a:p>
          <a:endParaRPr lang="en-GB"/>
        </a:p>
      </dgm:t>
    </dgm:pt>
    <dgm:pt modelId="{0881EAF9-F573-AE43-AD6F-B191DCA83B97}" type="sibTrans" cxnId="{C29BC228-F3C6-B749-89F1-ECFE901471F4}">
      <dgm:prSet/>
      <dgm:spPr/>
      <dgm:t>
        <a:bodyPr/>
        <a:lstStyle/>
        <a:p>
          <a:endParaRPr lang="en-GB"/>
        </a:p>
      </dgm:t>
    </dgm:pt>
    <dgm:pt modelId="{5F97BEB5-3EBB-E349-B815-C48E38B212E4}">
      <dgm:prSet/>
      <dgm:spPr/>
      <dgm:t>
        <a:bodyPr/>
        <a:lstStyle/>
        <a:p>
          <a:r>
            <a:rPr lang="en-GB" noProof="0">
              <a:latin typeface="Fira Sans" panose="020B0503050000020004" pitchFamily="34" charset="0"/>
            </a:rPr>
            <a:t>Standardised login methods for Linux/Windows</a:t>
          </a:r>
        </a:p>
      </dgm:t>
    </dgm:pt>
    <dgm:pt modelId="{914FBD76-94A2-1B4F-A71C-0F66171DEEA3}" type="parTrans" cxnId="{72E80ED8-9B69-4B3C-AE71-1FF0514FF819}">
      <dgm:prSet/>
      <dgm:spPr/>
      <dgm:t>
        <a:bodyPr/>
        <a:lstStyle/>
        <a:p>
          <a:endParaRPr lang="en-GB"/>
        </a:p>
      </dgm:t>
    </dgm:pt>
    <dgm:pt modelId="{A7A859A6-F26C-3A47-89D6-2D005FB5033B}" type="sibTrans" cxnId="{72E80ED8-9B69-4B3C-AE71-1FF0514FF819}">
      <dgm:prSet/>
      <dgm:spPr/>
      <dgm:t>
        <a:bodyPr/>
        <a:lstStyle/>
        <a:p>
          <a:endParaRPr lang="en-GB"/>
        </a:p>
      </dgm:t>
    </dgm:pt>
    <dgm:pt modelId="{54A5018D-96B0-194C-A585-4857B7729CE0}">
      <dgm:prSet/>
      <dgm:spPr/>
      <dgm:t>
        <a:bodyPr/>
        <a:lstStyle/>
        <a:p>
          <a:r>
            <a:rPr lang="en-GB" noProof="0">
              <a:latin typeface="Fira Sans" panose="020B0503050000020004" pitchFamily="34" charset="0"/>
            </a:rPr>
            <a:t>Standardised accounts across MOL/ANL</a:t>
          </a:r>
        </a:p>
      </dgm:t>
    </dgm:pt>
    <dgm:pt modelId="{700D8648-930A-4D49-BB83-C89E55E3DBE2}" type="parTrans" cxnId="{D6975989-CD91-446D-A61E-1927C1D86958}">
      <dgm:prSet/>
      <dgm:spPr/>
      <dgm:t>
        <a:bodyPr/>
        <a:lstStyle/>
        <a:p>
          <a:endParaRPr lang="en-GB"/>
        </a:p>
      </dgm:t>
    </dgm:pt>
    <dgm:pt modelId="{B892E025-73B2-6546-95CD-E76D5B8DA7B7}" type="sibTrans" cxnId="{D6975989-CD91-446D-A61E-1927C1D86958}">
      <dgm:prSet/>
      <dgm:spPr/>
      <dgm:t>
        <a:bodyPr/>
        <a:lstStyle/>
        <a:p>
          <a:endParaRPr lang="en-GB"/>
        </a:p>
      </dgm:t>
    </dgm:pt>
    <dgm:pt modelId="{31FC5491-07E7-6447-A7ED-42DFBCD7C9F4}">
      <dgm:prSet/>
      <dgm:spPr/>
      <dgm:t>
        <a:bodyPr/>
        <a:lstStyle/>
        <a:p>
          <a:r>
            <a:rPr lang="en-GB" noProof="0">
              <a:latin typeface="Fira Sans" panose="020B0503050000020004" pitchFamily="34" charset="0"/>
            </a:rPr>
            <a:t>Ability to make changes</a:t>
          </a:r>
        </a:p>
      </dgm:t>
    </dgm:pt>
    <dgm:pt modelId="{EC2136DB-5E6A-F344-8462-BF1EA81501D3}" type="parTrans" cxnId="{62303B00-4F94-4897-8F30-0D59955A2EDD}">
      <dgm:prSet/>
      <dgm:spPr/>
      <dgm:t>
        <a:bodyPr/>
        <a:lstStyle/>
        <a:p>
          <a:endParaRPr lang="en-GB"/>
        </a:p>
      </dgm:t>
    </dgm:pt>
    <dgm:pt modelId="{B669F63E-2B33-A94E-B529-E9FED4E059F9}" type="sibTrans" cxnId="{62303B00-4F94-4897-8F30-0D59955A2EDD}">
      <dgm:prSet/>
      <dgm:spPr/>
      <dgm:t>
        <a:bodyPr/>
        <a:lstStyle/>
        <a:p>
          <a:endParaRPr lang="en-GB"/>
        </a:p>
      </dgm:t>
    </dgm:pt>
    <dgm:pt modelId="{58BE3162-18F1-9044-A496-7688104E1749}">
      <dgm:prSet/>
      <dgm:spPr/>
      <dgm:t>
        <a:bodyPr/>
        <a:lstStyle/>
        <a:p>
          <a:r>
            <a:rPr lang="en-GB" noProof="0">
              <a:latin typeface="Fira Sans" panose="020B0503050000020004" pitchFamily="34" charset="0"/>
            </a:rPr>
            <a:t>Some customers prefer to use a tool to manage PAM. (eg: Cyberark)</a:t>
          </a:r>
        </a:p>
      </dgm:t>
    </dgm:pt>
    <dgm:pt modelId="{5728CCF3-4385-E84A-A909-72A0D62EA9C8}" type="parTrans" cxnId="{0C7B65E8-F3E7-405F-8833-8779F78C2DB0}">
      <dgm:prSet/>
      <dgm:spPr/>
      <dgm:t>
        <a:bodyPr/>
        <a:lstStyle/>
        <a:p>
          <a:endParaRPr lang="en-GB"/>
        </a:p>
      </dgm:t>
    </dgm:pt>
    <dgm:pt modelId="{720C5B11-0693-7948-84D7-C03715D2B61E}" type="sibTrans" cxnId="{0C7B65E8-F3E7-405F-8833-8779F78C2DB0}">
      <dgm:prSet/>
      <dgm:spPr/>
      <dgm:t>
        <a:bodyPr/>
        <a:lstStyle/>
        <a:p>
          <a:endParaRPr lang="en-GB"/>
        </a:p>
      </dgm:t>
    </dgm:pt>
    <dgm:pt modelId="{442854AC-D80D-9745-83BF-432287E44EF8}">
      <dgm:prSet/>
      <dgm:spPr/>
      <dgm:t>
        <a:bodyPr/>
        <a:lstStyle/>
        <a:p>
          <a:r>
            <a:rPr lang="en-GB" noProof="0" err="1">
              <a:latin typeface="Fira Sans" panose="020B0503050000020004" pitchFamily="34" charset="0"/>
            </a:rPr>
            <a:t>Replatforming</a:t>
          </a:r>
          <a:r>
            <a:rPr lang="en-GB" noProof="0">
              <a:latin typeface="Fira Sans" panose="020B0503050000020004" pitchFamily="34" charset="0"/>
            </a:rPr>
            <a:t> is possible but must be factored into timeline.</a:t>
          </a:r>
        </a:p>
      </dgm:t>
    </dgm:pt>
    <dgm:pt modelId="{D53A772B-D5E0-8547-B64F-CC2F2FA79236}" type="parTrans" cxnId="{88C44342-F82B-4D5C-9D48-ADFFBA90D1CF}">
      <dgm:prSet/>
      <dgm:spPr/>
      <dgm:t>
        <a:bodyPr/>
        <a:lstStyle/>
        <a:p>
          <a:endParaRPr lang="en-GB"/>
        </a:p>
      </dgm:t>
    </dgm:pt>
    <dgm:pt modelId="{DDEB7E54-5AED-CF43-A2BA-0CFC5F34C298}" type="sibTrans" cxnId="{88C44342-F82B-4D5C-9D48-ADFFBA90D1CF}">
      <dgm:prSet/>
      <dgm:spPr/>
      <dgm:t>
        <a:bodyPr/>
        <a:lstStyle/>
        <a:p>
          <a:endParaRPr lang="en-GB"/>
        </a:p>
      </dgm:t>
    </dgm:pt>
    <dgm:pt modelId="{F4B476B1-A512-E14C-805B-F7845592FF81}">
      <dgm:prSet/>
      <dgm:spPr/>
      <dgm:t>
        <a:bodyPr/>
        <a:lstStyle/>
        <a:p>
          <a:r>
            <a:rPr lang="en-GB" noProof="0">
              <a:latin typeface="Fira Sans" panose="020B0503050000020004" pitchFamily="34" charset="0"/>
            </a:rPr>
            <a:t>Same hostnames with .int and .hsk </a:t>
          </a:r>
        </a:p>
      </dgm:t>
    </dgm:pt>
    <dgm:pt modelId="{CB6803C7-E131-F04B-B107-188B18F4925E}" type="parTrans" cxnId="{20D19A39-7FC5-4F5B-BBC3-C6063BA7B549}">
      <dgm:prSet/>
      <dgm:spPr/>
      <dgm:t>
        <a:bodyPr/>
        <a:lstStyle/>
        <a:p>
          <a:endParaRPr lang="en-GB"/>
        </a:p>
      </dgm:t>
    </dgm:pt>
    <dgm:pt modelId="{48736AFD-215A-F647-B4C2-6DDB87911505}" type="sibTrans" cxnId="{20D19A39-7FC5-4F5B-BBC3-C6063BA7B549}">
      <dgm:prSet/>
      <dgm:spPr/>
      <dgm:t>
        <a:bodyPr/>
        <a:lstStyle/>
        <a:p>
          <a:endParaRPr lang="en-GB"/>
        </a:p>
      </dgm:t>
    </dgm:pt>
    <dgm:pt modelId="{1DB2552C-4861-624B-8106-2ABC70D7774A}" type="pres">
      <dgm:prSet presAssocID="{37306C49-EB3B-F04D-98FE-2509FB0D9ACD}" presName="linear" presStyleCnt="0">
        <dgm:presLayoutVars>
          <dgm:dir/>
          <dgm:animLvl val="lvl"/>
          <dgm:resizeHandles val="exact"/>
        </dgm:presLayoutVars>
      </dgm:prSet>
      <dgm:spPr/>
    </dgm:pt>
    <dgm:pt modelId="{4D214363-F676-274A-9F5A-3FA40C6AE313}" type="pres">
      <dgm:prSet presAssocID="{9F50EAA7-9774-4045-99BA-BD72AD537A36}" presName="parentLin" presStyleCnt="0"/>
      <dgm:spPr/>
    </dgm:pt>
    <dgm:pt modelId="{18912804-9AEF-6C4F-A7BD-95034F12280A}" type="pres">
      <dgm:prSet presAssocID="{9F50EAA7-9774-4045-99BA-BD72AD537A36}" presName="parentLeftMargin" presStyleLbl="node1" presStyleIdx="0" presStyleCnt="3"/>
      <dgm:spPr/>
    </dgm:pt>
    <dgm:pt modelId="{40FE246F-30B4-0241-855E-3F1CA0A4AD4E}" type="pres">
      <dgm:prSet presAssocID="{9F50EAA7-9774-4045-99BA-BD72AD537A36}" presName="parentText" presStyleLbl="node1" presStyleIdx="0" presStyleCnt="3">
        <dgm:presLayoutVars>
          <dgm:chMax val="0"/>
          <dgm:bulletEnabled val="1"/>
        </dgm:presLayoutVars>
      </dgm:prSet>
      <dgm:spPr/>
    </dgm:pt>
    <dgm:pt modelId="{AA101175-655D-AF47-8CBB-19B65FD1A423}" type="pres">
      <dgm:prSet presAssocID="{9F50EAA7-9774-4045-99BA-BD72AD537A36}" presName="negativeSpace" presStyleCnt="0"/>
      <dgm:spPr/>
    </dgm:pt>
    <dgm:pt modelId="{A7946707-CC26-B84C-AD3D-ADCEF5197422}" type="pres">
      <dgm:prSet presAssocID="{9F50EAA7-9774-4045-99BA-BD72AD537A36}" presName="childText" presStyleLbl="conFgAcc1" presStyleIdx="0" presStyleCnt="3">
        <dgm:presLayoutVars>
          <dgm:bulletEnabled val="1"/>
        </dgm:presLayoutVars>
      </dgm:prSet>
      <dgm:spPr/>
    </dgm:pt>
    <dgm:pt modelId="{FA79C2BC-D1E9-FE47-95B5-C330B7C545FC}" type="pres">
      <dgm:prSet presAssocID="{62809083-D5F4-2848-8AD5-3687489C2B0C}" presName="spaceBetweenRectangles" presStyleCnt="0"/>
      <dgm:spPr/>
    </dgm:pt>
    <dgm:pt modelId="{43DC8091-A1AA-6745-83FE-A2E55E9DFA5E}" type="pres">
      <dgm:prSet presAssocID="{1662FC78-A305-C440-8706-2E62710DD74C}" presName="parentLin" presStyleCnt="0"/>
      <dgm:spPr/>
    </dgm:pt>
    <dgm:pt modelId="{92EF13FC-0710-DF41-932B-2F4AF28A143F}" type="pres">
      <dgm:prSet presAssocID="{1662FC78-A305-C440-8706-2E62710DD74C}" presName="parentLeftMargin" presStyleLbl="node1" presStyleIdx="0" presStyleCnt="3"/>
      <dgm:spPr/>
    </dgm:pt>
    <dgm:pt modelId="{F91A1701-4279-DA45-AB93-345512E9FE74}" type="pres">
      <dgm:prSet presAssocID="{1662FC78-A305-C440-8706-2E62710DD74C}" presName="parentText" presStyleLbl="node1" presStyleIdx="1" presStyleCnt="3">
        <dgm:presLayoutVars>
          <dgm:chMax val="0"/>
          <dgm:bulletEnabled val="1"/>
        </dgm:presLayoutVars>
      </dgm:prSet>
      <dgm:spPr/>
    </dgm:pt>
    <dgm:pt modelId="{0F26F94E-6FE7-BD4C-A6B0-72661D46F6B5}" type="pres">
      <dgm:prSet presAssocID="{1662FC78-A305-C440-8706-2E62710DD74C}" presName="negativeSpace" presStyleCnt="0"/>
      <dgm:spPr/>
    </dgm:pt>
    <dgm:pt modelId="{6EF8F0BE-A990-2C46-B789-BD6D93B89083}" type="pres">
      <dgm:prSet presAssocID="{1662FC78-A305-C440-8706-2E62710DD74C}" presName="childText" presStyleLbl="conFgAcc1" presStyleIdx="1" presStyleCnt="3">
        <dgm:presLayoutVars>
          <dgm:bulletEnabled val="1"/>
        </dgm:presLayoutVars>
      </dgm:prSet>
      <dgm:spPr/>
    </dgm:pt>
    <dgm:pt modelId="{0D0ED172-AE17-854F-A0FA-410DF75FED16}" type="pres">
      <dgm:prSet presAssocID="{98AFFD20-2257-F641-B9EC-73DC618DCB94}" presName="spaceBetweenRectangles" presStyleCnt="0"/>
      <dgm:spPr/>
    </dgm:pt>
    <dgm:pt modelId="{0E60A50C-456A-1241-97D4-5F96AF310345}" type="pres">
      <dgm:prSet presAssocID="{8991AD4B-0CB7-2F49-90F8-8706A88E8773}" presName="parentLin" presStyleCnt="0"/>
      <dgm:spPr/>
    </dgm:pt>
    <dgm:pt modelId="{B3C2A1F5-65A9-5744-9FA4-BF78532F0A84}" type="pres">
      <dgm:prSet presAssocID="{8991AD4B-0CB7-2F49-90F8-8706A88E8773}" presName="parentLeftMargin" presStyleLbl="node1" presStyleIdx="1" presStyleCnt="3"/>
      <dgm:spPr/>
    </dgm:pt>
    <dgm:pt modelId="{1861625B-4C31-AC44-9FC7-4500A780C9AA}" type="pres">
      <dgm:prSet presAssocID="{8991AD4B-0CB7-2F49-90F8-8706A88E8773}" presName="parentText" presStyleLbl="node1" presStyleIdx="2" presStyleCnt="3">
        <dgm:presLayoutVars>
          <dgm:chMax val="0"/>
          <dgm:bulletEnabled val="1"/>
        </dgm:presLayoutVars>
      </dgm:prSet>
      <dgm:spPr/>
    </dgm:pt>
    <dgm:pt modelId="{DDAAB8AC-2D22-1943-9822-CF8FCF6BC02A}" type="pres">
      <dgm:prSet presAssocID="{8991AD4B-0CB7-2F49-90F8-8706A88E8773}" presName="negativeSpace" presStyleCnt="0"/>
      <dgm:spPr/>
    </dgm:pt>
    <dgm:pt modelId="{022DB784-03D2-A845-9D72-54957B3FC1F9}" type="pres">
      <dgm:prSet presAssocID="{8991AD4B-0CB7-2F49-90F8-8706A88E8773}" presName="childText" presStyleLbl="conFgAcc1" presStyleIdx="2" presStyleCnt="3">
        <dgm:presLayoutVars>
          <dgm:bulletEnabled val="1"/>
        </dgm:presLayoutVars>
      </dgm:prSet>
      <dgm:spPr/>
    </dgm:pt>
  </dgm:ptLst>
  <dgm:cxnLst>
    <dgm:cxn modelId="{62303B00-4F94-4897-8F30-0D59955A2EDD}" srcId="{5F97BEB5-3EBB-E349-B815-C48E38B212E4}" destId="{31FC5491-07E7-6447-A7ED-42DFBCD7C9F4}" srcOrd="1" destOrd="0" parTransId="{EC2136DB-5E6A-F344-8462-BF1EA81501D3}" sibTransId="{B669F63E-2B33-A94E-B529-E9FED4E059F9}"/>
    <dgm:cxn modelId="{D9FE0512-5D7A-498C-B1A8-944E7B977D3C}" type="presOf" srcId="{5F97BEB5-3EBB-E349-B815-C48E38B212E4}" destId="{A7946707-CC26-B84C-AD3D-ADCEF5197422}" srcOrd="0" destOrd="1" presId="urn:microsoft.com/office/officeart/2005/8/layout/list1"/>
    <dgm:cxn modelId="{7202731F-6101-4E26-96E0-FBDC6F9DDBBA}" type="presOf" srcId="{54A5018D-96B0-194C-A585-4857B7729CE0}" destId="{A7946707-CC26-B84C-AD3D-ADCEF5197422}" srcOrd="0" destOrd="2" presId="urn:microsoft.com/office/officeart/2005/8/layout/list1"/>
    <dgm:cxn modelId="{7E59D01F-0F1B-364F-B829-25B38E2BB699}" type="presOf" srcId="{37306C49-EB3B-F04D-98FE-2509FB0D9ACD}" destId="{1DB2552C-4861-624B-8106-2ABC70D7774A}" srcOrd="0" destOrd="0" presId="urn:microsoft.com/office/officeart/2005/8/layout/list1"/>
    <dgm:cxn modelId="{985B7827-9A9E-4271-B0C5-FC39CB9E2B88}" type="presOf" srcId="{8991AD4B-0CB7-2F49-90F8-8706A88E8773}" destId="{B3C2A1F5-65A9-5744-9FA4-BF78532F0A84}" srcOrd="0" destOrd="0" presId="urn:microsoft.com/office/officeart/2005/8/layout/list1"/>
    <dgm:cxn modelId="{C29BC228-F3C6-B749-89F1-ECFE901471F4}" srcId="{8991AD4B-0CB7-2F49-90F8-8706A88E8773}" destId="{42CF1815-E0C4-4145-ACB2-028AD54AEA4D}" srcOrd="0" destOrd="0" parTransId="{68A5B697-CA34-2648-B133-69962E14E163}" sibTransId="{0881EAF9-F573-AE43-AD6F-B191DCA83B97}"/>
    <dgm:cxn modelId="{C80C9B2C-5F07-4548-8ACF-085303C5D95D}" type="presOf" srcId="{9F50EAA7-9774-4045-99BA-BD72AD537A36}" destId="{40FE246F-30B4-0241-855E-3F1CA0A4AD4E}" srcOrd="1" destOrd="0" presId="urn:microsoft.com/office/officeart/2005/8/layout/list1"/>
    <dgm:cxn modelId="{20D19A39-7FC5-4F5B-BBC3-C6063BA7B549}" srcId="{8991AD4B-0CB7-2F49-90F8-8706A88E8773}" destId="{F4B476B1-A512-E14C-805B-F7845592FF81}" srcOrd="1" destOrd="0" parTransId="{CB6803C7-E131-F04B-B107-188B18F4925E}" sibTransId="{48736AFD-215A-F647-B4C2-6DDB87911505}"/>
    <dgm:cxn modelId="{88C44342-F82B-4D5C-9D48-ADFFBA90D1CF}" srcId="{1662FC78-A305-C440-8706-2E62710DD74C}" destId="{442854AC-D80D-9745-83BF-432287E44EF8}" srcOrd="1" destOrd="0" parTransId="{D53A772B-D5E0-8547-B64F-CC2F2FA79236}" sibTransId="{DDEB7E54-5AED-CF43-A2BA-0CFC5F34C298}"/>
    <dgm:cxn modelId="{32A93147-8990-4325-8638-D4E135C649B0}" type="presOf" srcId="{442854AC-D80D-9745-83BF-432287E44EF8}" destId="{6EF8F0BE-A990-2C46-B789-BD6D93B89083}" srcOrd="0" destOrd="1" presId="urn:microsoft.com/office/officeart/2005/8/layout/list1"/>
    <dgm:cxn modelId="{76035C4E-8583-1D41-96ED-6821A1021342}" srcId="{37306C49-EB3B-F04D-98FE-2509FB0D9ACD}" destId="{1662FC78-A305-C440-8706-2E62710DD74C}" srcOrd="1" destOrd="0" parTransId="{E6EF2829-939B-C54B-8D26-09F3CB5CDA68}" sibTransId="{98AFFD20-2257-F641-B9EC-73DC618DCB94}"/>
    <dgm:cxn modelId="{FF89416E-AC83-4C38-B564-598C28FF9181}" type="presOf" srcId="{1662FC78-A305-C440-8706-2E62710DD74C}" destId="{F91A1701-4279-DA45-AB93-345512E9FE74}" srcOrd="1" destOrd="0" presId="urn:microsoft.com/office/officeart/2005/8/layout/list1"/>
    <dgm:cxn modelId="{D1D72F7B-B683-4071-B33D-86EA49D51754}" type="presOf" srcId="{81E4F34C-D836-7D4E-9845-B2A76B4C2A15}" destId="{6EF8F0BE-A990-2C46-B789-BD6D93B89083}" srcOrd="0" destOrd="0" presId="urn:microsoft.com/office/officeart/2005/8/layout/list1"/>
    <dgm:cxn modelId="{EDA0497C-4C87-4B38-BD21-BA4E9362A5E9}" type="presOf" srcId="{42CF1815-E0C4-4145-ACB2-028AD54AEA4D}" destId="{022DB784-03D2-A845-9D72-54957B3FC1F9}" srcOrd="0" destOrd="0" presId="urn:microsoft.com/office/officeart/2005/8/layout/list1"/>
    <dgm:cxn modelId="{53454381-68C1-514B-8CA3-352982D266A4}" srcId="{1662FC78-A305-C440-8706-2E62710DD74C}" destId="{81E4F34C-D836-7D4E-9845-B2A76B4C2A15}" srcOrd="0" destOrd="0" parTransId="{8749706C-4E2F-884D-B13E-A97335F60867}" sibTransId="{0A0A75CF-853F-2D4C-9099-6051DD3642EF}"/>
    <dgm:cxn modelId="{D6975989-CD91-446D-A61E-1927C1D86958}" srcId="{5F97BEB5-3EBB-E349-B815-C48E38B212E4}" destId="{54A5018D-96B0-194C-A585-4857B7729CE0}" srcOrd="0" destOrd="0" parTransId="{700D8648-930A-4D49-BB83-C89E55E3DBE2}" sibTransId="{B892E025-73B2-6546-95CD-E76D5B8DA7B7}"/>
    <dgm:cxn modelId="{17D9E18E-D7EA-7C40-802F-59CF06625096}" srcId="{9F50EAA7-9774-4045-99BA-BD72AD537A36}" destId="{0123180F-55F9-9B43-9D90-6050C97D9B85}" srcOrd="0" destOrd="0" parTransId="{AD63FBCB-E2AA-4A47-B13D-96B05DCAB120}" sibTransId="{D8E077D4-D57D-914E-B869-5E89F4852011}"/>
    <dgm:cxn modelId="{9200E890-28AD-4560-B2C9-BD814DCDDB82}" type="presOf" srcId="{F4B476B1-A512-E14C-805B-F7845592FF81}" destId="{022DB784-03D2-A845-9D72-54957B3FC1F9}" srcOrd="0" destOrd="1" presId="urn:microsoft.com/office/officeart/2005/8/layout/list1"/>
    <dgm:cxn modelId="{9660869F-6B1D-4D6B-8A88-E3763E3B0C8E}" type="presOf" srcId="{8991AD4B-0CB7-2F49-90F8-8706A88E8773}" destId="{1861625B-4C31-AC44-9FC7-4500A780C9AA}" srcOrd="1" destOrd="0" presId="urn:microsoft.com/office/officeart/2005/8/layout/list1"/>
    <dgm:cxn modelId="{4C87D5A2-CEEF-AD47-A0C4-0EE660CEF81A}" srcId="{37306C49-EB3B-F04D-98FE-2509FB0D9ACD}" destId="{8991AD4B-0CB7-2F49-90F8-8706A88E8773}" srcOrd="2" destOrd="0" parTransId="{62C52F19-ED56-9942-B2B8-CF96F6F46CEC}" sibTransId="{C33DBD77-4CF1-A747-9537-BAEA2BA9E20B}"/>
    <dgm:cxn modelId="{27457EA4-5C6F-48DF-AF7F-76E1B7DD20F0}" type="presOf" srcId="{1662FC78-A305-C440-8706-2E62710DD74C}" destId="{92EF13FC-0710-DF41-932B-2F4AF28A143F}" srcOrd="0" destOrd="0" presId="urn:microsoft.com/office/officeart/2005/8/layout/list1"/>
    <dgm:cxn modelId="{8F4F51C2-88B1-F24B-B3B0-9A825ED849C1}" srcId="{37306C49-EB3B-F04D-98FE-2509FB0D9ACD}" destId="{9F50EAA7-9774-4045-99BA-BD72AD537A36}" srcOrd="0" destOrd="0" parTransId="{5B9A9636-FE89-8746-BAD0-3D3D065055A0}" sibTransId="{62809083-D5F4-2848-8AD5-3687489C2B0C}"/>
    <dgm:cxn modelId="{37BA67CF-DB93-4180-8D51-F7FEC8B38931}" type="presOf" srcId="{9F50EAA7-9774-4045-99BA-BD72AD537A36}" destId="{18912804-9AEF-6C4F-A7BD-95034F12280A}" srcOrd="0" destOrd="0" presId="urn:microsoft.com/office/officeart/2005/8/layout/list1"/>
    <dgm:cxn modelId="{72E80ED8-9B69-4B3C-AE71-1FF0514FF819}" srcId="{9F50EAA7-9774-4045-99BA-BD72AD537A36}" destId="{5F97BEB5-3EBB-E349-B815-C48E38B212E4}" srcOrd="1" destOrd="0" parTransId="{914FBD76-94A2-1B4F-A71C-0F66171DEEA3}" sibTransId="{A7A859A6-F26C-3A47-89D6-2D005FB5033B}"/>
    <dgm:cxn modelId="{8A2AC8D9-EF23-47E3-AF3E-942852BD9AC9}" type="presOf" srcId="{0123180F-55F9-9B43-9D90-6050C97D9B85}" destId="{A7946707-CC26-B84C-AD3D-ADCEF5197422}" srcOrd="0" destOrd="0" presId="urn:microsoft.com/office/officeart/2005/8/layout/list1"/>
    <dgm:cxn modelId="{0C7B65E8-F3E7-405F-8833-8779F78C2DB0}" srcId="{9F50EAA7-9774-4045-99BA-BD72AD537A36}" destId="{58BE3162-18F1-9044-A496-7688104E1749}" srcOrd="2" destOrd="0" parTransId="{5728CCF3-4385-E84A-A909-72A0D62EA9C8}" sibTransId="{720C5B11-0693-7948-84D7-C03715D2B61E}"/>
    <dgm:cxn modelId="{4A0113F1-88E2-40EC-A541-C618250F13A9}" type="presOf" srcId="{58BE3162-18F1-9044-A496-7688104E1749}" destId="{A7946707-CC26-B84C-AD3D-ADCEF5197422}" srcOrd="0" destOrd="4" presId="urn:microsoft.com/office/officeart/2005/8/layout/list1"/>
    <dgm:cxn modelId="{0D3B70FD-B068-4741-9ADC-2D9C76F3B439}" type="presOf" srcId="{31FC5491-07E7-6447-A7ED-42DFBCD7C9F4}" destId="{A7946707-CC26-B84C-AD3D-ADCEF5197422}" srcOrd="0" destOrd="3" presId="urn:microsoft.com/office/officeart/2005/8/layout/list1"/>
    <dgm:cxn modelId="{9B2BED6C-AEE1-4380-AA4D-704621607AF3}" type="presParOf" srcId="{1DB2552C-4861-624B-8106-2ABC70D7774A}" destId="{4D214363-F676-274A-9F5A-3FA40C6AE313}" srcOrd="0" destOrd="0" presId="urn:microsoft.com/office/officeart/2005/8/layout/list1"/>
    <dgm:cxn modelId="{D214BC32-5809-4C0D-9914-8779D12B7E5A}" type="presParOf" srcId="{4D214363-F676-274A-9F5A-3FA40C6AE313}" destId="{18912804-9AEF-6C4F-A7BD-95034F12280A}" srcOrd="0" destOrd="0" presId="urn:microsoft.com/office/officeart/2005/8/layout/list1"/>
    <dgm:cxn modelId="{0FF25563-F8EA-4E68-8D56-ECCE530DB8C9}" type="presParOf" srcId="{4D214363-F676-274A-9F5A-3FA40C6AE313}" destId="{40FE246F-30B4-0241-855E-3F1CA0A4AD4E}" srcOrd="1" destOrd="0" presId="urn:microsoft.com/office/officeart/2005/8/layout/list1"/>
    <dgm:cxn modelId="{AC904689-67E8-46EC-93A5-5547ECAD3DEE}" type="presParOf" srcId="{1DB2552C-4861-624B-8106-2ABC70D7774A}" destId="{AA101175-655D-AF47-8CBB-19B65FD1A423}" srcOrd="1" destOrd="0" presId="urn:microsoft.com/office/officeart/2005/8/layout/list1"/>
    <dgm:cxn modelId="{1AE38A5A-3C77-420F-81F9-27B960149058}" type="presParOf" srcId="{1DB2552C-4861-624B-8106-2ABC70D7774A}" destId="{A7946707-CC26-B84C-AD3D-ADCEF5197422}" srcOrd="2" destOrd="0" presId="urn:microsoft.com/office/officeart/2005/8/layout/list1"/>
    <dgm:cxn modelId="{44348DBE-C2B3-4214-BF2C-90E9C9D72E3F}" type="presParOf" srcId="{1DB2552C-4861-624B-8106-2ABC70D7774A}" destId="{FA79C2BC-D1E9-FE47-95B5-C330B7C545FC}" srcOrd="3" destOrd="0" presId="urn:microsoft.com/office/officeart/2005/8/layout/list1"/>
    <dgm:cxn modelId="{A515A5EF-1047-4D7F-97D4-19F8279F1071}" type="presParOf" srcId="{1DB2552C-4861-624B-8106-2ABC70D7774A}" destId="{43DC8091-A1AA-6745-83FE-A2E55E9DFA5E}" srcOrd="4" destOrd="0" presId="urn:microsoft.com/office/officeart/2005/8/layout/list1"/>
    <dgm:cxn modelId="{3461199C-EBF2-450A-85EB-23E211A4112C}" type="presParOf" srcId="{43DC8091-A1AA-6745-83FE-A2E55E9DFA5E}" destId="{92EF13FC-0710-DF41-932B-2F4AF28A143F}" srcOrd="0" destOrd="0" presId="urn:microsoft.com/office/officeart/2005/8/layout/list1"/>
    <dgm:cxn modelId="{BEC1F128-8DB6-4BA7-A9EB-ADA03570A20E}" type="presParOf" srcId="{43DC8091-A1AA-6745-83FE-A2E55E9DFA5E}" destId="{F91A1701-4279-DA45-AB93-345512E9FE74}" srcOrd="1" destOrd="0" presId="urn:microsoft.com/office/officeart/2005/8/layout/list1"/>
    <dgm:cxn modelId="{4A2A64F9-821F-4C79-AE11-0E2EB1A1B18F}" type="presParOf" srcId="{1DB2552C-4861-624B-8106-2ABC70D7774A}" destId="{0F26F94E-6FE7-BD4C-A6B0-72661D46F6B5}" srcOrd="5" destOrd="0" presId="urn:microsoft.com/office/officeart/2005/8/layout/list1"/>
    <dgm:cxn modelId="{85A8AE43-3E75-45FB-BEF1-3D1607F557B8}" type="presParOf" srcId="{1DB2552C-4861-624B-8106-2ABC70D7774A}" destId="{6EF8F0BE-A990-2C46-B789-BD6D93B89083}" srcOrd="6" destOrd="0" presId="urn:microsoft.com/office/officeart/2005/8/layout/list1"/>
    <dgm:cxn modelId="{849AF7A4-149A-4970-BAA1-607420C9B912}" type="presParOf" srcId="{1DB2552C-4861-624B-8106-2ABC70D7774A}" destId="{0D0ED172-AE17-854F-A0FA-410DF75FED16}" srcOrd="7" destOrd="0" presId="urn:microsoft.com/office/officeart/2005/8/layout/list1"/>
    <dgm:cxn modelId="{279CBC6C-DAC5-47C7-AB7A-DA518AD7E4CC}" type="presParOf" srcId="{1DB2552C-4861-624B-8106-2ABC70D7774A}" destId="{0E60A50C-456A-1241-97D4-5F96AF310345}" srcOrd="8" destOrd="0" presId="urn:microsoft.com/office/officeart/2005/8/layout/list1"/>
    <dgm:cxn modelId="{9F95F467-4566-447A-AADB-E674FBDBAAAB}" type="presParOf" srcId="{0E60A50C-456A-1241-97D4-5F96AF310345}" destId="{B3C2A1F5-65A9-5744-9FA4-BF78532F0A84}" srcOrd="0" destOrd="0" presId="urn:microsoft.com/office/officeart/2005/8/layout/list1"/>
    <dgm:cxn modelId="{E0E0EAF2-356C-4812-A2F0-2DD675E33F38}" type="presParOf" srcId="{0E60A50C-456A-1241-97D4-5F96AF310345}" destId="{1861625B-4C31-AC44-9FC7-4500A780C9AA}" srcOrd="1" destOrd="0" presId="urn:microsoft.com/office/officeart/2005/8/layout/list1"/>
    <dgm:cxn modelId="{708EEB50-DBBB-4C5B-A219-2B28533BE12D}" type="presParOf" srcId="{1DB2552C-4861-624B-8106-2ABC70D7774A}" destId="{DDAAB8AC-2D22-1943-9822-CF8FCF6BC02A}" srcOrd="9" destOrd="0" presId="urn:microsoft.com/office/officeart/2005/8/layout/list1"/>
    <dgm:cxn modelId="{A064028A-4F92-4DB8-BF65-634A4464D597}" type="presParOf" srcId="{1DB2552C-4861-624B-8106-2ABC70D7774A}" destId="{022DB784-03D2-A845-9D72-54957B3FC1F9}" srcOrd="10"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731915"/>
          <a:ext cx="9908674" cy="41674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Cloud Skills required</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Suggest partner to aid during transition phase</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fully featured LZ</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Assist with migrations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core security practices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Build foundational FinOps concept</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Develop DevOps automation processes</a:t>
          </a:r>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Upskill in-house team</a:t>
          </a:r>
        </a:p>
      </dsp:txBody>
      <dsp:txXfrm>
        <a:off x="0" y="731915"/>
        <a:ext cx="9908674" cy="4167450"/>
      </dsp:txXfrm>
    </dsp:sp>
    <dsp:sp modelId="{40FE246F-30B4-0241-855E-3F1CA0A4AD4E}">
      <dsp:nvSpPr>
        <dsp:cNvPr id="0" name=""/>
        <dsp:cNvSpPr/>
      </dsp:nvSpPr>
      <dsp:spPr>
        <a:xfrm>
          <a:off x="495433" y="33339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Skills Gap</a:t>
          </a:r>
          <a:endParaRPr lang="en-GB" sz="2700" kern="1200"/>
        </a:p>
      </dsp:txBody>
      <dsp:txXfrm>
        <a:off x="534341" y="372303"/>
        <a:ext cx="6858255" cy="719224"/>
      </dsp:txXfrm>
    </dsp:sp>
    <dsp:sp modelId="{6EF8F0BE-A990-2C46-B789-BD6D93B89083}">
      <dsp:nvSpPr>
        <dsp:cNvPr id="0" name=""/>
        <dsp:cNvSpPr/>
      </dsp:nvSpPr>
      <dsp:spPr>
        <a:xfrm>
          <a:off x="0" y="5443686"/>
          <a:ext cx="9908674" cy="19561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Where possible having </a:t>
          </a:r>
          <a:r>
            <a:rPr lang="en-GB" sz="2700" kern="1200" noProof="0" err="1">
              <a:latin typeface="Fira Sans" panose="020B0503050000020004" pitchFamily="34" charset="0"/>
            </a:rPr>
            <a:t>vmware</a:t>
          </a:r>
          <a:r>
            <a:rPr lang="en-GB" sz="2700" kern="1200" noProof="0">
              <a:latin typeface="Fira Sans" panose="020B0503050000020004" pitchFamily="34" charset="0"/>
            </a:rPr>
            <a:t> tools enabled gives a better perspective of performance inside the VM</a:t>
          </a:r>
          <a:endParaRPr lang="en-GB" sz="2700" kern="1200"/>
        </a:p>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Update where possible</a:t>
          </a:r>
        </a:p>
      </dsp:txBody>
      <dsp:txXfrm>
        <a:off x="0" y="5443686"/>
        <a:ext cx="9908674" cy="1956150"/>
      </dsp:txXfrm>
    </dsp:sp>
    <dsp:sp modelId="{F91A1701-4279-DA45-AB93-345512E9FE74}">
      <dsp:nvSpPr>
        <dsp:cNvPr id="0" name=""/>
        <dsp:cNvSpPr/>
      </dsp:nvSpPr>
      <dsp:spPr>
        <a:xfrm>
          <a:off x="495433" y="5045165"/>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err="1">
              <a:solidFill>
                <a:srgbClr val="FF0000"/>
              </a:solidFill>
              <a:latin typeface="Fira Sans Light" panose="020B0403050000020004" pitchFamily="34" charset="0"/>
            </a:rPr>
            <a:t>Vmware</a:t>
          </a:r>
          <a:r>
            <a:rPr lang="en-GB" sz="2700" kern="1200" noProof="0">
              <a:solidFill>
                <a:srgbClr val="FF0000"/>
              </a:solidFill>
              <a:latin typeface="Fira Sans Light" panose="020B0403050000020004" pitchFamily="34" charset="0"/>
            </a:rPr>
            <a:t> Tools</a:t>
          </a:r>
        </a:p>
      </dsp:txBody>
      <dsp:txXfrm>
        <a:off x="534341" y="5084073"/>
        <a:ext cx="6858255" cy="719224"/>
      </dsp:txXfrm>
    </dsp:sp>
    <dsp:sp modelId="{022DB784-03D2-A845-9D72-54957B3FC1F9}">
      <dsp:nvSpPr>
        <dsp:cNvPr id="0" name=""/>
        <dsp:cNvSpPr/>
      </dsp:nvSpPr>
      <dsp:spPr>
        <a:xfrm>
          <a:off x="0" y="7944156"/>
          <a:ext cx="9908674" cy="157342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62356" rIns="769023" bIns="192024" numCol="1" spcCol="1270" anchor="t" anchorCtr="0">
          <a:noAutofit/>
        </a:bodyPr>
        <a:lstStyle/>
        <a:p>
          <a:pPr marL="228600" lvl="1" indent="-228600" algn="l" defTabSz="1200150">
            <a:lnSpc>
              <a:spcPct val="90000"/>
            </a:lnSpc>
            <a:spcBef>
              <a:spcPct val="0"/>
            </a:spcBef>
            <a:spcAft>
              <a:spcPct val="15000"/>
            </a:spcAft>
            <a:buChar char="•"/>
          </a:pPr>
          <a:r>
            <a:rPr lang="en-GB" sz="2700" kern="1200" noProof="0">
              <a:latin typeface="Fira Sans" panose="020B0503050000020004" pitchFamily="34" charset="0"/>
            </a:rPr>
            <a:t>challenge</a:t>
          </a:r>
          <a:endParaRPr lang="en-GB" sz="2700" kern="1200"/>
        </a:p>
        <a:p>
          <a:pPr marL="228600" lvl="1" indent="-228600" algn="l" defTabSz="1200150">
            <a:lnSpc>
              <a:spcPct val="90000"/>
            </a:lnSpc>
            <a:spcBef>
              <a:spcPct val="0"/>
            </a:spcBef>
            <a:spcAft>
              <a:spcPct val="15000"/>
            </a:spcAft>
            <a:buChar char="•"/>
          </a:pPr>
          <a:r>
            <a:rPr lang="en-GB" sz="2700" kern="1200"/>
            <a:t>response</a:t>
          </a:r>
        </a:p>
      </dsp:txBody>
      <dsp:txXfrm>
        <a:off x="0" y="7944156"/>
        <a:ext cx="9908674" cy="1573424"/>
      </dsp:txXfrm>
    </dsp:sp>
    <dsp:sp modelId="{1861625B-4C31-AC44-9FC7-4500A780C9AA}">
      <dsp:nvSpPr>
        <dsp:cNvPr id="0" name=""/>
        <dsp:cNvSpPr/>
      </dsp:nvSpPr>
      <dsp:spPr>
        <a:xfrm>
          <a:off x="495433" y="7545636"/>
          <a:ext cx="6936071" cy="7970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00150">
            <a:lnSpc>
              <a:spcPct val="90000"/>
            </a:lnSpc>
            <a:spcBef>
              <a:spcPct val="0"/>
            </a:spcBef>
            <a:spcAft>
              <a:spcPct val="35000"/>
            </a:spcAft>
            <a:buNone/>
          </a:pPr>
          <a:r>
            <a:rPr lang="en-GB" sz="2700" kern="1200" noProof="0">
              <a:solidFill>
                <a:srgbClr val="FF0000"/>
              </a:solidFill>
              <a:latin typeface="Fira Sans Light" panose="020B0403050000020004" pitchFamily="34" charset="0"/>
            </a:rPr>
            <a:t>Appliances</a:t>
          </a:r>
        </a:p>
      </dsp:txBody>
      <dsp:txXfrm>
        <a:off x="534341" y="7584544"/>
        <a:ext cx="6858255" cy="7192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7946707-CC26-B84C-AD3D-ADCEF5197422}">
      <dsp:nvSpPr>
        <dsp:cNvPr id="0" name=""/>
        <dsp:cNvSpPr/>
      </dsp:nvSpPr>
      <dsp:spPr>
        <a:xfrm>
          <a:off x="0" y="444298"/>
          <a:ext cx="9908674" cy="3792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Consistent logins required for administrator access</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login methods for Linux/Windows</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Standardised accounts across MOL/ANL</a:t>
          </a:r>
        </a:p>
        <a:p>
          <a:pPr marL="571500" lvl="2" indent="-285750" algn="l" defTabSz="1244600">
            <a:lnSpc>
              <a:spcPct val="90000"/>
            </a:lnSpc>
            <a:spcBef>
              <a:spcPct val="0"/>
            </a:spcBef>
            <a:spcAft>
              <a:spcPct val="15000"/>
            </a:spcAft>
            <a:buChar char="•"/>
          </a:pPr>
          <a:r>
            <a:rPr lang="en-GB" sz="2800" kern="1200" noProof="0">
              <a:latin typeface="Fira Sans" panose="020B0503050000020004" pitchFamily="34" charset="0"/>
            </a:rPr>
            <a:t>Ability to make changes</a:t>
          </a:r>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Some customers prefer to use a tool to manage PAM. (eg: Cyberark)</a:t>
          </a:r>
        </a:p>
      </dsp:txBody>
      <dsp:txXfrm>
        <a:off x="0" y="444298"/>
        <a:ext cx="9908674" cy="3792600"/>
      </dsp:txXfrm>
    </dsp:sp>
    <dsp:sp modelId="{40FE246F-30B4-0241-855E-3F1CA0A4AD4E}">
      <dsp:nvSpPr>
        <dsp:cNvPr id="0" name=""/>
        <dsp:cNvSpPr/>
      </dsp:nvSpPr>
      <dsp:spPr>
        <a:xfrm>
          <a:off x="495433" y="3101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Standardised Access</a:t>
          </a:r>
          <a:endParaRPr lang="en-GB" sz="2800" kern="1200"/>
        </a:p>
      </dsp:txBody>
      <dsp:txXfrm>
        <a:off x="535782" y="71367"/>
        <a:ext cx="6855373" cy="745862"/>
      </dsp:txXfrm>
    </dsp:sp>
    <dsp:sp modelId="{6EF8F0BE-A990-2C46-B789-BD6D93B89083}">
      <dsp:nvSpPr>
        <dsp:cNvPr id="0" name=""/>
        <dsp:cNvSpPr/>
      </dsp:nvSpPr>
      <dsp:spPr>
        <a:xfrm>
          <a:off x="0" y="4801378"/>
          <a:ext cx="9908674" cy="2425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Old unsupported OS types will take longer to move to Cloud</a:t>
          </a:r>
          <a:endParaRPr lang="en-GB" sz="2800" kern="1200"/>
        </a:p>
        <a:p>
          <a:pPr marL="285750" lvl="1" indent="-285750" algn="l" defTabSz="1244600">
            <a:lnSpc>
              <a:spcPct val="90000"/>
            </a:lnSpc>
            <a:spcBef>
              <a:spcPct val="0"/>
            </a:spcBef>
            <a:spcAft>
              <a:spcPct val="15000"/>
            </a:spcAft>
            <a:buChar char="•"/>
          </a:pPr>
          <a:r>
            <a:rPr lang="en-GB" sz="2800" kern="1200" noProof="0" err="1">
              <a:latin typeface="Fira Sans" panose="020B0503050000020004" pitchFamily="34" charset="0"/>
            </a:rPr>
            <a:t>Replatforming</a:t>
          </a:r>
          <a:r>
            <a:rPr lang="en-GB" sz="2800" kern="1200" noProof="0">
              <a:latin typeface="Fira Sans" panose="020B0503050000020004" pitchFamily="34" charset="0"/>
            </a:rPr>
            <a:t> is possible but must be factored into timeline.</a:t>
          </a:r>
        </a:p>
      </dsp:txBody>
      <dsp:txXfrm>
        <a:off x="0" y="4801378"/>
        <a:ext cx="9908674" cy="2425500"/>
      </dsp:txXfrm>
    </dsp:sp>
    <dsp:sp modelId="{F91A1701-4279-DA45-AB93-345512E9FE74}">
      <dsp:nvSpPr>
        <dsp:cNvPr id="0" name=""/>
        <dsp:cNvSpPr/>
      </dsp:nvSpPr>
      <dsp:spPr>
        <a:xfrm>
          <a:off x="495433" y="438809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Legacy OS</a:t>
          </a:r>
        </a:p>
      </dsp:txBody>
      <dsp:txXfrm>
        <a:off x="535782" y="4428447"/>
        <a:ext cx="6855373" cy="745862"/>
      </dsp:txXfrm>
    </dsp:sp>
    <dsp:sp modelId="{022DB784-03D2-A845-9D72-54957B3FC1F9}">
      <dsp:nvSpPr>
        <dsp:cNvPr id="0" name=""/>
        <dsp:cNvSpPr/>
      </dsp:nvSpPr>
      <dsp:spPr>
        <a:xfrm>
          <a:off x="0" y="7791358"/>
          <a:ext cx="9908674" cy="2028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9023" tIns="583184" rIns="769023" bIns="199136" numCol="1" spcCol="1270" anchor="t" anchorCtr="0">
          <a:noAutofit/>
        </a:bodyPr>
        <a:lstStyle/>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Risk of duplication or accidentally leaving out of migration</a:t>
          </a:r>
          <a:endParaRPr lang="en-GB" sz="2800" kern="1200"/>
        </a:p>
        <a:p>
          <a:pPr marL="285750" lvl="1" indent="-285750" algn="l" defTabSz="1244600">
            <a:lnSpc>
              <a:spcPct val="90000"/>
            </a:lnSpc>
            <a:spcBef>
              <a:spcPct val="0"/>
            </a:spcBef>
            <a:spcAft>
              <a:spcPct val="15000"/>
            </a:spcAft>
            <a:buChar char="•"/>
          </a:pPr>
          <a:r>
            <a:rPr lang="en-GB" sz="2800" kern="1200" noProof="0">
              <a:latin typeface="Fira Sans" panose="020B0503050000020004" pitchFamily="34" charset="0"/>
            </a:rPr>
            <a:t>Same hostnames with .int and .hsk </a:t>
          </a:r>
        </a:p>
      </dsp:txBody>
      <dsp:txXfrm>
        <a:off x="0" y="7791358"/>
        <a:ext cx="9908674" cy="2028600"/>
      </dsp:txXfrm>
    </dsp:sp>
    <dsp:sp modelId="{1861625B-4C31-AC44-9FC7-4500A780C9AA}">
      <dsp:nvSpPr>
        <dsp:cNvPr id="0" name=""/>
        <dsp:cNvSpPr/>
      </dsp:nvSpPr>
      <dsp:spPr>
        <a:xfrm>
          <a:off x="495433" y="7378078"/>
          <a:ext cx="6936071"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2167" tIns="0" rIns="262167" bIns="0" numCol="1" spcCol="1270" anchor="ctr" anchorCtr="0">
          <a:noAutofit/>
        </a:bodyPr>
        <a:lstStyle/>
        <a:p>
          <a:pPr marL="0" lvl="0" indent="0" algn="l" defTabSz="1244600">
            <a:lnSpc>
              <a:spcPct val="90000"/>
            </a:lnSpc>
            <a:spcBef>
              <a:spcPct val="0"/>
            </a:spcBef>
            <a:spcAft>
              <a:spcPct val="35000"/>
            </a:spcAft>
            <a:buNone/>
          </a:pPr>
          <a:r>
            <a:rPr lang="en-GB" sz="2800" kern="1200" noProof="0">
              <a:solidFill>
                <a:srgbClr val="FF0000"/>
              </a:solidFill>
              <a:latin typeface="Fira Sans Light" panose="020B0403050000020004" pitchFamily="34" charset="0"/>
            </a:rPr>
            <a:t>Naming Conventions</a:t>
          </a:r>
        </a:p>
      </dsp:txBody>
      <dsp:txXfrm>
        <a:off x="535782" y="7418427"/>
        <a:ext cx="6855373" cy="745862"/>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4/26/2026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0600" y="349250"/>
            <a:ext cx="4876800" cy="2743200"/>
          </a:xfrm>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0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a:t>
            </a:fld>
            <a:endParaRPr kumimoji="0" lang="en-US" sz="10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945487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7D0E5-CC5C-A07A-0F9B-8F5E1F10A8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7CFC03-F42B-F388-8E36-BAB7C3882ED2}"/>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3FFF693-5CD6-E02B-2524-58133A3D2D6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C4BDA6E-4684-1C26-4DDC-EF7D27098A5E}"/>
              </a:ext>
            </a:extLst>
          </p:cNvPr>
          <p:cNvSpPr>
            <a:spLocks noGrp="1"/>
          </p:cNvSpPr>
          <p:nvPr>
            <p:ph type="sldNum" sz="quarter" idx="5"/>
          </p:nvPr>
        </p:nvSpPr>
        <p:spPr/>
        <p:txBody>
          <a:bodyPr/>
          <a:lstStyle/>
          <a:p>
            <a:fld id="{743F7EE4-7D84-4D77-B4B2-0C966043B366}" type="slidenum">
              <a:rPr lang="en-US" smtClean="0"/>
              <a:t>4</a:t>
            </a:fld>
            <a:endParaRPr lang="en-US"/>
          </a:p>
        </p:txBody>
      </p:sp>
    </p:spTree>
    <p:extLst>
      <p:ext uri="{BB962C8B-B14F-4D97-AF65-F5344CB8AC3E}">
        <p14:creationId xmlns:p14="http://schemas.microsoft.com/office/powerpoint/2010/main" val="3064374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32A6E-7E93-A34A-F407-E841F4EF7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DAB1E7-3079-F30E-0E3F-F5F277DB06EE}"/>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1F025C4-1060-89D9-3CFD-02E604D228A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C394D6-8598-2D47-8979-688FDC577899}"/>
              </a:ext>
            </a:extLst>
          </p:cNvPr>
          <p:cNvSpPr>
            <a:spLocks noGrp="1"/>
          </p:cNvSpPr>
          <p:nvPr>
            <p:ph type="sldNum" sz="quarter" idx="5"/>
          </p:nvPr>
        </p:nvSpPr>
        <p:spPr/>
        <p:txBody>
          <a:bodyPr/>
          <a:lstStyle/>
          <a:p>
            <a:fld id="{743F7EE4-7D84-4D77-B4B2-0C966043B366}" type="slidenum">
              <a:rPr lang="en-US" smtClean="0"/>
              <a:t>5</a:t>
            </a:fld>
            <a:endParaRPr lang="en-US"/>
          </a:p>
        </p:txBody>
      </p:sp>
    </p:spTree>
    <p:extLst>
      <p:ext uri="{BB962C8B-B14F-4D97-AF65-F5344CB8AC3E}">
        <p14:creationId xmlns:p14="http://schemas.microsoft.com/office/powerpoint/2010/main" val="35552314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277CE-E50C-D87C-7956-B70FA38D7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A03A8-407F-6021-2A9D-F9C5ECE4ADB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6ADC336-CE96-3C32-43BE-D6EED2354056}"/>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7D0778A-F48A-13DC-B1D4-645F57F00DFE}"/>
              </a:ext>
            </a:extLst>
          </p:cNvPr>
          <p:cNvSpPr>
            <a:spLocks noGrp="1"/>
          </p:cNvSpPr>
          <p:nvPr>
            <p:ph type="sldNum" sz="quarter" idx="5"/>
          </p:nvPr>
        </p:nvSpPr>
        <p:spPr/>
        <p:txBody>
          <a:bodyPr/>
          <a:lstStyle/>
          <a:p>
            <a:fld id="{743F7EE4-7D84-4D77-B4B2-0C966043B366}" type="slidenum">
              <a:rPr lang="en-US" smtClean="0"/>
              <a:t>6</a:t>
            </a:fld>
            <a:endParaRPr lang="en-US"/>
          </a:p>
        </p:txBody>
      </p:sp>
    </p:spTree>
    <p:extLst>
      <p:ext uri="{BB962C8B-B14F-4D97-AF65-F5344CB8AC3E}">
        <p14:creationId xmlns:p14="http://schemas.microsoft.com/office/powerpoint/2010/main" val="2851247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0F527-7F62-4EFD-3961-F2789F6AB0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5E050D-F1CA-200D-DE86-45A453A4A557}"/>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882761F-E1DD-3E67-0672-2432357165D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29F9A43B-7B2C-0C24-E897-2BBE67BA8907}"/>
              </a:ext>
            </a:extLst>
          </p:cNvPr>
          <p:cNvSpPr>
            <a:spLocks noGrp="1"/>
          </p:cNvSpPr>
          <p:nvPr>
            <p:ph type="sldNum" sz="quarter" idx="5"/>
          </p:nvPr>
        </p:nvSpPr>
        <p:spPr/>
        <p:txBody>
          <a:bodyPr/>
          <a:lstStyle/>
          <a:p>
            <a:fld id="{743F7EE4-7D84-4D77-B4B2-0C966043B366}" type="slidenum">
              <a:rPr lang="en-US" smtClean="0"/>
              <a:t>8</a:t>
            </a:fld>
            <a:endParaRPr lang="en-US"/>
          </a:p>
        </p:txBody>
      </p:sp>
    </p:spTree>
    <p:extLst>
      <p:ext uri="{BB962C8B-B14F-4D97-AF65-F5344CB8AC3E}">
        <p14:creationId xmlns:p14="http://schemas.microsoft.com/office/powerpoint/2010/main" val="41713370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err="1"/>
              <a:t>Leceister</a:t>
            </a:r>
            <a:r>
              <a:rPr lang="en-GB"/>
              <a:t>, Manchester</a:t>
            </a:r>
          </a:p>
        </p:txBody>
      </p:sp>
      <p:sp>
        <p:nvSpPr>
          <p:cNvPr id="4" name="Slide Number Placeholder 3"/>
          <p:cNvSpPr>
            <a:spLocks noGrp="1"/>
          </p:cNvSpPr>
          <p:nvPr>
            <p:ph type="sldNum" sz="quarter" idx="5"/>
          </p:nvPr>
        </p:nvSpPr>
        <p:spPr/>
        <p:txBody>
          <a:bodyPr/>
          <a:lstStyle/>
          <a:p>
            <a:fld id="{743F7EE4-7D84-4D77-B4B2-0C966043B366}" type="slidenum">
              <a:rPr lang="en-US" smtClean="0"/>
              <a:t>14</a:t>
            </a:fld>
            <a:endParaRPr lang="en-US"/>
          </a:p>
        </p:txBody>
      </p:sp>
    </p:spTree>
    <p:extLst>
      <p:ext uri="{BB962C8B-B14F-4D97-AF65-F5344CB8AC3E}">
        <p14:creationId xmlns:p14="http://schemas.microsoft.com/office/powerpoint/2010/main" val="15038136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3F010-3164-7619-29A7-742A180D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70B8A-A823-5ED5-7687-1B8AA9300A6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7B74A0-6CBC-D3D0-6F99-FD706C1EAC4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D02F527-F1D4-2407-C4B9-4D1A9710C7C5}"/>
              </a:ext>
            </a:extLst>
          </p:cNvPr>
          <p:cNvSpPr>
            <a:spLocks noGrp="1"/>
          </p:cNvSpPr>
          <p:nvPr>
            <p:ph type="sldNum" sz="quarter" idx="5"/>
          </p:nvPr>
        </p:nvSpPr>
        <p:spPr/>
        <p:txBody>
          <a:bodyPr/>
          <a:lstStyle/>
          <a:p>
            <a:fld id="{743F7EE4-7D84-4D77-B4B2-0C966043B366}" type="slidenum">
              <a:rPr lang="en-US" smtClean="0"/>
              <a:t>15</a:t>
            </a:fld>
            <a:endParaRPr lang="en-US"/>
          </a:p>
        </p:txBody>
      </p:sp>
    </p:spTree>
    <p:extLst>
      <p:ext uri="{BB962C8B-B14F-4D97-AF65-F5344CB8AC3E}">
        <p14:creationId xmlns:p14="http://schemas.microsoft.com/office/powerpoint/2010/main" val="2452000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36FBA-EBDF-8E4E-DE23-175AB9FE6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34C378-3832-8DEB-7E10-94C57130FE9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8397F57-C1B8-776F-671C-E3FFF9DEFF9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752ED10C-1EAF-FF93-22AD-B499D82CE424}"/>
              </a:ext>
            </a:extLst>
          </p:cNvPr>
          <p:cNvSpPr>
            <a:spLocks noGrp="1"/>
          </p:cNvSpPr>
          <p:nvPr>
            <p:ph type="sldNum" sz="quarter" idx="5"/>
          </p:nvPr>
        </p:nvSpPr>
        <p:spPr/>
        <p:txBody>
          <a:bodyPr/>
          <a:lstStyle/>
          <a:p>
            <a:fld id="{743F7EE4-7D84-4D77-B4B2-0C966043B366}" type="slidenum">
              <a:rPr lang="en-US" smtClean="0"/>
              <a:t>21</a:t>
            </a:fld>
            <a:endParaRPr lang="en-US"/>
          </a:p>
        </p:txBody>
      </p:sp>
    </p:spTree>
    <p:extLst>
      <p:ext uri="{BB962C8B-B14F-4D97-AF65-F5344CB8AC3E}">
        <p14:creationId xmlns:p14="http://schemas.microsoft.com/office/powerpoint/2010/main" val="19930564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D8DE-AAAF-0F35-0E57-2391F934AA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21AD1-CA84-C2DF-55E3-62739CB01513}"/>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25A55-820E-3E46-84CF-193B54B94A7A}"/>
              </a:ext>
            </a:extLst>
          </p:cNvPr>
          <p:cNvSpPr>
            <a:spLocks noGrp="1"/>
          </p:cNvSpPr>
          <p:nvPr>
            <p:ph type="body" idx="1"/>
          </p:nvPr>
        </p:nvSpPr>
        <p:spPr/>
        <p:txBody>
          <a:bodyPr/>
          <a:lstStyle/>
          <a:p>
            <a:r>
              <a:rPr lang="en-GB"/>
              <a:t>As you shared with us</a:t>
            </a:r>
          </a:p>
        </p:txBody>
      </p:sp>
      <p:sp>
        <p:nvSpPr>
          <p:cNvPr id="4" name="Slide Number Placeholder 3">
            <a:extLst>
              <a:ext uri="{FF2B5EF4-FFF2-40B4-BE49-F238E27FC236}">
                <a16:creationId xmlns:a16="http://schemas.microsoft.com/office/drawing/2014/main" id="{7E2FB7DB-7DAD-1E27-3298-297AE40296D6}"/>
              </a:ext>
            </a:extLst>
          </p:cNvPr>
          <p:cNvSpPr>
            <a:spLocks noGrp="1"/>
          </p:cNvSpPr>
          <p:nvPr>
            <p:ph type="sldNum" sz="quarter" idx="5"/>
          </p:nvPr>
        </p:nvSpPr>
        <p:spPr/>
        <p:txBody>
          <a:bodyPr/>
          <a:lstStyle/>
          <a:p>
            <a:fld id="{743F7EE4-7D84-4D77-B4B2-0C966043B366}" type="slidenum">
              <a:rPr lang="en-US" smtClean="0"/>
              <a:t>22</a:t>
            </a:fld>
            <a:endParaRPr lang="en-US"/>
          </a:p>
        </p:txBody>
      </p:sp>
    </p:spTree>
    <p:extLst>
      <p:ext uri="{BB962C8B-B14F-4D97-AF65-F5344CB8AC3E}">
        <p14:creationId xmlns:p14="http://schemas.microsoft.com/office/powerpoint/2010/main" val="41449367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0AEE0-D603-4005-BF47-33871E6298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8B8E5E-C81C-7286-E005-F09B0723242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6A32D4-1840-D27F-6786-AD7937B579DF}"/>
              </a:ext>
            </a:extLst>
          </p:cNvPr>
          <p:cNvSpPr>
            <a:spLocks noGrp="1"/>
          </p:cNvSpPr>
          <p:nvPr>
            <p:ph type="body" idx="1"/>
          </p:nvPr>
        </p:nvSpPr>
        <p:spPr/>
        <p:txBody>
          <a:bodyPr/>
          <a:lstStyle/>
          <a:p>
            <a:r>
              <a:rPr lang="en-GB" sz="2400" kern="1200">
                <a:solidFill>
                  <a:schemeClr val="tx1"/>
                </a:solidFill>
                <a:effectLst/>
                <a:latin typeface="+mn-lt"/>
                <a:ea typeface="+mn-ea"/>
                <a:cs typeface="+mn-cs"/>
              </a:rPr>
              <a:t>On a 3-year committed basis in London, GCP is the cheapest by approximately 2% over AWS. </a:t>
            </a:r>
          </a:p>
          <a:p>
            <a:endParaRPr lang="en-GB"/>
          </a:p>
          <a:p>
            <a:r>
              <a:rPr lang="en-GB"/>
              <a:t>What does </a:t>
            </a:r>
            <a:r>
              <a:rPr lang="en-GB" sz="2400">
                <a:latin typeface="Fira Sans" panose="020B0503050000020004" pitchFamily="34" charset="0"/>
              </a:rPr>
              <a:t>“apples-to-apples” mean?</a:t>
            </a:r>
          </a:p>
          <a:p>
            <a:pPr marL="342900" marR="0" lvl="0" indent="-342900" algn="l" defTabSz="1828800" rtl="0" eaLnBrk="1" fontAlgn="auto" latinLnBrk="0" hangingPunct="1">
              <a:lnSpc>
                <a:spcPct val="100000"/>
              </a:lnSpc>
              <a:spcBef>
                <a:spcPts val="0"/>
              </a:spcBef>
              <a:spcAft>
                <a:spcPts val="0"/>
              </a:spcAft>
              <a:buClrTx/>
              <a:buSzTx/>
              <a:buFont typeface="Aktiv Grotesk" panose="020B0604020202020204" pitchFamily="34" charset="0"/>
              <a:buChar char="•"/>
              <a:tabLst/>
              <a:defRPr/>
            </a:pPr>
            <a:r>
              <a:rPr lang="en-US" sz="2400" kern="1200">
                <a:solidFill>
                  <a:schemeClr val="tx1"/>
                </a:solidFill>
                <a:effectLst/>
                <a:latin typeface="+mn-lt"/>
                <a:ea typeface="+mn-ea"/>
                <a:cs typeface="+mn-cs"/>
              </a:rPr>
              <a:t>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endParaRPr lang="en-GB" sz="2400">
              <a:latin typeface="Fira Sans" panose="020B0503050000020004" pitchFamily="34" charset="0"/>
            </a:endParaRPr>
          </a:p>
          <a:p>
            <a:pPr marL="342900" indent="-342900">
              <a:buFont typeface="Aktiv Grotesk" panose="020B0604020202020204" pitchFamily="34" charset="0"/>
              <a:buChar char="•"/>
            </a:pPr>
            <a:r>
              <a:rPr lang="en-GB" sz="2400" kern="1200">
                <a:solidFill>
                  <a:schemeClr val="tx1"/>
                </a:solidFill>
                <a:effectLst/>
                <a:latin typeface="+mn-lt"/>
                <a:ea typeface="+mn-ea"/>
                <a:cs typeface="+mn-cs"/>
              </a:rPr>
              <a:t>Block storage (SSD class, IOPS-matched across clouds at 80,000 IOPS per disk where needed) – Explaining Large Azure Storage Variance</a:t>
            </a:r>
          </a:p>
          <a:p>
            <a:pPr marL="342900" indent="-342900">
              <a:buFont typeface="Aktiv Grotesk" panose="020B0604020202020204" pitchFamily="34" charset="0"/>
              <a:buChar char="•"/>
            </a:pPr>
            <a:r>
              <a:rPr lang="en-GB" sz="2400" kern="1200">
                <a:solidFill>
                  <a:schemeClr val="tx1"/>
                </a:solidFill>
                <a:effectLst/>
                <a:latin typeface="+mn-lt"/>
                <a:ea typeface="+mn-ea"/>
                <a:cs typeface="+mn-cs"/>
              </a:rPr>
              <a:t>Ensured that burstable VM families were excluded across all three clouds by team agreement as not suitable for production workloads. </a:t>
            </a:r>
          </a:p>
          <a:p>
            <a:pPr marL="342900" indent="-342900">
              <a:buFont typeface="Aktiv Grotesk" panose="020B0604020202020204" pitchFamily="34" charset="0"/>
              <a:buChar char="•"/>
            </a:pPr>
            <a:r>
              <a:rPr lang="en-GB" sz="2400" kern="1200">
                <a:solidFill>
                  <a:schemeClr val="tx1"/>
                </a:solidFill>
                <a:effectLst/>
                <a:latin typeface="+mn-lt"/>
                <a:ea typeface="+mn-ea"/>
                <a:cs typeface="+mn-cs"/>
              </a:rPr>
              <a:t>Consistent “Comfort factor” and “Utilisation percentile” applied </a:t>
            </a:r>
            <a:endParaRPr lang="en-DE" sz="2400" kern="1200">
              <a:solidFill>
                <a:schemeClr val="tx1"/>
              </a:solidFill>
              <a:effectLst/>
              <a:latin typeface="+mn-lt"/>
              <a:ea typeface="+mn-ea"/>
              <a:cs typeface="+mn-cs"/>
            </a:endParaRPr>
          </a:p>
          <a:p>
            <a:r>
              <a:rPr lang="en-GB" sz="2400" kern="1200">
                <a:solidFill>
                  <a:schemeClr val="tx1"/>
                </a:solidFill>
                <a:effectLst/>
                <a:latin typeface="+mn-lt"/>
                <a:ea typeface="+mn-ea"/>
                <a:cs typeface="+mn-cs"/>
              </a:rPr>
              <a:t> </a:t>
            </a:r>
            <a:endParaRPr lang="en-DE" sz="2400" kern="1200">
              <a:solidFill>
                <a:schemeClr val="tx1"/>
              </a:solidFill>
              <a:effectLst/>
              <a:latin typeface="+mn-lt"/>
              <a:ea typeface="+mn-ea"/>
              <a:cs typeface="+mn-cs"/>
            </a:endParaRPr>
          </a:p>
          <a:p>
            <a:pPr marL="342900" indent="-342900">
              <a:buFont typeface="Aktiv Grotesk" panose="020B0604020202020204" pitchFamily="34" charset="0"/>
              <a:buChar char="•"/>
            </a:pPr>
            <a:r>
              <a:rPr lang="en-DE" sz="2400" kern="1200">
                <a:solidFill>
                  <a:schemeClr val="tx1"/>
                </a:solidFill>
                <a:effectLst/>
                <a:latin typeface="+mn-lt"/>
                <a:ea typeface="+mn-ea"/>
                <a:cs typeface="+mn-cs"/>
              </a:rPr>
              <a:t>Even then, the tooling has differences.  </a:t>
            </a:r>
            <a:r>
              <a:rPr lang="en-GB" sz="2400" kern="1200">
                <a:solidFill>
                  <a:schemeClr val="tx1"/>
                </a:solidFill>
                <a:effectLst/>
                <a:latin typeface="+mn-lt"/>
                <a:ea typeface="+mn-ea"/>
                <a:cs typeface="+mn-cs"/>
              </a:rPr>
              <a:t>The cost spread reflects how each cloud's own assessment tool sized the same source workload. </a:t>
            </a:r>
          </a:p>
          <a:p>
            <a:pPr marL="342900" indent="-342900">
              <a:buFont typeface="Aktiv Grotesk" panose="020B0604020202020204" pitchFamily="34" charset="0"/>
              <a:buChar char="•"/>
            </a:pPr>
            <a:r>
              <a:rPr lang="en-GB" sz="2400" kern="1200">
                <a:solidFill>
                  <a:schemeClr val="tx1"/>
                </a:solidFill>
                <a:effectLst/>
                <a:latin typeface="+mn-lt"/>
                <a:ea typeface="+mn-ea"/>
                <a:cs typeface="+mn-cs"/>
              </a:rPr>
              <a:t>GCP Migration </a:t>
            </a:r>
            <a:r>
              <a:rPr lang="en-GB" sz="2400" kern="1200" err="1">
                <a:solidFill>
                  <a:schemeClr val="tx1"/>
                </a:solidFill>
                <a:effectLst/>
                <a:latin typeface="+mn-lt"/>
                <a:ea typeface="+mn-ea"/>
                <a:cs typeface="+mn-cs"/>
              </a:rPr>
              <a:t>Center</a:t>
            </a:r>
            <a:r>
              <a:rPr lang="en-GB" sz="2400" kern="1200">
                <a:solidFill>
                  <a:schemeClr val="tx1"/>
                </a:solidFill>
                <a:effectLst/>
                <a:latin typeface="+mn-lt"/>
                <a:ea typeface="+mn-ea"/>
                <a:cs typeface="+mn-cs"/>
              </a:rPr>
              <a:t> produced the smallest vCPU allocation at 32% of source, using custom instance shapes down to 1 vCPU.   This drives their licensing costs down as cores are licensed.</a:t>
            </a:r>
            <a:endParaRPr lang="en-DE" sz="2400" kern="1200">
              <a:solidFill>
                <a:schemeClr val="tx1"/>
              </a:solidFill>
              <a:effectLst/>
              <a:latin typeface="+mn-lt"/>
              <a:ea typeface="+mn-ea"/>
              <a:cs typeface="+mn-cs"/>
            </a:endParaRPr>
          </a:p>
          <a:p>
            <a:pPr marL="342900" indent="-342900">
              <a:buFont typeface="Aktiv Grotesk" panose="020B0604020202020204" pitchFamily="34" charset="0"/>
              <a:buChar char="•"/>
            </a:pPr>
            <a:r>
              <a:rPr lang="en-GB" sz="2400" kern="1200">
                <a:solidFill>
                  <a:schemeClr val="tx1"/>
                </a:solidFill>
                <a:effectLst/>
                <a:latin typeface="+mn-lt"/>
                <a:ea typeface="+mn-ea"/>
                <a:cs typeface="+mn-cs"/>
              </a:rPr>
              <a:t>AWS Transform sat at 49% vCPU allocation. </a:t>
            </a:r>
            <a:endParaRPr lang="en-DE" sz="2400" kern="1200">
              <a:solidFill>
                <a:schemeClr val="tx1"/>
              </a:solidFill>
              <a:effectLst/>
              <a:latin typeface="+mn-lt"/>
              <a:ea typeface="+mn-ea"/>
              <a:cs typeface="+mn-cs"/>
            </a:endParaRPr>
          </a:p>
          <a:p>
            <a:pPr marL="342900" indent="-342900">
              <a:buFont typeface="Aktiv Grotesk" panose="020B0604020202020204" pitchFamily="34" charset="0"/>
              <a:buChar char="•"/>
            </a:pPr>
            <a:r>
              <a:rPr lang="en-GB" sz="2400" kern="1200">
                <a:solidFill>
                  <a:schemeClr val="tx1"/>
                </a:solidFill>
                <a:effectLst/>
                <a:latin typeface="+mn-lt"/>
                <a:ea typeface="+mn-ea"/>
                <a:cs typeface="+mn-cs"/>
              </a:rPr>
              <a:t>Azure Migrate sat at 53%, typically assigning F2s_v2 (2 vCPU minimum) across most of the estate because its sizing algorithm did not generate 1-vCPU SKUs for production workloads and F-series SKU availability with 3-year Reserved Instance coverage in London shapes the options available. </a:t>
            </a:r>
            <a:endParaRPr lang="en-DE" sz="2400" kern="1200">
              <a:solidFill>
                <a:schemeClr val="tx1"/>
              </a:solidFill>
              <a:effectLst/>
              <a:latin typeface="+mn-lt"/>
              <a:ea typeface="+mn-ea"/>
              <a:cs typeface="+mn-cs"/>
            </a:endParaRPr>
          </a:p>
          <a:p>
            <a:pPr marL="0" indent="0">
              <a:buFont typeface="Aktiv Grotesk" panose="020B0604020202020204" pitchFamily="34" charset="0"/>
              <a:buNone/>
            </a:pPr>
            <a:endParaRPr lang="en-DE">
              <a:effectLst/>
            </a:endParaRPr>
          </a:p>
          <a:p>
            <a:endParaRPr lang="en-GB" sz="2400">
              <a:latin typeface="Fira Sans" panose="020B0503050000020004" pitchFamily="34" charset="0"/>
            </a:endParaRPr>
          </a:p>
          <a:p>
            <a:r>
              <a:rPr lang="en-GB" sz="2400">
                <a:latin typeface="Fira Sans" panose="020B0503050000020004" pitchFamily="34" charset="0"/>
              </a:rPr>
              <a:t>Methodology</a:t>
            </a:r>
          </a:p>
          <a:p>
            <a:pPr marL="457200" lvl="0" indent="-457200">
              <a:buFont typeface="+mj-lt"/>
              <a:buAutoNum type="arabicPeriod"/>
            </a:pPr>
            <a:r>
              <a:rPr lang="en-US" sz="2400" b="1" kern="1200">
                <a:solidFill>
                  <a:schemeClr val="tx1"/>
                </a:solidFill>
                <a:effectLst/>
                <a:latin typeface="+mn-lt"/>
                <a:ea typeface="+mn-ea"/>
                <a:cs typeface="+mn-cs"/>
              </a:rPr>
              <a:t>Data </a:t>
            </a:r>
            <a:r>
              <a:rPr lang="en-US" sz="2400" b="1" kern="1200" err="1">
                <a:solidFill>
                  <a:schemeClr val="tx1"/>
                </a:solidFill>
                <a:effectLst/>
                <a:latin typeface="+mn-lt"/>
                <a:ea typeface="+mn-ea"/>
                <a:cs typeface="+mn-cs"/>
              </a:rPr>
              <a:t>normalisation</a:t>
            </a:r>
            <a:r>
              <a:rPr lang="en-US" sz="2400" kern="1200">
                <a:solidFill>
                  <a:schemeClr val="tx1"/>
                </a:solidFill>
                <a:effectLst/>
                <a:latin typeface="+mn-lt"/>
                <a:ea typeface="+mn-ea"/>
                <a:cs typeface="+mn-cs"/>
              </a:rPr>
              <a:t>. The same source data (server specifications, memory, storage, operating system) was fed to all three </a:t>
            </a:r>
            <a:r>
              <a:rPr lang="en-US" sz="2400" kern="1200" err="1">
                <a:solidFill>
                  <a:schemeClr val="tx1"/>
                </a:solidFill>
                <a:effectLst/>
                <a:latin typeface="+mn-lt"/>
                <a:ea typeface="+mn-ea"/>
                <a:cs typeface="+mn-cs"/>
              </a:rPr>
              <a:t>hyperscalers</a:t>
            </a:r>
            <a:r>
              <a:rPr lang="en-US" sz="2400" kern="1200">
                <a:solidFill>
                  <a:schemeClr val="tx1"/>
                </a:solidFill>
                <a:effectLst/>
                <a:latin typeface="+mn-lt"/>
                <a:ea typeface="+mn-ea"/>
                <a:cs typeface="+mn-cs"/>
              </a:rPr>
              <a:t> . </a:t>
            </a:r>
          </a:p>
          <a:p>
            <a:pPr marL="457200" lvl="0" indent="-457200">
              <a:buFont typeface="+mj-lt"/>
              <a:buAutoNum type="arabicPeriod"/>
            </a:pPr>
            <a:r>
              <a:rPr lang="en-US" sz="2400" b="1" kern="1200">
                <a:solidFill>
                  <a:schemeClr val="tx1"/>
                </a:solidFill>
                <a:effectLst/>
                <a:latin typeface="+mn-lt"/>
                <a:ea typeface="+mn-ea"/>
                <a:cs typeface="+mn-cs"/>
              </a:rPr>
              <a:t>Architectural benchmarking</a:t>
            </a:r>
            <a:r>
              <a:rPr lang="en-US" sz="2400" kern="1200">
                <a:solidFill>
                  <a:schemeClr val="tx1"/>
                </a:solidFill>
                <a:effectLst/>
                <a:latin typeface="+mn-lt"/>
                <a:ea typeface="+mn-ea"/>
                <a:cs typeface="+mn-cs"/>
              </a:rPr>
              <a:t>. Each cloud's own sizing tool (GCP Migration Center, AWS Transform, Azure Migrate) produced right-sized target configurations. The native tools did the sizing. Their outputs are the starting point, not the final answer.</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AI logic audit.</a:t>
            </a:r>
            <a:r>
              <a:rPr lang="en-US" sz="2400" kern="1200">
                <a:solidFill>
                  <a:schemeClr val="tx1"/>
                </a:solidFill>
                <a:effectLst/>
                <a:latin typeface="+mn-lt"/>
                <a:ea typeface="+mn-ea"/>
                <a:cs typeface="+mn-cs"/>
              </a:rPr>
              <a:t> We audited the SKU mappings each tool produced. Different tools use different </a:t>
            </a:r>
            <a:r>
              <a:rPr lang="en-US" sz="2400" kern="1200" err="1">
                <a:solidFill>
                  <a:schemeClr val="tx1"/>
                </a:solidFill>
                <a:effectLst/>
                <a:latin typeface="+mn-lt"/>
                <a:ea typeface="+mn-ea"/>
                <a:cs typeface="+mn-cs"/>
              </a:rPr>
              <a:t>optimisation</a:t>
            </a:r>
            <a:r>
              <a:rPr lang="en-US" sz="2400" kern="1200">
                <a:solidFill>
                  <a:schemeClr val="tx1"/>
                </a:solidFill>
                <a:effectLst/>
                <a:latin typeface="+mn-lt"/>
                <a:ea typeface="+mn-ea"/>
                <a:cs typeface="+mn-cs"/>
              </a:rPr>
              <a:t> logic. We checked what each tool assumed and why.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Bias mitigation</a:t>
            </a:r>
            <a:r>
              <a:rPr lang="en-US" sz="2400" kern="1200">
                <a:solidFill>
                  <a:schemeClr val="tx1"/>
                </a:solidFill>
                <a:effectLst/>
                <a:latin typeface="+mn-lt"/>
                <a:ea typeface="+mn-ea"/>
                <a:cs typeface="+mn-cs"/>
              </a:rPr>
              <a:t>. To remove tool-specific bias, we re-priced every recommended SKU against the official cloud pricing APIs (AWS Price List API, Azure Retail Prices API, GCP Billing Catalog API). This produced a validated,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view. The provider-native outputs are kept for internal validation only.</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Two pricing pillars.</a:t>
            </a:r>
            <a:r>
              <a:rPr lang="en-US" sz="2400" kern="1200">
                <a:solidFill>
                  <a:schemeClr val="tx1"/>
                </a:solidFill>
                <a:effectLst/>
                <a:latin typeface="+mn-lt"/>
                <a:ea typeface="+mn-ea"/>
                <a:cs typeface="+mn-cs"/>
              </a:rPr>
              <a:t> We report on-demand (the clean baseline) and 3-year committed (the realistic commitment for an organization of your scale). One-year commitments are </a:t>
            </a:r>
            <a:r>
              <a:rPr lang="en-US" sz="2400" kern="1200" err="1">
                <a:solidFill>
                  <a:schemeClr val="tx1"/>
                </a:solidFill>
                <a:effectLst/>
                <a:latin typeface="+mn-lt"/>
                <a:ea typeface="+mn-ea"/>
                <a:cs typeface="+mn-cs"/>
              </a:rPr>
              <a:t>deprioritised</a:t>
            </a:r>
            <a:r>
              <a:rPr lang="en-US" sz="2400" kern="1200">
                <a:solidFill>
                  <a:schemeClr val="tx1"/>
                </a:solidFill>
                <a:effectLst/>
                <a:latin typeface="+mn-lt"/>
                <a:ea typeface="+mn-ea"/>
                <a:cs typeface="+mn-cs"/>
              </a:rPr>
              <a:t> as a less attractive option.</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Partner and commercial pricing is a separate layer.</a:t>
            </a:r>
            <a:r>
              <a:rPr lang="en-US" sz="2400" kern="1200">
                <a:solidFill>
                  <a:schemeClr val="tx1"/>
                </a:solidFill>
                <a:effectLst/>
                <a:latin typeface="+mn-lt"/>
                <a:ea typeface="+mn-ea"/>
                <a:cs typeface="+mn-cs"/>
              </a:rPr>
              <a:t> This sits on top of the </a:t>
            </a:r>
            <a:r>
              <a:rPr lang="en-US" sz="2400" kern="1200" err="1">
                <a:solidFill>
                  <a:schemeClr val="tx1"/>
                </a:solidFill>
                <a:effectLst/>
                <a:latin typeface="+mn-lt"/>
                <a:ea typeface="+mn-ea"/>
                <a:cs typeface="+mn-cs"/>
              </a:rPr>
              <a:t>normalised</a:t>
            </a:r>
            <a:r>
              <a:rPr lang="en-US" sz="2400" kern="1200">
                <a:solidFill>
                  <a:schemeClr val="tx1"/>
                </a:solidFill>
                <a:effectLst/>
                <a:latin typeface="+mn-lt"/>
                <a:ea typeface="+mn-ea"/>
                <a:cs typeface="+mn-cs"/>
              </a:rPr>
              <a:t> baseline. Where commercial offers are not yet received, the layer is flagged [PENDING ] rather than inferred.</a:t>
            </a:r>
            <a:endParaRPr lang="en-DE" sz="2400" kern="1200">
              <a:solidFill>
                <a:schemeClr val="tx1"/>
              </a:solidFill>
              <a:effectLst/>
              <a:latin typeface="+mn-lt"/>
              <a:ea typeface="+mn-ea"/>
              <a:cs typeface="+mn-cs"/>
            </a:endParaRPr>
          </a:p>
          <a:p>
            <a:pPr marL="457200" lvl="0" indent="-457200">
              <a:buFont typeface="+mj-lt"/>
              <a:buAutoNum type="arabicPeriod"/>
            </a:pPr>
            <a:r>
              <a:rPr lang="en-US" sz="2400" b="1" kern="1200">
                <a:solidFill>
                  <a:schemeClr val="tx1"/>
                </a:solidFill>
                <a:effectLst/>
                <a:latin typeface="+mn-lt"/>
                <a:ea typeface="+mn-ea"/>
                <a:cs typeface="+mn-cs"/>
              </a:rPr>
              <a:t>Oracle scenarios are modelled separately</a:t>
            </a:r>
            <a:r>
              <a:rPr lang="en-US" sz="2400" kern="1200">
                <a:solidFill>
                  <a:schemeClr val="tx1"/>
                </a:solidFill>
                <a:effectLst/>
                <a:latin typeface="+mn-lt"/>
                <a:ea typeface="+mn-ea"/>
                <a:cs typeface="+mn-cs"/>
              </a:rPr>
              <a:t>. Oracle has three fundamentally different migration paths, each with different pricing mechanics. These are separated rather than averaged into compute cost.</a:t>
            </a:r>
            <a:endParaRPr lang="en-DE" sz="2400" kern="1200">
              <a:solidFill>
                <a:schemeClr val="tx1"/>
              </a:solidFill>
              <a:effectLst/>
              <a:latin typeface="+mn-lt"/>
              <a:ea typeface="+mn-ea"/>
              <a:cs typeface="+mn-cs"/>
            </a:endParaRPr>
          </a:p>
          <a:p>
            <a:pPr marL="0" lvl="0" indent="0">
              <a:buFont typeface="+mj-lt"/>
              <a:buNone/>
            </a:pPr>
            <a:r>
              <a:rPr lang="en-GB" sz="2400" kern="1200">
                <a:solidFill>
                  <a:schemeClr val="tx1"/>
                </a:solidFill>
                <a:effectLst/>
                <a:latin typeface="+mn-lt"/>
                <a:ea typeface="+mn-ea"/>
                <a:cs typeface="+mn-cs"/>
              </a:rPr>
              <a:t>This methodology is what gives the figures credibility when each cloud provider presents their own view directly. Your technical panel can verify any number against a specific API response and data normalisation step.</a:t>
            </a:r>
            <a:endParaRPr lang="en-DE" sz="2400" kern="120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5B0670F-2429-396B-78A8-4CE7990F9C82}"/>
              </a:ext>
            </a:extLst>
          </p:cNvPr>
          <p:cNvSpPr>
            <a:spLocks noGrp="1"/>
          </p:cNvSpPr>
          <p:nvPr>
            <p:ph type="sldNum" sz="quarter" idx="5"/>
          </p:nvPr>
        </p:nvSpPr>
        <p:spPr/>
        <p:txBody>
          <a:bodyPr/>
          <a:lstStyle/>
          <a:p>
            <a:fld id="{743F7EE4-7D84-4D77-B4B2-0C966043B366}" type="slidenum">
              <a:rPr lang="en-US" smtClean="0"/>
              <a:t>23</a:t>
            </a:fld>
            <a:endParaRPr lang="en-US"/>
          </a:p>
        </p:txBody>
      </p:sp>
    </p:spTree>
    <p:extLst>
      <p:ext uri="{BB962C8B-B14F-4D97-AF65-F5344CB8AC3E}">
        <p14:creationId xmlns:p14="http://schemas.microsoft.com/office/powerpoint/2010/main" val="551228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7AA33B-4C2B-A736-1615-247008C99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F1052-2884-C40C-4611-DF2521C149DB}"/>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DB0B66D-890E-DC0A-AB5C-FFC806FC598A}"/>
              </a:ext>
            </a:extLst>
          </p:cNvPr>
          <p:cNvSpPr>
            <a:spLocks noGrp="1"/>
          </p:cNvSpPr>
          <p:nvPr>
            <p:ph type="body" idx="1"/>
          </p:nvPr>
        </p:nvSpPr>
        <p:spPr/>
        <p: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sz="2400" b="0" i="1" u="none" strike="noStrike">
                <a:solidFill>
                  <a:srgbClr val="808080"/>
                </a:solidFill>
                <a:effectLst/>
                <a:latin typeface="Aktiv Grotesk" panose="020F0502020204030204" pitchFamily="34" charset="0"/>
              </a:rPr>
              <a:t>Egress - API-verified rates: AWS 0-10/10-50/50-150TB = $0.09/$0.085/$0.07 per GB | Azure (Internet) = $0.08/$0.065/$0.06 per GB | GCP Premium = $0.12 first 1TB, $0.11 to 10TB, $0.08 above</a:t>
            </a:r>
          </a:p>
          <a:p>
            <a:endParaRPr lang="en-GB"/>
          </a:p>
        </p:txBody>
      </p:sp>
      <p:sp>
        <p:nvSpPr>
          <p:cNvPr id="4" name="Slide Number Placeholder 3">
            <a:extLst>
              <a:ext uri="{FF2B5EF4-FFF2-40B4-BE49-F238E27FC236}">
                <a16:creationId xmlns:a16="http://schemas.microsoft.com/office/drawing/2014/main" id="{17A643D7-167F-8E5E-376E-A3EE2696CCB9}"/>
              </a:ext>
            </a:extLst>
          </p:cNvPr>
          <p:cNvSpPr>
            <a:spLocks noGrp="1"/>
          </p:cNvSpPr>
          <p:nvPr>
            <p:ph type="sldNum" sz="quarter" idx="5"/>
          </p:nvPr>
        </p:nvSpPr>
        <p:spPr/>
        <p:txBody>
          <a:bodyPr/>
          <a:lstStyle/>
          <a:p>
            <a:fld id="{743F7EE4-7D84-4D77-B4B2-0C966043B366}" type="slidenum">
              <a:rPr lang="en-US" smtClean="0"/>
              <a:t>24</a:t>
            </a:fld>
            <a:endParaRPr lang="en-US"/>
          </a:p>
        </p:txBody>
      </p:sp>
    </p:spTree>
    <p:extLst>
      <p:ext uri="{BB962C8B-B14F-4D97-AF65-F5344CB8AC3E}">
        <p14:creationId xmlns:p14="http://schemas.microsoft.com/office/powerpoint/2010/main" val="26016137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5E3AC-63CF-D16B-83FF-A77B7B0C42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7CFD41-F16D-330E-7D93-E5E064D712B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0D83EDFA-13F1-C41B-ADEA-D58F224B737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902AC81F-8F5A-C9B7-E1BA-F8B2743F7F65}"/>
              </a:ext>
            </a:extLst>
          </p:cNvPr>
          <p:cNvSpPr>
            <a:spLocks noGrp="1"/>
          </p:cNvSpPr>
          <p:nvPr>
            <p:ph type="sldNum" sz="quarter" idx="5"/>
          </p:nvPr>
        </p:nvSpPr>
        <p:spPr/>
        <p:txBody>
          <a:bodyPr/>
          <a:lstStyle/>
          <a:p>
            <a:fld id="{743F7EE4-7D84-4D77-B4B2-0C966043B366}" type="slidenum">
              <a:rPr lang="en-US" smtClean="0"/>
              <a:t>25</a:t>
            </a:fld>
            <a:endParaRPr lang="en-US"/>
          </a:p>
        </p:txBody>
      </p:sp>
    </p:spTree>
    <p:extLst>
      <p:ext uri="{BB962C8B-B14F-4D97-AF65-F5344CB8AC3E}">
        <p14:creationId xmlns:p14="http://schemas.microsoft.com/office/powerpoint/2010/main" val="1342113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743F7EE4-7D84-4D77-B4B2-0C966043B366}" type="slidenum">
              <a:rPr lang="en-US" smtClean="0"/>
              <a:t>27</a:t>
            </a:fld>
            <a:endParaRPr lang="en-US"/>
          </a:p>
        </p:txBody>
      </p:sp>
    </p:spTree>
    <p:extLst>
      <p:ext uri="{BB962C8B-B14F-4D97-AF65-F5344CB8AC3E}">
        <p14:creationId xmlns:p14="http://schemas.microsoft.com/office/powerpoint/2010/main" val="404938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51B95-DE4D-E931-FC9F-9DC50292C5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916D42-47F9-C412-8A2E-7380152768C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F3B1930-54C9-36E5-3A1B-87AB1F461702}"/>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EFF7057-13B6-E726-03A6-4D2F4EB50FAB}"/>
              </a:ext>
            </a:extLst>
          </p:cNvPr>
          <p:cNvSpPr>
            <a:spLocks noGrp="1"/>
          </p:cNvSpPr>
          <p:nvPr>
            <p:ph type="sldNum" sz="quarter" idx="5"/>
          </p:nvPr>
        </p:nvSpPr>
        <p:spPr/>
        <p:txBody>
          <a:bodyPr/>
          <a:lstStyle/>
          <a:p>
            <a:fld id="{743F7EE4-7D84-4D77-B4B2-0C966043B366}" type="slidenum">
              <a:rPr lang="en-US" smtClean="0"/>
              <a:t>31</a:t>
            </a:fld>
            <a:endParaRPr lang="en-US"/>
          </a:p>
        </p:txBody>
      </p:sp>
    </p:spTree>
    <p:extLst>
      <p:ext uri="{BB962C8B-B14F-4D97-AF65-F5344CB8AC3E}">
        <p14:creationId xmlns:p14="http://schemas.microsoft.com/office/powerpoint/2010/main" val="41571494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39669-3DEB-9C19-F577-53CA49F93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1E756-1739-AB28-35F5-50D9458C5F86}"/>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8FE56079-6940-8AE8-DA2E-4DC2396702A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183661C-E0A5-2524-7FC6-394AC7E6908C}"/>
              </a:ext>
            </a:extLst>
          </p:cNvPr>
          <p:cNvSpPr>
            <a:spLocks noGrp="1"/>
          </p:cNvSpPr>
          <p:nvPr>
            <p:ph type="sldNum" sz="quarter" idx="5"/>
          </p:nvPr>
        </p:nvSpPr>
        <p:spPr/>
        <p:txBody>
          <a:bodyPr/>
          <a:lstStyle/>
          <a:p>
            <a:fld id="{743F7EE4-7D84-4D77-B4B2-0C966043B366}" type="slidenum">
              <a:rPr lang="en-US" smtClean="0"/>
              <a:t>32</a:t>
            </a:fld>
            <a:endParaRPr lang="en-US"/>
          </a:p>
        </p:txBody>
      </p:sp>
    </p:spTree>
    <p:extLst>
      <p:ext uri="{BB962C8B-B14F-4D97-AF65-F5344CB8AC3E}">
        <p14:creationId xmlns:p14="http://schemas.microsoft.com/office/powerpoint/2010/main" val="24976856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64819-7833-2650-C852-A85BB877F3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04CD38-45EA-9417-1F57-74A332BBD65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ED49BE5D-4036-BB0E-1438-B6F7236A3A6E}"/>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388086-9885-8D30-1FD8-4A6343C37FF3}"/>
              </a:ext>
            </a:extLst>
          </p:cNvPr>
          <p:cNvSpPr>
            <a:spLocks noGrp="1"/>
          </p:cNvSpPr>
          <p:nvPr>
            <p:ph type="sldNum" sz="quarter" idx="5"/>
          </p:nvPr>
        </p:nvSpPr>
        <p:spPr/>
        <p:txBody>
          <a:bodyPr/>
          <a:lstStyle/>
          <a:p>
            <a:fld id="{743F7EE4-7D84-4D77-B4B2-0C966043B366}" type="slidenum">
              <a:rPr lang="en-US" smtClean="0"/>
              <a:t>33</a:t>
            </a:fld>
            <a:endParaRPr lang="en-US"/>
          </a:p>
        </p:txBody>
      </p:sp>
    </p:spTree>
    <p:extLst>
      <p:ext uri="{BB962C8B-B14F-4D97-AF65-F5344CB8AC3E}">
        <p14:creationId xmlns:p14="http://schemas.microsoft.com/office/powerpoint/2010/main" val="29052416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Overall Recommendation comes down to:</a:t>
            </a:r>
          </a:p>
          <a:p>
            <a:pPr marL="457200" indent="-457200">
              <a:buAutoNum type="arabicPeriod"/>
            </a:pPr>
            <a:r>
              <a:rPr lang="en-GB"/>
              <a:t>TCO</a:t>
            </a:r>
          </a:p>
          <a:p>
            <a:pPr marL="457200" indent="-457200">
              <a:buAutoNum type="arabicPeriod"/>
            </a:pPr>
            <a:r>
              <a:rPr lang="en-GB"/>
              <a:t>Weighted Scoring</a:t>
            </a:r>
          </a:p>
          <a:p>
            <a:pPr marL="457200" indent="-457200">
              <a:buAutoNum type="arabicPeriod"/>
            </a:pPr>
            <a:r>
              <a:rPr lang="en-GB"/>
              <a:t>Business Fit</a:t>
            </a:r>
          </a:p>
        </p:txBody>
      </p:sp>
      <p:sp>
        <p:nvSpPr>
          <p:cNvPr id="4" name="Slide Number Placeholder 3"/>
          <p:cNvSpPr>
            <a:spLocks noGrp="1"/>
          </p:cNvSpPr>
          <p:nvPr>
            <p:ph type="sldNum" sz="quarter" idx="5"/>
          </p:nvPr>
        </p:nvSpPr>
        <p:spPr/>
        <p:txBody>
          <a:bodyPr/>
          <a:lstStyle/>
          <a:p>
            <a:fld id="{743F7EE4-7D84-4D77-B4B2-0C966043B366}" type="slidenum">
              <a:rPr lang="en-US" smtClean="0"/>
              <a:t>34</a:t>
            </a:fld>
            <a:endParaRPr lang="en-US"/>
          </a:p>
        </p:txBody>
      </p:sp>
    </p:spTree>
    <p:extLst>
      <p:ext uri="{BB962C8B-B14F-4D97-AF65-F5344CB8AC3E}">
        <p14:creationId xmlns:p14="http://schemas.microsoft.com/office/powerpoint/2010/main" val="14573316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FBB8A-598C-5A7A-BBC1-96A5BEB966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13F3F-9F6D-606B-ACF3-8005F8BDBFEF}"/>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F0B077B-37D7-3A15-74F8-1CD5EFFD6ED3}"/>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6228E47B-111A-8597-AC06-757EB3979143}"/>
              </a:ext>
            </a:extLst>
          </p:cNvPr>
          <p:cNvSpPr>
            <a:spLocks noGrp="1"/>
          </p:cNvSpPr>
          <p:nvPr>
            <p:ph type="sldNum" sz="quarter" idx="5"/>
          </p:nvPr>
        </p:nvSpPr>
        <p:spPr/>
        <p:txBody>
          <a:bodyPr/>
          <a:lstStyle/>
          <a:p>
            <a:fld id="{743F7EE4-7D84-4D77-B4B2-0C966043B366}" type="slidenum">
              <a:rPr lang="en-US" smtClean="0"/>
              <a:t>39</a:t>
            </a:fld>
            <a:endParaRPr lang="en-US"/>
          </a:p>
        </p:txBody>
      </p:sp>
    </p:spTree>
    <p:extLst>
      <p:ext uri="{BB962C8B-B14F-4D97-AF65-F5344CB8AC3E}">
        <p14:creationId xmlns:p14="http://schemas.microsoft.com/office/powerpoint/2010/main" val="34861915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2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1pPr>
            <a:lvl2pPr marL="0" marR="0" lvl="1"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2pPr>
            <a:lvl3pPr marL="0" marR="0" lvl="2"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3pPr>
            <a:lvl4pPr marL="0" marR="0" lvl="3"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4pPr>
            <a:lvl5pPr marL="0" marR="0" lvl="4"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5pPr>
            <a:lvl6pPr marL="0" marR="0" lvl="5"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6pPr>
            <a:lvl7pPr marL="0" marR="0" lvl="6"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7pPr>
            <a:lvl8pPr marL="0" marR="0" lvl="7"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8pPr>
            <a:lvl9pPr marL="0" marR="0" lvl="8"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ktiv Grotesk"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ktiv Grotesk" panose="020B0604020202020204" pitchFamily="34" charset="0"/>
              <a:buChar char="•"/>
              <a:defRPr>
                <a:solidFill>
                  <a:schemeClr val="bg1"/>
                </a:solidFill>
              </a:defRPr>
            </a:lvl1pPr>
            <a:lvl2pPr marL="1485900" indent="-571500">
              <a:buClr>
                <a:schemeClr val="bg1"/>
              </a:buClr>
              <a:buFont typeface="Aktiv Grotesk" panose="020B0604020202020204" pitchFamily="34" charset="0"/>
              <a:buChar char="•"/>
              <a:defRPr>
                <a:solidFill>
                  <a:schemeClr val="bg1"/>
                </a:solidFill>
              </a:defRPr>
            </a:lvl2pPr>
            <a:lvl3pPr marL="2400300" indent="-571500">
              <a:buClr>
                <a:schemeClr val="bg1"/>
              </a:buClr>
              <a:buFont typeface="Aktiv Grotesk" panose="020B0604020202020204" pitchFamily="34" charset="0"/>
              <a:buChar char="•"/>
              <a:defRPr>
                <a:solidFill>
                  <a:schemeClr val="bg1"/>
                </a:solidFill>
              </a:defRPr>
            </a:lvl3pPr>
            <a:lvl4pPr marL="3314700" indent="-571500">
              <a:buClr>
                <a:schemeClr val="bg1"/>
              </a:buClr>
              <a:buFont typeface="Aktiv Grotesk" panose="020B0604020202020204" pitchFamily="34" charset="0"/>
              <a:buChar char="•"/>
              <a:defRPr>
                <a:solidFill>
                  <a:schemeClr val="bg1"/>
                </a:solidFill>
              </a:defRPr>
            </a:lvl4pPr>
            <a:lvl5pPr marL="4229100" indent="-571500">
              <a:buClr>
                <a:schemeClr val="bg1"/>
              </a:buClr>
              <a:buFont typeface="Aktiv Grotesk"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ktiv Grotesk" panose="020B0604020202020204" pitchFamily="34" charset="0"/>
              <a:buChar char="•"/>
              <a:defRPr>
                <a:solidFill>
                  <a:schemeClr val="bg1"/>
                </a:solidFill>
              </a:defRPr>
            </a:lvl1pPr>
            <a:lvl2pPr marL="1485900" indent="-571500">
              <a:buClr>
                <a:schemeClr val="bg1"/>
              </a:buClr>
              <a:buFont typeface="Aktiv Grotesk" panose="020B0604020202020204" pitchFamily="34" charset="0"/>
              <a:buChar char="•"/>
              <a:defRPr>
                <a:solidFill>
                  <a:schemeClr val="bg1"/>
                </a:solidFill>
              </a:defRPr>
            </a:lvl2pPr>
            <a:lvl3pPr marL="2400300" indent="-571500">
              <a:buClr>
                <a:schemeClr val="bg1"/>
              </a:buClr>
              <a:buFont typeface="Aktiv Grotesk" panose="020B0604020202020204" pitchFamily="34" charset="0"/>
              <a:buChar char="•"/>
              <a:defRPr>
                <a:solidFill>
                  <a:schemeClr val="bg1"/>
                </a:solidFill>
              </a:defRPr>
            </a:lvl3pPr>
            <a:lvl4pPr marL="3314700" indent="-571500">
              <a:buClr>
                <a:schemeClr val="bg1"/>
              </a:buClr>
              <a:buFont typeface="Aktiv Grotesk" panose="020B0604020202020204" pitchFamily="34" charset="0"/>
              <a:buChar char="•"/>
              <a:defRPr>
                <a:solidFill>
                  <a:schemeClr val="bg1"/>
                </a:solidFill>
              </a:defRPr>
            </a:lvl4pPr>
            <a:lvl5pPr marL="4229100" indent="-571500">
              <a:buClr>
                <a:schemeClr val="bg1"/>
              </a:buClr>
              <a:buFont typeface="Aktiv Grotesk"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ktiv Grotesk"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ktiv Grotesk"/>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ktiv Grotesk"/>
              <a:buNone/>
            </a:pPr>
            <a:endParaRPr sz="3000" b="1" i="0" u="none" strike="noStrike" cap="none">
              <a:solidFill>
                <a:srgbClr val="FFFFFF"/>
              </a:solidFill>
              <a:latin typeface="Aktiv Grotesk"/>
              <a:ea typeface="Aktiv Grotesk"/>
              <a:cs typeface="Aktiv Grotesk"/>
              <a:sym typeface="Aktiv Grotesk"/>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ktiv Grotesk"/>
              <a:buNone/>
            </a:pPr>
            <a:endParaRPr sz="1800" b="0" i="0" u="none" strike="noStrike" cap="none">
              <a:solidFill>
                <a:schemeClr val="dk1"/>
              </a:solidFill>
              <a:latin typeface="Aktiv Grotesk"/>
              <a:ea typeface="Aktiv Grotesk"/>
              <a:cs typeface="Aktiv Grotesk"/>
              <a:sym typeface="Aktiv Grotesk"/>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ktiv Grotesk"/>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ktiv Grotesk"/>
              <a:buNone/>
            </a:pPr>
            <a:fld id="{00000000-1234-1234-1234-123412341234}" type="slidenum">
              <a:rPr lang="en-US" sz="1800" b="0" i="0" u="none" strike="noStrike" cap="none">
                <a:solidFill>
                  <a:schemeClr val="lt1"/>
                </a:solidFill>
                <a:latin typeface="Aktiv Grotesk"/>
                <a:ea typeface="Aktiv Grotesk"/>
                <a:cs typeface="Aktiv Grotesk"/>
                <a:sym typeface="Aktiv Grotesk"/>
              </a:rPr>
              <a:pPr marL="0" marR="0" lvl="0" indent="0" algn="r" rtl="0">
                <a:lnSpc>
                  <a:spcPct val="100000"/>
                </a:lnSpc>
                <a:spcBef>
                  <a:spcPts val="0"/>
                </a:spcBef>
                <a:spcAft>
                  <a:spcPts val="0"/>
                </a:spcAft>
                <a:buClr>
                  <a:srgbClr val="000000"/>
                </a:buClr>
                <a:buSzPts val="900"/>
                <a:buFont typeface="Aktiv Grotesk"/>
                <a:buNone/>
              </a:pPr>
              <a:t>‹#›</a:t>
            </a:fld>
            <a:endParaRPr sz="1800" b="0" i="0" u="none" strike="noStrike" cap="none">
              <a:solidFill>
                <a:schemeClr val="lt1"/>
              </a:solidFill>
              <a:latin typeface="Aktiv Grotesk"/>
              <a:ea typeface="Aktiv Grotesk"/>
              <a:cs typeface="Aktiv Grotesk"/>
              <a:sym typeface="Aktiv Grotesk"/>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ktiv Grotesk"/>
              <a:buNone/>
            </a:pPr>
            <a:fld id="{00000000-1234-1234-1234-123412341234}" type="slidenum">
              <a:rPr lang="en-US" sz="1632" b="0" i="0" u="none" strike="noStrike" cap="none">
                <a:solidFill>
                  <a:srgbClr val="808080"/>
                </a:solidFill>
                <a:latin typeface="Aktiv Grotesk"/>
                <a:ea typeface="Aktiv Grotesk"/>
                <a:cs typeface="Aktiv Grotesk"/>
                <a:sym typeface="Aktiv Grotesk"/>
              </a:rPr>
              <a:pPr marL="0" marR="0" lvl="0" indent="0" algn="l" rtl="0">
                <a:lnSpc>
                  <a:spcPct val="100000"/>
                </a:lnSpc>
                <a:spcBef>
                  <a:spcPts val="0"/>
                </a:spcBef>
                <a:spcAft>
                  <a:spcPts val="0"/>
                </a:spcAft>
                <a:buClr>
                  <a:srgbClr val="000000"/>
                </a:buClr>
                <a:buSzPts val="816"/>
                <a:buFont typeface="Aktiv Grotesk"/>
                <a:buNone/>
              </a:pPr>
              <a:t>‹#›</a:t>
            </a:fld>
            <a:endParaRPr sz="1632" b="0" i="0" u="none" strike="noStrike" cap="none">
              <a:solidFill>
                <a:srgbClr val="808080"/>
              </a:solidFill>
              <a:latin typeface="Aktiv Grotesk"/>
              <a:ea typeface="Aktiv Grotesk"/>
              <a:cs typeface="Aktiv Grotesk"/>
              <a:sym typeface="Aktiv Grotesk"/>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ktiv Grotesk"/>
              <a:buNone/>
            </a:pPr>
            <a:r>
              <a:rPr lang="en-US" sz="1632" b="0" i="0" u="none" strike="noStrike" cap="none">
                <a:solidFill>
                  <a:srgbClr val="808080"/>
                </a:solidFill>
                <a:latin typeface="Aktiv Grotesk"/>
                <a:ea typeface="Aktiv Grotesk"/>
                <a:cs typeface="Aktiv Grotesk"/>
                <a:sym typeface="Aktiv Grotesk"/>
              </a:rPr>
              <a:t>McKinsey &amp; Company</a:t>
            </a:r>
            <a:endParaRPr sz="2800" b="0" i="0" u="none" strike="noStrike" cap="none">
              <a:solidFill>
                <a:srgbClr val="000000"/>
              </a:solidFill>
              <a:latin typeface="Aktiv Grotesk"/>
              <a:ea typeface="Aktiv Grotesk"/>
              <a:cs typeface="Aktiv Grotesk"/>
              <a:sym typeface="Aktiv Grotesk"/>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ktiv Grotesk"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ktiv Grotesk"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ktiv Grotesk"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ktiv Grotesk"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ktiv Grotesk"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81.xml"/><Relationship Id="rId2" Type="http://schemas.openxmlformats.org/officeDocument/2006/relationships/notesSlide" Target="../notesSlides/notesSlide1.xml"/><Relationship Id="rId3" Type="http://schemas.openxmlformats.org/officeDocument/2006/relationships/image" Target="../media/image28.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8.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31.jpe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2.jpe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2.jpe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slideLayout" Target="../slideLayouts/slideLayout2.xml"/><Relationship Id="rId9" Type="http://schemas.openxmlformats.org/officeDocument/2006/relationships/notesSlide" Target="../notesSlides/notesSlide6.xml"/><Relationship Id="rId10" Type="http://schemas.openxmlformats.org/officeDocument/2006/relationships/image" Target="../media/image33.png"/><Relationship Id="rId11" Type="http://schemas.openxmlformats.org/officeDocument/2006/relationships/image" Target="../media/image34.svg"/><Relationship Id="rId1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jpe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 Id="rId12" Type="http://schemas.openxmlformats.org/officeDocument/2006/relationships/image" Target="../media/image44.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image" Target="../media/image48.png"/><Relationship Id="rId17" Type="http://schemas.openxmlformats.org/officeDocument/2006/relationships/image" Target="../media/image49.jpeg"/><Relationship Id="rId18" Type="http://schemas.openxmlformats.org/officeDocument/2006/relationships/image" Target="../media/image50.svg"/><Relationship Id="rId19" Type="http://schemas.openxmlformats.org/officeDocument/2006/relationships/image" Target="../media/image51.png"/><Relationship Id="rId20" Type="http://schemas.openxmlformats.org/officeDocument/2006/relationships/image" Target="../media/image52.png"/><Relationship Id="rId21"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7.png"/><Relationship Id="rId4" Type="http://schemas.openxmlformats.org/officeDocument/2006/relationships/image" Target="../media/image53.jpe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3.jpe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hyperlink" Target="https://www.computerweekly.com/news/366641533/Azure-customers-up-in-arms-over-full-UK-South-region" TargetMode="External"/><Relationship Id="rId7"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diagramData" Target="../diagrams/data2.xml"/><Relationship Id="rId9" Type="http://schemas.openxmlformats.org/officeDocument/2006/relationships/diagramLayout" Target="../diagrams/layout2.xml"/><Relationship Id="rId10" Type="http://schemas.openxmlformats.org/officeDocument/2006/relationships/diagramQuickStyle" Target="../diagrams/quickStyle2.xml"/><Relationship Id="rId11" Type="http://schemas.openxmlformats.org/officeDocument/2006/relationships/diagramColors" Target="../diagrams/colors2.xml"/><Relationship Id="rId12" Type="http://schemas.microsoft.com/office/2007/relationships/diagramDrawing" Target="../diagrams/drawing2.xml"/><Relationship Id="rId1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p:txBody>
      </p:sp>
      <p:sp>
        <p:nvSpPr>
          <p:cNvPr id="5" name="Rectangle 4"/>
          <p:cNvSpPr/>
          <p:nvPr/>
        </p:nvSpPr>
        <p:spPr>
          <a:xfrm>
            <a:off x="0" y="0"/>
            <a:ext cx="24384000" cy="301752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2468880"/>
            <a:ext cx="24384000" cy="2743200"/>
          </a:xfrm>
          <a:prstGeom prst="rect">
            <a:avLst/>
          </a:prstGeom>
          <a:solidFill>
            <a:srgbClr val="E31C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9728"/>
            <a:ext cx="2743200" cy="320040"/>
          </a:xfrm>
          <a:prstGeom prst="rect">
            <a:avLst/>
          </a:prstGeom>
          <a:noFill/>
        </p:spPr>
        <p:txBody>
          <a:bodyPr wrap="none">
            <a:spAutoFit/>
          </a:bodyPr>
          <a:lstStyle/>
          <a:p>
            <a:r>
              <a:rPr b="1" sz="1000">
                <a:solidFill>
                  <a:srgbClr val="FFFFFF"/>
                </a:solidFill>
              </a:rPr>
              <a:t>RACKSPACE TECHNOLOGY</a:t>
            </a:r>
          </a:p>
        </p:txBody>
      </p:sp>
      <p:sp>
        <p:nvSpPr>
          <p:cNvPr id="8" name="TextBox 7"/>
          <p:cNvSpPr txBox="1"/>
          <p:nvPr/>
        </p:nvSpPr>
        <p:spPr>
          <a:xfrm>
            <a:off x="365760" y="2743200"/>
            <a:ext cx="23652480" cy="2194560"/>
          </a:xfrm>
          <a:prstGeom prst="rect">
            <a:avLst/>
          </a:prstGeom>
          <a:noFill/>
        </p:spPr>
        <p:txBody>
          <a:bodyPr wrap="square">
            <a:spAutoFit/>
          </a:bodyPr>
          <a:lstStyle/>
          <a:p>
            <a:r>
              <a:rPr b="1" sz="2600">
                <a:solidFill>
                  <a:srgbClr val="FFFFFF"/>
                </a:solidFill>
              </a:rPr>
              <a:t>CRA Executive Summary Template (v2)</a:t>
            </a:r>
          </a:p>
        </p:txBody>
      </p:sp>
      <p:sp>
        <p:nvSpPr>
          <p:cNvPr id="9" name="TextBox 8"/>
          <p:cNvSpPr txBox="1"/>
          <p:nvPr/>
        </p:nvSpPr>
        <p:spPr>
          <a:xfrm>
            <a:off x="365760" y="5486400"/>
            <a:ext cx="23652480" cy="365760"/>
          </a:xfrm>
          <a:prstGeom prst="rect">
            <a:avLst/>
          </a:prstGeom>
          <a:noFill/>
        </p:spPr>
        <p:txBody>
          <a:bodyPr wrap="none">
            <a:spAutoFit/>
          </a:bodyPr>
          <a:lstStyle/>
          <a:p>
            <a:r>
              <a:rPr sz="1200">
                <a:solidFill>
                  <a:srgbClr val="646464"/>
                </a:solidFill>
              </a:rPr>
              <a:t>Phase 3: Hyperscaler Evaluation --&gt; Customer Playback</a:t>
            </a:r>
          </a:p>
        </p:txBody>
      </p:sp>
      <p:sp>
        <p:nvSpPr>
          <p:cNvPr id="10" name="TextBox 9"/>
          <p:cNvSpPr txBox="1"/>
          <p:nvPr/>
        </p:nvSpPr>
        <p:spPr>
          <a:xfrm>
            <a:off x="365760" y="6583680"/>
            <a:ext cx="23652480" cy="1920240"/>
          </a:xfrm>
          <a:prstGeom prst="rect">
            <a:avLst/>
          </a:prstGeom>
          <a:noFill/>
        </p:spPr>
        <p:txBody>
          <a:bodyPr wrap="square">
            <a:spAutoFit/>
          </a:bodyPr>
          <a:lstStyle/>
          <a:p>
            <a:r>
              <a:rPr b="1" sz="900">
                <a:solidFill>
                  <a:srgbClr val="E31C3D"/>
                </a:solidFill>
              </a:rPr>
              <a:t>PURPOSE</a:t>
            </a:r>
          </a:p>
          <a:p>
            <a:r>
              <a:rPr sz="900"/>
              <a:t>Earlier version of the Phase 3 playback deck (based on DMG Media UK format). Use cra-executive-summary-v3.pptx for new engagements. This version is retained as a format reference.</a:t>
            </a:r>
          </a:p>
        </p:txBody>
      </p:sp>
      <p:sp>
        <p:nvSpPr>
          <p:cNvPr id="11" name="TextBox 10"/>
          <p:cNvSpPr txBox="1"/>
          <p:nvPr/>
        </p:nvSpPr>
        <p:spPr>
          <a:xfrm>
            <a:off x="365760" y="8915400"/>
            <a:ext cx="7315200" cy="502920"/>
          </a:xfrm>
          <a:prstGeom prst="rect">
            <a:avLst/>
          </a:prstGeom>
          <a:noFill/>
        </p:spPr>
        <p:txBody>
          <a:bodyPr wrap="square">
            <a:spAutoFit/>
          </a:bodyPr>
          <a:lstStyle/>
          <a:p>
            <a:r>
              <a:rPr b="1" sz="900">
                <a:solidFill>
                  <a:srgbClr val="E31C3D"/>
                </a:solidFill>
              </a:rPr>
              <a:t>AUDIENCE</a:t>
            </a:r>
          </a:p>
          <a:p>
            <a:r>
              <a:rPr sz="900"/>
              <a:t>Customer CTO / IT Director + Rackspace Lead Architect</a:t>
            </a:r>
          </a:p>
        </p:txBody>
      </p:sp>
      <p:sp>
        <p:nvSpPr>
          <p:cNvPr id="12" name="TextBox 11"/>
          <p:cNvSpPr txBox="1"/>
          <p:nvPr/>
        </p:nvSpPr>
        <p:spPr>
          <a:xfrm>
            <a:off x="7680960" y="8915400"/>
            <a:ext cx="9265920" cy="502920"/>
          </a:xfrm>
          <a:prstGeom prst="rect">
            <a:avLst/>
          </a:prstGeom>
          <a:noFill/>
        </p:spPr>
        <p:txBody>
          <a:bodyPr wrap="square">
            <a:spAutoFit/>
          </a:bodyPr>
          <a:lstStyle/>
          <a:p>
            <a:r>
              <a:rPr b="1" sz="900">
                <a:solidFill>
                  <a:srgbClr val="E31C3D"/>
                </a:solidFill>
              </a:rPr>
              <a:t>WHEN TO USE</a:t>
            </a:r>
          </a:p>
          <a:p>
            <a:r>
              <a:rPr sz="900"/>
              <a:t>Reference only -- prefer v3 for new engagements</a:t>
            </a:r>
          </a:p>
        </p:txBody>
      </p:sp>
      <p:sp>
        <p:nvSpPr>
          <p:cNvPr id="13" name="TextBox 12"/>
          <p:cNvSpPr txBox="1"/>
          <p:nvPr/>
        </p:nvSpPr>
        <p:spPr>
          <a:xfrm>
            <a:off x="19141440" y="8915400"/>
            <a:ext cx="4876800" cy="502920"/>
          </a:xfrm>
          <a:prstGeom prst="rect">
            <a:avLst/>
          </a:prstGeom>
          <a:noFill/>
        </p:spPr>
        <p:txBody>
          <a:bodyPr wrap="square">
            <a:spAutoFit/>
          </a:bodyPr>
          <a:lstStyle/>
          <a:p>
            <a:r>
              <a:rPr b="1" sz="900">
                <a:solidFill>
                  <a:srgbClr val="E31C3D"/>
                </a:solidFill>
              </a:rPr>
              <a:t>VERSION</a:t>
            </a:r>
          </a:p>
          <a:p>
            <a:r>
              <a:rPr sz="900"/>
              <a:t>v2.0</a:t>
            </a:r>
          </a:p>
        </p:txBody>
      </p:sp>
      <p:sp>
        <p:nvSpPr>
          <p:cNvPr id="14" name="TextBox 13"/>
          <p:cNvSpPr txBox="1"/>
          <p:nvPr/>
        </p:nvSpPr>
        <p:spPr>
          <a:xfrm>
            <a:off x="365760" y="10287000"/>
            <a:ext cx="23652480" cy="2194560"/>
          </a:xfrm>
          <a:prstGeom prst="rect">
            <a:avLst/>
          </a:prstGeom>
          <a:noFill/>
        </p:spPr>
        <p:txBody>
          <a:bodyPr wrap="square">
            <a:spAutoFit/>
          </a:bodyPr>
          <a:lstStyle/>
          <a:p>
            <a:r>
              <a:rPr b="1" sz="900">
                <a:solidFill>
                  <a:srgbClr val="E31C3D"/>
                </a:solidFill>
              </a:rPr>
              <a:t>WHAT TO CUSTOMISE</a:t>
            </a:r>
          </a:p>
          <a:p>
            <a:r>
              <a:rPr sz="900"/>
              <a:t>- Replace [Customer Name] and DMG-specific content throughout</a:t>
            </a:r>
          </a:p>
          <a:p>
            <a:r>
              <a:rPr sz="900"/>
              <a:t>- Update all financial figures from your TCO model</a:t>
            </a:r>
          </a:p>
          <a:p>
            <a:r>
              <a:rPr sz="900"/>
              <a:t>- Consider migrating to v3 structure for new engagements</a:t>
            </a:r>
          </a:p>
        </p:txBody>
      </p:sp>
      <p:sp>
        <p:nvSpPr>
          <p:cNvPr id="15" name="TextBox 14"/>
          <p:cNvSpPr txBox="1"/>
          <p:nvPr/>
        </p:nvSpPr>
        <p:spPr>
          <a:xfrm>
            <a:off x="365760" y="12755880"/>
            <a:ext cx="23652480" cy="228600"/>
          </a:xfrm>
          <a:prstGeom prst="rect">
            <a:avLst/>
          </a:prstGeom>
          <a:noFill/>
        </p:spPr>
        <p:txBody>
          <a:bodyPr wrap="none">
            <a:spAutoFit/>
          </a:bodyPr>
          <a:lstStyle/>
          <a:p>
            <a:r>
              <a:rPr sz="700">
                <a:solidFill>
                  <a:srgbClr val="646464"/>
                </a:solidFill>
              </a:rPr>
              <a:t>CRA Framework v2.0 -- Rackspace Cloud Solutions Architecture  |  Confidential  |  (c) 2026 Rackspace Technology</a:t>
            </a:r>
          </a:p>
        </p:txBody>
      </p:sp>
      <p:pic>
        <p:nvPicPr>
          <p:cNvPr id="16" name="Picture 15"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6A52488A-772F-A158-D9F9-3D716FA0E157}"/>
              </a:ext>
            </a:extLst>
          </p:cNvPr>
          <p:cNvSpPr txBox="1">
            <a:spLocks/>
          </p:cNvSpPr>
          <p:nvPr/>
        </p:nvSpPr>
        <p:spPr bwMode="auto">
          <a:xfrm>
            <a:off x="709701" y="8639626"/>
            <a:ext cx="8130819" cy="1472198"/>
          </a:xfrm>
          <a:prstGeom prst="rect">
            <a:avLst/>
          </a:prstGeom>
        </p:spPr>
        <p:txBody>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a:lstStyle>
          <a:p>
            <a:pPr marL="0" indent="0">
              <a:buNone/>
              <a:defRPr/>
            </a:pPr>
            <a:r>
              <a:rPr lang="en-GB" sz="3200" b="1" noProof="0">
                <a:solidFill>
                  <a:schemeClr val="bg1"/>
                </a:solidFill>
                <a:latin typeface="Fira Sans Light" panose="020B0403050000020004" pitchFamily="34" charset="0"/>
              </a:rPr>
              <a:t>Scott Beckford</a:t>
            </a:r>
            <a:endParaRPr lang="en-GB" sz="3200" noProof="0">
              <a:solidFill>
                <a:schemeClr val="bg1"/>
              </a:solidFill>
              <a:latin typeface="Fira Sans Light" panose="020B0403050000020004" pitchFamily="34" charset="0"/>
            </a:endParaRPr>
          </a:p>
          <a:p>
            <a:pPr marL="0" indent="0">
              <a:buNone/>
              <a:defRPr/>
            </a:pPr>
            <a:r>
              <a:rPr lang="en-GB" sz="3200" noProof="0">
                <a:solidFill>
                  <a:schemeClr val="bg1"/>
                </a:solidFill>
                <a:latin typeface="Fira Sans Light" panose="020B0403050000020004" pitchFamily="34" charset="0"/>
              </a:rPr>
              <a:t>Senior Consulting Cloud Architect</a:t>
            </a:r>
          </a:p>
        </p:txBody>
      </p:sp>
      <p:sp>
        <p:nvSpPr>
          <p:cNvPr id="7" name="Text Placeholder 5">
            <a:extLst>
              <a:ext uri="{FF2B5EF4-FFF2-40B4-BE49-F238E27FC236}">
                <a16:creationId xmlns:a16="http://schemas.microsoft.com/office/drawing/2014/main" id="{C025BC2F-6F2A-8421-D263-916FA05BF815}"/>
              </a:ext>
            </a:extLst>
          </p:cNvPr>
          <p:cNvSpPr txBox="1">
            <a:spLocks/>
          </p:cNvSpPr>
          <p:nvPr/>
        </p:nvSpPr>
        <p:spPr bwMode="auto">
          <a:xfrm>
            <a:off x="709702" y="6760251"/>
            <a:ext cx="7334871" cy="1164421"/>
          </a:xfrm>
          <a:prstGeom prst="rect">
            <a:avLst/>
          </a:prstGeom>
        </p:spPr>
        <p:txBody>
          <a:bodyPr wrap="square" lIns="0" tIns="0" rIns="0" bIns="0">
            <a:spAutoFit/>
          </a:bodyPr>
          <a:lstStyle>
            <a:lvl1pPr marL="0" marR="0" indent="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None/>
              <a:tabLst/>
              <a:defRPr sz="3000" kern="1200">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a:lstStyle>
          <a:p>
            <a:pPr>
              <a:defRPr/>
            </a:pPr>
            <a:r>
              <a:rPr lang="en-GB" sz="3200" b="1" noProof="0" dirty="0">
                <a:latin typeface="Fira Sans Light" panose="020B0403050000020004" pitchFamily="34" charset="0"/>
              </a:rPr>
              <a:t>Platform Direction &amp; Path Forward</a:t>
            </a:r>
          </a:p>
          <a:p>
            <a:pPr>
              <a:defRPr/>
            </a:pPr>
            <a:r>
              <a:rPr lang="en-GB" sz="3200" b="1" noProof="0" dirty="0">
                <a:latin typeface="Fira Sans Light" panose="020B0403050000020004" pitchFamily="34" charset="0"/>
              </a:rPr>
              <a:t>April 2026</a:t>
            </a:r>
          </a:p>
        </p:txBody>
      </p:sp>
      <p:sp>
        <p:nvSpPr>
          <p:cNvPr id="8" name="Title 2">
            <a:extLst>
              <a:ext uri="{FF2B5EF4-FFF2-40B4-BE49-F238E27FC236}">
                <a16:creationId xmlns:a16="http://schemas.microsoft.com/office/drawing/2014/main" id="{19B21124-8BEB-7358-0E7A-030BADF717A1}"/>
              </a:ext>
            </a:extLst>
          </p:cNvPr>
          <p:cNvSpPr txBox="1">
            <a:spLocks/>
          </p:cNvSpPr>
          <p:nvPr/>
        </p:nvSpPr>
        <p:spPr>
          <a:xfrm>
            <a:off x="709702" y="4871304"/>
            <a:ext cx="14390042" cy="965970"/>
          </a:xfrm>
          <a:prstGeom prst="rect">
            <a:avLst/>
          </a:prstGeom>
        </p:spPr>
        <p:txBody>
          <a:bodyPr wrap="square" lIns="0" tIns="0" rIns="0" bIns="0" anchor="b" anchorCtr="0">
            <a:spAutoFit/>
          </a:bodyPr>
          <a:lstStyle>
            <a:lvl1pPr algn="l" defTabSz="1828800" rtl="0" eaLnBrk="1" fontAlgn="b" latinLnBrk="0" hangingPunct="1">
              <a:lnSpc>
                <a:spcPct val="112000"/>
              </a:lnSpc>
              <a:spcBef>
                <a:spcPct val="0"/>
              </a:spcBef>
              <a:buNone/>
              <a:defRPr lang="en-US" sz="8000" kern="1200">
                <a:ln w="9525">
                  <a:noFill/>
                </a:ln>
                <a:solidFill>
                  <a:schemeClr val="bg1"/>
                </a:solidFill>
                <a:latin typeface="+mj-lt"/>
                <a:ea typeface="+mj-ea"/>
                <a:cs typeface="+mj-cs"/>
              </a:defRPr>
            </a:lvl1pPr>
          </a:lstStyle>
          <a:p>
            <a:r>
              <a:rPr lang="en-GB" sz="6600" b="1" noProof="0">
                <a:latin typeface="Fira Sans Light" panose="020B0403050000020004" pitchFamily="34" charset="0"/>
              </a:rPr>
              <a:t>Cloud Readiness Assessment – Part 1</a:t>
            </a:r>
          </a:p>
        </p:txBody>
      </p:sp>
      <p:pic>
        <p:nvPicPr>
          <p:cNvPr id="9" name="Picture 4" descr="DMG Media - IAB Europe">
            <a:extLst>
              <a:ext uri="{FF2B5EF4-FFF2-40B4-BE49-F238E27FC236}">
                <a16:creationId xmlns:a16="http://schemas.microsoft.com/office/drawing/2014/main" id="{700D66CA-182B-F0F1-1C12-CBE828762537}"/>
              </a:ext>
            </a:extLst>
          </p:cNvPr>
          <p:cNvPicPr>
            <a:picLocks noChangeAspect="1" noChangeArrowheads="1"/>
          </p:cNvPicPr>
          <p:nvPr/>
        </p:nvPicPr>
        <p:blipFill>
          <a:blip r:embed="rId3">
            <a:alphaModFix/>
            <a:extLst>
              <a:ext uri="{28A0092B-C50C-407E-A947-70E740481C1C}">
                <a14:useLocalDpi xmlns:a14="http://schemas.microsoft.com/office/drawing/2010/main" val="0"/>
              </a:ext>
            </a:extLst>
          </a:blip>
          <a:srcRect t="8496" b="8863"/>
          <a:stretch>
            <a:fillRect/>
          </a:stretch>
        </p:blipFill>
        <p:spPr bwMode="auto">
          <a:xfrm>
            <a:off x="709701" y="1689225"/>
            <a:ext cx="9719469" cy="2259102"/>
          </a:xfrm>
          <a:prstGeom prst="rect">
            <a:avLst/>
          </a:prstGeom>
          <a:solidFill>
            <a:schemeClr val="bg1"/>
          </a:solidFill>
        </p:spPr>
      </p:pic>
      <p:pic>
        <p:nvPicPr>
          <p:cNvPr id="10" name="Picture 9"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073163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6EDFDB-BD69-60F4-89FB-30A57692FBEF}"/>
              </a:ext>
            </a:extLst>
          </p:cNvPr>
          <p:cNvSpPr>
            <a:spLocks noGrp="1"/>
          </p:cNvSpPr>
          <p:nvPr>
            <p:ph type="sldNum" sz="quarter" idx="4"/>
          </p:nvPr>
        </p:nvSpPr>
        <p:spPr/>
        <p:txBody>
          <a:bodyPr/>
          <a:lstStyle/>
          <a:p>
            <a:fld id="{762E77F0-FB5B-4E8E-9BC9-34F14560A017}" type="slidenum">
              <a:rPr lang="en-US" smtClean="0"/>
              <a:pPr/>
              <a:t>2</a:t>
            </a:fld>
            <a:endParaRPr lang="en-US"/>
          </a:p>
        </p:txBody>
      </p:sp>
      <p:pic>
        <p:nvPicPr>
          <p:cNvPr id="4" name="Picture 3">
            <a:extLst>
              <a:ext uri="{FF2B5EF4-FFF2-40B4-BE49-F238E27FC236}">
                <a16:creationId xmlns:a16="http://schemas.microsoft.com/office/drawing/2014/main" id="{E34F1D2A-26F2-22DD-5CF4-61CC7A50E288}"/>
              </a:ext>
            </a:extLst>
          </p:cNvPr>
          <p:cNvPicPr>
            <a:picLocks noChangeAspect="1"/>
          </p:cNvPicPr>
          <p:nvPr/>
        </p:nvPicPr>
        <p:blipFill>
          <a:blip r:embed="rId2"/>
          <a:srcRect l="6957" t="17833" r="17970" b="36167"/>
          <a:stretch>
            <a:fillRect/>
          </a:stretch>
        </p:blipFill>
        <p:spPr>
          <a:xfrm>
            <a:off x="14757991" y="0"/>
            <a:ext cx="9626008" cy="4995746"/>
          </a:xfrm>
          <a:prstGeom prst="rect">
            <a:avLst/>
          </a:prstGeom>
        </p:spPr>
      </p:pic>
      <p:pic>
        <p:nvPicPr>
          <p:cNvPr id="5" name="Picture 4">
            <a:extLst>
              <a:ext uri="{FF2B5EF4-FFF2-40B4-BE49-F238E27FC236}">
                <a16:creationId xmlns:a16="http://schemas.microsoft.com/office/drawing/2014/main" id="{63A98AD6-C3AF-0C42-FECD-EE0FFBD6C218}"/>
              </a:ext>
            </a:extLst>
          </p:cNvPr>
          <p:cNvPicPr>
            <a:picLocks noChangeAspect="1"/>
          </p:cNvPicPr>
          <p:nvPr/>
        </p:nvPicPr>
        <p:blipFill>
          <a:blip r:embed="rId3"/>
          <a:srcRect l="11459" t="1917" r="12499" b="2752"/>
          <a:stretch>
            <a:fillRect/>
          </a:stretch>
        </p:blipFill>
        <p:spPr>
          <a:xfrm>
            <a:off x="14757991" y="4995746"/>
            <a:ext cx="9626009" cy="8720253"/>
          </a:xfrm>
          <a:prstGeom prst="rect">
            <a:avLst/>
          </a:prstGeom>
        </p:spPr>
      </p:pic>
      <p:graphicFrame>
        <p:nvGraphicFramePr>
          <p:cNvPr id="6" name="Table 5">
            <a:extLst>
              <a:ext uri="{FF2B5EF4-FFF2-40B4-BE49-F238E27FC236}">
                <a16:creationId xmlns:a16="http://schemas.microsoft.com/office/drawing/2014/main" id="{5C87A4B2-737F-0A75-51DA-644B7EF6E103}"/>
              </a:ext>
            </a:extLst>
          </p:cNvPr>
          <p:cNvGraphicFramePr>
            <a:graphicFrameLocks noGrp="1"/>
          </p:cNvGraphicFramePr>
          <p:nvPr>
            <p:extLst>
              <p:ext uri="{D42A27DB-BD31-4B8C-83A1-F6EECF244321}">
                <p14:modId xmlns:p14="http://schemas.microsoft.com/office/powerpoint/2010/main" val="4007661067"/>
              </p:ext>
            </p:extLst>
          </p:nvPr>
        </p:nvGraphicFramePr>
        <p:xfrm>
          <a:off x="273680" y="199342"/>
          <a:ext cx="14320144" cy="12419378"/>
        </p:xfrm>
        <a:graphic>
          <a:graphicData uri="http://schemas.openxmlformats.org/drawingml/2006/table">
            <a:tbl>
              <a:tblPr>
                <a:tableStyleId>{3B4B98B0-60AC-42C2-AFA5-B58CD77FA1E5}</a:tableStyleId>
              </a:tblPr>
              <a:tblGrid>
                <a:gridCol w="571857">
                  <a:extLst>
                    <a:ext uri="{9D8B030D-6E8A-4147-A177-3AD203B41FA5}">
                      <a16:colId xmlns:a16="http://schemas.microsoft.com/office/drawing/2014/main" val="1957366712"/>
                    </a:ext>
                  </a:extLst>
                </a:gridCol>
                <a:gridCol w="3922730">
                  <a:extLst>
                    <a:ext uri="{9D8B030D-6E8A-4147-A177-3AD203B41FA5}">
                      <a16:colId xmlns:a16="http://schemas.microsoft.com/office/drawing/2014/main" val="4243764253"/>
                    </a:ext>
                  </a:extLst>
                </a:gridCol>
                <a:gridCol w="4983189">
                  <a:extLst>
                    <a:ext uri="{9D8B030D-6E8A-4147-A177-3AD203B41FA5}">
                      <a16:colId xmlns:a16="http://schemas.microsoft.com/office/drawing/2014/main" val="3095149370"/>
                    </a:ext>
                  </a:extLst>
                </a:gridCol>
                <a:gridCol w="1929853">
                  <a:extLst>
                    <a:ext uri="{9D8B030D-6E8A-4147-A177-3AD203B41FA5}">
                      <a16:colId xmlns:a16="http://schemas.microsoft.com/office/drawing/2014/main" val="4147610941"/>
                    </a:ext>
                  </a:extLst>
                </a:gridCol>
                <a:gridCol w="1208264">
                  <a:extLst>
                    <a:ext uri="{9D8B030D-6E8A-4147-A177-3AD203B41FA5}">
                      <a16:colId xmlns:a16="http://schemas.microsoft.com/office/drawing/2014/main" val="12889543"/>
                    </a:ext>
                  </a:extLst>
                </a:gridCol>
                <a:gridCol w="1704251">
                  <a:extLst>
                    <a:ext uri="{9D8B030D-6E8A-4147-A177-3AD203B41FA5}">
                      <a16:colId xmlns:a16="http://schemas.microsoft.com/office/drawing/2014/main" val="3947205104"/>
                    </a:ext>
                  </a:extLst>
                </a:gridCol>
              </a:tblGrid>
              <a:tr h="717631">
                <a:tc>
                  <a:txBody>
                    <a:bodyPr/>
                    <a:lstStyle/>
                    <a:p>
                      <a:pPr algn="ctr" fontAlgn="b">
                        <a:buNone/>
                      </a:pPr>
                      <a:r>
                        <a:rPr lang="en-GB" sz="2000" b="1" i="0" u="none" strike="noStrike" dirty="0">
                          <a:solidFill>
                            <a:srgbClr val="000000"/>
                          </a:solidFill>
                          <a:effectLst/>
                          <a:latin typeface="Fira Sans" panose="020B0503050000020004" pitchFamily="34" charset="0"/>
                        </a:rPr>
                        <a: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Agenda Item</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Detail</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Duration</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a:solidFill>
                            <a:srgbClr val="000000"/>
                          </a:solidFill>
                          <a:effectLst/>
                          <a:latin typeface="Fira Sans" panose="020B0503050000020004" pitchFamily="34" charset="0"/>
                        </a:rPr>
                        <a:t>Start</a:t>
                      </a: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fontAlgn="b">
                        <a:buNone/>
                      </a:pPr>
                      <a:r>
                        <a:rPr lang="en-GB" sz="2000" b="1" i="0" u="none" strike="noStrike" dirty="0">
                          <a:solidFill>
                            <a:srgbClr val="000000"/>
                          </a:solidFill>
                          <a:effectLst/>
                          <a:latin typeface="Fira Sans" panose="020B0503050000020004" pitchFamily="34" charset="0"/>
                        </a:rPr>
                        <a:t>Finish</a:t>
                      </a: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7882317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Executive Summary</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Key findings </a:t>
                      </a:r>
                    </a:p>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Scope and recommendation up front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314335"/>
                  </a:ext>
                </a:extLst>
              </a:tr>
              <a:tr h="1082107">
                <a:tc>
                  <a:txBody>
                    <a:bodyPr/>
                    <a:lstStyle/>
                    <a:p>
                      <a:pPr algn="ctr" fontAlgn="b">
                        <a:buNone/>
                      </a:pPr>
                      <a:r>
                        <a:rPr lang="en-GB" sz="2000" b="0" i="0" u="none" strike="noStrike">
                          <a:solidFill>
                            <a:srgbClr val="000000"/>
                          </a:solidFill>
                          <a:effectLst/>
                          <a:latin typeface="Fira Sans" panose="020B0503050000020004" pitchFamily="34" charset="0"/>
                        </a:rPr>
                        <a:t>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Why Cloud? Why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Business drivers and case for acting now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0945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3607903"/>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3</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Your Estate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Discovery applications databases</a:t>
                      </a:r>
                    </a:p>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Workshops and gaps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0376427"/>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4</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Cost Comparison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Methodology comparison </a:t>
                      </a:r>
                    </a:p>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Oracle paths and Complete View</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1045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62836278"/>
                  </a:ext>
                </a:extLst>
              </a:tr>
              <a:tr h="1336718">
                <a:tc>
                  <a:txBody>
                    <a:bodyPr/>
                    <a:lstStyle/>
                    <a:p>
                      <a:pPr algn="ctr" fontAlgn="b">
                        <a:buNone/>
                      </a:pPr>
                      <a:r>
                        <a:rPr lang="en-GB" sz="2000" b="0" i="0" u="none" strike="noStrike">
                          <a:solidFill>
                            <a:srgbClr val="000000"/>
                          </a:solidFill>
                          <a:effectLst/>
                          <a:latin typeface="Fira Sans" panose="020B0503050000020004" pitchFamily="34" charset="0"/>
                        </a:rPr>
                        <a:t>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algn="ctr" fontAlgn="b">
                        <a:buNone/>
                      </a:pPr>
                      <a:r>
                        <a:rPr lang="en-GB" sz="2000" b="0" i="0" u="none" strike="noStrike" dirty="0">
                          <a:solidFill>
                            <a:srgbClr val="000000"/>
                          </a:solidFill>
                          <a:effectLst/>
                          <a:latin typeface="Fira Sans" panose="020B0503050000020004" pitchFamily="34" charset="0"/>
                        </a:rPr>
                        <a:t>BREAK</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l" fontAlgn="b">
                        <a:buNone/>
                      </a:pPr>
                      <a:endParaRPr lang="en-GB" sz="1100" b="0" i="0" u="none" strike="noStrike" dirty="0">
                        <a:solidFill>
                          <a:srgbClr val="000000"/>
                        </a:solidFill>
                        <a:effectLst/>
                        <a:latin typeface="Aptos Narrow" panose="020B0004020202020204" pitchFamily="34" charset="0"/>
                      </a:endParaRPr>
                    </a:p>
                  </a:txBody>
                  <a:tcPr marL="9525" marR="9525" marT="9525" marB="0" anchor="b">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3316567"/>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6</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Business &amp; Application Fit</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Technical constraints cohorts and co-migration groups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7907653"/>
                  </a:ext>
                </a:extLst>
              </a:tr>
              <a:tr h="1156522">
                <a:tc>
                  <a:txBody>
                    <a:bodyPr/>
                    <a:lstStyle/>
                    <a:p>
                      <a:pPr algn="ctr" fontAlgn="b">
                        <a:buNone/>
                      </a:pPr>
                      <a:r>
                        <a:rPr lang="en-GB" sz="2000" b="0" i="0" u="none" strike="noStrike">
                          <a:solidFill>
                            <a:srgbClr val="000000"/>
                          </a:solidFill>
                          <a:effectLst/>
                          <a:latin typeface="Fira Sans" panose="020B0503050000020004" pitchFamily="34" charset="0"/>
                        </a:rPr>
                        <a:t>7</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Hyperscaler Recommendation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Scoring Why AWS platform comparison and decision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1145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302280"/>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8</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Customer Readiness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Readiness scores and closing the gap</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1215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32503768"/>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9</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Challenges &amp;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Paired challenges and quantified and strategic opportunities</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15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1225</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8347825"/>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Moving Forward and Part 2</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Decisions needed </a:t>
                      </a:r>
                    </a:p>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Phase 2 scope timeline and </a:t>
                      </a:r>
                      <a:r>
                        <a:rPr lang="en-GB" sz="2000" b="0" i="0" u="none" strike="noStrike" dirty="0" err="1">
                          <a:solidFill>
                            <a:srgbClr val="000000"/>
                          </a:solidFill>
                          <a:effectLst/>
                          <a:latin typeface="Fira Sans" panose="020B0503050000020004" pitchFamily="34" charset="0"/>
                        </a:rPr>
                        <a:t>hyperscaler</a:t>
                      </a:r>
                      <a:r>
                        <a:rPr lang="en-GB" sz="2000" b="0" i="0" u="none" strike="noStrike" dirty="0">
                          <a:solidFill>
                            <a:srgbClr val="000000"/>
                          </a:solidFill>
                          <a:effectLst/>
                          <a:latin typeface="Fira Sans" panose="020B0503050000020004" pitchFamily="34" charset="0"/>
                        </a:rPr>
                        <a:t> guidance</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20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1240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2492214"/>
                  </a:ext>
                </a:extLst>
              </a:tr>
              <a:tr h="938860">
                <a:tc>
                  <a:txBody>
                    <a:bodyPr/>
                    <a:lstStyle/>
                    <a:p>
                      <a:pPr algn="ctr" fontAlgn="b">
                        <a:buNone/>
                      </a:pPr>
                      <a:r>
                        <a:rPr lang="en-GB" sz="2000" b="0" i="0" u="none" strike="noStrike">
                          <a:solidFill>
                            <a:srgbClr val="000000"/>
                          </a:solidFill>
                          <a:effectLst/>
                          <a:latin typeface="Fira Sans" panose="020B0503050000020004" pitchFamily="34" charset="0"/>
                        </a:rPr>
                        <a:t>11</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Working Discussion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Agree platform direction </a:t>
                      </a:r>
                    </a:p>
                    <a:p>
                      <a:pPr marL="342900" indent="-342900" algn="l" fontAlgn="b">
                        <a:buFont typeface="Aktiv Grotesk" panose="020B0604020202020204" pitchFamily="34" charset="0"/>
                        <a:buChar char="•"/>
                      </a:pPr>
                      <a:r>
                        <a:rPr lang="en-GB" sz="2000" b="0" i="0" u="none" strike="noStrike" dirty="0">
                          <a:solidFill>
                            <a:srgbClr val="000000"/>
                          </a:solidFill>
                          <a:effectLst/>
                          <a:latin typeface="Fira Sans" panose="020B0503050000020004" pitchFamily="34" charset="0"/>
                        </a:rPr>
                        <a:t>Oracle path and Phase 2 go/no-go</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30 min</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a:solidFill>
                            <a:srgbClr val="000000"/>
                          </a:solidFill>
                          <a:effectLst/>
                          <a:latin typeface="Fira Sans" panose="020B0503050000020004" pitchFamily="34" charset="0"/>
                        </a:rPr>
                        <a:t>1300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buNone/>
                      </a:pPr>
                      <a:r>
                        <a:rPr lang="en-GB" sz="2000" b="0" i="0" u="none" strike="noStrike" dirty="0">
                          <a:solidFill>
                            <a:srgbClr val="000000"/>
                          </a:solidFill>
                          <a:effectLst/>
                          <a:latin typeface="Fira Sans" panose="020B0503050000020004" pitchFamily="34" charset="0"/>
                        </a:rPr>
                        <a:t>1330</a:t>
                      </a:r>
                    </a:p>
                  </a:txBody>
                  <a:tcPr marL="9525" marR="9525" marT="9525"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410395"/>
                  </a:ext>
                </a:extLst>
              </a:tr>
            </a:tbl>
          </a:graphicData>
        </a:graphic>
      </p:graphicFrame>
      <p:pic>
        <p:nvPicPr>
          <p:cNvPr id="9" name="Picture 8"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817690726"/>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14:presetBounceEnd="50000">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14:bounceEnd="50000">
                                          <p:cBhvr additive="base">
                                            <p:cTn id="7" dur="500" fill="hold"/>
                                            <p:tgtEl>
                                              <p:spTgt spid="6"/>
                                            </p:tgtEl>
                                            <p:attrNameLst>
                                              <p:attrName>ppt_x</p:attrName>
                                            </p:attrNameLst>
                                          </p:cBhvr>
                                          <p:tavLst>
                                            <p:tav tm="0">
                                              <p:val>
                                                <p:strVal val="1+#ppt_w/2"/>
                                              </p:val>
                                            </p:tav>
                                            <p:tav tm="100000">
                                              <p:val>
                                                <p:strVal val="#ppt_x"/>
                                              </p:val>
                                            </p:tav>
                                          </p:tavLst>
                                        </p:anim>
                                        <p:anim calcmode="lin" valueType="num" p14:bounceEnd="50000">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1+#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5B76263-DCD2-0B78-B135-9C8C642516C8}"/>
              </a:ext>
            </a:extLst>
          </p:cNvPr>
          <p:cNvSpPr>
            <a:spLocks noGrp="1"/>
          </p:cNvSpPr>
          <p:nvPr>
            <p:ph type="body" sz="quarter" idx="16"/>
          </p:nvPr>
        </p:nvSpPr>
        <p:spPr>
          <a:xfrm>
            <a:off x="6122839" y="3715469"/>
            <a:ext cx="11160126" cy="4200146"/>
          </a:xfrm>
        </p:spPr>
        <p:txBody>
          <a:bodyPr anchor="ctr"/>
          <a:lstStyle/>
          <a:p>
            <a:pPr algn="ctr"/>
            <a:r>
              <a:rPr lang="en-GB" b="1" dirty="0">
                <a:latin typeface="Fira Sans Light" panose="020B0403050000020004" pitchFamily="34" charset="0"/>
              </a:rPr>
              <a:t>Executive Summary</a:t>
            </a:r>
            <a:endParaRPr lang="en-GB" b="1" noProof="0" dirty="0">
              <a:latin typeface="Fira Sans Light" panose="020B0403050000020004" pitchFamily="34" charset="0"/>
            </a:endParaRP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99707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0D3A2-084B-1C0B-557F-2B9B5DFB840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5AD6E4-345D-9699-59E5-18727FB7BC5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4</a:t>
            </a:fld>
            <a:endParaRPr lang="en-GB" noProof="0"/>
          </a:p>
        </p:txBody>
      </p:sp>
      <p:pic>
        <p:nvPicPr>
          <p:cNvPr id="5" name="Content Placeholder 7" descr="Two business people communicating and sharing">
            <a:extLst>
              <a:ext uri="{FF2B5EF4-FFF2-40B4-BE49-F238E27FC236}">
                <a16:creationId xmlns:a16="http://schemas.microsoft.com/office/drawing/2014/main" id="{DA20ACD7-FFA4-50DE-C432-9A7E01C6601A}"/>
              </a:ext>
            </a:extLst>
          </p:cNvPr>
          <p:cNvPicPr>
            <a:picLocks noChangeAspect="1"/>
          </p:cNvPicPr>
          <p:nvPr/>
        </p:nvPicPr>
        <p:blipFill>
          <a:blip r:embed="rId3"/>
          <a:srcRect l="20785" r="9942" b="-2"/>
          <a:stretch>
            <a:fillRect/>
          </a:stretch>
        </p:blipFill>
        <p:spPr>
          <a:xfrm>
            <a:off x="862164" y="3683266"/>
            <a:ext cx="7333475" cy="7066509"/>
          </a:xfrm>
          <a:prstGeom prst="roundRect">
            <a:avLst/>
          </a:prstGeom>
        </p:spPr>
      </p:pic>
      <p:sp>
        <p:nvSpPr>
          <p:cNvPr id="7" name="TextBox 6">
            <a:extLst>
              <a:ext uri="{FF2B5EF4-FFF2-40B4-BE49-F238E27FC236}">
                <a16:creationId xmlns:a16="http://schemas.microsoft.com/office/drawing/2014/main" id="{0F49FBC7-B939-C8C7-0AFB-C344129424B2}"/>
              </a:ext>
            </a:extLst>
          </p:cNvPr>
          <p:cNvSpPr txBox="1"/>
          <p:nvPr/>
        </p:nvSpPr>
        <p:spPr>
          <a:xfrm>
            <a:off x="9198864" y="3319294"/>
            <a:ext cx="12527280" cy="9110186"/>
          </a:xfrm>
          <a:prstGeom prst="rect">
            <a:avLst/>
          </a:prstGeom>
          <a:noFill/>
        </p:spPr>
        <p:txBody>
          <a:bodyPr wrap="square" rtlCol="0">
            <a:spAutoFit/>
          </a:bodyPr>
          <a:lstStyle/>
          <a:p>
            <a:pPr>
              <a:spcBef>
                <a:spcPts val="2500"/>
              </a:spcBef>
            </a:pPr>
            <a:r>
              <a:rPr lang="en-GB" sz="2400" b="1" dirty="0"/>
              <a:t>What this assessment does</a:t>
            </a:r>
          </a:p>
          <a:p>
            <a:pPr marL="285750" indent="-285750">
              <a:spcBef>
                <a:spcPts val="2500"/>
              </a:spcBef>
              <a:buFont typeface="Aktiv Grotesk" panose="020B0604020202020204" pitchFamily="34" charset="0"/>
              <a:buChar char="•"/>
            </a:pPr>
            <a:r>
              <a:rPr lang="en-GB" sz="2400" dirty="0"/>
              <a:t>Provides an evidence‑based view of cloud suitability for the in‑scope estate</a:t>
            </a:r>
          </a:p>
          <a:p>
            <a:pPr marL="285750" indent="-285750">
              <a:spcBef>
                <a:spcPts val="2500"/>
              </a:spcBef>
              <a:buFont typeface="Aktiv Grotesk" panose="020B0604020202020204" pitchFamily="34" charset="0"/>
              <a:buChar char="•"/>
            </a:pPr>
            <a:r>
              <a:rPr lang="en-GB" sz="2400" dirty="0"/>
              <a:t>Compares AWS, Azure, and GCP using the same source data and live pricing</a:t>
            </a:r>
          </a:p>
          <a:p>
            <a:pPr marL="285750" indent="-285750">
              <a:spcBef>
                <a:spcPts val="2500"/>
              </a:spcBef>
              <a:buFont typeface="Aktiv Grotesk" panose="020B0604020202020204" pitchFamily="34" charset="0"/>
              <a:buChar char="•"/>
            </a:pPr>
            <a:r>
              <a:rPr lang="en-GB" sz="2400" dirty="0"/>
              <a:t>Identifies material technical constraints, cost drivers, and readiness gaps</a:t>
            </a:r>
          </a:p>
          <a:p>
            <a:pPr marL="285750" indent="-285750">
              <a:spcBef>
                <a:spcPts val="2500"/>
              </a:spcBef>
              <a:buFont typeface="Aktiv Grotesk" panose="020B0604020202020204" pitchFamily="34" charset="0"/>
              <a:buChar char="•"/>
            </a:pPr>
            <a:r>
              <a:rPr lang="en-GB" sz="2400" dirty="0"/>
              <a:t>Reaches a primary platform recommendation</a:t>
            </a:r>
          </a:p>
          <a:p>
            <a:pPr>
              <a:spcBef>
                <a:spcPts val="2500"/>
              </a:spcBef>
            </a:pPr>
            <a:r>
              <a:rPr lang="en-GB" sz="2400" b="1" dirty="0"/>
              <a:t>What this assessment deliberately does not do</a:t>
            </a:r>
          </a:p>
          <a:p>
            <a:pPr marL="285750" indent="-285750">
              <a:spcBef>
                <a:spcPts val="2500"/>
              </a:spcBef>
              <a:buFont typeface="Aktiv Grotesk" panose="020B0604020202020204" pitchFamily="34" charset="0"/>
              <a:buChar char="•"/>
            </a:pPr>
            <a:r>
              <a:rPr lang="en-GB" sz="2400" dirty="0"/>
              <a:t>Estimate migration execution cost or a Year‑1 financial outcome</a:t>
            </a:r>
          </a:p>
          <a:p>
            <a:pPr marL="285750" indent="-285750">
              <a:spcBef>
                <a:spcPts val="2500"/>
              </a:spcBef>
              <a:buFont typeface="Aktiv Grotesk" panose="020B0604020202020204" pitchFamily="34" charset="0"/>
              <a:buChar char="•"/>
            </a:pPr>
            <a:r>
              <a:rPr lang="en-GB" sz="2400" dirty="0"/>
              <a:t>Produce a final application‑by‑application migration plan</a:t>
            </a:r>
          </a:p>
          <a:p>
            <a:pPr marL="285750" indent="-285750">
              <a:spcBef>
                <a:spcPts val="2500"/>
              </a:spcBef>
              <a:buFont typeface="Aktiv Grotesk" panose="020B0604020202020204" pitchFamily="34" charset="0"/>
              <a:buChar char="•"/>
            </a:pPr>
            <a:r>
              <a:rPr lang="en-GB" sz="2400" dirty="0"/>
              <a:t>Design a landing zone or target security architecture</a:t>
            </a:r>
          </a:p>
          <a:p>
            <a:pPr marL="285750" indent="-285750">
              <a:spcBef>
                <a:spcPts val="2500"/>
              </a:spcBef>
              <a:buFont typeface="Aktiv Grotesk" panose="020B0604020202020204" pitchFamily="34" charset="0"/>
              <a:buChar char="•"/>
            </a:pPr>
            <a:r>
              <a:rPr lang="en-GB" sz="2400" dirty="0"/>
              <a:t>Decide long‑term Oracle modernisation</a:t>
            </a:r>
          </a:p>
          <a:p>
            <a:pPr>
              <a:spcBef>
                <a:spcPts val="2500"/>
              </a:spcBef>
            </a:pPr>
            <a:r>
              <a:rPr lang="en-GB" sz="2400" b="1" dirty="0"/>
              <a:t>Why those boundaries matter</a:t>
            </a:r>
          </a:p>
          <a:p>
            <a:pPr marL="285750" indent="-285750">
              <a:spcBef>
                <a:spcPts val="2500"/>
              </a:spcBef>
              <a:buFont typeface="Aktiv Grotesk" panose="020B0604020202020204" pitchFamily="34" charset="0"/>
              <a:buChar char="•"/>
            </a:pPr>
            <a:r>
              <a:rPr lang="en-GB" sz="2400" dirty="0"/>
              <a:t>These boundaries let us give you a clear platform direction today without forcing design, cost, or database decisions that belong later.</a:t>
            </a:r>
          </a:p>
          <a:p>
            <a:pPr marL="285750" indent="-285750">
              <a:spcBef>
                <a:spcPts val="2500"/>
              </a:spcBef>
              <a:buFont typeface="Aktiv Grotesk" panose="020B0604020202020204" pitchFamily="34" charset="0"/>
              <a:buChar char="•"/>
            </a:pPr>
            <a:r>
              <a:rPr lang="en-GB" sz="2400" dirty="0"/>
              <a:t>Detailed sequencing, design, and planning follow once platform direction is agreed.</a:t>
            </a:r>
            <a:endParaRPr lang="en-US" dirty="0"/>
          </a:p>
        </p:txBody>
      </p:sp>
      <p:sp>
        <p:nvSpPr>
          <p:cNvPr id="10" name="TextBox 9">
            <a:extLst>
              <a:ext uri="{FF2B5EF4-FFF2-40B4-BE49-F238E27FC236}">
                <a16:creationId xmlns:a16="http://schemas.microsoft.com/office/drawing/2014/main" id="{8DB83E1D-32A4-5CC2-01F5-208E0A34306B}"/>
              </a:ext>
            </a:extLst>
          </p:cNvPr>
          <p:cNvSpPr txBox="1"/>
          <p:nvPr/>
        </p:nvSpPr>
        <p:spPr>
          <a:xfrm>
            <a:off x="406009" y="473476"/>
            <a:ext cx="10434267"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What this assessment covers</a:t>
            </a:r>
          </a:p>
        </p:txBody>
      </p:sp>
      <p:pic>
        <p:nvPicPr>
          <p:cNvPr id="11" name="Picture 10"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5011314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DA296-A97F-D0ED-169B-5C97CF43DF7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7E8F2-DFF6-64D7-101B-DE789A633958}"/>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5</a:t>
            </a:fld>
            <a:endParaRPr lang="en-GB" noProof="0"/>
          </a:p>
        </p:txBody>
      </p:sp>
      <p:sp>
        <p:nvSpPr>
          <p:cNvPr id="4" name="TextBox 3">
            <a:extLst>
              <a:ext uri="{FF2B5EF4-FFF2-40B4-BE49-F238E27FC236}">
                <a16:creationId xmlns:a16="http://schemas.microsoft.com/office/drawing/2014/main" id="{01706005-CBDB-2C90-A769-B50096904A82}"/>
              </a:ext>
            </a:extLst>
          </p:cNvPr>
          <p:cNvSpPr txBox="1"/>
          <p:nvPr/>
        </p:nvSpPr>
        <p:spPr>
          <a:xfrm>
            <a:off x="406009" y="473476"/>
            <a:ext cx="5888150"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Scope Summary</a:t>
            </a: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025F17D5-CA3C-940A-5CD3-3D08A25A9E14}"/>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sp>
        <p:nvSpPr>
          <p:cNvPr id="6" name="TextBox 5">
            <a:extLst>
              <a:ext uri="{FF2B5EF4-FFF2-40B4-BE49-F238E27FC236}">
                <a16:creationId xmlns:a16="http://schemas.microsoft.com/office/drawing/2014/main" id="{354FA8DB-1B72-3A09-FC03-8E9E1BFA6B72}"/>
              </a:ext>
            </a:extLst>
          </p:cNvPr>
          <p:cNvSpPr txBox="1"/>
          <p:nvPr/>
        </p:nvSpPr>
        <p:spPr>
          <a:xfrm>
            <a:off x="8958167" y="3210231"/>
            <a:ext cx="13990320" cy="6740307"/>
          </a:xfrm>
          <a:prstGeom prst="rect">
            <a:avLst/>
          </a:prstGeom>
          <a:noFill/>
        </p:spPr>
        <p:txBody>
          <a:bodyPr wrap="square" rtlCol="0">
            <a:spAutoFit/>
          </a:bodyPr>
          <a:lstStyle/>
          <a:p>
            <a:r>
              <a:rPr lang="en-GB" sz="3600" b="1" dirty="0"/>
              <a:t>3 datacentres </a:t>
            </a:r>
            <a:r>
              <a:rPr lang="en-GB" sz="3600" dirty="0"/>
              <a:t>Reading, Slough, Sydney</a:t>
            </a:r>
          </a:p>
          <a:p>
            <a:endParaRPr lang="en-GB" sz="3600" dirty="0"/>
          </a:p>
          <a:p>
            <a:r>
              <a:rPr lang="en-GB" sz="3600" b="1" dirty="0"/>
              <a:t>3,038 servers </a:t>
            </a:r>
            <a:r>
              <a:rPr lang="en-GB" sz="3600" dirty="0"/>
              <a:t>discovered and independently priced</a:t>
            </a:r>
          </a:p>
          <a:p>
            <a:endParaRPr lang="en-GB" sz="3600" dirty="0"/>
          </a:p>
          <a:p>
            <a:r>
              <a:rPr lang="en-GB" sz="3600" b="1" dirty="0"/>
              <a:t>39 applications </a:t>
            </a:r>
            <a:r>
              <a:rPr lang="en-GB" sz="3600" dirty="0"/>
              <a:t>profiled across 9 workshops</a:t>
            </a:r>
          </a:p>
          <a:p>
            <a:endParaRPr lang="en-GB" sz="3600" dirty="0"/>
          </a:p>
          <a:p>
            <a:r>
              <a:rPr lang="en-GB" sz="3600" b="1" dirty="0"/>
              <a:t>88 databases </a:t>
            </a:r>
            <a:r>
              <a:rPr lang="en-GB" sz="3600" dirty="0"/>
              <a:t>Oracle and SQL Server assessed</a:t>
            </a:r>
          </a:p>
          <a:p>
            <a:endParaRPr lang="en-GB" sz="3600" dirty="0"/>
          </a:p>
          <a:p>
            <a:r>
              <a:rPr lang="en-GB" sz="3600" b="1" dirty="0"/>
              <a:t>3 clouds </a:t>
            </a:r>
            <a:r>
              <a:rPr lang="en-GB" sz="3600" dirty="0"/>
              <a:t>compared using live pricing APIs</a:t>
            </a:r>
          </a:p>
          <a:p>
            <a:endParaRPr lang="en-GB" sz="3600" b="1" dirty="0"/>
          </a:p>
          <a:p>
            <a:r>
              <a:rPr lang="en-GB" sz="3600" b="1" dirty="0"/>
              <a:t>5 infrastructure types </a:t>
            </a:r>
            <a:r>
              <a:rPr lang="en-GB" sz="3600" dirty="0"/>
              <a:t>VMware, Proxmox, physical, appliance, cloud</a:t>
            </a:r>
          </a:p>
        </p:txBody>
      </p:sp>
      <p:pic>
        <p:nvPicPr>
          <p:cNvPr id="7" name="Picture 6"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838453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A508-7446-F91B-2C3E-6812722699A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4CB36C3-E41D-02CD-71EB-F5547CE41A5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6</a:t>
            </a:fld>
            <a:endParaRPr lang="en-GB" noProof="0"/>
          </a:p>
        </p:txBody>
      </p:sp>
      <p:sp>
        <p:nvSpPr>
          <p:cNvPr id="4" name="TextBox 3">
            <a:extLst>
              <a:ext uri="{FF2B5EF4-FFF2-40B4-BE49-F238E27FC236}">
                <a16:creationId xmlns:a16="http://schemas.microsoft.com/office/drawing/2014/main" id="{19060D72-9180-46BD-B82D-F1C6BC1DAFF1}"/>
              </a:ext>
            </a:extLst>
          </p:cNvPr>
          <p:cNvSpPr txBox="1"/>
          <p:nvPr/>
        </p:nvSpPr>
        <p:spPr>
          <a:xfrm>
            <a:off x="406009" y="473476"/>
            <a:ext cx="4613764" cy="1046440"/>
          </a:xfrm>
          <a:prstGeom prst="rect">
            <a:avLst/>
          </a:prstGeom>
          <a:noFill/>
        </p:spPr>
        <p:txBody>
          <a:bodyPr wrap="none" rtlCol="0">
            <a:spAutoFit/>
          </a:bodyPr>
          <a:lstStyle/>
          <a:p>
            <a:pPr algn="l"/>
            <a:r>
              <a:rPr lang="en-GB" sz="6200" noProof="0" dirty="0">
                <a:solidFill>
                  <a:srgbClr val="FF0000"/>
                </a:solidFill>
                <a:latin typeface="Fira Sans Light" panose="020B0403050000020004" pitchFamily="34" charset="0"/>
              </a:rPr>
              <a:t>Key Findings</a:t>
            </a:r>
          </a:p>
        </p:txBody>
      </p:sp>
      <p:sp>
        <p:nvSpPr>
          <p:cNvPr id="3" name="Content Placeholder 3">
            <a:extLst>
              <a:ext uri="{FF2B5EF4-FFF2-40B4-BE49-F238E27FC236}">
                <a16:creationId xmlns:a16="http://schemas.microsoft.com/office/drawing/2014/main" id="{978A4662-A97E-CABF-4174-13351A59134F}"/>
              </a:ext>
            </a:extLst>
          </p:cNvPr>
          <p:cNvSpPr txBox="1">
            <a:spLocks/>
          </p:cNvSpPr>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9004852" y="2902227"/>
            <a:ext cx="14709914" cy="9442174"/>
          </a:xfrm>
          <a:prstGeom prst="rect">
            <a:avLst/>
          </a:prstGeom>
        </p:spPr>
        <p:txBody>
          <a:bodyPr>
            <a:normAutofit fontScale="77500" lnSpcReduction="20000"/>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a:lstStyle>
          <a:p>
            <a:pPr marL="0" indent="0">
              <a:spcBef>
                <a:spcPts val="2500"/>
              </a:spcBef>
              <a:buNone/>
            </a:pPr>
            <a:r>
              <a:rPr lang="en-GB" b="1" dirty="0">
                <a:latin typeface="+mj-lt"/>
              </a:rPr>
              <a:t>Doing nothing is no longer a safe or cheap option</a:t>
            </a:r>
          </a:p>
          <a:p>
            <a:pPr marL="0" indent="0">
              <a:spcBef>
                <a:spcPts val="2500"/>
              </a:spcBef>
              <a:buNone/>
            </a:pPr>
            <a:r>
              <a:rPr lang="en-GB" dirty="0">
                <a:latin typeface="+mj-lt"/>
              </a:rPr>
              <a:t>Datacentre leases, VMware licensing changes, and the Microsoft EA all come up for renewal within the next two years. If decisions are delayed, you still end up making commitments - just through renewals rather than by choice.</a:t>
            </a:r>
          </a:p>
          <a:p>
            <a:pPr marL="0" indent="0">
              <a:spcBef>
                <a:spcPts val="2500"/>
              </a:spcBef>
              <a:buNone/>
            </a:pPr>
            <a:r>
              <a:rPr lang="en-GB" b="1" dirty="0">
                <a:latin typeface="+mj-lt"/>
              </a:rPr>
              <a:t>The evidence points to a clear primary cloud direction</a:t>
            </a:r>
          </a:p>
          <a:p>
            <a:pPr marL="0" indent="0">
              <a:spcBef>
                <a:spcPts val="2500"/>
              </a:spcBef>
              <a:buNone/>
            </a:pPr>
            <a:r>
              <a:rPr lang="en-GB" dirty="0">
                <a:latin typeface="+mj-lt"/>
              </a:rPr>
              <a:t>When cost, technical constraints, and operating realities are considered together, AWS is the platform that best fits the estate. GCP is retained where it already delivers clear value, and Azure carries a material cost premium without a matching benefit.</a:t>
            </a:r>
          </a:p>
          <a:p>
            <a:pPr marL="0" indent="0">
              <a:spcBef>
                <a:spcPts val="2500"/>
              </a:spcBef>
              <a:buNone/>
            </a:pPr>
            <a:r>
              <a:rPr lang="en-GB" b="1" dirty="0">
                <a:latin typeface="+mj-lt"/>
              </a:rPr>
              <a:t>Oracle is a major complexity, but not a blocker to deciding the platform</a:t>
            </a:r>
          </a:p>
          <a:p>
            <a:pPr marL="0" indent="0">
              <a:spcBef>
                <a:spcPts val="2500"/>
              </a:spcBef>
              <a:buNone/>
            </a:pPr>
            <a:r>
              <a:rPr lang="en-GB" dirty="0">
                <a:latin typeface="+mj-lt"/>
              </a:rPr>
              <a:t>Oracle behaves broadly the same across all three clouds. It affects migration sequencing and risk, but it does not change which cloud makes sense. That work is deliberately handled in Part 2 rather than being forced now.</a:t>
            </a:r>
          </a:p>
          <a:p>
            <a:pPr marL="0" indent="0">
              <a:spcBef>
                <a:spcPts val="2500"/>
              </a:spcBef>
              <a:buNone/>
            </a:pPr>
            <a:r>
              <a:rPr lang="en-GB" b="1" dirty="0">
                <a:latin typeface="+mj-lt"/>
              </a:rPr>
              <a:t>A defined next step is needed to remove the remaining uncertainty</a:t>
            </a:r>
          </a:p>
          <a:p>
            <a:pPr marL="0" indent="0">
              <a:spcBef>
                <a:spcPts val="2500"/>
              </a:spcBef>
              <a:buNone/>
            </a:pPr>
            <a:r>
              <a:rPr lang="en-GB" dirty="0">
                <a:latin typeface="+mj-lt"/>
              </a:rPr>
              <a:t>Part 2 is the point where application groupings, landing zone design, and a realistic datacentre exit plan are confirmed. It turns assessment findings into a plan you can act on.</a:t>
            </a:r>
            <a:endParaRPr lang="en-US" dirty="0">
              <a:latin typeface="+mj-lt"/>
            </a:endParaRPr>
          </a:p>
        </p:txBody>
      </p:sp>
      <p:pic>
        <p:nvPicPr>
          <p:cNvPr id="5" name="Content Placeholder 7" descr="Digital background depicting innovative technologies, data protection Internet technologies. Cloud computing digital concept">
            <a:extLst>
              <a:ext uri="{FF2B5EF4-FFF2-40B4-BE49-F238E27FC236}">
                <a16:creationId xmlns:a16="http://schemas.microsoft.com/office/drawing/2014/main" id="{968C5F60-8E07-36ED-44D3-FD3D0A3EEA08}"/>
              </a:ext>
            </a:extLst>
          </p:cNvPr>
          <p:cNvPicPr>
            <a:picLocks noChangeAspect="1"/>
          </p:cNvPicPr>
          <p:nvPr/>
        </p:nvPicPr>
        <p:blipFill>
          <a:blip r:embed="rId3"/>
          <a:srcRect l="18399" r="23225" b="-2"/>
          <a:stretch>
            <a:fillRect/>
          </a:stretch>
        </p:blipFill>
        <p:spPr>
          <a:xfrm>
            <a:off x="669234" y="2902227"/>
            <a:ext cx="7314589" cy="7048311"/>
          </a:xfrm>
          <a:prstGeom prst="roundRect">
            <a:avLst/>
          </a:prstGeom>
        </p:spPr>
      </p:pic>
      <p:pic>
        <p:nvPicPr>
          <p:cNvPr id="10" name="Picture 9" descr="image.png"/>
          <p:cNvPicPr>
            <a:picLocks noChangeAspect="1"/>
          </p:cNvPicPr>
          <p:nvPr/>
        </p:nvPicPr>
        <p:blipFill>
          <a:blip r:embed="rId4"/>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612447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anim calcmode="lin" valueType="num">
                                      <p:cBhvr>
                                        <p:cTn id="8" dur="250" fill="hold"/>
                                        <p:tgtEl>
                                          <p:spTgt spid="3"/>
                                        </p:tgtEl>
                                        <p:attrNameLst>
                                          <p:attrName>ppt_x</p:attrName>
                                        </p:attrNameLst>
                                      </p:cBhvr>
                                      <p:tavLst>
                                        <p:tav tm="0">
                                          <p:val>
                                            <p:strVal val="#ppt_x"/>
                                          </p:val>
                                        </p:tav>
                                        <p:tav tm="100000">
                                          <p:val>
                                            <p:strVal val="#ppt_x"/>
                                          </p:val>
                                        </p:tav>
                                      </p:tavLst>
                                    </p:anim>
                                    <p:anim calcmode="lin" valueType="num">
                                      <p:cBhvr>
                                        <p:cTn id="9"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06FCD-21C8-5969-65EE-03178501240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0ED3138-C58B-9099-47A5-E29757C156ED}"/>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Why Cloud?</a:t>
            </a:r>
          </a:p>
          <a:p>
            <a:pPr algn="ctr"/>
            <a:r>
              <a:rPr lang="en-GB" b="1" noProof="0">
                <a:latin typeface="Fira Sans Light" panose="020B0403050000020004" pitchFamily="34" charset="0"/>
              </a:rPr>
              <a:t>Why Now?</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795709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56E9E-E38E-76BF-FED2-F97DF72CDAB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3383BC3-0BFC-8FF5-0925-CE77135F0DA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8</a:t>
            </a:fld>
            <a:endParaRPr lang="en-GB" noProof="0"/>
          </a:p>
        </p:txBody>
      </p:sp>
      <p:sp>
        <p:nvSpPr>
          <p:cNvPr id="4" name="TextBox 3">
            <a:extLst>
              <a:ext uri="{FF2B5EF4-FFF2-40B4-BE49-F238E27FC236}">
                <a16:creationId xmlns:a16="http://schemas.microsoft.com/office/drawing/2014/main" id="{B29C3546-B392-CCE0-32E6-F3A79365E69F}"/>
              </a:ext>
            </a:extLst>
          </p:cNvPr>
          <p:cNvSpPr txBox="1"/>
          <p:nvPr/>
        </p:nvSpPr>
        <p:spPr>
          <a:xfrm>
            <a:off x="406009" y="473476"/>
            <a:ext cx="15971039" cy="1046440"/>
          </a:xfrm>
          <a:prstGeom prst="rect">
            <a:avLst/>
          </a:prstGeom>
          <a:noFill/>
        </p:spPr>
        <p:txBody>
          <a:bodyPr wrap="none" rtlCol="0">
            <a:spAutoFit/>
          </a:bodyPr>
          <a:lstStyle/>
          <a:p>
            <a:pPr algn="l"/>
            <a:r>
              <a:rPr lang="en-GB" sz="6200" noProof="0">
                <a:solidFill>
                  <a:srgbClr val="FF0000"/>
                </a:solidFill>
                <a:latin typeface="Fira Sans Light" panose="020B0403050000020004" pitchFamily="34" charset="0"/>
              </a:rPr>
              <a:t>Cloud Migration Business Drivers - Summary</a:t>
            </a:r>
          </a:p>
        </p:txBody>
      </p:sp>
      <p:grpSp>
        <p:nvGrpSpPr>
          <p:cNvPr id="96" name="Group 95">
            <a:extLst>
              <a:ext uri="{FF2B5EF4-FFF2-40B4-BE49-F238E27FC236}">
                <a16:creationId xmlns:a16="http://schemas.microsoft.com/office/drawing/2014/main" id="{0B42E0C7-EBFE-F550-0E4A-7490EF7EDE86}"/>
              </a:ext>
            </a:extLst>
          </p:cNvPr>
          <p:cNvGrpSpPr/>
          <p:nvPr/>
        </p:nvGrpSpPr>
        <p:grpSpPr>
          <a:xfrm>
            <a:off x="2738047" y="2976610"/>
            <a:ext cx="19017772" cy="8029597"/>
            <a:chOff x="2738047" y="2976610"/>
            <a:chExt cx="19017772" cy="8029597"/>
          </a:xfrm>
        </p:grpSpPr>
        <p:grpSp>
          <p:nvGrpSpPr>
            <p:cNvPr id="89" name="Group 88">
              <a:extLst>
                <a:ext uri="{FF2B5EF4-FFF2-40B4-BE49-F238E27FC236}">
                  <a16:creationId xmlns:a16="http://schemas.microsoft.com/office/drawing/2014/main" id="{10058904-4447-C0B3-2D5F-EEB0E1EDA3A1}"/>
                </a:ext>
              </a:extLst>
            </p:cNvPr>
            <p:cNvGrpSpPr/>
            <p:nvPr/>
          </p:nvGrpSpPr>
          <p:grpSpPr>
            <a:xfrm>
              <a:off x="2738047" y="2976610"/>
              <a:ext cx="19017772" cy="8029597"/>
              <a:chOff x="2738047" y="2976610"/>
              <a:chExt cx="19017772" cy="8029597"/>
            </a:xfrm>
          </p:grpSpPr>
          <p:sp>
            <p:nvSpPr>
              <p:cNvPr id="90" name="Freeform 89">
                <a:extLst>
                  <a:ext uri="{FF2B5EF4-FFF2-40B4-BE49-F238E27FC236}">
                    <a16:creationId xmlns:a16="http://schemas.microsoft.com/office/drawing/2014/main" id="{B9D2DE4F-6EE1-126E-27C8-6D05B04443A2}"/>
                  </a:ext>
                </a:extLst>
              </p:cNvPr>
              <p:cNvSpPr/>
              <p:nvPr/>
            </p:nvSpPr>
            <p:spPr>
              <a:xfrm>
                <a:off x="2738047" y="3670330"/>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Font typeface="Aktiv Grotesk" panose="020B0604020202020204" pitchFamily="34" charset="0"/>
                  <a:buChar char="•"/>
                </a:pPr>
                <a:r>
                  <a:rPr lang="en-GB" sz="4000" kern="1200" noProof="0">
                    <a:latin typeface="Fira Sans" panose="020B0503050000020004" pitchFamily="34" charset="0"/>
                  </a:rPr>
                  <a:t>Reduce complexity to scale operations and delivery speed</a:t>
                </a:r>
                <a:endParaRPr lang="en-GB" sz="4000" kern="1200" noProof="0"/>
              </a:p>
            </p:txBody>
          </p:sp>
          <p:sp>
            <p:nvSpPr>
              <p:cNvPr id="91" name="Freeform 90">
                <a:extLst>
                  <a:ext uri="{FF2B5EF4-FFF2-40B4-BE49-F238E27FC236}">
                    <a16:creationId xmlns:a16="http://schemas.microsoft.com/office/drawing/2014/main" id="{E7AFEF64-7E46-BE26-B412-E38AF5C1AB6C}"/>
                  </a:ext>
                </a:extLst>
              </p:cNvPr>
              <p:cNvSpPr/>
              <p:nvPr/>
            </p:nvSpPr>
            <p:spPr>
              <a:xfrm>
                <a:off x="3688935" y="2976610"/>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1. Standardisation + Simplification</a:t>
                </a:r>
                <a:endParaRPr lang="en-GB" sz="4000" kern="1200" noProof="0"/>
              </a:p>
            </p:txBody>
          </p:sp>
          <p:sp>
            <p:nvSpPr>
              <p:cNvPr id="92" name="Freeform 91">
                <a:extLst>
                  <a:ext uri="{FF2B5EF4-FFF2-40B4-BE49-F238E27FC236}">
                    <a16:creationId xmlns:a16="http://schemas.microsoft.com/office/drawing/2014/main" id="{D48ACF83-F044-A822-9F47-CBD1CD25A28B}"/>
                  </a:ext>
                </a:extLst>
              </p:cNvPr>
              <p:cNvSpPr/>
              <p:nvPr/>
            </p:nvSpPr>
            <p:spPr>
              <a:xfrm>
                <a:off x="2738047" y="6431463"/>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chemeClr val="bg2"/>
                  </a:buClr>
                  <a:buChar char="•"/>
                </a:pPr>
                <a:r>
                  <a:rPr lang="en-GB" sz="4000" kern="1200" noProof="0">
                    <a:latin typeface="Fira Sans" panose="020B0503050000020004" pitchFamily="34" charset="0"/>
                  </a:rPr>
                  <a:t>Remove low value work and create credible savings</a:t>
                </a:r>
              </a:p>
            </p:txBody>
          </p:sp>
          <p:sp>
            <p:nvSpPr>
              <p:cNvPr id="93" name="Freeform 92">
                <a:extLst>
                  <a:ext uri="{FF2B5EF4-FFF2-40B4-BE49-F238E27FC236}">
                    <a16:creationId xmlns:a16="http://schemas.microsoft.com/office/drawing/2014/main" id="{9F5F7E60-472F-EAED-17FC-2A021331DB18}"/>
                  </a:ext>
                </a:extLst>
              </p:cNvPr>
              <p:cNvSpPr/>
              <p:nvPr/>
            </p:nvSpPr>
            <p:spPr>
              <a:xfrm>
                <a:off x="3688935" y="5737743"/>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2. Productivity + Cost Optimisation</a:t>
                </a:r>
                <a:endParaRPr lang="en-GB" sz="4000" kern="1200" noProof="0"/>
              </a:p>
            </p:txBody>
          </p:sp>
          <p:sp>
            <p:nvSpPr>
              <p:cNvPr id="94" name="Freeform 93">
                <a:extLst>
                  <a:ext uri="{FF2B5EF4-FFF2-40B4-BE49-F238E27FC236}">
                    <a16:creationId xmlns:a16="http://schemas.microsoft.com/office/drawing/2014/main" id="{40660303-F59B-8CAC-9872-69DCB5A871FA}"/>
                  </a:ext>
                </a:extLst>
              </p:cNvPr>
              <p:cNvSpPr/>
              <p:nvPr/>
            </p:nvSpPr>
            <p:spPr>
              <a:xfrm>
                <a:off x="2738047" y="9192595"/>
                <a:ext cx="19017772" cy="1813612"/>
              </a:xfrm>
              <a:custGeom>
                <a:avLst/>
                <a:gdLst>
                  <a:gd name="csX0" fmla="*/ 0 w 19017772"/>
                  <a:gd name="csY0" fmla="*/ 0 h 1813612"/>
                  <a:gd name="csX1" fmla="*/ 19017772 w 19017772"/>
                  <a:gd name="csY1" fmla="*/ 0 h 1813612"/>
                  <a:gd name="csX2" fmla="*/ 19017772 w 19017772"/>
                  <a:gd name="csY2" fmla="*/ 1813612 h 1813612"/>
                  <a:gd name="csX3" fmla="*/ 0 w 19017772"/>
                  <a:gd name="csY3" fmla="*/ 1813612 h 1813612"/>
                  <a:gd name="csX4" fmla="*/ 0 w 19017772"/>
                  <a:gd name="csY4" fmla="*/ 0 h 1813612"/>
                </a:gdLst>
                <a:ahLst/>
                <a:cxnLst>
                  <a:cxn ang="0">
                    <a:pos x="csX0" y="csY0"/>
                  </a:cxn>
                  <a:cxn ang="0">
                    <a:pos x="csX1" y="csY1"/>
                  </a:cxn>
                  <a:cxn ang="0">
                    <a:pos x="csX2" y="csY2"/>
                  </a:cxn>
                  <a:cxn ang="0">
                    <a:pos x="csX3" y="csY3"/>
                  </a:cxn>
                  <a:cxn ang="0">
                    <a:pos x="csX4" y="csY4"/>
                  </a:cxn>
                </a:cxnLst>
                <a:rect l="l" t="t" r="r" b="b"/>
                <a:pathLst>
                  <a:path w="19017772" h="1813612">
                    <a:moveTo>
                      <a:pt x="0" y="0"/>
                    </a:moveTo>
                    <a:lnTo>
                      <a:pt x="19017772" y="0"/>
                    </a:lnTo>
                    <a:lnTo>
                      <a:pt x="19017772" y="1813612"/>
                    </a:lnTo>
                    <a:lnTo>
                      <a:pt x="0" y="1813612"/>
                    </a:lnTo>
                    <a:lnTo>
                      <a:pt x="0" y="0"/>
                    </a:lnTo>
                    <a:close/>
                  </a:path>
                </a:pathLst>
              </a:custGeom>
            </p:spPr>
            <p:style>
              <a:lnRef idx="2">
                <a:schemeClr val="accent1">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475990" tIns="978916" rIns="1475990" bIns="284480" numCol="1" spcCol="1270" anchor="t" anchorCtr="0">
                <a:noAutofit/>
              </a:bodyPr>
              <a:lstStyle/>
              <a:p>
                <a:pPr marL="285750" lvl="1" indent="-285750" algn="l" defTabSz="1778000">
                  <a:lnSpc>
                    <a:spcPct val="90000"/>
                  </a:lnSpc>
                  <a:spcBef>
                    <a:spcPct val="0"/>
                  </a:spcBef>
                  <a:spcAft>
                    <a:spcPct val="15000"/>
                  </a:spcAft>
                  <a:buClr>
                    <a:srgbClr val="FF0000"/>
                  </a:buClr>
                  <a:buSzTx/>
                  <a:buFont typeface="Aktiv Grotesk" panose="020B0604020202020204" pitchFamily="34" charset="0"/>
                  <a:buChar char="•"/>
                </a:pPr>
                <a:r>
                  <a:rPr lang="en-GB" sz="4000" kern="1200" noProof="0">
                    <a:latin typeface="Fira Sans" panose="020B0503050000020004" pitchFamily="34" charset="0"/>
                  </a:rPr>
                  <a:t>Reduce toil and improve customer experience</a:t>
                </a:r>
                <a:endParaRPr lang="en-GB" sz="4000" kern="1200" noProof="0"/>
              </a:p>
            </p:txBody>
          </p:sp>
          <p:sp>
            <p:nvSpPr>
              <p:cNvPr id="95" name="Freeform 94">
                <a:extLst>
                  <a:ext uri="{FF2B5EF4-FFF2-40B4-BE49-F238E27FC236}">
                    <a16:creationId xmlns:a16="http://schemas.microsoft.com/office/drawing/2014/main" id="{09C54406-E5BA-67F0-2A10-A26380053D2F}"/>
                  </a:ext>
                </a:extLst>
              </p:cNvPr>
              <p:cNvSpPr/>
              <p:nvPr/>
            </p:nvSpPr>
            <p:spPr>
              <a:xfrm>
                <a:off x="3688935" y="8498875"/>
                <a:ext cx="13312440" cy="1387440"/>
              </a:xfrm>
              <a:custGeom>
                <a:avLst/>
                <a:gdLst>
                  <a:gd name="csX0" fmla="*/ 0 w 13312440"/>
                  <a:gd name="csY0" fmla="*/ 231245 h 1387440"/>
                  <a:gd name="csX1" fmla="*/ 231245 w 13312440"/>
                  <a:gd name="csY1" fmla="*/ 0 h 1387440"/>
                  <a:gd name="csX2" fmla="*/ 13081195 w 13312440"/>
                  <a:gd name="csY2" fmla="*/ 0 h 1387440"/>
                  <a:gd name="csX3" fmla="*/ 13312440 w 13312440"/>
                  <a:gd name="csY3" fmla="*/ 231245 h 1387440"/>
                  <a:gd name="csX4" fmla="*/ 13312440 w 13312440"/>
                  <a:gd name="csY4" fmla="*/ 1156195 h 1387440"/>
                  <a:gd name="csX5" fmla="*/ 13081195 w 13312440"/>
                  <a:gd name="csY5" fmla="*/ 1387440 h 1387440"/>
                  <a:gd name="csX6" fmla="*/ 231245 w 13312440"/>
                  <a:gd name="csY6" fmla="*/ 1387440 h 1387440"/>
                  <a:gd name="csX7" fmla="*/ 0 w 13312440"/>
                  <a:gd name="csY7" fmla="*/ 1156195 h 1387440"/>
                  <a:gd name="csX8" fmla="*/ 0 w 13312440"/>
                  <a:gd name="csY8" fmla="*/ 231245 h 13874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312440" h="1387440">
                    <a:moveTo>
                      <a:pt x="0" y="231245"/>
                    </a:moveTo>
                    <a:cubicBezTo>
                      <a:pt x="0" y="103532"/>
                      <a:pt x="103532" y="0"/>
                      <a:pt x="231245" y="0"/>
                    </a:cubicBezTo>
                    <a:lnTo>
                      <a:pt x="13081195" y="0"/>
                    </a:lnTo>
                    <a:cubicBezTo>
                      <a:pt x="13208908" y="0"/>
                      <a:pt x="13312440" y="103532"/>
                      <a:pt x="13312440" y="231245"/>
                    </a:cubicBezTo>
                    <a:lnTo>
                      <a:pt x="13312440" y="1156195"/>
                    </a:lnTo>
                    <a:cubicBezTo>
                      <a:pt x="13312440" y="1283908"/>
                      <a:pt x="13208908" y="1387440"/>
                      <a:pt x="13081195" y="1387440"/>
                    </a:cubicBezTo>
                    <a:lnTo>
                      <a:pt x="231245" y="1387440"/>
                    </a:lnTo>
                    <a:cubicBezTo>
                      <a:pt x="103532" y="1387440"/>
                      <a:pt x="0" y="1283908"/>
                      <a:pt x="0" y="1156195"/>
                    </a:cubicBezTo>
                    <a:lnTo>
                      <a:pt x="0" y="231245"/>
                    </a:lnTo>
                    <a:close/>
                  </a:path>
                </a:pathLst>
              </a:custGeom>
              <a:solidFill>
                <a:srgbClr val="FF000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70908" tIns="67729" rIns="570908" bIns="67729" numCol="1" spcCol="1270" anchor="ctr" anchorCtr="0">
                <a:noAutofit/>
              </a:bodyPr>
              <a:lstStyle/>
              <a:p>
                <a:pPr marL="0" lvl="0" indent="0" algn="l" defTabSz="1778000">
                  <a:lnSpc>
                    <a:spcPct val="90000"/>
                  </a:lnSpc>
                  <a:spcBef>
                    <a:spcPct val="0"/>
                  </a:spcBef>
                  <a:spcAft>
                    <a:spcPct val="35000"/>
                  </a:spcAft>
                  <a:buClrTx/>
                  <a:buSzTx/>
                  <a:buFontTx/>
                  <a:buNone/>
                </a:pPr>
                <a:r>
                  <a:rPr lang="en-GB" sz="4000" b="1" kern="1200" noProof="0">
                    <a:ln w="9525">
                      <a:noFill/>
                    </a:ln>
                    <a:latin typeface="Fira Sans" panose="020B0503050000020004" pitchFamily="34" charset="0"/>
                  </a:rPr>
                  <a:t>3. Automation + Workflow Optimisation</a:t>
                </a:r>
                <a:endParaRPr lang="en-GB" sz="4000" kern="1200" noProof="0"/>
              </a:p>
            </p:txBody>
          </p:sp>
        </p:grpSp>
        <p:grpSp>
          <p:nvGrpSpPr>
            <p:cNvPr id="6" name="Group 5">
              <a:extLst>
                <a:ext uri="{FF2B5EF4-FFF2-40B4-BE49-F238E27FC236}">
                  <a16:creationId xmlns:a16="http://schemas.microsoft.com/office/drawing/2014/main" id="{154818DD-5338-6E04-A119-FB793B13CA49}"/>
                </a:ext>
              </a:extLst>
            </p:cNvPr>
            <p:cNvGrpSpPr>
              <a:grpSpLocks noChangeAspect="1"/>
            </p:cNvGrpSpPr>
            <p:nvPr/>
          </p:nvGrpSpPr>
          <p:grpSpPr>
            <a:xfrm>
              <a:off x="15756890" y="5888757"/>
              <a:ext cx="1115894" cy="1115893"/>
              <a:chOff x="6686254" y="5435946"/>
              <a:chExt cx="781902" cy="781901"/>
            </a:xfrm>
          </p:grpSpPr>
          <p:sp>
            <p:nvSpPr>
              <p:cNvPr id="7" name="Freeform 137">
                <a:extLst>
                  <a:ext uri="{FF2B5EF4-FFF2-40B4-BE49-F238E27FC236}">
                    <a16:creationId xmlns:a16="http://schemas.microsoft.com/office/drawing/2014/main" id="{E009ADF8-5F9B-00D3-53CB-F00257FF9351}"/>
                  </a:ext>
                </a:extLst>
              </p:cNvPr>
              <p:cNvSpPr>
                <a:spLocks noChangeArrowheads="1"/>
              </p:cNvSpPr>
              <p:nvPr/>
            </p:nvSpPr>
            <p:spPr bwMode="auto">
              <a:xfrm>
                <a:off x="6686254" y="5435946"/>
                <a:ext cx="781902" cy="781901"/>
              </a:xfrm>
              <a:custGeom>
                <a:avLst/>
                <a:gdLst>
                  <a:gd name="T0" fmla="*/ 1467 w 1751"/>
                  <a:gd name="T1" fmla="*/ 1750 h 1751"/>
                  <a:gd name="T2" fmla="*/ 1750 w 1751"/>
                  <a:gd name="T3" fmla="*/ 1468 h 1751"/>
                  <a:gd name="T4" fmla="*/ 1750 w 1751"/>
                  <a:gd name="T5" fmla="*/ 283 h 1751"/>
                  <a:gd name="T6" fmla="*/ 1467 w 1751"/>
                  <a:gd name="T7" fmla="*/ 0 h 1751"/>
                  <a:gd name="T8" fmla="*/ 282 w 1751"/>
                  <a:gd name="T9" fmla="*/ 0 h 1751"/>
                  <a:gd name="T10" fmla="*/ 0 w 1751"/>
                  <a:gd name="T11" fmla="*/ 283 h 1751"/>
                  <a:gd name="T12" fmla="*/ 0 w 1751"/>
                  <a:gd name="T13" fmla="*/ 1468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8"/>
                    </a:cubicBezTo>
                    <a:cubicBezTo>
                      <a:pt x="1750" y="1073"/>
                      <a:pt x="1750" y="678"/>
                      <a:pt x="1750" y="283"/>
                    </a:cubicBezTo>
                    <a:cubicBezTo>
                      <a:pt x="1750" y="127"/>
                      <a:pt x="1623" y="0"/>
                      <a:pt x="1467" y="0"/>
                    </a:cubicBezTo>
                    <a:cubicBezTo>
                      <a:pt x="1072" y="0"/>
                      <a:pt x="677" y="0"/>
                      <a:pt x="282" y="0"/>
                    </a:cubicBezTo>
                    <a:cubicBezTo>
                      <a:pt x="127" y="0"/>
                      <a:pt x="0" y="127"/>
                      <a:pt x="0" y="283"/>
                    </a:cubicBezTo>
                    <a:cubicBezTo>
                      <a:pt x="0" y="678"/>
                      <a:pt x="0" y="1073"/>
                      <a:pt x="0" y="1468"/>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 name="Group 7">
                <a:extLst>
                  <a:ext uri="{FF2B5EF4-FFF2-40B4-BE49-F238E27FC236}">
                    <a16:creationId xmlns:a16="http://schemas.microsoft.com/office/drawing/2014/main" id="{9CFE47E8-1DC4-90C2-6C7B-3AA643DB07BD}"/>
                  </a:ext>
                </a:extLst>
              </p:cNvPr>
              <p:cNvGrpSpPr/>
              <p:nvPr/>
            </p:nvGrpSpPr>
            <p:grpSpPr>
              <a:xfrm>
                <a:off x="6826091" y="5573813"/>
                <a:ext cx="504198" cy="504198"/>
                <a:chOff x="6826091" y="5573813"/>
                <a:chExt cx="504198" cy="504198"/>
              </a:xfrm>
            </p:grpSpPr>
            <p:sp>
              <p:nvSpPr>
                <p:cNvPr id="9" name="Freeform 138">
                  <a:extLst>
                    <a:ext uri="{FF2B5EF4-FFF2-40B4-BE49-F238E27FC236}">
                      <a16:creationId xmlns:a16="http://schemas.microsoft.com/office/drawing/2014/main" id="{D4FC09E7-FA0A-1830-91C0-06F14678E344}"/>
                    </a:ext>
                  </a:extLst>
                </p:cNvPr>
                <p:cNvSpPr>
                  <a:spLocks noChangeArrowheads="1"/>
                </p:cNvSpPr>
                <p:nvPr/>
              </p:nvSpPr>
              <p:spPr bwMode="auto">
                <a:xfrm>
                  <a:off x="6826091" y="5573813"/>
                  <a:ext cx="504198" cy="504198"/>
                </a:xfrm>
                <a:custGeom>
                  <a:avLst/>
                  <a:gdLst>
                    <a:gd name="T0" fmla="*/ 1129 w 1130"/>
                    <a:gd name="T1" fmla="*/ 564 h 1130"/>
                    <a:gd name="T2" fmla="*/ 1054 w 1130"/>
                    <a:gd name="T3" fmla="*/ 846 h 1130"/>
                    <a:gd name="T4" fmla="*/ 847 w 1130"/>
                    <a:gd name="T5" fmla="*/ 1053 h 1130"/>
                    <a:gd name="T6" fmla="*/ 565 w 1130"/>
                    <a:gd name="T7" fmla="*/ 1129 h 1130"/>
                    <a:gd name="T8" fmla="*/ 283 w 1130"/>
                    <a:gd name="T9" fmla="*/ 1053 h 1130"/>
                    <a:gd name="T10" fmla="*/ 76 w 1130"/>
                    <a:gd name="T11" fmla="*/ 846 h 1130"/>
                    <a:gd name="T12" fmla="*/ 0 w 1130"/>
                    <a:gd name="T13" fmla="*/ 564 h 1130"/>
                    <a:gd name="T14" fmla="*/ 76 w 1130"/>
                    <a:gd name="T15" fmla="*/ 282 h 1130"/>
                    <a:gd name="T16" fmla="*/ 283 w 1130"/>
                    <a:gd name="T17" fmla="*/ 75 h 1130"/>
                    <a:gd name="T18" fmla="*/ 565 w 1130"/>
                    <a:gd name="T19" fmla="*/ 0 h 1130"/>
                    <a:gd name="T20" fmla="*/ 847 w 1130"/>
                    <a:gd name="T21" fmla="*/ 75 h 1130"/>
                    <a:gd name="T22" fmla="*/ 1054 w 1130"/>
                    <a:gd name="T23" fmla="*/ 282 h 1130"/>
                    <a:gd name="T24" fmla="*/ 1129 w 1130"/>
                    <a:gd name="T25" fmla="*/ 564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30" h="1130">
                      <a:moveTo>
                        <a:pt x="1129" y="564"/>
                      </a:moveTo>
                      <a:cubicBezTo>
                        <a:pt x="1129" y="668"/>
                        <a:pt x="1106" y="756"/>
                        <a:pt x="1054" y="846"/>
                      </a:cubicBezTo>
                      <a:cubicBezTo>
                        <a:pt x="1002" y="936"/>
                        <a:pt x="937" y="1001"/>
                        <a:pt x="847" y="1053"/>
                      </a:cubicBezTo>
                      <a:cubicBezTo>
                        <a:pt x="757" y="1105"/>
                        <a:pt x="669" y="1129"/>
                        <a:pt x="565" y="1129"/>
                      </a:cubicBezTo>
                      <a:cubicBezTo>
                        <a:pt x="461" y="1129"/>
                        <a:pt x="373" y="1105"/>
                        <a:pt x="283" y="1053"/>
                      </a:cubicBezTo>
                      <a:cubicBezTo>
                        <a:pt x="193" y="1001"/>
                        <a:pt x="128" y="936"/>
                        <a:pt x="76" y="846"/>
                      </a:cubicBezTo>
                      <a:cubicBezTo>
                        <a:pt x="24" y="756"/>
                        <a:pt x="0" y="668"/>
                        <a:pt x="0" y="564"/>
                      </a:cubicBezTo>
                      <a:cubicBezTo>
                        <a:pt x="0" y="460"/>
                        <a:pt x="24" y="372"/>
                        <a:pt x="76" y="282"/>
                      </a:cubicBezTo>
                      <a:cubicBezTo>
                        <a:pt x="128" y="192"/>
                        <a:pt x="193" y="127"/>
                        <a:pt x="283" y="75"/>
                      </a:cubicBezTo>
                      <a:cubicBezTo>
                        <a:pt x="373" y="24"/>
                        <a:pt x="461" y="0"/>
                        <a:pt x="565" y="0"/>
                      </a:cubicBezTo>
                      <a:cubicBezTo>
                        <a:pt x="669" y="0"/>
                        <a:pt x="757" y="24"/>
                        <a:pt x="847" y="75"/>
                      </a:cubicBezTo>
                      <a:cubicBezTo>
                        <a:pt x="937" y="127"/>
                        <a:pt x="1002" y="192"/>
                        <a:pt x="1054" y="282"/>
                      </a:cubicBezTo>
                      <a:cubicBezTo>
                        <a:pt x="1106" y="372"/>
                        <a:pt x="1129" y="460"/>
                        <a:pt x="1129" y="564"/>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0" name="Freeform 139">
                  <a:extLst>
                    <a:ext uri="{FF2B5EF4-FFF2-40B4-BE49-F238E27FC236}">
                      <a16:creationId xmlns:a16="http://schemas.microsoft.com/office/drawing/2014/main" id="{715C8BFB-C832-9073-182A-25DB41E23BB7}"/>
                    </a:ext>
                  </a:extLst>
                </p:cNvPr>
                <p:cNvSpPr>
                  <a:spLocks noChangeArrowheads="1"/>
                </p:cNvSpPr>
                <p:nvPr/>
              </p:nvSpPr>
              <p:spPr bwMode="auto">
                <a:xfrm>
                  <a:off x="6875328" y="5625020"/>
                  <a:ext cx="403753" cy="403752"/>
                </a:xfrm>
                <a:custGeom>
                  <a:avLst/>
                  <a:gdLst>
                    <a:gd name="T0" fmla="*/ 903 w 904"/>
                    <a:gd name="T1" fmla="*/ 451 h 904"/>
                    <a:gd name="T2" fmla="*/ 843 w 904"/>
                    <a:gd name="T3" fmla="*/ 677 h 904"/>
                    <a:gd name="T4" fmla="*/ 678 w 904"/>
                    <a:gd name="T5" fmla="*/ 842 h 904"/>
                    <a:gd name="T6" fmla="*/ 452 w 904"/>
                    <a:gd name="T7" fmla="*/ 903 h 904"/>
                    <a:gd name="T8" fmla="*/ 226 w 904"/>
                    <a:gd name="T9" fmla="*/ 842 h 904"/>
                    <a:gd name="T10" fmla="*/ 61 w 904"/>
                    <a:gd name="T11" fmla="*/ 677 h 904"/>
                    <a:gd name="T12" fmla="*/ 0 w 904"/>
                    <a:gd name="T13" fmla="*/ 451 h 904"/>
                    <a:gd name="T14" fmla="*/ 61 w 904"/>
                    <a:gd name="T15" fmla="*/ 226 h 904"/>
                    <a:gd name="T16" fmla="*/ 226 w 904"/>
                    <a:gd name="T17" fmla="*/ 60 h 904"/>
                    <a:gd name="T18" fmla="*/ 452 w 904"/>
                    <a:gd name="T19" fmla="*/ 0 h 904"/>
                    <a:gd name="T20" fmla="*/ 678 w 904"/>
                    <a:gd name="T21" fmla="*/ 60 h 904"/>
                    <a:gd name="T22" fmla="*/ 843 w 904"/>
                    <a:gd name="T23" fmla="*/ 226 h 904"/>
                    <a:gd name="T24" fmla="*/ 903 w 904"/>
                    <a:gd name="T25" fmla="*/ 451 h 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4" h="904">
                      <a:moveTo>
                        <a:pt x="903" y="451"/>
                      </a:moveTo>
                      <a:cubicBezTo>
                        <a:pt x="903" y="534"/>
                        <a:pt x="885" y="605"/>
                        <a:pt x="843" y="677"/>
                      </a:cubicBezTo>
                      <a:cubicBezTo>
                        <a:pt x="802" y="749"/>
                        <a:pt x="750" y="801"/>
                        <a:pt x="678" y="842"/>
                      </a:cubicBezTo>
                      <a:cubicBezTo>
                        <a:pt x="606" y="884"/>
                        <a:pt x="535" y="903"/>
                        <a:pt x="452" y="903"/>
                      </a:cubicBezTo>
                      <a:cubicBezTo>
                        <a:pt x="369" y="903"/>
                        <a:pt x="298" y="884"/>
                        <a:pt x="226" y="842"/>
                      </a:cubicBezTo>
                      <a:cubicBezTo>
                        <a:pt x="154" y="801"/>
                        <a:pt x="103" y="749"/>
                        <a:pt x="61" y="677"/>
                      </a:cubicBezTo>
                      <a:cubicBezTo>
                        <a:pt x="20" y="605"/>
                        <a:pt x="0" y="534"/>
                        <a:pt x="0" y="451"/>
                      </a:cubicBezTo>
                      <a:cubicBezTo>
                        <a:pt x="0" y="368"/>
                        <a:pt x="20" y="298"/>
                        <a:pt x="61" y="226"/>
                      </a:cubicBezTo>
                      <a:cubicBezTo>
                        <a:pt x="103" y="154"/>
                        <a:pt x="154" y="102"/>
                        <a:pt x="226" y="60"/>
                      </a:cubicBezTo>
                      <a:cubicBezTo>
                        <a:pt x="298" y="19"/>
                        <a:pt x="369" y="0"/>
                        <a:pt x="452" y="0"/>
                      </a:cubicBezTo>
                      <a:cubicBezTo>
                        <a:pt x="535" y="0"/>
                        <a:pt x="606" y="19"/>
                        <a:pt x="678" y="60"/>
                      </a:cubicBezTo>
                      <a:cubicBezTo>
                        <a:pt x="750" y="102"/>
                        <a:pt x="802" y="154"/>
                        <a:pt x="843" y="226"/>
                      </a:cubicBezTo>
                      <a:cubicBezTo>
                        <a:pt x="885" y="298"/>
                        <a:pt x="903" y="368"/>
                        <a:pt x="903" y="45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1" name="Freeform 140">
                  <a:extLst>
                    <a:ext uri="{FF2B5EF4-FFF2-40B4-BE49-F238E27FC236}">
                      <a16:creationId xmlns:a16="http://schemas.microsoft.com/office/drawing/2014/main" id="{FE7C522C-C6FC-0640-349E-FC67928B98C5}"/>
                    </a:ext>
                  </a:extLst>
                </p:cNvPr>
                <p:cNvSpPr>
                  <a:spLocks noChangeArrowheads="1"/>
                </p:cNvSpPr>
                <p:nvPr/>
              </p:nvSpPr>
              <p:spPr bwMode="auto">
                <a:xfrm>
                  <a:off x="7011226" y="5825912"/>
                  <a:ext cx="76811" cy="1969"/>
                </a:xfrm>
                <a:custGeom>
                  <a:avLst/>
                  <a:gdLst>
                    <a:gd name="T0" fmla="*/ 0 w 171"/>
                    <a:gd name="T1" fmla="*/ 0 h 1"/>
                    <a:gd name="T2" fmla="*/ 170 w 171"/>
                    <a:gd name="T3" fmla="*/ 0 h 1"/>
                  </a:gdLst>
                  <a:ahLst/>
                  <a:cxnLst>
                    <a:cxn ang="0">
                      <a:pos x="T0" y="T1"/>
                    </a:cxn>
                    <a:cxn ang="0">
                      <a:pos x="T2" y="T3"/>
                    </a:cxn>
                  </a:cxnLst>
                  <a:rect l="0" t="0" r="r" b="b"/>
                  <a:pathLst>
                    <a:path w="171" h="1">
                      <a:moveTo>
                        <a:pt x="0" y="0"/>
                      </a:moveTo>
                      <a:cubicBezTo>
                        <a:pt x="57" y="0"/>
                        <a:pt x="114" y="0"/>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2" name="Freeform 141">
                  <a:extLst>
                    <a:ext uri="{FF2B5EF4-FFF2-40B4-BE49-F238E27FC236}">
                      <a16:creationId xmlns:a16="http://schemas.microsoft.com/office/drawing/2014/main" id="{88FEBB9D-075B-3BFA-654B-9BE3630C45D0}"/>
                    </a:ext>
                  </a:extLst>
                </p:cNvPr>
                <p:cNvSpPr>
                  <a:spLocks noChangeArrowheads="1"/>
                </p:cNvSpPr>
                <p:nvPr/>
              </p:nvSpPr>
              <p:spPr bwMode="auto">
                <a:xfrm>
                  <a:off x="7011226" y="5725466"/>
                  <a:ext cx="131958" cy="202862"/>
                </a:xfrm>
                <a:custGeom>
                  <a:avLst/>
                  <a:gdLst>
                    <a:gd name="T0" fmla="*/ 293 w 294"/>
                    <a:gd name="T1" fmla="*/ 451 h 452"/>
                    <a:gd name="T2" fmla="*/ 8 w 294"/>
                    <a:gd name="T3" fmla="*/ 451 h 452"/>
                    <a:gd name="T4" fmla="*/ 1 w 294"/>
                    <a:gd name="T5" fmla="*/ 446 h 452"/>
                    <a:gd name="T6" fmla="*/ 3 w 294"/>
                    <a:gd name="T7" fmla="*/ 438 h 452"/>
                    <a:gd name="T8" fmla="*/ 65 w 294"/>
                    <a:gd name="T9" fmla="*/ 322 h 452"/>
                    <a:gd name="T10" fmla="*/ 47 w 294"/>
                    <a:gd name="T11" fmla="*/ 144 h 452"/>
                    <a:gd name="T12" fmla="*/ 186 w 294"/>
                    <a:gd name="T13" fmla="*/ 0 h 452"/>
                    <a:gd name="T14" fmla="*/ 265 w 294"/>
                    <a:gd name="T15" fmla="*/ 18 h 4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4" h="452">
                      <a:moveTo>
                        <a:pt x="293" y="451"/>
                      </a:moveTo>
                      <a:cubicBezTo>
                        <a:pt x="198" y="451"/>
                        <a:pt x="103" y="451"/>
                        <a:pt x="8" y="451"/>
                      </a:cubicBezTo>
                      <a:cubicBezTo>
                        <a:pt x="4" y="451"/>
                        <a:pt x="2" y="449"/>
                        <a:pt x="1" y="446"/>
                      </a:cubicBezTo>
                      <a:cubicBezTo>
                        <a:pt x="0" y="443"/>
                        <a:pt x="1" y="440"/>
                        <a:pt x="3" y="438"/>
                      </a:cubicBezTo>
                      <a:cubicBezTo>
                        <a:pt x="41" y="411"/>
                        <a:pt x="65" y="369"/>
                        <a:pt x="65" y="322"/>
                      </a:cubicBezTo>
                      <a:cubicBezTo>
                        <a:pt x="65" y="260"/>
                        <a:pt x="47" y="206"/>
                        <a:pt x="47" y="144"/>
                      </a:cubicBezTo>
                      <a:cubicBezTo>
                        <a:pt x="47" y="56"/>
                        <a:pt x="105" y="0"/>
                        <a:pt x="186" y="0"/>
                      </a:cubicBezTo>
                      <a:cubicBezTo>
                        <a:pt x="224" y="0"/>
                        <a:pt x="250" y="8"/>
                        <a:pt x="265" y="18"/>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3" name="Group 2">
              <a:extLst>
                <a:ext uri="{FF2B5EF4-FFF2-40B4-BE49-F238E27FC236}">
                  <a16:creationId xmlns:a16="http://schemas.microsoft.com/office/drawing/2014/main" id="{F860F2BE-BCEE-45D0-B239-65B509393882}"/>
                </a:ext>
              </a:extLst>
            </p:cNvPr>
            <p:cNvGrpSpPr>
              <a:grpSpLocks noChangeAspect="1"/>
            </p:cNvGrpSpPr>
            <p:nvPr/>
          </p:nvGrpSpPr>
          <p:grpSpPr>
            <a:xfrm>
              <a:off x="15756889" y="8636418"/>
              <a:ext cx="1115894" cy="1115894"/>
              <a:chOff x="2755083" y="533799"/>
              <a:chExt cx="781902" cy="781902"/>
            </a:xfrm>
          </p:grpSpPr>
          <p:grpSp>
            <p:nvGrpSpPr>
              <p:cNvPr id="13" name="Group 12">
                <a:extLst>
                  <a:ext uri="{FF2B5EF4-FFF2-40B4-BE49-F238E27FC236}">
                    <a16:creationId xmlns:a16="http://schemas.microsoft.com/office/drawing/2014/main" id="{CDD8BDFD-E4A9-4780-C319-7414C7069915}"/>
                  </a:ext>
                </a:extLst>
              </p:cNvPr>
              <p:cNvGrpSpPr/>
              <p:nvPr/>
            </p:nvGrpSpPr>
            <p:grpSpPr>
              <a:xfrm>
                <a:off x="2892949" y="671665"/>
                <a:ext cx="504198" cy="504198"/>
                <a:chOff x="2892949" y="671665"/>
                <a:chExt cx="504198" cy="504198"/>
              </a:xfrm>
            </p:grpSpPr>
            <p:sp>
              <p:nvSpPr>
                <p:cNvPr id="15" name="Freeform 49">
                  <a:extLst>
                    <a:ext uri="{FF2B5EF4-FFF2-40B4-BE49-F238E27FC236}">
                      <a16:creationId xmlns:a16="http://schemas.microsoft.com/office/drawing/2014/main" id="{7293806C-9FB0-BC48-A577-A950F0F0F9E7}"/>
                    </a:ext>
                  </a:extLst>
                </p:cNvPr>
                <p:cNvSpPr>
                  <a:spLocks noChangeArrowheads="1"/>
                </p:cNvSpPr>
                <p:nvPr/>
              </p:nvSpPr>
              <p:spPr bwMode="auto">
                <a:xfrm>
                  <a:off x="2892949" y="671665"/>
                  <a:ext cx="504198" cy="504198"/>
                </a:xfrm>
                <a:custGeom>
                  <a:avLst/>
                  <a:gdLst>
                    <a:gd name="T0" fmla="*/ 502 w 1130"/>
                    <a:gd name="T1" fmla="*/ 74 h 1130"/>
                    <a:gd name="T2" fmla="*/ 565 w 1130"/>
                    <a:gd name="T3" fmla="*/ 0 h 1130"/>
                    <a:gd name="T4" fmla="*/ 627 w 1130"/>
                    <a:gd name="T5" fmla="*/ 74 h 1130"/>
                    <a:gd name="T6" fmla="*/ 756 w 1130"/>
                    <a:gd name="T7" fmla="*/ 109 h 1130"/>
                    <a:gd name="T8" fmla="*/ 847 w 1130"/>
                    <a:gd name="T9" fmla="*/ 76 h 1130"/>
                    <a:gd name="T10" fmla="*/ 864 w 1130"/>
                    <a:gd name="T11" fmla="*/ 171 h 1130"/>
                    <a:gd name="T12" fmla="*/ 958 w 1130"/>
                    <a:gd name="T13" fmla="*/ 265 h 1130"/>
                    <a:gd name="T14" fmla="*/ 1053 w 1130"/>
                    <a:gd name="T15" fmla="*/ 283 h 1130"/>
                    <a:gd name="T16" fmla="*/ 1021 w 1130"/>
                    <a:gd name="T17" fmla="*/ 374 h 1130"/>
                    <a:gd name="T18" fmla="*/ 1055 w 1130"/>
                    <a:gd name="T19" fmla="*/ 502 h 1130"/>
                    <a:gd name="T20" fmla="*/ 1129 w 1130"/>
                    <a:gd name="T21" fmla="*/ 565 h 1130"/>
                    <a:gd name="T22" fmla="*/ 1055 w 1130"/>
                    <a:gd name="T23" fmla="*/ 627 h 1130"/>
                    <a:gd name="T24" fmla="*/ 1021 w 1130"/>
                    <a:gd name="T25" fmla="*/ 756 h 1130"/>
                    <a:gd name="T26" fmla="*/ 1053 w 1130"/>
                    <a:gd name="T27" fmla="*/ 847 h 1130"/>
                    <a:gd name="T28" fmla="*/ 958 w 1130"/>
                    <a:gd name="T29" fmla="*/ 864 h 1130"/>
                    <a:gd name="T30" fmla="*/ 864 w 1130"/>
                    <a:gd name="T31" fmla="*/ 958 h 1130"/>
                    <a:gd name="T32" fmla="*/ 847 w 1130"/>
                    <a:gd name="T33" fmla="*/ 1054 h 1130"/>
                    <a:gd name="T34" fmla="*/ 756 w 1130"/>
                    <a:gd name="T35" fmla="*/ 1021 h 1130"/>
                    <a:gd name="T36" fmla="*/ 627 w 1130"/>
                    <a:gd name="T37" fmla="*/ 1055 h 1130"/>
                    <a:gd name="T38" fmla="*/ 565 w 1130"/>
                    <a:gd name="T39" fmla="*/ 1129 h 1130"/>
                    <a:gd name="T40" fmla="*/ 502 w 1130"/>
                    <a:gd name="T41" fmla="*/ 1055 h 1130"/>
                    <a:gd name="T42" fmla="*/ 374 w 1130"/>
                    <a:gd name="T43" fmla="*/ 1021 h 1130"/>
                    <a:gd name="T44" fmla="*/ 282 w 1130"/>
                    <a:gd name="T45" fmla="*/ 1054 h 1130"/>
                    <a:gd name="T46" fmla="*/ 265 w 1130"/>
                    <a:gd name="T47" fmla="*/ 958 h 1130"/>
                    <a:gd name="T48" fmla="*/ 171 w 1130"/>
                    <a:gd name="T49" fmla="*/ 864 h 1130"/>
                    <a:gd name="T50" fmla="*/ 76 w 1130"/>
                    <a:gd name="T51" fmla="*/ 847 h 1130"/>
                    <a:gd name="T52" fmla="*/ 109 w 1130"/>
                    <a:gd name="T53" fmla="*/ 756 h 1130"/>
                    <a:gd name="T54" fmla="*/ 74 w 1130"/>
                    <a:gd name="T55" fmla="*/ 627 h 1130"/>
                    <a:gd name="T56" fmla="*/ 0 w 1130"/>
                    <a:gd name="T57" fmla="*/ 565 h 1130"/>
                    <a:gd name="T58" fmla="*/ 74 w 1130"/>
                    <a:gd name="T59" fmla="*/ 502 h 1130"/>
                    <a:gd name="T60" fmla="*/ 109 w 1130"/>
                    <a:gd name="T61" fmla="*/ 374 h 1130"/>
                    <a:gd name="T62" fmla="*/ 76 w 1130"/>
                    <a:gd name="T63" fmla="*/ 283 h 1130"/>
                    <a:gd name="T64" fmla="*/ 171 w 1130"/>
                    <a:gd name="T65" fmla="*/ 265 h 1130"/>
                    <a:gd name="T66" fmla="*/ 265 w 1130"/>
                    <a:gd name="T67" fmla="*/ 171 h 1130"/>
                    <a:gd name="T68" fmla="*/ 282 w 1130"/>
                    <a:gd name="T69" fmla="*/ 76 h 1130"/>
                    <a:gd name="T70" fmla="*/ 374 w 1130"/>
                    <a:gd name="T71" fmla="*/ 109 h 1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130" h="1130">
                      <a:moveTo>
                        <a:pt x="451" y="141"/>
                      </a:moveTo>
                      <a:cubicBezTo>
                        <a:pt x="482" y="132"/>
                        <a:pt x="502" y="105"/>
                        <a:pt x="502" y="74"/>
                      </a:cubicBezTo>
                      <a:cubicBezTo>
                        <a:pt x="502" y="70"/>
                        <a:pt x="502" y="67"/>
                        <a:pt x="502" y="63"/>
                      </a:cubicBezTo>
                      <a:cubicBezTo>
                        <a:pt x="502" y="28"/>
                        <a:pt x="530" y="0"/>
                        <a:pt x="565" y="0"/>
                      </a:cubicBezTo>
                      <a:cubicBezTo>
                        <a:pt x="599" y="0"/>
                        <a:pt x="627" y="28"/>
                        <a:pt x="627" y="63"/>
                      </a:cubicBezTo>
                      <a:cubicBezTo>
                        <a:pt x="627" y="67"/>
                        <a:pt x="627" y="70"/>
                        <a:pt x="627" y="74"/>
                      </a:cubicBezTo>
                      <a:cubicBezTo>
                        <a:pt x="627" y="105"/>
                        <a:pt x="648" y="132"/>
                        <a:pt x="678" y="141"/>
                      </a:cubicBezTo>
                      <a:cubicBezTo>
                        <a:pt x="709" y="149"/>
                        <a:pt x="740" y="135"/>
                        <a:pt x="756" y="109"/>
                      </a:cubicBezTo>
                      <a:cubicBezTo>
                        <a:pt x="757" y="105"/>
                        <a:pt x="759" y="102"/>
                        <a:pt x="761" y="99"/>
                      </a:cubicBezTo>
                      <a:cubicBezTo>
                        <a:pt x="778" y="69"/>
                        <a:pt x="817" y="59"/>
                        <a:pt x="847" y="76"/>
                      </a:cubicBezTo>
                      <a:cubicBezTo>
                        <a:pt x="877" y="93"/>
                        <a:pt x="887" y="132"/>
                        <a:pt x="870" y="162"/>
                      </a:cubicBezTo>
                      <a:cubicBezTo>
                        <a:pt x="868" y="165"/>
                        <a:pt x="866" y="168"/>
                        <a:pt x="864" y="171"/>
                      </a:cubicBezTo>
                      <a:cubicBezTo>
                        <a:pt x="849" y="198"/>
                        <a:pt x="853" y="232"/>
                        <a:pt x="875" y="254"/>
                      </a:cubicBezTo>
                      <a:cubicBezTo>
                        <a:pt x="898" y="277"/>
                        <a:pt x="932" y="280"/>
                        <a:pt x="958" y="265"/>
                      </a:cubicBezTo>
                      <a:cubicBezTo>
                        <a:pt x="961" y="263"/>
                        <a:pt x="964" y="262"/>
                        <a:pt x="968" y="260"/>
                      </a:cubicBezTo>
                      <a:cubicBezTo>
                        <a:pt x="998" y="242"/>
                        <a:pt x="1036" y="253"/>
                        <a:pt x="1053" y="283"/>
                      </a:cubicBezTo>
                      <a:cubicBezTo>
                        <a:pt x="1071" y="312"/>
                        <a:pt x="1060" y="351"/>
                        <a:pt x="1030" y="368"/>
                      </a:cubicBezTo>
                      <a:cubicBezTo>
                        <a:pt x="1027" y="370"/>
                        <a:pt x="1024" y="372"/>
                        <a:pt x="1021" y="374"/>
                      </a:cubicBezTo>
                      <a:cubicBezTo>
                        <a:pt x="994" y="389"/>
                        <a:pt x="980" y="420"/>
                        <a:pt x="989" y="451"/>
                      </a:cubicBezTo>
                      <a:cubicBezTo>
                        <a:pt x="997" y="482"/>
                        <a:pt x="1025" y="502"/>
                        <a:pt x="1055" y="502"/>
                      </a:cubicBezTo>
                      <a:cubicBezTo>
                        <a:pt x="1059" y="502"/>
                        <a:pt x="1062" y="502"/>
                        <a:pt x="1066" y="502"/>
                      </a:cubicBezTo>
                      <a:cubicBezTo>
                        <a:pt x="1101" y="502"/>
                        <a:pt x="1129" y="530"/>
                        <a:pt x="1129" y="565"/>
                      </a:cubicBezTo>
                      <a:cubicBezTo>
                        <a:pt x="1129" y="599"/>
                        <a:pt x="1101" y="627"/>
                        <a:pt x="1066" y="627"/>
                      </a:cubicBezTo>
                      <a:cubicBezTo>
                        <a:pt x="1062" y="627"/>
                        <a:pt x="1059" y="627"/>
                        <a:pt x="1055" y="627"/>
                      </a:cubicBezTo>
                      <a:cubicBezTo>
                        <a:pt x="1025" y="627"/>
                        <a:pt x="997" y="648"/>
                        <a:pt x="989" y="678"/>
                      </a:cubicBezTo>
                      <a:cubicBezTo>
                        <a:pt x="980" y="709"/>
                        <a:pt x="994" y="740"/>
                        <a:pt x="1021" y="756"/>
                      </a:cubicBezTo>
                      <a:cubicBezTo>
                        <a:pt x="1024" y="758"/>
                        <a:pt x="1027" y="759"/>
                        <a:pt x="1030" y="761"/>
                      </a:cubicBezTo>
                      <a:cubicBezTo>
                        <a:pt x="1060" y="779"/>
                        <a:pt x="1070" y="817"/>
                        <a:pt x="1053" y="847"/>
                      </a:cubicBezTo>
                      <a:cubicBezTo>
                        <a:pt x="1035" y="877"/>
                        <a:pt x="998" y="887"/>
                        <a:pt x="968" y="870"/>
                      </a:cubicBezTo>
                      <a:cubicBezTo>
                        <a:pt x="964" y="868"/>
                        <a:pt x="961" y="866"/>
                        <a:pt x="958" y="864"/>
                      </a:cubicBezTo>
                      <a:cubicBezTo>
                        <a:pt x="932" y="849"/>
                        <a:pt x="898" y="853"/>
                        <a:pt x="875" y="875"/>
                      </a:cubicBezTo>
                      <a:cubicBezTo>
                        <a:pt x="853" y="898"/>
                        <a:pt x="849" y="932"/>
                        <a:pt x="864" y="958"/>
                      </a:cubicBezTo>
                      <a:cubicBezTo>
                        <a:pt x="866" y="961"/>
                        <a:pt x="868" y="964"/>
                        <a:pt x="870" y="968"/>
                      </a:cubicBezTo>
                      <a:cubicBezTo>
                        <a:pt x="887" y="998"/>
                        <a:pt x="877" y="1036"/>
                        <a:pt x="847" y="1054"/>
                      </a:cubicBezTo>
                      <a:cubicBezTo>
                        <a:pt x="817" y="1071"/>
                        <a:pt x="778" y="1060"/>
                        <a:pt x="761" y="1031"/>
                      </a:cubicBezTo>
                      <a:cubicBezTo>
                        <a:pt x="759" y="1027"/>
                        <a:pt x="757" y="1024"/>
                        <a:pt x="756" y="1021"/>
                      </a:cubicBezTo>
                      <a:cubicBezTo>
                        <a:pt x="740" y="994"/>
                        <a:pt x="709" y="981"/>
                        <a:pt x="678" y="989"/>
                      </a:cubicBezTo>
                      <a:cubicBezTo>
                        <a:pt x="648" y="997"/>
                        <a:pt x="627" y="1025"/>
                        <a:pt x="627" y="1055"/>
                      </a:cubicBezTo>
                      <a:cubicBezTo>
                        <a:pt x="627" y="1059"/>
                        <a:pt x="627" y="1062"/>
                        <a:pt x="627" y="1066"/>
                      </a:cubicBezTo>
                      <a:cubicBezTo>
                        <a:pt x="627" y="1101"/>
                        <a:pt x="599" y="1129"/>
                        <a:pt x="565" y="1129"/>
                      </a:cubicBezTo>
                      <a:cubicBezTo>
                        <a:pt x="530" y="1129"/>
                        <a:pt x="502" y="1101"/>
                        <a:pt x="502" y="1066"/>
                      </a:cubicBezTo>
                      <a:cubicBezTo>
                        <a:pt x="502" y="1062"/>
                        <a:pt x="502" y="1059"/>
                        <a:pt x="502" y="1055"/>
                      </a:cubicBezTo>
                      <a:cubicBezTo>
                        <a:pt x="502" y="1025"/>
                        <a:pt x="482" y="997"/>
                        <a:pt x="451" y="989"/>
                      </a:cubicBezTo>
                      <a:cubicBezTo>
                        <a:pt x="420" y="981"/>
                        <a:pt x="389" y="994"/>
                        <a:pt x="374" y="1021"/>
                      </a:cubicBezTo>
                      <a:cubicBezTo>
                        <a:pt x="372" y="1024"/>
                        <a:pt x="370" y="1027"/>
                        <a:pt x="368" y="1031"/>
                      </a:cubicBezTo>
                      <a:cubicBezTo>
                        <a:pt x="351" y="1060"/>
                        <a:pt x="312" y="1071"/>
                        <a:pt x="282" y="1054"/>
                      </a:cubicBezTo>
                      <a:cubicBezTo>
                        <a:pt x="252" y="1036"/>
                        <a:pt x="242" y="998"/>
                        <a:pt x="259" y="968"/>
                      </a:cubicBezTo>
                      <a:cubicBezTo>
                        <a:pt x="261" y="964"/>
                        <a:pt x="263" y="961"/>
                        <a:pt x="265" y="958"/>
                      </a:cubicBezTo>
                      <a:cubicBezTo>
                        <a:pt x="280" y="932"/>
                        <a:pt x="277" y="898"/>
                        <a:pt x="254" y="875"/>
                      </a:cubicBezTo>
                      <a:cubicBezTo>
                        <a:pt x="232" y="853"/>
                        <a:pt x="198" y="849"/>
                        <a:pt x="171" y="864"/>
                      </a:cubicBezTo>
                      <a:cubicBezTo>
                        <a:pt x="168" y="866"/>
                        <a:pt x="165" y="868"/>
                        <a:pt x="162" y="870"/>
                      </a:cubicBezTo>
                      <a:cubicBezTo>
                        <a:pt x="132" y="887"/>
                        <a:pt x="93" y="877"/>
                        <a:pt x="76" y="847"/>
                      </a:cubicBezTo>
                      <a:cubicBezTo>
                        <a:pt x="59" y="817"/>
                        <a:pt x="69" y="779"/>
                        <a:pt x="99" y="761"/>
                      </a:cubicBezTo>
                      <a:cubicBezTo>
                        <a:pt x="102" y="759"/>
                        <a:pt x="105" y="758"/>
                        <a:pt x="109" y="756"/>
                      </a:cubicBezTo>
                      <a:cubicBezTo>
                        <a:pt x="135" y="740"/>
                        <a:pt x="149" y="709"/>
                        <a:pt x="141" y="678"/>
                      </a:cubicBezTo>
                      <a:cubicBezTo>
                        <a:pt x="132" y="648"/>
                        <a:pt x="105" y="627"/>
                        <a:pt x="74" y="627"/>
                      </a:cubicBezTo>
                      <a:cubicBezTo>
                        <a:pt x="70" y="627"/>
                        <a:pt x="67" y="627"/>
                        <a:pt x="63" y="627"/>
                      </a:cubicBezTo>
                      <a:cubicBezTo>
                        <a:pt x="28" y="627"/>
                        <a:pt x="0" y="599"/>
                        <a:pt x="0" y="565"/>
                      </a:cubicBezTo>
                      <a:cubicBezTo>
                        <a:pt x="0" y="530"/>
                        <a:pt x="28" y="502"/>
                        <a:pt x="63" y="502"/>
                      </a:cubicBezTo>
                      <a:cubicBezTo>
                        <a:pt x="67" y="502"/>
                        <a:pt x="70" y="502"/>
                        <a:pt x="74" y="502"/>
                      </a:cubicBezTo>
                      <a:cubicBezTo>
                        <a:pt x="105" y="502"/>
                        <a:pt x="132" y="482"/>
                        <a:pt x="141" y="451"/>
                      </a:cubicBezTo>
                      <a:cubicBezTo>
                        <a:pt x="149" y="420"/>
                        <a:pt x="135" y="389"/>
                        <a:pt x="109" y="374"/>
                      </a:cubicBezTo>
                      <a:cubicBezTo>
                        <a:pt x="105" y="372"/>
                        <a:pt x="102" y="370"/>
                        <a:pt x="99" y="368"/>
                      </a:cubicBezTo>
                      <a:cubicBezTo>
                        <a:pt x="69" y="351"/>
                        <a:pt x="59" y="312"/>
                        <a:pt x="76" y="283"/>
                      </a:cubicBezTo>
                      <a:cubicBezTo>
                        <a:pt x="93" y="253"/>
                        <a:pt x="132" y="242"/>
                        <a:pt x="162" y="260"/>
                      </a:cubicBezTo>
                      <a:cubicBezTo>
                        <a:pt x="165" y="262"/>
                        <a:pt x="168" y="263"/>
                        <a:pt x="171" y="265"/>
                      </a:cubicBezTo>
                      <a:cubicBezTo>
                        <a:pt x="198" y="280"/>
                        <a:pt x="232" y="277"/>
                        <a:pt x="254" y="254"/>
                      </a:cubicBezTo>
                      <a:cubicBezTo>
                        <a:pt x="277" y="232"/>
                        <a:pt x="280" y="198"/>
                        <a:pt x="265" y="171"/>
                      </a:cubicBezTo>
                      <a:cubicBezTo>
                        <a:pt x="263" y="168"/>
                        <a:pt x="261" y="165"/>
                        <a:pt x="259" y="162"/>
                      </a:cubicBezTo>
                      <a:cubicBezTo>
                        <a:pt x="242" y="132"/>
                        <a:pt x="252" y="93"/>
                        <a:pt x="282" y="76"/>
                      </a:cubicBezTo>
                      <a:cubicBezTo>
                        <a:pt x="312" y="59"/>
                        <a:pt x="351" y="69"/>
                        <a:pt x="368" y="99"/>
                      </a:cubicBezTo>
                      <a:cubicBezTo>
                        <a:pt x="370" y="102"/>
                        <a:pt x="372" y="105"/>
                        <a:pt x="374" y="109"/>
                      </a:cubicBezTo>
                      <a:cubicBezTo>
                        <a:pt x="389" y="135"/>
                        <a:pt x="420" y="149"/>
                        <a:pt x="451" y="141"/>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6" name="Freeform 50">
                  <a:extLst>
                    <a:ext uri="{FF2B5EF4-FFF2-40B4-BE49-F238E27FC236}">
                      <a16:creationId xmlns:a16="http://schemas.microsoft.com/office/drawing/2014/main" id="{1C697659-9372-ECA5-DE36-A7623380B26D}"/>
                    </a:ext>
                  </a:extLst>
                </p:cNvPr>
                <p:cNvSpPr>
                  <a:spLocks noChangeArrowheads="1"/>
                </p:cNvSpPr>
                <p:nvPr/>
              </p:nvSpPr>
              <p:spPr bwMode="auto">
                <a:xfrm>
                  <a:off x="3107628" y="886344"/>
                  <a:ext cx="76811" cy="76811"/>
                </a:xfrm>
                <a:custGeom>
                  <a:avLst/>
                  <a:gdLst>
                    <a:gd name="T0" fmla="*/ 169 w 170"/>
                    <a:gd name="T1" fmla="*/ 85 h 170"/>
                    <a:gd name="T2" fmla="*/ 158 w 170"/>
                    <a:gd name="T3" fmla="*/ 127 h 170"/>
                    <a:gd name="T4" fmla="*/ 127 w 170"/>
                    <a:gd name="T5" fmla="*/ 158 h 170"/>
                    <a:gd name="T6" fmla="*/ 85 w 170"/>
                    <a:gd name="T7" fmla="*/ 169 h 170"/>
                    <a:gd name="T8" fmla="*/ 42 w 170"/>
                    <a:gd name="T9" fmla="*/ 158 h 170"/>
                    <a:gd name="T10" fmla="*/ 11 w 170"/>
                    <a:gd name="T11" fmla="*/ 127 h 170"/>
                    <a:gd name="T12" fmla="*/ 0 w 170"/>
                    <a:gd name="T13" fmla="*/ 85 h 170"/>
                    <a:gd name="T14" fmla="*/ 11 w 170"/>
                    <a:gd name="T15" fmla="*/ 42 h 170"/>
                    <a:gd name="T16" fmla="*/ 42 w 170"/>
                    <a:gd name="T17" fmla="*/ 11 h 170"/>
                    <a:gd name="T18" fmla="*/ 85 w 170"/>
                    <a:gd name="T19" fmla="*/ 0 h 170"/>
                    <a:gd name="T20" fmla="*/ 127 w 170"/>
                    <a:gd name="T21" fmla="*/ 11 h 170"/>
                    <a:gd name="T22" fmla="*/ 158 w 170"/>
                    <a:gd name="T23" fmla="*/ 42 h 170"/>
                    <a:gd name="T24" fmla="*/ 169 w 170"/>
                    <a:gd name="T25" fmla="*/ 85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170">
                      <a:moveTo>
                        <a:pt x="169" y="85"/>
                      </a:moveTo>
                      <a:cubicBezTo>
                        <a:pt x="169" y="100"/>
                        <a:pt x="166" y="113"/>
                        <a:pt x="158" y="127"/>
                      </a:cubicBezTo>
                      <a:cubicBezTo>
                        <a:pt x="150" y="140"/>
                        <a:pt x="140" y="150"/>
                        <a:pt x="127" y="158"/>
                      </a:cubicBezTo>
                      <a:cubicBezTo>
                        <a:pt x="113" y="166"/>
                        <a:pt x="100" y="169"/>
                        <a:pt x="85" y="169"/>
                      </a:cubicBezTo>
                      <a:cubicBezTo>
                        <a:pt x="69" y="169"/>
                        <a:pt x="55" y="166"/>
                        <a:pt x="42" y="158"/>
                      </a:cubicBezTo>
                      <a:cubicBezTo>
                        <a:pt x="28" y="150"/>
                        <a:pt x="18" y="140"/>
                        <a:pt x="11" y="127"/>
                      </a:cubicBezTo>
                      <a:cubicBezTo>
                        <a:pt x="3" y="113"/>
                        <a:pt x="0" y="100"/>
                        <a:pt x="0" y="85"/>
                      </a:cubicBezTo>
                      <a:cubicBezTo>
                        <a:pt x="0" y="69"/>
                        <a:pt x="3" y="55"/>
                        <a:pt x="11" y="42"/>
                      </a:cubicBezTo>
                      <a:cubicBezTo>
                        <a:pt x="18" y="28"/>
                        <a:pt x="28" y="18"/>
                        <a:pt x="42" y="11"/>
                      </a:cubicBezTo>
                      <a:cubicBezTo>
                        <a:pt x="55" y="3"/>
                        <a:pt x="69" y="0"/>
                        <a:pt x="85" y="0"/>
                      </a:cubicBezTo>
                      <a:cubicBezTo>
                        <a:pt x="100" y="0"/>
                        <a:pt x="113" y="3"/>
                        <a:pt x="127" y="11"/>
                      </a:cubicBezTo>
                      <a:cubicBezTo>
                        <a:pt x="140" y="18"/>
                        <a:pt x="150" y="28"/>
                        <a:pt x="158" y="42"/>
                      </a:cubicBezTo>
                      <a:cubicBezTo>
                        <a:pt x="166" y="55"/>
                        <a:pt x="169" y="69"/>
                        <a:pt x="169" y="85"/>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17" name="Freeform 51">
                  <a:extLst>
                    <a:ext uri="{FF2B5EF4-FFF2-40B4-BE49-F238E27FC236}">
                      <a16:creationId xmlns:a16="http://schemas.microsoft.com/office/drawing/2014/main" id="{38C1BF9F-F47D-FCCB-EB16-B314C1ECA4EF}"/>
                    </a:ext>
                  </a:extLst>
                </p:cNvPr>
                <p:cNvSpPr>
                  <a:spLocks noChangeArrowheads="1"/>
                </p:cNvSpPr>
                <p:nvPr/>
              </p:nvSpPr>
              <p:spPr bwMode="auto">
                <a:xfrm>
                  <a:off x="3056421" y="835137"/>
                  <a:ext cx="139836" cy="88628"/>
                </a:xfrm>
                <a:custGeom>
                  <a:avLst/>
                  <a:gdLst>
                    <a:gd name="T0" fmla="*/ 0 w 311"/>
                    <a:gd name="T1" fmla="*/ 198 h 199"/>
                    <a:gd name="T2" fmla="*/ 198 w 311"/>
                    <a:gd name="T3" fmla="*/ 0 h 199"/>
                    <a:gd name="T4" fmla="*/ 310 w 311"/>
                    <a:gd name="T5" fmla="*/ 35 h 199"/>
                  </a:gdLst>
                  <a:ahLst/>
                  <a:cxnLst>
                    <a:cxn ang="0">
                      <a:pos x="T0" y="T1"/>
                    </a:cxn>
                    <a:cxn ang="0">
                      <a:pos x="T2" y="T3"/>
                    </a:cxn>
                    <a:cxn ang="0">
                      <a:pos x="T4" y="T5"/>
                    </a:cxn>
                  </a:cxnLst>
                  <a:rect l="0" t="0" r="r" b="b"/>
                  <a:pathLst>
                    <a:path w="311" h="199">
                      <a:moveTo>
                        <a:pt x="0" y="198"/>
                      </a:moveTo>
                      <a:cubicBezTo>
                        <a:pt x="0" y="89"/>
                        <a:pt x="89" y="0"/>
                        <a:pt x="198" y="0"/>
                      </a:cubicBezTo>
                      <a:cubicBezTo>
                        <a:pt x="239" y="0"/>
                        <a:pt x="278" y="13"/>
                        <a:pt x="310" y="3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8" name="Freeform 52">
                  <a:extLst>
                    <a:ext uri="{FF2B5EF4-FFF2-40B4-BE49-F238E27FC236}">
                      <a16:creationId xmlns:a16="http://schemas.microsoft.com/office/drawing/2014/main" id="{F16BC262-C511-78A2-BBDD-9DEF42097102}"/>
                    </a:ext>
                  </a:extLst>
                </p:cNvPr>
                <p:cNvSpPr>
                  <a:spLocks noChangeArrowheads="1"/>
                </p:cNvSpPr>
                <p:nvPr/>
              </p:nvSpPr>
              <p:spPr bwMode="auto">
                <a:xfrm>
                  <a:off x="3007182" y="785898"/>
                  <a:ext cx="236343" cy="139837"/>
                </a:xfrm>
                <a:custGeom>
                  <a:avLst/>
                  <a:gdLst>
                    <a:gd name="T0" fmla="*/ 527 w 528"/>
                    <a:gd name="T1" fmla="*/ 88 h 312"/>
                    <a:gd name="T2" fmla="*/ 311 w 528"/>
                    <a:gd name="T3" fmla="*/ 0 h 312"/>
                    <a:gd name="T4" fmla="*/ 0 w 528"/>
                    <a:gd name="T5" fmla="*/ 311 h 312"/>
                  </a:gdLst>
                  <a:ahLst/>
                  <a:cxnLst>
                    <a:cxn ang="0">
                      <a:pos x="T0" y="T1"/>
                    </a:cxn>
                    <a:cxn ang="0">
                      <a:pos x="T2" y="T3"/>
                    </a:cxn>
                    <a:cxn ang="0">
                      <a:pos x="T4" y="T5"/>
                    </a:cxn>
                  </a:cxnLst>
                  <a:rect l="0" t="0" r="r" b="b"/>
                  <a:pathLst>
                    <a:path w="528" h="312">
                      <a:moveTo>
                        <a:pt x="527" y="88"/>
                      </a:moveTo>
                      <a:cubicBezTo>
                        <a:pt x="471" y="34"/>
                        <a:pt x="395" y="0"/>
                        <a:pt x="311" y="0"/>
                      </a:cubicBezTo>
                      <a:cubicBezTo>
                        <a:pt x="139" y="0"/>
                        <a:pt x="0" y="140"/>
                        <a:pt x="0" y="311"/>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19" name="Freeform 53">
                  <a:extLst>
                    <a:ext uri="{FF2B5EF4-FFF2-40B4-BE49-F238E27FC236}">
                      <a16:creationId xmlns:a16="http://schemas.microsoft.com/office/drawing/2014/main" id="{E4D88907-F4DE-B1E2-C412-778CA36D2B13}"/>
                    </a:ext>
                  </a:extLst>
                </p:cNvPr>
                <p:cNvSpPr>
                  <a:spLocks noChangeArrowheads="1"/>
                </p:cNvSpPr>
                <p:nvPr/>
              </p:nvSpPr>
              <p:spPr bwMode="auto">
                <a:xfrm>
                  <a:off x="3180500" y="848923"/>
                  <a:ext cx="96507" cy="57117"/>
                </a:xfrm>
                <a:custGeom>
                  <a:avLst/>
                  <a:gdLst>
                    <a:gd name="T0" fmla="*/ 0 w 216"/>
                    <a:gd name="T1" fmla="*/ 125 h 126"/>
                    <a:gd name="T2" fmla="*/ 215 w 216"/>
                    <a:gd name="T3" fmla="*/ 0 h 126"/>
                  </a:gdLst>
                  <a:ahLst/>
                  <a:cxnLst>
                    <a:cxn ang="0">
                      <a:pos x="T0" y="T1"/>
                    </a:cxn>
                    <a:cxn ang="0">
                      <a:pos x="T2" y="T3"/>
                    </a:cxn>
                  </a:cxnLst>
                  <a:rect l="0" t="0" r="r" b="b"/>
                  <a:pathLst>
                    <a:path w="216" h="126">
                      <a:moveTo>
                        <a:pt x="0" y="125"/>
                      </a:moveTo>
                      <a:cubicBezTo>
                        <a:pt x="71" y="83"/>
                        <a:pt x="143" y="42"/>
                        <a:pt x="21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sp>
            <p:nvSpPr>
              <p:cNvPr id="14" name="Freeform 13">
                <a:extLst>
                  <a:ext uri="{FF2B5EF4-FFF2-40B4-BE49-F238E27FC236}">
                    <a16:creationId xmlns:a16="http://schemas.microsoft.com/office/drawing/2014/main" id="{5F8C118C-0BBF-25DF-4908-5A8885AFDC67}"/>
                  </a:ext>
                </a:extLst>
              </p:cNvPr>
              <p:cNvSpPr>
                <a:spLocks noChangeArrowheads="1"/>
              </p:cNvSpPr>
              <p:nvPr/>
            </p:nvSpPr>
            <p:spPr bwMode="auto">
              <a:xfrm>
                <a:off x="2755083" y="533799"/>
                <a:ext cx="781902" cy="781902"/>
              </a:xfrm>
              <a:custGeom>
                <a:avLst/>
                <a:gdLst>
                  <a:gd name="T0" fmla="*/ 1467 w 1751"/>
                  <a:gd name="T1" fmla="*/ 1750 h 1751"/>
                  <a:gd name="T2" fmla="*/ 1750 w 1751"/>
                  <a:gd name="T3" fmla="*/ 1467 h 1751"/>
                  <a:gd name="T4" fmla="*/ 1750 w 1751"/>
                  <a:gd name="T5" fmla="*/ 282 h 1751"/>
                  <a:gd name="T6" fmla="*/ 1467 w 1751"/>
                  <a:gd name="T7" fmla="*/ 0 h 1751"/>
                  <a:gd name="T8" fmla="*/ 282 w 1751"/>
                  <a:gd name="T9" fmla="*/ 0 h 1751"/>
                  <a:gd name="T10" fmla="*/ 0 w 1751"/>
                  <a:gd name="T11" fmla="*/ 282 h 1751"/>
                  <a:gd name="T12" fmla="*/ 0 w 1751"/>
                  <a:gd name="T13" fmla="*/ 1467 h 1751"/>
                  <a:gd name="T14" fmla="*/ 282 w 1751"/>
                  <a:gd name="T15" fmla="*/ 1750 h 1751"/>
                  <a:gd name="T16" fmla="*/ 1467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7" y="1750"/>
                    </a:moveTo>
                    <a:cubicBezTo>
                      <a:pt x="1623" y="1750"/>
                      <a:pt x="1750" y="1623"/>
                      <a:pt x="1750" y="1467"/>
                    </a:cubicBezTo>
                    <a:cubicBezTo>
                      <a:pt x="1750" y="1072"/>
                      <a:pt x="1750" y="677"/>
                      <a:pt x="1750" y="282"/>
                    </a:cubicBezTo>
                    <a:cubicBezTo>
                      <a:pt x="1750" y="127"/>
                      <a:pt x="1623" y="0"/>
                      <a:pt x="1467" y="0"/>
                    </a:cubicBezTo>
                    <a:cubicBezTo>
                      <a:pt x="1072" y="0"/>
                      <a:pt x="677" y="0"/>
                      <a:pt x="282" y="0"/>
                    </a:cubicBezTo>
                    <a:cubicBezTo>
                      <a:pt x="127" y="0"/>
                      <a:pt x="0" y="127"/>
                      <a:pt x="0" y="282"/>
                    </a:cubicBezTo>
                    <a:cubicBezTo>
                      <a:pt x="0" y="677"/>
                      <a:pt x="0" y="1072"/>
                      <a:pt x="0" y="1467"/>
                    </a:cubicBezTo>
                    <a:cubicBezTo>
                      <a:pt x="0" y="1623"/>
                      <a:pt x="127" y="1750"/>
                      <a:pt x="282" y="1750"/>
                    </a:cubicBezTo>
                    <a:cubicBezTo>
                      <a:pt x="677" y="1750"/>
                      <a:pt x="1072" y="1750"/>
                      <a:pt x="1467" y="1750"/>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grpSp>
          <p:nvGrpSpPr>
            <p:cNvPr id="20" name="Group 19">
              <a:extLst>
                <a:ext uri="{FF2B5EF4-FFF2-40B4-BE49-F238E27FC236}">
                  <a16:creationId xmlns:a16="http://schemas.microsoft.com/office/drawing/2014/main" id="{73FD5370-75D2-C784-1DA1-5D4CAC5D0E9F}"/>
                </a:ext>
              </a:extLst>
            </p:cNvPr>
            <p:cNvGrpSpPr>
              <a:grpSpLocks noChangeAspect="1"/>
            </p:cNvGrpSpPr>
            <p:nvPr/>
          </p:nvGrpSpPr>
          <p:grpSpPr>
            <a:xfrm>
              <a:off x="20239982" y="6786537"/>
              <a:ext cx="1115894" cy="1115894"/>
              <a:chOff x="745675" y="2158563"/>
              <a:chExt cx="788068" cy="788068"/>
            </a:xfrm>
          </p:grpSpPr>
          <p:sp>
            <p:nvSpPr>
              <p:cNvPr id="21" name="Freeform 49">
                <a:extLst>
                  <a:ext uri="{FF2B5EF4-FFF2-40B4-BE49-F238E27FC236}">
                    <a16:creationId xmlns:a16="http://schemas.microsoft.com/office/drawing/2014/main" id="{4791FFEF-3A18-5732-102A-F569A9C4E15B}"/>
                  </a:ext>
                </a:extLst>
              </p:cNvPr>
              <p:cNvSpPr>
                <a:spLocks noChangeArrowheads="1"/>
              </p:cNvSpPr>
              <p:nvPr/>
            </p:nvSpPr>
            <p:spPr bwMode="auto">
              <a:xfrm>
                <a:off x="745675" y="2158563"/>
                <a:ext cx="788068" cy="788068"/>
              </a:xfrm>
              <a:custGeom>
                <a:avLst/>
                <a:gdLst>
                  <a:gd name="T0" fmla="*/ 1468 w 1751"/>
                  <a:gd name="T1" fmla="*/ 1750 h 1751"/>
                  <a:gd name="T2" fmla="*/ 1750 w 1751"/>
                  <a:gd name="T3" fmla="*/ 1468 h 1751"/>
                  <a:gd name="T4" fmla="*/ 1750 w 1751"/>
                  <a:gd name="T5" fmla="*/ 282 h 1751"/>
                  <a:gd name="T6" fmla="*/ 1468 w 1751"/>
                  <a:gd name="T7" fmla="*/ 0 h 1751"/>
                  <a:gd name="T8" fmla="*/ 282 w 1751"/>
                  <a:gd name="T9" fmla="*/ 0 h 1751"/>
                  <a:gd name="T10" fmla="*/ 0 w 1751"/>
                  <a:gd name="T11" fmla="*/ 282 h 1751"/>
                  <a:gd name="T12" fmla="*/ 0 w 1751"/>
                  <a:gd name="T13" fmla="*/ 1468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8"/>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8"/>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2" name="Freeform 50">
                <a:extLst>
                  <a:ext uri="{FF2B5EF4-FFF2-40B4-BE49-F238E27FC236}">
                    <a16:creationId xmlns:a16="http://schemas.microsoft.com/office/drawing/2014/main" id="{280D10AA-E397-555A-36D8-223787D26061}"/>
                  </a:ext>
                </a:extLst>
              </p:cNvPr>
              <p:cNvSpPr>
                <a:spLocks noChangeArrowheads="1"/>
              </p:cNvSpPr>
              <p:nvPr/>
            </p:nvSpPr>
            <p:spPr bwMode="auto">
              <a:xfrm>
                <a:off x="874704" y="2313398"/>
                <a:ext cx="528025" cy="478399"/>
              </a:xfrm>
              <a:custGeom>
                <a:avLst/>
                <a:gdLst>
                  <a:gd name="T0" fmla="*/ 182 w 1174"/>
                  <a:gd name="T1" fmla="*/ 721 h 1063"/>
                  <a:gd name="T2" fmla="*/ 182 w 1174"/>
                  <a:gd name="T3" fmla="*/ 369 h 1063"/>
                  <a:gd name="T4" fmla="*/ 154 w 1174"/>
                  <a:gd name="T5" fmla="*/ 341 h 1063"/>
                  <a:gd name="T6" fmla="*/ 17 w 1174"/>
                  <a:gd name="T7" fmla="*/ 341 h 1063"/>
                  <a:gd name="T8" fmla="*/ 3 w 1174"/>
                  <a:gd name="T9" fmla="*/ 332 h 1063"/>
                  <a:gd name="T10" fmla="*/ 7 w 1174"/>
                  <a:gd name="T11" fmla="*/ 316 h 1063"/>
                  <a:gd name="T12" fmla="*/ 347 w 1174"/>
                  <a:gd name="T13" fmla="*/ 19 h 1063"/>
                  <a:gd name="T14" fmla="*/ 422 w 1174"/>
                  <a:gd name="T15" fmla="*/ 19 h 1063"/>
                  <a:gd name="T16" fmla="*/ 761 w 1174"/>
                  <a:gd name="T17" fmla="*/ 316 h 1063"/>
                  <a:gd name="T18" fmla="*/ 765 w 1174"/>
                  <a:gd name="T19" fmla="*/ 332 h 1063"/>
                  <a:gd name="T20" fmla="*/ 752 w 1174"/>
                  <a:gd name="T21" fmla="*/ 341 h 1063"/>
                  <a:gd name="T22" fmla="*/ 615 w 1174"/>
                  <a:gd name="T23" fmla="*/ 341 h 1063"/>
                  <a:gd name="T24" fmla="*/ 587 w 1174"/>
                  <a:gd name="T25" fmla="*/ 369 h 1063"/>
                  <a:gd name="T26" fmla="*/ 587 w 1174"/>
                  <a:gd name="T27" fmla="*/ 693 h 1063"/>
                  <a:gd name="T28" fmla="*/ 559 w 1174"/>
                  <a:gd name="T29" fmla="*/ 721 h 1063"/>
                  <a:gd name="T30" fmla="*/ 422 w 1174"/>
                  <a:gd name="T31" fmla="*/ 721 h 1063"/>
                  <a:gd name="T32" fmla="*/ 409 w 1174"/>
                  <a:gd name="T33" fmla="*/ 730 h 1063"/>
                  <a:gd name="T34" fmla="*/ 413 w 1174"/>
                  <a:gd name="T35" fmla="*/ 746 h 1063"/>
                  <a:gd name="T36" fmla="*/ 753 w 1174"/>
                  <a:gd name="T37" fmla="*/ 1043 h 1063"/>
                  <a:gd name="T38" fmla="*/ 827 w 1174"/>
                  <a:gd name="T39" fmla="*/ 1043 h 1063"/>
                  <a:gd name="T40" fmla="*/ 1167 w 1174"/>
                  <a:gd name="T41" fmla="*/ 746 h 1063"/>
                  <a:gd name="T42" fmla="*/ 1171 w 1174"/>
                  <a:gd name="T43" fmla="*/ 730 h 1063"/>
                  <a:gd name="T44" fmla="*/ 1157 w 1174"/>
                  <a:gd name="T45" fmla="*/ 721 h 1063"/>
                  <a:gd name="T46" fmla="*/ 1021 w 1174"/>
                  <a:gd name="T47" fmla="*/ 721 h 1063"/>
                  <a:gd name="T48" fmla="*/ 992 w 1174"/>
                  <a:gd name="T49" fmla="*/ 693 h 1063"/>
                  <a:gd name="T50" fmla="*/ 992 w 1174"/>
                  <a:gd name="T51" fmla="*/ 341 h 10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174" h="1063">
                    <a:moveTo>
                      <a:pt x="182" y="721"/>
                    </a:moveTo>
                    <a:cubicBezTo>
                      <a:pt x="182" y="603"/>
                      <a:pt x="182" y="486"/>
                      <a:pt x="182" y="369"/>
                    </a:cubicBezTo>
                    <a:cubicBezTo>
                      <a:pt x="182" y="354"/>
                      <a:pt x="169" y="341"/>
                      <a:pt x="154" y="341"/>
                    </a:cubicBezTo>
                    <a:cubicBezTo>
                      <a:pt x="108" y="341"/>
                      <a:pt x="63" y="341"/>
                      <a:pt x="17" y="341"/>
                    </a:cubicBezTo>
                    <a:cubicBezTo>
                      <a:pt x="11" y="341"/>
                      <a:pt x="5" y="337"/>
                      <a:pt x="3" y="332"/>
                    </a:cubicBezTo>
                    <a:cubicBezTo>
                      <a:pt x="0" y="326"/>
                      <a:pt x="3" y="320"/>
                      <a:pt x="7" y="316"/>
                    </a:cubicBezTo>
                    <a:cubicBezTo>
                      <a:pt x="120" y="217"/>
                      <a:pt x="234" y="118"/>
                      <a:pt x="347" y="19"/>
                    </a:cubicBezTo>
                    <a:cubicBezTo>
                      <a:pt x="369" y="0"/>
                      <a:pt x="400" y="0"/>
                      <a:pt x="422" y="19"/>
                    </a:cubicBezTo>
                    <a:cubicBezTo>
                      <a:pt x="535" y="118"/>
                      <a:pt x="648" y="217"/>
                      <a:pt x="761" y="316"/>
                    </a:cubicBezTo>
                    <a:cubicBezTo>
                      <a:pt x="766" y="320"/>
                      <a:pt x="767" y="326"/>
                      <a:pt x="765" y="332"/>
                    </a:cubicBezTo>
                    <a:cubicBezTo>
                      <a:pt x="763" y="337"/>
                      <a:pt x="758" y="341"/>
                      <a:pt x="752" y="341"/>
                    </a:cubicBezTo>
                    <a:cubicBezTo>
                      <a:pt x="706" y="341"/>
                      <a:pt x="661" y="341"/>
                      <a:pt x="615" y="341"/>
                    </a:cubicBezTo>
                    <a:cubicBezTo>
                      <a:pt x="600" y="341"/>
                      <a:pt x="587" y="354"/>
                      <a:pt x="587" y="369"/>
                    </a:cubicBezTo>
                    <a:cubicBezTo>
                      <a:pt x="587" y="477"/>
                      <a:pt x="587" y="585"/>
                      <a:pt x="587" y="693"/>
                    </a:cubicBezTo>
                    <a:cubicBezTo>
                      <a:pt x="587" y="708"/>
                      <a:pt x="574" y="721"/>
                      <a:pt x="559" y="721"/>
                    </a:cubicBezTo>
                    <a:cubicBezTo>
                      <a:pt x="513" y="721"/>
                      <a:pt x="468" y="721"/>
                      <a:pt x="422" y="721"/>
                    </a:cubicBezTo>
                    <a:cubicBezTo>
                      <a:pt x="416" y="721"/>
                      <a:pt x="411" y="724"/>
                      <a:pt x="409" y="730"/>
                    </a:cubicBezTo>
                    <a:cubicBezTo>
                      <a:pt x="407" y="736"/>
                      <a:pt x="408" y="742"/>
                      <a:pt x="413" y="746"/>
                    </a:cubicBezTo>
                    <a:cubicBezTo>
                      <a:pt x="526" y="845"/>
                      <a:pt x="640" y="944"/>
                      <a:pt x="753" y="1043"/>
                    </a:cubicBezTo>
                    <a:cubicBezTo>
                      <a:pt x="774" y="1062"/>
                      <a:pt x="806" y="1062"/>
                      <a:pt x="827" y="1043"/>
                    </a:cubicBezTo>
                    <a:cubicBezTo>
                      <a:pt x="940" y="944"/>
                      <a:pt x="1054" y="845"/>
                      <a:pt x="1167" y="746"/>
                    </a:cubicBezTo>
                    <a:cubicBezTo>
                      <a:pt x="1171" y="742"/>
                      <a:pt x="1173" y="736"/>
                      <a:pt x="1171" y="730"/>
                    </a:cubicBezTo>
                    <a:cubicBezTo>
                      <a:pt x="1169" y="724"/>
                      <a:pt x="1163" y="721"/>
                      <a:pt x="1157" y="721"/>
                    </a:cubicBezTo>
                    <a:cubicBezTo>
                      <a:pt x="1112" y="721"/>
                      <a:pt x="1066" y="721"/>
                      <a:pt x="1021" y="721"/>
                    </a:cubicBezTo>
                    <a:cubicBezTo>
                      <a:pt x="1005" y="721"/>
                      <a:pt x="992" y="708"/>
                      <a:pt x="992" y="693"/>
                    </a:cubicBezTo>
                    <a:cubicBezTo>
                      <a:pt x="992" y="575"/>
                      <a:pt x="992" y="458"/>
                      <a:pt x="992" y="341"/>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nvGrpSpPr>
            <p:cNvPr id="23" name="Group 22">
              <a:extLst>
                <a:ext uri="{FF2B5EF4-FFF2-40B4-BE49-F238E27FC236}">
                  <a16:creationId xmlns:a16="http://schemas.microsoft.com/office/drawing/2014/main" id="{8B1E0BED-115D-B3F6-994F-660B0AEC592B}"/>
                </a:ext>
              </a:extLst>
            </p:cNvPr>
            <p:cNvGrpSpPr>
              <a:grpSpLocks noChangeAspect="1"/>
            </p:cNvGrpSpPr>
            <p:nvPr/>
          </p:nvGrpSpPr>
          <p:grpSpPr>
            <a:xfrm>
              <a:off x="15759203" y="3143590"/>
              <a:ext cx="1113510" cy="1113510"/>
              <a:chOff x="7002463" y="2201863"/>
              <a:chExt cx="630237" cy="630237"/>
            </a:xfrm>
          </p:grpSpPr>
          <p:sp>
            <p:nvSpPr>
              <p:cNvPr id="24" name="Freeform 259">
                <a:extLst>
                  <a:ext uri="{FF2B5EF4-FFF2-40B4-BE49-F238E27FC236}">
                    <a16:creationId xmlns:a16="http://schemas.microsoft.com/office/drawing/2014/main" id="{F6740BCB-4B8F-C60C-52F5-2EA0072CFAC3}"/>
                  </a:ext>
                </a:extLst>
              </p:cNvPr>
              <p:cNvSpPr>
                <a:spLocks noChangeArrowheads="1"/>
              </p:cNvSpPr>
              <p:nvPr/>
            </p:nvSpPr>
            <p:spPr bwMode="auto">
              <a:xfrm>
                <a:off x="7002463" y="2201863"/>
                <a:ext cx="630237" cy="630237"/>
              </a:xfrm>
              <a:custGeom>
                <a:avLst/>
                <a:gdLst>
                  <a:gd name="T0" fmla="*/ 1467 w 1750"/>
                  <a:gd name="T1" fmla="*/ 1749 h 1750"/>
                  <a:gd name="T2" fmla="*/ 1749 w 1750"/>
                  <a:gd name="T3" fmla="*/ 1467 h 1750"/>
                  <a:gd name="T4" fmla="*/ 1749 w 1750"/>
                  <a:gd name="T5" fmla="*/ 282 h 1750"/>
                  <a:gd name="T6" fmla="*/ 1467 w 1750"/>
                  <a:gd name="T7" fmla="*/ 0 h 1750"/>
                  <a:gd name="T8" fmla="*/ 282 w 1750"/>
                  <a:gd name="T9" fmla="*/ 0 h 1750"/>
                  <a:gd name="T10" fmla="*/ 0 w 1750"/>
                  <a:gd name="T11" fmla="*/ 282 h 1750"/>
                  <a:gd name="T12" fmla="*/ 0 w 1750"/>
                  <a:gd name="T13" fmla="*/ 1467 h 1750"/>
                  <a:gd name="T14" fmla="*/ 282 w 1750"/>
                  <a:gd name="T15" fmla="*/ 1749 h 1750"/>
                  <a:gd name="T16" fmla="*/ 1467 w 1750"/>
                  <a:gd name="T17" fmla="*/ 1749 h 1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0">
                    <a:moveTo>
                      <a:pt x="1467" y="1749"/>
                    </a:moveTo>
                    <a:cubicBezTo>
                      <a:pt x="1622" y="1749"/>
                      <a:pt x="1749" y="1623"/>
                      <a:pt x="1749" y="1467"/>
                    </a:cubicBezTo>
                    <a:cubicBezTo>
                      <a:pt x="1749" y="1072"/>
                      <a:pt x="1749" y="677"/>
                      <a:pt x="1749" y="282"/>
                    </a:cubicBezTo>
                    <a:cubicBezTo>
                      <a:pt x="1749" y="127"/>
                      <a:pt x="1622" y="0"/>
                      <a:pt x="1467" y="0"/>
                    </a:cubicBezTo>
                    <a:cubicBezTo>
                      <a:pt x="1072" y="0"/>
                      <a:pt x="677" y="0"/>
                      <a:pt x="282" y="0"/>
                    </a:cubicBezTo>
                    <a:cubicBezTo>
                      <a:pt x="126" y="0"/>
                      <a:pt x="0" y="127"/>
                      <a:pt x="0" y="282"/>
                    </a:cubicBezTo>
                    <a:cubicBezTo>
                      <a:pt x="0" y="677"/>
                      <a:pt x="0" y="1072"/>
                      <a:pt x="0" y="1467"/>
                    </a:cubicBezTo>
                    <a:cubicBezTo>
                      <a:pt x="0" y="1623"/>
                      <a:pt x="126" y="1749"/>
                      <a:pt x="282" y="1749"/>
                    </a:cubicBezTo>
                    <a:cubicBezTo>
                      <a:pt x="677" y="1749"/>
                      <a:pt x="1072" y="1749"/>
                      <a:pt x="1467" y="174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25" name="Group 24">
                <a:extLst>
                  <a:ext uri="{FF2B5EF4-FFF2-40B4-BE49-F238E27FC236}">
                    <a16:creationId xmlns:a16="http://schemas.microsoft.com/office/drawing/2014/main" id="{E65F1ECA-C039-34C5-964D-76CAEC020A53}"/>
                  </a:ext>
                </a:extLst>
              </p:cNvPr>
              <p:cNvGrpSpPr/>
              <p:nvPr/>
            </p:nvGrpSpPr>
            <p:grpSpPr>
              <a:xfrm>
                <a:off x="7107238" y="2305050"/>
                <a:ext cx="422275" cy="422275"/>
                <a:chOff x="7107238" y="2305050"/>
                <a:chExt cx="422275" cy="422275"/>
              </a:xfrm>
            </p:grpSpPr>
            <p:sp>
              <p:nvSpPr>
                <p:cNvPr id="26" name="Freeform 260">
                  <a:extLst>
                    <a:ext uri="{FF2B5EF4-FFF2-40B4-BE49-F238E27FC236}">
                      <a16:creationId xmlns:a16="http://schemas.microsoft.com/office/drawing/2014/main" id="{D570331B-A6D5-1509-9CAC-D64C63EE7BB1}"/>
                    </a:ext>
                  </a:extLst>
                </p:cNvPr>
                <p:cNvSpPr>
                  <a:spLocks noChangeArrowheads="1"/>
                </p:cNvSpPr>
                <p:nvPr/>
              </p:nvSpPr>
              <p:spPr bwMode="auto">
                <a:xfrm>
                  <a:off x="7107238" y="2305050"/>
                  <a:ext cx="422275" cy="422275"/>
                </a:xfrm>
                <a:custGeom>
                  <a:avLst/>
                  <a:gdLst>
                    <a:gd name="T0" fmla="*/ 1171 w 1172"/>
                    <a:gd name="T1" fmla="*/ 586 h 1172"/>
                    <a:gd name="T2" fmla="*/ 1092 w 1172"/>
                    <a:gd name="T3" fmla="*/ 878 h 1172"/>
                    <a:gd name="T4" fmla="*/ 878 w 1172"/>
                    <a:gd name="T5" fmla="*/ 1093 h 1172"/>
                    <a:gd name="T6" fmla="*/ 585 w 1172"/>
                    <a:gd name="T7" fmla="*/ 1171 h 1172"/>
                    <a:gd name="T8" fmla="*/ 293 w 1172"/>
                    <a:gd name="T9" fmla="*/ 1093 h 1172"/>
                    <a:gd name="T10" fmla="*/ 78 w 1172"/>
                    <a:gd name="T11" fmla="*/ 878 h 1172"/>
                    <a:gd name="T12" fmla="*/ 0 w 1172"/>
                    <a:gd name="T13" fmla="*/ 586 h 1172"/>
                    <a:gd name="T14" fmla="*/ 78 w 1172"/>
                    <a:gd name="T15" fmla="*/ 293 h 1172"/>
                    <a:gd name="T16" fmla="*/ 293 w 1172"/>
                    <a:gd name="T17" fmla="*/ 79 h 1172"/>
                    <a:gd name="T18" fmla="*/ 585 w 1172"/>
                    <a:gd name="T19" fmla="*/ 0 h 1172"/>
                    <a:gd name="T20" fmla="*/ 878 w 1172"/>
                    <a:gd name="T21" fmla="*/ 79 h 1172"/>
                    <a:gd name="T22" fmla="*/ 1092 w 1172"/>
                    <a:gd name="T23" fmla="*/ 293 h 1172"/>
                    <a:gd name="T24" fmla="*/ 1171 w 1172"/>
                    <a:gd name="T25" fmla="*/ 586 h 11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72" h="1172">
                      <a:moveTo>
                        <a:pt x="1171" y="586"/>
                      </a:moveTo>
                      <a:cubicBezTo>
                        <a:pt x="1171" y="693"/>
                        <a:pt x="1146" y="784"/>
                        <a:pt x="1092" y="878"/>
                      </a:cubicBezTo>
                      <a:cubicBezTo>
                        <a:pt x="1039" y="971"/>
                        <a:pt x="971" y="1039"/>
                        <a:pt x="878" y="1093"/>
                      </a:cubicBezTo>
                      <a:cubicBezTo>
                        <a:pt x="785" y="1147"/>
                        <a:pt x="693" y="1171"/>
                        <a:pt x="585" y="1171"/>
                      </a:cubicBezTo>
                      <a:cubicBezTo>
                        <a:pt x="478" y="1171"/>
                        <a:pt x="387" y="1147"/>
                        <a:pt x="293" y="1093"/>
                      </a:cubicBezTo>
                      <a:cubicBezTo>
                        <a:pt x="200" y="1039"/>
                        <a:pt x="132" y="971"/>
                        <a:pt x="78" y="878"/>
                      </a:cubicBezTo>
                      <a:cubicBezTo>
                        <a:pt x="24" y="784"/>
                        <a:pt x="0" y="693"/>
                        <a:pt x="0" y="586"/>
                      </a:cubicBezTo>
                      <a:cubicBezTo>
                        <a:pt x="0" y="478"/>
                        <a:pt x="24" y="386"/>
                        <a:pt x="78" y="293"/>
                      </a:cubicBezTo>
                      <a:cubicBezTo>
                        <a:pt x="132" y="200"/>
                        <a:pt x="200" y="132"/>
                        <a:pt x="293" y="79"/>
                      </a:cubicBezTo>
                      <a:cubicBezTo>
                        <a:pt x="387" y="25"/>
                        <a:pt x="478" y="0"/>
                        <a:pt x="585" y="0"/>
                      </a:cubicBezTo>
                      <a:cubicBezTo>
                        <a:pt x="693" y="0"/>
                        <a:pt x="785" y="25"/>
                        <a:pt x="878" y="79"/>
                      </a:cubicBezTo>
                      <a:cubicBezTo>
                        <a:pt x="971" y="132"/>
                        <a:pt x="1039" y="200"/>
                        <a:pt x="1092" y="293"/>
                      </a:cubicBezTo>
                      <a:cubicBezTo>
                        <a:pt x="1146" y="386"/>
                        <a:pt x="1171" y="478"/>
                        <a:pt x="1171" y="58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27" name="Freeform 261">
                  <a:extLst>
                    <a:ext uri="{FF2B5EF4-FFF2-40B4-BE49-F238E27FC236}">
                      <a16:creationId xmlns:a16="http://schemas.microsoft.com/office/drawing/2014/main" id="{48D39640-44D0-A7E0-0BBF-CDA7FA6ADE20}"/>
                    </a:ext>
                  </a:extLst>
                </p:cNvPr>
                <p:cNvSpPr>
                  <a:spLocks noChangeArrowheads="1"/>
                </p:cNvSpPr>
                <p:nvPr/>
              </p:nvSpPr>
              <p:spPr bwMode="auto">
                <a:xfrm>
                  <a:off x="7381875" y="2390775"/>
                  <a:ext cx="61913" cy="61913"/>
                </a:xfrm>
                <a:custGeom>
                  <a:avLst/>
                  <a:gdLst>
                    <a:gd name="T0" fmla="*/ 0 w 171"/>
                    <a:gd name="T1" fmla="*/ 170 h 171"/>
                    <a:gd name="T2" fmla="*/ 170 w 171"/>
                    <a:gd name="T3" fmla="*/ 0 h 171"/>
                  </a:gdLst>
                  <a:ahLst/>
                  <a:cxnLst>
                    <a:cxn ang="0">
                      <a:pos x="T0" y="T1"/>
                    </a:cxn>
                    <a:cxn ang="0">
                      <a:pos x="T2" y="T3"/>
                    </a:cxn>
                  </a:cxnLst>
                  <a:rect l="0" t="0" r="r" b="b"/>
                  <a:pathLst>
                    <a:path w="171" h="171">
                      <a:moveTo>
                        <a:pt x="0" y="170"/>
                      </a:moveTo>
                      <a:cubicBezTo>
                        <a:pt x="57" y="113"/>
                        <a:pt x="114" y="56"/>
                        <a:pt x="17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8" name="Freeform 262">
                  <a:extLst>
                    <a:ext uri="{FF2B5EF4-FFF2-40B4-BE49-F238E27FC236}">
                      <a16:creationId xmlns:a16="http://schemas.microsoft.com/office/drawing/2014/main" id="{78718237-4860-C37B-9273-9202DD772E4F}"/>
                    </a:ext>
                  </a:extLst>
                </p:cNvPr>
                <p:cNvSpPr>
                  <a:spLocks noChangeArrowheads="1"/>
                </p:cNvSpPr>
                <p:nvPr/>
              </p:nvSpPr>
              <p:spPr bwMode="auto">
                <a:xfrm>
                  <a:off x="7381875" y="2409825"/>
                  <a:ext cx="42863" cy="42863"/>
                </a:xfrm>
                <a:custGeom>
                  <a:avLst/>
                  <a:gdLst>
                    <a:gd name="T0" fmla="*/ 0 w 121"/>
                    <a:gd name="T1" fmla="*/ 0 h 121"/>
                    <a:gd name="T2" fmla="*/ 0 w 121"/>
                    <a:gd name="T3" fmla="*/ 113 h 121"/>
                    <a:gd name="T4" fmla="*/ 7 w 121"/>
                    <a:gd name="T5" fmla="*/ 120 h 121"/>
                    <a:gd name="T6" fmla="*/ 120 w 121"/>
                    <a:gd name="T7" fmla="*/ 120 h 121"/>
                  </a:gdLst>
                  <a:ahLst/>
                  <a:cxnLst>
                    <a:cxn ang="0">
                      <a:pos x="T0" y="T1"/>
                    </a:cxn>
                    <a:cxn ang="0">
                      <a:pos x="T2" y="T3"/>
                    </a:cxn>
                    <a:cxn ang="0">
                      <a:pos x="T4" y="T5"/>
                    </a:cxn>
                    <a:cxn ang="0">
                      <a:pos x="T6" y="T7"/>
                    </a:cxn>
                  </a:cxnLst>
                  <a:rect l="0" t="0" r="r" b="b"/>
                  <a:pathLst>
                    <a:path w="121" h="121">
                      <a:moveTo>
                        <a:pt x="0" y="0"/>
                      </a:moveTo>
                      <a:cubicBezTo>
                        <a:pt x="0" y="37"/>
                        <a:pt x="0" y="75"/>
                        <a:pt x="0" y="113"/>
                      </a:cubicBezTo>
                      <a:cubicBezTo>
                        <a:pt x="0" y="117"/>
                        <a:pt x="3" y="120"/>
                        <a:pt x="7" y="120"/>
                      </a:cubicBezTo>
                      <a:cubicBezTo>
                        <a:pt x="45" y="120"/>
                        <a:pt x="83" y="120"/>
                        <a:pt x="12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29" name="Freeform 263">
                  <a:extLst>
                    <a:ext uri="{FF2B5EF4-FFF2-40B4-BE49-F238E27FC236}">
                      <a16:creationId xmlns:a16="http://schemas.microsoft.com/office/drawing/2014/main" id="{C326FDCE-A96F-D06E-6C48-B373937760AA}"/>
                    </a:ext>
                  </a:extLst>
                </p:cNvPr>
                <p:cNvSpPr>
                  <a:spLocks noChangeArrowheads="1"/>
                </p:cNvSpPr>
                <p:nvPr/>
              </p:nvSpPr>
              <p:spPr bwMode="auto">
                <a:xfrm>
                  <a:off x="7191375" y="2581275"/>
                  <a:ext cx="61913" cy="61913"/>
                </a:xfrm>
                <a:custGeom>
                  <a:avLst/>
                  <a:gdLst>
                    <a:gd name="T0" fmla="*/ 170 w 171"/>
                    <a:gd name="T1" fmla="*/ 0 h 171"/>
                    <a:gd name="T2" fmla="*/ 0 w 171"/>
                    <a:gd name="T3" fmla="*/ 170 h 171"/>
                  </a:gdLst>
                  <a:ahLst/>
                  <a:cxnLst>
                    <a:cxn ang="0">
                      <a:pos x="T0" y="T1"/>
                    </a:cxn>
                    <a:cxn ang="0">
                      <a:pos x="T2" y="T3"/>
                    </a:cxn>
                  </a:cxnLst>
                  <a:rect l="0" t="0" r="r" b="b"/>
                  <a:pathLst>
                    <a:path w="171" h="171">
                      <a:moveTo>
                        <a:pt x="170" y="0"/>
                      </a:moveTo>
                      <a:cubicBezTo>
                        <a:pt x="114" y="56"/>
                        <a:pt x="57" y="113"/>
                        <a:pt x="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0" name="Freeform 264">
                  <a:extLst>
                    <a:ext uri="{FF2B5EF4-FFF2-40B4-BE49-F238E27FC236}">
                      <a16:creationId xmlns:a16="http://schemas.microsoft.com/office/drawing/2014/main" id="{8E26FE4E-C321-5116-A837-ED668A668560}"/>
                    </a:ext>
                  </a:extLst>
                </p:cNvPr>
                <p:cNvSpPr>
                  <a:spLocks noChangeArrowheads="1"/>
                </p:cNvSpPr>
                <p:nvPr/>
              </p:nvSpPr>
              <p:spPr bwMode="auto">
                <a:xfrm>
                  <a:off x="7210425" y="2579688"/>
                  <a:ext cx="42863" cy="42862"/>
                </a:xfrm>
                <a:custGeom>
                  <a:avLst/>
                  <a:gdLst>
                    <a:gd name="T0" fmla="*/ 120 w 121"/>
                    <a:gd name="T1" fmla="*/ 120 h 121"/>
                    <a:gd name="T2" fmla="*/ 120 w 121"/>
                    <a:gd name="T3" fmla="*/ 7 h 121"/>
                    <a:gd name="T4" fmla="*/ 113 w 121"/>
                    <a:gd name="T5" fmla="*/ 0 h 121"/>
                    <a:gd name="T6" fmla="*/ 0 w 121"/>
                    <a:gd name="T7" fmla="*/ 0 h 121"/>
                  </a:gdLst>
                  <a:ahLst/>
                  <a:cxnLst>
                    <a:cxn ang="0">
                      <a:pos x="T0" y="T1"/>
                    </a:cxn>
                    <a:cxn ang="0">
                      <a:pos x="T2" y="T3"/>
                    </a:cxn>
                    <a:cxn ang="0">
                      <a:pos x="T4" y="T5"/>
                    </a:cxn>
                    <a:cxn ang="0">
                      <a:pos x="T6" y="T7"/>
                    </a:cxn>
                  </a:cxnLst>
                  <a:rect l="0" t="0" r="r" b="b"/>
                  <a:pathLst>
                    <a:path w="121" h="121">
                      <a:moveTo>
                        <a:pt x="120" y="120"/>
                      </a:moveTo>
                      <a:cubicBezTo>
                        <a:pt x="120" y="82"/>
                        <a:pt x="120" y="44"/>
                        <a:pt x="120" y="7"/>
                      </a:cubicBezTo>
                      <a:cubicBezTo>
                        <a:pt x="120" y="3"/>
                        <a:pt x="117" y="0"/>
                        <a:pt x="113" y="0"/>
                      </a:cubicBezTo>
                      <a:cubicBezTo>
                        <a:pt x="76" y="0"/>
                        <a:pt x="38"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1" name="Freeform 265">
                  <a:extLst>
                    <a:ext uri="{FF2B5EF4-FFF2-40B4-BE49-F238E27FC236}">
                      <a16:creationId xmlns:a16="http://schemas.microsoft.com/office/drawing/2014/main" id="{B894AD60-0CB1-B8E9-1CF2-C0FD19F055F9}"/>
                    </a:ext>
                  </a:extLst>
                </p:cNvPr>
                <p:cNvSpPr>
                  <a:spLocks noChangeArrowheads="1"/>
                </p:cNvSpPr>
                <p:nvPr/>
              </p:nvSpPr>
              <p:spPr bwMode="auto">
                <a:xfrm>
                  <a:off x="7381875" y="2581275"/>
                  <a:ext cx="61913" cy="61913"/>
                </a:xfrm>
                <a:custGeom>
                  <a:avLst/>
                  <a:gdLst>
                    <a:gd name="T0" fmla="*/ 0 w 171"/>
                    <a:gd name="T1" fmla="*/ 0 h 171"/>
                    <a:gd name="T2" fmla="*/ 170 w 171"/>
                    <a:gd name="T3" fmla="*/ 170 h 171"/>
                  </a:gdLst>
                  <a:ahLst/>
                  <a:cxnLst>
                    <a:cxn ang="0">
                      <a:pos x="T0" y="T1"/>
                    </a:cxn>
                    <a:cxn ang="0">
                      <a:pos x="T2" y="T3"/>
                    </a:cxn>
                  </a:cxnLst>
                  <a:rect l="0" t="0" r="r" b="b"/>
                  <a:pathLst>
                    <a:path w="171" h="171">
                      <a:moveTo>
                        <a:pt x="0" y="0"/>
                      </a:moveTo>
                      <a:cubicBezTo>
                        <a:pt x="57" y="56"/>
                        <a:pt x="114" y="113"/>
                        <a:pt x="170" y="17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2" name="Freeform 266">
                  <a:extLst>
                    <a:ext uri="{FF2B5EF4-FFF2-40B4-BE49-F238E27FC236}">
                      <a16:creationId xmlns:a16="http://schemas.microsoft.com/office/drawing/2014/main" id="{BC6555F7-91B6-D88E-F84A-67262ADF992A}"/>
                    </a:ext>
                  </a:extLst>
                </p:cNvPr>
                <p:cNvSpPr>
                  <a:spLocks noChangeArrowheads="1"/>
                </p:cNvSpPr>
                <p:nvPr/>
              </p:nvSpPr>
              <p:spPr bwMode="auto">
                <a:xfrm>
                  <a:off x="7381875" y="2579688"/>
                  <a:ext cx="42863" cy="42862"/>
                </a:xfrm>
                <a:custGeom>
                  <a:avLst/>
                  <a:gdLst>
                    <a:gd name="T0" fmla="*/ 120 w 121"/>
                    <a:gd name="T1" fmla="*/ 0 h 121"/>
                    <a:gd name="T2" fmla="*/ 7 w 121"/>
                    <a:gd name="T3" fmla="*/ 0 h 121"/>
                    <a:gd name="T4" fmla="*/ 0 w 121"/>
                    <a:gd name="T5" fmla="*/ 7 h 121"/>
                    <a:gd name="T6" fmla="*/ 0 w 121"/>
                    <a:gd name="T7" fmla="*/ 120 h 121"/>
                  </a:gdLst>
                  <a:ahLst/>
                  <a:cxnLst>
                    <a:cxn ang="0">
                      <a:pos x="T0" y="T1"/>
                    </a:cxn>
                    <a:cxn ang="0">
                      <a:pos x="T2" y="T3"/>
                    </a:cxn>
                    <a:cxn ang="0">
                      <a:pos x="T4" y="T5"/>
                    </a:cxn>
                    <a:cxn ang="0">
                      <a:pos x="T6" y="T7"/>
                    </a:cxn>
                  </a:cxnLst>
                  <a:rect l="0" t="0" r="r" b="b"/>
                  <a:pathLst>
                    <a:path w="121" h="121">
                      <a:moveTo>
                        <a:pt x="120" y="0"/>
                      </a:moveTo>
                      <a:cubicBezTo>
                        <a:pt x="83" y="0"/>
                        <a:pt x="45" y="0"/>
                        <a:pt x="7" y="0"/>
                      </a:cubicBezTo>
                      <a:cubicBezTo>
                        <a:pt x="3" y="0"/>
                        <a:pt x="0" y="3"/>
                        <a:pt x="0" y="7"/>
                      </a:cubicBezTo>
                      <a:cubicBezTo>
                        <a:pt x="0" y="44"/>
                        <a:pt x="0" y="82"/>
                        <a:pt x="0" y="12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3" name="Freeform 267">
                  <a:extLst>
                    <a:ext uri="{FF2B5EF4-FFF2-40B4-BE49-F238E27FC236}">
                      <a16:creationId xmlns:a16="http://schemas.microsoft.com/office/drawing/2014/main" id="{2DE24BBB-2912-EF98-0332-9807D0C145F1}"/>
                    </a:ext>
                  </a:extLst>
                </p:cNvPr>
                <p:cNvSpPr>
                  <a:spLocks noChangeArrowheads="1"/>
                </p:cNvSpPr>
                <p:nvPr/>
              </p:nvSpPr>
              <p:spPr bwMode="auto">
                <a:xfrm>
                  <a:off x="7191375" y="2390775"/>
                  <a:ext cx="61913" cy="61913"/>
                </a:xfrm>
                <a:custGeom>
                  <a:avLst/>
                  <a:gdLst>
                    <a:gd name="T0" fmla="*/ 170 w 171"/>
                    <a:gd name="T1" fmla="*/ 170 h 171"/>
                    <a:gd name="T2" fmla="*/ 0 w 171"/>
                    <a:gd name="T3" fmla="*/ 0 h 171"/>
                  </a:gdLst>
                  <a:ahLst/>
                  <a:cxnLst>
                    <a:cxn ang="0">
                      <a:pos x="T0" y="T1"/>
                    </a:cxn>
                    <a:cxn ang="0">
                      <a:pos x="T2" y="T3"/>
                    </a:cxn>
                  </a:cxnLst>
                  <a:rect l="0" t="0" r="r" b="b"/>
                  <a:pathLst>
                    <a:path w="171" h="171">
                      <a:moveTo>
                        <a:pt x="170" y="170"/>
                      </a:moveTo>
                      <a:cubicBezTo>
                        <a:pt x="114" y="113"/>
                        <a:pt x="57" y="56"/>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4" name="Freeform 268">
                  <a:extLst>
                    <a:ext uri="{FF2B5EF4-FFF2-40B4-BE49-F238E27FC236}">
                      <a16:creationId xmlns:a16="http://schemas.microsoft.com/office/drawing/2014/main" id="{2C91902E-9695-2441-E2EA-22F5810D4182}"/>
                    </a:ext>
                  </a:extLst>
                </p:cNvPr>
                <p:cNvSpPr>
                  <a:spLocks noChangeArrowheads="1"/>
                </p:cNvSpPr>
                <p:nvPr/>
              </p:nvSpPr>
              <p:spPr bwMode="auto">
                <a:xfrm>
                  <a:off x="7210425" y="2409825"/>
                  <a:ext cx="42863" cy="42863"/>
                </a:xfrm>
                <a:custGeom>
                  <a:avLst/>
                  <a:gdLst>
                    <a:gd name="T0" fmla="*/ 0 w 121"/>
                    <a:gd name="T1" fmla="*/ 120 h 121"/>
                    <a:gd name="T2" fmla="*/ 113 w 121"/>
                    <a:gd name="T3" fmla="*/ 120 h 121"/>
                    <a:gd name="T4" fmla="*/ 120 w 121"/>
                    <a:gd name="T5" fmla="*/ 113 h 121"/>
                    <a:gd name="T6" fmla="*/ 120 w 121"/>
                    <a:gd name="T7" fmla="*/ 0 h 121"/>
                  </a:gdLst>
                  <a:ahLst/>
                  <a:cxnLst>
                    <a:cxn ang="0">
                      <a:pos x="T0" y="T1"/>
                    </a:cxn>
                    <a:cxn ang="0">
                      <a:pos x="T2" y="T3"/>
                    </a:cxn>
                    <a:cxn ang="0">
                      <a:pos x="T4" y="T5"/>
                    </a:cxn>
                    <a:cxn ang="0">
                      <a:pos x="T6" y="T7"/>
                    </a:cxn>
                  </a:cxnLst>
                  <a:rect l="0" t="0" r="r" b="b"/>
                  <a:pathLst>
                    <a:path w="121" h="121">
                      <a:moveTo>
                        <a:pt x="0" y="120"/>
                      </a:moveTo>
                      <a:cubicBezTo>
                        <a:pt x="38" y="120"/>
                        <a:pt x="76" y="120"/>
                        <a:pt x="113" y="120"/>
                      </a:cubicBezTo>
                      <a:cubicBezTo>
                        <a:pt x="117" y="120"/>
                        <a:pt x="120" y="117"/>
                        <a:pt x="120" y="113"/>
                      </a:cubicBezTo>
                      <a:cubicBezTo>
                        <a:pt x="120" y="75"/>
                        <a:pt x="120" y="37"/>
                        <a:pt x="12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5" name="Freeform 269">
                  <a:extLst>
                    <a:ext uri="{FF2B5EF4-FFF2-40B4-BE49-F238E27FC236}">
                      <a16:creationId xmlns:a16="http://schemas.microsoft.com/office/drawing/2014/main" id="{047CBBBD-581B-113A-3AAA-F61A7865E5A9}"/>
                    </a:ext>
                  </a:extLst>
                </p:cNvPr>
                <p:cNvSpPr>
                  <a:spLocks noChangeArrowheads="1"/>
                </p:cNvSpPr>
                <p:nvPr/>
              </p:nvSpPr>
              <p:spPr bwMode="auto">
                <a:xfrm>
                  <a:off x="7315200" y="2460625"/>
                  <a:ext cx="4763" cy="1588"/>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6" name="Freeform 270">
                  <a:extLst>
                    <a:ext uri="{FF2B5EF4-FFF2-40B4-BE49-F238E27FC236}">
                      <a16:creationId xmlns:a16="http://schemas.microsoft.com/office/drawing/2014/main" id="{E73608E4-2275-3CE6-97A0-77A153EE7F72}"/>
                    </a:ext>
                  </a:extLst>
                </p:cNvPr>
                <p:cNvSpPr>
                  <a:spLocks noChangeArrowheads="1"/>
                </p:cNvSpPr>
                <p:nvPr/>
              </p:nvSpPr>
              <p:spPr bwMode="auto">
                <a:xfrm>
                  <a:off x="7315200" y="2566988"/>
                  <a:ext cx="4763" cy="1587"/>
                </a:xfrm>
                <a:custGeom>
                  <a:avLst/>
                  <a:gdLst>
                    <a:gd name="T0" fmla="*/ 11 w 12"/>
                    <a:gd name="T1" fmla="*/ 0 h 1"/>
                    <a:gd name="T2" fmla="*/ 0 w 12"/>
                    <a:gd name="T3" fmla="*/ 0 h 1"/>
                  </a:gdLst>
                  <a:ahLst/>
                  <a:cxnLst>
                    <a:cxn ang="0">
                      <a:pos x="T0" y="T1"/>
                    </a:cxn>
                    <a:cxn ang="0">
                      <a:pos x="T2" y="T3"/>
                    </a:cxn>
                  </a:cxnLst>
                  <a:rect l="0" t="0" r="r" b="b"/>
                  <a:pathLst>
                    <a:path w="12" h="1">
                      <a:moveTo>
                        <a:pt x="11" y="0"/>
                      </a:moveTo>
                      <a:cubicBezTo>
                        <a:pt x="8" y="0"/>
                        <a:pt x="4"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7" name="Freeform 271">
                  <a:extLst>
                    <a:ext uri="{FF2B5EF4-FFF2-40B4-BE49-F238E27FC236}">
                      <a16:creationId xmlns:a16="http://schemas.microsoft.com/office/drawing/2014/main" id="{0A3D8600-2BC6-E75F-CDC5-B5C27F808629}"/>
                    </a:ext>
                  </a:extLst>
                </p:cNvPr>
                <p:cNvSpPr>
                  <a:spLocks noChangeArrowheads="1"/>
                </p:cNvSpPr>
                <p:nvPr/>
              </p:nvSpPr>
              <p:spPr bwMode="auto">
                <a:xfrm>
                  <a:off x="7370763" y="2511425"/>
                  <a:ext cx="1587"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8" name="Freeform 272">
                  <a:extLst>
                    <a:ext uri="{FF2B5EF4-FFF2-40B4-BE49-F238E27FC236}">
                      <a16:creationId xmlns:a16="http://schemas.microsoft.com/office/drawing/2014/main" id="{F2BD8789-3703-3509-4093-73BF4D76BA1B}"/>
                    </a:ext>
                  </a:extLst>
                </p:cNvPr>
                <p:cNvSpPr>
                  <a:spLocks noChangeArrowheads="1"/>
                </p:cNvSpPr>
                <p:nvPr/>
              </p:nvSpPr>
              <p:spPr bwMode="auto">
                <a:xfrm>
                  <a:off x="7264400" y="2511425"/>
                  <a:ext cx="1588" cy="4763"/>
                </a:xfrm>
                <a:custGeom>
                  <a:avLst/>
                  <a:gdLst>
                    <a:gd name="T0" fmla="*/ 0 w 1"/>
                    <a:gd name="T1" fmla="*/ 11 h 12"/>
                    <a:gd name="T2" fmla="*/ 0 w 1"/>
                    <a:gd name="T3" fmla="*/ 0 h 12"/>
                  </a:gdLst>
                  <a:ahLst/>
                  <a:cxnLst>
                    <a:cxn ang="0">
                      <a:pos x="T0" y="T1"/>
                    </a:cxn>
                    <a:cxn ang="0">
                      <a:pos x="T2" y="T3"/>
                    </a:cxn>
                  </a:cxnLst>
                  <a:rect l="0" t="0" r="r" b="b"/>
                  <a:pathLst>
                    <a:path w="1" h="12">
                      <a:moveTo>
                        <a:pt x="0" y="11"/>
                      </a:moveTo>
                      <a:cubicBezTo>
                        <a:pt x="0" y="7"/>
                        <a:pt x="0"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39" name="Freeform 273">
                  <a:extLst>
                    <a:ext uri="{FF2B5EF4-FFF2-40B4-BE49-F238E27FC236}">
                      <a16:creationId xmlns:a16="http://schemas.microsoft.com/office/drawing/2014/main" id="{AD02B8EF-CB04-BA14-884A-40F530AD6FEB}"/>
                    </a:ext>
                  </a:extLst>
                </p:cNvPr>
                <p:cNvSpPr>
                  <a:spLocks noChangeArrowheads="1"/>
                </p:cNvSpPr>
                <p:nvPr/>
              </p:nvSpPr>
              <p:spPr bwMode="auto">
                <a:xfrm>
                  <a:off x="7289800" y="2466975"/>
                  <a:ext cx="3175" cy="1588"/>
                </a:xfrm>
                <a:custGeom>
                  <a:avLst/>
                  <a:gdLst>
                    <a:gd name="T0" fmla="*/ 9 w 10"/>
                    <a:gd name="T1" fmla="*/ 0 h 6"/>
                    <a:gd name="T2" fmla="*/ 0 w 10"/>
                    <a:gd name="T3" fmla="*/ 5 h 6"/>
                  </a:gdLst>
                  <a:ahLst/>
                  <a:cxnLst>
                    <a:cxn ang="0">
                      <a:pos x="T0" y="T1"/>
                    </a:cxn>
                    <a:cxn ang="0">
                      <a:pos x="T2" y="T3"/>
                    </a:cxn>
                  </a:cxnLst>
                  <a:rect l="0" t="0" r="r" b="b"/>
                  <a:pathLst>
                    <a:path w="10" h="6">
                      <a:moveTo>
                        <a:pt x="9" y="0"/>
                      </a:moveTo>
                      <a:cubicBezTo>
                        <a:pt x="6" y="1"/>
                        <a:pt x="3" y="3"/>
                        <a:pt x="0" y="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0" name="Freeform 274">
                  <a:extLst>
                    <a:ext uri="{FF2B5EF4-FFF2-40B4-BE49-F238E27FC236}">
                      <a16:creationId xmlns:a16="http://schemas.microsoft.com/office/drawing/2014/main" id="{3CE84D57-00A0-F1D4-8B76-763A0702BDE6}"/>
                    </a:ext>
                  </a:extLst>
                </p:cNvPr>
                <p:cNvSpPr>
                  <a:spLocks noChangeArrowheads="1"/>
                </p:cNvSpPr>
                <p:nvPr/>
              </p:nvSpPr>
              <p:spPr bwMode="auto">
                <a:xfrm>
                  <a:off x="7342188" y="2559050"/>
                  <a:ext cx="3175" cy="3175"/>
                </a:xfrm>
                <a:custGeom>
                  <a:avLst/>
                  <a:gdLst>
                    <a:gd name="T0" fmla="*/ 9 w 10"/>
                    <a:gd name="T1" fmla="*/ 0 h 7"/>
                    <a:gd name="T2" fmla="*/ 0 w 10"/>
                    <a:gd name="T3" fmla="*/ 6 h 7"/>
                  </a:gdLst>
                  <a:ahLst/>
                  <a:cxnLst>
                    <a:cxn ang="0">
                      <a:pos x="T0" y="T1"/>
                    </a:cxn>
                    <a:cxn ang="0">
                      <a:pos x="T2" y="T3"/>
                    </a:cxn>
                  </a:cxnLst>
                  <a:rect l="0" t="0" r="r" b="b"/>
                  <a:pathLst>
                    <a:path w="10" h="7">
                      <a:moveTo>
                        <a:pt x="9" y="0"/>
                      </a:moveTo>
                      <a:cubicBezTo>
                        <a:pt x="6" y="2"/>
                        <a:pt x="3" y="4"/>
                        <a:pt x="0" y="6"/>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1" name="Freeform 275">
                  <a:extLst>
                    <a:ext uri="{FF2B5EF4-FFF2-40B4-BE49-F238E27FC236}">
                      <a16:creationId xmlns:a16="http://schemas.microsoft.com/office/drawing/2014/main" id="{89548ED5-0B0D-A939-2C24-8103E3F7AD6A}"/>
                    </a:ext>
                  </a:extLst>
                </p:cNvPr>
                <p:cNvSpPr>
                  <a:spLocks noChangeArrowheads="1"/>
                </p:cNvSpPr>
                <p:nvPr/>
              </p:nvSpPr>
              <p:spPr bwMode="auto">
                <a:xfrm>
                  <a:off x="7362825" y="2486025"/>
                  <a:ext cx="1588" cy="3175"/>
                </a:xfrm>
                <a:custGeom>
                  <a:avLst/>
                  <a:gdLst>
                    <a:gd name="T0" fmla="*/ 5 w 6"/>
                    <a:gd name="T1" fmla="*/ 9 h 10"/>
                    <a:gd name="T2" fmla="*/ 0 w 6"/>
                    <a:gd name="T3" fmla="*/ 0 h 10"/>
                  </a:gdLst>
                  <a:ahLst/>
                  <a:cxnLst>
                    <a:cxn ang="0">
                      <a:pos x="T0" y="T1"/>
                    </a:cxn>
                    <a:cxn ang="0">
                      <a:pos x="T2" y="T3"/>
                    </a:cxn>
                  </a:cxnLst>
                  <a:rect l="0" t="0" r="r" b="b"/>
                  <a:pathLst>
                    <a:path w="6" h="10">
                      <a:moveTo>
                        <a:pt x="5"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2" name="Freeform 276">
                  <a:extLst>
                    <a:ext uri="{FF2B5EF4-FFF2-40B4-BE49-F238E27FC236}">
                      <a16:creationId xmlns:a16="http://schemas.microsoft.com/office/drawing/2014/main" id="{3829184D-9425-7C31-4B45-A30DC5801277}"/>
                    </a:ext>
                  </a:extLst>
                </p:cNvPr>
                <p:cNvSpPr>
                  <a:spLocks noChangeArrowheads="1"/>
                </p:cNvSpPr>
                <p:nvPr/>
              </p:nvSpPr>
              <p:spPr bwMode="auto">
                <a:xfrm>
                  <a:off x="7270750" y="2538413"/>
                  <a:ext cx="3175" cy="3175"/>
                </a:xfrm>
                <a:custGeom>
                  <a:avLst/>
                  <a:gdLst>
                    <a:gd name="T0" fmla="*/ 6 w 7"/>
                    <a:gd name="T1" fmla="*/ 9 h 10"/>
                    <a:gd name="T2" fmla="*/ 0 w 7"/>
                    <a:gd name="T3" fmla="*/ 0 h 10"/>
                  </a:gdLst>
                  <a:ahLst/>
                  <a:cxnLst>
                    <a:cxn ang="0">
                      <a:pos x="T0" y="T1"/>
                    </a:cxn>
                    <a:cxn ang="0">
                      <a:pos x="T2" y="T3"/>
                    </a:cxn>
                  </a:cxnLst>
                  <a:rect l="0" t="0" r="r" b="b"/>
                  <a:pathLst>
                    <a:path w="7" h="10">
                      <a:moveTo>
                        <a:pt x="6" y="9"/>
                      </a:moveTo>
                      <a:cubicBezTo>
                        <a:pt x="4" y="6"/>
                        <a:pt x="2" y="3"/>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3" name="Freeform 277">
                  <a:extLst>
                    <a:ext uri="{FF2B5EF4-FFF2-40B4-BE49-F238E27FC236}">
                      <a16:creationId xmlns:a16="http://schemas.microsoft.com/office/drawing/2014/main" id="{4440CE82-A981-CAE7-2ED9-77E1326BF7BF}"/>
                    </a:ext>
                  </a:extLst>
                </p:cNvPr>
                <p:cNvSpPr>
                  <a:spLocks noChangeArrowheads="1"/>
                </p:cNvSpPr>
                <p:nvPr/>
              </p:nvSpPr>
              <p:spPr bwMode="auto">
                <a:xfrm>
                  <a:off x="7270750" y="2486025"/>
                  <a:ext cx="3175" cy="3175"/>
                </a:xfrm>
                <a:custGeom>
                  <a:avLst/>
                  <a:gdLst>
                    <a:gd name="T0" fmla="*/ 6 w 7"/>
                    <a:gd name="T1" fmla="*/ 0 h 10"/>
                    <a:gd name="T2" fmla="*/ 0 w 7"/>
                    <a:gd name="T3" fmla="*/ 9 h 10"/>
                  </a:gdLst>
                  <a:ahLst/>
                  <a:cxnLst>
                    <a:cxn ang="0">
                      <a:pos x="T0" y="T1"/>
                    </a:cxn>
                    <a:cxn ang="0">
                      <a:pos x="T2" y="T3"/>
                    </a:cxn>
                  </a:cxnLst>
                  <a:rect l="0" t="0" r="r" b="b"/>
                  <a:pathLst>
                    <a:path w="7" h="10">
                      <a:moveTo>
                        <a:pt x="6"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4" name="Freeform 278">
                  <a:extLst>
                    <a:ext uri="{FF2B5EF4-FFF2-40B4-BE49-F238E27FC236}">
                      <a16:creationId xmlns:a16="http://schemas.microsoft.com/office/drawing/2014/main" id="{3A111892-7820-23BA-B99C-AFB7BEEC909A}"/>
                    </a:ext>
                  </a:extLst>
                </p:cNvPr>
                <p:cNvSpPr>
                  <a:spLocks noChangeArrowheads="1"/>
                </p:cNvSpPr>
                <p:nvPr/>
              </p:nvSpPr>
              <p:spPr bwMode="auto">
                <a:xfrm>
                  <a:off x="7362825" y="2538413"/>
                  <a:ext cx="1588" cy="3175"/>
                </a:xfrm>
                <a:custGeom>
                  <a:avLst/>
                  <a:gdLst>
                    <a:gd name="T0" fmla="*/ 5 w 6"/>
                    <a:gd name="T1" fmla="*/ 0 h 10"/>
                    <a:gd name="T2" fmla="*/ 0 w 6"/>
                    <a:gd name="T3" fmla="*/ 9 h 10"/>
                  </a:gdLst>
                  <a:ahLst/>
                  <a:cxnLst>
                    <a:cxn ang="0">
                      <a:pos x="T0" y="T1"/>
                    </a:cxn>
                    <a:cxn ang="0">
                      <a:pos x="T2" y="T3"/>
                    </a:cxn>
                  </a:cxnLst>
                  <a:rect l="0" t="0" r="r" b="b"/>
                  <a:pathLst>
                    <a:path w="6" h="10">
                      <a:moveTo>
                        <a:pt x="5" y="0"/>
                      </a:moveTo>
                      <a:cubicBezTo>
                        <a:pt x="4" y="3"/>
                        <a:pt x="2" y="6"/>
                        <a:pt x="0" y="9"/>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5" name="Freeform 279">
                  <a:extLst>
                    <a:ext uri="{FF2B5EF4-FFF2-40B4-BE49-F238E27FC236}">
                      <a16:creationId xmlns:a16="http://schemas.microsoft.com/office/drawing/2014/main" id="{F70C76B2-71FB-06D9-E973-E6DAF719FD03}"/>
                    </a:ext>
                  </a:extLst>
                </p:cNvPr>
                <p:cNvSpPr>
                  <a:spLocks noChangeArrowheads="1"/>
                </p:cNvSpPr>
                <p:nvPr/>
              </p:nvSpPr>
              <p:spPr bwMode="auto">
                <a:xfrm>
                  <a:off x="7342188" y="2466975"/>
                  <a:ext cx="3175" cy="1588"/>
                </a:xfrm>
                <a:custGeom>
                  <a:avLst/>
                  <a:gdLst>
                    <a:gd name="T0" fmla="*/ 9 w 10"/>
                    <a:gd name="T1" fmla="*/ 5 h 6"/>
                    <a:gd name="T2" fmla="*/ 0 w 10"/>
                    <a:gd name="T3" fmla="*/ 0 h 6"/>
                  </a:gdLst>
                  <a:ahLst/>
                  <a:cxnLst>
                    <a:cxn ang="0">
                      <a:pos x="T0" y="T1"/>
                    </a:cxn>
                    <a:cxn ang="0">
                      <a:pos x="T2" y="T3"/>
                    </a:cxn>
                  </a:cxnLst>
                  <a:rect l="0" t="0" r="r" b="b"/>
                  <a:pathLst>
                    <a:path w="10" h="6">
                      <a:moveTo>
                        <a:pt x="9" y="5"/>
                      </a:moveTo>
                      <a:cubicBezTo>
                        <a:pt x="6" y="3"/>
                        <a:pt x="3" y="1"/>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46" name="Freeform 280">
                  <a:extLst>
                    <a:ext uri="{FF2B5EF4-FFF2-40B4-BE49-F238E27FC236}">
                      <a16:creationId xmlns:a16="http://schemas.microsoft.com/office/drawing/2014/main" id="{83FF4037-CE98-2741-FD64-7445266F0E03}"/>
                    </a:ext>
                  </a:extLst>
                </p:cNvPr>
                <p:cNvSpPr>
                  <a:spLocks noChangeArrowheads="1"/>
                </p:cNvSpPr>
                <p:nvPr/>
              </p:nvSpPr>
              <p:spPr bwMode="auto">
                <a:xfrm>
                  <a:off x="7289800" y="2559050"/>
                  <a:ext cx="3175" cy="3175"/>
                </a:xfrm>
                <a:custGeom>
                  <a:avLst/>
                  <a:gdLst>
                    <a:gd name="T0" fmla="*/ 9 w 10"/>
                    <a:gd name="T1" fmla="*/ 6 h 7"/>
                    <a:gd name="T2" fmla="*/ 0 w 10"/>
                    <a:gd name="T3" fmla="*/ 0 h 7"/>
                  </a:gdLst>
                  <a:ahLst/>
                  <a:cxnLst>
                    <a:cxn ang="0">
                      <a:pos x="T0" y="T1"/>
                    </a:cxn>
                    <a:cxn ang="0">
                      <a:pos x="T2" y="T3"/>
                    </a:cxn>
                  </a:cxnLst>
                  <a:rect l="0" t="0" r="r" b="b"/>
                  <a:pathLst>
                    <a:path w="10" h="7">
                      <a:moveTo>
                        <a:pt x="9" y="6"/>
                      </a:moveTo>
                      <a:cubicBezTo>
                        <a:pt x="6" y="4"/>
                        <a:pt x="3" y="2"/>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56" name="Group 55">
              <a:extLst>
                <a:ext uri="{FF2B5EF4-FFF2-40B4-BE49-F238E27FC236}">
                  <a16:creationId xmlns:a16="http://schemas.microsoft.com/office/drawing/2014/main" id="{258848AA-F375-5BC9-B2DE-ACEE5EC8EBDC}"/>
                </a:ext>
              </a:extLst>
            </p:cNvPr>
            <p:cNvGrpSpPr>
              <a:grpSpLocks noChangeAspect="1"/>
            </p:cNvGrpSpPr>
            <p:nvPr/>
          </p:nvGrpSpPr>
          <p:grpSpPr>
            <a:xfrm>
              <a:off x="20259236" y="4039104"/>
              <a:ext cx="1114744" cy="1113509"/>
              <a:chOff x="2346325" y="4090988"/>
              <a:chExt cx="630238" cy="630237"/>
            </a:xfrm>
          </p:grpSpPr>
          <p:sp>
            <p:nvSpPr>
              <p:cNvPr id="57" name="Freeform 134">
                <a:extLst>
                  <a:ext uri="{FF2B5EF4-FFF2-40B4-BE49-F238E27FC236}">
                    <a16:creationId xmlns:a16="http://schemas.microsoft.com/office/drawing/2014/main" id="{8F7490DB-494B-8C55-AC9F-3CBF7A7A154F}"/>
                  </a:ext>
                </a:extLst>
              </p:cNvPr>
              <p:cNvSpPr>
                <a:spLocks noChangeArrowheads="1"/>
              </p:cNvSpPr>
              <p:nvPr/>
            </p:nvSpPr>
            <p:spPr bwMode="auto">
              <a:xfrm>
                <a:off x="2346325" y="4090988"/>
                <a:ext cx="630238" cy="630237"/>
              </a:xfrm>
              <a:custGeom>
                <a:avLst/>
                <a:gdLst>
                  <a:gd name="T0" fmla="*/ 1467 w 1750"/>
                  <a:gd name="T1" fmla="*/ 1750 h 1751"/>
                  <a:gd name="T2" fmla="*/ 1749 w 1750"/>
                  <a:gd name="T3" fmla="*/ 1468 h 1751"/>
                  <a:gd name="T4" fmla="*/ 1749 w 1750"/>
                  <a:gd name="T5" fmla="*/ 282 h 1751"/>
                  <a:gd name="T6" fmla="*/ 1467 w 1750"/>
                  <a:gd name="T7" fmla="*/ 0 h 1751"/>
                  <a:gd name="T8" fmla="*/ 282 w 1750"/>
                  <a:gd name="T9" fmla="*/ 0 h 1751"/>
                  <a:gd name="T10" fmla="*/ 0 w 1750"/>
                  <a:gd name="T11" fmla="*/ 282 h 1751"/>
                  <a:gd name="T12" fmla="*/ 0 w 1750"/>
                  <a:gd name="T13" fmla="*/ 1468 h 1751"/>
                  <a:gd name="T14" fmla="*/ 282 w 1750"/>
                  <a:gd name="T15" fmla="*/ 1750 h 1751"/>
                  <a:gd name="T16" fmla="*/ 1467 w 1750"/>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0" h="1751">
                    <a:moveTo>
                      <a:pt x="1467" y="1750"/>
                    </a:moveTo>
                    <a:cubicBezTo>
                      <a:pt x="1622" y="1750"/>
                      <a:pt x="1749" y="1623"/>
                      <a:pt x="1749" y="1468"/>
                    </a:cubicBezTo>
                    <a:cubicBezTo>
                      <a:pt x="1749" y="1073"/>
                      <a:pt x="1749" y="678"/>
                      <a:pt x="1749" y="282"/>
                    </a:cubicBezTo>
                    <a:cubicBezTo>
                      <a:pt x="1749" y="127"/>
                      <a:pt x="1622" y="0"/>
                      <a:pt x="1467" y="0"/>
                    </a:cubicBezTo>
                    <a:cubicBezTo>
                      <a:pt x="1072" y="0"/>
                      <a:pt x="677" y="0"/>
                      <a:pt x="282" y="0"/>
                    </a:cubicBezTo>
                    <a:cubicBezTo>
                      <a:pt x="127" y="0"/>
                      <a:pt x="0" y="127"/>
                      <a:pt x="0" y="282"/>
                    </a:cubicBezTo>
                    <a:cubicBezTo>
                      <a:pt x="0" y="678"/>
                      <a:pt x="0" y="1073"/>
                      <a:pt x="0" y="1468"/>
                    </a:cubicBezTo>
                    <a:cubicBezTo>
                      <a:pt x="0" y="1623"/>
                      <a:pt x="127" y="1750"/>
                      <a:pt x="282" y="1750"/>
                    </a:cubicBezTo>
                    <a:cubicBezTo>
                      <a:pt x="677" y="1750"/>
                      <a:pt x="1072" y="1750"/>
                      <a:pt x="1467"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58" name="Group 57">
                <a:extLst>
                  <a:ext uri="{FF2B5EF4-FFF2-40B4-BE49-F238E27FC236}">
                    <a16:creationId xmlns:a16="http://schemas.microsoft.com/office/drawing/2014/main" id="{1590ACC1-B000-28DA-84AF-80DE175EA564}"/>
                  </a:ext>
                </a:extLst>
              </p:cNvPr>
              <p:cNvGrpSpPr/>
              <p:nvPr/>
            </p:nvGrpSpPr>
            <p:grpSpPr>
              <a:xfrm>
                <a:off x="2455863" y="4235450"/>
                <a:ext cx="411162" cy="342900"/>
                <a:chOff x="2455863" y="4235450"/>
                <a:chExt cx="411162" cy="342900"/>
              </a:xfrm>
            </p:grpSpPr>
            <p:sp>
              <p:nvSpPr>
                <p:cNvPr id="59" name="Freeform 135">
                  <a:extLst>
                    <a:ext uri="{FF2B5EF4-FFF2-40B4-BE49-F238E27FC236}">
                      <a16:creationId xmlns:a16="http://schemas.microsoft.com/office/drawing/2014/main" id="{0E2A97F4-565B-BBFA-1C04-A67D9F3DD05D}"/>
                    </a:ext>
                  </a:extLst>
                </p:cNvPr>
                <p:cNvSpPr>
                  <a:spLocks noChangeArrowheads="1"/>
                </p:cNvSpPr>
                <p:nvPr/>
              </p:nvSpPr>
              <p:spPr bwMode="auto">
                <a:xfrm>
                  <a:off x="2459038" y="4235450"/>
                  <a:ext cx="254000" cy="244475"/>
                </a:xfrm>
                <a:custGeom>
                  <a:avLst/>
                  <a:gdLst>
                    <a:gd name="T0" fmla="*/ 706 w 707"/>
                    <a:gd name="T1" fmla="*/ 0 h 679"/>
                    <a:gd name="T2" fmla="*/ 0 w 707"/>
                    <a:gd name="T3" fmla="*/ 678 h 679"/>
                  </a:gdLst>
                  <a:ahLst/>
                  <a:cxnLst>
                    <a:cxn ang="0">
                      <a:pos x="T0" y="T1"/>
                    </a:cxn>
                    <a:cxn ang="0">
                      <a:pos x="T2" y="T3"/>
                    </a:cxn>
                  </a:cxnLst>
                  <a:rect l="0" t="0" r="r" b="b"/>
                  <a:pathLst>
                    <a:path w="707" h="679">
                      <a:moveTo>
                        <a:pt x="706" y="0"/>
                      </a:moveTo>
                      <a:cubicBezTo>
                        <a:pt x="471" y="226"/>
                        <a:pt x="235" y="452"/>
                        <a:pt x="0" y="678"/>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0" name="Freeform 136">
                  <a:extLst>
                    <a:ext uri="{FF2B5EF4-FFF2-40B4-BE49-F238E27FC236}">
                      <a16:creationId xmlns:a16="http://schemas.microsoft.com/office/drawing/2014/main" id="{4167EA81-20FF-025F-822D-EAA957F9A451}"/>
                    </a:ext>
                  </a:extLst>
                </p:cNvPr>
                <p:cNvSpPr>
                  <a:spLocks noChangeArrowheads="1"/>
                </p:cNvSpPr>
                <p:nvPr/>
              </p:nvSpPr>
              <p:spPr bwMode="auto">
                <a:xfrm>
                  <a:off x="2652713" y="4235450"/>
                  <a:ext cx="61912" cy="61913"/>
                </a:xfrm>
                <a:custGeom>
                  <a:avLst/>
                  <a:gdLst>
                    <a:gd name="T0" fmla="*/ 170 w 171"/>
                    <a:gd name="T1" fmla="*/ 169 h 170"/>
                    <a:gd name="T2" fmla="*/ 170 w 171"/>
                    <a:gd name="T3" fmla="*/ 7 h 170"/>
                    <a:gd name="T4" fmla="*/ 163 w 171"/>
                    <a:gd name="T5" fmla="*/ 0 h 170"/>
                    <a:gd name="T6" fmla="*/ 0 w 171"/>
                    <a:gd name="T7" fmla="*/ 0 h 170"/>
                  </a:gdLst>
                  <a:ahLst/>
                  <a:cxnLst>
                    <a:cxn ang="0">
                      <a:pos x="T0" y="T1"/>
                    </a:cxn>
                    <a:cxn ang="0">
                      <a:pos x="T2" y="T3"/>
                    </a:cxn>
                    <a:cxn ang="0">
                      <a:pos x="T4" y="T5"/>
                    </a:cxn>
                    <a:cxn ang="0">
                      <a:pos x="T6" y="T7"/>
                    </a:cxn>
                  </a:cxnLst>
                  <a:rect l="0" t="0" r="r" b="b"/>
                  <a:pathLst>
                    <a:path w="171" h="170">
                      <a:moveTo>
                        <a:pt x="170" y="169"/>
                      </a:moveTo>
                      <a:cubicBezTo>
                        <a:pt x="170" y="115"/>
                        <a:pt x="170" y="61"/>
                        <a:pt x="170" y="7"/>
                      </a:cubicBezTo>
                      <a:cubicBezTo>
                        <a:pt x="170" y="3"/>
                        <a:pt x="167" y="0"/>
                        <a:pt x="163" y="0"/>
                      </a:cubicBezTo>
                      <a:cubicBezTo>
                        <a:pt x="109" y="0"/>
                        <a:pt x="5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1" name="Freeform 137">
                  <a:extLst>
                    <a:ext uri="{FF2B5EF4-FFF2-40B4-BE49-F238E27FC236}">
                      <a16:creationId xmlns:a16="http://schemas.microsoft.com/office/drawing/2014/main" id="{824D3748-A21A-71F1-0E27-97D9F38E08FA}"/>
                    </a:ext>
                  </a:extLst>
                </p:cNvPr>
                <p:cNvSpPr>
                  <a:spLocks noChangeArrowheads="1"/>
                </p:cNvSpPr>
                <p:nvPr/>
              </p:nvSpPr>
              <p:spPr bwMode="auto">
                <a:xfrm>
                  <a:off x="2749550" y="4235450"/>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2" name="Freeform 138">
                  <a:extLst>
                    <a:ext uri="{FF2B5EF4-FFF2-40B4-BE49-F238E27FC236}">
                      <a16:creationId xmlns:a16="http://schemas.microsoft.com/office/drawing/2014/main" id="{E61C3645-5163-E3F0-72E3-CA0BBF641333}"/>
                    </a:ext>
                  </a:extLst>
                </p:cNvPr>
                <p:cNvSpPr>
                  <a:spLocks noChangeArrowheads="1"/>
                </p:cNvSpPr>
                <p:nvPr/>
              </p:nvSpPr>
              <p:spPr bwMode="auto">
                <a:xfrm>
                  <a:off x="2825750" y="4265613"/>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3" name="Freeform 139">
                  <a:extLst>
                    <a:ext uri="{FF2B5EF4-FFF2-40B4-BE49-F238E27FC236}">
                      <a16:creationId xmlns:a16="http://schemas.microsoft.com/office/drawing/2014/main" id="{147D8023-52FE-AB18-35ED-83AF30623223}"/>
                    </a:ext>
                  </a:extLst>
                </p:cNvPr>
                <p:cNvSpPr>
                  <a:spLocks noChangeArrowheads="1"/>
                </p:cNvSpPr>
                <p:nvPr/>
              </p:nvSpPr>
              <p:spPr bwMode="auto">
                <a:xfrm>
                  <a:off x="2749550" y="4329113"/>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4" name="Freeform 140">
                  <a:extLst>
                    <a:ext uri="{FF2B5EF4-FFF2-40B4-BE49-F238E27FC236}">
                      <a16:creationId xmlns:a16="http://schemas.microsoft.com/office/drawing/2014/main" id="{9D2BF301-0C21-A538-0433-3FEDA844FE0F}"/>
                    </a:ext>
                  </a:extLst>
                </p:cNvPr>
                <p:cNvSpPr>
                  <a:spLocks noChangeArrowheads="1"/>
                </p:cNvSpPr>
                <p:nvPr/>
              </p:nvSpPr>
              <p:spPr bwMode="auto">
                <a:xfrm>
                  <a:off x="2825750" y="4359275"/>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5" name="Freeform 141">
                  <a:extLst>
                    <a:ext uri="{FF2B5EF4-FFF2-40B4-BE49-F238E27FC236}">
                      <a16:creationId xmlns:a16="http://schemas.microsoft.com/office/drawing/2014/main" id="{41A19EA8-45F0-8DE7-AF6C-9ECE83CDD444}"/>
                    </a:ext>
                  </a:extLst>
                </p:cNvPr>
                <p:cNvSpPr>
                  <a:spLocks noChangeArrowheads="1"/>
                </p:cNvSpPr>
                <p:nvPr/>
              </p:nvSpPr>
              <p:spPr bwMode="auto">
                <a:xfrm>
                  <a:off x="2749550" y="4422775"/>
                  <a:ext cx="117475" cy="61913"/>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6" name="Freeform 142">
                  <a:extLst>
                    <a:ext uri="{FF2B5EF4-FFF2-40B4-BE49-F238E27FC236}">
                      <a16:creationId xmlns:a16="http://schemas.microsoft.com/office/drawing/2014/main" id="{CC97CE20-7006-7607-0458-A0B4E79B4890}"/>
                    </a:ext>
                  </a:extLst>
                </p:cNvPr>
                <p:cNvSpPr>
                  <a:spLocks noChangeArrowheads="1"/>
                </p:cNvSpPr>
                <p:nvPr/>
              </p:nvSpPr>
              <p:spPr bwMode="auto">
                <a:xfrm>
                  <a:off x="2825750" y="4452938"/>
                  <a:ext cx="15875" cy="1587"/>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7" name="Freeform 143">
                  <a:extLst>
                    <a:ext uri="{FF2B5EF4-FFF2-40B4-BE49-F238E27FC236}">
                      <a16:creationId xmlns:a16="http://schemas.microsoft.com/office/drawing/2014/main" id="{BE642D7A-84AF-3437-5841-C4A320F4E15B}"/>
                    </a:ext>
                  </a:extLst>
                </p:cNvPr>
                <p:cNvSpPr>
                  <a:spLocks noChangeArrowheads="1"/>
                </p:cNvSpPr>
                <p:nvPr/>
              </p:nvSpPr>
              <p:spPr bwMode="auto">
                <a:xfrm>
                  <a:off x="2749550" y="4516438"/>
                  <a:ext cx="117475" cy="61912"/>
                </a:xfrm>
                <a:custGeom>
                  <a:avLst/>
                  <a:gdLst>
                    <a:gd name="T0" fmla="*/ 324 w 325"/>
                    <a:gd name="T1" fmla="*/ 56 h 170"/>
                    <a:gd name="T2" fmla="*/ 268 w 325"/>
                    <a:gd name="T3" fmla="*/ 0 h 170"/>
                    <a:gd name="T4" fmla="*/ 56 w 325"/>
                    <a:gd name="T5" fmla="*/ 0 h 170"/>
                    <a:gd name="T6" fmla="*/ 0 w 325"/>
                    <a:gd name="T7" fmla="*/ 56 h 170"/>
                    <a:gd name="T8" fmla="*/ 0 w 325"/>
                    <a:gd name="T9" fmla="*/ 113 h 170"/>
                    <a:gd name="T10" fmla="*/ 56 w 325"/>
                    <a:gd name="T11" fmla="*/ 169 h 170"/>
                    <a:gd name="T12" fmla="*/ 268 w 325"/>
                    <a:gd name="T13" fmla="*/ 169 h 170"/>
                    <a:gd name="T14" fmla="*/ 324 w 325"/>
                    <a:gd name="T15" fmla="*/ 113 h 170"/>
                    <a:gd name="T16" fmla="*/ 324 w 325"/>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5" h="170">
                      <a:moveTo>
                        <a:pt x="324" y="56"/>
                      </a:moveTo>
                      <a:cubicBezTo>
                        <a:pt x="324" y="25"/>
                        <a:pt x="299" y="0"/>
                        <a:pt x="268" y="0"/>
                      </a:cubicBezTo>
                      <a:cubicBezTo>
                        <a:pt x="197" y="0"/>
                        <a:pt x="127" y="0"/>
                        <a:pt x="56" y="0"/>
                      </a:cubicBezTo>
                      <a:cubicBezTo>
                        <a:pt x="25" y="0"/>
                        <a:pt x="0" y="25"/>
                        <a:pt x="0" y="56"/>
                      </a:cubicBezTo>
                      <a:cubicBezTo>
                        <a:pt x="0" y="75"/>
                        <a:pt x="0" y="94"/>
                        <a:pt x="0" y="113"/>
                      </a:cubicBezTo>
                      <a:cubicBezTo>
                        <a:pt x="0" y="144"/>
                        <a:pt x="25" y="169"/>
                        <a:pt x="56" y="169"/>
                      </a:cubicBezTo>
                      <a:cubicBezTo>
                        <a:pt x="127" y="169"/>
                        <a:pt x="197" y="169"/>
                        <a:pt x="268" y="169"/>
                      </a:cubicBezTo>
                      <a:cubicBezTo>
                        <a:pt x="299" y="169"/>
                        <a:pt x="324" y="144"/>
                        <a:pt x="324" y="113"/>
                      </a:cubicBezTo>
                      <a:cubicBezTo>
                        <a:pt x="324" y="94"/>
                        <a:pt x="324" y="75"/>
                        <a:pt x="324"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68" name="Freeform 144">
                  <a:extLst>
                    <a:ext uri="{FF2B5EF4-FFF2-40B4-BE49-F238E27FC236}">
                      <a16:creationId xmlns:a16="http://schemas.microsoft.com/office/drawing/2014/main" id="{069C215B-E238-8749-2293-AB40D9CFE65E}"/>
                    </a:ext>
                  </a:extLst>
                </p:cNvPr>
                <p:cNvSpPr>
                  <a:spLocks noChangeArrowheads="1"/>
                </p:cNvSpPr>
                <p:nvPr/>
              </p:nvSpPr>
              <p:spPr bwMode="auto">
                <a:xfrm>
                  <a:off x="2825750" y="4546600"/>
                  <a:ext cx="15875" cy="1588"/>
                </a:xfrm>
                <a:custGeom>
                  <a:avLst/>
                  <a:gdLst>
                    <a:gd name="T0" fmla="*/ 43 w 44"/>
                    <a:gd name="T1" fmla="*/ 0 h 1"/>
                    <a:gd name="T2" fmla="*/ 0 w 44"/>
                    <a:gd name="T3" fmla="*/ 0 h 1"/>
                  </a:gdLst>
                  <a:ahLst/>
                  <a:cxnLst>
                    <a:cxn ang="0">
                      <a:pos x="T0" y="T1"/>
                    </a:cxn>
                    <a:cxn ang="0">
                      <a:pos x="T2" y="T3"/>
                    </a:cxn>
                  </a:cxnLst>
                  <a:rect l="0" t="0" r="r" b="b"/>
                  <a:pathLst>
                    <a:path w="44" h="1">
                      <a:moveTo>
                        <a:pt x="43" y="0"/>
                      </a:moveTo>
                      <a:cubicBezTo>
                        <a:pt x="29"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69" name="Freeform 145">
                  <a:extLst>
                    <a:ext uri="{FF2B5EF4-FFF2-40B4-BE49-F238E27FC236}">
                      <a16:creationId xmlns:a16="http://schemas.microsoft.com/office/drawing/2014/main" id="{C646E867-E0BA-E1B8-996D-8C59F1D1098C}"/>
                    </a:ext>
                  </a:extLst>
                </p:cNvPr>
                <p:cNvSpPr>
                  <a:spLocks noChangeArrowheads="1"/>
                </p:cNvSpPr>
                <p:nvPr/>
              </p:nvSpPr>
              <p:spPr bwMode="auto">
                <a:xfrm>
                  <a:off x="2601913" y="4422775"/>
                  <a:ext cx="117475" cy="61913"/>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0" name="Freeform 146">
                  <a:extLst>
                    <a:ext uri="{FF2B5EF4-FFF2-40B4-BE49-F238E27FC236}">
                      <a16:creationId xmlns:a16="http://schemas.microsoft.com/office/drawing/2014/main" id="{6FC36467-CAE1-5A8E-2269-734228B26224}"/>
                    </a:ext>
                  </a:extLst>
                </p:cNvPr>
                <p:cNvSpPr>
                  <a:spLocks noChangeArrowheads="1"/>
                </p:cNvSpPr>
                <p:nvPr/>
              </p:nvSpPr>
              <p:spPr bwMode="auto">
                <a:xfrm>
                  <a:off x="2678113" y="4452938"/>
                  <a:ext cx="15875" cy="1587"/>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1" name="Freeform 147">
                  <a:extLst>
                    <a:ext uri="{FF2B5EF4-FFF2-40B4-BE49-F238E27FC236}">
                      <a16:creationId xmlns:a16="http://schemas.microsoft.com/office/drawing/2014/main" id="{4B435EF4-22E9-F8BF-74E7-FD44D6D37142}"/>
                    </a:ext>
                  </a:extLst>
                </p:cNvPr>
                <p:cNvSpPr>
                  <a:spLocks noChangeArrowheads="1"/>
                </p:cNvSpPr>
                <p:nvPr/>
              </p:nvSpPr>
              <p:spPr bwMode="auto">
                <a:xfrm>
                  <a:off x="260191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300" y="0"/>
                        <a:pt x="268" y="0"/>
                      </a:cubicBezTo>
                      <a:cubicBezTo>
                        <a:pt x="198" y="0"/>
                        <a:pt x="127" y="0"/>
                        <a:pt x="57" y="0"/>
                      </a:cubicBezTo>
                      <a:cubicBezTo>
                        <a:pt x="26" y="0"/>
                        <a:pt x="0" y="25"/>
                        <a:pt x="0" y="56"/>
                      </a:cubicBezTo>
                      <a:cubicBezTo>
                        <a:pt x="0" y="75"/>
                        <a:pt x="0" y="94"/>
                        <a:pt x="0" y="113"/>
                      </a:cubicBezTo>
                      <a:cubicBezTo>
                        <a:pt x="0" y="144"/>
                        <a:pt x="26" y="169"/>
                        <a:pt x="57" y="169"/>
                      </a:cubicBezTo>
                      <a:cubicBezTo>
                        <a:pt x="127" y="169"/>
                        <a:pt x="198" y="169"/>
                        <a:pt x="268" y="169"/>
                      </a:cubicBezTo>
                      <a:cubicBezTo>
                        <a:pt x="300"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2" name="Freeform 148">
                  <a:extLst>
                    <a:ext uri="{FF2B5EF4-FFF2-40B4-BE49-F238E27FC236}">
                      <a16:creationId xmlns:a16="http://schemas.microsoft.com/office/drawing/2014/main" id="{35CA169E-62B0-9B88-C375-3870498F401E}"/>
                    </a:ext>
                  </a:extLst>
                </p:cNvPr>
                <p:cNvSpPr>
                  <a:spLocks noChangeArrowheads="1"/>
                </p:cNvSpPr>
                <p:nvPr/>
              </p:nvSpPr>
              <p:spPr bwMode="auto">
                <a:xfrm>
                  <a:off x="267811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sp>
              <p:nvSpPr>
                <p:cNvPr id="73" name="Freeform 149">
                  <a:extLst>
                    <a:ext uri="{FF2B5EF4-FFF2-40B4-BE49-F238E27FC236}">
                      <a16:creationId xmlns:a16="http://schemas.microsoft.com/office/drawing/2014/main" id="{1406658F-B31F-44E4-3F9E-7B9F6B5EE71C}"/>
                    </a:ext>
                  </a:extLst>
                </p:cNvPr>
                <p:cNvSpPr>
                  <a:spLocks noChangeArrowheads="1"/>
                </p:cNvSpPr>
                <p:nvPr/>
              </p:nvSpPr>
              <p:spPr bwMode="auto">
                <a:xfrm>
                  <a:off x="2455863" y="4516438"/>
                  <a:ext cx="117475" cy="61912"/>
                </a:xfrm>
                <a:custGeom>
                  <a:avLst/>
                  <a:gdLst>
                    <a:gd name="T0" fmla="*/ 325 w 326"/>
                    <a:gd name="T1" fmla="*/ 56 h 170"/>
                    <a:gd name="T2" fmla="*/ 268 w 326"/>
                    <a:gd name="T3" fmla="*/ 0 h 170"/>
                    <a:gd name="T4" fmla="*/ 57 w 326"/>
                    <a:gd name="T5" fmla="*/ 0 h 170"/>
                    <a:gd name="T6" fmla="*/ 0 w 326"/>
                    <a:gd name="T7" fmla="*/ 56 h 170"/>
                    <a:gd name="T8" fmla="*/ 0 w 326"/>
                    <a:gd name="T9" fmla="*/ 113 h 170"/>
                    <a:gd name="T10" fmla="*/ 57 w 326"/>
                    <a:gd name="T11" fmla="*/ 169 h 170"/>
                    <a:gd name="T12" fmla="*/ 268 w 326"/>
                    <a:gd name="T13" fmla="*/ 169 h 170"/>
                    <a:gd name="T14" fmla="*/ 325 w 326"/>
                    <a:gd name="T15" fmla="*/ 113 h 170"/>
                    <a:gd name="T16" fmla="*/ 325 w 326"/>
                    <a:gd name="T17" fmla="*/ 56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6" h="170">
                      <a:moveTo>
                        <a:pt x="325" y="56"/>
                      </a:moveTo>
                      <a:cubicBezTo>
                        <a:pt x="325" y="25"/>
                        <a:pt x="299" y="0"/>
                        <a:pt x="268" y="0"/>
                      </a:cubicBezTo>
                      <a:cubicBezTo>
                        <a:pt x="198" y="0"/>
                        <a:pt x="127" y="0"/>
                        <a:pt x="57" y="0"/>
                      </a:cubicBezTo>
                      <a:cubicBezTo>
                        <a:pt x="25" y="0"/>
                        <a:pt x="0" y="25"/>
                        <a:pt x="0" y="56"/>
                      </a:cubicBezTo>
                      <a:cubicBezTo>
                        <a:pt x="0" y="75"/>
                        <a:pt x="0" y="94"/>
                        <a:pt x="0" y="113"/>
                      </a:cubicBezTo>
                      <a:cubicBezTo>
                        <a:pt x="0" y="144"/>
                        <a:pt x="25" y="169"/>
                        <a:pt x="57" y="169"/>
                      </a:cubicBezTo>
                      <a:cubicBezTo>
                        <a:pt x="127" y="169"/>
                        <a:pt x="198" y="169"/>
                        <a:pt x="268" y="169"/>
                      </a:cubicBezTo>
                      <a:cubicBezTo>
                        <a:pt x="299" y="169"/>
                        <a:pt x="325" y="144"/>
                        <a:pt x="325" y="113"/>
                      </a:cubicBezTo>
                      <a:cubicBezTo>
                        <a:pt x="325" y="94"/>
                        <a:pt x="325" y="75"/>
                        <a:pt x="325" y="56"/>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74" name="Freeform 150">
                  <a:extLst>
                    <a:ext uri="{FF2B5EF4-FFF2-40B4-BE49-F238E27FC236}">
                      <a16:creationId xmlns:a16="http://schemas.microsoft.com/office/drawing/2014/main" id="{1D94BC9C-267E-879C-5D12-6728F1A02B9D}"/>
                    </a:ext>
                  </a:extLst>
                </p:cNvPr>
                <p:cNvSpPr>
                  <a:spLocks noChangeArrowheads="1"/>
                </p:cNvSpPr>
                <p:nvPr/>
              </p:nvSpPr>
              <p:spPr bwMode="auto">
                <a:xfrm>
                  <a:off x="2532063" y="4546600"/>
                  <a:ext cx="15875" cy="1588"/>
                </a:xfrm>
                <a:custGeom>
                  <a:avLst/>
                  <a:gdLst>
                    <a:gd name="T0" fmla="*/ 42 w 43"/>
                    <a:gd name="T1" fmla="*/ 0 h 1"/>
                    <a:gd name="T2" fmla="*/ 0 w 43"/>
                    <a:gd name="T3" fmla="*/ 0 h 1"/>
                  </a:gdLst>
                  <a:ahLst/>
                  <a:cxnLst>
                    <a:cxn ang="0">
                      <a:pos x="T0" y="T1"/>
                    </a:cxn>
                    <a:cxn ang="0">
                      <a:pos x="T2" y="T3"/>
                    </a:cxn>
                  </a:cxnLst>
                  <a:rect l="0" t="0" r="r" b="b"/>
                  <a:pathLst>
                    <a:path w="43" h="1">
                      <a:moveTo>
                        <a:pt x="42" y="0"/>
                      </a:moveTo>
                      <a:cubicBezTo>
                        <a:pt x="28" y="0"/>
                        <a:pt x="14" y="0"/>
                        <a:pt x="0" y="0"/>
                      </a:cubicBezTo>
                    </a:path>
                  </a:pathLst>
                </a:custGeom>
                <a:noFill/>
                <a:ln w="15875"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nvGrpSpPr>
            <p:cNvPr id="79" name="Group 78">
              <a:extLst>
                <a:ext uri="{FF2B5EF4-FFF2-40B4-BE49-F238E27FC236}">
                  <a16:creationId xmlns:a16="http://schemas.microsoft.com/office/drawing/2014/main" id="{43D4FECB-45D1-423E-5F70-4BF4D4DFB2F8}"/>
                </a:ext>
              </a:extLst>
            </p:cNvPr>
            <p:cNvGrpSpPr>
              <a:grpSpLocks noChangeAspect="1"/>
            </p:cNvGrpSpPr>
            <p:nvPr/>
          </p:nvGrpSpPr>
          <p:grpSpPr>
            <a:xfrm>
              <a:off x="20258349" y="9558143"/>
              <a:ext cx="1113508" cy="1113510"/>
              <a:chOff x="10655081" y="510378"/>
              <a:chExt cx="788067" cy="788068"/>
            </a:xfrm>
          </p:grpSpPr>
          <p:sp>
            <p:nvSpPr>
              <p:cNvPr id="80" name="Freeform 63">
                <a:extLst>
                  <a:ext uri="{FF2B5EF4-FFF2-40B4-BE49-F238E27FC236}">
                    <a16:creationId xmlns:a16="http://schemas.microsoft.com/office/drawing/2014/main" id="{3514EE83-25CA-B117-5629-8112B59DE777}"/>
                  </a:ext>
                </a:extLst>
              </p:cNvPr>
              <p:cNvSpPr>
                <a:spLocks noChangeArrowheads="1"/>
              </p:cNvSpPr>
              <p:nvPr/>
            </p:nvSpPr>
            <p:spPr bwMode="auto">
              <a:xfrm>
                <a:off x="10655081" y="510378"/>
                <a:ext cx="788067" cy="788068"/>
              </a:xfrm>
              <a:custGeom>
                <a:avLst/>
                <a:gdLst>
                  <a:gd name="T0" fmla="*/ 1468 w 1751"/>
                  <a:gd name="T1" fmla="*/ 1750 h 1751"/>
                  <a:gd name="T2" fmla="*/ 1750 w 1751"/>
                  <a:gd name="T3" fmla="*/ 1467 h 1751"/>
                  <a:gd name="T4" fmla="*/ 1750 w 1751"/>
                  <a:gd name="T5" fmla="*/ 282 h 1751"/>
                  <a:gd name="T6" fmla="*/ 1468 w 1751"/>
                  <a:gd name="T7" fmla="*/ 0 h 1751"/>
                  <a:gd name="T8" fmla="*/ 282 w 1751"/>
                  <a:gd name="T9" fmla="*/ 0 h 1751"/>
                  <a:gd name="T10" fmla="*/ 0 w 1751"/>
                  <a:gd name="T11" fmla="*/ 282 h 1751"/>
                  <a:gd name="T12" fmla="*/ 0 w 1751"/>
                  <a:gd name="T13" fmla="*/ 1467 h 1751"/>
                  <a:gd name="T14" fmla="*/ 282 w 1751"/>
                  <a:gd name="T15" fmla="*/ 1750 h 1751"/>
                  <a:gd name="T16" fmla="*/ 1468 w 1751"/>
                  <a:gd name="T17" fmla="*/ 1750 h 17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51" h="1751">
                    <a:moveTo>
                      <a:pt x="1468" y="1750"/>
                    </a:moveTo>
                    <a:cubicBezTo>
                      <a:pt x="1623" y="1750"/>
                      <a:pt x="1750" y="1623"/>
                      <a:pt x="1750" y="1467"/>
                    </a:cubicBezTo>
                    <a:cubicBezTo>
                      <a:pt x="1750" y="1072"/>
                      <a:pt x="1750" y="677"/>
                      <a:pt x="1750" y="282"/>
                    </a:cubicBezTo>
                    <a:cubicBezTo>
                      <a:pt x="1750" y="127"/>
                      <a:pt x="1623" y="0"/>
                      <a:pt x="1468" y="0"/>
                    </a:cubicBezTo>
                    <a:cubicBezTo>
                      <a:pt x="1073" y="0"/>
                      <a:pt x="677" y="0"/>
                      <a:pt x="282" y="0"/>
                    </a:cubicBezTo>
                    <a:cubicBezTo>
                      <a:pt x="127" y="0"/>
                      <a:pt x="0" y="127"/>
                      <a:pt x="0" y="282"/>
                    </a:cubicBezTo>
                    <a:cubicBezTo>
                      <a:pt x="0" y="677"/>
                      <a:pt x="0" y="1072"/>
                      <a:pt x="0" y="1467"/>
                    </a:cubicBezTo>
                    <a:cubicBezTo>
                      <a:pt x="0" y="1623"/>
                      <a:pt x="127" y="1750"/>
                      <a:pt x="282" y="1750"/>
                    </a:cubicBezTo>
                    <a:cubicBezTo>
                      <a:pt x="677" y="1750"/>
                      <a:pt x="1073" y="1750"/>
                      <a:pt x="1468" y="175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grpSp>
            <p:nvGrpSpPr>
              <p:cNvPr id="81" name="Group 80">
                <a:extLst>
                  <a:ext uri="{FF2B5EF4-FFF2-40B4-BE49-F238E27FC236}">
                    <a16:creationId xmlns:a16="http://schemas.microsoft.com/office/drawing/2014/main" id="{CF061B06-3F22-6E44-61E1-E05B86AFCCAE}"/>
                  </a:ext>
                </a:extLst>
              </p:cNvPr>
              <p:cNvGrpSpPr/>
              <p:nvPr/>
            </p:nvGrpSpPr>
            <p:grpSpPr>
              <a:xfrm>
                <a:off x="10744408" y="603676"/>
                <a:ext cx="609413" cy="601472"/>
                <a:chOff x="10744408" y="603676"/>
                <a:chExt cx="609413" cy="601472"/>
              </a:xfrm>
            </p:grpSpPr>
            <p:sp>
              <p:nvSpPr>
                <p:cNvPr id="82" name="Freeform 64">
                  <a:extLst>
                    <a:ext uri="{FF2B5EF4-FFF2-40B4-BE49-F238E27FC236}">
                      <a16:creationId xmlns:a16="http://schemas.microsoft.com/office/drawing/2014/main" id="{83676F2F-D49B-A7C1-966A-C00CB891073C}"/>
                    </a:ext>
                  </a:extLst>
                </p:cNvPr>
                <p:cNvSpPr>
                  <a:spLocks noChangeArrowheads="1"/>
                </p:cNvSpPr>
                <p:nvPr/>
              </p:nvSpPr>
              <p:spPr bwMode="auto">
                <a:xfrm>
                  <a:off x="10841676" y="625510"/>
                  <a:ext cx="89327" cy="89328"/>
                </a:xfrm>
                <a:custGeom>
                  <a:avLst/>
                  <a:gdLst>
                    <a:gd name="T0" fmla="*/ 198 w 199"/>
                    <a:gd name="T1" fmla="*/ 98 h 198"/>
                    <a:gd name="T2" fmla="*/ 184 w 199"/>
                    <a:gd name="T3" fmla="*/ 148 h 198"/>
                    <a:gd name="T4" fmla="*/ 148 w 199"/>
                    <a:gd name="T5" fmla="*/ 184 h 198"/>
                    <a:gd name="T6" fmla="*/ 99 w 199"/>
                    <a:gd name="T7" fmla="*/ 197 h 198"/>
                    <a:gd name="T8" fmla="*/ 49 w 199"/>
                    <a:gd name="T9" fmla="*/ 184 h 198"/>
                    <a:gd name="T10" fmla="*/ 13 w 199"/>
                    <a:gd name="T11" fmla="*/ 148 h 198"/>
                    <a:gd name="T12" fmla="*/ 0 w 199"/>
                    <a:gd name="T13" fmla="*/ 98 h 198"/>
                    <a:gd name="T14" fmla="*/ 13 w 199"/>
                    <a:gd name="T15" fmla="*/ 49 h 198"/>
                    <a:gd name="T16" fmla="*/ 49 w 199"/>
                    <a:gd name="T17" fmla="*/ 13 h 198"/>
                    <a:gd name="T18" fmla="*/ 99 w 199"/>
                    <a:gd name="T19" fmla="*/ 0 h 198"/>
                    <a:gd name="T20" fmla="*/ 148 w 199"/>
                    <a:gd name="T21" fmla="*/ 13 h 198"/>
                    <a:gd name="T22" fmla="*/ 184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3" y="132"/>
                        <a:pt x="184" y="148"/>
                      </a:cubicBezTo>
                      <a:cubicBezTo>
                        <a:pt x="175" y="164"/>
                        <a:pt x="164" y="175"/>
                        <a:pt x="148" y="184"/>
                      </a:cubicBezTo>
                      <a:cubicBezTo>
                        <a:pt x="132" y="193"/>
                        <a:pt x="117" y="197"/>
                        <a:pt x="99" y="197"/>
                      </a:cubicBezTo>
                      <a:cubicBezTo>
                        <a:pt x="81" y="197"/>
                        <a:pt x="65" y="193"/>
                        <a:pt x="49" y="184"/>
                      </a:cubicBezTo>
                      <a:cubicBezTo>
                        <a:pt x="34" y="175"/>
                        <a:pt x="22" y="164"/>
                        <a:pt x="13" y="148"/>
                      </a:cubicBezTo>
                      <a:cubicBezTo>
                        <a:pt x="4" y="132"/>
                        <a:pt x="0" y="116"/>
                        <a:pt x="0" y="98"/>
                      </a:cubicBezTo>
                      <a:cubicBezTo>
                        <a:pt x="0" y="79"/>
                        <a:pt x="4" y="65"/>
                        <a:pt x="13" y="49"/>
                      </a:cubicBezTo>
                      <a:cubicBezTo>
                        <a:pt x="22" y="33"/>
                        <a:pt x="34" y="22"/>
                        <a:pt x="49" y="13"/>
                      </a:cubicBezTo>
                      <a:cubicBezTo>
                        <a:pt x="65" y="4"/>
                        <a:pt x="81" y="0"/>
                        <a:pt x="99" y="0"/>
                      </a:cubicBezTo>
                      <a:cubicBezTo>
                        <a:pt x="117" y="0"/>
                        <a:pt x="132" y="4"/>
                        <a:pt x="148" y="13"/>
                      </a:cubicBezTo>
                      <a:cubicBezTo>
                        <a:pt x="164" y="22"/>
                        <a:pt x="175" y="33"/>
                        <a:pt x="184" y="49"/>
                      </a:cubicBezTo>
                      <a:cubicBezTo>
                        <a:pt x="193"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3" name="Freeform 65">
                  <a:extLst>
                    <a:ext uri="{FF2B5EF4-FFF2-40B4-BE49-F238E27FC236}">
                      <a16:creationId xmlns:a16="http://schemas.microsoft.com/office/drawing/2014/main" id="{9A1D1CC8-A04E-8860-EE36-6D6CCEA60637}"/>
                    </a:ext>
                  </a:extLst>
                </p:cNvPr>
                <p:cNvSpPr>
                  <a:spLocks noChangeArrowheads="1"/>
                </p:cNvSpPr>
                <p:nvPr/>
              </p:nvSpPr>
              <p:spPr bwMode="auto">
                <a:xfrm>
                  <a:off x="10744408" y="603676"/>
                  <a:ext cx="325549" cy="601471"/>
                </a:xfrm>
                <a:custGeom>
                  <a:avLst/>
                  <a:gdLst>
                    <a:gd name="T0" fmla="*/ 453 w 725"/>
                    <a:gd name="T1" fmla="*/ 1284 h 1335"/>
                    <a:gd name="T2" fmla="*/ 403 w 725"/>
                    <a:gd name="T3" fmla="*/ 1334 h 1335"/>
                    <a:gd name="T4" fmla="*/ 354 w 725"/>
                    <a:gd name="T5" fmla="*/ 1284 h 1335"/>
                    <a:gd name="T6" fmla="*/ 354 w 725"/>
                    <a:gd name="T7" fmla="*/ 865 h 1335"/>
                    <a:gd name="T8" fmla="*/ 313 w 725"/>
                    <a:gd name="T9" fmla="*/ 823 h 1335"/>
                    <a:gd name="T10" fmla="*/ 272 w 725"/>
                    <a:gd name="T11" fmla="*/ 865 h 1335"/>
                    <a:gd name="T12" fmla="*/ 272 w 725"/>
                    <a:gd name="T13" fmla="*/ 1284 h 1335"/>
                    <a:gd name="T14" fmla="*/ 222 w 725"/>
                    <a:gd name="T15" fmla="*/ 1334 h 1335"/>
                    <a:gd name="T16" fmla="*/ 173 w 725"/>
                    <a:gd name="T17" fmla="*/ 1284 h 1335"/>
                    <a:gd name="T18" fmla="*/ 173 w 725"/>
                    <a:gd name="T19" fmla="*/ 489 h 1335"/>
                    <a:gd name="T20" fmla="*/ 170 w 725"/>
                    <a:gd name="T21" fmla="*/ 484 h 1335"/>
                    <a:gd name="T22" fmla="*/ 164 w 725"/>
                    <a:gd name="T23" fmla="*/ 485 h 1335"/>
                    <a:gd name="T24" fmla="*/ 99 w 725"/>
                    <a:gd name="T25" fmla="*/ 642 h 1335"/>
                    <a:gd name="T26" fmla="*/ 99 w 725"/>
                    <a:gd name="T27" fmla="*/ 766 h 1335"/>
                    <a:gd name="T28" fmla="*/ 49 w 725"/>
                    <a:gd name="T29" fmla="*/ 815 h 1335"/>
                    <a:gd name="T30" fmla="*/ 0 w 725"/>
                    <a:gd name="T31" fmla="*/ 766 h 1335"/>
                    <a:gd name="T32" fmla="*/ 0 w 725"/>
                    <a:gd name="T33" fmla="*/ 634 h 1335"/>
                    <a:gd name="T34" fmla="*/ 313 w 725"/>
                    <a:gd name="T35" fmla="*/ 321 h 1335"/>
                    <a:gd name="T36" fmla="*/ 428 w 725"/>
                    <a:gd name="T37" fmla="*/ 321 h 1335"/>
                    <a:gd name="T38" fmla="*/ 626 w 725"/>
                    <a:gd name="T39" fmla="*/ 123 h 1335"/>
                    <a:gd name="T40" fmla="*/ 626 w 725"/>
                    <a:gd name="T41" fmla="*/ 49 h 1335"/>
                    <a:gd name="T42" fmla="*/ 675 w 725"/>
                    <a:gd name="T43" fmla="*/ 0 h 1335"/>
                    <a:gd name="T44" fmla="*/ 724 w 725"/>
                    <a:gd name="T45" fmla="*/ 49 h 1335"/>
                    <a:gd name="T46" fmla="*/ 724 w 725"/>
                    <a:gd name="T47" fmla="*/ 123 h 1335"/>
                    <a:gd name="T48" fmla="*/ 470 w 725"/>
                    <a:gd name="T49" fmla="*/ 417 h 1335"/>
                    <a:gd name="T50" fmla="*/ 463 w 725"/>
                    <a:gd name="T51" fmla="*/ 418 h 1335"/>
                    <a:gd name="T52" fmla="*/ 453 w 725"/>
                    <a:gd name="T53" fmla="*/ 430 h 1335"/>
                    <a:gd name="T54" fmla="*/ 453 w 725"/>
                    <a:gd name="T55" fmla="*/ 1284 h 13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5" h="1335">
                      <a:moveTo>
                        <a:pt x="453" y="1284"/>
                      </a:moveTo>
                      <a:cubicBezTo>
                        <a:pt x="453" y="1312"/>
                        <a:pt x="431" y="1334"/>
                        <a:pt x="403" y="1334"/>
                      </a:cubicBezTo>
                      <a:cubicBezTo>
                        <a:pt x="376" y="1334"/>
                        <a:pt x="354" y="1312"/>
                        <a:pt x="354" y="1284"/>
                      </a:cubicBezTo>
                      <a:cubicBezTo>
                        <a:pt x="354" y="1144"/>
                        <a:pt x="354" y="1005"/>
                        <a:pt x="354" y="865"/>
                      </a:cubicBezTo>
                      <a:cubicBezTo>
                        <a:pt x="354" y="842"/>
                        <a:pt x="335" y="823"/>
                        <a:pt x="313" y="823"/>
                      </a:cubicBezTo>
                      <a:cubicBezTo>
                        <a:pt x="290" y="823"/>
                        <a:pt x="272" y="842"/>
                        <a:pt x="272" y="865"/>
                      </a:cubicBezTo>
                      <a:cubicBezTo>
                        <a:pt x="272" y="1005"/>
                        <a:pt x="272" y="1144"/>
                        <a:pt x="272" y="1284"/>
                      </a:cubicBezTo>
                      <a:cubicBezTo>
                        <a:pt x="272" y="1312"/>
                        <a:pt x="249" y="1334"/>
                        <a:pt x="222" y="1334"/>
                      </a:cubicBezTo>
                      <a:cubicBezTo>
                        <a:pt x="195" y="1334"/>
                        <a:pt x="173" y="1312"/>
                        <a:pt x="173" y="1284"/>
                      </a:cubicBezTo>
                      <a:cubicBezTo>
                        <a:pt x="173" y="1019"/>
                        <a:pt x="173" y="754"/>
                        <a:pt x="173" y="489"/>
                      </a:cubicBezTo>
                      <a:cubicBezTo>
                        <a:pt x="173" y="487"/>
                        <a:pt x="172" y="485"/>
                        <a:pt x="170" y="484"/>
                      </a:cubicBezTo>
                      <a:cubicBezTo>
                        <a:pt x="168" y="483"/>
                        <a:pt x="165" y="484"/>
                        <a:pt x="164" y="485"/>
                      </a:cubicBezTo>
                      <a:cubicBezTo>
                        <a:pt x="122" y="527"/>
                        <a:pt x="99" y="583"/>
                        <a:pt x="99" y="642"/>
                      </a:cubicBezTo>
                      <a:cubicBezTo>
                        <a:pt x="99" y="683"/>
                        <a:pt x="99" y="725"/>
                        <a:pt x="99" y="766"/>
                      </a:cubicBezTo>
                      <a:cubicBezTo>
                        <a:pt x="99" y="793"/>
                        <a:pt x="77" y="815"/>
                        <a:pt x="49" y="815"/>
                      </a:cubicBezTo>
                      <a:cubicBezTo>
                        <a:pt x="22" y="815"/>
                        <a:pt x="0" y="793"/>
                        <a:pt x="0" y="766"/>
                      </a:cubicBezTo>
                      <a:cubicBezTo>
                        <a:pt x="0" y="722"/>
                        <a:pt x="0" y="678"/>
                        <a:pt x="0" y="634"/>
                      </a:cubicBezTo>
                      <a:cubicBezTo>
                        <a:pt x="0" y="462"/>
                        <a:pt x="140" y="321"/>
                        <a:pt x="313" y="321"/>
                      </a:cubicBezTo>
                      <a:cubicBezTo>
                        <a:pt x="351" y="321"/>
                        <a:pt x="390" y="321"/>
                        <a:pt x="428" y="321"/>
                      </a:cubicBezTo>
                      <a:cubicBezTo>
                        <a:pt x="537" y="321"/>
                        <a:pt x="626" y="232"/>
                        <a:pt x="626" y="123"/>
                      </a:cubicBezTo>
                      <a:cubicBezTo>
                        <a:pt x="626" y="98"/>
                        <a:pt x="626" y="74"/>
                        <a:pt x="626" y="49"/>
                      </a:cubicBezTo>
                      <a:cubicBezTo>
                        <a:pt x="626" y="22"/>
                        <a:pt x="648" y="0"/>
                        <a:pt x="675" y="0"/>
                      </a:cubicBezTo>
                      <a:cubicBezTo>
                        <a:pt x="702" y="0"/>
                        <a:pt x="724" y="22"/>
                        <a:pt x="724" y="49"/>
                      </a:cubicBezTo>
                      <a:cubicBezTo>
                        <a:pt x="724" y="74"/>
                        <a:pt x="724" y="98"/>
                        <a:pt x="724" y="123"/>
                      </a:cubicBezTo>
                      <a:cubicBezTo>
                        <a:pt x="724" y="273"/>
                        <a:pt x="614" y="396"/>
                        <a:pt x="470" y="417"/>
                      </a:cubicBezTo>
                      <a:cubicBezTo>
                        <a:pt x="468" y="417"/>
                        <a:pt x="465" y="418"/>
                        <a:pt x="463" y="418"/>
                      </a:cubicBezTo>
                      <a:cubicBezTo>
                        <a:pt x="457" y="418"/>
                        <a:pt x="453" y="424"/>
                        <a:pt x="453" y="430"/>
                      </a:cubicBezTo>
                      <a:cubicBezTo>
                        <a:pt x="453" y="715"/>
                        <a:pt x="453" y="999"/>
                        <a:pt x="453" y="1284"/>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4" name="Freeform 66">
                  <a:extLst>
                    <a:ext uri="{FF2B5EF4-FFF2-40B4-BE49-F238E27FC236}">
                      <a16:creationId xmlns:a16="http://schemas.microsoft.com/office/drawing/2014/main" id="{F7A4C95E-7A8E-AF4B-32D9-B5271B55C01E}"/>
                    </a:ext>
                  </a:extLst>
                </p:cNvPr>
                <p:cNvSpPr>
                  <a:spLocks noChangeArrowheads="1"/>
                </p:cNvSpPr>
                <p:nvPr/>
              </p:nvSpPr>
              <p:spPr bwMode="auto">
                <a:xfrm>
                  <a:off x="11167225" y="625510"/>
                  <a:ext cx="89327" cy="89328"/>
                </a:xfrm>
                <a:custGeom>
                  <a:avLst/>
                  <a:gdLst>
                    <a:gd name="T0" fmla="*/ 198 w 199"/>
                    <a:gd name="T1" fmla="*/ 98 h 198"/>
                    <a:gd name="T2" fmla="*/ 185 w 199"/>
                    <a:gd name="T3" fmla="*/ 148 h 198"/>
                    <a:gd name="T4" fmla="*/ 149 w 199"/>
                    <a:gd name="T5" fmla="*/ 184 h 198"/>
                    <a:gd name="T6" fmla="*/ 99 w 199"/>
                    <a:gd name="T7" fmla="*/ 197 h 198"/>
                    <a:gd name="T8" fmla="*/ 50 w 199"/>
                    <a:gd name="T9" fmla="*/ 184 h 198"/>
                    <a:gd name="T10" fmla="*/ 14 w 199"/>
                    <a:gd name="T11" fmla="*/ 148 h 198"/>
                    <a:gd name="T12" fmla="*/ 0 w 199"/>
                    <a:gd name="T13" fmla="*/ 98 h 198"/>
                    <a:gd name="T14" fmla="*/ 14 w 199"/>
                    <a:gd name="T15" fmla="*/ 49 h 198"/>
                    <a:gd name="T16" fmla="*/ 50 w 199"/>
                    <a:gd name="T17" fmla="*/ 13 h 198"/>
                    <a:gd name="T18" fmla="*/ 99 w 199"/>
                    <a:gd name="T19" fmla="*/ 0 h 198"/>
                    <a:gd name="T20" fmla="*/ 149 w 199"/>
                    <a:gd name="T21" fmla="*/ 13 h 198"/>
                    <a:gd name="T22" fmla="*/ 185 w 199"/>
                    <a:gd name="T23" fmla="*/ 49 h 198"/>
                    <a:gd name="T24" fmla="*/ 198 w 199"/>
                    <a:gd name="T25" fmla="*/ 9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98" y="98"/>
                      </a:moveTo>
                      <a:cubicBezTo>
                        <a:pt x="198" y="117"/>
                        <a:pt x="194" y="132"/>
                        <a:pt x="185" y="148"/>
                      </a:cubicBezTo>
                      <a:cubicBezTo>
                        <a:pt x="176" y="164"/>
                        <a:pt x="165" y="175"/>
                        <a:pt x="149" y="184"/>
                      </a:cubicBezTo>
                      <a:cubicBezTo>
                        <a:pt x="134" y="193"/>
                        <a:pt x="117" y="197"/>
                        <a:pt x="99" y="197"/>
                      </a:cubicBezTo>
                      <a:cubicBezTo>
                        <a:pt x="81" y="197"/>
                        <a:pt x="66" y="193"/>
                        <a:pt x="50" y="184"/>
                      </a:cubicBezTo>
                      <a:cubicBezTo>
                        <a:pt x="35" y="175"/>
                        <a:pt x="24" y="164"/>
                        <a:pt x="14" y="148"/>
                      </a:cubicBezTo>
                      <a:cubicBezTo>
                        <a:pt x="5" y="132"/>
                        <a:pt x="0" y="116"/>
                        <a:pt x="0" y="98"/>
                      </a:cubicBezTo>
                      <a:cubicBezTo>
                        <a:pt x="0" y="79"/>
                        <a:pt x="5" y="65"/>
                        <a:pt x="14" y="49"/>
                      </a:cubicBezTo>
                      <a:cubicBezTo>
                        <a:pt x="24" y="33"/>
                        <a:pt x="35" y="22"/>
                        <a:pt x="50" y="13"/>
                      </a:cubicBezTo>
                      <a:cubicBezTo>
                        <a:pt x="66" y="4"/>
                        <a:pt x="81" y="0"/>
                        <a:pt x="99" y="0"/>
                      </a:cubicBezTo>
                      <a:cubicBezTo>
                        <a:pt x="117" y="0"/>
                        <a:pt x="134" y="4"/>
                        <a:pt x="149" y="13"/>
                      </a:cubicBezTo>
                      <a:cubicBezTo>
                        <a:pt x="165" y="22"/>
                        <a:pt x="176" y="33"/>
                        <a:pt x="185" y="49"/>
                      </a:cubicBezTo>
                      <a:cubicBezTo>
                        <a:pt x="194" y="65"/>
                        <a:pt x="198" y="80"/>
                        <a:pt x="198" y="98"/>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GB" noProof="0"/>
                </a:p>
              </p:txBody>
            </p:sp>
            <p:sp>
              <p:nvSpPr>
                <p:cNvPr id="85" name="Freeform 67">
                  <a:extLst>
                    <a:ext uri="{FF2B5EF4-FFF2-40B4-BE49-F238E27FC236}">
                      <a16:creationId xmlns:a16="http://schemas.microsoft.com/office/drawing/2014/main" id="{A59D6A1E-3EE5-2EFE-FEB3-0112A6C11B45}"/>
                    </a:ext>
                  </a:extLst>
                </p:cNvPr>
                <p:cNvSpPr>
                  <a:spLocks noChangeArrowheads="1"/>
                </p:cNvSpPr>
                <p:nvPr/>
              </p:nvSpPr>
              <p:spPr bwMode="auto">
                <a:xfrm>
                  <a:off x="11050107" y="659258"/>
                  <a:ext cx="303714" cy="545890"/>
                </a:xfrm>
                <a:custGeom>
                  <a:avLst/>
                  <a:gdLst>
                    <a:gd name="T0" fmla="*/ 0 w 676"/>
                    <a:gd name="T1" fmla="*/ 164 h 1212"/>
                    <a:gd name="T2" fmla="*/ 205 w 676"/>
                    <a:gd name="T3" fmla="*/ 294 h 1212"/>
                    <a:gd name="T4" fmla="*/ 212 w 676"/>
                    <a:gd name="T5" fmla="*/ 295 h 1212"/>
                    <a:gd name="T6" fmla="*/ 222 w 676"/>
                    <a:gd name="T7" fmla="*/ 307 h 1212"/>
                    <a:gd name="T8" fmla="*/ 222 w 676"/>
                    <a:gd name="T9" fmla="*/ 1161 h 1212"/>
                    <a:gd name="T10" fmla="*/ 272 w 676"/>
                    <a:gd name="T11" fmla="*/ 1211 h 1212"/>
                    <a:gd name="T12" fmla="*/ 321 w 676"/>
                    <a:gd name="T13" fmla="*/ 1161 h 1212"/>
                    <a:gd name="T14" fmla="*/ 321 w 676"/>
                    <a:gd name="T15" fmla="*/ 742 h 1212"/>
                    <a:gd name="T16" fmla="*/ 362 w 676"/>
                    <a:gd name="T17" fmla="*/ 700 h 1212"/>
                    <a:gd name="T18" fmla="*/ 403 w 676"/>
                    <a:gd name="T19" fmla="*/ 742 h 1212"/>
                    <a:gd name="T20" fmla="*/ 403 w 676"/>
                    <a:gd name="T21" fmla="*/ 1161 h 1212"/>
                    <a:gd name="T22" fmla="*/ 453 w 676"/>
                    <a:gd name="T23" fmla="*/ 1211 h 1212"/>
                    <a:gd name="T24" fmla="*/ 502 w 676"/>
                    <a:gd name="T25" fmla="*/ 1161 h 1212"/>
                    <a:gd name="T26" fmla="*/ 502 w 676"/>
                    <a:gd name="T27" fmla="*/ 366 h 1212"/>
                    <a:gd name="T28" fmla="*/ 505 w 676"/>
                    <a:gd name="T29" fmla="*/ 361 h 1212"/>
                    <a:gd name="T30" fmla="*/ 511 w 676"/>
                    <a:gd name="T31" fmla="*/ 362 h 1212"/>
                    <a:gd name="T32" fmla="*/ 576 w 676"/>
                    <a:gd name="T33" fmla="*/ 519 h 1212"/>
                    <a:gd name="T34" fmla="*/ 576 w 676"/>
                    <a:gd name="T35" fmla="*/ 643 h 1212"/>
                    <a:gd name="T36" fmla="*/ 626 w 676"/>
                    <a:gd name="T37" fmla="*/ 692 h 1212"/>
                    <a:gd name="T38" fmla="*/ 675 w 676"/>
                    <a:gd name="T39" fmla="*/ 643 h 1212"/>
                    <a:gd name="T40" fmla="*/ 675 w 676"/>
                    <a:gd name="T41" fmla="*/ 511 h 1212"/>
                    <a:gd name="T42" fmla="*/ 362 w 676"/>
                    <a:gd name="T43" fmla="*/ 198 h 1212"/>
                    <a:gd name="T44" fmla="*/ 247 w 676"/>
                    <a:gd name="T45" fmla="*/ 198 h 1212"/>
                    <a:gd name="T46" fmla="*/ 49 w 676"/>
                    <a:gd name="T47" fmla="*/ 0 h 1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676" h="1212">
                      <a:moveTo>
                        <a:pt x="0" y="164"/>
                      </a:moveTo>
                      <a:cubicBezTo>
                        <a:pt x="46" y="233"/>
                        <a:pt x="119" y="281"/>
                        <a:pt x="205" y="294"/>
                      </a:cubicBezTo>
                      <a:cubicBezTo>
                        <a:pt x="207" y="294"/>
                        <a:pt x="210" y="295"/>
                        <a:pt x="212" y="295"/>
                      </a:cubicBezTo>
                      <a:cubicBezTo>
                        <a:pt x="218" y="295"/>
                        <a:pt x="222" y="301"/>
                        <a:pt x="222" y="307"/>
                      </a:cubicBezTo>
                      <a:cubicBezTo>
                        <a:pt x="222" y="592"/>
                        <a:pt x="222" y="876"/>
                        <a:pt x="222" y="1161"/>
                      </a:cubicBezTo>
                      <a:cubicBezTo>
                        <a:pt x="222" y="1189"/>
                        <a:pt x="244" y="1211"/>
                        <a:pt x="272" y="1211"/>
                      </a:cubicBezTo>
                      <a:cubicBezTo>
                        <a:pt x="299" y="1211"/>
                        <a:pt x="321" y="1189"/>
                        <a:pt x="321" y="1161"/>
                      </a:cubicBezTo>
                      <a:cubicBezTo>
                        <a:pt x="321" y="1021"/>
                        <a:pt x="321" y="882"/>
                        <a:pt x="321" y="742"/>
                      </a:cubicBezTo>
                      <a:cubicBezTo>
                        <a:pt x="321" y="719"/>
                        <a:pt x="339" y="700"/>
                        <a:pt x="362" y="700"/>
                      </a:cubicBezTo>
                      <a:cubicBezTo>
                        <a:pt x="385" y="700"/>
                        <a:pt x="403" y="719"/>
                        <a:pt x="403" y="742"/>
                      </a:cubicBezTo>
                      <a:cubicBezTo>
                        <a:pt x="403" y="882"/>
                        <a:pt x="403" y="1021"/>
                        <a:pt x="403" y="1161"/>
                      </a:cubicBezTo>
                      <a:cubicBezTo>
                        <a:pt x="403" y="1189"/>
                        <a:pt x="425" y="1211"/>
                        <a:pt x="453" y="1211"/>
                      </a:cubicBezTo>
                      <a:cubicBezTo>
                        <a:pt x="480" y="1211"/>
                        <a:pt x="502" y="1189"/>
                        <a:pt x="502" y="1161"/>
                      </a:cubicBezTo>
                      <a:cubicBezTo>
                        <a:pt x="502" y="896"/>
                        <a:pt x="502" y="631"/>
                        <a:pt x="502" y="366"/>
                      </a:cubicBezTo>
                      <a:cubicBezTo>
                        <a:pt x="502" y="364"/>
                        <a:pt x="503" y="362"/>
                        <a:pt x="505" y="361"/>
                      </a:cubicBezTo>
                      <a:cubicBezTo>
                        <a:pt x="507" y="360"/>
                        <a:pt x="510" y="361"/>
                        <a:pt x="511" y="362"/>
                      </a:cubicBezTo>
                      <a:cubicBezTo>
                        <a:pt x="553" y="404"/>
                        <a:pt x="576" y="460"/>
                        <a:pt x="576" y="519"/>
                      </a:cubicBezTo>
                      <a:cubicBezTo>
                        <a:pt x="576" y="560"/>
                        <a:pt x="576" y="602"/>
                        <a:pt x="576" y="643"/>
                      </a:cubicBezTo>
                      <a:cubicBezTo>
                        <a:pt x="576" y="670"/>
                        <a:pt x="598" y="692"/>
                        <a:pt x="626" y="692"/>
                      </a:cubicBezTo>
                      <a:cubicBezTo>
                        <a:pt x="653" y="692"/>
                        <a:pt x="675" y="670"/>
                        <a:pt x="675" y="643"/>
                      </a:cubicBezTo>
                      <a:cubicBezTo>
                        <a:pt x="675" y="599"/>
                        <a:pt x="675" y="555"/>
                        <a:pt x="675" y="511"/>
                      </a:cubicBezTo>
                      <a:cubicBezTo>
                        <a:pt x="675" y="339"/>
                        <a:pt x="535" y="198"/>
                        <a:pt x="362" y="198"/>
                      </a:cubicBezTo>
                      <a:cubicBezTo>
                        <a:pt x="324" y="198"/>
                        <a:pt x="285" y="198"/>
                        <a:pt x="247" y="198"/>
                      </a:cubicBezTo>
                      <a:cubicBezTo>
                        <a:pt x="138" y="198"/>
                        <a:pt x="49" y="109"/>
                        <a:pt x="49" y="0"/>
                      </a:cubicBezTo>
                    </a:path>
                  </a:pathLst>
                </a:custGeom>
                <a:noFill/>
                <a:ln w="15875"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GB" noProof="0"/>
                </a:p>
              </p:txBody>
            </p:sp>
          </p:grpSp>
        </p:grpSp>
      </p:grpSp>
      <p:sp>
        <p:nvSpPr>
          <p:cNvPr id="86" name="TextBox 85">
            <a:extLst>
              <a:ext uri="{FF2B5EF4-FFF2-40B4-BE49-F238E27FC236}">
                <a16:creationId xmlns:a16="http://schemas.microsoft.com/office/drawing/2014/main" id="{43B7B51C-D69E-ECBC-8D77-89BC4CE3C38B}"/>
              </a:ext>
            </a:extLst>
          </p:cNvPr>
          <p:cNvSpPr txBox="1"/>
          <p:nvPr/>
        </p:nvSpPr>
        <p:spPr>
          <a:xfrm>
            <a:off x="930833" y="11804145"/>
            <a:ext cx="23013031" cy="523220"/>
          </a:xfrm>
          <a:prstGeom prst="rect">
            <a:avLst/>
          </a:prstGeom>
          <a:noFill/>
        </p:spPr>
        <p:txBody>
          <a:bodyPr wrap="none" rtlCol="0">
            <a:spAutoFit/>
          </a:bodyPr>
          <a:lstStyle/>
          <a:p>
            <a:r>
              <a:rPr lang="en-GB" sz="2800" noProof="0">
                <a:latin typeface="Fira Sans" panose="020B0503050000020004" pitchFamily="34" charset="0"/>
              </a:rPr>
              <a:t>NB: Enhanced Security &amp; Data/AI analytical insights are an expected outcome of transformation, not necessarily a pure business driver. </a:t>
            </a:r>
          </a:p>
        </p:txBody>
      </p:sp>
      <p:pic>
        <p:nvPicPr>
          <p:cNvPr id="97" name="Picture 96"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8846428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FDCC9F8-C541-D5E7-C1AF-5BECA0FC0C7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9</a:t>
            </a:fld>
            <a:endParaRPr lang="en-GB" noProof="0"/>
          </a:p>
        </p:txBody>
      </p:sp>
      <p:sp>
        <p:nvSpPr>
          <p:cNvPr id="10" name="Text Placeholder 9">
            <a:extLst>
              <a:ext uri="{FF2B5EF4-FFF2-40B4-BE49-F238E27FC236}">
                <a16:creationId xmlns:a16="http://schemas.microsoft.com/office/drawing/2014/main" id="{2F2D2127-655F-F591-733D-E01168C47954}"/>
              </a:ext>
            </a:extLst>
          </p:cNvPr>
          <p:cNvSpPr>
            <a:spLocks noGrp="1"/>
          </p:cNvSpPr>
          <p:nvPr>
            <p:ph type="body" sz="quarter" idx="13"/>
          </p:nvPr>
        </p:nvSpPr>
        <p:spPr>
          <a:xfrm>
            <a:off x="746393" y="7838875"/>
            <a:ext cx="5216526" cy="2280490"/>
          </a:xfrm>
        </p:spPr>
        <p:txBody>
          <a:bodyPr anchor="ctr"/>
          <a:lstStyle/>
          <a:p>
            <a:pPr algn="ctr"/>
            <a:r>
              <a:rPr lang="en-GB" sz="3200" noProof="0">
                <a:latin typeface="Fira Sans" panose="020B0503050000020004" pitchFamily="34" charset="0"/>
              </a:rPr>
              <a:t>Reduce complexity to scale operations and delivery speed</a:t>
            </a:r>
          </a:p>
        </p:txBody>
      </p:sp>
      <p:sp>
        <p:nvSpPr>
          <p:cNvPr id="5" name="Title 1">
            <a:extLst>
              <a:ext uri="{FF2B5EF4-FFF2-40B4-BE49-F238E27FC236}">
                <a16:creationId xmlns:a16="http://schemas.microsoft.com/office/drawing/2014/main" id="{82D513FF-B00A-40DF-129C-A0FFB6386A35}"/>
              </a:ext>
            </a:extLst>
          </p:cNvPr>
          <p:cNvSpPr>
            <a:spLocks noGrp="1"/>
          </p:cNvSpPr>
          <p:nvPr>
            <p:ph type="title"/>
          </p:nvPr>
        </p:nvSpPr>
        <p:spPr>
          <a:xfrm>
            <a:off x="733863" y="3609563"/>
            <a:ext cx="5241586" cy="3062106"/>
          </a:xfrm>
        </p:spPr>
        <p:txBody>
          <a:bodyPr vert="horz" wrap="square" lIns="0" tIns="0" rIns="0" bIns="0" rtlCol="0" anchor="ctr" anchorCtr="0">
            <a:normAutofit/>
          </a:bodyPr>
          <a:lstStyle/>
          <a:p>
            <a:pPr algn="ctr"/>
            <a:r>
              <a:rPr lang="en-GB" sz="5400" kern="1200" noProof="0">
                <a:ln w="9525">
                  <a:noFill/>
                </a:ln>
                <a:latin typeface="Fira Sans" panose="020B0503050000020004" pitchFamily="34" charset="0"/>
              </a:rPr>
              <a:t>Standardisation</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 </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Simplification</a:t>
            </a:r>
          </a:p>
        </p:txBody>
      </p:sp>
      <p:sp>
        <p:nvSpPr>
          <p:cNvPr id="7" name="TextBox 6">
            <a:extLst>
              <a:ext uri="{FF2B5EF4-FFF2-40B4-BE49-F238E27FC236}">
                <a16:creationId xmlns:a16="http://schemas.microsoft.com/office/drawing/2014/main" id="{FE2DB053-C94B-762C-2A67-12C4EF24D66D}"/>
              </a:ext>
            </a:extLst>
          </p:cNvPr>
          <p:cNvSpPr txBox="1"/>
          <p:nvPr/>
        </p:nvSpPr>
        <p:spPr>
          <a:xfrm>
            <a:off x="7296912" y="1057505"/>
            <a:ext cx="16340694" cy="11264904"/>
          </a:xfrm>
          <a:prstGeom prst="rect">
            <a:avLst/>
          </a:prstGeom>
        </p:spPr>
        <p:txBody>
          <a:bodyPr vert="horz" lIns="182880" tIns="0" rIns="0" bIns="0" rtlCol="0">
            <a:normAutofit lnSpcReduction="10000"/>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Standardisation of Core Technology products across [Client] Business</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Meet North Star growth targets across all brands</a:t>
            </a:r>
          </a:p>
          <a:p>
            <a:pPr marL="1371600" lvl="2"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MOL – 1M Subscribers</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Eliminate Shadow IT</a:t>
            </a:r>
          </a:p>
          <a:p>
            <a:pPr marL="1371600" lvl="2" indent="-457200" defTabSz="1828800" fontAlgn="t">
              <a:spcAft>
                <a:spcPts val="1400"/>
              </a:spcAft>
              <a:buClr>
                <a:srgbClr val="EB0000"/>
              </a:buClr>
              <a:buFont typeface="Aktiv Grotesk"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Standardisation is a prerequisite for scalable growth</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Platform sprawl increases cost, risk, and execution friction</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Converge on a limited set of approved platforms and architectural patterns</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Enforce security, compliance, and governance by design</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Preserve innovation while eliminating unnecessary variation</a:t>
            </a:r>
          </a:p>
          <a:p>
            <a:pPr marL="285750" indent="-285750" defTabSz="1828800" fontAlgn="t">
              <a:spcAft>
                <a:spcPts val="1400"/>
              </a:spcAft>
              <a:buClr>
                <a:srgbClr val="EB0000"/>
              </a:buClr>
              <a:buFont typeface="Aktiv Grotesk" panose="020B0604020202020204" pitchFamily="34" charset="0"/>
              <a:buChar char="•"/>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Simplified Target Operating Model (TOM)</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Lower execution and operational risk</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Faster, more predictable delivery of change</a:t>
            </a:r>
          </a:p>
          <a:p>
            <a:pPr marL="914400" lvl="1" indent="-457200" defTabSz="1828800" fontAlgn="t">
              <a:spcAft>
                <a:spcPts val="1400"/>
              </a:spcAft>
              <a:buClr>
                <a:srgbClr val="EB0000"/>
              </a:buClr>
              <a:buFont typeface="Aktiv Grotesk" panose="020B0604020202020204" pitchFamily="34" charset="0"/>
              <a:buChar char="•"/>
            </a:pPr>
            <a:r>
              <a:rPr lang="en-GB" sz="3200" noProof="0" dirty="0">
                <a:latin typeface="Fira Sans" panose="020B0503050000020004" pitchFamily="34" charset="0"/>
              </a:rPr>
              <a:t>A scalable foundation that supports growth without proportional complexity</a:t>
            </a:r>
          </a:p>
        </p:txBody>
      </p:sp>
      <p:sp>
        <p:nvSpPr>
          <p:cNvPr id="11" name="Title 1">
            <a:extLst>
              <a:ext uri="{FF2B5EF4-FFF2-40B4-BE49-F238E27FC236}">
                <a16:creationId xmlns:a16="http://schemas.microsoft.com/office/drawing/2014/main" id="{217EB05A-69A4-D326-A73A-21567D369B1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1</a:t>
            </a:r>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920250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BEE03-18E6-2822-5D65-A34692D04A9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CDAB51-4E03-CED1-9600-D4AB1EA5A15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10</a:t>
            </a:fld>
            <a:endParaRPr lang="en-GB" noProof="0"/>
          </a:p>
        </p:txBody>
      </p:sp>
      <p:sp>
        <p:nvSpPr>
          <p:cNvPr id="10" name="Text Placeholder 9">
            <a:extLst>
              <a:ext uri="{FF2B5EF4-FFF2-40B4-BE49-F238E27FC236}">
                <a16:creationId xmlns:a16="http://schemas.microsoft.com/office/drawing/2014/main" id="{10A5E33C-0BFA-EC8A-D7F8-5970D7504587}"/>
              </a:ext>
            </a:extLst>
          </p:cNvPr>
          <p:cNvSpPr>
            <a:spLocks noGrp="1"/>
          </p:cNvSpPr>
          <p:nvPr>
            <p:ph type="body" sz="quarter" idx="13"/>
          </p:nvPr>
        </p:nvSpPr>
        <p:spPr>
          <a:xfrm>
            <a:off x="746393" y="7838874"/>
            <a:ext cx="5216526" cy="3536261"/>
          </a:xfrm>
        </p:spPr>
        <p:txBody>
          <a:bodyPr anchor="ctr"/>
          <a:lstStyle/>
          <a:p>
            <a:pPr algn="ctr"/>
            <a:r>
              <a:rPr lang="en-GB" sz="3200" noProof="0">
                <a:latin typeface="Fira Sans" panose="020B0503050000020004" pitchFamily="34" charset="0"/>
              </a:rPr>
              <a:t>Remove low value work and create credible savings</a:t>
            </a:r>
          </a:p>
        </p:txBody>
      </p:sp>
      <p:sp>
        <p:nvSpPr>
          <p:cNvPr id="5" name="Title 1">
            <a:extLst>
              <a:ext uri="{FF2B5EF4-FFF2-40B4-BE49-F238E27FC236}">
                <a16:creationId xmlns:a16="http://schemas.microsoft.com/office/drawing/2014/main" id="{C0AFC1E8-80C3-1FEA-E817-5BCA167A11AE}"/>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a:ln w="9525">
                  <a:noFill/>
                </a:ln>
                <a:latin typeface="Fira Sans" panose="020B0503050000020004" pitchFamily="34" charset="0"/>
              </a:rPr>
              <a:t>Productivity</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a:t>
            </a:r>
            <a:br>
              <a:rPr lang="en-GB" sz="5400" kern="1200" noProof="0">
                <a:ln w="9525">
                  <a:noFill/>
                </a:ln>
                <a:latin typeface="Fira Sans" panose="020B0503050000020004" pitchFamily="34" charset="0"/>
              </a:rPr>
            </a:br>
            <a:r>
              <a:rPr lang="en-GB" sz="5400" kern="1200" noProof="0">
                <a:ln w="9525">
                  <a:noFill/>
                </a:ln>
                <a:latin typeface="Fira Sans" panose="020B0503050000020004" pitchFamily="34" charset="0"/>
              </a:rPr>
              <a:t>Cost Optimisation</a:t>
            </a:r>
          </a:p>
        </p:txBody>
      </p:sp>
      <p:sp>
        <p:nvSpPr>
          <p:cNvPr id="11" name="Title 1">
            <a:extLst>
              <a:ext uri="{FF2B5EF4-FFF2-40B4-BE49-F238E27FC236}">
                <a16:creationId xmlns:a16="http://schemas.microsoft.com/office/drawing/2014/main" id="{140124A3-55D8-62A8-116D-F78B1CC5F528}"/>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a:latin typeface="Fira Sans" panose="020B0503050000020004" pitchFamily="34" charset="0"/>
              </a:rPr>
              <a:t>Driver # 2</a:t>
            </a:r>
          </a:p>
        </p:txBody>
      </p:sp>
      <p:sp>
        <p:nvSpPr>
          <p:cNvPr id="8" name="TextBox 7">
            <a:extLst>
              <a:ext uri="{FF2B5EF4-FFF2-40B4-BE49-F238E27FC236}">
                <a16:creationId xmlns:a16="http://schemas.microsoft.com/office/drawing/2014/main" id="{A0A5CB63-8D9C-8E94-D2F8-506794F2653B}"/>
              </a:ext>
            </a:extLst>
          </p:cNvPr>
          <p:cNvSpPr txBox="1"/>
          <p:nvPr/>
        </p:nvSpPr>
        <p:spPr>
          <a:xfrm>
            <a:off x="7291578" y="1085654"/>
            <a:ext cx="16071708" cy="10874698"/>
          </a:xfrm>
          <a:prstGeom prst="rect">
            <a:avLst/>
          </a:prstGeom>
        </p:spPr>
        <p:txBody>
          <a:bodyPr vert="horz" lIns="182880" tIns="0" rIns="0" bIns="0" rtlCol="0">
            <a:normAutofit/>
          </a:bodyPr>
          <a:lstStyle/>
          <a:p>
            <a:pPr defTabSz="1828800" fontAlgn="t">
              <a:spcAft>
                <a:spcPts val="1400"/>
              </a:spcAft>
              <a:buClr>
                <a:srgbClr val="EB0000"/>
              </a:buClr>
            </a:pPr>
            <a:r>
              <a:rPr lang="en-GB" sz="3600" b="1" noProof="0">
                <a:latin typeface="Fira Sans" panose="020B0503050000020004" pitchFamily="34" charset="0"/>
              </a:rPr>
              <a:t>Goal</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Removal of custom systems and processes providing low value</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Replacement with pre-approved blueprints/templates</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Reduce total cost of ownership while improving delivery velocity</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Shift from fixed, capacity‑based cost models to demand‑aligned consumption</a:t>
            </a:r>
          </a:p>
          <a:p>
            <a:pPr marL="285750" indent="-285750" defTabSz="1828800" fontAlgn="t">
              <a:spcAft>
                <a:spcPts val="1400"/>
              </a:spcAft>
              <a:buClr>
                <a:srgbClr val="EB0000"/>
              </a:buClr>
              <a:buFont typeface="Aktiv Grotesk" panose="020B0604020202020204" pitchFamily="34" charset="0"/>
              <a:buChar cha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Strategic Intent</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Translate cloud adoption into financial performance</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Cloud only delivers value with active cost discipline</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Inefficiency compounds rapidly at scale</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Embed financial accountability into technology decision‑making</a:t>
            </a:r>
          </a:p>
          <a:p>
            <a:pPr defTabSz="1828800" fontAlgn="t">
              <a:spcAft>
                <a:spcPts val="1400"/>
              </a:spcAft>
              <a:buClr>
                <a:srgbClr val="EB0000"/>
              </a:buClr>
            </a:pPr>
            <a:endParaRPr lang="en-GB" sz="3600" b="0" noProof="0">
              <a:latin typeface="Fira Sans" panose="020B0503050000020004" pitchFamily="34" charset="0"/>
            </a:endParaRPr>
          </a:p>
          <a:p>
            <a:pPr defTabSz="1828800" fontAlgn="t">
              <a:spcAft>
                <a:spcPts val="1400"/>
              </a:spcAft>
              <a:buClr>
                <a:srgbClr val="EB0000"/>
              </a:buClr>
            </a:pPr>
            <a:r>
              <a:rPr lang="en-GB" sz="3600" b="1" noProof="0">
                <a:latin typeface="Fira Sans" panose="020B0503050000020004" pitchFamily="34" charset="0"/>
              </a:rPr>
              <a:t>Outcome</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Measurable cost optimisation and improved margin predictability</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Clear visibility of spend by platform, product, and environment</a:t>
            </a:r>
          </a:p>
          <a:p>
            <a:pPr marL="914400" lvl="1" indent="-457200" defTabSz="1828800" fontAlgn="t">
              <a:spcAft>
                <a:spcPts val="1400"/>
              </a:spcAft>
              <a:buClr>
                <a:srgbClr val="EB0000"/>
              </a:buClr>
              <a:buFont typeface="Aktiv Grotesk" panose="020B0604020202020204" pitchFamily="34" charset="0"/>
              <a:buChar char="•"/>
            </a:pPr>
            <a:r>
              <a:rPr lang="en-GB" sz="3200" noProof="0">
                <a:latin typeface="Fira Sans" panose="020B0503050000020004" pitchFamily="34" charset="0"/>
              </a:rPr>
              <a:t>Financial governance (FinOps) embedded into the operating model</a:t>
            </a:r>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422648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4384B0-4BC1-4648-C500-299A45F377E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4D5E381-FAB2-28C8-AA90-97D44B90F230}"/>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11</a:t>
            </a:fld>
            <a:endParaRPr lang="en-GB" noProof="0"/>
          </a:p>
        </p:txBody>
      </p:sp>
      <p:sp>
        <p:nvSpPr>
          <p:cNvPr id="10" name="Text Placeholder 9">
            <a:extLst>
              <a:ext uri="{FF2B5EF4-FFF2-40B4-BE49-F238E27FC236}">
                <a16:creationId xmlns:a16="http://schemas.microsoft.com/office/drawing/2014/main" id="{446ED16C-C1C2-BAB0-FB43-81EBD1ACAF18}"/>
              </a:ext>
            </a:extLst>
          </p:cNvPr>
          <p:cNvSpPr>
            <a:spLocks noGrp="1"/>
          </p:cNvSpPr>
          <p:nvPr>
            <p:ph type="body" sz="quarter" idx="13"/>
          </p:nvPr>
        </p:nvSpPr>
        <p:spPr>
          <a:xfrm>
            <a:off x="746393" y="7838874"/>
            <a:ext cx="5216526" cy="3536261"/>
          </a:xfrm>
        </p:spPr>
        <p:txBody>
          <a:bodyPr anchor="ctr"/>
          <a:lstStyle/>
          <a:p>
            <a:pPr algn="ctr"/>
            <a:r>
              <a:rPr lang="en-GB" sz="3200" noProof="0" dirty="0">
                <a:latin typeface="Fira Sans" panose="020B0503050000020004" pitchFamily="34" charset="0"/>
              </a:rPr>
              <a:t>Reduce toil and improve customer experience</a:t>
            </a:r>
          </a:p>
        </p:txBody>
      </p:sp>
      <p:sp>
        <p:nvSpPr>
          <p:cNvPr id="5" name="Title 1">
            <a:extLst>
              <a:ext uri="{FF2B5EF4-FFF2-40B4-BE49-F238E27FC236}">
                <a16:creationId xmlns:a16="http://schemas.microsoft.com/office/drawing/2014/main" id="{22EC0FDB-92C4-2562-4312-1B91EDEF0FF1}"/>
              </a:ext>
            </a:extLst>
          </p:cNvPr>
          <p:cNvSpPr>
            <a:spLocks noGrp="1"/>
          </p:cNvSpPr>
          <p:nvPr>
            <p:ph type="title"/>
          </p:nvPr>
        </p:nvSpPr>
        <p:spPr>
          <a:xfrm>
            <a:off x="733863" y="3609563"/>
            <a:ext cx="5241586" cy="3062106"/>
          </a:xfrm>
        </p:spPr>
        <p:txBody>
          <a:bodyPr vert="horz" wrap="square" lIns="0" tIns="0" rIns="0" bIns="0" rtlCol="0" anchor="ctr" anchorCtr="0">
            <a:normAutofit fontScale="90000"/>
          </a:bodyPr>
          <a:lstStyle/>
          <a:p>
            <a:pPr algn="ctr"/>
            <a:r>
              <a:rPr lang="en-GB" sz="5400" kern="1200" noProof="0" dirty="0">
                <a:ln w="9525">
                  <a:noFill/>
                </a:ln>
                <a:latin typeface="Fira Sans" panose="020B0503050000020004" pitchFamily="34" charset="0"/>
              </a:rPr>
              <a:t>Automation</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a:t>
            </a:r>
            <a:br>
              <a:rPr lang="en-GB" sz="5400" kern="1200" noProof="0" dirty="0">
                <a:ln w="9525">
                  <a:noFill/>
                </a:ln>
                <a:latin typeface="Fira Sans" panose="020B0503050000020004" pitchFamily="34" charset="0"/>
              </a:rPr>
            </a:br>
            <a:r>
              <a:rPr lang="en-GB" sz="5400" kern="1200" noProof="0" dirty="0">
                <a:ln w="9525">
                  <a:noFill/>
                </a:ln>
                <a:latin typeface="Fira Sans" panose="020B0503050000020004" pitchFamily="34" charset="0"/>
              </a:rPr>
              <a:t>Workflow Optimisation</a:t>
            </a:r>
          </a:p>
        </p:txBody>
      </p:sp>
      <p:sp>
        <p:nvSpPr>
          <p:cNvPr id="11" name="Title 1">
            <a:extLst>
              <a:ext uri="{FF2B5EF4-FFF2-40B4-BE49-F238E27FC236}">
                <a16:creationId xmlns:a16="http://schemas.microsoft.com/office/drawing/2014/main" id="{A0001C9D-A988-EF47-7F87-621498DD55BC}"/>
              </a:ext>
            </a:extLst>
          </p:cNvPr>
          <p:cNvSpPr txBox="1">
            <a:spLocks/>
          </p:cNvSpPr>
          <p:nvPr/>
        </p:nvSpPr>
        <p:spPr>
          <a:xfrm>
            <a:off x="733863" y="949568"/>
            <a:ext cx="5241586" cy="988960"/>
          </a:xfrm>
          <a:prstGeom prst="rect">
            <a:avLst/>
          </a:prstGeom>
          <a:ln w="12700">
            <a:noFill/>
          </a:ln>
        </p:spPr>
        <p:txBody>
          <a:bodyPr vert="horz" wrap="square" lIns="0" tIns="0" rIns="0" bIns="0" rtlCol="0" anchor="ctr"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r>
              <a:rPr lang="en-GB" sz="5400" noProof="0" dirty="0">
                <a:latin typeface="Fira Sans" panose="020B0503050000020004" pitchFamily="34" charset="0"/>
              </a:rPr>
              <a:t>Driver # 3</a:t>
            </a:r>
          </a:p>
        </p:txBody>
      </p:sp>
      <p:sp>
        <p:nvSpPr>
          <p:cNvPr id="6" name="TextBox 5">
            <a:extLst>
              <a:ext uri="{FF2B5EF4-FFF2-40B4-BE49-F238E27FC236}">
                <a16:creationId xmlns:a16="http://schemas.microsoft.com/office/drawing/2014/main" id="{D97024F1-64FF-F531-85E8-417D10AA8AF2}"/>
              </a:ext>
            </a:extLst>
          </p:cNvPr>
          <p:cNvSpPr txBox="1"/>
          <p:nvPr/>
        </p:nvSpPr>
        <p:spPr>
          <a:xfrm>
            <a:off x="7385880" y="1031799"/>
            <a:ext cx="15913031" cy="8217634"/>
          </a:xfrm>
          <a:prstGeom prst="rect">
            <a:avLst/>
          </a:prstGeom>
          <a:noFill/>
        </p:spPr>
        <p:txBody>
          <a:bodyPr wrap="square">
            <a:spAutoFit/>
          </a:bodyPr>
          <a:lstStyle/>
          <a:p>
            <a:pPr defTabSz="1828800" fontAlgn="t">
              <a:spcAft>
                <a:spcPts val="1400"/>
              </a:spcAft>
              <a:buClr>
                <a:srgbClr val="EB0000"/>
              </a:buClr>
            </a:pPr>
            <a:r>
              <a:rPr lang="en-GB" sz="3600" b="1" noProof="0" dirty="0">
                <a:latin typeface="Fira Sans" panose="020B0503050000020004" pitchFamily="34" charset="0"/>
              </a:rPr>
              <a:t>Goal</a:t>
            </a:r>
          </a:p>
          <a:p>
            <a:pPr marL="914400" lvl="1" indent="-457200">
              <a:spcAft>
                <a:spcPts val="600"/>
              </a:spcAft>
              <a:buClr>
                <a:srgbClr val="FF0000"/>
              </a:buClr>
              <a:buFont typeface="Aktiv Grotesk" panose="020B0604020202020204" pitchFamily="34" charset="0"/>
              <a:buChar char="•"/>
            </a:pPr>
            <a:r>
              <a:rPr lang="en-GB" sz="3200" noProof="0" dirty="0">
                <a:latin typeface="Fira Sans" panose="020B0503050000020004" pitchFamily="34" charset="0"/>
              </a:rPr>
              <a:t>Automate repeatable, high‑volume operational workflows</a:t>
            </a:r>
          </a:p>
          <a:p>
            <a:pPr marL="914400" lvl="1" indent="-457200">
              <a:spcAft>
                <a:spcPts val="600"/>
              </a:spcAft>
              <a:buClr>
                <a:srgbClr val="FF0000"/>
              </a:buClr>
              <a:buFont typeface="Aktiv Grotesk" panose="020B0604020202020204" pitchFamily="34" charset="0"/>
              <a:buChar char="•"/>
            </a:pPr>
            <a:r>
              <a:rPr lang="en-GB" sz="3200" noProof="0" dirty="0">
                <a:latin typeface="Fira Sans" panose="020B0503050000020004" pitchFamily="34" charset="0"/>
              </a:rPr>
              <a:t>Adopt Self-service delivery model to improve customer service levels</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Strategic intent</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Manual processes limit growth and degrade customer experience</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Automation is essential for enterprise‑scale cloud operations</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Improve service consistency, resilience, and customer experience</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Default to cloud‑native and managed services where appropriate</a:t>
            </a:r>
          </a:p>
          <a:p>
            <a:pPr>
              <a:spcAft>
                <a:spcPts val="600"/>
              </a:spcAft>
            </a:pPr>
            <a:endParaRPr lang="en-GB" sz="3600" b="0" noProof="0" dirty="0">
              <a:latin typeface="Fira Sans" panose="020B0503050000020004" pitchFamily="34" charset="0"/>
            </a:endParaRPr>
          </a:p>
          <a:p>
            <a:pPr defTabSz="1828800" fontAlgn="t">
              <a:spcAft>
                <a:spcPts val="1400"/>
              </a:spcAft>
              <a:buClr>
                <a:srgbClr val="EB0000"/>
              </a:buClr>
            </a:pPr>
            <a:r>
              <a:rPr lang="en-GB" sz="3600" b="1" noProof="0" dirty="0">
                <a:latin typeface="Fira Sans" panose="020B0503050000020004" pitchFamily="34" charset="0"/>
              </a:rPr>
              <a:t>Outcome</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Reduced operational and key‑person risk</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Ability to scale revenue without linear cost growth</a:t>
            </a:r>
          </a:p>
          <a:p>
            <a:pPr marL="914400" lvl="1" indent="-457200">
              <a:spcAft>
                <a:spcPts val="100"/>
              </a:spcAft>
              <a:buClr>
                <a:srgbClr val="FF0000"/>
              </a:buClr>
              <a:buFont typeface="Aktiv Grotesk" panose="020B0604020202020204" pitchFamily="34" charset="0"/>
              <a:buChar char="•"/>
            </a:pPr>
            <a:r>
              <a:rPr lang="en-GB" sz="3200" noProof="0" dirty="0">
                <a:latin typeface="Fira Sans" panose="020B0503050000020004" pitchFamily="34" charset="0"/>
              </a:rPr>
              <a:t>Business teams focused on value creation rather than administration</a:t>
            </a:r>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101885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F4586-4324-CBE9-5C9F-64EAFC0408E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05AA51D-1EFC-8010-3143-09DC80ED0D2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12</a:t>
            </a:fld>
            <a:endParaRPr lang="en-GB" noProof="0"/>
          </a:p>
        </p:txBody>
      </p:sp>
      <p:sp>
        <p:nvSpPr>
          <p:cNvPr id="10" name="Text Placeholder 9">
            <a:extLst>
              <a:ext uri="{FF2B5EF4-FFF2-40B4-BE49-F238E27FC236}">
                <a16:creationId xmlns:a16="http://schemas.microsoft.com/office/drawing/2014/main" id="{CAA67531-EB76-ADB7-7C5C-4A8985982112}"/>
              </a:ext>
            </a:extLst>
          </p:cNvPr>
          <p:cNvSpPr>
            <a:spLocks noGrp="1"/>
          </p:cNvSpPr>
          <p:nvPr>
            <p:ph type="body" sz="quarter" idx="13"/>
          </p:nvPr>
        </p:nvSpPr>
        <p:spPr>
          <a:xfrm>
            <a:off x="758923" y="6671669"/>
            <a:ext cx="5216526" cy="3536261"/>
          </a:xfrm>
        </p:spPr>
        <p:txBody>
          <a:bodyPr/>
          <a:lstStyle/>
          <a:p>
            <a:pPr algn="ctr"/>
            <a:r>
              <a:rPr lang="en-GB" sz="3200" dirty="0">
                <a:latin typeface="Fira Sans" panose="020B0503050000020004" pitchFamily="34" charset="0"/>
              </a:rPr>
              <a:t>What happens if you don't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EE7C44B1-04F3-C772-276F-F693E62C122D}"/>
              </a:ext>
            </a:extLst>
          </p:cNvPr>
          <p:cNvSpPr>
            <a:spLocks noGrp="1"/>
          </p:cNvSpPr>
          <p:nvPr>
            <p:ph type="title"/>
          </p:nvPr>
        </p:nvSpPr>
        <p:spPr>
          <a:xfrm>
            <a:off x="746393"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The case for acting now</a:t>
            </a:r>
          </a:p>
        </p:txBody>
      </p:sp>
      <p:sp>
        <p:nvSpPr>
          <p:cNvPr id="11" name="Title 1">
            <a:extLst>
              <a:ext uri="{FF2B5EF4-FFF2-40B4-BE49-F238E27FC236}">
                <a16:creationId xmlns:a16="http://schemas.microsoft.com/office/drawing/2014/main" id="{D33EC3EB-83D5-A31C-4E49-8CC88D9E3AF3}"/>
              </a:ext>
            </a:extLst>
          </p:cNvPr>
          <p:cNvSpPr txBox="1">
            <a:spLocks/>
          </p:cNvSpPr>
          <p:nvPr/>
        </p:nvSpPr>
        <p:spPr>
          <a:xfrm>
            <a:off x="721333" y="949568"/>
            <a:ext cx="5241586" cy="988960"/>
          </a:xfrm>
          <a:prstGeom prst="rect">
            <a:avLst/>
          </a:prstGeom>
          <a:ln w="12700">
            <a:noFill/>
          </a:ln>
        </p:spPr>
        <p:txBody>
          <a:bodyPr vert="horz" wrap="square" lIns="0" tIns="0" rIns="0" bIns="0" rtlCol="0" anchor="t" anchorCtr="0">
            <a:normAutofit/>
          </a:bodyPr>
          <a:lstStyle>
            <a:lvl1pPr algn="l" defTabSz="1828800" rtl="0" eaLnBrk="1" fontAlgn="base" latinLnBrk="0" hangingPunct="1">
              <a:lnSpc>
                <a:spcPct val="110000"/>
              </a:lnSpc>
              <a:spcBef>
                <a:spcPct val="0"/>
              </a:spcBef>
              <a:buNone/>
              <a:defRPr sz="6250" kern="1200">
                <a:ln w="9525">
                  <a:noFill/>
                </a:ln>
                <a:solidFill>
                  <a:schemeClr val="bg1"/>
                </a:solidFill>
                <a:latin typeface="+mj-lt"/>
                <a:ea typeface="+mj-ea"/>
                <a:cs typeface="+mj-cs"/>
              </a:defRPr>
            </a:lvl1pPr>
          </a:lstStyle>
          <a:p>
            <a:pPr algn="ctr"/>
            <a:endParaRPr lang="en-GB" sz="5400" noProof="0" dirty="0">
              <a:latin typeface="Fira Sans" panose="020B0503050000020004" pitchFamily="34" charset="0"/>
            </a:endParaRPr>
          </a:p>
        </p:txBody>
      </p:sp>
      <p:sp>
        <p:nvSpPr>
          <p:cNvPr id="2" name="TextBox 1">
            <a:extLst>
              <a:ext uri="{FF2B5EF4-FFF2-40B4-BE49-F238E27FC236}">
                <a16:creationId xmlns:a16="http://schemas.microsoft.com/office/drawing/2014/main" id="{9DD41177-087D-60A0-513D-BBE5EB9888B9}"/>
              </a:ext>
            </a:extLst>
          </p:cNvPr>
          <p:cNvSpPr txBox="1"/>
          <p:nvPr/>
        </p:nvSpPr>
        <p:spPr>
          <a:xfrm>
            <a:off x="7315199" y="1444048"/>
            <a:ext cx="15983711" cy="9782165"/>
          </a:xfrm>
          <a:prstGeom prst="rect">
            <a:avLst/>
          </a:prstGeom>
          <a:noFill/>
        </p:spPr>
        <p:txBody>
          <a:bodyPr wrap="square" rtlCol="0">
            <a:spAutoFit/>
          </a:bodyPr>
          <a:lstStyle/>
          <a:p>
            <a:pPr marL="571500" indent="-571500" defTabSz="1828800" fontAlgn="t">
              <a:spcAft>
                <a:spcPts val="1400"/>
              </a:spcAft>
              <a:buClr>
                <a:srgbClr val="EB0000"/>
              </a:buClr>
              <a:buFont typeface="Aktiv Grotesk" panose="020B0604020202020204" pitchFamily="34" charset="0"/>
              <a:buChar char="•"/>
            </a:pPr>
            <a:r>
              <a:rPr lang="en-GB" sz="4000" b="1" dirty="0">
                <a:latin typeface="Fira Sans" panose="020B0503050000020004" pitchFamily="34" charset="0"/>
              </a:rPr>
              <a:t>Contracts converging </a:t>
            </a:r>
            <a:r>
              <a:rPr lang="en-GB" sz="4000" dirty="0">
                <a:latin typeface="Fira Sans" panose="020B0503050000020004" pitchFamily="34" charset="0"/>
              </a:rPr>
              <a:t>DC leases, EA, Broadcom, Oracle all landing inside two years. Each renewal re-locks capital.</a:t>
            </a:r>
          </a:p>
          <a:p>
            <a:pPr marL="571500" indent="-571500" defTabSz="1828800" fontAlgn="t">
              <a:spcAft>
                <a:spcPts val="1400"/>
              </a:spcAft>
              <a:buClr>
                <a:srgbClr val="EB0000"/>
              </a:buClr>
              <a:buFont typeface="Aktiv Grotesk"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4000" b="1" dirty="0">
                <a:latin typeface="Fira Sans" panose="020B0503050000020004" pitchFamily="34" charset="0"/>
              </a:rPr>
              <a:t>VMware position has changed </a:t>
            </a:r>
            <a:r>
              <a:rPr lang="en-GB" sz="4000" dirty="0">
                <a:latin typeface="Fira Sans" panose="020B0503050000020004" pitchFamily="34" charset="0"/>
              </a:rPr>
              <a:t>Perpetual licences, expired support. No patches, no new hosts. VCF subscription is the only path forward.</a:t>
            </a:r>
          </a:p>
          <a:p>
            <a:pPr marL="571500" indent="-571500" defTabSz="1828800" fontAlgn="t">
              <a:spcAft>
                <a:spcPts val="1400"/>
              </a:spcAft>
              <a:buClr>
                <a:srgbClr val="EB0000"/>
              </a:buClr>
              <a:buFont typeface="Aktiv Grotesk"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4000" b="1" dirty="0">
                <a:latin typeface="Fira Sans" panose="020B0503050000020004" pitchFamily="34" charset="0"/>
              </a:rPr>
              <a:t>Operational fragmentation limits growth </a:t>
            </a:r>
            <a:r>
              <a:rPr lang="en-GB" sz="4000" dirty="0">
                <a:latin typeface="Fira Sans" panose="020B0503050000020004" pitchFamily="34" charset="0"/>
              </a:rPr>
              <a:t>170 staff, 7 areas, different tooling and processes. No consistent control plane.</a:t>
            </a:r>
          </a:p>
          <a:p>
            <a:pPr marL="571500" indent="-571500" defTabSz="1828800" fontAlgn="t">
              <a:spcAft>
                <a:spcPts val="1400"/>
              </a:spcAft>
              <a:buClr>
                <a:srgbClr val="EB0000"/>
              </a:buClr>
              <a:buFont typeface="Aktiv Grotesk" panose="020B0604020202020204" pitchFamily="34" charset="0"/>
              <a:buChar char="•"/>
            </a:pPr>
            <a:endParaRPr lang="en-GB" sz="40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4000" b="1" dirty="0">
                <a:latin typeface="Fira Sans" panose="020B0503050000020004" pitchFamily="34" charset="0"/>
              </a:rPr>
              <a:t>1M subscribers needs elastic infrastructure </a:t>
            </a:r>
            <a:r>
              <a:rPr lang="en-GB" sz="4000" dirty="0">
                <a:latin typeface="Fira Sans" panose="020B0503050000020004" pitchFamily="34" charset="0"/>
              </a:rPr>
              <a:t>Fixed-capacity on-prem cannot scale for elections, breaking news, or subscriber growth without capital outlay.</a:t>
            </a:r>
            <a:endParaRPr lang="en-GB" sz="3600" dirty="0">
              <a:latin typeface="Fira Sans" panose="020B0503050000020004" pitchFamily="34" charset="0"/>
            </a:endParaRPr>
          </a:p>
          <a:p>
            <a:pPr algn="l"/>
            <a:endParaRPr lang="en-GB" sz="2800" dirty="0" err="1"/>
          </a:p>
        </p:txBody>
      </p:sp>
      <p:pic>
        <p:nvPicPr>
          <p:cNvPr id="12" name="Picture 11"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9548236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C72E0-B76C-714B-15C5-BE3FC273C6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EDB4A4B-3239-E9AC-07BA-E6D7D652529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Your Estate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17129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848C5-59DA-7811-F705-7D1DB6DBF3C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7D1E90B-637B-B4FA-0FBC-18021D49B7E8}"/>
              </a:ext>
            </a:extLst>
          </p:cNvPr>
          <p:cNvSpPr>
            <a:spLocks noGrp="1"/>
          </p:cNvSpPr>
          <p:nvPr>
            <p:ph type="title"/>
          </p:nvPr>
        </p:nvSpPr>
        <p:spPr>
          <a:xfrm>
            <a:off x="668992" y="537179"/>
            <a:ext cx="22991108" cy="997837"/>
          </a:xfrm>
        </p:spPr>
        <p:txBody>
          <a:bodyPr/>
          <a:lstStyle/>
          <a:p>
            <a:r>
              <a:rPr lang="en-GB" noProof="0">
                <a:solidFill>
                  <a:srgbClr val="FF0000"/>
                </a:solidFill>
                <a:latin typeface="Fira Sans Light" panose="020B0403050000020004" pitchFamily="34" charset="0"/>
              </a:rPr>
              <a:t>[Client] Global Presence</a:t>
            </a:r>
          </a:p>
        </p:txBody>
      </p:sp>
      <p:grpSp>
        <p:nvGrpSpPr>
          <p:cNvPr id="10" name="Group 9">
            <a:extLst>
              <a:ext uri="{FF2B5EF4-FFF2-40B4-BE49-F238E27FC236}">
                <a16:creationId xmlns:a16="http://schemas.microsoft.com/office/drawing/2014/main" id="{7F10BB89-DDBF-02C0-E62D-2FA22ED66EA0}"/>
              </a:ext>
            </a:extLst>
          </p:cNvPr>
          <p:cNvGrpSpPr/>
          <p:nvPr/>
        </p:nvGrpSpPr>
        <p:grpSpPr>
          <a:xfrm>
            <a:off x="3501112" y="2901483"/>
            <a:ext cx="19803979" cy="10285284"/>
            <a:chOff x="1630268" y="2929355"/>
            <a:chExt cx="19806920" cy="9669970"/>
          </a:xfrm>
        </p:grpSpPr>
        <p:pic>
          <p:nvPicPr>
            <p:cNvPr id="6" name="Picture 5">
              <a:extLst>
                <a:ext uri="{FF2B5EF4-FFF2-40B4-BE49-F238E27FC236}">
                  <a16:creationId xmlns:a16="http://schemas.microsoft.com/office/drawing/2014/main" id="{547142CA-A2B5-C2EE-FC12-EFE8DA2E6B1D}"/>
                </a:ext>
              </a:extLst>
            </p:cNvPr>
            <p:cNvPicPr>
              <a:picLocks noChangeAspect="1"/>
            </p:cNvPicPr>
            <p:nvPr/>
          </p:nvPicPr>
          <p:blipFill>
            <a:blip r:embed="rId10"/>
            <a:stretch>
              <a:fillRect/>
            </a:stretch>
          </p:blipFill>
          <p:spPr>
            <a:xfrm>
              <a:off x="1630268" y="2929355"/>
              <a:ext cx="19806920" cy="9669970"/>
            </a:xfrm>
            <a:prstGeom prst="rect">
              <a:avLst/>
            </a:prstGeom>
          </p:spPr>
        </p:pic>
        <p:sp>
          <p:nvSpPr>
            <p:cNvPr id="14" name="Text Placeholder 5">
              <a:extLst>
                <a:ext uri="{FF2B5EF4-FFF2-40B4-BE49-F238E27FC236}">
                  <a16:creationId xmlns:a16="http://schemas.microsoft.com/office/drawing/2014/main" id="{251D3E83-9B72-B4E8-D488-25DAFD3BECB9}"/>
                </a:ext>
              </a:extLst>
            </p:cNvPr>
            <p:cNvSpPr txBox="1">
              <a:spLocks/>
            </p:cNvSpPr>
            <p:nvPr/>
          </p:nvSpPr>
          <p:spPr>
            <a:xfrm>
              <a:off x="11009483" y="5931950"/>
              <a:ext cx="1950751" cy="492443"/>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defTabSz="1828800">
                <a:spcAft>
                  <a:spcPts val="0"/>
                </a:spcAft>
                <a:buNone/>
                <a:defRPr/>
              </a:pPr>
              <a:r>
                <a:rPr lang="en-GB" sz="1600" noProof="0">
                  <a:solidFill>
                    <a:srgbClr val="FF0000"/>
                  </a:solidFill>
                  <a:latin typeface="Fira Sans Light" panose="020B0403050000020004" pitchFamily="34" charset="0"/>
                </a:rPr>
                <a:t>London - Reading</a:t>
              </a:r>
            </a:p>
            <a:p>
              <a:pPr marL="0" indent="0" defTabSz="1828800">
                <a:spcAft>
                  <a:spcPts val="0"/>
                </a:spcAft>
                <a:buNone/>
                <a:defRPr/>
              </a:pPr>
              <a:r>
                <a:rPr lang="en-GB" sz="1600" noProof="0">
                  <a:solidFill>
                    <a:srgbClr val="FF0000"/>
                  </a:solidFill>
                  <a:latin typeface="Fira Sans Light" panose="020B0403050000020004" pitchFamily="34" charset="0"/>
                </a:rPr>
                <a:t>London - Slough</a:t>
              </a:r>
            </a:p>
          </p:txBody>
        </p:sp>
        <p:sp>
          <p:nvSpPr>
            <p:cNvPr id="8" name="Text Placeholder 5">
              <a:extLst>
                <a:ext uri="{FF2B5EF4-FFF2-40B4-BE49-F238E27FC236}">
                  <a16:creationId xmlns:a16="http://schemas.microsoft.com/office/drawing/2014/main" id="{7F60CD8B-7111-6397-6939-75341E3F5B65}"/>
                </a:ext>
              </a:extLst>
            </p:cNvPr>
            <p:cNvSpPr txBox="1">
              <a:spLocks/>
            </p:cNvSpPr>
            <p:nvPr/>
          </p:nvSpPr>
          <p:spPr>
            <a:xfrm>
              <a:off x="18800813" y="11152918"/>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FF0000"/>
                  </a:solidFill>
                  <a:latin typeface="Fira Sans Light" panose="020B0403050000020004" pitchFamily="34" charset="0"/>
                </a:rPr>
                <a:t>Sydney</a:t>
              </a:r>
            </a:p>
          </p:txBody>
        </p:sp>
        <p:pic>
          <p:nvPicPr>
            <p:cNvPr id="9" name="CustomIcon">
              <a:extLst>
                <a:ext uri="{FF2B5EF4-FFF2-40B4-BE49-F238E27FC236}">
                  <a16:creationId xmlns:a16="http://schemas.microsoft.com/office/drawing/2014/main" id="{07E2DF1C-F4EC-D398-68A6-E69836CB6532}"/>
                </a:ext>
              </a:extLst>
            </p:cNvPr>
            <p:cNvPicPr>
              <a:picLocks noChangeAspect="1"/>
            </p:cNvPicPr>
            <p:nvPr>
              <p:custDataLst>
                <p:tags r:id="rId1"/>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8969041" y="10932728"/>
              <a:ext cx="298298" cy="291624"/>
            </a:xfrm>
            <a:prstGeom prst="rect">
              <a:avLst/>
            </a:prstGeom>
          </p:spPr>
        </p:pic>
        <p:sp>
          <p:nvSpPr>
            <p:cNvPr id="32" name="Text Placeholder 5">
              <a:extLst>
                <a:ext uri="{FF2B5EF4-FFF2-40B4-BE49-F238E27FC236}">
                  <a16:creationId xmlns:a16="http://schemas.microsoft.com/office/drawing/2014/main" id="{AB761790-BC3D-2789-7183-62D3816AA953}"/>
                </a:ext>
              </a:extLst>
            </p:cNvPr>
            <p:cNvSpPr txBox="1">
              <a:spLocks/>
            </p:cNvSpPr>
            <p:nvPr/>
          </p:nvSpPr>
          <p:spPr>
            <a:xfrm>
              <a:off x="9172211" y="5773125"/>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Dublin</a:t>
              </a:r>
            </a:p>
          </p:txBody>
        </p:sp>
        <p:pic>
          <p:nvPicPr>
            <p:cNvPr id="33" name="CustomIcon">
              <a:extLst>
                <a:ext uri="{FF2B5EF4-FFF2-40B4-BE49-F238E27FC236}">
                  <a16:creationId xmlns:a16="http://schemas.microsoft.com/office/drawing/2014/main" id="{ED75D216-FDD1-2319-7F0D-41D571F537EA}"/>
                </a:ext>
              </a:extLst>
            </p:cNvPr>
            <p:cNvPicPr>
              <a:picLocks noChangeAspect="1"/>
            </p:cNvPicPr>
            <p:nvPr>
              <p:custDataLst>
                <p:tags r:id="rId2"/>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313903" y="5679302"/>
              <a:ext cx="298298" cy="291624"/>
            </a:xfrm>
            <a:prstGeom prst="rect">
              <a:avLst/>
            </a:prstGeom>
          </p:spPr>
        </p:pic>
        <p:pic>
          <p:nvPicPr>
            <p:cNvPr id="34" name="CustomIcon">
              <a:extLst>
                <a:ext uri="{FF2B5EF4-FFF2-40B4-BE49-F238E27FC236}">
                  <a16:creationId xmlns:a16="http://schemas.microsoft.com/office/drawing/2014/main" id="{CFF57321-6831-89AD-3A6A-21CBCE6B6FDD}"/>
                </a:ext>
              </a:extLst>
            </p:cNvPr>
            <p:cNvPicPr>
              <a:picLocks noChangeAspect="1"/>
            </p:cNvPicPr>
            <p:nvPr>
              <p:custDataLst>
                <p:tags r:id="rId3"/>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711185" y="5786138"/>
              <a:ext cx="298298" cy="291624"/>
            </a:xfrm>
            <a:prstGeom prst="rect">
              <a:avLst/>
            </a:prstGeom>
          </p:spPr>
        </p:pic>
        <p:pic>
          <p:nvPicPr>
            <p:cNvPr id="35" name="CustomIcon">
              <a:extLst>
                <a:ext uri="{FF2B5EF4-FFF2-40B4-BE49-F238E27FC236}">
                  <a16:creationId xmlns:a16="http://schemas.microsoft.com/office/drawing/2014/main" id="{B214D33A-4501-9C61-22EA-7273A14E86A6}"/>
                </a:ext>
              </a:extLst>
            </p:cNvPr>
            <p:cNvPicPr>
              <a:picLocks noChangeAspect="1"/>
            </p:cNvPicPr>
            <p:nvPr>
              <p:custDataLst>
                <p:tags r:id="rId4"/>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509384" y="5456617"/>
              <a:ext cx="298298" cy="291624"/>
            </a:xfrm>
            <a:prstGeom prst="rect">
              <a:avLst/>
            </a:prstGeom>
          </p:spPr>
        </p:pic>
        <p:sp>
          <p:nvSpPr>
            <p:cNvPr id="36" name="Text Placeholder 5">
              <a:extLst>
                <a:ext uri="{FF2B5EF4-FFF2-40B4-BE49-F238E27FC236}">
                  <a16:creationId xmlns:a16="http://schemas.microsoft.com/office/drawing/2014/main" id="{6E543783-8E40-29D3-2BAB-D42570ACD6D9}"/>
                </a:ext>
              </a:extLst>
            </p:cNvPr>
            <p:cNvSpPr txBox="1">
              <a:spLocks/>
            </p:cNvSpPr>
            <p:nvPr/>
          </p:nvSpPr>
          <p:spPr>
            <a:xfrm>
              <a:off x="10711185" y="5353901"/>
              <a:ext cx="1545335"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Carn, Glasgow</a:t>
              </a:r>
            </a:p>
          </p:txBody>
        </p:sp>
        <p:pic>
          <p:nvPicPr>
            <p:cNvPr id="38" name="CustomIcon">
              <a:extLst>
                <a:ext uri="{FF2B5EF4-FFF2-40B4-BE49-F238E27FC236}">
                  <a16:creationId xmlns:a16="http://schemas.microsoft.com/office/drawing/2014/main" id="{CA1CB7F5-279E-D912-7F3F-2C28976F433C}"/>
                </a:ext>
              </a:extLst>
            </p:cNvPr>
            <p:cNvPicPr>
              <a:picLocks noChangeAspect="1"/>
            </p:cNvPicPr>
            <p:nvPr>
              <p:custDataLst>
                <p:tags r:id="rId5"/>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6526557" y="6652823"/>
              <a:ext cx="298298" cy="291624"/>
            </a:xfrm>
            <a:prstGeom prst="rect">
              <a:avLst/>
            </a:prstGeom>
          </p:spPr>
        </p:pic>
        <p:sp>
          <p:nvSpPr>
            <p:cNvPr id="39" name="Text Placeholder 5">
              <a:extLst>
                <a:ext uri="{FF2B5EF4-FFF2-40B4-BE49-F238E27FC236}">
                  <a16:creationId xmlns:a16="http://schemas.microsoft.com/office/drawing/2014/main" id="{899DD27C-055C-CBFD-B90E-E8BC5B0B7132}"/>
                </a:ext>
              </a:extLst>
            </p:cNvPr>
            <p:cNvSpPr txBox="1">
              <a:spLocks/>
            </p:cNvSpPr>
            <p:nvPr/>
          </p:nvSpPr>
          <p:spPr>
            <a:xfrm>
              <a:off x="6526557" y="6721474"/>
              <a:ext cx="1606306"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New York</a:t>
              </a:r>
            </a:p>
          </p:txBody>
        </p:sp>
        <p:pic>
          <p:nvPicPr>
            <p:cNvPr id="40" name="CustomIcon">
              <a:extLst>
                <a:ext uri="{FF2B5EF4-FFF2-40B4-BE49-F238E27FC236}">
                  <a16:creationId xmlns:a16="http://schemas.microsoft.com/office/drawing/2014/main" id="{21EA1A8C-C7A7-159E-1BD0-11B350C35F54}"/>
                </a:ext>
              </a:extLst>
            </p:cNvPr>
            <p:cNvPicPr>
              <a:picLocks noChangeAspect="1"/>
            </p:cNvPicPr>
            <p:nvPr>
              <p:custDataLst>
                <p:tags r:id="rId6"/>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4208633" y="6921746"/>
              <a:ext cx="298298" cy="291624"/>
            </a:xfrm>
            <a:prstGeom prst="rect">
              <a:avLst/>
            </a:prstGeom>
          </p:spPr>
        </p:pic>
        <p:sp>
          <p:nvSpPr>
            <p:cNvPr id="41" name="Text Placeholder 5">
              <a:extLst>
                <a:ext uri="{FF2B5EF4-FFF2-40B4-BE49-F238E27FC236}">
                  <a16:creationId xmlns:a16="http://schemas.microsoft.com/office/drawing/2014/main" id="{584C06BA-A077-F8BB-5602-449EC56CE8B2}"/>
                </a:ext>
              </a:extLst>
            </p:cNvPr>
            <p:cNvSpPr txBox="1">
              <a:spLocks/>
            </p:cNvSpPr>
            <p:nvPr/>
          </p:nvSpPr>
          <p:spPr>
            <a:xfrm>
              <a:off x="2866734" y="6944447"/>
              <a:ext cx="1281428"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Los Angeles</a:t>
              </a:r>
            </a:p>
          </p:txBody>
        </p:sp>
        <p:pic>
          <p:nvPicPr>
            <p:cNvPr id="2" name="CustomIcon">
              <a:extLst>
                <a:ext uri="{FF2B5EF4-FFF2-40B4-BE49-F238E27FC236}">
                  <a16:creationId xmlns:a16="http://schemas.microsoft.com/office/drawing/2014/main" id="{70B2B2F4-67EB-82D2-AD46-6155B74B9251}"/>
                </a:ext>
              </a:extLst>
            </p:cNvPr>
            <p:cNvPicPr>
              <a:picLocks noChangeAspect="1"/>
            </p:cNvPicPr>
            <p:nvPr>
              <p:custDataLst>
                <p:tags r:id="rId7"/>
              </p:custDataLst>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1"/>
                </a:ext>
              </a:extLst>
            </a:blip>
            <a:stretch>
              <a:fillRect/>
            </a:stretch>
          </p:blipFill>
          <p:spPr>
            <a:xfrm>
              <a:off x="10612201" y="5704186"/>
              <a:ext cx="298298" cy="291624"/>
            </a:xfrm>
            <a:prstGeom prst="rect">
              <a:avLst/>
            </a:prstGeom>
          </p:spPr>
        </p:pic>
        <p:sp>
          <p:nvSpPr>
            <p:cNvPr id="4" name="Text Placeholder 5">
              <a:extLst>
                <a:ext uri="{FF2B5EF4-FFF2-40B4-BE49-F238E27FC236}">
                  <a16:creationId xmlns:a16="http://schemas.microsoft.com/office/drawing/2014/main" id="{E5EEA187-61A1-9460-41F1-2C6CB35CA093}"/>
                </a:ext>
              </a:extLst>
            </p:cNvPr>
            <p:cNvSpPr txBox="1">
              <a:spLocks/>
            </p:cNvSpPr>
            <p:nvPr/>
          </p:nvSpPr>
          <p:spPr>
            <a:xfrm>
              <a:off x="10814039" y="5576586"/>
              <a:ext cx="2212340" cy="246221"/>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1600" noProof="0">
                  <a:solidFill>
                    <a:srgbClr val="000000"/>
                  </a:solidFill>
                  <a:latin typeface="Fira Sans Light" panose="020B0403050000020004" pitchFamily="34" charset="0"/>
                </a:rPr>
                <a:t>Leicester, Manchester</a:t>
              </a:r>
            </a:p>
          </p:txBody>
        </p:sp>
      </p:grpSp>
      <p:sp>
        <p:nvSpPr>
          <p:cNvPr id="7" name="Text Placeholder 5">
            <a:extLst>
              <a:ext uri="{FF2B5EF4-FFF2-40B4-BE49-F238E27FC236}">
                <a16:creationId xmlns:a16="http://schemas.microsoft.com/office/drawing/2014/main" id="{41C1413C-5F32-C689-7C52-0DCE3AA9D51D}"/>
              </a:ext>
            </a:extLst>
          </p:cNvPr>
          <p:cNvSpPr txBox="1">
            <a:spLocks/>
          </p:cNvSpPr>
          <p:nvPr/>
        </p:nvSpPr>
        <p:spPr>
          <a:xfrm>
            <a:off x="575203" y="2783228"/>
            <a:ext cx="4802810" cy="1282402"/>
          </a:xfrm>
          <a:prstGeom prst="rect">
            <a:avLst/>
          </a:prstGeom>
        </p:spPr>
        <p:txBody>
          <a:bodyPr vert="horz" wrap="square" lIns="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ktiv Grotesk" panose="020B0604020202020204" pitchFamily="34" charset="0"/>
              <a:buChar char="•"/>
              <a:tabLst/>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ktiv Grotesk" panose="020B0604020202020204" pitchFamily="34" charset="0"/>
              <a:buChar char="•"/>
              <a:defRPr sz="1800" kern="1200">
                <a:solidFill>
                  <a:schemeClr val="tx1"/>
                </a:solidFill>
                <a:latin typeface="+mn-lt"/>
                <a:ea typeface="+mn-ea"/>
                <a:cs typeface="+mn-cs"/>
              </a:defRPr>
            </a:lvl9pPr>
          </a:lstStyle>
          <a:p>
            <a:pPr marL="0" indent="0" algn="ctr" defTabSz="1828800">
              <a:spcAft>
                <a:spcPts val="1400"/>
              </a:spcAft>
              <a:buNone/>
              <a:defRPr/>
            </a:pPr>
            <a:r>
              <a:rPr lang="en-GB" sz="2000" b="1" noProof="0">
                <a:solidFill>
                  <a:srgbClr val="FF0000"/>
                </a:solidFill>
                <a:latin typeface="Fira Sans Light" panose="020B0403050000020004" pitchFamily="34" charset="0"/>
              </a:rPr>
              <a:t>In Scope for this Assessment:</a:t>
            </a:r>
          </a:p>
          <a:p>
            <a:pPr marL="0" indent="0" algn="ctr" defTabSz="1828800">
              <a:spcAft>
                <a:spcPts val="1400"/>
              </a:spcAft>
              <a:buNone/>
              <a:defRPr/>
            </a:pPr>
            <a:r>
              <a:rPr lang="en-GB" sz="2000" b="1" noProof="0">
                <a:solidFill>
                  <a:srgbClr val="FF0000"/>
                </a:solidFill>
                <a:latin typeface="Fira Sans Light" panose="020B0403050000020004" pitchFamily="34" charset="0"/>
              </a:rPr>
              <a:t>Reading, Slough, Sydney</a:t>
            </a:r>
          </a:p>
          <a:p>
            <a:pPr marL="0" indent="0" algn="ctr" defTabSz="1828800">
              <a:spcAft>
                <a:spcPts val="1400"/>
              </a:spcAft>
              <a:buNone/>
              <a:defRPr/>
            </a:pPr>
            <a:r>
              <a:rPr lang="en-GB" sz="2000" b="1" noProof="0">
                <a:solidFill>
                  <a:srgbClr val="000000"/>
                </a:solidFill>
                <a:latin typeface="Fira Sans Light" panose="020B0403050000020004" pitchFamily="34" charset="0"/>
              </a:rPr>
              <a:t>Remainder Out of Scope</a:t>
            </a:r>
            <a:endParaRPr lang="en-GB" sz="2000" b="1" noProof="0">
              <a:solidFill>
                <a:srgbClr val="FF0000"/>
              </a:solidFill>
              <a:latin typeface="Fira Sans Light" panose="020B0403050000020004" pitchFamily="34" charset="0"/>
            </a:endParaRPr>
          </a:p>
        </p:txBody>
      </p:sp>
      <p:pic>
        <p:nvPicPr>
          <p:cNvPr id="42" name="Picture 41" descr="image.png"/>
          <p:cNvPicPr>
            <a:picLocks noChangeAspect="1"/>
          </p:cNvPicPr>
          <p:nvPr/>
        </p:nvPicPr>
        <p:blipFill>
          <a:blip r:embed="rId1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5820667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F58EC-6DE0-BA9D-5AC1-1840FF33FA1B}"/>
            </a:ext>
          </a:extLst>
        </p:cNvPr>
        <p:cNvGrpSpPr/>
        <p:nvPr/>
      </p:nvGrpSpPr>
      <p:grpSpPr>
        <a:xfrm>
          <a:off x="0" y="0"/>
          <a:ext cx="0" cy="0"/>
          <a:chOff x="0" y="0"/>
          <a:chExt cx="0" cy="0"/>
        </a:xfrm>
      </p:grpSpPr>
      <p:pic>
        <p:nvPicPr>
          <p:cNvPr id="1026" name="Picture 2" descr="VMWare ESXi: An Overview | Cloud4U">
            <a:extLst>
              <a:ext uri="{FF2B5EF4-FFF2-40B4-BE49-F238E27FC236}">
                <a16:creationId xmlns:a16="http://schemas.microsoft.com/office/drawing/2014/main" id="{E5CAF08B-670E-999D-1A5F-C54EB16066C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4587" y="2236989"/>
            <a:ext cx="3633862" cy="3633862"/>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DF54F30C-8CF6-27BA-AD77-3B691BC87EE7}"/>
              </a:ext>
            </a:extLst>
          </p:cNvPr>
          <p:cNvSpPr>
            <a:spLocks noGrp="1"/>
          </p:cNvSpPr>
          <p:nvPr>
            <p:ph type="sldNum" sz="quarter" idx="4"/>
          </p:nvPr>
        </p:nvSpPr>
        <p:spPr>
          <a:xfrm>
            <a:off x="22402802" y="13027080"/>
            <a:ext cx="1234804" cy="215444"/>
          </a:xfrm>
        </p:spPr>
        <p:txBody>
          <a:bodyPr/>
          <a:lstStyle/>
          <a:p>
            <a:fld id="{762E77F0-FB5B-4E8E-9BC9-34F14560A017}" type="slidenum">
              <a:rPr lang="en-GB" noProof="0" smtClean="0"/>
              <a:pPr/>
              <a:t>15</a:t>
            </a:fld>
            <a:endParaRPr lang="en-GB" noProof="0"/>
          </a:p>
        </p:txBody>
      </p:sp>
      <p:sp>
        <p:nvSpPr>
          <p:cNvPr id="4" name="TextBox 3">
            <a:extLst>
              <a:ext uri="{FF2B5EF4-FFF2-40B4-BE49-F238E27FC236}">
                <a16:creationId xmlns:a16="http://schemas.microsoft.com/office/drawing/2014/main" id="{2652C90C-3C21-3BE4-2DA5-684CDEA35171}"/>
              </a:ext>
            </a:extLst>
          </p:cNvPr>
          <p:cNvSpPr txBox="1"/>
          <p:nvPr/>
        </p:nvSpPr>
        <p:spPr>
          <a:xfrm>
            <a:off x="323147" y="537023"/>
            <a:ext cx="16872341" cy="1046440"/>
          </a:xfrm>
          <a:prstGeom prst="rect">
            <a:avLst/>
          </a:prstGeom>
          <a:noFill/>
        </p:spPr>
        <p:txBody>
          <a:bodyPr wrap="square" rtlCol="0">
            <a:spAutoFit/>
          </a:bodyPr>
          <a:lstStyle/>
          <a:p>
            <a:pPr algn="l"/>
            <a:r>
              <a:rPr lang="en-GB" sz="6200" noProof="0">
                <a:solidFill>
                  <a:srgbClr val="FF0000"/>
                </a:solidFill>
                <a:latin typeface="Fira Sans Light" panose="020B0403050000020004" pitchFamily="34" charset="0"/>
              </a:rPr>
              <a:t>[Client] Inventory Scope – At a Glance</a:t>
            </a:r>
          </a:p>
        </p:txBody>
      </p:sp>
      <p:pic>
        <p:nvPicPr>
          <p:cNvPr id="1028" name="Picture 4" descr="HPE Synergy 480 Gen11 Configure-to-Order Module | HPE Store Deutschland">
            <a:extLst>
              <a:ext uri="{FF2B5EF4-FFF2-40B4-BE49-F238E27FC236}">
                <a16:creationId xmlns:a16="http://schemas.microsoft.com/office/drawing/2014/main" id="{1761AE9E-D021-70C1-9568-B6D0970549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597134" y="2287082"/>
            <a:ext cx="3059738" cy="2294804"/>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B59885C9-FE20-CAB0-AC25-719048D3697A}"/>
              </a:ext>
            </a:extLst>
          </p:cNvPr>
          <p:cNvSpPr/>
          <p:nvPr/>
        </p:nvSpPr>
        <p:spPr>
          <a:xfrm>
            <a:off x="240633" y="5041811"/>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Reading</a:t>
            </a:r>
          </a:p>
        </p:txBody>
      </p:sp>
      <p:sp>
        <p:nvSpPr>
          <p:cNvPr id="13" name="Rectangle 12">
            <a:extLst>
              <a:ext uri="{FF2B5EF4-FFF2-40B4-BE49-F238E27FC236}">
                <a16:creationId xmlns:a16="http://schemas.microsoft.com/office/drawing/2014/main" id="{B3D61B31-9D00-B00D-011E-F96BC6BB053B}"/>
              </a:ext>
            </a:extLst>
          </p:cNvPr>
          <p:cNvSpPr/>
          <p:nvPr/>
        </p:nvSpPr>
        <p:spPr>
          <a:xfrm>
            <a:off x="240633" y="7887138"/>
            <a:ext cx="22803018" cy="263429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noProof="0">
                <a:solidFill>
                  <a:schemeClr val="tx1"/>
                </a:solidFill>
              </a:rPr>
              <a:t>Slough</a:t>
            </a:r>
            <a:endParaRPr lang="en-GB" sz="1800" noProof="0">
              <a:solidFill>
                <a:schemeClr val="tx1"/>
              </a:solidFill>
            </a:endParaRPr>
          </a:p>
        </p:txBody>
      </p:sp>
      <p:sp>
        <p:nvSpPr>
          <p:cNvPr id="14" name="Rectangle 13">
            <a:extLst>
              <a:ext uri="{FF2B5EF4-FFF2-40B4-BE49-F238E27FC236}">
                <a16:creationId xmlns:a16="http://schemas.microsoft.com/office/drawing/2014/main" id="{78438EC3-BBFC-CCBB-C6DE-C5ED7D8E8D6C}"/>
              </a:ext>
            </a:extLst>
          </p:cNvPr>
          <p:cNvSpPr/>
          <p:nvPr/>
        </p:nvSpPr>
        <p:spPr>
          <a:xfrm>
            <a:off x="240633" y="10682658"/>
            <a:ext cx="22803018" cy="1627379"/>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1800" noProof="0">
                <a:solidFill>
                  <a:schemeClr val="tx1"/>
                </a:solidFill>
              </a:rPr>
              <a:t>Sydney</a:t>
            </a:r>
          </a:p>
        </p:txBody>
      </p:sp>
      <p:pic>
        <p:nvPicPr>
          <p:cNvPr id="1044" name="Picture 20" descr="Database logo Vectors - Download Free High-Quality Vectors from Freepik |  Freepik">
            <a:extLst>
              <a:ext uri="{FF2B5EF4-FFF2-40B4-BE49-F238E27FC236}">
                <a16:creationId xmlns:a16="http://schemas.microsoft.com/office/drawing/2014/main" id="{062860EC-3403-C455-B04C-8613746A4E2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04871" y="2913506"/>
            <a:ext cx="1582404" cy="175130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A1841AB5-686D-1E62-CF1A-63FC273D78DD}"/>
              </a:ext>
            </a:extLst>
          </p:cNvPr>
          <p:cNvSpPr txBox="1"/>
          <p:nvPr/>
        </p:nvSpPr>
        <p:spPr>
          <a:xfrm>
            <a:off x="14257651" y="4345578"/>
            <a:ext cx="1337285" cy="646331"/>
          </a:xfrm>
          <a:prstGeom prst="rect">
            <a:avLst/>
          </a:prstGeom>
          <a:noFill/>
        </p:spPr>
        <p:txBody>
          <a:bodyPr wrap="square" rtlCol="0">
            <a:spAutoFit/>
          </a:bodyPr>
          <a:lstStyle/>
          <a:p>
            <a:pPr algn="ctr"/>
            <a:r>
              <a:rPr lang="en-GB" sz="1800" noProof="0"/>
              <a:t>Virtual </a:t>
            </a:r>
            <a:r>
              <a:rPr lang="en-GB" sz="1800" noProof="0" err="1"/>
              <a:t>DBServers</a:t>
            </a:r>
            <a:endParaRPr lang="en-GB" sz="1800" noProof="0"/>
          </a:p>
        </p:txBody>
      </p:sp>
      <p:pic>
        <p:nvPicPr>
          <p:cNvPr id="1046" name="Picture 22">
            <a:extLst>
              <a:ext uri="{FF2B5EF4-FFF2-40B4-BE49-F238E27FC236}">
                <a16:creationId xmlns:a16="http://schemas.microsoft.com/office/drawing/2014/main" id="{455AD7A4-25DF-9DD3-077A-B1FF1DA1DAD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65656" y="8224109"/>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1050" name="Picture 26" descr="MySQL logo PNG transparent image download, size: 1280x1280px">
            <a:extLst>
              <a:ext uri="{FF2B5EF4-FFF2-40B4-BE49-F238E27FC236}">
                <a16:creationId xmlns:a16="http://schemas.microsoft.com/office/drawing/2014/main" id="{022A5637-4B11-A8D8-610C-E44F68991C4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12017" y="8373620"/>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windows logo PNG transparent image download, size: 1960x1840px">
            <a:extLst>
              <a:ext uri="{FF2B5EF4-FFF2-40B4-BE49-F238E27FC236}">
                <a16:creationId xmlns:a16="http://schemas.microsoft.com/office/drawing/2014/main" id="{8642023E-DA58-EE82-6A4F-72F3E7E89AB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13118" y="6064219"/>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1060" name="Picture 36" descr="Linux Logo and symbol, meaning, history, PNG, brand">
            <a:extLst>
              <a:ext uri="{FF2B5EF4-FFF2-40B4-BE49-F238E27FC236}">
                <a16:creationId xmlns:a16="http://schemas.microsoft.com/office/drawing/2014/main" id="{F3948C53-2A33-172A-81A9-F66D038B268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91427" y="5221427"/>
            <a:ext cx="648466" cy="716280"/>
          </a:xfrm>
          <a:prstGeom prst="rect">
            <a:avLst/>
          </a:prstGeom>
          <a:noFill/>
          <a:extLst>
            <a:ext uri="{909E8E84-426E-40DD-AFC4-6F175D3DCCD1}">
              <a14:hiddenFill xmlns:a14="http://schemas.microsoft.com/office/drawing/2010/main">
                <a:solidFill>
                  <a:srgbClr val="FFFFFF"/>
                </a:solidFill>
              </a14:hiddenFill>
            </a:ext>
          </a:extLst>
        </p:spPr>
      </p:pic>
      <p:grpSp>
        <p:nvGrpSpPr>
          <p:cNvPr id="39" name="Group 38">
            <a:extLst>
              <a:ext uri="{FF2B5EF4-FFF2-40B4-BE49-F238E27FC236}">
                <a16:creationId xmlns:a16="http://schemas.microsoft.com/office/drawing/2014/main" id="{0CDD22F3-17C7-63B7-CAE1-00B1B32933A5}"/>
              </a:ext>
            </a:extLst>
          </p:cNvPr>
          <p:cNvGrpSpPr/>
          <p:nvPr/>
        </p:nvGrpSpPr>
        <p:grpSpPr>
          <a:xfrm>
            <a:off x="1493698" y="2989314"/>
            <a:ext cx="2088865" cy="6116227"/>
            <a:chOff x="-1111737" y="3040669"/>
            <a:chExt cx="2088865" cy="6116227"/>
          </a:xfrm>
        </p:grpSpPr>
        <p:pic>
          <p:nvPicPr>
            <p:cNvPr id="1030" name="Picture 6" descr="Proxmox VE 9.0 – Stabile Version jetzt verfügbar! – Black Rack">
              <a:extLst>
                <a:ext uri="{FF2B5EF4-FFF2-40B4-BE49-F238E27FC236}">
                  <a16:creationId xmlns:a16="http://schemas.microsoft.com/office/drawing/2014/main" id="{D59C1989-3603-B605-97FD-44E8FAE6C551}"/>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90964" y="3040669"/>
              <a:ext cx="1868092" cy="1779135"/>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E20BEADD-692B-A62E-8C72-EA0155572096}"/>
                </a:ext>
              </a:extLst>
            </p:cNvPr>
            <p:cNvSpPr txBox="1"/>
            <p:nvPr/>
          </p:nvSpPr>
          <p:spPr>
            <a:xfrm>
              <a:off x="-68646" y="8849119"/>
              <a:ext cx="990841" cy="307777"/>
            </a:xfrm>
            <a:prstGeom prst="rect">
              <a:avLst/>
            </a:prstGeom>
            <a:noFill/>
          </p:spPr>
          <p:txBody>
            <a:bodyPr wrap="square" rtlCol="0">
              <a:spAutoFit/>
            </a:bodyPr>
            <a:lstStyle/>
            <a:p>
              <a:pPr algn="l"/>
              <a:r>
                <a:rPr lang="en-GB" sz="1400" noProof="0"/>
                <a:t>MOL INT</a:t>
              </a:r>
            </a:p>
          </p:txBody>
        </p:sp>
        <p:sp>
          <p:nvSpPr>
            <p:cNvPr id="18" name="TextBox 17">
              <a:extLst>
                <a:ext uri="{FF2B5EF4-FFF2-40B4-BE49-F238E27FC236}">
                  <a16:creationId xmlns:a16="http://schemas.microsoft.com/office/drawing/2014/main" id="{E84481C6-12BF-5EC5-572C-A36D7E467AC5}"/>
                </a:ext>
              </a:extLst>
            </p:cNvPr>
            <p:cNvSpPr txBox="1"/>
            <p:nvPr/>
          </p:nvSpPr>
          <p:spPr>
            <a:xfrm>
              <a:off x="-1100226" y="5892249"/>
              <a:ext cx="1580626" cy="523220"/>
            </a:xfrm>
            <a:prstGeom prst="rect">
              <a:avLst/>
            </a:prstGeom>
            <a:noFill/>
          </p:spPr>
          <p:txBody>
            <a:bodyPr wrap="none" rtlCol="0">
              <a:spAutoFit/>
            </a:bodyPr>
            <a:lstStyle/>
            <a:p>
              <a:pPr algn="l"/>
              <a:r>
                <a:rPr lang="en-GB" sz="1400" noProof="0"/>
                <a:t>No MOL </a:t>
              </a:r>
              <a:r>
                <a:rPr lang="en-GB" sz="1400" noProof="0" err="1"/>
                <a:t>proxmox</a:t>
              </a:r>
              <a:endParaRPr lang="en-GB" sz="1400" noProof="0"/>
            </a:p>
            <a:p>
              <a:pPr algn="l"/>
              <a:r>
                <a:rPr lang="en-GB" sz="1400" noProof="0"/>
                <a:t>In Reading</a:t>
              </a:r>
            </a:p>
          </p:txBody>
        </p:sp>
        <p:pic>
          <p:nvPicPr>
            <p:cNvPr id="20" name="Picture 36" descr="Linux Logo and symbol, meaning, history, PNG, brand">
              <a:extLst>
                <a:ext uri="{FF2B5EF4-FFF2-40B4-BE49-F238E27FC236}">
                  <a16:creationId xmlns:a16="http://schemas.microsoft.com/office/drawing/2014/main" id="{81CBB2B2-C370-A369-D48D-7EF0D09BAFD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746" y="8085438"/>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ECF1CD20-2D5B-C346-FB97-10A8722EE4FA}"/>
                </a:ext>
              </a:extLst>
            </p:cNvPr>
            <p:cNvSpPr txBox="1"/>
            <p:nvPr/>
          </p:nvSpPr>
          <p:spPr>
            <a:xfrm>
              <a:off x="-1111737" y="6680032"/>
              <a:ext cx="2027478" cy="523220"/>
            </a:xfrm>
            <a:prstGeom prst="rect">
              <a:avLst/>
            </a:prstGeom>
            <a:noFill/>
          </p:spPr>
          <p:txBody>
            <a:bodyPr wrap="none" rtlCol="0">
              <a:spAutoFit/>
            </a:bodyPr>
            <a:lstStyle/>
            <a:p>
              <a:pPr algn="l"/>
              <a:r>
                <a:rPr lang="en-GB" sz="1400" noProof="0"/>
                <a:t>ANL </a:t>
              </a:r>
              <a:r>
                <a:rPr lang="en-GB" sz="1400" noProof="0" err="1"/>
                <a:t>proxmox</a:t>
              </a:r>
              <a:endParaRPr lang="en-GB" sz="1400" noProof="0"/>
            </a:p>
            <a:p>
              <a:pPr algn="l"/>
              <a:r>
                <a:rPr lang="en-GB" sz="1400" noProof="0"/>
                <a:t>Reading – TEST ONLY</a:t>
              </a:r>
            </a:p>
          </p:txBody>
        </p:sp>
      </p:grpSp>
      <p:grpSp>
        <p:nvGrpSpPr>
          <p:cNvPr id="40" name="Group 39">
            <a:extLst>
              <a:ext uri="{FF2B5EF4-FFF2-40B4-BE49-F238E27FC236}">
                <a16:creationId xmlns:a16="http://schemas.microsoft.com/office/drawing/2014/main" id="{30EEA640-C630-F892-7290-5F9006C93E9F}"/>
              </a:ext>
            </a:extLst>
          </p:cNvPr>
          <p:cNvGrpSpPr/>
          <p:nvPr/>
        </p:nvGrpSpPr>
        <p:grpSpPr>
          <a:xfrm>
            <a:off x="9811925" y="3209337"/>
            <a:ext cx="2087795" cy="1549571"/>
            <a:chOff x="8374419" y="2790095"/>
            <a:chExt cx="2087795" cy="1549571"/>
          </a:xfrm>
        </p:grpSpPr>
        <p:pic>
          <p:nvPicPr>
            <p:cNvPr id="1036" name="Picture 12" descr="Virtual machine vector image | Free SVG">
              <a:extLst>
                <a:ext uri="{FF2B5EF4-FFF2-40B4-BE49-F238E27FC236}">
                  <a16:creationId xmlns:a16="http://schemas.microsoft.com/office/drawing/2014/main" id="{62672130-5AAE-79ED-F375-23E75B3C05D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677204" y="2790095"/>
              <a:ext cx="1313818" cy="154957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84FFA0B-8AB8-BB59-08D0-EC51D014B5EA}"/>
                </a:ext>
              </a:extLst>
            </p:cNvPr>
            <p:cNvSpPr txBox="1"/>
            <p:nvPr/>
          </p:nvSpPr>
          <p:spPr>
            <a:xfrm>
              <a:off x="8374419" y="3887975"/>
              <a:ext cx="2087795" cy="369332"/>
            </a:xfrm>
            <a:prstGeom prst="rect">
              <a:avLst/>
            </a:prstGeom>
            <a:noFill/>
          </p:spPr>
          <p:txBody>
            <a:bodyPr wrap="square" rtlCol="0">
              <a:spAutoFit/>
            </a:bodyPr>
            <a:lstStyle/>
            <a:p>
              <a:pPr algn="l"/>
              <a:r>
                <a:rPr lang="en-GB" sz="1800" noProof="0"/>
                <a:t>Virtual Appliances</a:t>
              </a:r>
            </a:p>
          </p:txBody>
        </p:sp>
      </p:grpSp>
      <p:pic>
        <p:nvPicPr>
          <p:cNvPr id="1066" name="Picture 42" descr="Tenable vs Nessus, what is the difference? - S4 Applications">
            <a:extLst>
              <a:ext uri="{FF2B5EF4-FFF2-40B4-BE49-F238E27FC236}">
                <a16:creationId xmlns:a16="http://schemas.microsoft.com/office/drawing/2014/main" id="{A46BF5B2-9C09-A37F-9802-F0FE0441CE15}"/>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5273857"/>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42" descr="Tenable vs Nessus, what is the difference? - S4 Applications">
            <a:extLst>
              <a:ext uri="{FF2B5EF4-FFF2-40B4-BE49-F238E27FC236}">
                <a16:creationId xmlns:a16="http://schemas.microsoft.com/office/drawing/2014/main" id="{ED8DFC3C-89BF-BDC9-42FF-9540948CCAD9}"/>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182913" y="8026083"/>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2" descr="Tenable vs Nessus, what is the difference? - S4 Applications">
            <a:extLst>
              <a:ext uri="{FF2B5EF4-FFF2-40B4-BE49-F238E27FC236}">
                <a16:creationId xmlns:a16="http://schemas.microsoft.com/office/drawing/2014/main" id="{D73C6AFB-0CF5-BFB3-7AAA-8BAC0097E4FD}"/>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309905" y="10710375"/>
            <a:ext cx="1173900" cy="782600"/>
          </a:xfrm>
          <a:prstGeom prst="rect">
            <a:avLst/>
          </a:prstGeom>
          <a:noFill/>
          <a:extLst>
            <a:ext uri="{909E8E84-426E-40DD-AFC4-6F175D3DCCD1}">
              <a14:hiddenFill xmlns:a14="http://schemas.microsoft.com/office/drawing/2010/main">
                <a:solidFill>
                  <a:srgbClr val="FFFFFF"/>
                </a:solidFill>
              </a14:hiddenFill>
            </a:ext>
          </a:extLst>
        </p:spPr>
      </p:pic>
      <p:pic>
        <p:nvPicPr>
          <p:cNvPr id="1068" name="Picture 44" descr="AWS Marketplace: Guardicore">
            <a:extLst>
              <a:ext uri="{FF2B5EF4-FFF2-40B4-BE49-F238E27FC236}">
                <a16:creationId xmlns:a16="http://schemas.microsoft.com/office/drawing/2014/main" id="{A262305C-5057-AA46-01FE-EBFEE3588622}"/>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17263" y="6197579"/>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44" descr="AWS Marketplace: Guardicore">
            <a:extLst>
              <a:ext uri="{FF2B5EF4-FFF2-40B4-BE49-F238E27FC236}">
                <a16:creationId xmlns:a16="http://schemas.microsoft.com/office/drawing/2014/main" id="{984D053A-00F9-4BDE-481E-5B0BB5C0C85A}"/>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155700" y="8953885"/>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44" descr="AWS Marketplace: Guardicore">
            <a:extLst>
              <a:ext uri="{FF2B5EF4-FFF2-40B4-BE49-F238E27FC236}">
                <a16:creationId xmlns:a16="http://schemas.microsoft.com/office/drawing/2014/main" id="{253E6714-FE66-697B-9135-65DE39E29CB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0053833" y="11491640"/>
            <a:ext cx="1564870" cy="722686"/>
          </a:xfrm>
          <a:prstGeom prst="rect">
            <a:avLst/>
          </a:prstGeom>
          <a:noFill/>
          <a:extLst>
            <a:ext uri="{909E8E84-426E-40DD-AFC4-6F175D3DCCD1}">
              <a14:hiddenFill xmlns:a14="http://schemas.microsoft.com/office/drawing/2010/main">
                <a:solidFill>
                  <a:srgbClr val="FFFFFF"/>
                </a:solidFill>
              </a14:hiddenFill>
            </a:ext>
          </a:extLst>
        </p:spPr>
      </p:pic>
      <p:pic>
        <p:nvPicPr>
          <p:cNvPr id="1070" name="Picture 46" descr="VMware Horizon">
            <a:extLst>
              <a:ext uri="{FF2B5EF4-FFF2-40B4-BE49-F238E27FC236}">
                <a16:creationId xmlns:a16="http://schemas.microsoft.com/office/drawing/2014/main" id="{6A52E599-0E15-2D8C-AC81-5579154DC1CC}"/>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8475" y="6761581"/>
            <a:ext cx="1617394" cy="93311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46" descr="VMware Horizon">
            <a:extLst>
              <a:ext uri="{FF2B5EF4-FFF2-40B4-BE49-F238E27FC236}">
                <a16:creationId xmlns:a16="http://schemas.microsoft.com/office/drawing/2014/main" id="{A08E1264-6C35-D8DC-759D-19B95E28442D}"/>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0066165" y="9631519"/>
            <a:ext cx="1617394" cy="933112"/>
          </a:xfrm>
          <a:prstGeom prst="rect">
            <a:avLst/>
          </a:prstGeom>
          <a:noFill/>
          <a:extLst>
            <a:ext uri="{909E8E84-426E-40DD-AFC4-6F175D3DCCD1}">
              <a14:hiddenFill xmlns:a14="http://schemas.microsoft.com/office/drawing/2010/main">
                <a:solidFill>
                  <a:srgbClr val="FFFFFF"/>
                </a:solidFill>
              </a14:hiddenFill>
            </a:ext>
          </a:extLst>
        </p:spPr>
      </p:pic>
      <p:sp>
        <p:nvSpPr>
          <p:cNvPr id="27" name="Rectangle 26">
            <a:extLst>
              <a:ext uri="{FF2B5EF4-FFF2-40B4-BE49-F238E27FC236}">
                <a16:creationId xmlns:a16="http://schemas.microsoft.com/office/drawing/2014/main" id="{EFC14B4A-5C00-1BE7-8271-036219231E3E}"/>
              </a:ext>
            </a:extLst>
          </p:cNvPr>
          <p:cNvSpPr/>
          <p:nvPr/>
        </p:nvSpPr>
        <p:spPr>
          <a:xfrm>
            <a:off x="4260735" y="2663067"/>
            <a:ext cx="12689701" cy="9785607"/>
          </a:xfrm>
          <a:prstGeom prst="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33" name="TextBox 32">
            <a:extLst>
              <a:ext uri="{FF2B5EF4-FFF2-40B4-BE49-F238E27FC236}">
                <a16:creationId xmlns:a16="http://schemas.microsoft.com/office/drawing/2014/main" id="{09CFB790-6859-7023-D60C-A6F2DFC32DFB}"/>
              </a:ext>
            </a:extLst>
          </p:cNvPr>
          <p:cNvSpPr txBox="1"/>
          <p:nvPr/>
        </p:nvSpPr>
        <p:spPr>
          <a:xfrm>
            <a:off x="20854159" y="5132545"/>
            <a:ext cx="1552538" cy="304919"/>
          </a:xfrm>
          <a:prstGeom prst="rect">
            <a:avLst/>
          </a:prstGeom>
          <a:noFill/>
        </p:spPr>
        <p:txBody>
          <a:bodyPr wrap="square" rtlCol="0">
            <a:spAutoFit/>
          </a:bodyPr>
          <a:lstStyle/>
          <a:p>
            <a:pPr algn="l"/>
            <a:r>
              <a:rPr lang="en-GB" sz="1400" noProof="0"/>
              <a:t>6 x HPE 480 G11</a:t>
            </a:r>
          </a:p>
        </p:txBody>
      </p:sp>
      <p:sp>
        <p:nvSpPr>
          <p:cNvPr id="34" name="TextBox 33">
            <a:extLst>
              <a:ext uri="{FF2B5EF4-FFF2-40B4-BE49-F238E27FC236}">
                <a16:creationId xmlns:a16="http://schemas.microsoft.com/office/drawing/2014/main" id="{DEB723DE-A0AC-8881-5782-95371632350F}"/>
              </a:ext>
            </a:extLst>
          </p:cNvPr>
          <p:cNvSpPr txBox="1"/>
          <p:nvPr/>
        </p:nvSpPr>
        <p:spPr>
          <a:xfrm>
            <a:off x="20888433" y="5713828"/>
            <a:ext cx="428322" cy="369332"/>
          </a:xfrm>
          <a:prstGeom prst="rect">
            <a:avLst/>
          </a:prstGeom>
          <a:noFill/>
        </p:spPr>
        <p:txBody>
          <a:bodyPr wrap="none" rtlCol="0">
            <a:spAutoFit/>
          </a:bodyPr>
          <a:lstStyle/>
          <a:p>
            <a:pPr algn="l"/>
            <a:r>
              <a:rPr lang="en-GB" sz="1800" noProof="0"/>
              <a:t>3x</a:t>
            </a:r>
          </a:p>
        </p:txBody>
      </p:sp>
      <p:sp>
        <p:nvSpPr>
          <p:cNvPr id="35" name="TextBox 34">
            <a:extLst>
              <a:ext uri="{FF2B5EF4-FFF2-40B4-BE49-F238E27FC236}">
                <a16:creationId xmlns:a16="http://schemas.microsoft.com/office/drawing/2014/main" id="{C20A7026-67EA-D9F8-BCDF-028804758B86}"/>
              </a:ext>
            </a:extLst>
          </p:cNvPr>
          <p:cNvSpPr txBox="1"/>
          <p:nvPr/>
        </p:nvSpPr>
        <p:spPr>
          <a:xfrm>
            <a:off x="20940441" y="8537399"/>
            <a:ext cx="428322" cy="369332"/>
          </a:xfrm>
          <a:prstGeom prst="rect">
            <a:avLst/>
          </a:prstGeom>
          <a:noFill/>
        </p:spPr>
        <p:txBody>
          <a:bodyPr wrap="none" rtlCol="0">
            <a:spAutoFit/>
          </a:bodyPr>
          <a:lstStyle/>
          <a:p>
            <a:pPr algn="l"/>
            <a:r>
              <a:rPr lang="en-GB" sz="1800" noProof="0"/>
              <a:t>3x</a:t>
            </a:r>
          </a:p>
        </p:txBody>
      </p:sp>
      <p:pic>
        <p:nvPicPr>
          <p:cNvPr id="36" name="Picture 28">
            <a:extLst>
              <a:ext uri="{FF2B5EF4-FFF2-40B4-BE49-F238E27FC236}">
                <a16:creationId xmlns:a16="http://schemas.microsoft.com/office/drawing/2014/main" id="{AED0FDB9-C038-0F54-C908-7420FFB3945A}"/>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514671" y="8043871"/>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1074" name="Picture 50" descr="Oracle Solaris - Wikipedia">
            <a:extLst>
              <a:ext uri="{FF2B5EF4-FFF2-40B4-BE49-F238E27FC236}">
                <a16:creationId xmlns:a16="http://schemas.microsoft.com/office/drawing/2014/main" id="{6AF224B2-49E6-15D6-5A0F-CC170FAC3538}"/>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687341" y="9676571"/>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03FA6EA3-B60C-99CE-E41F-E316381081E3}"/>
              </a:ext>
            </a:extLst>
          </p:cNvPr>
          <p:cNvSpPr txBox="1"/>
          <p:nvPr/>
        </p:nvSpPr>
        <p:spPr>
          <a:xfrm>
            <a:off x="5000820" y="7082764"/>
            <a:ext cx="1656223" cy="307777"/>
          </a:xfrm>
          <a:prstGeom prst="rect">
            <a:avLst/>
          </a:prstGeom>
          <a:noFill/>
        </p:spPr>
        <p:txBody>
          <a:bodyPr wrap="none" rtlCol="0">
            <a:spAutoFit/>
          </a:bodyPr>
          <a:lstStyle/>
          <a:p>
            <a:pPr algn="l"/>
            <a:r>
              <a:rPr lang="en-GB" sz="1400" noProof="0"/>
              <a:t>6 x Reading - prod</a:t>
            </a:r>
          </a:p>
        </p:txBody>
      </p:sp>
      <p:pic>
        <p:nvPicPr>
          <p:cNvPr id="41" name="Picture 28">
            <a:extLst>
              <a:ext uri="{FF2B5EF4-FFF2-40B4-BE49-F238E27FC236}">
                <a16:creationId xmlns:a16="http://schemas.microsoft.com/office/drawing/2014/main" id="{8B3308D7-D38E-538B-F950-8BFFE61F859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32831" y="8571353"/>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8">
            <a:extLst>
              <a:ext uri="{FF2B5EF4-FFF2-40B4-BE49-F238E27FC236}">
                <a16:creationId xmlns:a16="http://schemas.microsoft.com/office/drawing/2014/main" id="{7AD9FFC5-C373-CA31-3BB8-4A48A886F6F1}"/>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1093923" y="589849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2">
            <a:extLst>
              <a:ext uri="{FF2B5EF4-FFF2-40B4-BE49-F238E27FC236}">
                <a16:creationId xmlns:a16="http://schemas.microsoft.com/office/drawing/2014/main" id="{B8D86C40-39EA-9A13-1043-9287221F4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4570180" y="5610873"/>
            <a:ext cx="660834" cy="935741"/>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6" descr="MySQL logo PNG transparent image download, size: 1280x1280px">
            <a:extLst>
              <a:ext uri="{FF2B5EF4-FFF2-40B4-BE49-F238E27FC236}">
                <a16:creationId xmlns:a16="http://schemas.microsoft.com/office/drawing/2014/main" id="{3388810A-D9AF-1BAC-40D6-12505FB88C3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302084" y="5722388"/>
            <a:ext cx="610350" cy="61035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8">
            <a:extLst>
              <a:ext uri="{FF2B5EF4-FFF2-40B4-BE49-F238E27FC236}">
                <a16:creationId xmlns:a16="http://schemas.microsoft.com/office/drawing/2014/main" id="{9D9976DB-9A54-EA64-D88A-80556DAC014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15483319" y="5390124"/>
            <a:ext cx="1272246" cy="1032713"/>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34" descr="windows logo PNG transparent image download, size: 1960x1840px">
            <a:extLst>
              <a:ext uri="{FF2B5EF4-FFF2-40B4-BE49-F238E27FC236}">
                <a16:creationId xmlns:a16="http://schemas.microsoft.com/office/drawing/2014/main" id="{88E13005-780F-93FC-0961-0975BA9BC92B}"/>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59060" y="11623541"/>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36" descr="Linux Logo and symbol, meaning, history, PNG, brand">
            <a:extLst>
              <a:ext uri="{FF2B5EF4-FFF2-40B4-BE49-F238E27FC236}">
                <a16:creationId xmlns:a16="http://schemas.microsoft.com/office/drawing/2014/main" id="{E2F36252-AEA4-1540-FE45-4B7FCD79B954}"/>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759060" y="10839036"/>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48" name="TextBox 47">
            <a:extLst>
              <a:ext uri="{FF2B5EF4-FFF2-40B4-BE49-F238E27FC236}">
                <a16:creationId xmlns:a16="http://schemas.microsoft.com/office/drawing/2014/main" id="{8E480AA3-BFB8-2BA4-B9E0-89A19CF60FE7}"/>
              </a:ext>
            </a:extLst>
          </p:cNvPr>
          <p:cNvSpPr txBox="1"/>
          <p:nvPr/>
        </p:nvSpPr>
        <p:spPr>
          <a:xfrm>
            <a:off x="9445530" y="11097903"/>
            <a:ext cx="428322" cy="369332"/>
          </a:xfrm>
          <a:prstGeom prst="rect">
            <a:avLst/>
          </a:prstGeom>
          <a:noFill/>
        </p:spPr>
        <p:txBody>
          <a:bodyPr wrap="none" rtlCol="0">
            <a:spAutoFit/>
          </a:bodyPr>
          <a:lstStyle/>
          <a:p>
            <a:pPr algn="l"/>
            <a:r>
              <a:rPr lang="en-GB" noProof="0"/>
              <a:t>4</a:t>
            </a:r>
            <a:r>
              <a:rPr lang="en-GB" sz="1800" noProof="0"/>
              <a:t>x</a:t>
            </a:r>
          </a:p>
        </p:txBody>
      </p:sp>
      <p:sp>
        <p:nvSpPr>
          <p:cNvPr id="49" name="TextBox 48">
            <a:extLst>
              <a:ext uri="{FF2B5EF4-FFF2-40B4-BE49-F238E27FC236}">
                <a16:creationId xmlns:a16="http://schemas.microsoft.com/office/drawing/2014/main" id="{71491D25-873A-6DB4-7584-D2A245A2E6DA}"/>
              </a:ext>
            </a:extLst>
          </p:cNvPr>
          <p:cNvSpPr txBox="1"/>
          <p:nvPr/>
        </p:nvSpPr>
        <p:spPr>
          <a:xfrm>
            <a:off x="9433917" y="11664589"/>
            <a:ext cx="428322" cy="369332"/>
          </a:xfrm>
          <a:prstGeom prst="rect">
            <a:avLst/>
          </a:prstGeom>
          <a:noFill/>
        </p:spPr>
        <p:txBody>
          <a:bodyPr wrap="none" rtlCol="0">
            <a:spAutoFit/>
          </a:bodyPr>
          <a:lstStyle/>
          <a:p>
            <a:pPr algn="l"/>
            <a:r>
              <a:rPr lang="en-GB" sz="1800" noProof="0"/>
              <a:t>2x</a:t>
            </a:r>
          </a:p>
        </p:txBody>
      </p:sp>
      <p:sp>
        <p:nvSpPr>
          <p:cNvPr id="50" name="TextBox 49">
            <a:extLst>
              <a:ext uri="{FF2B5EF4-FFF2-40B4-BE49-F238E27FC236}">
                <a16:creationId xmlns:a16="http://schemas.microsoft.com/office/drawing/2014/main" id="{3D1F6AEA-20D7-7BA3-3397-796AA41CD08E}"/>
              </a:ext>
            </a:extLst>
          </p:cNvPr>
          <p:cNvSpPr txBox="1"/>
          <p:nvPr/>
        </p:nvSpPr>
        <p:spPr>
          <a:xfrm>
            <a:off x="5675631" y="11051306"/>
            <a:ext cx="556563" cy="369332"/>
          </a:xfrm>
          <a:prstGeom prst="rect">
            <a:avLst/>
          </a:prstGeom>
          <a:noFill/>
        </p:spPr>
        <p:txBody>
          <a:bodyPr wrap="none" rtlCol="0">
            <a:spAutoFit/>
          </a:bodyPr>
          <a:lstStyle/>
          <a:p>
            <a:pPr algn="l"/>
            <a:r>
              <a:rPr lang="en-GB" noProof="0"/>
              <a:t>29</a:t>
            </a:r>
            <a:r>
              <a:rPr lang="en-GB" sz="1800" noProof="0"/>
              <a:t>x</a:t>
            </a:r>
          </a:p>
        </p:txBody>
      </p:sp>
      <p:sp>
        <p:nvSpPr>
          <p:cNvPr id="51" name="TextBox 50">
            <a:extLst>
              <a:ext uri="{FF2B5EF4-FFF2-40B4-BE49-F238E27FC236}">
                <a16:creationId xmlns:a16="http://schemas.microsoft.com/office/drawing/2014/main" id="{8502F281-86B1-B15E-FCB1-24FA0929BE7A}"/>
              </a:ext>
            </a:extLst>
          </p:cNvPr>
          <p:cNvSpPr txBox="1"/>
          <p:nvPr/>
        </p:nvSpPr>
        <p:spPr>
          <a:xfrm>
            <a:off x="5685739" y="11785478"/>
            <a:ext cx="428322" cy="369332"/>
          </a:xfrm>
          <a:prstGeom prst="rect">
            <a:avLst/>
          </a:prstGeom>
          <a:noFill/>
        </p:spPr>
        <p:txBody>
          <a:bodyPr wrap="none" rtlCol="0">
            <a:spAutoFit/>
          </a:bodyPr>
          <a:lstStyle/>
          <a:p>
            <a:pPr algn="l"/>
            <a:r>
              <a:rPr lang="en-GB" sz="1800" noProof="0"/>
              <a:t>3x</a:t>
            </a:r>
          </a:p>
        </p:txBody>
      </p:sp>
      <p:pic>
        <p:nvPicPr>
          <p:cNvPr id="52" name="Picture 34" descr="windows logo PNG transparent image download, size: 1960x1840px">
            <a:extLst>
              <a:ext uri="{FF2B5EF4-FFF2-40B4-BE49-F238E27FC236}">
                <a16:creationId xmlns:a16="http://schemas.microsoft.com/office/drawing/2014/main" id="{5B42A86C-1FE7-B019-1086-69D03181F5A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791428" y="8906556"/>
            <a:ext cx="648465" cy="608794"/>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36" descr="Linux Logo and symbol, meaning, history, PNG, brand">
            <a:extLst>
              <a:ext uri="{FF2B5EF4-FFF2-40B4-BE49-F238E27FC236}">
                <a16:creationId xmlns:a16="http://schemas.microsoft.com/office/drawing/2014/main" id="{BE663DB4-3175-7E4A-6163-E1EBEAA11A7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10039" y="8041941"/>
            <a:ext cx="648466" cy="716280"/>
          </a:xfrm>
          <a:prstGeom prst="rect">
            <a:avLst/>
          </a:prstGeom>
          <a:noFill/>
          <a:extLst>
            <a:ext uri="{909E8E84-426E-40DD-AFC4-6F175D3DCCD1}">
              <a14:hiddenFill xmlns:a14="http://schemas.microsoft.com/office/drawing/2010/main">
                <a:solidFill>
                  <a:srgbClr val="FFFFFF"/>
                </a:solidFill>
              </a14:hiddenFill>
            </a:ext>
          </a:extLst>
        </p:spPr>
      </p:pic>
      <p:sp>
        <p:nvSpPr>
          <p:cNvPr id="54" name="TextBox 53">
            <a:extLst>
              <a:ext uri="{FF2B5EF4-FFF2-40B4-BE49-F238E27FC236}">
                <a16:creationId xmlns:a16="http://schemas.microsoft.com/office/drawing/2014/main" id="{274F1617-A5A0-CC58-6B16-0249F6201717}"/>
              </a:ext>
            </a:extLst>
          </p:cNvPr>
          <p:cNvSpPr txBox="1"/>
          <p:nvPr/>
        </p:nvSpPr>
        <p:spPr>
          <a:xfrm>
            <a:off x="512286" y="11355208"/>
            <a:ext cx="556563" cy="369332"/>
          </a:xfrm>
          <a:prstGeom prst="rect">
            <a:avLst/>
          </a:prstGeom>
          <a:noFill/>
        </p:spPr>
        <p:txBody>
          <a:bodyPr wrap="none" rtlCol="0">
            <a:spAutoFit/>
          </a:bodyPr>
          <a:lstStyle/>
          <a:p>
            <a:pPr algn="l"/>
            <a:r>
              <a:rPr lang="en-GB" noProof="0"/>
              <a:t>38</a:t>
            </a:r>
            <a:r>
              <a:rPr lang="en-GB" sz="1800" noProof="0"/>
              <a:t>x</a:t>
            </a:r>
          </a:p>
        </p:txBody>
      </p:sp>
      <p:sp>
        <p:nvSpPr>
          <p:cNvPr id="56" name="TextBox 55">
            <a:extLst>
              <a:ext uri="{FF2B5EF4-FFF2-40B4-BE49-F238E27FC236}">
                <a16:creationId xmlns:a16="http://schemas.microsoft.com/office/drawing/2014/main" id="{FF2C6053-423B-1DE6-C0FD-03DC7F831083}"/>
              </a:ext>
            </a:extLst>
          </p:cNvPr>
          <p:cNvSpPr txBox="1"/>
          <p:nvPr/>
        </p:nvSpPr>
        <p:spPr>
          <a:xfrm>
            <a:off x="15834119" y="6643566"/>
            <a:ext cx="428322" cy="369332"/>
          </a:xfrm>
          <a:prstGeom prst="rect">
            <a:avLst/>
          </a:prstGeom>
          <a:noFill/>
        </p:spPr>
        <p:txBody>
          <a:bodyPr wrap="none" rtlCol="0">
            <a:spAutoFit/>
          </a:bodyPr>
          <a:lstStyle/>
          <a:p>
            <a:pPr algn="l"/>
            <a:r>
              <a:rPr lang="en-GB" noProof="0"/>
              <a:t>9</a:t>
            </a:r>
            <a:r>
              <a:rPr lang="en-GB" sz="1800" noProof="0"/>
              <a:t>x</a:t>
            </a:r>
          </a:p>
        </p:txBody>
      </p:sp>
      <p:sp>
        <p:nvSpPr>
          <p:cNvPr id="57" name="TextBox 56">
            <a:extLst>
              <a:ext uri="{FF2B5EF4-FFF2-40B4-BE49-F238E27FC236}">
                <a16:creationId xmlns:a16="http://schemas.microsoft.com/office/drawing/2014/main" id="{F47B8002-8294-9C01-0514-96DB72297232}"/>
              </a:ext>
            </a:extLst>
          </p:cNvPr>
          <p:cNvSpPr txBox="1"/>
          <p:nvPr/>
        </p:nvSpPr>
        <p:spPr>
          <a:xfrm>
            <a:off x="15562642" y="9251910"/>
            <a:ext cx="556563" cy="369332"/>
          </a:xfrm>
          <a:prstGeom prst="rect">
            <a:avLst/>
          </a:prstGeom>
          <a:noFill/>
        </p:spPr>
        <p:txBody>
          <a:bodyPr wrap="none" rtlCol="0">
            <a:spAutoFit/>
          </a:bodyPr>
          <a:lstStyle/>
          <a:p>
            <a:pPr algn="l"/>
            <a:r>
              <a:rPr lang="en-GB" sz="1800" noProof="0"/>
              <a:t>12x</a:t>
            </a:r>
          </a:p>
        </p:txBody>
      </p:sp>
      <p:sp>
        <p:nvSpPr>
          <p:cNvPr id="58" name="TextBox 57">
            <a:extLst>
              <a:ext uri="{FF2B5EF4-FFF2-40B4-BE49-F238E27FC236}">
                <a16:creationId xmlns:a16="http://schemas.microsoft.com/office/drawing/2014/main" id="{B20208A7-D383-63A7-1F28-1A1A4C5296D6}"/>
              </a:ext>
            </a:extLst>
          </p:cNvPr>
          <p:cNvSpPr txBox="1"/>
          <p:nvPr/>
        </p:nvSpPr>
        <p:spPr>
          <a:xfrm>
            <a:off x="14612464" y="6612747"/>
            <a:ext cx="428322" cy="369332"/>
          </a:xfrm>
          <a:prstGeom prst="rect">
            <a:avLst/>
          </a:prstGeom>
          <a:noFill/>
        </p:spPr>
        <p:txBody>
          <a:bodyPr wrap="none" rtlCol="0">
            <a:spAutoFit/>
          </a:bodyPr>
          <a:lstStyle/>
          <a:p>
            <a:pPr algn="l"/>
            <a:r>
              <a:rPr lang="en-GB" sz="1800" noProof="0"/>
              <a:t>2x</a:t>
            </a:r>
          </a:p>
        </p:txBody>
      </p:sp>
      <p:sp>
        <p:nvSpPr>
          <p:cNvPr id="59" name="TextBox 58">
            <a:extLst>
              <a:ext uri="{FF2B5EF4-FFF2-40B4-BE49-F238E27FC236}">
                <a16:creationId xmlns:a16="http://schemas.microsoft.com/office/drawing/2014/main" id="{14FFE40B-B01C-C329-F092-91E07AB5793B}"/>
              </a:ext>
            </a:extLst>
          </p:cNvPr>
          <p:cNvSpPr txBox="1"/>
          <p:nvPr/>
        </p:nvSpPr>
        <p:spPr>
          <a:xfrm>
            <a:off x="9335788" y="12502191"/>
            <a:ext cx="556563" cy="369332"/>
          </a:xfrm>
          <a:prstGeom prst="rect">
            <a:avLst/>
          </a:prstGeom>
          <a:noFill/>
        </p:spPr>
        <p:txBody>
          <a:bodyPr wrap="none" rtlCol="0">
            <a:spAutoFit/>
          </a:bodyPr>
          <a:lstStyle/>
          <a:p>
            <a:pPr algn="l"/>
            <a:r>
              <a:rPr lang="en-GB" noProof="0"/>
              <a:t>38</a:t>
            </a:r>
            <a:r>
              <a:rPr lang="en-GB" sz="1800" noProof="0"/>
              <a:t>x</a:t>
            </a:r>
          </a:p>
        </p:txBody>
      </p:sp>
      <p:sp>
        <p:nvSpPr>
          <p:cNvPr id="1024" name="TextBox 1023">
            <a:extLst>
              <a:ext uri="{FF2B5EF4-FFF2-40B4-BE49-F238E27FC236}">
                <a16:creationId xmlns:a16="http://schemas.microsoft.com/office/drawing/2014/main" id="{EE0DECE0-ADF6-69B6-2B67-815A84529D15}"/>
              </a:ext>
            </a:extLst>
          </p:cNvPr>
          <p:cNvSpPr txBox="1"/>
          <p:nvPr/>
        </p:nvSpPr>
        <p:spPr>
          <a:xfrm>
            <a:off x="19781045" y="12596193"/>
            <a:ext cx="2085071" cy="646331"/>
          </a:xfrm>
          <a:prstGeom prst="rect">
            <a:avLst/>
          </a:prstGeom>
          <a:noFill/>
        </p:spPr>
        <p:txBody>
          <a:bodyPr wrap="square" rtlCol="0">
            <a:spAutoFit/>
          </a:bodyPr>
          <a:lstStyle/>
          <a:p>
            <a:pPr algn="l"/>
            <a:r>
              <a:rPr lang="en-GB" noProof="0"/>
              <a:t>=========</a:t>
            </a:r>
          </a:p>
          <a:p>
            <a:pPr algn="l"/>
            <a:r>
              <a:rPr lang="en-GB" b="1" noProof="0">
                <a:highlight>
                  <a:srgbClr val="FFFF00"/>
                </a:highlight>
              </a:rPr>
              <a:t>3076</a:t>
            </a:r>
            <a:r>
              <a:rPr lang="en-GB" noProof="0"/>
              <a:t> Assets</a:t>
            </a:r>
            <a:endParaRPr lang="en-GB" sz="1800" noProof="0"/>
          </a:p>
        </p:txBody>
      </p:sp>
      <p:pic>
        <p:nvPicPr>
          <p:cNvPr id="1025" name="Picture 50" descr="Oracle Solaris - Wikipedia">
            <a:extLst>
              <a:ext uri="{FF2B5EF4-FFF2-40B4-BE49-F238E27FC236}">
                <a16:creationId xmlns:a16="http://schemas.microsoft.com/office/drawing/2014/main" id="{79A8AA84-90F7-0BD1-24AF-07E477678C6B}"/>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6768379" y="6886052"/>
            <a:ext cx="771164" cy="601508"/>
          </a:xfrm>
          <a:prstGeom prst="rect">
            <a:avLst/>
          </a:prstGeom>
          <a:noFill/>
          <a:extLst>
            <a:ext uri="{909E8E84-426E-40DD-AFC4-6F175D3DCCD1}">
              <a14:hiddenFill xmlns:a14="http://schemas.microsoft.com/office/drawing/2010/main">
                <a:solidFill>
                  <a:srgbClr val="FFFFFF"/>
                </a:solidFill>
              </a14:hiddenFill>
            </a:ext>
          </a:extLst>
        </p:spPr>
      </p:pic>
      <p:sp>
        <p:nvSpPr>
          <p:cNvPr id="1029" name="TextBox 1028">
            <a:extLst>
              <a:ext uri="{FF2B5EF4-FFF2-40B4-BE49-F238E27FC236}">
                <a16:creationId xmlns:a16="http://schemas.microsoft.com/office/drawing/2014/main" id="{A15CFD0A-0E08-F519-5C89-7D2D397AD74D}"/>
              </a:ext>
            </a:extLst>
          </p:cNvPr>
          <p:cNvSpPr txBox="1"/>
          <p:nvPr/>
        </p:nvSpPr>
        <p:spPr>
          <a:xfrm>
            <a:off x="4603597" y="9860044"/>
            <a:ext cx="1902184" cy="523220"/>
          </a:xfrm>
          <a:prstGeom prst="rect">
            <a:avLst/>
          </a:prstGeom>
          <a:noFill/>
        </p:spPr>
        <p:txBody>
          <a:bodyPr wrap="square">
            <a:spAutoFit/>
          </a:bodyPr>
          <a:lstStyle/>
          <a:p>
            <a:r>
              <a:rPr lang="en-GB" sz="1400" noProof="0"/>
              <a:t>3 x Slough - non-prod</a:t>
            </a:r>
          </a:p>
          <a:p>
            <a:r>
              <a:rPr lang="en-GB" sz="1400" noProof="0"/>
              <a:t>3 x Slough - prod</a:t>
            </a:r>
          </a:p>
        </p:txBody>
      </p:sp>
      <p:sp>
        <p:nvSpPr>
          <p:cNvPr id="1037" name="TextBox 1036">
            <a:extLst>
              <a:ext uri="{FF2B5EF4-FFF2-40B4-BE49-F238E27FC236}">
                <a16:creationId xmlns:a16="http://schemas.microsoft.com/office/drawing/2014/main" id="{434EC4CF-5554-3C37-1C02-9CC68D5C0684}"/>
              </a:ext>
            </a:extLst>
          </p:cNvPr>
          <p:cNvSpPr txBox="1"/>
          <p:nvPr/>
        </p:nvSpPr>
        <p:spPr>
          <a:xfrm>
            <a:off x="9433917" y="9097150"/>
            <a:ext cx="428322" cy="369332"/>
          </a:xfrm>
          <a:prstGeom prst="rect">
            <a:avLst/>
          </a:prstGeom>
          <a:noFill/>
        </p:spPr>
        <p:txBody>
          <a:bodyPr wrap="none" rtlCol="0">
            <a:spAutoFit/>
          </a:bodyPr>
          <a:lstStyle/>
          <a:p>
            <a:pPr algn="l"/>
            <a:r>
              <a:rPr lang="en-GB" noProof="0"/>
              <a:t>8</a:t>
            </a:r>
            <a:r>
              <a:rPr lang="en-GB" sz="1800" noProof="0"/>
              <a:t>x</a:t>
            </a:r>
          </a:p>
        </p:txBody>
      </p:sp>
      <p:sp>
        <p:nvSpPr>
          <p:cNvPr id="1039" name="TextBox 1038">
            <a:extLst>
              <a:ext uri="{FF2B5EF4-FFF2-40B4-BE49-F238E27FC236}">
                <a16:creationId xmlns:a16="http://schemas.microsoft.com/office/drawing/2014/main" id="{AFDDED9E-6214-56F1-C47A-D190A160DD38}"/>
              </a:ext>
            </a:extLst>
          </p:cNvPr>
          <p:cNvSpPr txBox="1"/>
          <p:nvPr/>
        </p:nvSpPr>
        <p:spPr>
          <a:xfrm>
            <a:off x="9446229" y="6376145"/>
            <a:ext cx="428322" cy="369332"/>
          </a:xfrm>
          <a:prstGeom prst="rect">
            <a:avLst/>
          </a:prstGeom>
          <a:noFill/>
        </p:spPr>
        <p:txBody>
          <a:bodyPr wrap="none" rtlCol="0">
            <a:spAutoFit/>
          </a:bodyPr>
          <a:lstStyle/>
          <a:p>
            <a:pPr algn="l"/>
            <a:r>
              <a:rPr lang="en-GB" sz="1800" noProof="0"/>
              <a:t>5x</a:t>
            </a:r>
          </a:p>
        </p:txBody>
      </p:sp>
      <p:sp>
        <p:nvSpPr>
          <p:cNvPr id="1041" name="TextBox 1040">
            <a:extLst>
              <a:ext uri="{FF2B5EF4-FFF2-40B4-BE49-F238E27FC236}">
                <a16:creationId xmlns:a16="http://schemas.microsoft.com/office/drawing/2014/main" id="{B2CF05DF-A296-9897-F29F-377DF757C7CD}"/>
              </a:ext>
            </a:extLst>
          </p:cNvPr>
          <p:cNvSpPr txBox="1"/>
          <p:nvPr/>
        </p:nvSpPr>
        <p:spPr>
          <a:xfrm>
            <a:off x="9439642" y="5583964"/>
            <a:ext cx="428322" cy="369332"/>
          </a:xfrm>
          <a:prstGeom prst="rect">
            <a:avLst/>
          </a:prstGeom>
          <a:noFill/>
        </p:spPr>
        <p:txBody>
          <a:bodyPr wrap="none" rtlCol="0">
            <a:spAutoFit/>
          </a:bodyPr>
          <a:lstStyle/>
          <a:p>
            <a:pPr algn="l"/>
            <a:r>
              <a:rPr lang="en-GB" sz="1800" noProof="0"/>
              <a:t>4x</a:t>
            </a:r>
          </a:p>
        </p:txBody>
      </p:sp>
      <p:sp>
        <p:nvSpPr>
          <p:cNvPr id="1043" name="TextBox 1042">
            <a:extLst>
              <a:ext uri="{FF2B5EF4-FFF2-40B4-BE49-F238E27FC236}">
                <a16:creationId xmlns:a16="http://schemas.microsoft.com/office/drawing/2014/main" id="{FD4B13DC-2074-838D-4629-977204C40D41}"/>
              </a:ext>
            </a:extLst>
          </p:cNvPr>
          <p:cNvSpPr txBox="1"/>
          <p:nvPr/>
        </p:nvSpPr>
        <p:spPr>
          <a:xfrm>
            <a:off x="9433917" y="8363504"/>
            <a:ext cx="428322" cy="369332"/>
          </a:xfrm>
          <a:prstGeom prst="rect">
            <a:avLst/>
          </a:prstGeom>
          <a:noFill/>
        </p:spPr>
        <p:txBody>
          <a:bodyPr wrap="none" rtlCol="0">
            <a:spAutoFit/>
          </a:bodyPr>
          <a:lstStyle/>
          <a:p>
            <a:pPr algn="l"/>
            <a:r>
              <a:rPr lang="en-GB" sz="1800" noProof="0"/>
              <a:t>6x</a:t>
            </a:r>
          </a:p>
        </p:txBody>
      </p:sp>
      <p:sp>
        <p:nvSpPr>
          <p:cNvPr id="1049" name="Rectangle 1048">
            <a:extLst>
              <a:ext uri="{FF2B5EF4-FFF2-40B4-BE49-F238E27FC236}">
                <a16:creationId xmlns:a16="http://schemas.microsoft.com/office/drawing/2014/main" id="{CB476E95-B791-E735-7A1A-AB2D6742DD18}"/>
              </a:ext>
            </a:extLst>
          </p:cNvPr>
          <p:cNvSpPr/>
          <p:nvPr/>
        </p:nvSpPr>
        <p:spPr>
          <a:xfrm>
            <a:off x="1358127" y="2663067"/>
            <a:ext cx="2554863" cy="7694090"/>
          </a:xfrm>
          <a:prstGeom prst="rect">
            <a:avLst/>
          </a:prstGeom>
          <a:noFill/>
          <a:ln>
            <a:solidFill>
              <a:srgbClr val="E571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45" name="TextBox 1044">
            <a:extLst>
              <a:ext uri="{FF2B5EF4-FFF2-40B4-BE49-F238E27FC236}">
                <a16:creationId xmlns:a16="http://schemas.microsoft.com/office/drawing/2014/main" id="{3C18BCDA-391D-7FED-F551-48EED2EAB44F}"/>
              </a:ext>
            </a:extLst>
          </p:cNvPr>
          <p:cNvSpPr txBox="1"/>
          <p:nvPr/>
        </p:nvSpPr>
        <p:spPr>
          <a:xfrm>
            <a:off x="18575069" y="5316243"/>
            <a:ext cx="1183997" cy="738664"/>
          </a:xfrm>
          <a:prstGeom prst="rect">
            <a:avLst/>
          </a:prstGeom>
          <a:solidFill>
            <a:schemeClr val="bg1"/>
          </a:solidFill>
        </p:spPr>
        <p:txBody>
          <a:bodyPr wrap="square" rtlCol="0">
            <a:spAutoFit/>
          </a:bodyPr>
          <a:lstStyle/>
          <a:p>
            <a:pPr algn="l"/>
            <a:r>
              <a:rPr lang="en-GB" sz="1400" noProof="0"/>
              <a:t>MOL - Prod</a:t>
            </a:r>
          </a:p>
          <a:p>
            <a:pPr algn="l"/>
            <a:r>
              <a:rPr lang="en-GB" sz="1400" noProof="0"/>
              <a:t>6 x DL360</a:t>
            </a:r>
          </a:p>
          <a:p>
            <a:pPr algn="l"/>
            <a:r>
              <a:rPr lang="en-GB" sz="1400" noProof="0"/>
              <a:t>6 x 3par</a:t>
            </a:r>
          </a:p>
        </p:txBody>
      </p:sp>
      <p:pic>
        <p:nvPicPr>
          <p:cNvPr id="1051" name="Picture 20" descr="Database logo Vectors - Download Free High-Quality Vectors from Freepik |  Freepik">
            <a:extLst>
              <a:ext uri="{FF2B5EF4-FFF2-40B4-BE49-F238E27FC236}">
                <a16:creationId xmlns:a16="http://schemas.microsoft.com/office/drawing/2014/main" id="{995AF55B-06F6-B213-8CC6-0DC83B398B2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426881" y="3267403"/>
            <a:ext cx="1137482" cy="1258895"/>
          </a:xfrm>
          <a:prstGeom prst="rect">
            <a:avLst/>
          </a:prstGeom>
          <a:noFill/>
          <a:extLst>
            <a:ext uri="{909E8E84-426E-40DD-AFC4-6F175D3DCCD1}">
              <a14:hiddenFill xmlns:a14="http://schemas.microsoft.com/office/drawing/2010/main">
                <a:solidFill>
                  <a:srgbClr val="FFFFFF"/>
                </a:solidFill>
              </a14:hiddenFill>
            </a:ext>
          </a:extLst>
        </p:spPr>
      </p:pic>
      <p:sp>
        <p:nvSpPr>
          <p:cNvPr id="1053" name="TextBox 1052">
            <a:extLst>
              <a:ext uri="{FF2B5EF4-FFF2-40B4-BE49-F238E27FC236}">
                <a16:creationId xmlns:a16="http://schemas.microsoft.com/office/drawing/2014/main" id="{46556173-0CE9-86F7-2E41-8048BE60EAC8}"/>
              </a:ext>
            </a:extLst>
          </p:cNvPr>
          <p:cNvSpPr txBox="1"/>
          <p:nvPr/>
        </p:nvSpPr>
        <p:spPr>
          <a:xfrm>
            <a:off x="18776370" y="4450634"/>
            <a:ext cx="2580486" cy="369332"/>
          </a:xfrm>
          <a:prstGeom prst="rect">
            <a:avLst/>
          </a:prstGeom>
          <a:noFill/>
        </p:spPr>
        <p:txBody>
          <a:bodyPr wrap="square" rtlCol="0">
            <a:spAutoFit/>
          </a:bodyPr>
          <a:lstStyle/>
          <a:p>
            <a:pPr algn="ctr"/>
            <a:r>
              <a:rPr lang="en-GB" sz="1800" noProof="0"/>
              <a:t>DBs on Physicals</a:t>
            </a:r>
          </a:p>
        </p:txBody>
      </p:sp>
      <p:pic>
        <p:nvPicPr>
          <p:cNvPr id="1078" name="Picture 54" descr="HPE Primera 600 - Storage enclosure | Overview, Specs, Details | SHI">
            <a:extLst>
              <a:ext uri="{FF2B5EF4-FFF2-40B4-BE49-F238E27FC236}">
                <a16:creationId xmlns:a16="http://schemas.microsoft.com/office/drawing/2014/main" id="{DF51B9B1-87C6-4B98-E51B-BDAE5CED443B}"/>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720129" y="6882720"/>
            <a:ext cx="785066" cy="588800"/>
          </a:xfrm>
          <a:prstGeom prst="rect">
            <a:avLst/>
          </a:prstGeom>
          <a:noFill/>
          <a:extLst>
            <a:ext uri="{909E8E84-426E-40DD-AFC4-6F175D3DCCD1}">
              <a14:hiddenFill xmlns:a14="http://schemas.microsoft.com/office/drawing/2010/main">
                <a:solidFill>
                  <a:srgbClr val="FFFFFF"/>
                </a:solidFill>
              </a14:hiddenFill>
            </a:ext>
          </a:extLst>
        </p:spPr>
      </p:pic>
      <p:sp>
        <p:nvSpPr>
          <p:cNvPr id="1057" name="TextBox 1056">
            <a:extLst>
              <a:ext uri="{FF2B5EF4-FFF2-40B4-BE49-F238E27FC236}">
                <a16:creationId xmlns:a16="http://schemas.microsoft.com/office/drawing/2014/main" id="{CB9B2A99-12E5-DDCA-D299-46D26EB9DBD2}"/>
              </a:ext>
            </a:extLst>
          </p:cNvPr>
          <p:cNvSpPr txBox="1"/>
          <p:nvPr/>
        </p:nvSpPr>
        <p:spPr>
          <a:xfrm>
            <a:off x="18538438" y="8001852"/>
            <a:ext cx="1586818" cy="738664"/>
          </a:xfrm>
          <a:prstGeom prst="rect">
            <a:avLst/>
          </a:prstGeom>
          <a:solidFill>
            <a:schemeClr val="bg1"/>
          </a:solidFill>
        </p:spPr>
        <p:txBody>
          <a:bodyPr wrap="square" rtlCol="0">
            <a:spAutoFit/>
          </a:bodyPr>
          <a:lstStyle/>
          <a:p>
            <a:pPr algn="l"/>
            <a:r>
              <a:rPr lang="en-GB" sz="1400" noProof="0"/>
              <a:t>MOL - Prod + Int</a:t>
            </a:r>
          </a:p>
          <a:p>
            <a:pPr algn="l"/>
            <a:r>
              <a:rPr lang="en-GB" sz="1400" noProof="0"/>
              <a:t>8 x DL360</a:t>
            </a:r>
          </a:p>
          <a:p>
            <a:pPr algn="l"/>
            <a:r>
              <a:rPr lang="en-GB" sz="1400" noProof="0"/>
              <a:t>8 x 3par</a:t>
            </a:r>
          </a:p>
        </p:txBody>
      </p:sp>
      <p:sp>
        <p:nvSpPr>
          <p:cNvPr id="1061" name="TextBox 1060">
            <a:extLst>
              <a:ext uri="{FF2B5EF4-FFF2-40B4-BE49-F238E27FC236}">
                <a16:creationId xmlns:a16="http://schemas.microsoft.com/office/drawing/2014/main" id="{BE822EA3-480F-A956-387C-EE70794F14B0}"/>
              </a:ext>
            </a:extLst>
          </p:cNvPr>
          <p:cNvSpPr txBox="1"/>
          <p:nvPr/>
        </p:nvSpPr>
        <p:spPr>
          <a:xfrm>
            <a:off x="18532155" y="8736209"/>
            <a:ext cx="1586818" cy="738664"/>
          </a:xfrm>
          <a:prstGeom prst="rect">
            <a:avLst/>
          </a:prstGeom>
          <a:solidFill>
            <a:schemeClr val="bg1"/>
          </a:solidFill>
        </p:spPr>
        <p:txBody>
          <a:bodyPr wrap="square" rtlCol="0">
            <a:spAutoFit/>
          </a:bodyPr>
          <a:lstStyle/>
          <a:p>
            <a:pPr algn="l"/>
            <a:r>
              <a:rPr lang="en-GB" sz="1400" noProof="0"/>
              <a:t>CHP - Prod + Int</a:t>
            </a:r>
          </a:p>
          <a:p>
            <a:pPr algn="l"/>
            <a:r>
              <a:rPr lang="en-GB" sz="1400" noProof="0"/>
              <a:t>2 x DL360</a:t>
            </a:r>
          </a:p>
          <a:p>
            <a:pPr algn="l"/>
            <a:r>
              <a:rPr lang="en-GB" sz="1400" noProof="0"/>
              <a:t>2 x Primera</a:t>
            </a:r>
          </a:p>
        </p:txBody>
      </p:sp>
      <p:pic>
        <p:nvPicPr>
          <p:cNvPr id="1067" name="Graphic 1066">
            <a:extLst>
              <a:ext uri="{FF2B5EF4-FFF2-40B4-BE49-F238E27FC236}">
                <a16:creationId xmlns:a16="http://schemas.microsoft.com/office/drawing/2014/main" id="{02B43932-6F4A-0911-342D-8778F8569EF8}"/>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704120" y="6703710"/>
            <a:ext cx="885087" cy="310629"/>
          </a:xfrm>
          <a:prstGeom prst="rect">
            <a:avLst/>
          </a:prstGeom>
        </p:spPr>
      </p:pic>
      <p:pic>
        <p:nvPicPr>
          <p:cNvPr id="1082" name="Picture 58" descr="Setting up RAID 5 on HP ProLiant DL360 server ✔️">
            <a:extLst>
              <a:ext uri="{FF2B5EF4-FFF2-40B4-BE49-F238E27FC236}">
                <a16:creationId xmlns:a16="http://schemas.microsoft.com/office/drawing/2014/main" id="{CD932258-43D4-8B20-839A-7D01A7300E1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94132" y="6299094"/>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69" name="TextBox 1068">
            <a:extLst>
              <a:ext uri="{FF2B5EF4-FFF2-40B4-BE49-F238E27FC236}">
                <a16:creationId xmlns:a16="http://schemas.microsoft.com/office/drawing/2014/main" id="{3D946A7E-FF1E-7EBC-F716-4DB67895DC06}"/>
              </a:ext>
            </a:extLst>
          </p:cNvPr>
          <p:cNvSpPr txBox="1"/>
          <p:nvPr/>
        </p:nvSpPr>
        <p:spPr>
          <a:xfrm>
            <a:off x="18572010" y="6193198"/>
            <a:ext cx="1183997" cy="738664"/>
          </a:xfrm>
          <a:prstGeom prst="rect">
            <a:avLst/>
          </a:prstGeom>
          <a:solidFill>
            <a:schemeClr val="bg1"/>
          </a:solidFill>
        </p:spPr>
        <p:txBody>
          <a:bodyPr wrap="square" rtlCol="0">
            <a:spAutoFit/>
          </a:bodyPr>
          <a:lstStyle/>
          <a:p>
            <a:pPr algn="l"/>
            <a:r>
              <a:rPr lang="en-GB" sz="1400" noProof="0"/>
              <a:t>CHP – Prod</a:t>
            </a:r>
          </a:p>
          <a:p>
            <a:pPr algn="l"/>
            <a:r>
              <a:rPr lang="en-GB" sz="1400" noProof="0"/>
              <a:t>1 x DL360</a:t>
            </a:r>
          </a:p>
          <a:p>
            <a:pPr algn="l"/>
            <a:r>
              <a:rPr lang="en-GB" sz="1400" noProof="0"/>
              <a:t>1 x Primera</a:t>
            </a:r>
          </a:p>
        </p:txBody>
      </p:sp>
      <p:sp>
        <p:nvSpPr>
          <p:cNvPr id="1071" name="TextBox 1070">
            <a:extLst>
              <a:ext uri="{FF2B5EF4-FFF2-40B4-BE49-F238E27FC236}">
                <a16:creationId xmlns:a16="http://schemas.microsoft.com/office/drawing/2014/main" id="{5BA6DCAC-04EE-D6C0-34D3-63597237CCED}"/>
              </a:ext>
            </a:extLst>
          </p:cNvPr>
          <p:cNvSpPr txBox="1"/>
          <p:nvPr/>
        </p:nvSpPr>
        <p:spPr>
          <a:xfrm>
            <a:off x="18546278" y="6925826"/>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1 x DL380</a:t>
            </a:r>
          </a:p>
          <a:p>
            <a:pPr algn="l"/>
            <a:r>
              <a:rPr lang="en-GB" sz="1400" noProof="0"/>
              <a:t>1 x Primera</a:t>
            </a:r>
          </a:p>
        </p:txBody>
      </p:sp>
      <p:pic>
        <p:nvPicPr>
          <p:cNvPr id="1047" name="Picture 8">
            <a:extLst>
              <a:ext uri="{FF2B5EF4-FFF2-40B4-BE49-F238E27FC236}">
                <a16:creationId xmlns:a16="http://schemas.microsoft.com/office/drawing/2014/main" id="{A6A05ADF-025E-CF75-68CB-72F921D88A31}"/>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4557" y="5289900"/>
            <a:ext cx="915934" cy="915934"/>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A8E6EB4E-30A6-19C4-5E80-824DCDA9AB27}"/>
              </a:ext>
            </a:extLst>
          </p:cNvPr>
          <p:cNvPicPr>
            <a:picLocks noChangeAspect="1" noChangeArrowheads="1"/>
          </p:cNvPicPr>
          <p:nvPr/>
        </p:nvPicPr>
        <p:blipFill>
          <a:blip r:embed="rId20">
            <a:extLst>
              <a:ext uri="{28A0092B-C50C-407E-A947-70E740481C1C}">
                <a14:useLocalDpi xmlns:a14="http://schemas.microsoft.com/office/drawing/2010/main" val="0"/>
              </a:ext>
            </a:extLst>
          </a:blip>
          <a:srcRect/>
          <a:stretch>
            <a:fillRect/>
          </a:stretch>
        </p:blipFill>
        <p:spPr bwMode="auto">
          <a:xfrm>
            <a:off x="17559025" y="9434236"/>
            <a:ext cx="915934" cy="915934"/>
          </a:xfrm>
          <a:prstGeom prst="rect">
            <a:avLst/>
          </a:prstGeom>
          <a:noFill/>
          <a:extLst>
            <a:ext uri="{909E8E84-426E-40DD-AFC4-6F175D3DCCD1}">
              <a14:hiddenFill xmlns:a14="http://schemas.microsoft.com/office/drawing/2010/main">
                <a:solidFill>
                  <a:srgbClr val="FFFFFF"/>
                </a:solidFill>
              </a14:hiddenFill>
            </a:ext>
          </a:extLst>
        </p:spPr>
      </p:pic>
      <p:sp>
        <p:nvSpPr>
          <p:cNvPr id="1073" name="TextBox 1072">
            <a:extLst>
              <a:ext uri="{FF2B5EF4-FFF2-40B4-BE49-F238E27FC236}">
                <a16:creationId xmlns:a16="http://schemas.microsoft.com/office/drawing/2014/main" id="{515F9135-02C0-F6FD-19E9-91F0CD998546}"/>
              </a:ext>
            </a:extLst>
          </p:cNvPr>
          <p:cNvSpPr txBox="1"/>
          <p:nvPr/>
        </p:nvSpPr>
        <p:spPr>
          <a:xfrm>
            <a:off x="18532155" y="9515648"/>
            <a:ext cx="1183997" cy="738664"/>
          </a:xfrm>
          <a:prstGeom prst="rect">
            <a:avLst/>
          </a:prstGeom>
          <a:solidFill>
            <a:schemeClr val="bg1"/>
          </a:solidFill>
        </p:spPr>
        <p:txBody>
          <a:bodyPr wrap="square" rtlCol="0">
            <a:spAutoFit/>
          </a:bodyPr>
          <a:lstStyle/>
          <a:p>
            <a:pPr algn="l"/>
            <a:r>
              <a:rPr lang="en-GB" sz="1400" noProof="0" err="1"/>
              <a:t>Atex</a:t>
            </a:r>
            <a:r>
              <a:rPr lang="en-GB" sz="1400" noProof="0"/>
              <a:t>  – Prod</a:t>
            </a:r>
          </a:p>
          <a:p>
            <a:pPr algn="l"/>
            <a:r>
              <a:rPr lang="en-GB" sz="1400" noProof="0"/>
              <a:t>2 x DL380</a:t>
            </a:r>
          </a:p>
          <a:p>
            <a:pPr algn="l"/>
            <a:r>
              <a:rPr lang="en-GB" sz="1400" noProof="0"/>
              <a:t>2 x Primera</a:t>
            </a:r>
          </a:p>
        </p:txBody>
      </p:sp>
      <p:pic>
        <p:nvPicPr>
          <p:cNvPr id="1075" name="Picture 54" descr="HPE Primera 600 - Storage enclosure | Overview, Specs, Details | SHI">
            <a:extLst>
              <a:ext uri="{FF2B5EF4-FFF2-40B4-BE49-F238E27FC236}">
                <a16:creationId xmlns:a16="http://schemas.microsoft.com/office/drawing/2014/main" id="{0E31D957-0E23-05BF-A283-5BE2DB31173F}"/>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17695226" y="8750363"/>
            <a:ext cx="785066" cy="588800"/>
          </a:xfrm>
          <a:prstGeom prst="rect">
            <a:avLst/>
          </a:prstGeom>
          <a:noFill/>
          <a:extLst>
            <a:ext uri="{909E8E84-426E-40DD-AFC4-6F175D3DCCD1}">
              <a14:hiddenFill xmlns:a14="http://schemas.microsoft.com/office/drawing/2010/main">
                <a:solidFill>
                  <a:srgbClr val="FFFFFF"/>
                </a:solidFill>
              </a14:hiddenFill>
            </a:ext>
          </a:extLst>
        </p:spPr>
      </p:pic>
      <p:pic>
        <p:nvPicPr>
          <p:cNvPr id="1077" name="Graphic 1076">
            <a:extLst>
              <a:ext uri="{FF2B5EF4-FFF2-40B4-BE49-F238E27FC236}">
                <a16:creationId xmlns:a16="http://schemas.microsoft.com/office/drawing/2014/main" id="{00386DEE-2211-8473-1937-3303686713A4}"/>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7679217" y="8571353"/>
            <a:ext cx="885087" cy="310629"/>
          </a:xfrm>
          <a:prstGeom prst="rect">
            <a:avLst/>
          </a:prstGeom>
        </p:spPr>
      </p:pic>
      <p:pic>
        <p:nvPicPr>
          <p:cNvPr id="1079" name="Picture 58" descr="Setting up RAID 5 on HP ProLiant DL360 server ✔️">
            <a:extLst>
              <a:ext uri="{FF2B5EF4-FFF2-40B4-BE49-F238E27FC236}">
                <a16:creationId xmlns:a16="http://schemas.microsoft.com/office/drawing/2014/main" id="{09411FC1-4E83-7610-7A8E-29FE11101FE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7669229" y="8166737"/>
            <a:ext cx="607184" cy="341541"/>
          </a:xfrm>
          <a:prstGeom prst="rect">
            <a:avLst/>
          </a:prstGeom>
          <a:noFill/>
          <a:extLst>
            <a:ext uri="{909E8E84-426E-40DD-AFC4-6F175D3DCCD1}">
              <a14:hiddenFill xmlns:a14="http://schemas.microsoft.com/office/drawing/2010/main">
                <a:solidFill>
                  <a:srgbClr val="FFFFFF"/>
                </a:solidFill>
              </a14:hiddenFill>
            </a:ext>
          </a:extLst>
        </p:spPr>
      </p:pic>
      <p:sp>
        <p:nvSpPr>
          <p:cNvPr id="1080" name="Rectangle 1079">
            <a:extLst>
              <a:ext uri="{FF2B5EF4-FFF2-40B4-BE49-F238E27FC236}">
                <a16:creationId xmlns:a16="http://schemas.microsoft.com/office/drawing/2014/main" id="{BD0FB69F-95C6-C6B9-23CA-6134D1E6C8FC}"/>
              </a:ext>
            </a:extLst>
          </p:cNvPr>
          <p:cNvSpPr/>
          <p:nvPr/>
        </p:nvSpPr>
        <p:spPr>
          <a:xfrm>
            <a:off x="17397788" y="5124369"/>
            <a:ext cx="2815034" cy="52809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1" name="Rectangle 1080">
            <a:extLst>
              <a:ext uri="{FF2B5EF4-FFF2-40B4-BE49-F238E27FC236}">
                <a16:creationId xmlns:a16="http://schemas.microsoft.com/office/drawing/2014/main" id="{950FF0FC-3B57-32B0-6DC2-57B2D5FFFAB8}"/>
              </a:ext>
            </a:extLst>
          </p:cNvPr>
          <p:cNvSpPr/>
          <p:nvPr/>
        </p:nvSpPr>
        <p:spPr>
          <a:xfrm>
            <a:off x="20647884" y="5112676"/>
            <a:ext cx="1904960" cy="5280914"/>
          </a:xfrm>
          <a:prstGeom prst="rect">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noProof="0"/>
          </a:p>
        </p:txBody>
      </p:sp>
      <p:sp>
        <p:nvSpPr>
          <p:cNvPr id="1083" name="TextBox 1082">
            <a:extLst>
              <a:ext uri="{FF2B5EF4-FFF2-40B4-BE49-F238E27FC236}">
                <a16:creationId xmlns:a16="http://schemas.microsoft.com/office/drawing/2014/main" id="{0C7796B2-5E00-0DE3-32A0-1EB6964EA8EF}"/>
              </a:ext>
            </a:extLst>
          </p:cNvPr>
          <p:cNvSpPr txBox="1"/>
          <p:nvPr/>
        </p:nvSpPr>
        <p:spPr>
          <a:xfrm>
            <a:off x="13424500" y="9249570"/>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87" name="TextBox 1086">
            <a:extLst>
              <a:ext uri="{FF2B5EF4-FFF2-40B4-BE49-F238E27FC236}">
                <a16:creationId xmlns:a16="http://schemas.microsoft.com/office/drawing/2014/main" id="{4AE14776-9279-C5F5-4A8C-FFAAFA4F5D97}"/>
              </a:ext>
            </a:extLst>
          </p:cNvPr>
          <p:cNvSpPr txBox="1"/>
          <p:nvPr/>
        </p:nvSpPr>
        <p:spPr>
          <a:xfrm>
            <a:off x="13347133" y="6598338"/>
            <a:ext cx="569387" cy="369332"/>
          </a:xfrm>
          <a:prstGeom prst="rect">
            <a:avLst/>
          </a:prstGeom>
          <a:noFill/>
        </p:spPr>
        <p:txBody>
          <a:bodyPr wrap="none" rtlCol="0">
            <a:spAutoFit/>
          </a:bodyPr>
          <a:lstStyle/>
          <a:p>
            <a:pPr algn="l"/>
            <a:r>
              <a:rPr lang="en-GB" noProof="0">
                <a:solidFill>
                  <a:srgbClr val="FF0000"/>
                </a:solidFill>
                <a:highlight>
                  <a:srgbClr val="FFFF00"/>
                </a:highlight>
              </a:rPr>
              <a:t>???</a:t>
            </a:r>
            <a:endParaRPr lang="en-GB" sz="1800" noProof="0">
              <a:solidFill>
                <a:srgbClr val="FF0000"/>
              </a:solidFill>
              <a:highlight>
                <a:srgbClr val="FFFF00"/>
              </a:highlight>
            </a:endParaRPr>
          </a:p>
        </p:txBody>
      </p:sp>
      <p:sp>
        <p:nvSpPr>
          <p:cNvPr id="1091" name="TextBox 1090">
            <a:extLst>
              <a:ext uri="{FF2B5EF4-FFF2-40B4-BE49-F238E27FC236}">
                <a16:creationId xmlns:a16="http://schemas.microsoft.com/office/drawing/2014/main" id="{516A21F0-9983-1CC4-096F-908B7676037E}"/>
              </a:ext>
            </a:extLst>
          </p:cNvPr>
          <p:cNvSpPr txBox="1"/>
          <p:nvPr/>
        </p:nvSpPr>
        <p:spPr>
          <a:xfrm>
            <a:off x="9446229" y="7067301"/>
            <a:ext cx="428322" cy="369332"/>
          </a:xfrm>
          <a:prstGeom prst="rect">
            <a:avLst/>
          </a:prstGeom>
          <a:noFill/>
        </p:spPr>
        <p:txBody>
          <a:bodyPr wrap="none" rtlCol="0">
            <a:spAutoFit/>
          </a:bodyPr>
          <a:lstStyle/>
          <a:p>
            <a:pPr algn="l"/>
            <a:r>
              <a:rPr lang="en-GB" sz="1800" noProof="0"/>
              <a:t>4x</a:t>
            </a:r>
          </a:p>
        </p:txBody>
      </p:sp>
      <p:sp>
        <p:nvSpPr>
          <p:cNvPr id="1092" name="TextBox 1091">
            <a:extLst>
              <a:ext uri="{FF2B5EF4-FFF2-40B4-BE49-F238E27FC236}">
                <a16:creationId xmlns:a16="http://schemas.microsoft.com/office/drawing/2014/main" id="{854D36F2-EB2E-C2E1-C89E-35D55A0A04CD}"/>
              </a:ext>
            </a:extLst>
          </p:cNvPr>
          <p:cNvSpPr txBox="1"/>
          <p:nvPr/>
        </p:nvSpPr>
        <p:spPr>
          <a:xfrm>
            <a:off x="9445530" y="9901479"/>
            <a:ext cx="428322" cy="369332"/>
          </a:xfrm>
          <a:prstGeom prst="rect">
            <a:avLst/>
          </a:prstGeom>
          <a:noFill/>
        </p:spPr>
        <p:txBody>
          <a:bodyPr wrap="none" rtlCol="0">
            <a:spAutoFit/>
          </a:bodyPr>
          <a:lstStyle/>
          <a:p>
            <a:pPr algn="l"/>
            <a:r>
              <a:rPr lang="en-GB" sz="1800" noProof="0"/>
              <a:t>4x</a:t>
            </a:r>
          </a:p>
        </p:txBody>
      </p:sp>
      <p:sp>
        <p:nvSpPr>
          <p:cNvPr id="5" name="TextBox 4">
            <a:extLst>
              <a:ext uri="{FF2B5EF4-FFF2-40B4-BE49-F238E27FC236}">
                <a16:creationId xmlns:a16="http://schemas.microsoft.com/office/drawing/2014/main" id="{45717CA4-16F2-A355-13CB-41F7EBB3957E}"/>
              </a:ext>
            </a:extLst>
          </p:cNvPr>
          <p:cNvSpPr txBox="1"/>
          <p:nvPr/>
        </p:nvSpPr>
        <p:spPr>
          <a:xfrm>
            <a:off x="1694121" y="8224109"/>
            <a:ext cx="556563" cy="369332"/>
          </a:xfrm>
          <a:prstGeom prst="rect">
            <a:avLst/>
          </a:prstGeom>
          <a:noFill/>
        </p:spPr>
        <p:txBody>
          <a:bodyPr wrap="none" rtlCol="0">
            <a:spAutoFit/>
          </a:bodyPr>
          <a:lstStyle/>
          <a:p>
            <a:pPr algn="l"/>
            <a:r>
              <a:rPr lang="en-GB" sz="1800"/>
              <a:t>51</a:t>
            </a:r>
            <a:r>
              <a:rPr lang="en-GB" sz="1800" noProof="0"/>
              <a:t>x</a:t>
            </a:r>
          </a:p>
        </p:txBody>
      </p:sp>
      <p:pic>
        <p:nvPicPr>
          <p:cNvPr id="1093" name="Picture 1092" descr="image.png"/>
          <p:cNvPicPr>
            <a:picLocks noChangeAspect="1"/>
          </p:cNvPicPr>
          <p:nvPr/>
        </p:nvPicPr>
        <p:blipFill>
          <a:blip r:embed="rId21"/>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084012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465375-A961-7714-5956-809E3B8349E6}"/>
              </a:ext>
            </a:extLst>
          </p:cNvPr>
          <p:cNvSpPr>
            <a:spLocks noGrp="1"/>
          </p:cNvSpPr>
          <p:nvPr>
            <p:ph type="body" sz="quarter" idx="12"/>
          </p:nvPr>
        </p:nvSpPr>
        <p:spPr>
          <a:xfrm>
            <a:off x="723900" y="2744725"/>
            <a:ext cx="22936200" cy="7889339"/>
          </a:xfrm>
        </p:spPr>
        <p:txBody>
          <a:bodyPr/>
          <a:lstStyle/>
          <a:p>
            <a:r>
              <a:rPr lang="en-GB" b="1" dirty="0"/>
              <a:t>Mail Online</a:t>
            </a:r>
            <a:r>
              <a:rPr lang="en-GB" dirty="0"/>
              <a:t>: 2,206 servers (72.6%) 91 sub-components | Oracle at the centre | Dual ownership (CPO + CTO)</a:t>
            </a:r>
          </a:p>
          <a:p>
            <a:endParaRPr lang="en-GB" dirty="0"/>
          </a:p>
          <a:p>
            <a:r>
              <a:rPr lang="en-GB" b="1" dirty="0"/>
              <a:t>CHP</a:t>
            </a:r>
            <a:r>
              <a:rPr lang="en-GB" dirty="0"/>
              <a:t>: 146 servers (Oracle-backed, publishing operations)</a:t>
            </a:r>
          </a:p>
          <a:p>
            <a:endParaRPr lang="en-GB" dirty="0"/>
          </a:p>
          <a:p>
            <a:r>
              <a:rPr lang="en-GB" b="1" dirty="0"/>
              <a:t>WPS</a:t>
            </a:r>
            <a:r>
              <a:rPr lang="en-GB" dirty="0"/>
              <a:t>: 136 servers (tightly coupled to Mail Online, must co-migrate)</a:t>
            </a:r>
          </a:p>
          <a:p>
            <a:endParaRPr lang="en-GB" dirty="0"/>
          </a:p>
          <a:p>
            <a:r>
              <a:rPr lang="en-GB" b="1" dirty="0" err="1"/>
              <a:t>Atex</a:t>
            </a:r>
            <a:r>
              <a:rPr lang="en-GB" dirty="0"/>
              <a:t>: 109 servers (multicast constraint, business decision required)</a:t>
            </a:r>
          </a:p>
          <a:p>
            <a:endParaRPr lang="en-GB" dirty="0"/>
          </a:p>
          <a:p>
            <a:r>
              <a:rPr lang="en-GB" b="1" dirty="0"/>
              <a:t>RTA</a:t>
            </a:r>
            <a:r>
              <a:rPr lang="en-GB" dirty="0"/>
              <a:t>: 41 servers (significantly overprovisioned)</a:t>
            </a:r>
          </a:p>
          <a:p>
            <a:endParaRPr lang="en-GB" dirty="0"/>
          </a:p>
          <a:p>
            <a:r>
              <a:rPr lang="en-GB" b="1" dirty="0"/>
              <a:t>Remaining 29 applications</a:t>
            </a:r>
            <a:r>
              <a:rPr lang="en-GB" dirty="0"/>
              <a:t>: 400 servers combined (editorial tooling, shared services, retirement candidates)</a:t>
            </a:r>
          </a:p>
        </p:txBody>
      </p:sp>
      <p:sp>
        <p:nvSpPr>
          <p:cNvPr id="3" name="Title 2">
            <a:extLst>
              <a:ext uri="{FF2B5EF4-FFF2-40B4-BE49-F238E27FC236}">
                <a16:creationId xmlns:a16="http://schemas.microsoft.com/office/drawing/2014/main" id="{7287083A-3D1B-3AEC-5195-8F741B868695}"/>
              </a:ext>
            </a:extLst>
          </p:cNvPr>
          <p:cNvSpPr>
            <a:spLocks noGrp="1"/>
          </p:cNvSpPr>
          <p:nvPr>
            <p:ph type="title"/>
          </p:nvPr>
        </p:nvSpPr>
        <p:spPr/>
        <p:txBody>
          <a:bodyPr/>
          <a:lstStyle/>
          <a:p>
            <a:r>
              <a:rPr lang="en-GB" dirty="0"/>
              <a:t>Application landscape </a:t>
            </a:r>
          </a:p>
        </p:txBody>
      </p:sp>
      <p:sp>
        <p:nvSpPr>
          <p:cNvPr id="4" name="Slide Number Placeholder 3">
            <a:extLst>
              <a:ext uri="{FF2B5EF4-FFF2-40B4-BE49-F238E27FC236}">
                <a16:creationId xmlns:a16="http://schemas.microsoft.com/office/drawing/2014/main" id="{7BCA958F-12A6-D7C9-FC12-3A6C7E45C470}"/>
              </a:ext>
            </a:extLst>
          </p:cNvPr>
          <p:cNvSpPr>
            <a:spLocks noGrp="1"/>
          </p:cNvSpPr>
          <p:nvPr>
            <p:ph type="sldNum" sz="quarter" idx="4"/>
          </p:nvPr>
        </p:nvSpPr>
        <p:spPr/>
        <p:txBody>
          <a:bodyPr/>
          <a:lstStyle/>
          <a:p>
            <a:fld id="{762E77F0-FB5B-4E8E-9BC9-34F14560A017}" type="slidenum">
              <a:rPr lang="en-US" smtClean="0"/>
              <a:pPr/>
              <a:t>16</a:t>
            </a:fld>
            <a:endParaRPr lang="en-US"/>
          </a:p>
        </p:txBody>
      </p:sp>
      <p:pic>
        <p:nvPicPr>
          <p:cNvPr id="5" name="Picture 4"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5778349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D9647-9903-576B-E292-C147AE1E9E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8420F6-2CF7-6192-D8AC-10FE8CD409D9}"/>
              </a:ext>
            </a:extLst>
          </p:cNvPr>
          <p:cNvSpPr>
            <a:spLocks noGrp="1"/>
          </p:cNvSpPr>
          <p:nvPr>
            <p:ph type="title"/>
          </p:nvPr>
        </p:nvSpPr>
        <p:spPr/>
        <p:txBody>
          <a:bodyPr/>
          <a:lstStyle/>
          <a:p>
            <a:r>
              <a:rPr lang="en-GB" dirty="0"/>
              <a:t>Workshop findings</a:t>
            </a:r>
          </a:p>
        </p:txBody>
      </p:sp>
      <p:sp>
        <p:nvSpPr>
          <p:cNvPr id="4" name="Slide Number Placeholder 3">
            <a:extLst>
              <a:ext uri="{FF2B5EF4-FFF2-40B4-BE49-F238E27FC236}">
                <a16:creationId xmlns:a16="http://schemas.microsoft.com/office/drawing/2014/main" id="{53E35D01-9779-5B26-ABA7-64CB84B171FE}"/>
              </a:ext>
            </a:extLst>
          </p:cNvPr>
          <p:cNvSpPr>
            <a:spLocks noGrp="1"/>
          </p:cNvSpPr>
          <p:nvPr>
            <p:ph type="sldNum" sz="quarter" idx="4"/>
          </p:nvPr>
        </p:nvSpPr>
        <p:spPr/>
        <p:txBody>
          <a:bodyPr/>
          <a:lstStyle/>
          <a:p>
            <a:fld id="{762E77F0-FB5B-4E8E-9BC9-34F14560A017}" type="slidenum">
              <a:rPr lang="en-US" smtClean="0"/>
              <a:pPr/>
              <a:t>17</a:t>
            </a:fld>
            <a:endParaRPr lang="en-US"/>
          </a:p>
        </p:txBody>
      </p:sp>
      <p:sp>
        <p:nvSpPr>
          <p:cNvPr id="5" name="Text Placeholder 1">
            <a:extLst>
              <a:ext uri="{FF2B5EF4-FFF2-40B4-BE49-F238E27FC236}">
                <a16:creationId xmlns:a16="http://schemas.microsoft.com/office/drawing/2014/main" id="{BB27D486-EEB8-337B-F048-236B1132F98B}"/>
              </a:ext>
            </a:extLst>
          </p:cNvPr>
          <p:cNvSpPr txBox="1">
            <a:spLocks/>
          </p:cNvSpPr>
          <p:nvPr/>
        </p:nvSpPr>
        <p:spPr>
          <a:xfrm>
            <a:off x="696446" y="2913330"/>
            <a:ext cx="22936200" cy="6976269"/>
          </a:xfrm>
          <a:prstGeom prst="rect">
            <a:avLst/>
          </a:prstGeom>
        </p:spPr>
        <p:txBody>
          <a:bodyPr vert="horz" lIns="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sz="3600" kern="1200" dirty="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sz="3600" kern="1200" dirty="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sz="3600" kern="1200" dirty="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sz="3600" kern="1200" dirty="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sz="3600" kern="1200" dirty="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a:lstStyle>
          <a:p>
            <a:r>
              <a:rPr lang="en-GB" b="1" dirty="0"/>
              <a:t>Mail Online is a distributed monolith </a:t>
            </a:r>
            <a:r>
              <a:rPr lang="en-GB" dirty="0"/>
              <a:t>Many sub-services, many dependencies, not independently releasable</a:t>
            </a:r>
          </a:p>
          <a:p>
            <a:endParaRPr lang="en-GB" b="1" dirty="0"/>
          </a:p>
          <a:p>
            <a:r>
              <a:rPr lang="en-GB" b="1" dirty="0"/>
              <a:t>Oracle is the centre of gravity </a:t>
            </a:r>
            <a:r>
              <a:rPr lang="en-GB" dirty="0"/>
              <a:t>MOL, </a:t>
            </a:r>
            <a:r>
              <a:rPr lang="en-GB" dirty="0" err="1"/>
              <a:t>Atex</a:t>
            </a:r>
            <a:r>
              <a:rPr lang="en-GB" dirty="0"/>
              <a:t>, CHP, </a:t>
            </a:r>
            <a:r>
              <a:rPr lang="en-GB" dirty="0" err="1"/>
              <a:t>Circnet</a:t>
            </a:r>
            <a:r>
              <a:rPr lang="en-GB" dirty="0"/>
              <a:t> all depend on Oracle. £650K/yr support.</a:t>
            </a:r>
          </a:p>
          <a:p>
            <a:endParaRPr lang="en-GB" b="1" dirty="0"/>
          </a:p>
          <a:p>
            <a:r>
              <a:rPr lang="en-GB" b="1" dirty="0" err="1"/>
              <a:t>Atex</a:t>
            </a:r>
            <a:r>
              <a:rPr lang="en-GB" b="1" dirty="0"/>
              <a:t> has a hard multicast constraint </a:t>
            </a:r>
            <a:r>
              <a:rPr lang="en-GB" dirty="0"/>
              <a:t>Cloud networks do not natively support multicast (except AWS Transit Gateway)</a:t>
            </a:r>
          </a:p>
          <a:p>
            <a:endParaRPr lang="en-GB" b="1" dirty="0"/>
          </a:p>
          <a:p>
            <a:r>
              <a:rPr lang="en-GB" b="1" dirty="0"/>
              <a:t>WPS and Mail Online must co-migrate </a:t>
            </a:r>
            <a:r>
              <a:rPr lang="en-GB" dirty="0"/>
              <a:t>Sustained Oracle connections to the B-cluster. Cannot be separated.</a:t>
            </a:r>
          </a:p>
          <a:p>
            <a:endParaRPr lang="en-GB" b="1" dirty="0"/>
          </a:p>
          <a:p>
            <a:r>
              <a:rPr lang="en-GB" b="1" dirty="0"/>
              <a:t>Sydney is independent </a:t>
            </a:r>
            <a:r>
              <a:rPr lang="en-GB" dirty="0"/>
              <a:t>4 servers, flexible contract, natural early candidate and proof point</a:t>
            </a:r>
          </a:p>
        </p:txBody>
      </p:sp>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409610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AEA59-C2D6-2494-A62C-0898CD3CA5B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DA39FDD-DFD1-4323-C6D1-CA1E2F708BB9}"/>
              </a:ext>
            </a:extLst>
          </p:cNvPr>
          <p:cNvSpPr>
            <a:spLocks noGrp="1"/>
          </p:cNvSpPr>
          <p:nvPr>
            <p:ph type="title"/>
          </p:nvPr>
        </p:nvSpPr>
        <p:spPr/>
        <p:txBody>
          <a:bodyPr/>
          <a:lstStyle/>
          <a:p>
            <a:r>
              <a:rPr lang="en-GB" dirty="0"/>
              <a:t>Discovery and data gaps</a:t>
            </a:r>
          </a:p>
        </p:txBody>
      </p:sp>
      <p:sp>
        <p:nvSpPr>
          <p:cNvPr id="4" name="Slide Number Placeholder 3">
            <a:extLst>
              <a:ext uri="{FF2B5EF4-FFF2-40B4-BE49-F238E27FC236}">
                <a16:creationId xmlns:a16="http://schemas.microsoft.com/office/drawing/2014/main" id="{67860816-8940-A4B3-81F5-88225E2B7F05}"/>
              </a:ext>
            </a:extLst>
          </p:cNvPr>
          <p:cNvSpPr>
            <a:spLocks noGrp="1"/>
          </p:cNvSpPr>
          <p:nvPr>
            <p:ph type="sldNum" sz="quarter" idx="4"/>
          </p:nvPr>
        </p:nvSpPr>
        <p:spPr/>
        <p:txBody>
          <a:bodyPr/>
          <a:lstStyle/>
          <a:p>
            <a:fld id="{762E77F0-FB5B-4E8E-9BC9-34F14560A017}" type="slidenum">
              <a:rPr lang="en-US" smtClean="0"/>
              <a:pPr/>
              <a:t>18</a:t>
            </a:fld>
            <a:endParaRPr lang="en-US"/>
          </a:p>
        </p:txBody>
      </p:sp>
      <p:sp>
        <p:nvSpPr>
          <p:cNvPr id="7" name="TextBox 6">
            <a:extLst>
              <a:ext uri="{FF2B5EF4-FFF2-40B4-BE49-F238E27FC236}">
                <a16:creationId xmlns:a16="http://schemas.microsoft.com/office/drawing/2014/main" id="{BF387EBF-88D2-082D-F0FD-9CA5ABC0F945}"/>
              </a:ext>
            </a:extLst>
          </p:cNvPr>
          <p:cNvSpPr txBox="1"/>
          <p:nvPr/>
        </p:nvSpPr>
        <p:spPr>
          <a:xfrm>
            <a:off x="1408176" y="4872841"/>
            <a:ext cx="10314432" cy="3970318"/>
          </a:xfrm>
          <a:prstGeom prst="rect">
            <a:avLst/>
          </a:prstGeom>
          <a:noFill/>
        </p:spPr>
        <p:txBody>
          <a:bodyPr wrap="square" rtlCol="0">
            <a:spAutoFit/>
          </a:bodyPr>
          <a:lstStyle/>
          <a:p>
            <a:pPr marL="285750" indent="-285750">
              <a:buFont typeface="Aktiv Grotesk" panose="020B0604020202020204" pitchFamily="34" charset="0"/>
              <a:buChar char="•"/>
            </a:pPr>
            <a:r>
              <a:rPr lang="en-GB" sz="2800" dirty="0"/>
              <a:t>100% of in-scope servers discovered</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97% TCO-grade data captured</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9 of 9 application workshops completed</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Custom automation built for 5 infrastructure types</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No common credential mechanism, worked through it</a:t>
            </a:r>
          </a:p>
        </p:txBody>
      </p:sp>
      <p:sp>
        <p:nvSpPr>
          <p:cNvPr id="8" name="TextBox 7">
            <a:extLst>
              <a:ext uri="{FF2B5EF4-FFF2-40B4-BE49-F238E27FC236}">
                <a16:creationId xmlns:a16="http://schemas.microsoft.com/office/drawing/2014/main" id="{431BDF87-4EFA-497B-F5EA-F805C88273C2}"/>
              </a:ext>
            </a:extLst>
          </p:cNvPr>
          <p:cNvSpPr txBox="1"/>
          <p:nvPr/>
        </p:nvSpPr>
        <p:spPr>
          <a:xfrm>
            <a:off x="12705772" y="4657397"/>
            <a:ext cx="10314432" cy="4401205"/>
          </a:xfrm>
          <a:prstGeom prst="rect">
            <a:avLst/>
          </a:prstGeom>
          <a:noFill/>
        </p:spPr>
        <p:txBody>
          <a:bodyPr wrap="square" rtlCol="0">
            <a:spAutoFit/>
          </a:bodyPr>
          <a:lstStyle/>
          <a:p>
            <a:pPr marL="285750" indent="-285750">
              <a:buFont typeface="Aktiv Grotesk" panose="020B0604020202020204" pitchFamily="34" charset="0"/>
              <a:buChar char="•"/>
            </a:pPr>
            <a:r>
              <a:rPr lang="en-GB" sz="2800" dirty="0"/>
              <a:t>MOL B-cluster: no Oracle DMA data (production primary, highest priority)</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Network dependency mapping: 27.7% coverage (guest-level collection was the bottleneck)</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Software inventory: 51.5% coverage</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1,227 servers without VMware Tools (sized from provisioned spec, slightly conservative)</a:t>
            </a:r>
          </a:p>
        </p:txBody>
      </p:sp>
      <p:pic>
        <p:nvPicPr>
          <p:cNvPr id="9" name="Picture 8"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202689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FF13-5487-1730-CC9F-6F3929B1517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D260A81-ECE4-5CCD-5464-5043BA3C980C}"/>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Cost Comparison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078894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57A4C-F083-E6A7-BF72-C2E9121FF4C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E067ADE-ADF0-7730-CED7-78B91D9AA77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20</a:t>
            </a:fld>
            <a:endParaRPr lang="en-GB" noProof="0"/>
          </a:p>
        </p:txBody>
      </p:sp>
      <p:sp>
        <p:nvSpPr>
          <p:cNvPr id="10" name="Text Placeholder 9">
            <a:extLst>
              <a:ext uri="{FF2B5EF4-FFF2-40B4-BE49-F238E27FC236}">
                <a16:creationId xmlns:a16="http://schemas.microsoft.com/office/drawing/2014/main" id="{D2316C29-BB6F-809D-DD68-C97D38DBBF15}"/>
              </a:ext>
            </a:extLst>
          </p:cNvPr>
          <p:cNvSpPr>
            <a:spLocks noGrp="1"/>
          </p:cNvSpPr>
          <p:nvPr>
            <p:ph type="body" sz="quarter" idx="13"/>
          </p:nvPr>
        </p:nvSpPr>
        <p:spPr>
          <a:xfrm>
            <a:off x="640051" y="5882058"/>
            <a:ext cx="5216526" cy="3536261"/>
          </a:xfrm>
        </p:spPr>
        <p:txBody>
          <a:bodyPr anchor="ctr"/>
          <a:lstStyle/>
          <a:p>
            <a:pPr algn="ctr"/>
            <a:r>
              <a:rPr lang="en-GB" sz="3200" dirty="0">
                <a:latin typeface="Fira Sans" panose="020B0503050000020004" pitchFamily="34" charset="0"/>
              </a:rPr>
              <a:t>Methodology </a:t>
            </a:r>
            <a:r>
              <a:rPr lang="en-GB" sz="3200" dirty="0">
                <a:ln w="9525">
                  <a:noFill/>
                </a:ln>
                <a:latin typeface="Fira Sans" panose="020B0503050000020004" pitchFamily="34" charset="0"/>
              </a:rPr>
              <a:t>/ Assumptions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24CD357-3AAE-7E91-3715-614689D35186}"/>
              </a:ext>
            </a:extLst>
          </p:cNvPr>
          <p:cNvSpPr>
            <a:spLocks noGrp="1"/>
          </p:cNvSpPr>
          <p:nvPr>
            <p:ph type="title"/>
          </p:nvPr>
        </p:nvSpPr>
        <p:spPr>
          <a:xfrm>
            <a:off x="627521" y="3609563"/>
            <a:ext cx="5241586" cy="3062106"/>
          </a:xfrm>
        </p:spPr>
        <p:txBody>
          <a:bodyPr vert="horz" wrap="square" lIns="0" tIns="0" rIns="0" bIns="0" rtlCol="0" anchor="ctr" anchorCtr="0">
            <a:normAutofit/>
          </a:bodyPr>
          <a:lstStyle/>
          <a:p>
            <a:pPr algn="ctr"/>
            <a:r>
              <a:rPr lang="en-GB" sz="5400" dirty="0">
                <a:latin typeface="Fira Sans" panose="020B0503050000020004" pitchFamily="34" charset="0"/>
              </a:rPr>
              <a:t>How we built the numbers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0362B248-64DD-6E50-63F7-31E6778CBBB8}"/>
              </a:ext>
            </a:extLst>
          </p:cNvPr>
          <p:cNvSpPr txBox="1"/>
          <p:nvPr/>
        </p:nvSpPr>
        <p:spPr>
          <a:xfrm>
            <a:off x="7107173" y="2330247"/>
            <a:ext cx="15913031" cy="7940635"/>
          </a:xfrm>
          <a:prstGeom prst="rect">
            <a:avLst/>
          </a:prstGeom>
          <a:noFill/>
        </p:spPr>
        <p:txBody>
          <a:bodyPr wrap="square">
            <a:spAutoFit/>
          </a:bodyPr>
          <a:lstStyle/>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Same source data </a:t>
            </a:r>
            <a:r>
              <a:rPr lang="en-GB" sz="4000" dirty="0">
                <a:latin typeface="Fira Sans" panose="020B0503050000020004" pitchFamily="34" charset="0"/>
              </a:rPr>
              <a:t>fed to all three clouds. No cloud got a different version of the estate.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Each cloud's own tool </a:t>
            </a:r>
            <a:r>
              <a:rPr lang="en-GB" sz="4000" dirty="0">
                <a:latin typeface="Fira Sans" panose="020B0503050000020004" pitchFamily="34" charset="0"/>
              </a:rPr>
              <a:t>sized the workloads (Migration </a:t>
            </a:r>
            <a:r>
              <a:rPr lang="en-GB" sz="4000" dirty="0" err="1">
                <a:latin typeface="Fira Sans" panose="020B0503050000020004" pitchFamily="34" charset="0"/>
              </a:rPr>
              <a:t>Center</a:t>
            </a:r>
            <a:r>
              <a:rPr lang="en-GB" sz="4000" dirty="0">
                <a:latin typeface="Fira Sans" panose="020B0503050000020004" pitchFamily="34" charset="0"/>
              </a:rPr>
              <a:t>, Transform, Azure Migrate)</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SKU audit </a:t>
            </a:r>
            <a:r>
              <a:rPr lang="en-GB" sz="4000" dirty="0">
                <a:latin typeface="Fira Sans" panose="020B0503050000020004" pitchFamily="34" charset="0"/>
              </a:rPr>
              <a:t>of what each tool recommended and why</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Re-priced against live APIs </a:t>
            </a:r>
            <a:r>
              <a:rPr lang="en-GB" sz="4000" dirty="0">
                <a:latin typeface="Fira Sans" panose="020B0503050000020004" pitchFamily="34" charset="0"/>
              </a:rPr>
              <a:t>to neutralise tool-specific bias</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Two pricing pillars: </a:t>
            </a:r>
            <a:r>
              <a:rPr lang="en-GB" sz="4000" dirty="0">
                <a:latin typeface="Fira Sans" panose="020B0503050000020004" pitchFamily="34" charset="0"/>
              </a:rPr>
              <a:t>on-demand baseline and 3-year committed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Oracle modelled separately </a:t>
            </a:r>
            <a:r>
              <a:rPr lang="en-GB" sz="4000" dirty="0">
                <a:latin typeface="Fira Sans" panose="020B0503050000020004" pitchFamily="34" charset="0"/>
              </a:rPr>
              <a:t>(three distinct paths, different mechanics per cloud)</a:t>
            </a:r>
          </a:p>
          <a:p>
            <a:pPr marL="742950" indent="-742950" defTabSz="1828800" fontAlgn="t">
              <a:spcAft>
                <a:spcPts val="1400"/>
              </a:spcAft>
              <a:buClr>
                <a:srgbClr val="EB0000"/>
              </a:buClr>
              <a:buFont typeface="+mj-lt"/>
              <a:buAutoNum type="arabicPeriod"/>
            </a:pPr>
            <a:r>
              <a:rPr lang="en-GB" sz="4000" b="1" dirty="0">
                <a:latin typeface="Fira Sans" panose="020B0503050000020004" pitchFamily="34" charset="0"/>
              </a:rPr>
              <a:t>Commercial layer separate </a:t>
            </a:r>
            <a:r>
              <a:rPr lang="en-GB" sz="4000" dirty="0">
                <a:latin typeface="Fira Sans" panose="020B0503050000020004" pitchFamily="34" charset="0"/>
              </a:rPr>
              <a:t>(partner discounts and credits, not mixed into the baseline)</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0979775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1B33BB0-FF46-0B89-7005-681D3B5D1D9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875044B-6FAE-ADC1-8FFE-0294F7FD9034}"/>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21</a:t>
            </a:fld>
            <a:endParaRPr lang="en-GB" noProof="0"/>
          </a:p>
        </p:txBody>
      </p:sp>
      <p:sp>
        <p:nvSpPr>
          <p:cNvPr id="4" name="TextBox 3">
            <a:extLst>
              <a:ext uri="{FF2B5EF4-FFF2-40B4-BE49-F238E27FC236}">
                <a16:creationId xmlns:a16="http://schemas.microsoft.com/office/drawing/2014/main" id="{1B3A4C2F-4744-D19B-BAE9-2ADE5F23A11C}"/>
              </a:ext>
            </a:extLst>
          </p:cNvPr>
          <p:cNvSpPr txBox="1"/>
          <p:nvPr/>
        </p:nvSpPr>
        <p:spPr>
          <a:xfrm>
            <a:off x="406009" y="473476"/>
            <a:ext cx="6192721"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a:t>
            </a:r>
            <a:endParaRPr lang="en-GB" sz="6200" noProof="0">
              <a:solidFill>
                <a:srgbClr val="FF0000"/>
              </a:solidFill>
              <a:latin typeface="Fira Sans Light" panose="020B0403050000020004" pitchFamily="34" charset="0"/>
            </a:endParaRPr>
          </a:p>
        </p:txBody>
      </p:sp>
      <p:graphicFrame>
        <p:nvGraphicFramePr>
          <p:cNvPr id="3" name="Table 2">
            <a:extLst>
              <a:ext uri="{FF2B5EF4-FFF2-40B4-BE49-F238E27FC236}">
                <a16:creationId xmlns:a16="http://schemas.microsoft.com/office/drawing/2014/main" id="{276F4409-122D-985C-E120-0D9F4B827D8A}"/>
              </a:ext>
            </a:extLst>
          </p:cNvPr>
          <p:cNvGraphicFramePr>
            <a:graphicFrameLocks noGrp="1"/>
          </p:cNvGraphicFramePr>
          <p:nvPr>
            <p:extLst>
              <p:ext uri="{D42A27DB-BD31-4B8C-83A1-F6EECF244321}">
                <p14:modId xmlns:p14="http://schemas.microsoft.com/office/powerpoint/2010/main" val="2303836795"/>
              </p:ext>
            </p:extLst>
          </p:nvPr>
        </p:nvGraphicFramePr>
        <p:xfrm>
          <a:off x="866275" y="2420456"/>
          <a:ext cx="22282484" cy="9764912"/>
        </p:xfrm>
        <a:graphic>
          <a:graphicData uri="http://schemas.openxmlformats.org/drawingml/2006/table">
            <a:tbl>
              <a:tblPr/>
              <a:tblGrid>
                <a:gridCol w="7812504">
                  <a:extLst>
                    <a:ext uri="{9D8B030D-6E8A-4147-A177-3AD203B41FA5}">
                      <a16:colId xmlns:a16="http://schemas.microsoft.com/office/drawing/2014/main" val="1419020890"/>
                    </a:ext>
                  </a:extLst>
                </a:gridCol>
                <a:gridCol w="3721768">
                  <a:extLst>
                    <a:ext uri="{9D8B030D-6E8A-4147-A177-3AD203B41FA5}">
                      <a16:colId xmlns:a16="http://schemas.microsoft.com/office/drawing/2014/main" val="755086812"/>
                    </a:ext>
                  </a:extLst>
                </a:gridCol>
                <a:gridCol w="3673642">
                  <a:extLst>
                    <a:ext uri="{9D8B030D-6E8A-4147-A177-3AD203B41FA5}">
                      <a16:colId xmlns:a16="http://schemas.microsoft.com/office/drawing/2014/main" val="3671563807"/>
                    </a:ext>
                  </a:extLst>
                </a:gridCol>
                <a:gridCol w="3513222">
                  <a:extLst>
                    <a:ext uri="{9D8B030D-6E8A-4147-A177-3AD203B41FA5}">
                      <a16:colId xmlns:a16="http://schemas.microsoft.com/office/drawing/2014/main" val="2301877610"/>
                    </a:ext>
                  </a:extLst>
                </a:gridCol>
                <a:gridCol w="3561348">
                  <a:extLst>
                    <a:ext uri="{9D8B030D-6E8A-4147-A177-3AD203B41FA5}">
                      <a16:colId xmlns:a16="http://schemas.microsoft.com/office/drawing/2014/main" val="3270816634"/>
                    </a:ext>
                  </a:extLst>
                </a:gridCol>
              </a:tblGrid>
              <a:tr h="717762">
                <a:tc>
                  <a:txBody>
                    <a:bodyPr/>
                    <a:lstStyle/>
                    <a:p>
                      <a:pPr marL="0" algn="l" defTabSz="1828800" rtl="0" eaLnBrk="1" fontAlgn="b" latinLnBrk="0" hangingPunct="1"/>
                      <a:r>
                        <a:rPr lang="en-GB" sz="2800" b="1" i="0" u="none" strike="noStrike" kern="1200" noProof="0" dirty="0">
                          <a:solidFill>
                            <a:srgbClr val="000000"/>
                          </a:solidFill>
                          <a:effectLst/>
                          <a:latin typeface="Aktiv Grotesk" panose="020B0604020202020204" pitchFamily="34" charset="0"/>
                          <a:ea typeface="+mn-ea"/>
                          <a:cs typeface="+mn-cs"/>
                        </a:rPr>
                        <a:t>London Region</a:t>
                      </a:r>
                    </a:p>
                  </a:txBody>
                  <a:tcPr marL="0" marR="0" marT="0" marB="0" anchor="ctr">
                    <a:lnL w="28575" cap="flat" cmpd="sng" algn="ctr">
                      <a:solidFill>
                        <a:schemeClr val="bg1"/>
                      </a:solidFill>
                      <a:prstDash val="solid"/>
                      <a:round/>
                      <a:headEnd type="none" w="med" len="med"/>
                      <a:tailEnd type="none" w="med" len="med"/>
                    </a:lnL>
                    <a:lnR w="6350" cap="flat" cmpd="sng" algn="ctr">
                      <a:solidFill>
                        <a:srgbClr val="000000"/>
                      </a:solidFill>
                      <a:prstDash val="solid"/>
                      <a:round/>
                      <a:headEnd type="none" w="med" len="med"/>
                      <a:tailEnd type="none" w="med" len="med"/>
                    </a:lnR>
                    <a:lnT w="28575" cap="flat" cmpd="sng" algn="ctr">
                      <a:solidFill>
                        <a:schemeClr val="bg1"/>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GB" sz="2800" b="1" i="0" u="none" strike="noStrike" noProof="0">
                          <a:solidFill>
                            <a:srgbClr val="FFFFFF"/>
                          </a:solidFill>
                          <a:effectLst/>
                          <a:latin typeface="Aktiv Grotesk" panose="020B0604020202020204" pitchFamily="34" charset="0"/>
                        </a:rPr>
                        <a:t>On Premise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2"/>
                    </a:solidFill>
                  </a:tcPr>
                </a:tc>
                <a:tc>
                  <a:txBody>
                    <a:bodyPr/>
                    <a:lstStyle/>
                    <a:p>
                      <a:pPr algn="ctr" fontAlgn="ctr"/>
                      <a:r>
                        <a:rPr lang="en-GB" sz="2800" b="1" i="0" u="none" strike="noStrike" noProof="0" dirty="0">
                          <a:solidFill>
                            <a:srgbClr val="FFFFFF"/>
                          </a:solidFill>
                          <a:effectLst/>
                          <a:latin typeface="Aktiv Grotesk" panose="020B0604020202020204" pitchFamily="34" charset="0"/>
                        </a:rPr>
                        <a:t>AWS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fontAlgn="ctr"/>
                      <a:r>
                        <a:rPr lang="en-GB" sz="2800" b="1" i="0" u="none" strike="noStrike" noProof="0">
                          <a:solidFill>
                            <a:srgbClr val="FFFFFF"/>
                          </a:solidFill>
                          <a:effectLst/>
                          <a:latin typeface="Aktiv Grotesk" panose="020B0604020202020204" pitchFamily="34" charset="0"/>
                        </a:rPr>
                        <a:t>Azure</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59C8"/>
                    </a:solidFill>
                  </a:tcPr>
                </a:tc>
                <a:tc>
                  <a:txBody>
                    <a:bodyPr/>
                    <a:lstStyle/>
                    <a:p>
                      <a:pPr algn="ctr" fontAlgn="ctr"/>
                      <a:r>
                        <a:rPr lang="en-GB" sz="2800" b="1" i="0" u="none" strike="noStrike" noProof="0">
                          <a:solidFill>
                            <a:srgbClr val="FFFFFF"/>
                          </a:solidFill>
                          <a:effectLst/>
                          <a:latin typeface="Aktiv Grotesk" panose="020B0604020202020204" pitchFamily="34" charset="0"/>
                        </a:rPr>
                        <a:t>GCP</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B050"/>
                    </a:solidFill>
                  </a:tcPr>
                </a:tc>
                <a:extLst>
                  <a:ext uri="{0D108BD9-81ED-4DB2-BD59-A6C34878D82A}">
                    <a16:rowId xmlns:a16="http://schemas.microsoft.com/office/drawing/2014/main" val="2988703255"/>
                  </a:ext>
                </a:extLst>
              </a:tr>
              <a:tr h="646225">
                <a:tc>
                  <a:txBody>
                    <a:bodyPr/>
                    <a:lstStyle/>
                    <a:p>
                      <a:pPr algn="l" fontAlgn="b"/>
                      <a:r>
                        <a:rPr lang="en-GB" sz="2800" b="1" i="0" u="none" strike="noStrike" noProof="0">
                          <a:solidFill>
                            <a:srgbClr val="95008A"/>
                          </a:solidFill>
                          <a:effectLst/>
                          <a:latin typeface="Aktiv Grotesk" panose="020B0604020202020204" pitchFamily="34" charset="0"/>
                        </a:rPr>
                        <a:t>PAYG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68434770"/>
                  </a:ext>
                </a:extLst>
              </a:tr>
              <a:tr h="646225">
                <a:tc>
                  <a:txBody>
                    <a:bodyPr/>
                    <a:lstStyle/>
                    <a:p>
                      <a:pPr algn="l" fontAlgn="b"/>
                      <a:r>
                        <a:rPr lang="en-GB" sz="2800" b="1" i="0" u="none" strike="noStrike" noProof="0" dirty="0">
                          <a:solidFill>
                            <a:srgbClr val="000000"/>
                          </a:solidFill>
                          <a:effectLst/>
                          <a:latin typeface="Aktiv Grotesk" panose="020B0604020202020204" pitchFamily="34" charset="0"/>
                        </a:rPr>
                        <a:t> Compute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228,907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228,410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196,025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761087061"/>
                  </a:ext>
                </a:extLst>
              </a:tr>
              <a:tr h="646225">
                <a:tc>
                  <a:txBody>
                    <a:bodyPr/>
                    <a:lstStyle/>
                    <a:p>
                      <a:pPr algn="l" fontAlgn="b"/>
                      <a:r>
                        <a:rPr lang="en-GB" sz="2800" b="1" i="0" u="none" strike="noStrike" noProof="0" dirty="0">
                          <a:solidFill>
                            <a:srgbClr val="000000"/>
                          </a:solidFill>
                          <a:effectLst/>
                          <a:latin typeface="Aktiv Grotesk" panose="020B0604020202020204" pitchFamily="34" charset="0"/>
                        </a:rPr>
                        <a:t> Storage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63,587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159,446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ktiv Grotesk" panose="020B0604020202020204" pitchFamily="34" charset="0"/>
                        </a:rPr>
                        <a:t> £     91,005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97594370"/>
                  </a:ext>
                </a:extLst>
              </a:tr>
              <a:tr h="646225">
                <a:tc>
                  <a:txBody>
                    <a:bodyPr/>
                    <a:lstStyle/>
                    <a:p>
                      <a:pPr algn="l" fontAlgn="b"/>
                      <a:r>
                        <a:rPr lang="en-GB" sz="2800" b="1" i="0" u="none" strike="noStrike" noProof="0" dirty="0">
                          <a:solidFill>
                            <a:srgbClr val="000000"/>
                          </a:solidFill>
                          <a:effectLst/>
                          <a:latin typeface="Aktiv Grotesk" panose="020B0604020202020204" pitchFamily="34" charset="0"/>
                        </a:rPr>
                        <a:t> Licenses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21,105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17,582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9,883 </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548075"/>
                  </a:ext>
                </a:extLst>
              </a:tr>
              <a:tr h="646225">
                <a:tc>
                  <a:txBody>
                    <a:bodyPr/>
                    <a:lstStyle/>
                    <a:p>
                      <a:pPr algn="l" fontAlgn="b"/>
                      <a:r>
                        <a:rPr lang="en-GB" sz="2800" b="1" i="0" u="none" strike="noStrike" noProof="0" dirty="0">
                          <a:solidFill>
                            <a:srgbClr val="000000"/>
                          </a:solidFill>
                          <a:effectLst/>
                          <a:latin typeface="Aktiv Grotesk" panose="020B0604020202020204" pitchFamily="34" charset="0"/>
                        </a:rPr>
                        <a:t> Network (5%)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14,625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19,393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14,351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56511297"/>
                  </a:ext>
                </a:extLst>
              </a:tr>
              <a:tr h="646225">
                <a:tc>
                  <a:txBody>
                    <a:bodyPr/>
                    <a:lstStyle/>
                    <a:p>
                      <a:pPr algn="l" fontAlgn="b"/>
                      <a:r>
                        <a:rPr lang="en-GB" sz="2800" b="1" i="0" u="none" strike="noStrike" noProof="0" dirty="0">
                          <a:solidFill>
                            <a:srgbClr val="000000"/>
                          </a:solidFill>
                          <a:effectLst/>
                          <a:latin typeface="Aktiv Grotesk" panose="020B0604020202020204" pitchFamily="34" charset="0"/>
                        </a:rPr>
                        <a:t>Total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ktiv Grotesk" panose="020B0604020202020204" pitchFamily="34" charset="0"/>
                        </a:rPr>
                        <a:t>£   328,223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ktiv Grotesk" panose="020B0604020202020204" pitchFamily="34" charset="0"/>
                        </a:rPr>
                        <a:t>£    424,831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tc>
                  <a:txBody>
                    <a:bodyPr/>
                    <a:lstStyle/>
                    <a:p>
                      <a:pPr algn="ctr" fontAlgn="ctr"/>
                      <a:r>
                        <a:rPr lang="en-GB" sz="2800" b="0" i="0" u="none" strike="noStrike" noProof="0">
                          <a:solidFill>
                            <a:srgbClr val="000000"/>
                          </a:solidFill>
                          <a:effectLst/>
                          <a:latin typeface="Aktiv Grotesk" panose="020B0604020202020204" pitchFamily="34" charset="0"/>
                        </a:rPr>
                        <a:t>£     311,264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376513407"/>
                  </a:ext>
                </a:extLst>
              </a:tr>
              <a:tr h="646225">
                <a:tc>
                  <a:txBody>
                    <a:bodyPr/>
                    <a:lstStyle/>
                    <a:p>
                      <a:pPr algn="l" fontAlgn="b"/>
                      <a:r>
                        <a:rPr lang="en-GB" sz="2800" b="1" i="0" u="none" strike="noStrike" noProof="0" dirty="0">
                          <a:solidFill>
                            <a:srgbClr val="000000"/>
                          </a:solidFill>
                          <a:effectLst/>
                          <a:latin typeface="Aktiv Grotesk" panose="020B0604020202020204" pitchFamily="34" charset="0"/>
                        </a:rPr>
                        <a:t>Total Annual - PAYG</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£ 3,938,677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£ 5,097,970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£ 3,735,172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46786520"/>
                  </a:ext>
                </a:extLst>
              </a:tr>
              <a:tr h="646225">
                <a:tc>
                  <a:txBody>
                    <a:bodyPr/>
                    <a:lstStyle/>
                    <a:p>
                      <a:pPr algn="l" fontAlgn="b"/>
                      <a:r>
                        <a:rPr lang="en-GB" sz="2800" b="1" i="0" u="none" strike="noStrike" noProof="0">
                          <a:solidFill>
                            <a:srgbClr val="000000"/>
                          </a:solidFill>
                          <a:effectLst/>
                          <a:latin typeface="Aktiv Grotesk" panose="020B0604020202020204" pitchFamily="34" charset="0"/>
                        </a:rPr>
                        <a:t>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kern="1200" noProof="0">
                        <a:solidFill>
                          <a:srgbClr val="000000"/>
                        </a:solidFill>
                        <a:effectLst/>
                        <a:latin typeface="Aktiv Grotesk" panose="020B0604020202020204" pitchFamily="34" charset="0"/>
                        <a:ea typeface="+mn-ea"/>
                        <a:cs typeface="+mn-cs"/>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dirty="0">
                          <a:solidFill>
                            <a:srgbClr val="000000"/>
                          </a:solidFill>
                          <a:effectLst/>
                          <a:latin typeface="Aktiv Grotesk" panose="020B0604020202020204" pitchFamily="34" charset="0"/>
                        </a:rPr>
                        <a:t> £    </a:t>
                      </a:r>
                      <a:r>
                        <a:rPr lang="en-GB" sz="2800" b="0" i="0" u="none" strike="noStrike" kern="1200" noProof="0" dirty="0">
                          <a:solidFill>
                            <a:srgbClr val="000000"/>
                          </a:solidFill>
                          <a:effectLst/>
                          <a:latin typeface="Aktiv Grotesk" panose="020B0604020202020204" pitchFamily="34" charset="0"/>
                          <a:ea typeface="+mn-ea"/>
                          <a:cs typeface="+mn-cs"/>
                        </a:rPr>
                        <a:t>(</a:t>
                      </a:r>
                      <a:r>
                        <a:rPr lang="en-DE" sz="2800" b="0" i="0" u="none" strike="noStrike" kern="1200" dirty="0">
                          <a:solidFill>
                            <a:srgbClr val="000000"/>
                          </a:solidFill>
                          <a:effectLst/>
                          <a:latin typeface="Aktiv Grotesk" panose="020B0604020202020204" pitchFamily="34" charset="0"/>
                          <a:ea typeface="+mn-ea"/>
                          <a:cs typeface="+mn-cs"/>
                        </a:rPr>
                        <a:t>984,669</a:t>
                      </a:r>
                      <a:r>
                        <a:rPr lang="en-GB" sz="2800" b="0" i="0" u="none" strike="noStrike" kern="1200" noProof="0" dirty="0">
                          <a:solidFill>
                            <a:srgbClr val="000000"/>
                          </a:solidFill>
                          <a:effectLst/>
                          <a:latin typeface="Aktiv Grotesk" panose="020B0604020202020204" pitchFamily="34" charset="0"/>
                          <a:ea typeface="+mn-ea"/>
                          <a:cs typeface="+mn-cs"/>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(41,000)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r>
                        <a:rPr lang="en-GB" sz="2800" b="0" i="0" u="none" strike="noStrike" noProof="0">
                          <a:solidFill>
                            <a:srgbClr val="000000"/>
                          </a:solidFill>
                          <a:effectLst/>
                          <a:latin typeface="Aktiv Grotesk" panose="020B0604020202020204" pitchFamily="34" charset="0"/>
                        </a:rPr>
                        <a:t> £ (1,120,575)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866505"/>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ktiv Grotesk" panose="020B0604020202020204" pitchFamily="34" charset="0"/>
                        </a:rPr>
                        <a:t>Total Annual (after credits)</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endParaRPr lang="en-DE" sz="2800" b="0" i="0" u="none" strike="noStrike" kern="1200">
                        <a:solidFill>
                          <a:srgbClr val="000000"/>
                        </a:solidFill>
                        <a:effectLst/>
                        <a:latin typeface="Aktiv Grotesk"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ktiv Grotesk" panose="020B0604020202020204" pitchFamily="34" charset="0"/>
                        </a:rPr>
                        <a:t>£  </a:t>
                      </a:r>
                      <a:r>
                        <a:rPr lang="en-DE" sz="2800" b="0" i="0" u="none" strike="noStrike" kern="1200" noProof="0">
                          <a:solidFill>
                            <a:srgbClr val="000000"/>
                          </a:solidFill>
                          <a:effectLst/>
                          <a:latin typeface="Aktiv Grotesk" panose="020B0604020202020204" pitchFamily="34" charset="0"/>
                          <a:ea typeface="+mn-ea"/>
                          <a:cs typeface="+mn-cs"/>
                        </a:rPr>
                        <a:t>2,</a:t>
                      </a:r>
                      <a:r>
                        <a:rPr lang="en-DE" sz="2800" b="0" i="0" u="none" strike="noStrike" kern="1200">
                          <a:solidFill>
                            <a:srgbClr val="000000"/>
                          </a:solidFill>
                          <a:effectLst/>
                          <a:latin typeface="Aktiv Grotesk" panose="020B0604020202020204" pitchFamily="34" charset="0"/>
                          <a:ea typeface="+mn-ea"/>
                          <a:cs typeface="+mn-cs"/>
                        </a:rPr>
                        <a:t>954,008</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ktiv Grotesk" panose="020B0604020202020204" pitchFamily="34" charset="0"/>
                        </a:rPr>
                        <a:t>£  </a:t>
                      </a:r>
                      <a:r>
                        <a:rPr lang="en-DE" sz="2800" b="0" i="0" u="none" strike="noStrike" kern="1200">
                          <a:solidFill>
                            <a:srgbClr val="000000"/>
                          </a:solidFill>
                          <a:effectLst/>
                          <a:latin typeface="Aktiv Grotesk" panose="020B0604020202020204" pitchFamily="34" charset="0"/>
                          <a:ea typeface="+mn-ea"/>
                          <a:cs typeface="+mn-cs"/>
                        </a:rPr>
                        <a:t>5.056.970</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fontAlgn="b">
                        <a:buNone/>
                      </a:pPr>
                      <a:r>
                        <a:rPr lang="en-GB" sz="2800" b="0" i="0" u="none" strike="noStrike" noProof="0">
                          <a:solidFill>
                            <a:srgbClr val="000000"/>
                          </a:solidFill>
                          <a:effectLst/>
                          <a:latin typeface="Aktiv Grotesk" panose="020B0604020202020204" pitchFamily="34" charset="0"/>
                        </a:rPr>
                        <a:t>£  </a:t>
                      </a:r>
                      <a:r>
                        <a:rPr lang="en-DE" sz="2800" b="0" i="0" u="none" strike="noStrike" kern="1200" noProof="0">
                          <a:solidFill>
                            <a:srgbClr val="000000"/>
                          </a:solidFill>
                          <a:effectLst/>
                          <a:latin typeface="Aktiv Grotesk" panose="020B0604020202020204" pitchFamily="34" charset="0"/>
                          <a:ea typeface="+mn-ea"/>
                          <a:cs typeface="+mn-cs"/>
                        </a:rPr>
                        <a:t>2,</a:t>
                      </a:r>
                      <a:r>
                        <a:rPr lang="en-DE" sz="2800" b="0" i="0" u="none" strike="noStrike" kern="1200">
                          <a:solidFill>
                            <a:srgbClr val="000000"/>
                          </a:solidFill>
                          <a:effectLst/>
                          <a:latin typeface="Aktiv Grotesk" panose="020B0604020202020204" pitchFamily="34" charset="0"/>
                          <a:ea typeface="+mn-ea"/>
                          <a:cs typeface="+mn-cs"/>
                        </a:rPr>
                        <a:t>614,597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888476972"/>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endParaRPr lang="en-GB" sz="2800" b="1" i="0" u="none" strike="noStrike" noProof="0">
                        <a:solidFill>
                          <a:srgbClr val="000000"/>
                        </a:solidFill>
                        <a:effectLst/>
                        <a:latin typeface="Aktiv Grotesk" panose="020B0604020202020204" pitchFamily="34" charset="0"/>
                      </a:endParaRP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0415271"/>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95008A"/>
                          </a:solidFill>
                          <a:effectLst/>
                          <a:latin typeface="Aktiv Grotesk" panose="020B0604020202020204" pitchFamily="34" charset="0"/>
                        </a:rPr>
                        <a:t>3 Year Committed (Monthly, GBP)</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dirty="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995397442"/>
                  </a:ext>
                </a:extLst>
              </a:tr>
              <a:tr h="646225">
                <a:tc>
                  <a:txBody>
                    <a:bodyPr/>
                    <a:lstStyle/>
                    <a:p>
                      <a:pPr algn="l" fontAlgn="b"/>
                      <a:r>
                        <a:rPr lang="en-GB" sz="2800" b="1" i="0" u="none" strike="noStrike" noProof="0">
                          <a:solidFill>
                            <a:srgbClr val="000000"/>
                          </a:solidFill>
                          <a:effectLst/>
                          <a:latin typeface="Aktiv Grotesk" panose="020B0604020202020204" pitchFamily="34" charset="0"/>
                        </a:rPr>
                        <a:t>Total - Monthly</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GB" sz="2800" b="0" i="0" u="none" strike="noStrike" noProof="0">
                        <a:solidFill>
                          <a:srgbClr val="000000"/>
                        </a:solidFill>
                        <a:effectLst/>
                        <a:latin typeface="Aktiv Grotesk" panose="020B0604020202020204" pitchFamily="34" charset="0"/>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190,285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ktiv Grotesk" panose="020B0604020202020204" pitchFamily="34" charset="0"/>
                        </a:rPr>
                        <a:t>£    274,881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186,974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18224044"/>
                  </a:ext>
                </a:extLst>
              </a:tr>
              <a:tr h="646225">
                <a:tc>
                  <a:txBody>
                    <a:bodyPr/>
                    <a:lstStyle/>
                    <a:p>
                      <a:pPr marL="0" marR="0" lvl="0" indent="0" algn="l" defTabSz="1828800" rtl="0" eaLnBrk="1" fontAlgn="b" latinLnBrk="0" hangingPunct="1">
                        <a:lnSpc>
                          <a:spcPct val="100000"/>
                        </a:lnSpc>
                        <a:spcBef>
                          <a:spcPts val="0"/>
                        </a:spcBef>
                        <a:spcAft>
                          <a:spcPts val="0"/>
                        </a:spcAft>
                        <a:buClrTx/>
                        <a:buSzTx/>
                        <a:buFontTx/>
                        <a:buNone/>
                        <a:tabLst/>
                        <a:defRPr/>
                      </a:pPr>
                      <a:r>
                        <a:rPr lang="en-GB" sz="2800" b="1" i="0" u="none" strike="noStrike" noProof="0">
                          <a:solidFill>
                            <a:srgbClr val="000000"/>
                          </a:solidFill>
                          <a:effectLst/>
                          <a:latin typeface="Aktiv Grotesk" panose="020B0604020202020204" pitchFamily="34" charset="0"/>
                        </a:rPr>
                        <a:t>Total - Annual</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a:t>
                      </a:r>
                      <a:r>
                        <a:rPr lang="en-DE" sz="2800" u="none" strike="noStrike">
                          <a:effectLst/>
                          <a:latin typeface="+mn-lt"/>
                        </a:rPr>
                        <a:t>3,636,342</a:t>
                      </a:r>
                      <a:endParaRPr lang="en-DE" sz="2800" b="0" i="0" u="none" strike="noStrike" kern="1200">
                        <a:solidFill>
                          <a:srgbClr val="000000"/>
                        </a:solidFill>
                        <a:effectLst/>
                        <a:latin typeface="Aktiv Grotesk"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a:t>
                      </a:r>
                      <a:r>
                        <a:rPr lang="en-DE" sz="2800" b="0" i="0" u="none" strike="noStrike" kern="1200">
                          <a:solidFill>
                            <a:srgbClr val="000000"/>
                          </a:solidFill>
                          <a:effectLst/>
                          <a:latin typeface="Aktiv Grotesk" panose="020B0604020202020204" pitchFamily="34" charset="0"/>
                          <a:ea typeface="+mn-ea"/>
                          <a:cs typeface="+mn-cs"/>
                        </a:rPr>
                        <a:t>2,283,419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a:t>
                      </a:r>
                      <a:r>
                        <a:rPr lang="en-DE" sz="2800" b="0" i="0" u="none" strike="noStrike" kern="1200">
                          <a:solidFill>
                            <a:srgbClr val="000000"/>
                          </a:solidFill>
                          <a:effectLst/>
                          <a:latin typeface="Aktiv Grotesk" panose="020B0604020202020204" pitchFamily="34" charset="0"/>
                          <a:ea typeface="+mn-ea"/>
                          <a:cs typeface="+mn-cs"/>
                        </a:rPr>
                        <a:t>3,298,566</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ktiv Grotesk" panose="020B0604020202020204" pitchFamily="34" charset="0"/>
                        </a:rPr>
                        <a:t>£ </a:t>
                      </a:r>
                      <a:r>
                        <a:rPr lang="en-DE" sz="2800" b="0" i="0" u="none" strike="noStrike" kern="1200" dirty="0">
                          <a:solidFill>
                            <a:srgbClr val="000000"/>
                          </a:solidFill>
                          <a:effectLst/>
                          <a:latin typeface="Aktiv Grotesk" panose="020B0604020202020204" pitchFamily="34" charset="0"/>
                          <a:ea typeface="+mn-ea"/>
                          <a:cs typeface="+mn-cs"/>
                        </a:rPr>
                        <a:t>2,243,685</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47608248"/>
                  </a:ext>
                </a:extLst>
              </a:tr>
              <a:tr h="646225">
                <a:tc>
                  <a:txBody>
                    <a:bodyPr/>
                    <a:lstStyle/>
                    <a:p>
                      <a:pPr algn="l" fontAlgn="b"/>
                      <a:r>
                        <a:rPr lang="en-GB" sz="2800" b="1" i="0" u="none" strike="noStrike" noProof="0">
                          <a:solidFill>
                            <a:srgbClr val="000000"/>
                          </a:solidFill>
                          <a:effectLst/>
                          <a:latin typeface="Aktiv Grotesk" panose="020B0604020202020204" pitchFamily="34" charset="0"/>
                        </a:rPr>
                        <a:t>Total - 3 Year Cumulative</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endParaRPr lang="en-DE" sz="2800" b="0" i="0" u="none" strike="noStrike" kern="1200">
                        <a:solidFill>
                          <a:srgbClr val="000000"/>
                        </a:solidFill>
                        <a:effectLst/>
                        <a:latin typeface="Aktiv Grotesk" panose="020B0604020202020204" pitchFamily="34" charset="0"/>
                        <a:ea typeface="+mn-ea"/>
                        <a:cs typeface="+mn-cs"/>
                      </a:endParaRP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a:t>
                      </a:r>
                      <a:r>
                        <a:rPr lang="en-DE" sz="2800" b="0" i="0" u="none" strike="noStrike" kern="1200">
                          <a:solidFill>
                            <a:srgbClr val="000000"/>
                          </a:solidFill>
                          <a:effectLst/>
                          <a:latin typeface="Aktiv Grotesk" panose="020B0604020202020204" pitchFamily="34" charset="0"/>
                          <a:ea typeface="+mn-ea"/>
                          <a:cs typeface="+mn-cs"/>
                        </a:rPr>
                        <a:t>6,850,257</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a:solidFill>
                            <a:srgbClr val="000000"/>
                          </a:solidFill>
                          <a:effectLst/>
                          <a:latin typeface="Aktiv Grotesk" panose="020B0604020202020204" pitchFamily="34" charset="0"/>
                        </a:rPr>
                        <a:t>£ </a:t>
                      </a:r>
                      <a:r>
                        <a:rPr lang="en-DE" sz="2800" b="0" i="0" u="none" strike="noStrike" kern="1200">
                          <a:solidFill>
                            <a:srgbClr val="000000"/>
                          </a:solidFill>
                          <a:effectLst/>
                          <a:latin typeface="Aktiv Grotesk" panose="020B0604020202020204" pitchFamily="34" charset="0"/>
                          <a:ea typeface="+mn-ea"/>
                          <a:cs typeface="+mn-cs"/>
                        </a:rPr>
                        <a:t>9,895,699</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1828800" rtl="0" eaLnBrk="1" fontAlgn="ctr" latinLnBrk="0" hangingPunct="1">
                        <a:lnSpc>
                          <a:spcPct val="100000"/>
                        </a:lnSpc>
                        <a:spcBef>
                          <a:spcPts val="0"/>
                        </a:spcBef>
                        <a:spcAft>
                          <a:spcPts val="0"/>
                        </a:spcAft>
                        <a:buClrTx/>
                        <a:buSzTx/>
                        <a:buFontTx/>
                        <a:buNone/>
                        <a:tabLst/>
                        <a:defRPr/>
                      </a:pPr>
                      <a:r>
                        <a:rPr lang="en-GB" sz="2800" b="0" i="0" u="none" strike="noStrike" noProof="0" dirty="0">
                          <a:solidFill>
                            <a:srgbClr val="000000"/>
                          </a:solidFill>
                          <a:effectLst/>
                          <a:latin typeface="Aktiv Grotesk" panose="020B0604020202020204" pitchFamily="34" charset="0"/>
                        </a:rPr>
                        <a:t>£ </a:t>
                      </a:r>
                      <a:r>
                        <a:rPr lang="en-DE" sz="2800" b="0" i="0" u="none" strike="noStrike" kern="1200" dirty="0">
                          <a:solidFill>
                            <a:srgbClr val="000000"/>
                          </a:solidFill>
                          <a:effectLst/>
                          <a:latin typeface="Aktiv Grotesk" panose="020B0604020202020204" pitchFamily="34" charset="0"/>
                          <a:ea typeface="+mn-ea"/>
                          <a:cs typeface="+mn-cs"/>
                        </a:rPr>
                        <a:t>6,731,054</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2303735"/>
                  </a:ext>
                </a:extLst>
              </a:tr>
            </a:tbl>
          </a:graphicData>
        </a:graphic>
      </p:graphicFrame>
      <p:sp>
        <p:nvSpPr>
          <p:cNvPr id="5" name="TextBox 4">
            <a:extLst>
              <a:ext uri="{FF2B5EF4-FFF2-40B4-BE49-F238E27FC236}">
                <a16:creationId xmlns:a16="http://schemas.microsoft.com/office/drawing/2014/main" id="{1A3EE6A9-3E55-C726-0530-53A3012A3A5E}"/>
              </a:ext>
            </a:extLst>
          </p:cNvPr>
          <p:cNvSpPr txBox="1"/>
          <p:nvPr/>
        </p:nvSpPr>
        <p:spPr>
          <a:xfrm>
            <a:off x="21438347" y="497280"/>
            <a:ext cx="2236510" cy="1477328"/>
          </a:xfrm>
          <a:prstGeom prst="rect">
            <a:avLst/>
          </a:prstGeom>
          <a:noFill/>
        </p:spPr>
        <p:txBody>
          <a:bodyPr wrap="none" rtlCol="0">
            <a:spAutoFit/>
          </a:bodyPr>
          <a:lstStyle/>
          <a:p>
            <a:pPr algn="l"/>
            <a:r>
              <a:rPr lang="en-GB" sz="1800" noProof="0">
                <a:solidFill>
                  <a:schemeClr val="bg2"/>
                </a:solidFill>
              </a:rPr>
              <a:t>TBC:</a:t>
            </a:r>
          </a:p>
          <a:p>
            <a:pPr marL="285750" indent="-285750" algn="l">
              <a:buFontTx/>
              <a:buChar char="-"/>
            </a:pPr>
            <a:r>
              <a:rPr lang="en-GB" noProof="0">
                <a:solidFill>
                  <a:schemeClr val="bg2"/>
                </a:solidFill>
              </a:rPr>
              <a:t>Backup</a:t>
            </a:r>
          </a:p>
          <a:p>
            <a:pPr marL="285750" indent="-285750" algn="l">
              <a:buFontTx/>
              <a:buChar char="-"/>
            </a:pPr>
            <a:r>
              <a:rPr lang="en-GB" sz="1800" noProof="0">
                <a:solidFill>
                  <a:schemeClr val="bg2"/>
                </a:solidFill>
              </a:rPr>
              <a:t>DB Costs</a:t>
            </a:r>
          </a:p>
          <a:p>
            <a:pPr algn="l"/>
            <a:r>
              <a:rPr lang="en-GB" sz="1800" noProof="0">
                <a:solidFill>
                  <a:schemeClr val="bg2"/>
                </a:solidFill>
              </a:rPr>
              <a:t>- Operations Costs?</a:t>
            </a:r>
          </a:p>
          <a:p>
            <a:pPr algn="l"/>
            <a:r>
              <a:rPr lang="en-GB" noProof="0">
                <a:solidFill>
                  <a:schemeClr val="bg2"/>
                </a:solidFill>
              </a:rPr>
              <a:t>- Migration Costs?</a:t>
            </a:r>
            <a:endParaRPr lang="en-GB" sz="1800" noProof="0">
              <a:solidFill>
                <a:schemeClr val="bg2"/>
              </a:solidFill>
            </a:endParaRPr>
          </a:p>
        </p:txBody>
      </p:sp>
      <p:pic>
        <p:nvPicPr>
          <p:cNvPr id="6" name="Picture 5"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7161758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1318D-4533-8B7B-7D17-4A4584F3375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93AABD-9AFC-ACCB-CA3F-4B95BDEE79FD}"/>
              </a:ext>
            </a:extLst>
          </p:cNvPr>
          <p:cNvSpPr txBox="1"/>
          <p:nvPr/>
        </p:nvSpPr>
        <p:spPr>
          <a:xfrm>
            <a:off x="406009" y="473476"/>
            <a:ext cx="8965916" cy="1046440"/>
          </a:xfrm>
          <a:prstGeom prst="rect">
            <a:avLst/>
          </a:prstGeom>
          <a:noFill/>
        </p:spPr>
        <p:txBody>
          <a:bodyPr wrap="none" rtlCol="0">
            <a:spAutoFit/>
          </a:bodyPr>
          <a:lstStyle/>
          <a:p>
            <a:r>
              <a:rPr lang="en-US" sz="6200">
                <a:solidFill>
                  <a:srgbClr val="FF0000"/>
                </a:solidFill>
                <a:latin typeface="Fira Sans Light" panose="020B0403050000020004" pitchFamily="34" charset="0"/>
              </a:rPr>
              <a:t>[Client] – On-Premise Costs</a:t>
            </a:r>
            <a:endParaRPr lang="en-GB" sz="6200">
              <a:solidFill>
                <a:srgbClr val="FF0000"/>
              </a:solidFill>
              <a:latin typeface="Fira Sans Light" panose="020B0403050000020004" pitchFamily="34" charset="0"/>
            </a:endParaRPr>
          </a:p>
        </p:txBody>
      </p:sp>
      <p:graphicFrame>
        <p:nvGraphicFramePr>
          <p:cNvPr id="6" name="Table 5">
            <a:extLst>
              <a:ext uri="{FF2B5EF4-FFF2-40B4-BE49-F238E27FC236}">
                <a16:creationId xmlns:a16="http://schemas.microsoft.com/office/drawing/2014/main" id="{DFEAFBD0-B91A-6083-759D-B32598539DD2}"/>
              </a:ext>
            </a:extLst>
          </p:cNvPr>
          <p:cNvGraphicFramePr>
            <a:graphicFrameLocks noGrp="1"/>
          </p:cNvGraphicFramePr>
          <p:nvPr>
            <p:extLst>
              <p:ext uri="{D42A27DB-BD31-4B8C-83A1-F6EECF244321}">
                <p14:modId xmlns:p14="http://schemas.microsoft.com/office/powerpoint/2010/main" val="377275900"/>
              </p:ext>
            </p:extLst>
          </p:nvPr>
        </p:nvGraphicFramePr>
        <p:xfrm>
          <a:off x="419572" y="2322003"/>
          <a:ext cx="23544855" cy="10507346"/>
        </p:xfrm>
        <a:graphic>
          <a:graphicData uri="http://schemas.openxmlformats.org/drawingml/2006/table">
            <a:tbl>
              <a:tblPr>
                <a:tableStyleId>{5C22544A-7EE6-4342-B048-85BDC9FD1C3A}</a:tableStyleId>
              </a:tblPr>
              <a:tblGrid>
                <a:gridCol w="2213172">
                  <a:extLst>
                    <a:ext uri="{9D8B030D-6E8A-4147-A177-3AD203B41FA5}">
                      <a16:colId xmlns:a16="http://schemas.microsoft.com/office/drawing/2014/main" val="817237507"/>
                    </a:ext>
                  </a:extLst>
                </a:gridCol>
                <a:gridCol w="1988864">
                  <a:extLst>
                    <a:ext uri="{9D8B030D-6E8A-4147-A177-3AD203B41FA5}">
                      <a16:colId xmlns:a16="http://schemas.microsoft.com/office/drawing/2014/main" val="2958723704"/>
                    </a:ext>
                  </a:extLst>
                </a:gridCol>
                <a:gridCol w="4184370">
                  <a:extLst>
                    <a:ext uri="{9D8B030D-6E8A-4147-A177-3AD203B41FA5}">
                      <a16:colId xmlns:a16="http://schemas.microsoft.com/office/drawing/2014/main" val="3762254360"/>
                    </a:ext>
                  </a:extLst>
                </a:gridCol>
                <a:gridCol w="5565551">
                  <a:extLst>
                    <a:ext uri="{9D8B030D-6E8A-4147-A177-3AD203B41FA5}">
                      <a16:colId xmlns:a16="http://schemas.microsoft.com/office/drawing/2014/main" val="925842505"/>
                    </a:ext>
                  </a:extLst>
                </a:gridCol>
                <a:gridCol w="1555802">
                  <a:extLst>
                    <a:ext uri="{9D8B030D-6E8A-4147-A177-3AD203B41FA5}">
                      <a16:colId xmlns:a16="http://schemas.microsoft.com/office/drawing/2014/main" val="1430550261"/>
                    </a:ext>
                  </a:extLst>
                </a:gridCol>
                <a:gridCol w="1348981">
                  <a:extLst>
                    <a:ext uri="{9D8B030D-6E8A-4147-A177-3AD203B41FA5}">
                      <a16:colId xmlns:a16="http://schemas.microsoft.com/office/drawing/2014/main" val="3859044359"/>
                    </a:ext>
                  </a:extLst>
                </a:gridCol>
                <a:gridCol w="976479">
                  <a:extLst>
                    <a:ext uri="{9D8B030D-6E8A-4147-A177-3AD203B41FA5}">
                      <a16:colId xmlns:a16="http://schemas.microsoft.com/office/drawing/2014/main" val="1512500502"/>
                    </a:ext>
                  </a:extLst>
                </a:gridCol>
                <a:gridCol w="1323224">
                  <a:extLst>
                    <a:ext uri="{9D8B030D-6E8A-4147-A177-3AD203B41FA5}">
                      <a16:colId xmlns:a16="http://schemas.microsoft.com/office/drawing/2014/main" val="2267847870"/>
                    </a:ext>
                  </a:extLst>
                </a:gridCol>
                <a:gridCol w="1828243">
                  <a:extLst>
                    <a:ext uri="{9D8B030D-6E8A-4147-A177-3AD203B41FA5}">
                      <a16:colId xmlns:a16="http://schemas.microsoft.com/office/drawing/2014/main" val="49976747"/>
                    </a:ext>
                  </a:extLst>
                </a:gridCol>
                <a:gridCol w="1083095">
                  <a:extLst>
                    <a:ext uri="{9D8B030D-6E8A-4147-A177-3AD203B41FA5}">
                      <a16:colId xmlns:a16="http://schemas.microsoft.com/office/drawing/2014/main" val="1886982422"/>
                    </a:ext>
                  </a:extLst>
                </a:gridCol>
                <a:gridCol w="1477074">
                  <a:extLst>
                    <a:ext uri="{9D8B030D-6E8A-4147-A177-3AD203B41FA5}">
                      <a16:colId xmlns:a16="http://schemas.microsoft.com/office/drawing/2014/main" val="2176566093"/>
                    </a:ext>
                  </a:extLst>
                </a:gridCol>
              </a:tblGrid>
              <a:tr h="613703">
                <a:tc>
                  <a:txBody>
                    <a:bodyPr/>
                    <a:lstStyle/>
                    <a:p>
                      <a:pPr algn="l" fontAlgn="b">
                        <a:buNone/>
                      </a:pPr>
                      <a:r>
                        <a:rPr lang="en-GB" sz="1600" u="none" strike="noStrike">
                          <a:effectLst/>
                          <a:latin typeface="+mn-lt"/>
                        </a:rPr>
                        <a:t>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Subcategory</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Cost Item</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Description / Scope</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Vendor</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Portability / Entitlements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Cost Type </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Input Basis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Input Amount (GBP)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ctr" fontAlgn="b">
                        <a:buNone/>
                      </a:pPr>
                      <a:r>
                        <a:rPr lang="en-GB" sz="1600" u="none" strike="noStrike">
                          <a:effectLst/>
                          <a:latin typeface="+mn-lt"/>
                        </a:rPr>
                        <a:t>Dep. (yrs)</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tc>
                  <a:txBody>
                    <a:bodyPr/>
                    <a:lstStyle/>
                    <a:p>
                      <a:pPr algn="l" fontAlgn="b">
                        <a:buNone/>
                      </a:pPr>
                      <a:r>
                        <a:rPr lang="en-GB" sz="1600" u="none" strike="noStrike">
                          <a:effectLst/>
                          <a:latin typeface="+mn-lt"/>
                        </a:rPr>
                        <a:t>Annualized Cost </a:t>
                      </a:r>
                    </a:p>
                    <a:p>
                      <a:pPr algn="l" fontAlgn="b">
                        <a:buNone/>
                      </a:pPr>
                      <a:r>
                        <a:rPr lang="en-GB" sz="1600" u="none" strike="noStrike">
                          <a:effectLst/>
                          <a:latin typeface="+mn-lt"/>
                        </a:rPr>
                        <a:t>(GBP)</a:t>
                      </a:r>
                      <a:endParaRPr lang="en-GB" sz="1600" b="1" i="0" u="none" strike="noStrike">
                        <a:solidFill>
                          <a:srgbClr val="FFFFFF"/>
                        </a:solidFill>
                        <a:effectLst/>
                        <a:latin typeface="+mn-lt"/>
                      </a:endParaRPr>
                    </a:p>
                  </a:txBody>
                  <a:tcPr marL="0" marR="0" marT="0" marB="0" anchor="b">
                    <a:solidFill>
                      <a:schemeClr val="accent4">
                        <a:lumMod val="20000"/>
                        <a:lumOff val="80000"/>
                      </a:schemeClr>
                    </a:solidFill>
                  </a:tcPr>
                </a:tc>
                <a:extLst>
                  <a:ext uri="{0D108BD9-81ED-4DB2-BD59-A6C34878D82A}">
                    <a16:rowId xmlns:a16="http://schemas.microsoft.com/office/drawing/2014/main" val="3263377493"/>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Server hardware costs (purchase/lease)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Purchase/lease costs; include depreciation schedule and refresh cycle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£1.262.234</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£252.447</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62521062"/>
                  </a:ext>
                </a:extLst>
              </a:tr>
              <a:tr h="486092">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Hardware 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Annual maintenance/support for server hardware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262480684"/>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Storage (SAN/NAS + backup)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SAN/NAS + backup infrastructure (capex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£1.451.571</a:t>
                      </a:r>
                      <a:endParaRPr lang="en-DE" sz="1600" b="0" i="0" u="none" strike="noStrike">
                        <a:solidFill>
                          <a:srgbClr val="000000"/>
                        </a:solidFill>
                        <a:effectLst/>
                        <a:latin typeface="+mn-lt"/>
                      </a:endParaRPr>
                    </a:p>
                  </a:txBody>
                  <a:tcPr marL="0" marR="0" marT="0" marB="0" anchor="b"/>
                </a:tc>
                <a:tc>
                  <a:txBody>
                    <a:bodyPr/>
                    <a:lstStyle/>
                    <a:p>
                      <a:pPr algn="ctr" fontAlgn="b">
                        <a:buNone/>
                      </a:pPr>
                      <a:r>
                        <a:rPr lang="en-DE" sz="1600" u="none" strike="noStrike">
                          <a:effectLst/>
                          <a:latin typeface="+mn-lt"/>
                        </a:rPr>
                        <a:t>5</a:t>
                      </a: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£290.314</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857807296"/>
                  </a:ext>
                </a:extLst>
              </a:tr>
              <a:tr h="323073">
                <a:tc>
                  <a:txBody>
                    <a:bodyPr/>
                    <a:lstStyle/>
                    <a:p>
                      <a:pPr algn="l" fontAlgn="b">
                        <a:buNone/>
                      </a:pPr>
                      <a:r>
                        <a:rPr lang="en-GB" sz="1600" u="none" strike="noStrike">
                          <a:effectLst/>
                          <a:latin typeface="+mn-lt"/>
                        </a:rPr>
                        <a:t>Compute &amp; Storage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Virtualization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licensing (vSphere/vCenter/vSAN)</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Include vSphere, vCenter, vSAN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317914946"/>
                  </a:ext>
                </a:extLst>
              </a:tr>
              <a:tr h="729137">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Windows Server licensing for on-prem infrastructure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Software Assurance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£136.825</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247274452"/>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Linux (RHEL/SUSE)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If applicable: RHEL/SUSE subscriptions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Red Hat/SUSE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not typical</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£71.000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684986744"/>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Operating System</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Ubuntu patching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Landscape/Ubuntu support and patching tools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Canonical/TBD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79391118"/>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SQL Server licensing (core/CAL as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SA / 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£118.968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062499836"/>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 Support/Maintenance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Per-core/per-socket details help</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Oracle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terms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£650.000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11089710"/>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NCS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£568.000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15972946"/>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Database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 enterprise subscription/support if used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MySQL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BYOL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449498065"/>
                  </a:ext>
                </a:extLst>
              </a:tr>
              <a:tr h="486092">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Security / 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 / Guardicore (if applicable)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Any other commercial software tied to infrastructure - Per Server!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Tenable/Guardicore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Portability 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£443.888</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662881892"/>
                  </a:ext>
                </a:extLst>
              </a:tr>
              <a:tr h="323073">
                <a:tc>
                  <a:txBody>
                    <a:bodyPr/>
                    <a:lstStyle/>
                    <a:p>
                      <a:pPr algn="l" fontAlgn="b">
                        <a:buNone/>
                      </a:pPr>
                      <a:r>
                        <a:rPr lang="en-GB" sz="1600" u="none" strike="noStrike">
                          <a:effectLst/>
                          <a:latin typeface="+mn-lt"/>
                        </a:rPr>
                        <a:t>Software Licensing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Other commercial infra software (none yet)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Placeholder for any additional commercial infra software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997611663"/>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Reading</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Centre Square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£386.400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20657974"/>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Slough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Digital Realty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£338.300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57246388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Colocation / facility costs - Sydney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Power, cooling, rack space; per site if different (MOL vs ANL)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Equinix</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£40.000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592042041"/>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Interconnect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Bandwidth / interconnect costs between sites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£1.600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£19.200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60799528"/>
                  </a:ext>
                </a:extLst>
              </a:tr>
              <a:tr h="323073">
                <a:tc>
                  <a:txBody>
                    <a:bodyPr/>
                    <a:lstStyle/>
                    <a:p>
                      <a:pPr algn="l" fontAlgn="b">
                        <a:buNone/>
                      </a:pPr>
                      <a:r>
                        <a:rPr lang="en-GB" sz="1600" u="none" strike="noStrike">
                          <a:effectLst/>
                          <a:latin typeface="+mn-lt"/>
                        </a:rPr>
                        <a:t>Facilities &amp; Network</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WAN/Internet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Internet connectivity (egress) costs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ISP/TBD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Monthly</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£96.000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3942320371"/>
                  </a:ext>
                </a:extLst>
              </a:tr>
              <a:tr h="243045">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Vendor support contracts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All vendor support contracts for infra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052647517"/>
                  </a:ext>
                </a:extLst>
              </a:tr>
              <a:tr h="323073">
                <a:tc>
                  <a:txBody>
                    <a:bodyPr/>
                    <a:lstStyle/>
                    <a:p>
                      <a:pPr algn="l" fontAlgn="b">
                        <a:buNone/>
                      </a:pPr>
                      <a:r>
                        <a:rPr lang="en-GB" sz="1600" u="none" strike="noStrike">
                          <a:effectLst/>
                          <a:latin typeface="+mn-lt"/>
                        </a:rPr>
                        <a:t>Operations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People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Infra management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IT staff dedicated to physical infra management (approx FTE)</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Internal</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£100.000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1369484980"/>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Existing contract lock-ins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VMware EA, hardware leases, colo agreements and end dates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858471873"/>
                  </a:ext>
                </a:extLst>
              </a:tr>
              <a:tr h="486092">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Refresh</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hardware refreshes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Planned capex refreshes in next  12-24 months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N/A</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Capex</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£200.000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l" fontAlgn="b">
                        <a:buNone/>
                      </a:pP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4091239466"/>
                  </a:ext>
                </a:extLst>
              </a:tr>
              <a:tr h="729137">
                <a:tc>
                  <a:txBody>
                    <a:bodyPr/>
                    <a:lstStyle/>
                    <a:p>
                      <a:pPr algn="l" fontAlgn="b">
                        <a:buNone/>
                      </a:pPr>
                      <a:r>
                        <a:rPr lang="en-GB" sz="1600" u="none" strike="noStrike">
                          <a:effectLst/>
                          <a:latin typeface="+mn-lt"/>
                        </a:rPr>
                        <a:t>Contracts &amp; Commitments</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Microsoft Support (MS Family)</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Support that may need replacing if moving from MS EA</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Bluesource (Accredited Partner)</a:t>
                      </a:r>
                      <a:endParaRPr lang="en-GB" sz="1600" b="0" i="0" u="none" strike="noStrike">
                        <a:solidFill>
                          <a:srgbClr val="000000"/>
                        </a:solidFill>
                        <a:effectLst/>
                        <a:latin typeface="+mn-lt"/>
                      </a:endParaRPr>
                    </a:p>
                  </a:txBody>
                  <a:tcPr marL="0" marR="0" marT="0" marB="0" anchor="b"/>
                </a:tc>
                <a:tc>
                  <a:txBody>
                    <a:bodyPr/>
                    <a:lstStyle/>
                    <a:p>
                      <a:pPr algn="l" fontAlgn="b">
                        <a:buNone/>
                      </a:pPr>
                      <a:r>
                        <a:rPr lang="en-GB" sz="1600" u="none" strike="noStrike">
                          <a:effectLst/>
                          <a:latin typeface="+mn-lt"/>
                        </a:rPr>
                        <a:t>TBD</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Opex</a:t>
                      </a:r>
                      <a:endParaRPr lang="en-GB" sz="1600" b="0" i="0" u="none" strike="noStrike">
                        <a:solidFill>
                          <a:srgbClr val="000000"/>
                        </a:solidFill>
                        <a:effectLst/>
                        <a:latin typeface="+mn-lt"/>
                      </a:endParaRPr>
                    </a:p>
                  </a:txBody>
                  <a:tcPr marL="0" marR="0" marT="0" marB="0" anchor="b"/>
                </a:tc>
                <a:tc>
                  <a:txBody>
                    <a:bodyPr/>
                    <a:lstStyle/>
                    <a:p>
                      <a:pPr algn="ctr" fontAlgn="b">
                        <a:buNone/>
                      </a:pPr>
                      <a:r>
                        <a:rPr lang="en-GB" sz="1600" u="none" strike="noStrike">
                          <a:effectLst/>
                          <a:latin typeface="+mn-lt"/>
                        </a:rPr>
                        <a:t>Annual</a:t>
                      </a:r>
                      <a:endParaRPr lang="en-GB"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tc>
                  <a:txBody>
                    <a:bodyPr/>
                    <a:lstStyle/>
                    <a:p>
                      <a:pPr algn="ctr" fontAlgn="b">
                        <a:buNone/>
                      </a:pPr>
                      <a:endParaRPr lang="en-DE" sz="1600" b="0" i="0" u="none" strike="noStrike">
                        <a:solidFill>
                          <a:srgbClr val="000000"/>
                        </a:solidFill>
                        <a:effectLst/>
                        <a:latin typeface="+mn-lt"/>
                      </a:endParaRPr>
                    </a:p>
                  </a:txBody>
                  <a:tcPr marL="0" marR="0" marT="0" marB="0" anchor="b"/>
                </a:tc>
                <a:tc>
                  <a:txBody>
                    <a:bodyPr/>
                    <a:lstStyle/>
                    <a:p>
                      <a:pPr algn="r" fontAlgn="b">
                        <a:buNone/>
                      </a:pPr>
                      <a:r>
                        <a:rPr lang="en-DE" sz="1600" u="none" strike="noStrike">
                          <a:effectLst/>
                          <a:latin typeface="+mn-lt"/>
                        </a:rPr>
                        <a:t>£80.000</a:t>
                      </a:r>
                      <a:endParaRPr lang="en-DE" sz="1600" b="0" i="0" u="none" strike="noStrike">
                        <a:solidFill>
                          <a:srgbClr val="000000"/>
                        </a:solidFill>
                        <a:effectLst/>
                        <a:latin typeface="+mn-lt"/>
                      </a:endParaRPr>
                    </a:p>
                  </a:txBody>
                  <a:tcPr marL="0" marR="0" marT="0" marB="0" anchor="b"/>
                </a:tc>
                <a:extLst>
                  <a:ext uri="{0D108BD9-81ED-4DB2-BD59-A6C34878D82A}">
                    <a16:rowId xmlns:a16="http://schemas.microsoft.com/office/drawing/2014/main" val="2463081317"/>
                  </a:ext>
                </a:extLst>
              </a:tr>
              <a:tr h="486092">
                <a:tc>
                  <a:txBody>
                    <a:bodyPr/>
                    <a:lstStyle/>
                    <a:p>
                      <a:pPr algn="l" fontAlgn="b">
                        <a:buNone/>
                      </a:pPr>
                      <a:r>
                        <a:rPr lang="en-GB" sz="1600" u="none" strike="noStrike">
                          <a:effectLst/>
                          <a:latin typeface="+mn-lt"/>
                        </a:rPr>
                        <a:t>Total</a:t>
                      </a:r>
                      <a:endParaRPr lang="en-GB"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l" fontAlgn="b">
                        <a:buNone/>
                      </a:pPr>
                      <a:endParaRPr lang="en-DE" sz="1600" b="1" i="0" u="none" strike="noStrike">
                        <a:solidFill>
                          <a:srgbClr val="FFFFFF"/>
                        </a:solidFill>
                        <a:effectLst/>
                        <a:latin typeface="+mn-lt"/>
                      </a:endParaRPr>
                    </a:p>
                    <a:p>
                      <a:pPr algn="l"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latin typeface="+mn-lt"/>
                        </a:rPr>
                        <a:t> £ 5.901.786 </a:t>
                      </a:r>
                      <a:endParaRPr lang="en-DE" sz="1600" b="1" i="0" u="none" strike="noStrike">
                        <a:solidFill>
                          <a:srgbClr val="FFFFFF"/>
                        </a:solidFill>
                        <a:effectLst/>
                        <a:latin typeface="+mn-lt"/>
                      </a:endParaRPr>
                    </a:p>
                  </a:txBody>
                  <a:tcPr marL="0" marR="0" marT="0" marB="0" anchor="b"/>
                </a:tc>
                <a:tc>
                  <a:txBody>
                    <a:bodyPr/>
                    <a:lstStyle/>
                    <a:p>
                      <a:pPr algn="ctr" fontAlgn="b">
                        <a:buNone/>
                      </a:pPr>
                      <a:endParaRPr lang="en-DE" sz="1600" b="1" i="0" u="none" strike="noStrike">
                        <a:solidFill>
                          <a:srgbClr val="FFFFFF"/>
                        </a:solidFill>
                        <a:effectLst/>
                        <a:latin typeface="+mn-lt"/>
                      </a:endParaRPr>
                    </a:p>
                  </a:txBody>
                  <a:tcPr marL="0" marR="0" marT="0" marB="0" anchor="b"/>
                </a:tc>
                <a:tc>
                  <a:txBody>
                    <a:bodyPr/>
                    <a:lstStyle/>
                    <a:p>
                      <a:pPr algn="r" fontAlgn="b">
                        <a:buNone/>
                      </a:pPr>
                      <a:r>
                        <a:rPr lang="en-DE" sz="1600" u="none" strike="noStrike">
                          <a:effectLst/>
                          <a:highlight>
                            <a:srgbClr val="FFFF00"/>
                          </a:highlight>
                          <a:latin typeface="+mn-lt"/>
                        </a:rPr>
                        <a:t> £ </a:t>
                      </a:r>
                      <a:r>
                        <a:rPr lang="en-DE" sz="1600" b="1" u="none" strike="noStrike">
                          <a:effectLst/>
                          <a:highlight>
                            <a:srgbClr val="FFFF00"/>
                          </a:highlight>
                          <a:latin typeface="+mn-lt"/>
                        </a:rPr>
                        <a:t>3.636.342 </a:t>
                      </a:r>
                      <a:endParaRPr lang="en-DE" sz="1600" b="1" i="0" u="none" strike="noStrike">
                        <a:solidFill>
                          <a:srgbClr val="FFFFFF"/>
                        </a:solidFill>
                        <a:effectLst/>
                        <a:highlight>
                          <a:srgbClr val="FFFF00"/>
                        </a:highlight>
                        <a:latin typeface="+mn-lt"/>
                      </a:endParaRPr>
                    </a:p>
                  </a:txBody>
                  <a:tcPr marL="0" marR="0" marT="0" marB="0" anchor="b"/>
                </a:tc>
                <a:extLst>
                  <a:ext uri="{0D108BD9-81ED-4DB2-BD59-A6C34878D82A}">
                    <a16:rowId xmlns:a16="http://schemas.microsoft.com/office/drawing/2014/main" val="1767475843"/>
                  </a:ext>
                </a:extLst>
              </a:tr>
            </a:tbl>
          </a:graphicData>
        </a:graphic>
      </p:graphicFrame>
      <p:pic>
        <p:nvPicPr>
          <p:cNvPr id="7" name="Picture 6"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7182909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7F535-EFF8-AD85-FB6E-AF047C2C076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EFE05D7-021A-4B23-461F-C7CC56DEBEF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23</a:t>
            </a:fld>
            <a:endParaRPr lang="en-GB" noProof="0"/>
          </a:p>
        </p:txBody>
      </p:sp>
      <p:sp>
        <p:nvSpPr>
          <p:cNvPr id="4" name="TextBox 3">
            <a:extLst>
              <a:ext uri="{FF2B5EF4-FFF2-40B4-BE49-F238E27FC236}">
                <a16:creationId xmlns:a16="http://schemas.microsoft.com/office/drawing/2014/main" id="{32202BA8-5466-CFFB-A193-D1102FCDCF8D}"/>
              </a:ext>
            </a:extLst>
          </p:cNvPr>
          <p:cNvSpPr txBox="1"/>
          <p:nvPr/>
        </p:nvSpPr>
        <p:spPr>
          <a:xfrm>
            <a:off x="406009" y="473476"/>
            <a:ext cx="21331044" cy="1046440"/>
          </a:xfrm>
          <a:prstGeom prst="rect">
            <a:avLst/>
          </a:prstGeom>
          <a:noFill/>
        </p:spPr>
        <p:txBody>
          <a:bodyPr wrap="square" rtlCol="0">
            <a:spAutoFit/>
          </a:bodyPr>
          <a:lstStyle/>
          <a:p>
            <a:pPr algn="l"/>
            <a:r>
              <a:rPr lang="en-GB" sz="6200">
                <a:solidFill>
                  <a:srgbClr val="FF0000"/>
                </a:solidFill>
                <a:latin typeface="Fira Sans Light" panose="020B0403050000020004" pitchFamily="34" charset="0"/>
              </a:rPr>
              <a:t>Cloud Infra Cost Comparison – PAYG vs. 3 Year Commitment</a:t>
            </a:r>
            <a:endParaRPr lang="en-GB" sz="6200" noProof="0">
              <a:solidFill>
                <a:srgbClr val="FF0000"/>
              </a:solidFill>
              <a:latin typeface="Fira Sans Light" panose="020B0403050000020004" pitchFamily="34" charset="0"/>
            </a:endParaRPr>
          </a:p>
        </p:txBody>
      </p:sp>
      <p:sp>
        <p:nvSpPr>
          <p:cNvPr id="11" name="TextBox 10">
            <a:extLst>
              <a:ext uri="{FF2B5EF4-FFF2-40B4-BE49-F238E27FC236}">
                <a16:creationId xmlns:a16="http://schemas.microsoft.com/office/drawing/2014/main" id="{E1907E8D-B628-F175-3FEB-B9BB65AFB266}"/>
              </a:ext>
            </a:extLst>
          </p:cNvPr>
          <p:cNvSpPr txBox="1"/>
          <p:nvPr/>
        </p:nvSpPr>
        <p:spPr>
          <a:xfrm>
            <a:off x="293714" y="2767695"/>
            <a:ext cx="11240560" cy="5262979"/>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ktiv Grotesk" panose="020B0604020202020204" pitchFamily="34" charset="0"/>
              <a:buChar char="•"/>
            </a:pPr>
            <a:r>
              <a:rPr lang="en-GB" sz="2800">
                <a:latin typeface="Fira Sans" panose="020B0503050000020004" pitchFamily="34" charset="0"/>
              </a:rPr>
              <a:t>AWS + GCP pricing are very closely matched (2%)</a:t>
            </a:r>
          </a:p>
          <a:p>
            <a:pPr marL="285750" indent="-285750" algn="l">
              <a:buClr>
                <a:srgbClr val="FF0000"/>
              </a:buClr>
              <a:buFont typeface="Aktiv Grotesk" panose="020B0604020202020204" pitchFamily="34" charset="0"/>
              <a:buChar char="•"/>
            </a:pPr>
            <a:r>
              <a:rPr lang="en-GB" sz="2800">
                <a:latin typeface="Fira Sans" panose="020B0503050000020004" pitchFamily="34" charset="0"/>
              </a:rPr>
              <a:t>We priced independent of the Hyperscaler offerings</a:t>
            </a:r>
          </a:p>
          <a:p>
            <a:pPr marL="285750" indent="-285750" algn="l">
              <a:buClr>
                <a:srgbClr val="FF0000"/>
              </a:buClr>
              <a:buFont typeface="Aktiv Grotesk" panose="020B0604020202020204" pitchFamily="34" charset="0"/>
              <a:buChar char="•"/>
            </a:pPr>
            <a:r>
              <a:rPr lang="en-GB" sz="2800">
                <a:latin typeface="Fira Sans" panose="020B0503050000020004" pitchFamily="34" charset="0"/>
              </a:rPr>
              <a:t>Same source data was fed to all three hyperscaler tools</a:t>
            </a:r>
            <a:endParaRPr lang="en-DE" sz="2800">
              <a:latin typeface="Fira Sans" panose="020B0503050000020004" pitchFamily="34" charset="0"/>
            </a:endParaRPr>
          </a:p>
          <a:p>
            <a:pPr marL="742950" lvl="1" indent="-285750">
              <a:buClr>
                <a:srgbClr val="FF0000"/>
              </a:buClr>
              <a:buFont typeface="Aktiv Grotesk" panose="020B0604020202020204" pitchFamily="34" charset="0"/>
              <a:buChar char="•"/>
            </a:pPr>
            <a:r>
              <a:rPr lang="en-GB" sz="2800">
                <a:latin typeface="Fira Sans" panose="020B0503050000020004" pitchFamily="34" charset="0"/>
              </a:rPr>
              <a:t>3038 servers</a:t>
            </a:r>
          </a:p>
          <a:p>
            <a:pPr marL="1200150" lvl="2" indent="-285750">
              <a:buClr>
                <a:srgbClr val="FF0000"/>
              </a:buClr>
              <a:buFont typeface="Aktiv Grotesk" panose="020B0604020202020204" pitchFamily="34" charset="0"/>
              <a:buChar char="•"/>
            </a:pPr>
            <a:r>
              <a:rPr lang="en-GB" sz="2800">
                <a:latin typeface="Fira Sans" panose="020B0503050000020004" pitchFamily="34" charset="0"/>
              </a:rPr>
              <a:t>14,165 vCPUs</a:t>
            </a:r>
          </a:p>
          <a:p>
            <a:pPr marL="1200150" lvl="2" indent="-285750">
              <a:buClr>
                <a:srgbClr val="FF0000"/>
              </a:buClr>
              <a:buFont typeface="Aktiv Grotesk" panose="020B0604020202020204" pitchFamily="34" charset="0"/>
              <a:buChar char="•"/>
            </a:pPr>
            <a:r>
              <a:rPr lang="en-GB" sz="2800">
                <a:latin typeface="Fira Sans" panose="020B0503050000020004" pitchFamily="34" charset="0"/>
              </a:rPr>
              <a:t>53,758 GB Memory</a:t>
            </a:r>
          </a:p>
          <a:p>
            <a:pPr marL="1200150" lvl="2" indent="-285750">
              <a:buClr>
                <a:srgbClr val="FF0000"/>
              </a:buClr>
              <a:buFont typeface="Aktiv Grotesk" panose="020B0604020202020204" pitchFamily="34" charset="0"/>
              <a:buChar char="•"/>
            </a:pPr>
            <a:r>
              <a:rPr lang="en-GB" sz="2800">
                <a:latin typeface="Fira Sans" panose="020B0503050000020004" pitchFamily="34" charset="0"/>
              </a:rPr>
              <a:t>1,261,841 Gb storage</a:t>
            </a:r>
            <a:endParaRPr lang="en-DE" sz="2800">
              <a:latin typeface="Fira Sans" panose="020B0503050000020004" pitchFamily="34" charset="0"/>
            </a:endParaRPr>
          </a:p>
          <a:p>
            <a:pPr marL="285750" indent="-285750" algn="l">
              <a:buClr>
                <a:srgbClr val="FF0000"/>
              </a:buClr>
              <a:buFont typeface="Aktiv Grotesk" panose="020B0604020202020204" pitchFamily="34" charset="0"/>
              <a:buChar char="•"/>
            </a:pPr>
            <a:r>
              <a:rPr lang="en-GB" sz="2800">
                <a:latin typeface="Fira Sans" panose="020B0503050000020004" pitchFamily="34" charset="0"/>
              </a:rPr>
              <a:t>We focused on agnostic “apples-to-apples” comparison</a:t>
            </a:r>
          </a:p>
          <a:p>
            <a:pPr marL="285750" indent="-285750" algn="l">
              <a:buClr>
                <a:srgbClr val="FF0000"/>
              </a:buClr>
              <a:buFont typeface="Aktiv Grotesk" panose="020B0604020202020204" pitchFamily="34" charset="0"/>
              <a:buChar char="•"/>
            </a:pPr>
            <a:r>
              <a:rPr lang="en-GB" sz="2800">
                <a:latin typeface="Fira Sans" panose="020B0503050000020004" pitchFamily="34" charset="0"/>
              </a:rPr>
              <a:t>GCP tooling can create custom sizing (mem)</a:t>
            </a:r>
          </a:p>
          <a:p>
            <a:pPr marL="285750" indent="-285750">
              <a:buClr>
                <a:srgbClr val="FF0000"/>
              </a:buClr>
              <a:buFont typeface="Aktiv Grotesk" panose="020B0604020202020204" pitchFamily="34" charset="0"/>
              <a:buChar char="•"/>
            </a:pPr>
            <a:r>
              <a:rPr lang="en-GB" sz="2800">
                <a:latin typeface="Fira Sans" panose="020B0503050000020004" pitchFamily="34" charset="0"/>
              </a:rPr>
              <a:t>Our numbers provide a strong baseline for a Phase 1 independent comparison</a:t>
            </a:r>
          </a:p>
        </p:txBody>
      </p:sp>
      <p:sp>
        <p:nvSpPr>
          <p:cNvPr id="18" name="TextBox 17">
            <a:extLst>
              <a:ext uri="{FF2B5EF4-FFF2-40B4-BE49-F238E27FC236}">
                <a16:creationId xmlns:a16="http://schemas.microsoft.com/office/drawing/2014/main" id="{DBEF160F-8C1C-156D-03E1-11299B7CB912}"/>
              </a:ext>
            </a:extLst>
          </p:cNvPr>
          <p:cNvSpPr txBox="1"/>
          <p:nvPr/>
        </p:nvSpPr>
        <p:spPr>
          <a:xfrm>
            <a:off x="293714" y="9721839"/>
            <a:ext cx="11898286" cy="2800767"/>
          </a:xfrm>
          <a:prstGeom prst="rect">
            <a:avLst/>
          </a:prstGeom>
          <a:noFill/>
        </p:spPr>
        <p:txBody>
          <a:bodyPr wrap="square">
            <a:spAutoFit/>
          </a:bodyPr>
          <a:lstStyle/>
          <a:p>
            <a:r>
              <a:rPr lang="en-GB" sz="1600">
                <a:latin typeface="Fira Sans" panose="020B0503050000020004" pitchFamily="34" charset="0"/>
              </a:rPr>
              <a:t>Methodology:</a:t>
            </a:r>
          </a:p>
          <a:p>
            <a:pPr marL="514350" indent="-514350">
              <a:buAutoNum type="arabicPeriod"/>
            </a:pPr>
            <a:r>
              <a:rPr lang="en-GB" sz="1600">
                <a:latin typeface="Fira Sans" panose="020B0503050000020004" pitchFamily="34" charset="0"/>
              </a:rPr>
              <a:t>All pricing verified via official cloud APIs (GCP Billing Catalog, AWS Price List, Azure Retail Prices)</a:t>
            </a:r>
          </a:p>
          <a:p>
            <a:pPr marL="514350" indent="-514350">
              <a:buAutoNum type="arabicPeriod"/>
            </a:pPr>
            <a:r>
              <a:rPr lang="en-GB" sz="1600">
                <a:latin typeface="Fira Sans" panose="020B0503050000020004" pitchFamily="34" charset="0"/>
              </a:rPr>
              <a:t>GCP and Azure rates in native GBP from API. AWS rates in USD, converted at corporate FX rate above.</a:t>
            </a:r>
          </a:p>
          <a:p>
            <a:pPr marL="514350" indent="-514350">
              <a:buAutoNum type="arabicPeriod"/>
            </a:pPr>
            <a:r>
              <a:rPr lang="en-GB" sz="1600">
                <a:latin typeface="Fira Sans" panose="020B0503050000020004" pitchFamily="34" charset="0"/>
              </a:rPr>
              <a:t>PAYG = on-demand. 3yr = GCP CUD / AWS 3yr Standard NURI (per-instance from API) / Azure 3yr RI</a:t>
            </a:r>
          </a:p>
          <a:p>
            <a:pPr marL="514350" indent="-514350">
              <a:buAutoNum type="arabicPeriod"/>
            </a:pPr>
            <a:r>
              <a:rPr lang="en-GB" sz="1600">
                <a:latin typeface="Fira Sans" panose="020B0503050000020004" pitchFamily="34" charset="0"/>
              </a:rPr>
              <a:t>Storage: GCP Balanced PD/</a:t>
            </a:r>
            <a:r>
              <a:rPr lang="en-GB" sz="1600" err="1">
                <a:latin typeface="Fira Sans" panose="020B0503050000020004" pitchFamily="34" charset="0"/>
              </a:rPr>
              <a:t>Hyperdisk</a:t>
            </a:r>
            <a:r>
              <a:rPr lang="en-GB" sz="1600">
                <a:latin typeface="Fira Sans" panose="020B0503050000020004" pitchFamily="34" charset="0"/>
              </a:rPr>
              <a:t> (SSD), AWS gp3 (per-region from API), Azure Premium SSD</a:t>
            </a:r>
          </a:p>
          <a:p>
            <a:pPr marL="514350" indent="-514350">
              <a:buAutoNum type="arabicPeriod"/>
            </a:pPr>
            <a:r>
              <a:rPr lang="en-GB" sz="1600">
                <a:latin typeface="Fira Sans" panose="020B0503050000020004" pitchFamily="34" charset="0"/>
              </a:rPr>
              <a:t>Network: 5% of (compute + storage) - standard cloud estimate estimate</a:t>
            </a:r>
          </a:p>
          <a:p>
            <a:pPr marL="514350" indent="-514350">
              <a:buAutoNum type="arabicPeriod"/>
            </a:pPr>
            <a:r>
              <a:rPr lang="en-GB" sz="1600">
                <a:latin typeface="Fira Sans" panose="020B0503050000020004" pitchFamily="34" charset="0"/>
              </a:rPr>
              <a:t>OS licensing: Windows/RHEL at PAYG surcharge rates. SQL Server and Oracle licensing in separate workbook.</a:t>
            </a:r>
          </a:p>
          <a:p>
            <a:pPr marL="514350" indent="-514350">
              <a:buAutoNum type="arabicPeriod"/>
            </a:pPr>
            <a:r>
              <a:rPr lang="en-GB" sz="1600">
                <a:latin typeface="Fira Sans" panose="020B0503050000020004" pitchFamily="34" charset="0"/>
              </a:rPr>
              <a:t>Instance mapping: GCP Migration </a:t>
            </a:r>
            <a:r>
              <a:rPr lang="en-GB" sz="1600" err="1">
                <a:latin typeface="Fira Sans" panose="020B0503050000020004" pitchFamily="34" charset="0"/>
              </a:rPr>
              <a:t>Center</a:t>
            </a:r>
            <a:r>
              <a:rPr lang="en-GB" sz="1600">
                <a:latin typeface="Fira Sans" panose="020B0503050000020004" pitchFamily="34" charset="0"/>
              </a:rPr>
              <a:t>, AWS Transform, Azure Migrate - all architect-assigned</a:t>
            </a:r>
          </a:p>
          <a:p>
            <a:pPr marL="514350" indent="-514350">
              <a:buAutoNum type="arabicPeriod"/>
            </a:pPr>
            <a:r>
              <a:rPr lang="en-GB" sz="1600">
                <a:latin typeface="Fira Sans" panose="020B0503050000020004" pitchFamily="34" charset="0"/>
              </a:rPr>
              <a:t>All 3 clouds sized from the same source dataset (GCP Migration </a:t>
            </a:r>
            <a:r>
              <a:rPr lang="en-GB" sz="1600" err="1">
                <a:latin typeface="Fira Sans" panose="020B0503050000020004" pitchFamily="34" charset="0"/>
              </a:rPr>
              <a:t>Center</a:t>
            </a:r>
            <a:r>
              <a:rPr lang="en-GB" sz="1600">
                <a:latin typeface="Fira Sans" panose="020B0503050000020004" pitchFamily="34" charset="0"/>
              </a:rPr>
              <a:t> export, 3,038 servers in scope)</a:t>
            </a:r>
          </a:p>
          <a:p>
            <a:endParaRPr lang="en-GB" sz="1600">
              <a:latin typeface="Fira Sans" panose="020B0503050000020004" pitchFamily="34" charset="0"/>
            </a:endParaRPr>
          </a:p>
          <a:p>
            <a:r>
              <a:rPr lang="en-GB" sz="1600">
                <a:latin typeface="Fira Sans" panose="020B0503050000020004" pitchFamily="34" charset="0"/>
              </a:rPr>
              <a:t>Not included: backup/DR, management tooling, migration execution, double-run overlap, egress, headcount, VMware savings</a:t>
            </a:r>
          </a:p>
        </p:txBody>
      </p:sp>
      <p:graphicFrame>
        <p:nvGraphicFramePr>
          <p:cNvPr id="20" name="Table 19">
            <a:extLst>
              <a:ext uri="{FF2B5EF4-FFF2-40B4-BE49-F238E27FC236}">
                <a16:creationId xmlns:a16="http://schemas.microsoft.com/office/drawing/2014/main" id="{B41B91A8-2F4A-AECE-3B4A-D12DC615055C}"/>
              </a:ext>
            </a:extLst>
          </p:cNvPr>
          <p:cNvGraphicFramePr>
            <a:graphicFrameLocks noGrp="1"/>
          </p:cNvGraphicFramePr>
          <p:nvPr>
            <p:extLst>
              <p:ext uri="{D42A27DB-BD31-4B8C-83A1-F6EECF244321}">
                <p14:modId xmlns:p14="http://schemas.microsoft.com/office/powerpoint/2010/main" val="44075217"/>
              </p:ext>
            </p:extLst>
          </p:nvPr>
        </p:nvGraphicFramePr>
        <p:xfrm>
          <a:off x="12641214" y="2791326"/>
          <a:ext cx="11101137" cy="8969712"/>
        </p:xfrm>
        <a:graphic>
          <a:graphicData uri="http://schemas.openxmlformats.org/drawingml/2006/table">
            <a:tbl>
              <a:tblPr/>
              <a:tblGrid>
                <a:gridCol w="3211014">
                  <a:extLst>
                    <a:ext uri="{9D8B030D-6E8A-4147-A177-3AD203B41FA5}">
                      <a16:colId xmlns:a16="http://schemas.microsoft.com/office/drawing/2014/main" val="1767108210"/>
                    </a:ext>
                  </a:extLst>
                </a:gridCol>
                <a:gridCol w="2625219">
                  <a:extLst>
                    <a:ext uri="{9D8B030D-6E8A-4147-A177-3AD203B41FA5}">
                      <a16:colId xmlns:a16="http://schemas.microsoft.com/office/drawing/2014/main" val="3765965991"/>
                    </a:ext>
                  </a:extLst>
                </a:gridCol>
                <a:gridCol w="2632452">
                  <a:extLst>
                    <a:ext uri="{9D8B030D-6E8A-4147-A177-3AD203B41FA5}">
                      <a16:colId xmlns:a16="http://schemas.microsoft.com/office/drawing/2014/main" val="617367112"/>
                    </a:ext>
                  </a:extLst>
                </a:gridCol>
                <a:gridCol w="2632452">
                  <a:extLst>
                    <a:ext uri="{9D8B030D-6E8A-4147-A177-3AD203B41FA5}">
                      <a16:colId xmlns:a16="http://schemas.microsoft.com/office/drawing/2014/main" val="3388370713"/>
                    </a:ext>
                  </a:extLst>
                </a:gridCol>
              </a:tblGrid>
              <a:tr h="703507">
                <a:tc gridSpan="2">
                  <a:txBody>
                    <a:bodyPr/>
                    <a:lstStyle/>
                    <a:p>
                      <a:pPr algn="l" fontAlgn="b">
                        <a:buNone/>
                      </a:pPr>
                      <a:r>
                        <a:rPr lang="en-GB" sz="2000" b="0" i="0" u="none" strike="noStrike">
                          <a:solidFill>
                            <a:srgbClr val="404040"/>
                          </a:solidFill>
                          <a:effectLst/>
                          <a:latin typeface="Aktiv Grotesk" panose="020F0502020204030204" pitchFamily="34" charset="0"/>
                        </a:rPr>
                        <a:t>Generated: 15 April 2026 19:51</a:t>
                      </a:r>
                    </a:p>
                  </a:txBody>
                  <a:tcPr marL="8256" marR="8256" marT="8256" marB="0" anchor="b">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Aktiv Grotesk" panose="020F0502020204030204" pitchFamily="34" charset="0"/>
                      </a:endParaRPr>
                    </a:p>
                  </a:txBody>
                  <a:tcPr marL="8256" marR="8256" marT="8256" marB="0" anchor="b">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fontAlgn="b">
                        <a:buNone/>
                      </a:pPr>
                      <a:endParaRPr lang="en-DE" sz="2000" b="0" i="0" u="none" strike="noStrike">
                        <a:solidFill>
                          <a:srgbClr val="000000"/>
                        </a:solidFill>
                        <a:effectLst/>
                        <a:latin typeface="Aktiv Grotesk"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08278700"/>
                  </a:ext>
                </a:extLst>
              </a:tr>
              <a:tr h="449127">
                <a:tc gridSpan="4">
                  <a:txBody>
                    <a:bodyPr/>
                    <a:lstStyle/>
                    <a:p>
                      <a:pPr algn="l" fontAlgn="b">
                        <a:buNone/>
                      </a:pPr>
                      <a:r>
                        <a:rPr lang="en-GB" sz="2000" b="0" i="0" u="none" strike="noStrike">
                          <a:solidFill>
                            <a:srgbClr val="404040"/>
                          </a:solidFill>
                          <a:effectLst/>
                          <a:latin typeface="Aktiv Grotesk" panose="020F0502020204030204" pitchFamily="34" charset="0"/>
                        </a:rPr>
                        <a:t>Servers in scope: 3,038 | Currency: GBP | FX Rate: 1 USD = 0.755 GBP</a:t>
                      </a: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047331229"/>
                  </a:ext>
                </a:extLst>
              </a:tr>
              <a:tr h="410508">
                <a:tc gridSpan="4">
                  <a:txBody>
                    <a:bodyPr/>
                    <a:lstStyle/>
                    <a:p>
                      <a:pPr algn="l" fontAlgn="b">
                        <a:buNone/>
                      </a:pPr>
                      <a:r>
                        <a:rPr lang="en-GB" sz="2000" b="1" i="0" u="none" strike="noStrike">
                          <a:solidFill>
                            <a:srgbClr val="808080"/>
                          </a:solidFill>
                          <a:effectLst/>
                          <a:latin typeface="Aktiv Grotesk" panose="020F0502020204030204" pitchFamily="34" charset="0"/>
                        </a:rPr>
                        <a:t>All pricing API-verified: </a:t>
                      </a:r>
                      <a:r>
                        <a:rPr lang="en-GB" sz="2000" b="1" i="0" u="none" strike="noStrike">
                          <a:solidFill>
                            <a:srgbClr val="FABF8F"/>
                          </a:solidFill>
                          <a:effectLst/>
                          <a:latin typeface="Aktiv Grotesk" panose="020F0502020204030204" pitchFamily="34" charset="0"/>
                        </a:rPr>
                        <a:t>AWS Price List API</a:t>
                      </a:r>
                      <a:r>
                        <a:rPr lang="en-GB" sz="2000" b="1" i="0" u="none" strike="noStrike">
                          <a:solidFill>
                            <a:srgbClr val="808080"/>
                          </a:solidFill>
                          <a:effectLst/>
                          <a:latin typeface="Aktiv Grotesk" panose="020F0502020204030204" pitchFamily="34" charset="0"/>
                        </a:rPr>
                        <a:t> | </a:t>
                      </a:r>
                      <a:r>
                        <a:rPr lang="en-GB" sz="2000" b="1" i="0" u="none" strike="noStrike">
                          <a:solidFill>
                            <a:srgbClr val="C4D79B"/>
                          </a:solidFill>
                          <a:effectLst/>
                          <a:latin typeface="Aktiv Grotesk" panose="020F0502020204030204" pitchFamily="34" charset="0"/>
                        </a:rPr>
                        <a:t>GCP Billing Catalog API </a:t>
                      </a:r>
                      <a:r>
                        <a:rPr lang="en-GB" sz="2000" b="1" i="0" u="none" strike="noStrike">
                          <a:solidFill>
                            <a:srgbClr val="808080"/>
                          </a:solidFill>
                          <a:effectLst/>
                          <a:latin typeface="Aktiv Grotesk" panose="020F0502020204030204" pitchFamily="34" charset="0"/>
                        </a:rPr>
                        <a:t>| </a:t>
                      </a:r>
                      <a:r>
                        <a:rPr lang="en-GB" sz="2000" b="1" i="0" u="none" strike="noStrike">
                          <a:solidFill>
                            <a:srgbClr val="8DB4E2"/>
                          </a:solidFill>
                          <a:effectLst/>
                          <a:latin typeface="Aktiv Grotesk" panose="020F0502020204030204" pitchFamily="34" charset="0"/>
                        </a:rPr>
                        <a:t>Azure Retail Prices API</a:t>
                      </a:r>
                      <a:endParaRPr lang="en-GB" sz="2000" b="1" i="0" u="none" strike="noStrike">
                        <a:solidFill>
                          <a:srgbClr val="80808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97320224"/>
                  </a:ext>
                </a:extLst>
              </a:tr>
              <a:tr h="160421">
                <a:tc>
                  <a:txBody>
                    <a:bodyPr/>
                    <a:lstStyle/>
                    <a:p>
                      <a:pPr algn="l" fontAlgn="b">
                        <a:buNone/>
                      </a:pPr>
                      <a:endParaRPr lang="en-DE" sz="1000" b="0" i="0" u="none" strike="noStrike">
                        <a:solidFill>
                          <a:srgbClr val="00000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1000" b="0" i="0" u="none" strike="noStrike">
                        <a:solidFill>
                          <a:srgbClr val="000000"/>
                        </a:solidFill>
                        <a:effectLst/>
                        <a:latin typeface="Aktiv Grotesk"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Aktiv Grotesk" panose="020F0502020204030204" pitchFamily="34" charset="0"/>
                      </a:endParaRPr>
                    </a:p>
                  </a:txBody>
                  <a:tcPr marL="8256" marR="8256" marT="8256" marB="0" anchor="b">
                    <a:lnL>
                      <a:noFill/>
                    </a:lnL>
                    <a:lnR>
                      <a:noFill/>
                    </a:lnR>
                    <a:lnT>
                      <a:noFill/>
                    </a:lnT>
                    <a:lnB>
                      <a:noFill/>
                    </a:lnB>
                    <a:noFill/>
                  </a:tcPr>
                </a:tc>
                <a:tc>
                  <a:txBody>
                    <a:bodyPr/>
                    <a:lstStyle/>
                    <a:p>
                      <a:pPr algn="l" fontAlgn="b">
                        <a:buNone/>
                      </a:pPr>
                      <a:endParaRPr lang="en-DE" sz="1000" b="0" i="0" u="none" strike="noStrike">
                        <a:solidFill>
                          <a:srgbClr val="000000"/>
                        </a:solidFill>
                        <a:effectLst/>
                        <a:latin typeface="Aktiv Grotesk"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1273258797"/>
                  </a:ext>
                </a:extLst>
              </a:tr>
              <a:tr h="479068">
                <a:tc gridSpan="3">
                  <a:txBody>
                    <a:bodyPr/>
                    <a:lstStyle/>
                    <a:p>
                      <a:pPr algn="l" fontAlgn="b">
                        <a:buNone/>
                      </a:pPr>
                      <a:r>
                        <a:rPr lang="en-GB" sz="2400" b="1" i="0" u="none" strike="noStrike">
                          <a:solidFill>
                            <a:srgbClr val="1F4E79"/>
                          </a:solidFill>
                          <a:effectLst/>
                          <a:latin typeface="Aktiv Grotesk" panose="020F0502020204030204" pitchFamily="34" charset="0"/>
                        </a:rPr>
                        <a:t>PAYG Component Breakdown (Monthly,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4212657850"/>
                  </a:ext>
                </a:extLst>
              </a:tr>
              <a:tr h="449127">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Aktiv Grotesk"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2698480142"/>
                  </a:ext>
                </a:extLst>
              </a:tr>
              <a:tr h="449127">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Aktiv Grotesk"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Aktiv Grotesk"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Aktiv Grotesk"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87117143"/>
                  </a:ext>
                </a:extLst>
              </a:tr>
              <a:tr h="449127">
                <a:tc>
                  <a:txBody>
                    <a:bodyPr/>
                    <a:lstStyle/>
                    <a:p>
                      <a:pPr algn="l" fontAlgn="b">
                        <a:buNone/>
                      </a:pPr>
                      <a:r>
                        <a:rPr lang="en-GB" sz="2400" b="0" i="0" u="none" strike="noStrike">
                          <a:solidFill>
                            <a:srgbClr val="000000"/>
                          </a:solidFill>
                          <a:effectLst/>
                          <a:latin typeface="Aktiv Grotesk" panose="020F0502020204030204" pitchFamily="34" charset="0"/>
                        </a:rPr>
                        <a:t>Compute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228.907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196.025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228.410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55959910"/>
                  </a:ext>
                </a:extLst>
              </a:tr>
              <a:tr h="449127">
                <a:tc>
                  <a:txBody>
                    <a:bodyPr/>
                    <a:lstStyle/>
                    <a:p>
                      <a:pPr algn="l" fontAlgn="b">
                        <a:buNone/>
                      </a:pPr>
                      <a:r>
                        <a:rPr lang="en-GB" sz="2400" b="0" i="0" u="none" strike="noStrike">
                          <a:solidFill>
                            <a:srgbClr val="000000"/>
                          </a:solidFill>
                          <a:effectLst/>
                          <a:latin typeface="Aktiv Grotesk" panose="020F0502020204030204" pitchFamily="34" charset="0"/>
                        </a:rPr>
                        <a:t>Storage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63.587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91.005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159.446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722904484"/>
                  </a:ext>
                </a:extLst>
              </a:tr>
              <a:tr h="449127">
                <a:tc>
                  <a:txBody>
                    <a:bodyPr/>
                    <a:lstStyle/>
                    <a:p>
                      <a:pPr algn="l" fontAlgn="b">
                        <a:buNone/>
                      </a:pPr>
                      <a:r>
                        <a:rPr lang="en-GB" sz="2400" b="0" i="0" u="none" strike="noStrike">
                          <a:solidFill>
                            <a:srgbClr val="000000"/>
                          </a:solidFill>
                          <a:effectLst/>
                          <a:latin typeface="Aktiv Grotesk" panose="020F0502020204030204" pitchFamily="34" charset="0"/>
                        </a:rPr>
                        <a:t>OS License</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21.105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9.883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17.582</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637787268"/>
                  </a:ext>
                </a:extLst>
              </a:tr>
              <a:tr h="449127">
                <a:tc>
                  <a:txBody>
                    <a:bodyPr/>
                    <a:lstStyle/>
                    <a:p>
                      <a:pPr algn="l" fontAlgn="b">
                        <a:buNone/>
                      </a:pPr>
                      <a:r>
                        <a:rPr lang="en-GB" sz="2400" b="0" i="0" u="none" strike="noStrike">
                          <a:solidFill>
                            <a:srgbClr val="000000"/>
                          </a:solidFill>
                          <a:effectLst/>
                          <a:latin typeface="Aktiv Grotesk" panose="020F0502020204030204" pitchFamily="34" charset="0"/>
                        </a:rPr>
                        <a:t>Network (5%)</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14.625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14.351</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19.393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019845363"/>
                  </a:ext>
                </a:extLst>
              </a:tr>
              <a:tr h="449127">
                <a:tc>
                  <a:txBody>
                    <a:bodyPr/>
                    <a:lstStyle/>
                    <a:p>
                      <a:pPr algn="l" fontAlgn="b">
                        <a:buNone/>
                      </a:pPr>
                      <a:r>
                        <a:rPr lang="en-GB" sz="2400" b="1" i="0" u="none" strike="noStrike">
                          <a:solidFill>
                            <a:srgbClr val="000000"/>
                          </a:solidFill>
                          <a:effectLst/>
                          <a:latin typeface="Aktiv Grotesk"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Aktiv Grotesk" panose="020F0502020204030204" pitchFamily="34" charset="0"/>
                        </a:rPr>
                        <a:t>328.223</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Aktiv Grotesk" panose="020F0502020204030204" pitchFamily="34" charset="0"/>
                        </a:rPr>
                        <a:t>311.264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Aktiv Grotesk" panose="020F0502020204030204" pitchFamily="34" charset="0"/>
                        </a:rPr>
                        <a:t>424.831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243592117"/>
                  </a:ext>
                </a:extLst>
              </a:tr>
              <a:tr h="449127">
                <a:tc>
                  <a:txBody>
                    <a:bodyPr/>
                    <a:lstStyle/>
                    <a:p>
                      <a:pPr algn="l" fontAlgn="b">
                        <a:buNone/>
                      </a:pPr>
                      <a:r>
                        <a:rPr lang="en-GB" sz="2400" b="1" i="0" u="none" strike="noStrike">
                          <a:solidFill>
                            <a:srgbClr val="000000"/>
                          </a:solidFill>
                          <a:effectLst/>
                          <a:latin typeface="Aktiv Grotesk" panose="020F0502020204030204" pitchFamily="34" charset="0"/>
                        </a:rPr>
                        <a:t>Annual (GBP)</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1" i="0" u="none" strike="noStrike">
                          <a:solidFill>
                            <a:srgbClr val="000000"/>
                          </a:solidFill>
                          <a:effectLst/>
                          <a:latin typeface="Aktiv Grotesk" panose="020F0502020204030204" pitchFamily="34" charset="0"/>
                        </a:rPr>
                        <a:t>3.938.677</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1" i="0" u="none" strike="noStrike">
                          <a:solidFill>
                            <a:srgbClr val="000000"/>
                          </a:solidFill>
                          <a:effectLst/>
                          <a:latin typeface="Aktiv Grotesk" panose="020F0502020204030204" pitchFamily="34" charset="0"/>
                        </a:rPr>
                        <a:t>3.735.172</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1" i="0" u="none" strike="noStrike">
                          <a:solidFill>
                            <a:srgbClr val="000000"/>
                          </a:solidFill>
                          <a:effectLst/>
                          <a:latin typeface="Aktiv Grotesk" panose="020F0502020204030204" pitchFamily="34" charset="0"/>
                        </a:rPr>
                        <a:t>5.097.970</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1383537535"/>
                  </a:ext>
                </a:extLst>
              </a:tr>
              <a:tr h="449127">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a:noFill/>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591853246"/>
                  </a:ext>
                </a:extLst>
              </a:tr>
              <a:tr h="479068">
                <a:tc gridSpan="2">
                  <a:txBody>
                    <a:bodyPr/>
                    <a:lstStyle/>
                    <a:p>
                      <a:pPr algn="l" fontAlgn="b">
                        <a:buNone/>
                      </a:pPr>
                      <a:r>
                        <a:rPr lang="en-GB" sz="2400" b="1" i="0" u="none" strike="noStrike">
                          <a:solidFill>
                            <a:srgbClr val="1F4E79"/>
                          </a:solidFill>
                          <a:effectLst/>
                          <a:latin typeface="Aktiv Grotesk" panose="020F0502020204030204" pitchFamily="34" charset="0"/>
                        </a:rPr>
                        <a:t>3yr Commitment Pricing Breakdown (GBP)</a:t>
                      </a: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solidFill>
                      <a:srgbClr val="D6DCE4"/>
                    </a:solidFill>
                  </a:tcPr>
                </a:tc>
                <a:tc hMerge="1">
                  <a:txBody>
                    <a:bodyPr/>
                    <a:lstStyle/>
                    <a:p>
                      <a:endParaRPr lang="en-GB"/>
                    </a:p>
                  </a:txBody>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a:noFill/>
                    </a:lnR>
                    <a:lnT>
                      <a:noFill/>
                    </a:lnT>
                    <a:lnB>
                      <a:noFill/>
                    </a:lnB>
                    <a:solidFill>
                      <a:srgbClr val="D6DCE4"/>
                    </a:solidFill>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D6DCE4"/>
                    </a:solidFill>
                  </a:tcPr>
                </a:tc>
                <a:extLst>
                  <a:ext uri="{0D108BD9-81ED-4DB2-BD59-A6C34878D82A}">
                    <a16:rowId xmlns:a16="http://schemas.microsoft.com/office/drawing/2014/main" val="524040744"/>
                  </a:ext>
                </a:extLst>
              </a:tr>
              <a:tr h="449127">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a:noFill/>
                    </a:lnR>
                    <a:lnT>
                      <a:noFill/>
                    </a:lnT>
                    <a:lnB>
                      <a:noFill/>
                    </a:lnB>
                    <a:solidFill>
                      <a:srgbClr val="1F4E79"/>
                    </a:solidFill>
                  </a:tcPr>
                </a:tc>
                <a:tc>
                  <a:txBody>
                    <a:bodyPr/>
                    <a:lstStyle/>
                    <a:p>
                      <a:pPr algn="l" fontAlgn="b">
                        <a:buNone/>
                      </a:pPr>
                      <a:r>
                        <a:rPr lang="en-GB" sz="2400" b="1" i="0" u="none" strike="noStrike">
                          <a:solidFill>
                            <a:srgbClr val="FFFFFF"/>
                          </a:solidFill>
                          <a:effectLst/>
                          <a:latin typeface="Aktiv Grotesk" panose="020F0502020204030204" pitchFamily="34" charset="0"/>
                        </a:rPr>
                        <a:t>London</a:t>
                      </a:r>
                    </a:p>
                  </a:txBody>
                  <a:tcPr marL="8256" marR="8256" marT="8256" marB="0" anchor="b">
                    <a:lnL>
                      <a:noFill/>
                    </a:lnL>
                    <a:lnR>
                      <a:noFill/>
                    </a:lnR>
                    <a:lnT>
                      <a:noFill/>
                    </a:lnT>
                    <a:lnB>
                      <a:noFill/>
                    </a:lnB>
                    <a:solidFill>
                      <a:srgbClr val="1F4E79"/>
                    </a:solidFill>
                  </a:tcPr>
                </a:tc>
                <a:tc>
                  <a:txBody>
                    <a:bodyPr/>
                    <a:lstStyle/>
                    <a:p>
                      <a:pPr algn="l" fontAlgn="b">
                        <a:buNone/>
                      </a:pPr>
                      <a:r>
                        <a:rPr lang="en-DE" sz="2400" b="0" i="0" u="none" strike="noStrike">
                          <a:solidFill>
                            <a:srgbClr val="000000"/>
                          </a:solidFill>
                          <a:effectLst/>
                          <a:latin typeface="Aktiv Grotesk" panose="020F0502020204030204" pitchFamily="34" charset="0"/>
                        </a:rPr>
                        <a:t> </a:t>
                      </a:r>
                    </a:p>
                  </a:txBody>
                  <a:tcPr marL="8256" marR="8256" marT="8256" marB="0" anchor="b">
                    <a:lnL>
                      <a:noFill/>
                    </a:lnL>
                    <a:lnR w="12700" cap="flat" cmpd="sng" algn="ctr">
                      <a:solidFill>
                        <a:schemeClr val="tx1"/>
                      </a:solidFill>
                      <a:prstDash val="solid"/>
                      <a:round/>
                      <a:headEnd type="none" w="med" len="med"/>
                      <a:tailEnd type="none" w="med" len="med"/>
                    </a:lnR>
                    <a:lnT>
                      <a:noFill/>
                    </a:lnT>
                    <a:lnB>
                      <a:noFill/>
                    </a:lnB>
                    <a:solidFill>
                      <a:srgbClr val="1F4E79"/>
                    </a:solidFill>
                  </a:tcPr>
                </a:tc>
                <a:extLst>
                  <a:ext uri="{0D108BD9-81ED-4DB2-BD59-A6C34878D82A}">
                    <a16:rowId xmlns:a16="http://schemas.microsoft.com/office/drawing/2014/main" val="818262096"/>
                  </a:ext>
                </a:extLst>
              </a:tr>
              <a:tr h="449127">
                <a:tc>
                  <a:txBody>
                    <a:bodyPr/>
                    <a:lstStyle/>
                    <a:p>
                      <a:pPr algn="l" fontAlgn="b">
                        <a:buNone/>
                      </a:pPr>
                      <a:endParaRPr lang="en-DE" sz="2400" b="0" i="0" u="none" strike="noStrike">
                        <a:solidFill>
                          <a:srgbClr val="000000"/>
                        </a:solidFill>
                        <a:effectLst/>
                        <a:latin typeface="Aktiv Grotesk" panose="020F0502020204030204" pitchFamily="34" charset="0"/>
                      </a:endParaRPr>
                    </a:p>
                  </a:txBody>
                  <a:tcPr marL="8256" marR="8256" marT="8256" marB="0" anchor="b">
                    <a:lnL w="12700" cap="flat" cmpd="sng" algn="ctr">
                      <a:solidFill>
                        <a:schemeClr val="tx1"/>
                      </a:solidFill>
                      <a:prstDash val="solid"/>
                      <a:round/>
                      <a:headEnd type="none" w="med" len="med"/>
                      <a:tailEnd type="none" w="med" len="med"/>
                    </a:lnL>
                    <a:lnR>
                      <a:noFill/>
                    </a:lnR>
                    <a:lnT>
                      <a:noFill/>
                    </a:lnT>
                    <a:lnB>
                      <a:noFill/>
                    </a:lnB>
                    <a:noFill/>
                  </a:tcPr>
                </a:tc>
                <a:tc>
                  <a:txBody>
                    <a:bodyPr/>
                    <a:lstStyle/>
                    <a:p>
                      <a:pPr algn="ctr" fontAlgn="b">
                        <a:buNone/>
                      </a:pPr>
                      <a:r>
                        <a:rPr lang="en-GB" sz="2400" b="1" i="0" u="none" strike="noStrike">
                          <a:solidFill>
                            <a:srgbClr val="000000"/>
                          </a:solidFill>
                          <a:effectLst/>
                          <a:latin typeface="Aktiv Grotesk" panose="020F0502020204030204" pitchFamily="34" charset="0"/>
                        </a:rPr>
                        <a:t>AWS</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FFF3E0"/>
                    </a:solidFill>
                  </a:tcPr>
                </a:tc>
                <a:tc>
                  <a:txBody>
                    <a:bodyPr/>
                    <a:lstStyle/>
                    <a:p>
                      <a:pPr algn="ctr" fontAlgn="b">
                        <a:buNone/>
                      </a:pPr>
                      <a:r>
                        <a:rPr lang="en-GB" sz="2400" b="1" i="0" u="none" strike="noStrike">
                          <a:solidFill>
                            <a:srgbClr val="000000"/>
                          </a:solidFill>
                          <a:effectLst/>
                          <a:latin typeface="Aktiv Grotesk" panose="020F0502020204030204" pitchFamily="34" charset="0"/>
                        </a:rPr>
                        <a:t>GCP</a:t>
                      </a:r>
                    </a:p>
                  </a:txBody>
                  <a:tcPr marL="8256" marR="8256" marT="8256" marB="0" anchor="b">
                    <a:lnL>
                      <a:noFill/>
                    </a:lnL>
                    <a:lnR>
                      <a:noFill/>
                    </a:lnR>
                    <a:lnT>
                      <a:noFill/>
                    </a:lnT>
                    <a:lnB w="6350" cap="flat" cmpd="sng" algn="ctr">
                      <a:solidFill>
                        <a:srgbClr val="000000"/>
                      </a:solidFill>
                      <a:prstDash val="solid"/>
                      <a:round/>
                      <a:headEnd type="none" w="med" len="med"/>
                      <a:tailEnd type="none" w="med" len="med"/>
                    </a:lnB>
                    <a:solidFill>
                      <a:srgbClr val="E8F5E9"/>
                    </a:solidFill>
                  </a:tcPr>
                </a:tc>
                <a:tc>
                  <a:txBody>
                    <a:bodyPr/>
                    <a:lstStyle/>
                    <a:p>
                      <a:pPr algn="ctr" fontAlgn="b">
                        <a:buNone/>
                      </a:pPr>
                      <a:r>
                        <a:rPr lang="en-GB" sz="2400" b="1" i="0" u="none" strike="noStrike">
                          <a:solidFill>
                            <a:srgbClr val="000000"/>
                          </a:solidFill>
                          <a:effectLst/>
                          <a:latin typeface="Aktiv Grotesk" panose="020F0502020204030204" pitchFamily="34" charset="0"/>
                        </a:rPr>
                        <a:t>Azure</a:t>
                      </a:r>
                    </a:p>
                  </a:txBody>
                  <a:tcPr marL="8256" marR="8256" marT="8256" marB="0" anchor="b">
                    <a:lnL>
                      <a:noFill/>
                    </a:lnL>
                    <a:lnR w="12700" cap="flat" cmpd="sng" algn="ctr">
                      <a:solidFill>
                        <a:schemeClr val="tx1"/>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2542220453"/>
                  </a:ext>
                </a:extLst>
              </a:tr>
              <a:tr h="449127">
                <a:tc>
                  <a:txBody>
                    <a:bodyPr/>
                    <a:lstStyle/>
                    <a:p>
                      <a:pPr algn="l" fontAlgn="b">
                        <a:buNone/>
                      </a:pPr>
                      <a:r>
                        <a:rPr lang="en-GB" sz="2400" b="1" i="0" u="none" strike="noStrike">
                          <a:solidFill>
                            <a:srgbClr val="000000"/>
                          </a:solidFill>
                          <a:effectLst/>
                          <a:latin typeface="Aktiv Grotesk" panose="020F0502020204030204" pitchFamily="34" charset="0"/>
                        </a:rPr>
                        <a:t>Total - Monthly</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190.285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186.974</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274.881</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505649206"/>
                  </a:ext>
                </a:extLst>
              </a:tr>
              <a:tr h="449127">
                <a:tc>
                  <a:txBody>
                    <a:bodyPr/>
                    <a:lstStyle/>
                    <a:p>
                      <a:pPr algn="l" fontAlgn="b">
                        <a:buNone/>
                      </a:pPr>
                      <a:r>
                        <a:rPr lang="en-GB" sz="2400" b="1" i="0" u="none" strike="noStrike">
                          <a:solidFill>
                            <a:srgbClr val="000000"/>
                          </a:solidFill>
                          <a:effectLst/>
                          <a:latin typeface="Aktiv Grotesk" panose="020F0502020204030204" pitchFamily="34" charset="0"/>
                        </a:rPr>
                        <a:t>Annual</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2.283.419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2.243.685</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3.298.566</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3F2FD"/>
                    </a:solidFill>
                  </a:tcPr>
                </a:tc>
                <a:extLst>
                  <a:ext uri="{0D108BD9-81ED-4DB2-BD59-A6C34878D82A}">
                    <a16:rowId xmlns:a16="http://schemas.microsoft.com/office/drawing/2014/main" val="3418260792"/>
                  </a:ext>
                </a:extLst>
              </a:tr>
              <a:tr h="449127">
                <a:tc>
                  <a:txBody>
                    <a:bodyPr/>
                    <a:lstStyle/>
                    <a:p>
                      <a:pPr algn="l" fontAlgn="b">
                        <a:buNone/>
                      </a:pPr>
                      <a:r>
                        <a:rPr lang="en-GB" sz="2400" b="0" i="0" u="none" strike="noStrike">
                          <a:solidFill>
                            <a:srgbClr val="000000"/>
                          </a:solidFill>
                          <a:effectLst/>
                          <a:latin typeface="Aktiv Grotesk" panose="020F0502020204030204" pitchFamily="34" charset="0"/>
                        </a:rPr>
                        <a:t>Savings %</a:t>
                      </a:r>
                    </a:p>
                  </a:txBody>
                  <a:tcPr marL="8256" marR="8256" marT="8256" marB="0" anchor="b">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lgn="r" fontAlgn="b">
                        <a:buNone/>
                      </a:pPr>
                      <a:r>
                        <a:rPr lang="en-DE" sz="2400" b="0" i="0" u="none" strike="noStrike">
                          <a:solidFill>
                            <a:srgbClr val="000000"/>
                          </a:solidFill>
                          <a:effectLst/>
                          <a:latin typeface="Aktiv Grotesk" panose="020F0502020204030204" pitchFamily="34" charset="0"/>
                        </a:rPr>
                        <a:t>42,0%</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3E0"/>
                    </a:solidFill>
                  </a:tcPr>
                </a:tc>
                <a:tc>
                  <a:txBody>
                    <a:bodyPr/>
                    <a:lstStyle/>
                    <a:p>
                      <a:pPr algn="r" fontAlgn="b">
                        <a:buNone/>
                      </a:pPr>
                      <a:r>
                        <a:rPr lang="en-DE" sz="2400" b="0" i="0" u="none" strike="noStrike">
                          <a:solidFill>
                            <a:srgbClr val="000000"/>
                          </a:solidFill>
                          <a:effectLst/>
                          <a:latin typeface="Aktiv Grotesk" panose="020F0502020204030204" pitchFamily="34" charset="0"/>
                        </a:rPr>
                        <a:t>39,9%</a:t>
                      </a:r>
                    </a:p>
                  </a:txBody>
                  <a:tcPr marL="8256" marR="8256" marT="8256"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8F5E9"/>
                    </a:solidFill>
                  </a:tcPr>
                </a:tc>
                <a:tc>
                  <a:txBody>
                    <a:bodyPr/>
                    <a:lstStyle/>
                    <a:p>
                      <a:pPr algn="r" fontAlgn="b">
                        <a:buNone/>
                      </a:pPr>
                      <a:r>
                        <a:rPr lang="en-DE" sz="2400" b="0" i="0" u="none" strike="noStrike">
                          <a:solidFill>
                            <a:srgbClr val="000000"/>
                          </a:solidFill>
                          <a:effectLst/>
                          <a:latin typeface="Aktiv Grotesk" panose="020F0502020204030204" pitchFamily="34" charset="0"/>
                        </a:rPr>
                        <a:t>35,3%</a:t>
                      </a:r>
                    </a:p>
                  </a:txBody>
                  <a:tcPr marL="8256" marR="8256" marT="8256" marB="0" anchor="b">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F2FD"/>
                    </a:solidFill>
                  </a:tcPr>
                </a:tc>
                <a:extLst>
                  <a:ext uri="{0D108BD9-81ED-4DB2-BD59-A6C34878D82A}">
                    <a16:rowId xmlns:a16="http://schemas.microsoft.com/office/drawing/2014/main" val="1583354433"/>
                  </a:ext>
                </a:extLst>
              </a:tr>
            </a:tbl>
          </a:graphicData>
        </a:graphic>
      </p:graphicFrame>
      <p:pic>
        <p:nvPicPr>
          <p:cNvPr id="21" name="Picture 20"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686612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410A5-9944-3AED-FC9A-8E5A1D4285D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CE46C1B-A4B0-79AA-5A23-6D8EA91B79E6}"/>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24</a:t>
            </a:fld>
            <a:endParaRPr lang="en-GB" noProof="0"/>
          </a:p>
        </p:txBody>
      </p:sp>
      <p:sp>
        <p:nvSpPr>
          <p:cNvPr id="4" name="TextBox 3">
            <a:extLst>
              <a:ext uri="{FF2B5EF4-FFF2-40B4-BE49-F238E27FC236}">
                <a16:creationId xmlns:a16="http://schemas.microsoft.com/office/drawing/2014/main" id="{C20D9D89-E403-CA1F-4EEA-CDF27B36E441}"/>
              </a:ext>
            </a:extLst>
          </p:cNvPr>
          <p:cNvSpPr txBox="1"/>
          <p:nvPr/>
        </p:nvSpPr>
        <p:spPr>
          <a:xfrm>
            <a:off x="406009" y="473476"/>
            <a:ext cx="8335936"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Cost Comparison - TCO</a:t>
            </a:r>
            <a:endParaRPr lang="en-GB" sz="6200" noProof="0">
              <a:solidFill>
                <a:srgbClr val="FF0000"/>
              </a:solidFill>
              <a:latin typeface="Fira Sans Light" panose="020B0403050000020004" pitchFamily="34" charset="0"/>
            </a:endParaRPr>
          </a:p>
        </p:txBody>
      </p:sp>
      <p:graphicFrame>
        <p:nvGraphicFramePr>
          <p:cNvPr id="11" name="Table 10">
            <a:extLst>
              <a:ext uri="{FF2B5EF4-FFF2-40B4-BE49-F238E27FC236}">
                <a16:creationId xmlns:a16="http://schemas.microsoft.com/office/drawing/2014/main" id="{7D185968-1A54-8C2D-927D-9A12172A4478}"/>
              </a:ext>
            </a:extLst>
          </p:cNvPr>
          <p:cNvGraphicFramePr>
            <a:graphicFrameLocks noGrp="1"/>
          </p:cNvGraphicFramePr>
          <p:nvPr>
            <p:extLst>
              <p:ext uri="{D42A27DB-BD31-4B8C-83A1-F6EECF244321}">
                <p14:modId xmlns:p14="http://schemas.microsoft.com/office/powerpoint/2010/main" val="712655022"/>
              </p:ext>
            </p:extLst>
          </p:nvPr>
        </p:nvGraphicFramePr>
        <p:xfrm>
          <a:off x="9585413" y="2335979"/>
          <a:ext cx="14389768" cy="10906548"/>
        </p:xfrm>
        <a:graphic>
          <a:graphicData uri="http://schemas.openxmlformats.org/drawingml/2006/table">
            <a:tbl>
              <a:tblPr/>
              <a:tblGrid>
                <a:gridCol w="6715225">
                  <a:extLst>
                    <a:ext uri="{9D8B030D-6E8A-4147-A177-3AD203B41FA5}">
                      <a16:colId xmlns:a16="http://schemas.microsoft.com/office/drawing/2014/main" val="4179381671"/>
                    </a:ext>
                  </a:extLst>
                </a:gridCol>
                <a:gridCol w="2558181">
                  <a:extLst>
                    <a:ext uri="{9D8B030D-6E8A-4147-A177-3AD203B41FA5}">
                      <a16:colId xmlns:a16="http://schemas.microsoft.com/office/drawing/2014/main" val="1081959294"/>
                    </a:ext>
                  </a:extLst>
                </a:gridCol>
                <a:gridCol w="2558181">
                  <a:extLst>
                    <a:ext uri="{9D8B030D-6E8A-4147-A177-3AD203B41FA5}">
                      <a16:colId xmlns:a16="http://schemas.microsoft.com/office/drawing/2014/main" val="3637626932"/>
                    </a:ext>
                  </a:extLst>
                </a:gridCol>
                <a:gridCol w="2558181">
                  <a:extLst>
                    <a:ext uri="{9D8B030D-6E8A-4147-A177-3AD203B41FA5}">
                      <a16:colId xmlns:a16="http://schemas.microsoft.com/office/drawing/2014/main" val="3927490610"/>
                    </a:ext>
                  </a:extLst>
                </a:gridCol>
              </a:tblGrid>
              <a:tr h="336555">
                <a:tc>
                  <a:txBody>
                    <a:bodyPr/>
                    <a:lstStyle/>
                    <a:p>
                      <a:pPr algn="ctr" fontAlgn="b">
                        <a:buNone/>
                      </a:pPr>
                      <a:r>
                        <a:rPr lang="en-DE" sz="2000" b="1" i="0" u="none" strike="noStrike">
                          <a:solidFill>
                            <a:srgbClr val="FFFFFF"/>
                          </a:solidFill>
                          <a:effectLst/>
                          <a:latin typeface="Aktiv Grotesk" panose="020F0502020204030204" pitchFamily="34" charset="0"/>
                        </a:rPr>
                        <a:t> </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Aktiv Grotesk" panose="020F0502020204030204" pitchFamily="34" charset="0"/>
                        </a:rPr>
                        <a:t>GCP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Aktiv Grotesk" panose="020F0502020204030204" pitchFamily="34" charset="0"/>
                        </a:rPr>
                        <a:t>AWS (GBP/mo)</a:t>
                      </a:r>
                    </a:p>
                  </a:txBody>
                  <a:tcPr marL="3579" marR="3579" marT="3579" marB="0" anchor="b">
                    <a:lnL>
                      <a:noFill/>
                    </a:lnL>
                    <a:lnR>
                      <a:noFill/>
                    </a:lnR>
                    <a:lnT>
                      <a:noFill/>
                    </a:lnT>
                    <a:lnB>
                      <a:noFill/>
                    </a:lnB>
                    <a:solidFill>
                      <a:srgbClr val="1F4E79"/>
                    </a:solidFill>
                  </a:tcPr>
                </a:tc>
                <a:tc>
                  <a:txBody>
                    <a:bodyPr/>
                    <a:lstStyle/>
                    <a:p>
                      <a:pPr algn="ctr" fontAlgn="b">
                        <a:buNone/>
                      </a:pPr>
                      <a:r>
                        <a:rPr lang="en-GB" sz="2000" b="1" i="0" u="none" strike="noStrike">
                          <a:solidFill>
                            <a:srgbClr val="FFFFFF"/>
                          </a:solidFill>
                          <a:effectLst/>
                          <a:latin typeface="Aktiv Grotesk" panose="020F0502020204030204" pitchFamily="34" charset="0"/>
                        </a:rPr>
                        <a:t>Azure (GBP/mo)</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4164838871"/>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BASELINE (3yr Committed, London, Monthly)</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746638487"/>
                  </a:ext>
                </a:extLst>
              </a:tr>
              <a:tr h="336555">
                <a:tc>
                  <a:txBody>
                    <a:bodyPr/>
                    <a:lstStyle/>
                    <a:p>
                      <a:pPr algn="l" fontAlgn="b">
                        <a:buNone/>
                      </a:pPr>
                      <a:r>
                        <a:rPr lang="en-GB" sz="2000" b="1" i="0" u="none" strike="noStrike">
                          <a:solidFill>
                            <a:srgbClr val="000000"/>
                          </a:solidFill>
                          <a:effectLst/>
                          <a:latin typeface="Aktiv Grotesk" panose="020F0502020204030204" pitchFamily="34" charset="0"/>
                        </a:rPr>
                        <a:t>Compute + Storage + OS + Network</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Aktiv Grotesk"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Aktiv Grotesk"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Aktiv Grotesk"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70661193"/>
                  </a:ext>
                </a:extLst>
              </a:tr>
              <a:tr h="134341">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214771770"/>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WINDOWS BYOL (234 servers, requires SA)</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3153263"/>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Net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131937685"/>
                  </a:ext>
                </a:extLst>
              </a:tr>
              <a:tr h="336555">
                <a:tc gridSpan="3">
                  <a:txBody>
                    <a:bodyPr/>
                    <a:lstStyle/>
                    <a:p>
                      <a:pPr algn="l" fontAlgn="b">
                        <a:buNone/>
                      </a:pPr>
                      <a:r>
                        <a:rPr lang="en-GB" sz="1800" b="0" i="1" u="none" strike="noStrike">
                          <a:solidFill>
                            <a:srgbClr val="808080"/>
                          </a:solidFill>
                          <a:effectLst/>
                          <a:latin typeface="Aktiv Grotesk" panose="020F0502020204030204" pitchFamily="34" charset="0"/>
                        </a:rPr>
                        <a:t>Net of Sole Tenant (GCP) and Dedicated Host (AWS) overhead. Azure AHB has no infrastructure overhead.</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4118593608"/>
                  </a:ext>
                </a:extLst>
              </a:tr>
              <a:tr h="134341">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3506211411"/>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SQL SERVER (33 instances, 132 cores)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208072485"/>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License surcharge (included in total below)</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15.284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14.286</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Aktiv Grotesk" panose="020F0502020204030204" pitchFamily="34" charset="0"/>
                        </a:rPr>
                        <a:t>14.286</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77415816"/>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BYOL saving (nets to zero if SA confirmed)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-15.284</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-14.286</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-14.286</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989864790"/>
                  </a:ext>
                </a:extLst>
              </a:tr>
              <a:tr h="336555">
                <a:tc gridSpan="2">
                  <a:txBody>
                    <a:bodyPr/>
                    <a:lstStyle/>
                    <a:p>
                      <a:pPr algn="l" fontAlgn="b">
                        <a:buNone/>
                      </a:pPr>
                      <a:r>
                        <a:rPr lang="en-GB" sz="1800" b="0" i="1" u="none" strike="noStrike">
                          <a:solidFill>
                            <a:srgbClr val="808080"/>
                          </a:solidFill>
                          <a:effectLst/>
                          <a:latin typeface="Aktiv Grotesk" panose="020F0502020204030204" pitchFamily="34" charset="0"/>
                        </a:rPr>
                        <a:t>Surcharge included in total. BYOL offset requires client SA confirmation.</a:t>
                      </a:r>
                    </a:p>
                  </a:txBody>
                  <a:tcPr marL="3579" marR="3579" marT="3579" marB="0" anchor="b">
                    <a:lnL>
                      <a:noFill/>
                    </a:lnL>
                    <a:lnR>
                      <a:noFill/>
                    </a:lnR>
                    <a:lnT>
                      <a:noFill/>
                    </a:lnT>
                    <a:lnB>
                      <a:noFill/>
                    </a:lnB>
                    <a:noFill/>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20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775435005"/>
                  </a:ext>
                </a:extLst>
              </a:tr>
              <a:tr h="134341">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1970582759"/>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ORACLE DATABASE (6 servers, 24 proc licenses, support GBP 650K/yr)</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3207454382"/>
                  </a:ext>
                </a:extLst>
              </a:tr>
              <a:tr h="481278">
                <a:tc>
                  <a:txBody>
                    <a:bodyPr/>
                    <a:lstStyle/>
                    <a:p>
                      <a:pPr algn="l" fontAlgn="b">
                        <a:buNone/>
                      </a:pPr>
                      <a:r>
                        <a:rPr lang="en-GB" sz="2000" b="1" i="0" u="none" strike="noStrike">
                          <a:solidFill>
                            <a:srgbClr val="000000"/>
                          </a:solidFill>
                          <a:effectLst/>
                          <a:latin typeface="Aktiv Grotesk" panose="020F0502020204030204" pitchFamily="34" charset="0"/>
                        </a:rPr>
                        <a:t>Option A: Oracle Exadata@Cloud (keep RAC, keep Oracle)</a:t>
                      </a:r>
                    </a:p>
                  </a:txBody>
                  <a:tcPr marL="3579" marR="3579" marT="3579" marB="0" anchor="b">
                    <a:lnL>
                      <a:noFill/>
                    </a:lnL>
                    <a:lnR>
                      <a:noFill/>
                    </a:lnR>
                    <a:lnT>
                      <a:noFill/>
                    </a:lnT>
                    <a:lnB>
                      <a:noFill/>
                    </a:lnB>
                    <a:noFill/>
                  </a:tcPr>
                </a:tc>
                <a:tc>
                  <a:txBody>
                    <a:bodyPr/>
                    <a:lstStyle/>
                    <a:p>
                      <a:pPr algn="r" fontAlgn="b">
                        <a:buNone/>
                      </a:pPr>
                      <a:r>
                        <a:rPr lang="en-DE" sz="2000" b="1" i="0" u="none" strike="noStrike">
                          <a:solidFill>
                            <a:srgbClr val="000000"/>
                          </a:solidFill>
                          <a:effectLst/>
                          <a:latin typeface="Aktiv Grotesk"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1" i="0" u="none" strike="noStrike">
                          <a:solidFill>
                            <a:srgbClr val="000000"/>
                          </a:solidFill>
                          <a:effectLst/>
                          <a:latin typeface="Aktiv Grotesk"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1" i="0" u="none" strike="noStrike">
                          <a:solidFill>
                            <a:srgbClr val="000000"/>
                          </a:solidFill>
                          <a:effectLst/>
                          <a:latin typeface="Aktiv Grotesk"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976125025"/>
                  </a:ext>
                </a:extLst>
              </a:tr>
              <a:tr h="336555">
                <a:tc gridSpan="3">
                  <a:txBody>
                    <a:bodyPr/>
                    <a:lstStyle/>
                    <a:p>
                      <a:pPr algn="l" fontAlgn="b">
                        <a:buNone/>
                      </a:pPr>
                      <a:r>
                        <a:rPr lang="en-GB" sz="1800" b="0" i="1" u="none" strike="noStrike">
                          <a:solidFill>
                            <a:srgbClr val="808080"/>
                          </a:solidFill>
                          <a:effectLst/>
                          <a:latin typeface="Aktiv Grotesk" panose="020F0502020204030204" pitchFamily="34" charset="0"/>
                        </a:rPr>
                        <a:t>All three clouds offer Exadata@Cloud in London (GA). </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a:txBody>
                    <a:bodyPr/>
                    <a:lstStyle/>
                    <a:p>
                      <a:pPr algn="l" fontAlgn="b">
                        <a:buNone/>
                      </a:pPr>
                      <a:endParaRPr lang="en-DE" sz="20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768481179"/>
                  </a:ext>
                </a:extLst>
              </a:tr>
              <a:tr h="134341">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958234996"/>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STORAGE TIERING (336 TiB non-prod, SSD to HDD)</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4164943379"/>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Non-prod storage saving</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3510047562"/>
                  </a:ext>
                </a:extLst>
              </a:tr>
              <a:tr h="134341">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094820845"/>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COMPLETE VIEW (Baseline + Oracle Exadata + Savings)</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221693299"/>
                  </a:ext>
                </a:extLst>
              </a:tr>
              <a:tr h="602674">
                <a:tc gridSpan="4">
                  <a:txBody>
                    <a:bodyPr/>
                    <a:lstStyle/>
                    <a:p>
                      <a:pPr algn="l" fontAlgn="b">
                        <a:buNone/>
                      </a:pPr>
                      <a:r>
                        <a:rPr lang="en-GB" sz="1800" b="0" i="1" u="none" strike="noStrike">
                          <a:solidFill>
                            <a:srgbClr val="808080"/>
                          </a:solidFill>
                          <a:effectLst/>
                          <a:latin typeface="Aktiv Grotesk" panose="020F0502020204030204" pitchFamily="34" charset="0"/>
                        </a:rPr>
                        <a:t>Includes: compute, storage, OS, 5% network placeholder (inter-zone/region), Oracle (Option A Exadata@Cloud), Oracle support retained under BYOL, Windows + SQL Server BYOL (SA assumed). SQL surcharge is not added because SA is assumed in place.</a:t>
                      </a:r>
                    </a:p>
                  </a:txBody>
                  <a:tcPr marL="3579" marR="3579" marT="3579" marB="0" anchor="b">
                    <a:lnL>
                      <a:noFill/>
                    </a:lnL>
                    <a:lnR>
                      <a:noFill/>
                    </a:lnR>
                    <a:lnT>
                      <a:noFill/>
                    </a:lnT>
                    <a:lnB>
                      <a:noFill/>
                    </a:lnB>
                    <a:no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921987468"/>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Baseline 3yr</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186.974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190.285</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Aktiv Grotesk" panose="020F0502020204030204" pitchFamily="34" charset="0"/>
                        </a:rPr>
                        <a:t>274.881</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541069097"/>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 Windows BYOL (SA assumed)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-7.220</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-8.605</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-17.529</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2552023162"/>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 Storage tiering (non-prod to HDD)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-18.603</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-10.261</a:t>
                      </a:r>
                    </a:p>
                  </a:txBody>
                  <a:tcPr marL="3579" marR="3579" marT="3579" marB="0" anchor="b">
                    <a:lnL>
                      <a:noFill/>
                    </a:lnL>
                    <a:lnR>
                      <a:noFill/>
                    </a:lnR>
                    <a:lnT>
                      <a:noFill/>
                    </a:lnT>
                    <a:lnB>
                      <a:noFill/>
                    </a:lnB>
                    <a:solidFill>
                      <a:srgbClr val="C8E6C9"/>
                    </a:solidFill>
                  </a:tcPr>
                </a:tc>
                <a:tc>
                  <a:txBody>
                    <a:bodyPr/>
                    <a:lstStyle/>
                    <a:p>
                      <a:pPr algn="r" fontAlgn="b">
                        <a:buNone/>
                      </a:pPr>
                      <a:r>
                        <a:rPr lang="en-DE" sz="2000" b="0" i="0" u="none" strike="noStrike">
                          <a:solidFill>
                            <a:srgbClr val="000000"/>
                          </a:solidFill>
                          <a:effectLst/>
                          <a:latin typeface="Aktiv Grotesk" panose="020F0502020204030204" pitchFamily="34" charset="0"/>
                        </a:rPr>
                        <a:t>-9.964</a:t>
                      </a:r>
                    </a:p>
                  </a:txBody>
                  <a:tcPr marL="3579" marR="3579" marT="3579" marB="0" anchor="b">
                    <a:lnL>
                      <a:noFill/>
                    </a:lnL>
                    <a:lnR>
                      <a:noFill/>
                    </a:lnR>
                    <a:lnT>
                      <a:noFill/>
                    </a:lnT>
                    <a:lnB>
                      <a:noFill/>
                    </a:lnB>
                    <a:solidFill>
                      <a:srgbClr val="C8E6C9"/>
                    </a:solidFill>
                  </a:tcPr>
                </a:tc>
                <a:extLst>
                  <a:ext uri="{0D108BD9-81ED-4DB2-BD59-A6C34878D82A}">
                    <a16:rowId xmlns:a16="http://schemas.microsoft.com/office/drawing/2014/main" val="1333840635"/>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 Oracle Option A (Exadata@Cloud)</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42.909</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Aktiv Grotesk" panose="020F0502020204030204" pitchFamily="34" charset="0"/>
                        </a:rPr>
                        <a:t>42.909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Aktiv Grotesk" panose="020F0502020204030204" pitchFamily="34" charset="0"/>
                        </a:rPr>
                        <a:t>42.909</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1137816672"/>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 Oracle support (GBP 650K/yr, retained under BYOL)</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54.167</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Aktiv Grotesk" panose="020F0502020204030204" pitchFamily="34" charset="0"/>
                        </a:rPr>
                        <a:t>54.167</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Aktiv Grotesk" panose="020F0502020204030204" pitchFamily="34" charset="0"/>
                        </a:rPr>
                        <a:t>54.167</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24665110"/>
                  </a:ext>
                </a:extLst>
              </a:tr>
              <a:tr h="403085">
                <a:tc>
                  <a:txBody>
                    <a:bodyPr/>
                    <a:lstStyle/>
                    <a:p>
                      <a:pPr algn="l" fontAlgn="b">
                        <a:buNone/>
                      </a:pPr>
                      <a:r>
                        <a:rPr lang="en-GB" sz="2400" b="1" i="0" u="none" strike="noStrike">
                          <a:solidFill>
                            <a:srgbClr val="FFFFFF"/>
                          </a:solidFill>
                          <a:effectLst/>
                          <a:latin typeface="Aktiv Grotesk" panose="020F0502020204030204" pitchFamily="34" charset="0"/>
                        </a:rPr>
                        <a:t>COMPLETE VIEW TOTAL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258.227</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268.495</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344.464</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884233559"/>
                  </a:ext>
                </a:extLst>
              </a:tr>
              <a:tr h="403085">
                <a:tc>
                  <a:txBody>
                    <a:bodyPr/>
                    <a:lstStyle/>
                    <a:p>
                      <a:pPr algn="l" fontAlgn="b">
                        <a:buNone/>
                      </a:pPr>
                      <a:r>
                        <a:rPr lang="en-GB" sz="2400" b="1" i="0" u="none" strike="noStrike">
                          <a:solidFill>
                            <a:srgbClr val="FFFFFF"/>
                          </a:solidFill>
                          <a:effectLst/>
                          <a:latin typeface="Aktiv Grotesk" panose="020F0502020204030204" pitchFamily="34" charset="0"/>
                        </a:rPr>
                        <a:t>COMPLETE VIEW TOTAL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3.098.724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3.221.940</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4.133.568</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780842579"/>
                  </a:ext>
                </a:extLst>
              </a:tr>
              <a:tr h="134341">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tc>
                  <a:txBody>
                    <a:bodyPr/>
                    <a:lstStyle/>
                    <a:p>
                      <a:pPr algn="l" fontAlgn="b">
                        <a:buNone/>
                      </a:pPr>
                      <a:endParaRPr lang="en-DE" sz="800" b="0" i="0" u="none" strike="noStrike">
                        <a:solidFill>
                          <a:srgbClr val="000000"/>
                        </a:solidFill>
                        <a:effectLst/>
                        <a:latin typeface="Aktiv Grotesk" panose="020F0502020204030204" pitchFamily="34" charset="0"/>
                      </a:endParaRPr>
                    </a:p>
                  </a:txBody>
                  <a:tcPr marL="3579" marR="3579" marT="3579" marB="0" anchor="b">
                    <a:lnL>
                      <a:noFill/>
                    </a:lnL>
                    <a:lnR>
                      <a:noFill/>
                    </a:lnR>
                    <a:lnT>
                      <a:noFill/>
                    </a:lnT>
                    <a:lnB>
                      <a:noFill/>
                    </a:lnB>
                    <a:noFill/>
                  </a:tcPr>
                </a:tc>
                <a:extLst>
                  <a:ext uri="{0D108BD9-81ED-4DB2-BD59-A6C34878D82A}">
                    <a16:rowId xmlns:a16="http://schemas.microsoft.com/office/drawing/2014/main" val="2872609472"/>
                  </a:ext>
                </a:extLst>
              </a:tr>
              <a:tr h="336555">
                <a:tc gridSpan="4">
                  <a:txBody>
                    <a:bodyPr/>
                    <a:lstStyle/>
                    <a:p>
                      <a:pPr algn="l" fontAlgn="b">
                        <a:buNone/>
                      </a:pPr>
                      <a:r>
                        <a:rPr lang="en-GB" sz="2000" b="1" i="0" u="none" strike="noStrike">
                          <a:solidFill>
                            <a:srgbClr val="000000"/>
                          </a:solidFill>
                          <a:effectLst/>
                          <a:latin typeface="Aktiv Grotesk" panose="020F0502020204030204" pitchFamily="34" charset="0"/>
                        </a:rPr>
                        <a:t>WITH INDICATIVE EGRESS (100TB/mo) - illustrative, Phase 2 to quantify actual volume</a:t>
                      </a:r>
                    </a:p>
                  </a:txBody>
                  <a:tcPr marL="3579" marR="3579" marT="3579" marB="0" anchor="b">
                    <a:lnL>
                      <a:noFill/>
                    </a:lnL>
                    <a:lnR>
                      <a:noFill/>
                    </a:lnR>
                    <a:lnT>
                      <a:noFill/>
                    </a:lnT>
                    <a:lnB>
                      <a:noFill/>
                    </a:lnB>
                    <a:solidFill>
                      <a:srgbClr val="D6DCE4"/>
                    </a:solidFill>
                  </a:tcP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427502218"/>
                  </a:ext>
                </a:extLst>
              </a:tr>
              <a:tr h="336555">
                <a:tc>
                  <a:txBody>
                    <a:bodyPr/>
                    <a:lstStyle/>
                    <a:p>
                      <a:pPr algn="l" fontAlgn="b">
                        <a:buNone/>
                      </a:pPr>
                      <a:r>
                        <a:rPr lang="en-GB" sz="2000" b="0" i="0" u="none" strike="noStrike">
                          <a:solidFill>
                            <a:srgbClr val="000000"/>
                          </a:solidFill>
                          <a:effectLst/>
                          <a:latin typeface="Aktiv Grotesk" panose="020F0502020204030204" pitchFamily="34" charset="0"/>
                        </a:rPr>
                        <a:t>+ Internet egress at 100TB/mo</a:t>
                      </a:r>
                    </a:p>
                  </a:txBody>
                  <a:tcPr marL="3579" marR="3579" marT="3579" marB="0" anchor="b">
                    <a:lnL>
                      <a:noFill/>
                    </a:lnL>
                    <a:lnR>
                      <a:noFill/>
                    </a:lnR>
                    <a:lnT>
                      <a:noFill/>
                    </a:lnT>
                    <a:lnB>
                      <a:noFill/>
                    </a:lnB>
                    <a:noFill/>
                  </a:tcPr>
                </a:tc>
                <a:tc>
                  <a:txBody>
                    <a:bodyPr/>
                    <a:lstStyle/>
                    <a:p>
                      <a:pPr algn="r" fontAlgn="b">
                        <a:buNone/>
                      </a:pPr>
                      <a:r>
                        <a:rPr lang="en-DE" sz="2000" b="0" i="0" u="none" strike="noStrike">
                          <a:solidFill>
                            <a:srgbClr val="000000"/>
                          </a:solidFill>
                          <a:effectLst/>
                          <a:latin typeface="Aktiv Grotesk" panose="020F0502020204030204" pitchFamily="34" charset="0"/>
                        </a:rPr>
                        <a:t>6.274</a:t>
                      </a:r>
                    </a:p>
                  </a:txBody>
                  <a:tcPr marL="3579" marR="3579" marT="3579" marB="0" anchor="b">
                    <a:lnL>
                      <a:noFill/>
                    </a:lnL>
                    <a:lnR>
                      <a:noFill/>
                    </a:lnR>
                    <a:lnT>
                      <a:noFill/>
                    </a:lnT>
                    <a:lnB>
                      <a:noFill/>
                    </a:lnB>
                    <a:solidFill>
                      <a:srgbClr val="E8F5E9"/>
                    </a:solidFill>
                  </a:tcPr>
                </a:tc>
                <a:tc>
                  <a:txBody>
                    <a:bodyPr/>
                    <a:lstStyle/>
                    <a:p>
                      <a:pPr algn="r" fontAlgn="b">
                        <a:buNone/>
                      </a:pPr>
                      <a:r>
                        <a:rPr lang="en-DE" sz="2000" b="0" i="0" u="none" strike="noStrike">
                          <a:solidFill>
                            <a:srgbClr val="000000"/>
                          </a:solidFill>
                          <a:effectLst/>
                          <a:latin typeface="Aktiv Grotesk" panose="020F0502020204030204" pitchFamily="34" charset="0"/>
                        </a:rPr>
                        <a:t>5.889</a:t>
                      </a:r>
                    </a:p>
                  </a:txBody>
                  <a:tcPr marL="3579" marR="3579" marT="3579" marB="0" anchor="b">
                    <a:lnL>
                      <a:noFill/>
                    </a:lnL>
                    <a:lnR>
                      <a:noFill/>
                    </a:lnR>
                    <a:lnT>
                      <a:noFill/>
                    </a:lnT>
                    <a:lnB>
                      <a:noFill/>
                    </a:lnB>
                    <a:solidFill>
                      <a:srgbClr val="FFF3E0"/>
                    </a:solidFill>
                  </a:tcPr>
                </a:tc>
                <a:tc>
                  <a:txBody>
                    <a:bodyPr/>
                    <a:lstStyle/>
                    <a:p>
                      <a:pPr algn="r" fontAlgn="b">
                        <a:buNone/>
                      </a:pPr>
                      <a:r>
                        <a:rPr lang="en-DE" sz="2000" b="0" i="0" u="none" strike="noStrike">
                          <a:solidFill>
                            <a:srgbClr val="000000"/>
                          </a:solidFill>
                          <a:effectLst/>
                          <a:latin typeface="Aktiv Grotesk" panose="020F0502020204030204" pitchFamily="34" charset="0"/>
                        </a:rPr>
                        <a:t>4.832</a:t>
                      </a:r>
                    </a:p>
                  </a:txBody>
                  <a:tcPr marL="3579" marR="3579" marT="3579" marB="0" anchor="b">
                    <a:lnL>
                      <a:noFill/>
                    </a:lnL>
                    <a:lnR>
                      <a:noFill/>
                    </a:lnR>
                    <a:lnT>
                      <a:noFill/>
                    </a:lnT>
                    <a:lnB>
                      <a:noFill/>
                    </a:lnB>
                    <a:solidFill>
                      <a:srgbClr val="E3F2FD"/>
                    </a:solidFill>
                  </a:tcPr>
                </a:tc>
                <a:extLst>
                  <a:ext uri="{0D108BD9-81ED-4DB2-BD59-A6C34878D82A}">
                    <a16:rowId xmlns:a16="http://schemas.microsoft.com/office/drawing/2014/main" val="31544034"/>
                  </a:ext>
                </a:extLst>
              </a:tr>
              <a:tr h="403085">
                <a:tc>
                  <a:txBody>
                    <a:bodyPr/>
                    <a:lstStyle/>
                    <a:p>
                      <a:pPr algn="l" fontAlgn="b">
                        <a:buNone/>
                      </a:pPr>
                      <a:r>
                        <a:rPr lang="en-GB" sz="2400" b="1" i="0" u="none" strike="noStrike">
                          <a:solidFill>
                            <a:srgbClr val="FFFFFF"/>
                          </a:solidFill>
                          <a:effectLst/>
                          <a:latin typeface="Aktiv Grotesk" panose="020F0502020204030204" pitchFamily="34" charset="0"/>
                        </a:rPr>
                        <a:t>COMPLETE VIEW + EGRESS (Monthly)</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264.501</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274.384</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349.296</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3220287520"/>
                  </a:ext>
                </a:extLst>
              </a:tr>
              <a:tr h="403085">
                <a:tc>
                  <a:txBody>
                    <a:bodyPr/>
                    <a:lstStyle/>
                    <a:p>
                      <a:pPr algn="l" fontAlgn="b">
                        <a:buNone/>
                      </a:pPr>
                      <a:r>
                        <a:rPr lang="en-GB" sz="2400" b="1" i="0" u="none" strike="noStrike">
                          <a:solidFill>
                            <a:srgbClr val="FFFFFF"/>
                          </a:solidFill>
                          <a:effectLst/>
                          <a:latin typeface="Aktiv Grotesk" panose="020F0502020204030204" pitchFamily="34" charset="0"/>
                        </a:rPr>
                        <a:t>COMPLETE VIEW + EGRESS (Annual)</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3.174.012</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3.292.608</a:t>
                      </a:r>
                    </a:p>
                  </a:txBody>
                  <a:tcPr marL="3579" marR="3579" marT="3579" marB="0" anchor="b">
                    <a:lnL>
                      <a:noFill/>
                    </a:lnL>
                    <a:lnR>
                      <a:noFill/>
                    </a:lnR>
                    <a:lnT>
                      <a:noFill/>
                    </a:lnT>
                    <a:lnB>
                      <a:noFill/>
                    </a:lnB>
                    <a:solidFill>
                      <a:srgbClr val="1F4E79"/>
                    </a:solidFill>
                  </a:tcPr>
                </a:tc>
                <a:tc>
                  <a:txBody>
                    <a:bodyPr/>
                    <a:lstStyle/>
                    <a:p>
                      <a:pPr algn="r" fontAlgn="b">
                        <a:buNone/>
                      </a:pPr>
                      <a:r>
                        <a:rPr lang="en-DE" sz="2400" b="1" i="0" u="none" strike="noStrike">
                          <a:solidFill>
                            <a:srgbClr val="FFFFFF"/>
                          </a:solidFill>
                          <a:effectLst/>
                          <a:latin typeface="Aktiv Grotesk" panose="020F0502020204030204" pitchFamily="34" charset="0"/>
                        </a:rPr>
                        <a:t>4.191.552</a:t>
                      </a:r>
                    </a:p>
                  </a:txBody>
                  <a:tcPr marL="3579" marR="3579" marT="3579" marB="0" anchor="b">
                    <a:lnL>
                      <a:noFill/>
                    </a:lnL>
                    <a:lnR>
                      <a:noFill/>
                    </a:lnR>
                    <a:lnT>
                      <a:noFill/>
                    </a:lnT>
                    <a:lnB>
                      <a:noFill/>
                    </a:lnB>
                    <a:solidFill>
                      <a:srgbClr val="1F4E79"/>
                    </a:solidFill>
                  </a:tcPr>
                </a:tc>
                <a:extLst>
                  <a:ext uri="{0D108BD9-81ED-4DB2-BD59-A6C34878D82A}">
                    <a16:rowId xmlns:a16="http://schemas.microsoft.com/office/drawing/2014/main" val="2479566585"/>
                  </a:ext>
                </a:extLst>
              </a:tr>
            </a:tbl>
          </a:graphicData>
        </a:graphic>
      </p:graphicFrame>
      <p:sp>
        <p:nvSpPr>
          <p:cNvPr id="12" name="TextBox 11">
            <a:extLst>
              <a:ext uri="{FF2B5EF4-FFF2-40B4-BE49-F238E27FC236}">
                <a16:creationId xmlns:a16="http://schemas.microsoft.com/office/drawing/2014/main" id="{7CB5F6D8-648A-4156-C69B-39B74037DA41}"/>
              </a:ext>
            </a:extLst>
          </p:cNvPr>
          <p:cNvSpPr txBox="1"/>
          <p:nvPr/>
        </p:nvSpPr>
        <p:spPr>
          <a:xfrm>
            <a:off x="293714" y="2767695"/>
            <a:ext cx="8048181" cy="1815882"/>
          </a:xfrm>
          <a:prstGeom prst="rect">
            <a:avLst/>
          </a:prstGeom>
          <a:noFill/>
        </p:spPr>
        <p:txBody>
          <a:bodyPr wrap="square" rtlCol="0">
            <a:spAutoFit/>
          </a:bodyPr>
          <a:lstStyle/>
          <a:p>
            <a:pPr algn="l"/>
            <a:r>
              <a:rPr lang="en-GB" sz="2800">
                <a:solidFill>
                  <a:srgbClr val="FF0000"/>
                </a:solidFill>
                <a:latin typeface="Fira Sans" panose="020B0503050000020004" pitchFamily="34" charset="0"/>
              </a:rPr>
              <a:t>Key Points:</a:t>
            </a:r>
          </a:p>
          <a:p>
            <a:pPr marL="285750" indent="-285750">
              <a:buClr>
                <a:srgbClr val="FF0000"/>
              </a:buClr>
              <a:buFont typeface="Aktiv Grotesk" panose="020B0604020202020204" pitchFamily="34" charset="0"/>
              <a:buChar char="•"/>
            </a:pPr>
            <a:r>
              <a:rPr lang="en-GB" sz="2800">
                <a:latin typeface="Fira Sans" panose="020B0503050000020004" pitchFamily="34" charset="0"/>
              </a:rPr>
              <a:t>Windows BYOL – 2019 Only vs AHB</a:t>
            </a:r>
          </a:p>
          <a:p>
            <a:pPr marL="285750" indent="-285750">
              <a:buClr>
                <a:srgbClr val="FF0000"/>
              </a:buClr>
              <a:buFont typeface="Aktiv Grotesk" panose="020B0604020202020204" pitchFamily="34" charset="0"/>
              <a:buChar char="•"/>
            </a:pPr>
            <a:r>
              <a:rPr lang="en-GB" sz="2800">
                <a:latin typeface="Fira Sans" panose="020B0503050000020004" pitchFamily="34" charset="0"/>
              </a:rPr>
              <a:t>SQL ???</a:t>
            </a:r>
          </a:p>
          <a:p>
            <a:pPr marL="285750" indent="-285750">
              <a:buClr>
                <a:srgbClr val="FF0000"/>
              </a:buClr>
              <a:buFont typeface="Aktiv Grotesk" panose="020B0604020202020204" pitchFamily="34" charset="0"/>
              <a:buChar char="•"/>
            </a:pPr>
            <a:endParaRPr lang="en-GB" sz="2800">
              <a:latin typeface="Fira Sans" panose="020B0503050000020004" pitchFamily="34" charset="0"/>
            </a:endParaRPr>
          </a:p>
        </p:txBody>
      </p:sp>
      <p:pic>
        <p:nvPicPr>
          <p:cNvPr id="13" name="Picture 12"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676534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6434-335C-3241-F512-291243EFDCA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A1E31D-4ABA-C2DB-35F8-ACEE819BD521}"/>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25</a:t>
            </a:fld>
            <a:endParaRPr lang="en-GB" noProof="0"/>
          </a:p>
        </p:txBody>
      </p:sp>
      <p:sp>
        <p:nvSpPr>
          <p:cNvPr id="4" name="TextBox 3">
            <a:extLst>
              <a:ext uri="{FF2B5EF4-FFF2-40B4-BE49-F238E27FC236}">
                <a16:creationId xmlns:a16="http://schemas.microsoft.com/office/drawing/2014/main" id="{D88C413E-0629-D710-22BE-828ABD1A41F8}"/>
              </a:ext>
            </a:extLst>
          </p:cNvPr>
          <p:cNvSpPr txBox="1"/>
          <p:nvPr/>
        </p:nvSpPr>
        <p:spPr>
          <a:xfrm>
            <a:off x="406009" y="473476"/>
            <a:ext cx="11024172" cy="1046440"/>
          </a:xfrm>
          <a:prstGeom prst="rect">
            <a:avLst/>
          </a:prstGeom>
          <a:noFill/>
        </p:spPr>
        <p:txBody>
          <a:bodyPr wrap="none" rtlCol="0">
            <a:spAutoFit/>
          </a:bodyPr>
          <a:lstStyle/>
          <a:p>
            <a:r>
              <a:rPr lang="en-US" sz="6200" err="1">
                <a:solidFill>
                  <a:srgbClr val="FF0000"/>
                </a:solidFill>
                <a:latin typeface="Fira Sans Light" panose="020B0403050000020004" pitchFamily="34" charset="0"/>
              </a:rPr>
              <a:t>Hyperscaler</a:t>
            </a:r>
            <a:r>
              <a:rPr lang="en-US" sz="6200">
                <a:solidFill>
                  <a:srgbClr val="FF0000"/>
                </a:solidFill>
                <a:latin typeface="Fira Sans Light" panose="020B0403050000020004" pitchFamily="34" charset="0"/>
              </a:rPr>
              <a:t> Funding Summary</a:t>
            </a:r>
            <a:endParaRPr lang="en-GB" sz="620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79F4CFD7-B204-5240-7756-C6AC34F26F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475752" y="3421608"/>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2C6B9788-9302-00E2-D458-FC8EF1D06F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04683" y="3577038"/>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7A145B94-D257-70F7-9930-826BDCCF7E7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964730" y="3338474"/>
            <a:ext cx="1366355" cy="136635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 name="Table 2">
            <a:extLst>
              <a:ext uri="{FF2B5EF4-FFF2-40B4-BE49-F238E27FC236}">
                <a16:creationId xmlns:a16="http://schemas.microsoft.com/office/drawing/2014/main" id="{18937DF5-DD1F-DF1B-BEC8-C5F931E0328F}"/>
              </a:ext>
            </a:extLst>
          </p:cNvPr>
          <p:cNvGraphicFramePr>
            <a:graphicFrameLocks noGrp="1"/>
          </p:cNvGraphicFramePr>
          <p:nvPr>
            <p:extLst>
              <p:ext uri="{D42A27DB-BD31-4B8C-83A1-F6EECF244321}">
                <p14:modId xmlns:p14="http://schemas.microsoft.com/office/powerpoint/2010/main" val="3964336679"/>
              </p:ext>
            </p:extLst>
          </p:nvPr>
        </p:nvGraphicFramePr>
        <p:xfrm>
          <a:off x="2779487" y="2857540"/>
          <a:ext cx="20455112" cy="9017078"/>
        </p:xfrm>
        <a:graphic>
          <a:graphicData uri="http://schemas.openxmlformats.org/drawingml/2006/table">
            <a:tbl>
              <a:tblPr firstRow="1" bandRow="1">
                <a:tableStyleId>{5940675A-B579-460E-94D1-54222C63F5DA}</a:tableStyleId>
              </a:tblPr>
              <a:tblGrid>
                <a:gridCol w="6986726">
                  <a:extLst>
                    <a:ext uri="{9D8B030D-6E8A-4147-A177-3AD203B41FA5}">
                      <a16:colId xmlns:a16="http://schemas.microsoft.com/office/drawing/2014/main" val="3363330012"/>
                    </a:ext>
                  </a:extLst>
                </a:gridCol>
                <a:gridCol w="4503492">
                  <a:extLst>
                    <a:ext uri="{9D8B030D-6E8A-4147-A177-3AD203B41FA5}">
                      <a16:colId xmlns:a16="http://schemas.microsoft.com/office/drawing/2014/main" val="1756671025"/>
                    </a:ext>
                  </a:extLst>
                </a:gridCol>
                <a:gridCol w="4482447">
                  <a:extLst>
                    <a:ext uri="{9D8B030D-6E8A-4147-A177-3AD203B41FA5}">
                      <a16:colId xmlns:a16="http://schemas.microsoft.com/office/drawing/2014/main" val="3364758751"/>
                    </a:ext>
                  </a:extLst>
                </a:gridCol>
                <a:gridCol w="4482447">
                  <a:extLst>
                    <a:ext uri="{9D8B030D-6E8A-4147-A177-3AD203B41FA5}">
                      <a16:colId xmlns:a16="http://schemas.microsoft.com/office/drawing/2014/main" val="1513833535"/>
                    </a:ext>
                  </a:extLst>
                </a:gridCol>
              </a:tblGrid>
              <a:tr h="2191538">
                <a:tc>
                  <a:txBody>
                    <a:bodyPr/>
                    <a:lstStyle/>
                    <a:p>
                      <a:endParaRPr lang="en-IN" sz="3200">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tc>
                  <a:txBody>
                    <a:bodyPr/>
                    <a:lstStyle/>
                    <a:p>
                      <a:pPr algn="ctr"/>
                      <a:endParaRPr lang="en-IN" sz="3200" b="1">
                        <a:latin typeface="Fira Sans" panose="020B0503050000020004" pitchFamily="34" charset="0"/>
                      </a:endParaRPr>
                    </a:p>
                  </a:txBody>
                  <a:tcPr/>
                </a:tc>
                <a:extLst>
                  <a:ext uri="{0D108BD9-81ED-4DB2-BD59-A6C34878D82A}">
                    <a16:rowId xmlns:a16="http://schemas.microsoft.com/office/drawing/2014/main" val="1473724744"/>
                  </a:ext>
                </a:extLst>
              </a:tr>
              <a:tr h="1042807">
                <a:tc>
                  <a:txBody>
                    <a:bodyPr/>
                    <a:lstStyle/>
                    <a:p>
                      <a:r>
                        <a:rPr lang="en-US" sz="3200">
                          <a:latin typeface="Fira Sans" panose="020B0503050000020004" pitchFamily="34" charset="0"/>
                        </a:rPr>
                        <a:t>Total cloud spend (PAYG yearly)</a:t>
                      </a: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a:ea typeface="+mn-ea"/>
                          <a:cs typeface="+mn-cs"/>
                        </a:rPr>
                        <a:t>$ </a:t>
                      </a:r>
                      <a:r>
                        <a:rPr lang="en-GB" sz="3200" b="0" i="0" u="none" strike="noStrike" kern="1200" noProof="0">
                          <a:solidFill>
                            <a:srgbClr val="000000"/>
                          </a:solidFill>
                          <a:effectLst/>
                          <a:latin typeface="Fira Sans"/>
                          <a:ea typeface="+mn-ea"/>
                          <a:cs typeface="+mn-cs"/>
                        </a:rPr>
                        <a:t>3,024,396</a:t>
                      </a:r>
                      <a:endParaRPr lang="en-IN" sz="3200" b="0" i="0" u="none" strike="noStrike" kern="1200">
                        <a:solidFill>
                          <a:srgbClr val="000000"/>
                        </a:solidFill>
                        <a:effectLst/>
                        <a:latin typeface="Fira Sans"/>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$ 4,368,962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a:t>
                      </a:r>
                      <a:r>
                        <a:rPr lang="en-IN" sz="3200" b="0" i="0" u="none" strike="noStrike" kern="1200">
                          <a:solidFill>
                            <a:srgbClr val="000000"/>
                          </a:solidFill>
                          <a:effectLst/>
                          <a:latin typeface="Fira Sans" panose="020B0503050000020004" pitchFamily="34" charset="0"/>
                          <a:ea typeface="+mn-ea"/>
                          <a:cs typeface="+mn-cs"/>
                        </a:rPr>
                        <a:t>2,243,685</a:t>
                      </a:r>
                    </a:p>
                  </a:txBody>
                  <a:tcPr/>
                </a:tc>
                <a:extLst>
                  <a:ext uri="{0D108BD9-81ED-4DB2-BD59-A6C34878D82A}">
                    <a16:rowId xmlns:a16="http://schemas.microsoft.com/office/drawing/2014/main" val="772295587"/>
                  </a:ext>
                </a:extLst>
              </a:tr>
              <a:tr h="1628492">
                <a:tc>
                  <a:txBody>
                    <a:bodyPr/>
                    <a:lstStyle/>
                    <a:p>
                      <a:r>
                        <a:rPr lang="en-US" sz="3200">
                          <a:latin typeface="Fira Sans" panose="020B0503050000020004" pitchFamily="34" charset="0"/>
                        </a:rPr>
                        <a:t>Total Partner Payment (A)</a:t>
                      </a:r>
                    </a:p>
                    <a:p>
                      <a:r>
                        <a:rPr lang="en-US" sz="3200" kern="1200">
                          <a:solidFill>
                            <a:schemeClr val="tx1"/>
                          </a:solidFill>
                          <a:latin typeface="Fira Sans" panose="020B0503050000020004" pitchFamily="34" charset="0"/>
                          <a:ea typeface="+mn-ea"/>
                          <a:cs typeface="+mn-cs"/>
                        </a:rPr>
                        <a:t>(discount against Rackspace Fees)</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$ 1,757,600 </a:t>
                      </a:r>
                    </a:p>
                    <a:p>
                      <a:pPr algn="ctr"/>
                      <a:endParaRPr lang="en-IN" sz="3200">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3200" b="0" i="0" u="none" strike="noStrike" kern="1200">
                          <a:solidFill>
                            <a:srgbClr val="FF0000"/>
                          </a:solidFill>
                          <a:effectLst/>
                          <a:latin typeface="Fira Sans" panose="020B0503050000020004" pitchFamily="34" charset="0"/>
                          <a:ea typeface="+mn-ea"/>
                          <a:cs typeface="+mn-cs"/>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a:solidFill>
                            <a:srgbClr val="000000"/>
                          </a:solidFill>
                          <a:effectLst/>
                          <a:latin typeface="Fira Sans" panose="020B0503050000020004" pitchFamily="34" charset="0"/>
                        </a:rPr>
                        <a:t>$ 1,080,498</a:t>
                      </a:r>
                    </a:p>
                  </a:txBody>
                  <a:tcPr/>
                </a:tc>
                <a:extLst>
                  <a:ext uri="{0D108BD9-81ED-4DB2-BD59-A6C34878D82A}">
                    <a16:rowId xmlns:a16="http://schemas.microsoft.com/office/drawing/2014/main" val="824352456"/>
                  </a:ext>
                </a:extLst>
              </a:tr>
              <a:tr h="1961981">
                <a:tc>
                  <a:txBody>
                    <a:bodyPr/>
                    <a:lstStyle/>
                    <a:p>
                      <a:r>
                        <a:rPr lang="en-US" sz="3200">
                          <a:latin typeface="Fira Sans" panose="020B0503050000020004" pitchFamily="34" charset="0"/>
                        </a:rPr>
                        <a:t>Total Cloud Credits (B)</a:t>
                      </a:r>
                    </a:p>
                    <a:p>
                      <a:r>
                        <a:rPr lang="en-US" sz="3200" kern="1200">
                          <a:solidFill>
                            <a:schemeClr val="tx1"/>
                          </a:solidFill>
                          <a:latin typeface="Fira Sans" panose="020B0503050000020004" pitchFamily="34" charset="0"/>
                          <a:ea typeface="+mn-ea"/>
                          <a:cs typeface="+mn-cs"/>
                        </a:rPr>
                        <a:t>(discount against [Client]’s consumption)</a:t>
                      </a:r>
                      <a:endParaRPr lang="en-IN" sz="3200" kern="1200">
                        <a:solidFill>
                          <a:schemeClr val="tx1"/>
                        </a:solidFill>
                        <a:latin typeface="Fira Sans" panose="020B0503050000020004" pitchFamily="34"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$ 756,099</a:t>
                      </a:r>
                    </a:p>
                  </a:txBody>
                  <a:tcPr/>
                </a:tc>
                <a:tc>
                  <a:txBody>
                    <a:bodyPr/>
                    <a:lstStyle/>
                    <a:p>
                      <a:pPr algn="ctr"/>
                      <a:r>
                        <a:rPr lang="en-US" sz="3200">
                          <a:solidFill>
                            <a:srgbClr val="FF0000"/>
                          </a:solidFill>
                          <a:latin typeface="Fira Sans" panose="020B0503050000020004" pitchFamily="34" charset="0"/>
                        </a:rPr>
                        <a:t>-</a:t>
                      </a:r>
                      <a:endParaRPr lang="en-IN" sz="3200">
                        <a:solidFill>
                          <a:srgbClr val="FF0000"/>
                        </a:solidFill>
                        <a:latin typeface="Fira Sans" panose="020B05030500000200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$ 745,192</a:t>
                      </a:r>
                    </a:p>
                  </a:txBody>
                  <a:tcPr/>
                </a:tc>
                <a:extLst>
                  <a:ext uri="{0D108BD9-81ED-4DB2-BD59-A6C34878D82A}">
                    <a16:rowId xmlns:a16="http://schemas.microsoft.com/office/drawing/2014/main" val="1493135200"/>
                  </a:ext>
                </a:extLst>
              </a:tr>
              <a:tr h="1042807">
                <a:tc>
                  <a:txBody>
                    <a:bodyPr/>
                    <a:lstStyle/>
                    <a:p>
                      <a:r>
                        <a:rPr lang="en-IN" sz="3200">
                          <a:latin typeface="Fira Sans" panose="020B0503050000020004" pitchFamily="34" charset="0"/>
                        </a:rPr>
                        <a:t>Total funding in USD (A+B)</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$ 2,513,699</a:t>
                      </a:r>
                    </a:p>
                  </a:txBody>
                  <a:tcPr/>
                </a:tc>
                <a:tc>
                  <a:txBody>
                    <a:bodyPr/>
                    <a:lstStyle/>
                    <a:p>
                      <a:pPr algn="ctr"/>
                      <a:r>
                        <a:rPr lang="en-IN" sz="3200">
                          <a:solidFill>
                            <a:srgbClr val="FF0000"/>
                          </a:solidFill>
                          <a:latin typeface="Fira Sans" panose="020B05030500000200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3200" b="0" i="0" u="none" strike="noStrike" kern="1200">
                          <a:solidFill>
                            <a:srgbClr val="000000"/>
                          </a:solidFill>
                          <a:effectLst/>
                          <a:latin typeface="Fira Sans" panose="020B0503050000020004" pitchFamily="34" charset="0"/>
                          <a:ea typeface="+mn-ea"/>
                          <a:cs typeface="+mn-cs"/>
                        </a:rPr>
                        <a:t>$ 1,825,690</a:t>
                      </a:r>
                    </a:p>
                  </a:txBody>
                  <a:tcPr/>
                </a:tc>
                <a:extLst>
                  <a:ext uri="{0D108BD9-81ED-4DB2-BD59-A6C34878D82A}">
                    <a16:rowId xmlns:a16="http://schemas.microsoft.com/office/drawing/2014/main" val="3857889692"/>
                  </a:ext>
                </a:extLst>
              </a:tr>
              <a:tr h="1149453">
                <a:tc>
                  <a:txBody>
                    <a:bodyPr/>
                    <a:lstStyle/>
                    <a:p>
                      <a:r>
                        <a:rPr lang="en-IN" sz="3200">
                          <a:latin typeface="Fira Sans" panose="020B0503050000020004" pitchFamily="34" charset="0"/>
                        </a:rPr>
                        <a:t>Total funding in GBP*</a:t>
                      </a: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,897,842</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tc>
                  <a:txBody>
                    <a:bodyPr/>
                    <a:lstStyle/>
                    <a:p>
                      <a:pPr algn="ctr"/>
                      <a:endParaRPr lang="en-IN" sz="3200" b="0" i="0" u="none" strike="noStrike" kern="1200">
                        <a:solidFill>
                          <a:srgbClr val="000000"/>
                        </a:solidFill>
                        <a:effectLst/>
                        <a:latin typeface="Fira Sans" panose="020B0503050000020004" pitchFamily="34" charset="0"/>
                        <a:ea typeface="+mn-ea"/>
                        <a:cs typeface="+mn-cs"/>
                      </a:endParaRPr>
                    </a:p>
                  </a:txBody>
                  <a:tcPr/>
                </a:tc>
                <a:tc>
                  <a:txBody>
                    <a:bodyPr/>
                    <a:lstStyle/>
                    <a:p>
                      <a:pPr algn="ctr" fontAlgn="b">
                        <a:buNone/>
                      </a:pPr>
                      <a:r>
                        <a:rPr lang="en-DE" sz="3200" b="0" i="0" u="none" strike="noStrike" kern="1200">
                          <a:solidFill>
                            <a:srgbClr val="000000"/>
                          </a:solidFill>
                          <a:effectLst/>
                          <a:latin typeface="Fira Sans" panose="020B0503050000020004" pitchFamily="34" charset="0"/>
                          <a:ea typeface="+mn-ea"/>
                          <a:cs typeface="+mn-cs"/>
                        </a:rPr>
                        <a:t> GBP 1,</a:t>
                      </a:r>
                      <a:r>
                        <a:rPr lang="en-IN" sz="3200" b="0" i="0" u="none" strike="noStrike" kern="1200">
                          <a:solidFill>
                            <a:srgbClr val="000000"/>
                          </a:solidFill>
                          <a:effectLst/>
                          <a:latin typeface="Fira Sans" panose="020B0503050000020004" pitchFamily="34" charset="0"/>
                          <a:ea typeface="+mn-ea"/>
                          <a:cs typeface="+mn-cs"/>
                        </a:rPr>
                        <a:t>378</a:t>
                      </a:r>
                      <a:r>
                        <a:rPr lang="en-DE" sz="3200" b="0" i="0" u="none" strike="noStrike" kern="1200">
                          <a:solidFill>
                            <a:srgbClr val="000000"/>
                          </a:solidFill>
                          <a:effectLst/>
                          <a:latin typeface="Fira Sans" panose="020B0503050000020004" pitchFamily="34" charset="0"/>
                          <a:ea typeface="+mn-ea"/>
                          <a:cs typeface="+mn-cs"/>
                        </a:rPr>
                        <a:t>,</a:t>
                      </a:r>
                      <a:r>
                        <a:rPr lang="en-IN" sz="3200" b="0" i="0" u="none" strike="noStrike" kern="1200">
                          <a:solidFill>
                            <a:srgbClr val="000000"/>
                          </a:solidFill>
                          <a:effectLst/>
                          <a:latin typeface="Fira Sans" panose="020B0503050000020004" pitchFamily="34" charset="0"/>
                          <a:ea typeface="+mn-ea"/>
                          <a:cs typeface="+mn-cs"/>
                        </a:rPr>
                        <a:t>396</a:t>
                      </a:r>
                      <a:endParaRPr lang="en-DE" sz="3200" b="0" i="0" u="none" strike="noStrike" kern="1200">
                        <a:solidFill>
                          <a:srgbClr val="000000"/>
                        </a:solidFill>
                        <a:effectLst/>
                        <a:latin typeface="Fira Sans" panose="020B0503050000020004" pitchFamily="34" charset="0"/>
                        <a:ea typeface="+mn-ea"/>
                        <a:cs typeface="+mn-cs"/>
                      </a:endParaRPr>
                    </a:p>
                  </a:txBody>
                  <a:tcPr marL="9525" marR="9525" marT="9525" marB="0" anchor="b"/>
                </a:tc>
                <a:extLst>
                  <a:ext uri="{0D108BD9-81ED-4DB2-BD59-A6C34878D82A}">
                    <a16:rowId xmlns:a16="http://schemas.microsoft.com/office/drawing/2014/main" val="3246490241"/>
                  </a:ext>
                </a:extLst>
              </a:tr>
            </a:tbl>
          </a:graphicData>
        </a:graphic>
      </p:graphicFrame>
      <p:sp>
        <p:nvSpPr>
          <p:cNvPr id="5" name="TextBox 4">
            <a:extLst>
              <a:ext uri="{FF2B5EF4-FFF2-40B4-BE49-F238E27FC236}">
                <a16:creationId xmlns:a16="http://schemas.microsoft.com/office/drawing/2014/main" id="{EE6B9C73-A484-DCE3-DA54-4512701DFCBB}"/>
              </a:ext>
            </a:extLst>
          </p:cNvPr>
          <p:cNvSpPr txBox="1"/>
          <p:nvPr/>
        </p:nvSpPr>
        <p:spPr>
          <a:xfrm rot="20554523">
            <a:off x="14387680" y="7503168"/>
            <a:ext cx="4176143" cy="523220"/>
          </a:xfrm>
          <a:prstGeom prst="rect">
            <a:avLst/>
          </a:prstGeom>
          <a:noFill/>
        </p:spPr>
        <p:txBody>
          <a:bodyPr wrap="none" rtlCol="0">
            <a:spAutoFit/>
          </a:bodyPr>
          <a:lstStyle/>
          <a:p>
            <a:pPr algn="l"/>
            <a:r>
              <a:rPr lang="en-GB" sz="2800" b="1">
                <a:solidFill>
                  <a:schemeClr val="bg2"/>
                </a:solidFill>
              </a:rPr>
              <a:t>AZURE NUMBERS TBD</a:t>
            </a:r>
          </a:p>
        </p:txBody>
      </p:sp>
      <p:sp>
        <p:nvSpPr>
          <p:cNvPr id="6" name="TextBox 5">
            <a:extLst>
              <a:ext uri="{FF2B5EF4-FFF2-40B4-BE49-F238E27FC236}">
                <a16:creationId xmlns:a16="http://schemas.microsoft.com/office/drawing/2014/main" id="{72634ED8-9EA3-0B80-2DD0-0A297B80FC0B}"/>
              </a:ext>
            </a:extLst>
          </p:cNvPr>
          <p:cNvSpPr txBox="1"/>
          <p:nvPr/>
        </p:nvSpPr>
        <p:spPr>
          <a:xfrm>
            <a:off x="8385036" y="12319539"/>
            <a:ext cx="5309699" cy="400110"/>
          </a:xfrm>
          <a:prstGeom prst="rect">
            <a:avLst/>
          </a:prstGeom>
          <a:noFill/>
        </p:spPr>
        <p:txBody>
          <a:bodyPr wrap="square" rtlCol="0">
            <a:spAutoFit/>
          </a:bodyPr>
          <a:lstStyle/>
          <a:p>
            <a:pPr algn="l"/>
            <a:r>
              <a:rPr lang="en-IN" sz="2000" b="1" i="1">
                <a:latin typeface="Fira Sans Light" panose="020B0403050000020004" pitchFamily="34" charset="0"/>
              </a:rPr>
              <a:t>*FX Rate 1 USD = 0.755 GBP</a:t>
            </a:r>
          </a:p>
        </p:txBody>
      </p:sp>
      <p:pic>
        <p:nvPicPr>
          <p:cNvPr id="10" name="Picture 9" descr="image.png"/>
          <p:cNvPicPr>
            <a:picLocks noChangeAspect="1"/>
          </p:cNvPicPr>
          <p:nvPr/>
        </p:nvPicPr>
        <p:blipFill>
          <a:blip r:embed="rId6"/>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6746229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C1BD-401E-25F7-D7B9-FE5DB368A2C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AAA6ADF-CF47-0A06-9D46-CB96396DEF52}"/>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Business and Application Fit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088792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F65B2-5525-3CD0-74B0-45784F4321D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BB4766-C4BB-F05A-F39C-6B34E1B733BA}"/>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27</a:t>
            </a:fld>
            <a:endParaRPr lang="en-GB" noProof="0"/>
          </a:p>
        </p:txBody>
      </p:sp>
      <p:sp>
        <p:nvSpPr>
          <p:cNvPr id="10" name="Text Placeholder 9">
            <a:extLst>
              <a:ext uri="{FF2B5EF4-FFF2-40B4-BE49-F238E27FC236}">
                <a16:creationId xmlns:a16="http://schemas.microsoft.com/office/drawing/2014/main" id="{A0BCA0D2-2FF2-9541-8B80-A50A090264BD}"/>
              </a:ext>
            </a:extLst>
          </p:cNvPr>
          <p:cNvSpPr>
            <a:spLocks noGrp="1"/>
          </p:cNvSpPr>
          <p:nvPr>
            <p:ph type="body" sz="quarter" idx="13"/>
          </p:nvPr>
        </p:nvSpPr>
        <p:spPr>
          <a:xfrm>
            <a:off x="533709" y="7180506"/>
            <a:ext cx="5216526" cy="3536261"/>
          </a:xfrm>
        </p:spPr>
        <p:txBody>
          <a:bodyPr/>
          <a:lstStyle/>
          <a:p>
            <a:pPr algn="ctr"/>
            <a:r>
              <a:rPr lang="en-GB" sz="3200" dirty="0">
                <a:latin typeface="Fira Sans" panose="020B0503050000020004" pitchFamily="34" charset="0"/>
              </a:rPr>
              <a:t>Three constraints that shape the approach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49B48473-C0F9-3100-D80C-F19F0DF19BD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Technical constraints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B582F84-8075-BA1E-994A-7559FBAD14C6}"/>
              </a:ext>
            </a:extLst>
          </p:cNvPr>
          <p:cNvSpPr txBox="1"/>
          <p:nvPr/>
        </p:nvSpPr>
        <p:spPr>
          <a:xfrm>
            <a:off x="7107173" y="2330247"/>
            <a:ext cx="15913031" cy="6904454"/>
          </a:xfrm>
          <a:prstGeom prst="rect">
            <a:avLst/>
          </a:prstGeom>
          <a:noFill/>
        </p:spPr>
        <p:txBody>
          <a:bodyPr wrap="square">
            <a:spAutoFit/>
          </a:bodyPr>
          <a:lstStyle/>
          <a:p>
            <a:pPr marL="571500" indent="-571500" defTabSz="1828800" fontAlgn="t">
              <a:spcAft>
                <a:spcPts val="1400"/>
              </a:spcAft>
              <a:buClr>
                <a:srgbClr val="EB0000"/>
              </a:buClr>
              <a:buFont typeface="Aktiv Grotesk" panose="020B0604020202020204" pitchFamily="34" charset="0"/>
              <a:buChar char="•"/>
            </a:pPr>
            <a:r>
              <a:rPr lang="en-GB" sz="3600" b="1" dirty="0" err="1">
                <a:latin typeface="Fira Sans" panose="020B0503050000020004" pitchFamily="34" charset="0"/>
              </a:rPr>
              <a:t>Atex</a:t>
            </a:r>
            <a:r>
              <a:rPr lang="en-GB" sz="3600" b="1" dirty="0">
                <a:latin typeface="Fira Sans" panose="020B0503050000020004" pitchFamily="34" charset="0"/>
              </a:rPr>
              <a:t> multicast </a:t>
            </a:r>
            <a:r>
              <a:rPr lang="en-GB" sz="3600" dirty="0">
                <a:latin typeface="Fira Sans" panose="020B0503050000020004" pitchFamily="34" charset="0"/>
              </a:rPr>
              <a:t>Prestige clustering requires multicast for node discovery. AWS supports natively via Transit Gateway. GCP and Azure do not. Vendor engagement on unicast is a Phase 2 action.</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Oracle RAC </a:t>
            </a:r>
            <a:r>
              <a:rPr lang="en-GB" sz="3600" dirty="0">
                <a:latin typeface="Fira Sans" panose="020B0503050000020004" pitchFamily="34" charset="0"/>
              </a:rPr>
              <a:t>Shared storage, cluster interconnect. </a:t>
            </a:r>
            <a:r>
              <a:rPr lang="en-GB" sz="3600" dirty="0" err="1">
                <a:latin typeface="Fira Sans" panose="020B0503050000020004" pitchFamily="34" charset="0"/>
              </a:rPr>
              <a:t>Exadata@Cloud</a:t>
            </a:r>
            <a:r>
              <a:rPr lang="en-GB" sz="3600" dirty="0">
                <a:latin typeface="Fira Sans" panose="020B0503050000020004" pitchFamily="34" charset="0"/>
              </a:rPr>
              <a:t> available on all three platforms in London. Same OCI pricing. This is not a differentiator between clouds.</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SQL Server </a:t>
            </a:r>
            <a:r>
              <a:rPr lang="en-GB" sz="3600" b="1" dirty="0" err="1">
                <a:latin typeface="Fira Sans" panose="020B0503050000020004" pitchFamily="34" charset="0"/>
              </a:rPr>
              <a:t>Datacenter</a:t>
            </a:r>
            <a:r>
              <a:rPr lang="en-GB" sz="3600" b="1" dirty="0">
                <a:latin typeface="Fira Sans" panose="020B0503050000020004" pitchFamily="34" charset="0"/>
              </a:rPr>
              <a:t> </a:t>
            </a:r>
            <a:r>
              <a:rPr lang="en-GB" sz="3600" dirty="0">
                <a:latin typeface="Fira Sans" panose="020B0503050000020004" pitchFamily="34" charset="0"/>
              </a:rPr>
              <a:t>BYOL with Software Assurance. Azure AHB is simplest. AWS and GCP require Dedicated Hosts or Sole Tenant. Windows Server 2022 BYOL blocked on AWS and GCP (Listed Provider rules).</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7486326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6DB93-D18E-906E-125C-E1E41ACF393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555FA0-7063-5FC4-3810-63E06AADDEFE}"/>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28</a:t>
            </a:fld>
            <a:endParaRPr lang="en-GB" noProof="0"/>
          </a:p>
        </p:txBody>
      </p:sp>
      <p:sp>
        <p:nvSpPr>
          <p:cNvPr id="10" name="Text Placeholder 9">
            <a:extLst>
              <a:ext uri="{FF2B5EF4-FFF2-40B4-BE49-F238E27FC236}">
                <a16:creationId xmlns:a16="http://schemas.microsoft.com/office/drawing/2014/main" id="{06A8287A-295B-8389-D389-1BD4FF605854}"/>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Five cohorts, one critical path</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A083AC47-87AD-BCFF-25C5-60EC1B9B8BB3}"/>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Migration cohorts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29441D17-5B5E-40C0-AB9C-ED7E0B812BAF}"/>
              </a:ext>
            </a:extLst>
          </p:cNvPr>
          <p:cNvSpPr txBox="1"/>
          <p:nvPr/>
        </p:nvSpPr>
        <p:spPr>
          <a:xfrm>
            <a:off x="7107173" y="2330247"/>
            <a:ext cx="15913031" cy="9284593"/>
          </a:xfrm>
          <a:prstGeom prst="rect">
            <a:avLst/>
          </a:prstGeom>
          <a:noFill/>
        </p:spPr>
        <p:txBody>
          <a:bodyPr wrap="square">
            <a:spAutoFit/>
          </a:bodyPr>
          <a:lstStyle/>
          <a:p>
            <a:pPr marL="742950" indent="-74295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Cohort 0: Foundation </a:t>
            </a:r>
            <a:r>
              <a:rPr lang="en-GB" sz="3600" dirty="0">
                <a:latin typeface="Fira Sans" panose="020B0503050000020004" pitchFamily="34" charset="0"/>
              </a:rPr>
              <a:t>| 5 apps, 95 servers AD, monitoring, security, config management. Must exist before anything migrates.</a:t>
            </a:r>
          </a:p>
          <a:p>
            <a:pPr marL="742950" indent="-74295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Cohort 1: Quick wins </a:t>
            </a:r>
            <a:r>
              <a:rPr lang="en-GB" sz="3600" dirty="0">
                <a:latin typeface="Fira Sans" panose="020B0503050000020004" pitchFamily="34" charset="0"/>
              </a:rPr>
              <a:t>| 13 apps, 63 servers Independent, well-discovered, clear cloud fit. Early value and operational experience.</a:t>
            </a:r>
          </a:p>
          <a:p>
            <a:pPr marL="742950" indent="-74295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Cohort 2: Planned </a:t>
            </a:r>
            <a:r>
              <a:rPr lang="en-GB" sz="3600" dirty="0">
                <a:latin typeface="Fira Sans" panose="020B0503050000020004" pitchFamily="34" charset="0"/>
              </a:rPr>
              <a:t>| 17 apps, 425 servers Some database dependencies, mixed infrastructure. Manageable complexity.</a:t>
            </a:r>
          </a:p>
          <a:p>
            <a:pPr marL="742950" indent="-74295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Cohort 3: Complex </a:t>
            </a:r>
            <a:r>
              <a:rPr lang="en-GB" sz="3600" dirty="0">
                <a:latin typeface="Fira Sans" panose="020B0503050000020004" pitchFamily="34" charset="0"/>
              </a:rPr>
              <a:t>| 2 apps, 2,342 servers (77%) Customer_App1 + WPS. Oracle dependency. 91 sub-components. This is the programme.</a:t>
            </a:r>
          </a:p>
          <a:p>
            <a:pPr marL="742950" indent="-74295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Cohort 4: Decision required </a:t>
            </a:r>
            <a:r>
              <a:rPr lang="en-GB" sz="3600" dirty="0">
                <a:latin typeface="Fira Sans" panose="020B0503050000020004" pitchFamily="34" charset="0"/>
              </a:rPr>
              <a:t>| 2 apps, 113 servers </a:t>
            </a: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Multicast constraint. Cannot progress until unicast decision is made.</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798379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B400C-7F7D-B5A0-DDB0-3AE766D6204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EBFC1A2-1006-F69F-8897-FB5A6978BB9F}"/>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29</a:t>
            </a:fld>
            <a:endParaRPr lang="en-GB" noProof="0"/>
          </a:p>
        </p:txBody>
      </p:sp>
      <p:sp>
        <p:nvSpPr>
          <p:cNvPr id="10" name="Text Placeholder 9">
            <a:extLst>
              <a:ext uri="{FF2B5EF4-FFF2-40B4-BE49-F238E27FC236}">
                <a16:creationId xmlns:a16="http://schemas.microsoft.com/office/drawing/2014/main" id="{0F0A0912-99AC-48BB-5196-DDBDC9A84575}"/>
              </a:ext>
            </a:extLst>
          </p:cNvPr>
          <p:cNvSpPr>
            <a:spLocks noGrp="1"/>
          </p:cNvSpPr>
          <p:nvPr>
            <p:ph type="body" sz="quarter" idx="13"/>
          </p:nvPr>
        </p:nvSpPr>
        <p:spPr>
          <a:xfrm>
            <a:off x="533709" y="5827194"/>
            <a:ext cx="5216526" cy="3536261"/>
          </a:xfrm>
        </p:spPr>
        <p:txBody>
          <a:bodyPr anchor="ctr"/>
          <a:lstStyle/>
          <a:p>
            <a:pPr algn="ctr"/>
            <a:r>
              <a:rPr lang="en-GB" sz="3200" dirty="0">
                <a:latin typeface="Fira Sans" panose="020B0503050000020004" pitchFamily="34" charset="0"/>
              </a:rPr>
              <a:t>Applications that must move together</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79CC79FA-3D62-F423-86E4-B3519EF51A0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Co-migration groups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B9C95ECD-5ACA-A985-AA1A-C8346EAA8578}"/>
              </a:ext>
            </a:extLst>
          </p:cNvPr>
          <p:cNvSpPr txBox="1"/>
          <p:nvPr/>
        </p:nvSpPr>
        <p:spPr>
          <a:xfrm>
            <a:off x="7107173" y="2330247"/>
            <a:ext cx="7047739" cy="5991384"/>
          </a:xfrm>
          <a:prstGeom prst="rect">
            <a:avLst/>
          </a:prstGeom>
          <a:noFill/>
        </p:spPr>
        <p:txBody>
          <a:bodyPr wrap="square">
            <a:spAutoFit/>
          </a:bodyPr>
          <a:lstStyle/>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Customer_App1 + WPS </a:t>
            </a:r>
            <a:r>
              <a:rPr lang="en-GB" sz="3600" dirty="0" err="1">
                <a:latin typeface="Fira Sans" panose="020B0503050000020004" pitchFamily="34" charset="0"/>
              </a:rPr>
              <a:t>WPS</a:t>
            </a:r>
            <a:r>
              <a:rPr lang="en-GB" sz="3600" dirty="0">
                <a:latin typeface="Fira Sans" panose="020B0503050000020004" pitchFamily="34" charset="0"/>
              </a:rPr>
              <a:t> maintains sustained Oracle connections to the B-cluster. Splitting them breaks the publishing pipeline.</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ECO3 + </a:t>
            </a:r>
            <a:r>
              <a:rPr lang="en-GB" sz="3600" dirty="0" err="1">
                <a:latin typeface="Fira Sans" panose="020B0503050000020004" pitchFamily="34" charset="0"/>
              </a:rPr>
              <a:t>OneVision</a:t>
            </a:r>
            <a:r>
              <a:rPr lang="en-GB" sz="3600" dirty="0">
                <a:latin typeface="Fira Sans" panose="020B0503050000020004" pitchFamily="34" charset="0"/>
              </a:rPr>
              <a:t> </a:t>
            </a:r>
            <a:r>
              <a:rPr lang="en-GB" sz="3600" dirty="0" err="1">
                <a:latin typeface="Fira Sans" panose="020B0503050000020004" pitchFamily="34" charset="0"/>
              </a:rPr>
              <a:t>OneVision</a:t>
            </a:r>
            <a:r>
              <a:rPr lang="en-GB" sz="3600" dirty="0">
                <a:latin typeface="Fira Sans" panose="020B0503050000020004" pitchFamily="34" charset="0"/>
              </a:rPr>
              <a:t> reads from ECO3's courier database via SMB (port 445, network-confirmed).</a:t>
            </a:r>
            <a:endParaRPr lang="en-GB" sz="3600" noProof="0" dirty="0">
              <a:latin typeface="Fira Sans" panose="020B0503050000020004" pitchFamily="34" charset="0"/>
            </a:endParaRPr>
          </a:p>
        </p:txBody>
      </p:sp>
      <p:sp>
        <p:nvSpPr>
          <p:cNvPr id="2" name="TextBox 1">
            <a:extLst>
              <a:ext uri="{FF2B5EF4-FFF2-40B4-BE49-F238E27FC236}">
                <a16:creationId xmlns:a16="http://schemas.microsoft.com/office/drawing/2014/main" id="{D1AE85BF-0870-686A-9C6D-DA40CBE782A1}"/>
              </a:ext>
            </a:extLst>
          </p:cNvPr>
          <p:cNvSpPr txBox="1"/>
          <p:nvPr/>
        </p:nvSpPr>
        <p:spPr>
          <a:xfrm>
            <a:off x="15123413" y="2330247"/>
            <a:ext cx="8175499" cy="5991384"/>
          </a:xfrm>
          <a:prstGeom prst="rect">
            <a:avLst/>
          </a:prstGeom>
          <a:noFill/>
        </p:spPr>
        <p:txBody>
          <a:bodyPr wrap="square">
            <a:spAutoFit/>
          </a:bodyPr>
          <a:lstStyle/>
          <a:p>
            <a:pPr marL="571500" indent="-571500" defTabSz="1828800" fontAlgn="t">
              <a:spcAft>
                <a:spcPts val="1400"/>
              </a:spcAft>
              <a:buClr>
                <a:srgbClr val="EB0000"/>
              </a:buClr>
              <a:buFont typeface="Aktiv Grotesk"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 </a:t>
            </a:r>
            <a:r>
              <a:rPr lang="en-GB" sz="3600" dirty="0" err="1">
                <a:latin typeface="Fira Sans" panose="020B0503050000020004" pitchFamily="34" charset="0"/>
              </a:rPr>
              <a:t>InstantPress</a:t>
            </a:r>
            <a:r>
              <a:rPr lang="en-GB" sz="3600" dirty="0">
                <a:latin typeface="Fira Sans" panose="020B0503050000020004" pitchFamily="34" charset="0"/>
              </a:rPr>
              <a:t> </a:t>
            </a:r>
            <a:r>
              <a:rPr lang="en-GB" sz="3600" dirty="0" err="1">
                <a:latin typeface="Fira Sans" panose="020B0503050000020004" pitchFamily="34" charset="0"/>
              </a:rPr>
              <a:t>InstantPress</a:t>
            </a:r>
            <a:r>
              <a:rPr lang="en-GB" sz="3600" dirty="0">
                <a:latin typeface="Fira Sans" panose="020B0503050000020004" pitchFamily="34" charset="0"/>
              </a:rPr>
              <a:t> produces PDF output from </a:t>
            </a:r>
            <a:r>
              <a:rPr lang="en-GB" sz="3600" dirty="0" err="1">
                <a:latin typeface="Fira Sans" panose="020B0503050000020004" pitchFamily="34" charset="0"/>
              </a:rPr>
              <a:t>Atex</a:t>
            </a:r>
            <a:r>
              <a:rPr lang="en-GB" sz="3600" dirty="0">
                <a:latin typeface="Fira Sans" panose="020B0503050000020004" pitchFamily="34" charset="0"/>
              </a:rPr>
              <a:t> content. Coupled by data flow.</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What this means These groups are scheduling constraints. Phase 2 builds the release plan around them. You cannot pick applications for convenience. You pick them by coupling.</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9612185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A5AD6-59E2-F5F0-389A-8F02C543786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5469EB9B-88AE-478E-B6D1-DB2FECBB902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Hyperscaler Recommendation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497725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F332-3CBB-ABEB-DEFD-F92FD011836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5ED1762-A821-09E6-32B7-9C8330F8F049}"/>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31</a:t>
            </a:fld>
            <a:endParaRPr lang="en-GB" noProof="0"/>
          </a:p>
        </p:txBody>
      </p:sp>
      <p:sp>
        <p:nvSpPr>
          <p:cNvPr id="4" name="TextBox 3">
            <a:extLst>
              <a:ext uri="{FF2B5EF4-FFF2-40B4-BE49-F238E27FC236}">
                <a16:creationId xmlns:a16="http://schemas.microsoft.com/office/drawing/2014/main" id="{2F139D62-377B-36D8-6C5E-EA9171311A0B}"/>
              </a:ext>
            </a:extLst>
          </p:cNvPr>
          <p:cNvSpPr txBox="1"/>
          <p:nvPr/>
        </p:nvSpPr>
        <p:spPr>
          <a:xfrm>
            <a:off x="406009" y="473476"/>
            <a:ext cx="10775707"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Hyperscaler Weighted Scoring</a:t>
            </a:r>
            <a:endParaRPr lang="en-GB" sz="6200" noProof="0">
              <a:solidFill>
                <a:srgbClr val="FF0000"/>
              </a:solidFill>
              <a:latin typeface="Fira Sans Light" panose="020B0403050000020004" pitchFamily="34" charset="0"/>
            </a:endParaRPr>
          </a:p>
        </p:txBody>
      </p:sp>
      <p:pic>
        <p:nvPicPr>
          <p:cNvPr id="7" name="Picture 2">
            <a:extLst>
              <a:ext uri="{FF2B5EF4-FFF2-40B4-BE49-F238E27FC236}">
                <a16:creationId xmlns:a16="http://schemas.microsoft.com/office/drawing/2014/main" id="{5E6F0E27-8A17-5F34-28DD-D1AF52FD09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14208" y="857224"/>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65CFBA47-DC15-22B1-17FB-BCD53387CB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Google Cloud Icon - High-Quality GCP Logo for Your Projects">
            <a:extLst>
              <a:ext uri="{FF2B5EF4-FFF2-40B4-BE49-F238E27FC236}">
                <a16:creationId xmlns:a16="http://schemas.microsoft.com/office/drawing/2014/main" id="{42AE44BD-2547-68E3-63FE-62F39629D8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1394790" y="733744"/>
            <a:ext cx="1366355" cy="136635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table with numbers and a number of data&#10;&#10;AI-generated content may be incorrect.">
            <a:extLst>
              <a:ext uri="{FF2B5EF4-FFF2-40B4-BE49-F238E27FC236}">
                <a16:creationId xmlns:a16="http://schemas.microsoft.com/office/drawing/2014/main" id="{1A171E64-1E03-BC4A-4CFD-ED4622D40F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9114" y="2680282"/>
            <a:ext cx="22612863" cy="8395193"/>
          </a:xfrm>
          <a:prstGeom prst="rect">
            <a:avLst/>
          </a:prstGeom>
        </p:spPr>
      </p:pic>
      <p:sp>
        <p:nvSpPr>
          <p:cNvPr id="11" name="Rectangle 10">
            <a:extLst>
              <a:ext uri="{FF2B5EF4-FFF2-40B4-BE49-F238E27FC236}">
                <a16:creationId xmlns:a16="http://schemas.microsoft.com/office/drawing/2014/main" id="{D0C9F766-7CC9-E39D-29B3-0CBAFF628989}"/>
              </a:ext>
            </a:extLst>
          </p:cNvPr>
          <p:cNvSpPr/>
          <p:nvPr/>
        </p:nvSpPr>
        <p:spPr>
          <a:xfrm>
            <a:off x="5793862" y="7654542"/>
            <a:ext cx="2419350" cy="42265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600">
                <a:solidFill>
                  <a:schemeClr val="tx1"/>
                </a:solidFill>
              </a:rPr>
              <a:t>Very High</a:t>
            </a:r>
          </a:p>
        </p:txBody>
      </p:sp>
      <p:pic>
        <p:nvPicPr>
          <p:cNvPr id="12" name="Picture 11" descr="image.png"/>
          <p:cNvPicPr>
            <a:picLocks noChangeAspect="1"/>
          </p:cNvPicPr>
          <p:nvPr/>
        </p:nvPicPr>
        <p:blipFill>
          <a:blip r:embed="rId7"/>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7842706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CB945-EBC7-5685-31DF-CF9CBE13A10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149A93-726E-42F7-A2C9-57A819CA2720}"/>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32</a:t>
            </a:fld>
            <a:endParaRPr lang="en-GB" noProof="0"/>
          </a:p>
        </p:txBody>
      </p:sp>
      <p:sp>
        <p:nvSpPr>
          <p:cNvPr id="4" name="TextBox 3">
            <a:extLst>
              <a:ext uri="{FF2B5EF4-FFF2-40B4-BE49-F238E27FC236}">
                <a16:creationId xmlns:a16="http://schemas.microsoft.com/office/drawing/2014/main" id="{13C92150-B960-0FDB-8D63-077CB50584B7}"/>
              </a:ext>
            </a:extLst>
          </p:cNvPr>
          <p:cNvSpPr txBox="1"/>
          <p:nvPr/>
        </p:nvSpPr>
        <p:spPr>
          <a:xfrm>
            <a:off x="406009" y="473476"/>
            <a:ext cx="14417729"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Weighted Scoring – [Client] Key Value Dials</a:t>
            </a:r>
            <a:endParaRPr lang="en-GB" sz="6200" noProof="0">
              <a:solidFill>
                <a:srgbClr val="FF0000"/>
              </a:solidFill>
              <a:latin typeface="Fira Sans Light" panose="020B0403050000020004" pitchFamily="34" charset="0"/>
            </a:endParaRPr>
          </a:p>
        </p:txBody>
      </p:sp>
      <p:pic>
        <p:nvPicPr>
          <p:cNvPr id="3" name="Picture 2" descr="A table with numbers and words&#10;&#10;AI-generated content may be incorrect.">
            <a:extLst>
              <a:ext uri="{FF2B5EF4-FFF2-40B4-BE49-F238E27FC236}">
                <a16:creationId xmlns:a16="http://schemas.microsoft.com/office/drawing/2014/main" id="{1BF78A30-D7BC-9B3A-AFAC-01591E220A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8390" y="2233782"/>
            <a:ext cx="20815610" cy="11482218"/>
          </a:xfrm>
          <a:prstGeom prst="rect">
            <a:avLst/>
          </a:prstGeom>
        </p:spPr>
      </p:pic>
      <p:pic>
        <p:nvPicPr>
          <p:cNvPr id="5" name="Picture 2">
            <a:extLst>
              <a:ext uri="{FF2B5EF4-FFF2-40B4-BE49-F238E27FC236}">
                <a16:creationId xmlns:a16="http://schemas.microsoft.com/office/drawing/2014/main" id="{E7BB14E0-0F45-F05E-B07B-4CB6088E1B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826442" y="856580"/>
            <a:ext cx="1020269" cy="10202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A0C5E74C-F1B7-FCEA-C8B8-4E60DD122C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451535" y="996696"/>
            <a:ext cx="1202360" cy="721415"/>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6" descr="Google Cloud Icon - High-Quality GCP Logo for Your Projects">
            <a:extLst>
              <a:ext uri="{FF2B5EF4-FFF2-40B4-BE49-F238E27FC236}">
                <a16:creationId xmlns:a16="http://schemas.microsoft.com/office/drawing/2014/main" id="{7112C275-63F1-138D-6885-30928428A87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19259" y="684180"/>
            <a:ext cx="1366355" cy="136635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12" descr="image.png"/>
          <p:cNvPicPr>
            <a:picLocks noChangeAspect="1"/>
          </p:cNvPicPr>
          <p:nvPr/>
        </p:nvPicPr>
        <p:blipFill>
          <a:blip r:embed="rId7"/>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6924666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057D4-DE2B-7B5C-4466-F312F61C3C3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DDF73A-4024-C5C0-B3F2-5095950BD5B5}"/>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33</a:t>
            </a:fld>
            <a:endParaRPr lang="en-GB" noProof="0"/>
          </a:p>
        </p:txBody>
      </p:sp>
      <p:sp>
        <p:nvSpPr>
          <p:cNvPr id="4" name="TextBox 3">
            <a:extLst>
              <a:ext uri="{FF2B5EF4-FFF2-40B4-BE49-F238E27FC236}">
                <a16:creationId xmlns:a16="http://schemas.microsoft.com/office/drawing/2014/main" id="{A2232670-F755-7B6B-2A4E-BF6E73E7CCA6}"/>
              </a:ext>
            </a:extLst>
          </p:cNvPr>
          <p:cNvSpPr txBox="1"/>
          <p:nvPr/>
        </p:nvSpPr>
        <p:spPr>
          <a:xfrm>
            <a:off x="406009" y="473476"/>
            <a:ext cx="9196748" cy="1046440"/>
          </a:xfrm>
          <a:prstGeom prst="rect">
            <a:avLst/>
          </a:prstGeom>
          <a:noFill/>
        </p:spPr>
        <p:txBody>
          <a:bodyPr wrap="none" rtlCol="0">
            <a:spAutoFit/>
          </a:bodyPr>
          <a:lstStyle/>
          <a:p>
            <a:pPr algn="l"/>
            <a:r>
              <a:rPr lang="en-GB" sz="6200">
                <a:solidFill>
                  <a:srgbClr val="FF0000"/>
                </a:solidFill>
                <a:latin typeface="Fira Sans Light" panose="020B0403050000020004" pitchFamily="34" charset="0"/>
              </a:rPr>
              <a:t>Overall Recommendation</a:t>
            </a:r>
            <a:endParaRPr lang="en-GB" sz="6200" noProof="0">
              <a:solidFill>
                <a:srgbClr val="FF0000"/>
              </a:solidFill>
              <a:latin typeface="Fira Sans Light" panose="020B0403050000020004" pitchFamily="34" charset="0"/>
            </a:endParaRPr>
          </a:p>
        </p:txBody>
      </p:sp>
      <p:grpSp>
        <p:nvGrpSpPr>
          <p:cNvPr id="3" name="Group 2">
            <a:extLst>
              <a:ext uri="{FF2B5EF4-FFF2-40B4-BE49-F238E27FC236}">
                <a16:creationId xmlns:a16="http://schemas.microsoft.com/office/drawing/2014/main" id="{824CD360-3A4A-CDB7-9F7C-88F19624B966}"/>
              </a:ext>
            </a:extLst>
          </p:cNvPr>
          <p:cNvGrpSpPr/>
          <p:nvPr/>
        </p:nvGrpSpPr>
        <p:grpSpPr>
          <a:xfrm>
            <a:off x="6705600" y="3883169"/>
            <a:ext cx="17082178" cy="1477260"/>
            <a:chOff x="518985" y="2214774"/>
            <a:chExt cx="23268793" cy="2111982"/>
          </a:xfrm>
        </p:grpSpPr>
        <p:sp>
          <p:nvSpPr>
            <p:cNvPr id="5" name="Rectangle 4">
              <a:extLst>
                <a:ext uri="{FF2B5EF4-FFF2-40B4-BE49-F238E27FC236}">
                  <a16:creationId xmlns:a16="http://schemas.microsoft.com/office/drawing/2014/main" id="{A5837DC6-4341-7137-EFB4-069AFAC2F550}"/>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6" name="Rectangle 5">
              <a:extLst>
                <a:ext uri="{FF2B5EF4-FFF2-40B4-BE49-F238E27FC236}">
                  <a16:creationId xmlns:a16="http://schemas.microsoft.com/office/drawing/2014/main" id="{12757E88-34A1-E4BC-47E5-E4BBB7437F67}"/>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12" name="Rectangle 11">
              <a:extLst>
                <a:ext uri="{FF2B5EF4-FFF2-40B4-BE49-F238E27FC236}">
                  <a16:creationId xmlns:a16="http://schemas.microsoft.com/office/drawing/2014/main" id="{43F49F4F-0A07-C80D-D24A-AD51D21F522B}"/>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3" name="Rectangle 12">
              <a:extLst>
                <a:ext uri="{FF2B5EF4-FFF2-40B4-BE49-F238E27FC236}">
                  <a16:creationId xmlns:a16="http://schemas.microsoft.com/office/drawing/2014/main" id="{AA1001CF-DADD-075D-1920-0E72970B48B1}"/>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14" name="Picture 2">
            <a:extLst>
              <a:ext uri="{FF2B5EF4-FFF2-40B4-BE49-F238E27FC236}">
                <a16:creationId xmlns:a16="http://schemas.microsoft.com/office/drawing/2014/main" id="{F341D167-7D46-E7AA-B4E4-55F47D3C3E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86080" y="2553362"/>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4">
            <a:extLst>
              <a:ext uri="{FF2B5EF4-FFF2-40B4-BE49-F238E27FC236}">
                <a16:creationId xmlns:a16="http://schemas.microsoft.com/office/drawing/2014/main" id="{37255965-48C9-F329-6BF9-905A255F4D6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914276" y="2439107"/>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6" descr="Google Cloud Icon - High-Quality GCP Logo for Your Projects">
            <a:extLst>
              <a:ext uri="{FF2B5EF4-FFF2-40B4-BE49-F238E27FC236}">
                <a16:creationId xmlns:a16="http://schemas.microsoft.com/office/drawing/2014/main" id="{54A167C4-AC66-5584-62A8-24D5BD56937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241943" y="2315320"/>
            <a:ext cx="2211727" cy="221172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22" name="Table 21">
            <a:extLst>
              <a:ext uri="{FF2B5EF4-FFF2-40B4-BE49-F238E27FC236}">
                <a16:creationId xmlns:a16="http://schemas.microsoft.com/office/drawing/2014/main" id="{C78093CE-F6EC-44BA-FC8B-BBB7190BB42A}"/>
              </a:ext>
            </a:extLst>
          </p:cNvPr>
          <p:cNvGraphicFramePr>
            <a:graphicFrameLocks noGrp="1"/>
          </p:cNvGraphicFramePr>
          <p:nvPr>
            <p:extLst>
              <p:ext uri="{D42A27DB-BD31-4B8C-83A1-F6EECF244321}">
                <p14:modId xmlns:p14="http://schemas.microsoft.com/office/powerpoint/2010/main" val="3168390117"/>
              </p:ext>
            </p:extLst>
          </p:nvPr>
        </p:nvGraphicFramePr>
        <p:xfrm>
          <a:off x="657726" y="6313393"/>
          <a:ext cx="23130052" cy="3200400"/>
        </p:xfrm>
        <a:graphic>
          <a:graphicData uri="http://schemas.openxmlformats.org/drawingml/2006/table">
            <a:tbl>
              <a:tblPr firstRow="1" bandRow="1">
                <a:tableStyleId>{9D7B26C5-4107-4FEC-AEDC-1716B250A1EF}</a:tableStyleId>
              </a:tblPr>
              <a:tblGrid>
                <a:gridCol w="5983706">
                  <a:extLst>
                    <a:ext uri="{9D8B030D-6E8A-4147-A177-3AD203B41FA5}">
                      <a16:colId xmlns:a16="http://schemas.microsoft.com/office/drawing/2014/main" val="2583583823"/>
                    </a:ext>
                  </a:extLst>
                </a:gridCol>
                <a:gridCol w="5325979">
                  <a:extLst>
                    <a:ext uri="{9D8B030D-6E8A-4147-A177-3AD203B41FA5}">
                      <a16:colId xmlns:a16="http://schemas.microsoft.com/office/drawing/2014/main" val="2386034005"/>
                    </a:ext>
                  </a:extLst>
                </a:gridCol>
                <a:gridCol w="5887452">
                  <a:extLst>
                    <a:ext uri="{9D8B030D-6E8A-4147-A177-3AD203B41FA5}">
                      <a16:colId xmlns:a16="http://schemas.microsoft.com/office/drawing/2014/main" val="2893148149"/>
                    </a:ext>
                  </a:extLst>
                </a:gridCol>
                <a:gridCol w="5932915">
                  <a:extLst>
                    <a:ext uri="{9D8B030D-6E8A-4147-A177-3AD203B41FA5}">
                      <a16:colId xmlns:a16="http://schemas.microsoft.com/office/drawing/2014/main" val="1943227566"/>
                    </a:ext>
                  </a:extLst>
                </a:gridCol>
              </a:tblGrid>
              <a:tr h="370840">
                <a:tc>
                  <a:txBody>
                    <a:bodyPr/>
                    <a:lstStyle/>
                    <a:p>
                      <a:r>
                        <a:rPr lang="en-GB"/>
                        <a:t>Cost – 3 year</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865893680"/>
                  </a:ext>
                </a:extLst>
              </a:tr>
              <a:tr h="370840">
                <a:tc>
                  <a:txBody>
                    <a:bodyPr/>
                    <a:lstStyle/>
                    <a:p>
                      <a:r>
                        <a:rPr lang="en-GB"/>
                        <a:t>Weighted Scoring</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158348663"/>
                  </a:ext>
                </a:extLst>
              </a:tr>
              <a:tr h="370840">
                <a:tc>
                  <a:txBody>
                    <a:bodyPr/>
                    <a:lstStyle/>
                    <a:p>
                      <a:pPr marL="0" marR="0" lvl="0" indent="0" algn="l" defTabSz="1828800" rtl="0" eaLnBrk="1" fontAlgn="auto" latinLnBrk="0" hangingPunct="1">
                        <a:lnSpc>
                          <a:spcPct val="100000"/>
                        </a:lnSpc>
                        <a:spcBef>
                          <a:spcPts val="0"/>
                        </a:spcBef>
                        <a:spcAft>
                          <a:spcPts val="0"/>
                        </a:spcAft>
                        <a:buClrTx/>
                        <a:buSzTx/>
                        <a:buFontTx/>
                        <a:buNone/>
                        <a:tabLst/>
                        <a:defRPr/>
                      </a:pPr>
                      <a:r>
                        <a:rPr lang="en-GB"/>
                        <a:t>Business Fit</a:t>
                      </a:r>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416569004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42312823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482917179"/>
                  </a:ext>
                </a:extLst>
              </a:tr>
            </a:tbl>
          </a:graphicData>
        </a:graphic>
      </p:graphicFrame>
      <p:pic>
        <p:nvPicPr>
          <p:cNvPr id="23" name="Picture 22" descr="image.png"/>
          <p:cNvPicPr>
            <a:picLocks noChangeAspect="1"/>
          </p:cNvPicPr>
          <p:nvPr/>
        </p:nvPicPr>
        <p:blipFill>
          <a:blip r:embed="rId6"/>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183228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55B5F7FD-B69B-AFD3-2014-C5B01E880030}"/>
              </a:ext>
            </a:extLst>
          </p:cNvPr>
          <p:cNvGrpSpPr/>
          <p:nvPr/>
        </p:nvGrpSpPr>
        <p:grpSpPr>
          <a:xfrm>
            <a:off x="518985" y="2214774"/>
            <a:ext cx="23268793" cy="2111982"/>
            <a:chOff x="518985" y="2214774"/>
            <a:chExt cx="23268793" cy="2111982"/>
          </a:xfrm>
        </p:grpSpPr>
        <p:sp>
          <p:nvSpPr>
            <p:cNvPr id="4" name="Rectangle 3">
              <a:extLst>
                <a:ext uri="{FF2B5EF4-FFF2-40B4-BE49-F238E27FC236}">
                  <a16:creationId xmlns:a16="http://schemas.microsoft.com/office/drawing/2014/main" id="{05803474-4C9F-C14D-7283-E60ED653F2E3}"/>
                </a:ext>
              </a:extLst>
            </p:cNvPr>
            <p:cNvSpPr/>
            <p:nvPr/>
          </p:nvSpPr>
          <p:spPr>
            <a:xfrm>
              <a:off x="518985" y="3987573"/>
              <a:ext cx="23268793" cy="3391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p>
          </p:txBody>
        </p:sp>
        <p:sp>
          <p:nvSpPr>
            <p:cNvPr id="5" name="Rectangle 4">
              <a:extLst>
                <a:ext uri="{FF2B5EF4-FFF2-40B4-BE49-F238E27FC236}">
                  <a16:creationId xmlns:a16="http://schemas.microsoft.com/office/drawing/2014/main" id="{895140AA-815E-9C6E-20ED-B2214AA5130E}"/>
                </a:ext>
              </a:extLst>
            </p:cNvPr>
            <p:cNvSpPr/>
            <p:nvPr/>
          </p:nvSpPr>
          <p:spPr>
            <a:xfrm>
              <a:off x="518985" y="2979374"/>
              <a:ext cx="7198260" cy="110024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2nd</a:t>
              </a:r>
            </a:p>
          </p:txBody>
        </p:sp>
        <p:sp>
          <p:nvSpPr>
            <p:cNvPr id="6" name="Rectangle 5">
              <a:extLst>
                <a:ext uri="{FF2B5EF4-FFF2-40B4-BE49-F238E27FC236}">
                  <a16:creationId xmlns:a16="http://schemas.microsoft.com/office/drawing/2014/main" id="{FC627EC0-4D0C-404E-3A13-1538B1B8835C}"/>
                </a:ext>
              </a:extLst>
            </p:cNvPr>
            <p:cNvSpPr/>
            <p:nvPr/>
          </p:nvSpPr>
          <p:spPr>
            <a:xfrm>
              <a:off x="7717245" y="2214774"/>
              <a:ext cx="8001786" cy="184105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1st</a:t>
              </a:r>
            </a:p>
          </p:txBody>
        </p:sp>
        <p:sp>
          <p:nvSpPr>
            <p:cNvPr id="19" name="Rectangle 18">
              <a:extLst>
                <a:ext uri="{FF2B5EF4-FFF2-40B4-BE49-F238E27FC236}">
                  <a16:creationId xmlns:a16="http://schemas.microsoft.com/office/drawing/2014/main" id="{B80DF2CC-85BC-9B1D-A81C-ECC5136CD6CB}"/>
                </a:ext>
              </a:extLst>
            </p:cNvPr>
            <p:cNvSpPr/>
            <p:nvPr/>
          </p:nvSpPr>
          <p:spPr>
            <a:xfrm>
              <a:off x="15698472" y="3486895"/>
              <a:ext cx="8089306" cy="56893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400"/>
                <a:t>3rd</a:t>
              </a:r>
            </a:p>
          </p:txBody>
        </p:sp>
      </p:grpSp>
      <p:pic>
        <p:nvPicPr>
          <p:cNvPr id="8" name="Picture 2">
            <a:extLst>
              <a:ext uri="{FF2B5EF4-FFF2-40B4-BE49-F238E27FC236}">
                <a16:creationId xmlns:a16="http://schemas.microsoft.com/office/drawing/2014/main" id="{CFA2D427-7484-05AF-19B2-BB4F5830B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153512" y="1280790"/>
            <a:ext cx="1864841" cy="186484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5BEFBC67-EEA4-AD0D-AFA8-0E923154ECA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05247" y="658043"/>
            <a:ext cx="2025780" cy="1215467"/>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Google Cloud Icon - High-Quality GCP Logo for Your Projects">
            <a:extLst>
              <a:ext uri="{FF2B5EF4-FFF2-40B4-BE49-F238E27FC236}">
                <a16:creationId xmlns:a16="http://schemas.microsoft.com/office/drawing/2014/main" id="{A87061EE-0A40-75D0-38EB-B75A226164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11813" y="767647"/>
            <a:ext cx="2211727" cy="2211727"/>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2E063326-0751-5BEB-CF13-B14F6994D6F7}"/>
              </a:ext>
            </a:extLst>
          </p:cNvPr>
          <p:cNvSpPr txBox="1"/>
          <p:nvPr/>
        </p:nvSpPr>
        <p:spPr>
          <a:xfrm>
            <a:off x="518985" y="4893277"/>
            <a:ext cx="6780393" cy="4401205"/>
          </a:xfrm>
          <a:prstGeom prst="rect">
            <a:avLst/>
          </a:prstGeom>
          <a:noFill/>
        </p:spPr>
        <p:txBody>
          <a:bodyPr wrap="square" rtlCol="0">
            <a:spAutoFit/>
          </a:bodyPr>
          <a:lstStyle/>
          <a:p>
            <a:pPr marL="285750" indent="-285750">
              <a:buFont typeface="Aktiv Grotesk" panose="020B0604020202020204" pitchFamily="34" charset="0"/>
              <a:buChar char="•"/>
            </a:pPr>
            <a:r>
              <a:rPr lang="en-GB" sz="2400">
                <a:latin typeface="Fira Sans" panose="020B0503050000020004" pitchFamily="34" charset="0"/>
              </a:rPr>
              <a:t>Least engagement during process</a:t>
            </a:r>
          </a:p>
          <a:p>
            <a:pPr marL="285750" indent="-285750">
              <a:buFont typeface="Aktiv Grotesk" panose="020B0604020202020204" pitchFamily="34" charset="0"/>
              <a:buChar char="•"/>
            </a:pPr>
            <a:r>
              <a:rPr lang="en-GB" sz="2400">
                <a:latin typeface="Fira Sans" panose="020B0503050000020004" pitchFamily="34" charset="0"/>
              </a:rPr>
              <a:t>Best up-front 3 year pricing</a:t>
            </a:r>
          </a:p>
          <a:p>
            <a:pPr marL="285750" indent="-285750">
              <a:buFont typeface="Aktiv Grotesk" panose="020B0604020202020204" pitchFamily="34" charset="0"/>
              <a:buChar char="•"/>
            </a:pPr>
            <a:r>
              <a:rPr lang="en-GB" sz="2400">
                <a:latin typeface="Fira Sans" panose="020B0503050000020004" pitchFamily="34" charset="0"/>
              </a:rPr>
              <a:t>good discounts offered</a:t>
            </a:r>
          </a:p>
          <a:p>
            <a:pPr marL="742950" lvl="1" indent="-285750">
              <a:buFont typeface="Aktiv Grotesk" panose="020B0604020202020204" pitchFamily="34" charset="0"/>
              <a:buChar char="•"/>
            </a:pPr>
            <a:r>
              <a:rPr lang="en-GB" sz="2400">
                <a:latin typeface="Fira Sans" panose="020B0503050000020004" pitchFamily="34" charset="0"/>
              </a:rPr>
              <a:t>% (TBC)</a:t>
            </a:r>
          </a:p>
          <a:p>
            <a:pPr marL="285750" indent="-285750">
              <a:buFont typeface="Aktiv Grotesk" panose="020B0604020202020204" pitchFamily="34" charset="0"/>
              <a:buChar char="•"/>
            </a:pPr>
            <a:r>
              <a:rPr lang="en-GB" sz="2400">
                <a:latin typeface="Fira Sans" panose="020B0503050000020004" pitchFamily="34" charset="0"/>
              </a:rPr>
              <a:t>GCP 3rd overall in weighted scoring assessment</a:t>
            </a:r>
          </a:p>
          <a:p>
            <a:pPr marL="285750" indent="-285750">
              <a:buFont typeface="Aktiv Grotesk" panose="020B0604020202020204" pitchFamily="34" charset="0"/>
              <a:buChar char="•"/>
            </a:pPr>
            <a:r>
              <a:rPr lang="en-GB" sz="2400">
                <a:latin typeface="Fira Sans" panose="020B0503050000020004" pitchFamily="34" charset="0"/>
              </a:rPr>
              <a:t>Strong native container solution</a:t>
            </a:r>
          </a:p>
          <a:p>
            <a:pPr marL="285750" indent="-285750">
              <a:buFont typeface="Aktiv Grotesk" panose="020B0604020202020204" pitchFamily="34" charset="0"/>
              <a:buChar char="•"/>
            </a:pPr>
            <a:r>
              <a:rPr lang="en-GB" sz="2400">
                <a:latin typeface="Fira Sans" panose="020B0503050000020004" pitchFamily="34" charset="0"/>
              </a:rPr>
              <a:t>Expected synergy with google related to Telegraph bid removed</a:t>
            </a:r>
          </a:p>
          <a:p>
            <a:pPr marL="285750" indent="-285750">
              <a:buFont typeface="Aktiv Grotesk"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algn="l"/>
            <a:endParaRPr lang="en-GB" sz="1600">
              <a:latin typeface="Fira Sans" panose="020B0503050000020004" pitchFamily="34" charset="0"/>
            </a:endParaRPr>
          </a:p>
        </p:txBody>
      </p:sp>
      <p:sp>
        <p:nvSpPr>
          <p:cNvPr id="14" name="TextBox 13">
            <a:extLst>
              <a:ext uri="{FF2B5EF4-FFF2-40B4-BE49-F238E27FC236}">
                <a16:creationId xmlns:a16="http://schemas.microsoft.com/office/drawing/2014/main" id="{1E74AC83-9A4F-4173-3FD8-D28A74F2B4FF}"/>
              </a:ext>
            </a:extLst>
          </p:cNvPr>
          <p:cNvSpPr txBox="1"/>
          <p:nvPr/>
        </p:nvSpPr>
        <p:spPr>
          <a:xfrm>
            <a:off x="7717245" y="4856206"/>
            <a:ext cx="8001786" cy="6740307"/>
          </a:xfrm>
          <a:prstGeom prst="rect">
            <a:avLst/>
          </a:prstGeom>
          <a:noFill/>
        </p:spPr>
        <p:txBody>
          <a:bodyPr wrap="square">
            <a:spAutoFit/>
          </a:bodyPr>
          <a:lstStyle/>
          <a:p>
            <a:pPr marL="285750" indent="-285750">
              <a:buFont typeface="Aktiv Grotesk" panose="020B0604020202020204" pitchFamily="34" charset="0"/>
              <a:buChar char="•"/>
            </a:pPr>
            <a:r>
              <a:rPr lang="en-GB" sz="2400">
                <a:latin typeface="Fira Sans" panose="020B0503050000020004" pitchFamily="34" charset="0"/>
              </a:rPr>
              <a:t>Strong engagement from account team</a:t>
            </a:r>
          </a:p>
          <a:p>
            <a:pPr marL="285750" indent="-285750">
              <a:buFont typeface="Aktiv Grotesk" panose="020B0604020202020204" pitchFamily="34" charset="0"/>
              <a:buChar char="•"/>
            </a:pPr>
            <a:r>
              <a:rPr lang="en-GB" sz="2400">
                <a:latin typeface="Fira Sans" panose="020B0503050000020004" pitchFamily="34" charset="0"/>
              </a:rPr>
              <a:t>Competitive (&lt; 5% difference) 3 year pricing. </a:t>
            </a:r>
          </a:p>
          <a:p>
            <a:pPr marL="285750" indent="-285750">
              <a:buFont typeface="Aktiv Grotesk" panose="020B0604020202020204" pitchFamily="34" charset="0"/>
              <a:buChar char="•"/>
            </a:pPr>
            <a:r>
              <a:rPr lang="en-GB" sz="2400">
                <a:latin typeface="Fira Sans" panose="020B0503050000020004" pitchFamily="34" charset="0"/>
              </a:rPr>
              <a:t>Best credits/discounts/MAP funding means long-term (3yr) cheapest partner </a:t>
            </a:r>
          </a:p>
          <a:p>
            <a:pPr marL="742950" lvl="1" indent="-285750">
              <a:buFont typeface="Aktiv Grotesk" panose="020B0604020202020204" pitchFamily="34" charset="0"/>
              <a:buChar char="•"/>
            </a:pPr>
            <a:r>
              <a:rPr lang="en-GB" sz="2400">
                <a:latin typeface="Fira Sans" panose="020B0503050000020004" pitchFamily="34" charset="0"/>
              </a:rPr>
              <a:t>ARR: NN% (TBC)</a:t>
            </a:r>
          </a:p>
          <a:p>
            <a:pPr marL="285750" indent="-285750">
              <a:buFont typeface="Aktiv Grotesk" panose="020B0604020202020204" pitchFamily="34" charset="0"/>
              <a:buChar char="•"/>
            </a:pPr>
            <a:r>
              <a:rPr lang="en-GB" sz="2400">
                <a:latin typeface="Fira Sans" panose="020B0503050000020004" pitchFamily="34" charset="0"/>
              </a:rPr>
              <a:t>AWS best overall in weighted scoring assessment</a:t>
            </a:r>
          </a:p>
          <a:p>
            <a:pPr marL="285750" indent="-285750">
              <a:buFont typeface="Aktiv Grotesk" panose="020B0604020202020204" pitchFamily="34" charset="0"/>
              <a:buChar char="•"/>
            </a:pPr>
            <a:r>
              <a:rPr lang="en-GB" sz="2400">
                <a:latin typeface="Fira Sans" panose="020B0503050000020004" pitchFamily="34" charset="0"/>
              </a:rPr>
              <a:t>mixed/mostly </a:t>
            </a:r>
            <a:r>
              <a:rPr lang="en-GB" sz="2400" err="1">
                <a:latin typeface="Fira Sans" panose="020B0503050000020004" pitchFamily="34" charset="0"/>
              </a:rPr>
              <a:t>linux</a:t>
            </a:r>
            <a:r>
              <a:rPr lang="en-GB" sz="2400">
                <a:latin typeface="Fira Sans" panose="020B0503050000020004" pitchFamily="34" charset="0"/>
              </a:rPr>
              <a:t> workloads well suited to AWS</a:t>
            </a:r>
          </a:p>
          <a:p>
            <a:pPr marL="285750" indent="-285750">
              <a:buFont typeface="Aktiv Grotesk" panose="020B0604020202020204" pitchFamily="34" charset="0"/>
              <a:buChar char="•"/>
            </a:pPr>
            <a:r>
              <a:rPr lang="en-GB" sz="2400">
                <a:latin typeface="Fira Sans" panose="020B0503050000020004" pitchFamily="34" charset="0"/>
              </a:rPr>
              <a:t>on-premise connectivity (direct-connect) already configured</a:t>
            </a:r>
          </a:p>
          <a:p>
            <a:pPr marL="285750" indent="-285750">
              <a:buFont typeface="Aktiv Grotesk" panose="020B0604020202020204" pitchFamily="34" charset="0"/>
              <a:buChar char="•"/>
            </a:pPr>
            <a:r>
              <a:rPr lang="en-GB" sz="2400">
                <a:latin typeface="Fira Sans" panose="020B0503050000020004" pitchFamily="34" charset="0"/>
              </a:rPr>
              <a:t>Video streaming already on AWS</a:t>
            </a:r>
          </a:p>
          <a:p>
            <a:pPr marL="285750" indent="-285750">
              <a:buFont typeface="Aktiv Grotesk" panose="020B0604020202020204" pitchFamily="34" charset="0"/>
              <a:buChar char="•"/>
            </a:pPr>
            <a:r>
              <a:rPr lang="en-GB" sz="2400">
                <a:latin typeface="Fira Sans" panose="020B0503050000020004" pitchFamily="34" charset="0"/>
              </a:rPr>
              <a:t>Able to run multicast without refactoring (</a:t>
            </a:r>
            <a:r>
              <a:rPr lang="en-GB" sz="2400" err="1">
                <a:latin typeface="Fira Sans" panose="020B0503050000020004" pitchFamily="34" charset="0"/>
              </a:rPr>
              <a:t>Atex</a:t>
            </a:r>
            <a:r>
              <a:rPr lang="en-GB" sz="2400">
                <a:latin typeface="Fira Sans" panose="020B0503050000020004" pitchFamily="34" charset="0"/>
              </a:rPr>
              <a:t>)</a:t>
            </a:r>
          </a:p>
          <a:p>
            <a:pPr marL="285750" indent="-285750">
              <a:buFont typeface="Aktiv Grotesk" panose="020B0604020202020204" pitchFamily="34" charset="0"/>
              <a:buChar char="•"/>
            </a:pPr>
            <a:r>
              <a:rPr lang="en-GB" sz="2400">
                <a:latin typeface="Fira Sans" panose="020B0503050000020004" pitchFamily="34" charset="0"/>
              </a:rPr>
              <a:t>In-House knowledge of AWS within business teams (</a:t>
            </a:r>
            <a:r>
              <a:rPr lang="en-GB" sz="2400" err="1">
                <a:latin typeface="Fira Sans" panose="020B0503050000020004" pitchFamily="34" charset="0"/>
              </a:rPr>
              <a:t>MIMIR,Airtable,[Client]</a:t>
            </a:r>
            <a:r>
              <a:rPr lang="en-GB" sz="2400">
                <a:latin typeface="Fira Sans" panose="020B0503050000020004" pitchFamily="34" charset="0"/>
              </a:rPr>
              <a:t> </a:t>
            </a:r>
            <a:r>
              <a:rPr lang="en-GB" sz="2400" err="1">
                <a:latin typeface="Fira Sans" panose="020B0503050000020004" pitchFamily="34" charset="0"/>
              </a:rPr>
              <a:t>iQ</a:t>
            </a:r>
            <a:r>
              <a:rPr lang="en-GB" sz="2400">
                <a:latin typeface="Fira Sans" panose="020B0503050000020004" pitchFamily="34" charset="0"/>
              </a:rPr>
              <a:t> - Social Media &amp; MSN Gallery Creator)</a:t>
            </a:r>
          </a:p>
          <a:p>
            <a:pPr marL="285750" indent="-285750">
              <a:buFont typeface="Aktiv Grotesk" panose="020B0604020202020204" pitchFamily="34" charset="0"/>
              <a:buChar char="•"/>
            </a:pPr>
            <a:r>
              <a:rPr lang="en-GB" sz="2400">
                <a:latin typeface="Fira Sans" panose="020B0503050000020004" pitchFamily="34" charset="0"/>
              </a:rPr>
              <a:t>Basic entry level understanding within current platform team</a:t>
            </a:r>
          </a:p>
          <a:p>
            <a:pPr marL="285750" indent="-285750">
              <a:buFont typeface="Aktiv Grotesk" panose="020B0604020202020204" pitchFamily="34" charset="0"/>
              <a:buChar char="•"/>
            </a:pPr>
            <a:r>
              <a:rPr lang="en-GB" sz="2400">
                <a:latin typeface="Fira Sans" panose="020B0503050000020004" pitchFamily="34" charset="0"/>
              </a:rPr>
              <a:t>Largest partner ecosystem and skills market across all segments – media</a:t>
            </a:r>
          </a:p>
        </p:txBody>
      </p:sp>
      <p:sp>
        <p:nvSpPr>
          <p:cNvPr id="16" name="TextBox 15">
            <a:extLst>
              <a:ext uri="{FF2B5EF4-FFF2-40B4-BE49-F238E27FC236}">
                <a16:creationId xmlns:a16="http://schemas.microsoft.com/office/drawing/2014/main" id="{2B492284-2046-B867-8C65-28C137BFCC4C}"/>
              </a:ext>
            </a:extLst>
          </p:cNvPr>
          <p:cNvSpPr txBox="1"/>
          <p:nvPr/>
        </p:nvSpPr>
        <p:spPr>
          <a:xfrm>
            <a:off x="15785992" y="4880921"/>
            <a:ext cx="8001786" cy="3785652"/>
          </a:xfrm>
          <a:prstGeom prst="rect">
            <a:avLst/>
          </a:prstGeom>
          <a:noFill/>
        </p:spPr>
        <p:txBody>
          <a:bodyPr wrap="square">
            <a:spAutoFit/>
          </a:bodyPr>
          <a:lstStyle/>
          <a:p>
            <a:pPr marL="457200" indent="-457200">
              <a:buFont typeface="Aktiv Grotesk" panose="020B0604020202020204" pitchFamily="34" charset="0"/>
              <a:buChar char="•"/>
            </a:pPr>
            <a:r>
              <a:rPr lang="en-GB" sz="2400">
                <a:latin typeface="Fira Sans" panose="020B0503050000020004" pitchFamily="34" charset="0"/>
              </a:rPr>
              <a:t>Good engagement from account team</a:t>
            </a:r>
          </a:p>
          <a:p>
            <a:pPr marL="457200" indent="-457200">
              <a:buFont typeface="Aktiv Grotesk" panose="020B0604020202020204" pitchFamily="34" charset="0"/>
              <a:buChar char="•"/>
            </a:pPr>
            <a:r>
              <a:rPr lang="en-GB" sz="2400">
                <a:latin typeface="Fira Sans" panose="020B0503050000020004" pitchFamily="34" charset="0"/>
              </a:rPr>
              <a:t>Least attractive 3 year pricing </a:t>
            </a:r>
          </a:p>
          <a:p>
            <a:pPr marL="914400" lvl="1" indent="-457200">
              <a:buFont typeface="Aktiv Grotesk" panose="020B0604020202020204" pitchFamily="34" charset="0"/>
              <a:buChar char="•"/>
            </a:pPr>
            <a:r>
              <a:rPr lang="en-GB" sz="2400">
                <a:latin typeface="Fira Sans" panose="020B0503050000020004" pitchFamily="34" charset="0"/>
              </a:rPr>
              <a:t>unclear position on credits/discounts </a:t>
            </a:r>
          </a:p>
          <a:p>
            <a:pPr marL="457200" indent="-457200">
              <a:buFont typeface="Aktiv Grotesk" panose="020B0604020202020204" pitchFamily="34" charset="0"/>
              <a:buChar char="•"/>
            </a:pPr>
            <a:r>
              <a:rPr lang="en-GB" sz="2400">
                <a:latin typeface="Fira Sans" panose="020B0503050000020004" pitchFamily="34" charset="0"/>
              </a:rPr>
              <a:t>AHB makes a </a:t>
            </a:r>
            <a:r>
              <a:rPr lang="en-GB" sz="2400" err="1">
                <a:latin typeface="Fira Sans" panose="020B0503050000020004" pitchFamily="34" charset="0"/>
              </a:rPr>
              <a:t>negligable</a:t>
            </a:r>
            <a:r>
              <a:rPr lang="en-GB" sz="2400">
                <a:latin typeface="Fira Sans" panose="020B0503050000020004" pitchFamily="34" charset="0"/>
              </a:rPr>
              <a:t> difference (windows VMs = 234/3038 = 7.7%)</a:t>
            </a:r>
          </a:p>
          <a:p>
            <a:pPr marL="457200" indent="-457200">
              <a:buFont typeface="Aktiv Grotesk" panose="020B0604020202020204" pitchFamily="34" charset="0"/>
              <a:buChar char="•"/>
            </a:pPr>
            <a:r>
              <a:rPr lang="en-GB" sz="2400">
                <a:latin typeface="Fira Sans" panose="020B0503050000020004" pitchFamily="34" charset="0"/>
              </a:rPr>
              <a:t>Microsoft came 2</a:t>
            </a:r>
            <a:r>
              <a:rPr lang="en-GB" sz="2400" baseline="30000">
                <a:latin typeface="Fira Sans" panose="020B0503050000020004" pitchFamily="34" charset="0"/>
              </a:rPr>
              <a:t>nd</a:t>
            </a:r>
            <a:r>
              <a:rPr lang="en-GB" sz="2400">
                <a:latin typeface="Fira Sans" panose="020B0503050000020004" pitchFamily="34" charset="0"/>
              </a:rPr>
              <a:t> overall in weighted scoring assessment</a:t>
            </a:r>
          </a:p>
          <a:p>
            <a:pPr marL="457200" indent="-457200">
              <a:buFont typeface="Aktiv Grotesk" panose="020B0604020202020204" pitchFamily="34" charset="0"/>
              <a:buChar char="•"/>
            </a:pPr>
            <a:r>
              <a:rPr lang="en-GB" sz="2400">
                <a:latin typeface="Fira Sans" panose="020B0503050000020004" pitchFamily="34" charset="0"/>
              </a:rPr>
              <a:t>Not able to run multicast (</a:t>
            </a:r>
            <a:r>
              <a:rPr lang="en-GB" sz="2400" err="1">
                <a:latin typeface="Fira Sans" panose="020B0503050000020004" pitchFamily="34" charset="0"/>
              </a:rPr>
              <a:t>Atex</a:t>
            </a:r>
            <a:r>
              <a:rPr lang="en-GB" sz="2400">
                <a:latin typeface="Fira Sans" panose="020B0503050000020004" pitchFamily="34" charset="0"/>
              </a:rPr>
              <a:t>) without major architecture refactor to unicast.</a:t>
            </a:r>
          </a:p>
          <a:p>
            <a:pPr marL="457200" indent="-457200">
              <a:buFont typeface="Aktiv Grotesk" panose="020B0604020202020204" pitchFamily="34" charset="0"/>
              <a:buChar char="•"/>
            </a:pPr>
            <a:r>
              <a:rPr lang="en-GB" sz="2400">
                <a:latin typeface="Fira Sans" panose="020B0503050000020004" pitchFamily="34" charset="0"/>
              </a:rPr>
              <a:t>UK South struggling for </a:t>
            </a:r>
            <a:r>
              <a:rPr lang="en-GB" sz="2400">
                <a:latin typeface="Fira Sans" panose="020B0503050000020004" pitchFamily="34" charset="0"/>
                <a:hlinkClick r:id="rId6"/>
              </a:rPr>
              <a:t>capacity</a:t>
            </a:r>
            <a:endParaRPr lang="en-GB" sz="2400">
              <a:latin typeface="Fira Sans" panose="020B0503050000020004" pitchFamily="34" charset="0"/>
            </a:endParaRPr>
          </a:p>
        </p:txBody>
      </p:sp>
      <p:sp>
        <p:nvSpPr>
          <p:cNvPr id="21" name="TextBox 20">
            <a:extLst>
              <a:ext uri="{FF2B5EF4-FFF2-40B4-BE49-F238E27FC236}">
                <a16:creationId xmlns:a16="http://schemas.microsoft.com/office/drawing/2014/main" id="{18C6C70A-B1CC-4216-102F-8453C769B5F3}"/>
              </a:ext>
            </a:extLst>
          </p:cNvPr>
          <p:cNvSpPr txBox="1"/>
          <p:nvPr/>
        </p:nvSpPr>
        <p:spPr>
          <a:xfrm>
            <a:off x="971549" y="10624063"/>
            <a:ext cx="6920778" cy="1754326"/>
          </a:xfrm>
          <a:prstGeom prst="rect">
            <a:avLst/>
          </a:prstGeom>
          <a:noFill/>
        </p:spPr>
        <p:txBody>
          <a:bodyPr wrap="square" rtlCol="0">
            <a:spAutoFit/>
          </a:bodyPr>
          <a:lstStyle/>
          <a:p>
            <a:pPr algn="l"/>
            <a:r>
              <a:rPr lang="en-GB" sz="1800">
                <a:solidFill>
                  <a:schemeClr val="bg2"/>
                </a:solidFill>
                <a:highlight>
                  <a:srgbClr val="FFFF00"/>
                </a:highlight>
              </a:rPr>
              <a:t>Rephrase to fit business objectives</a:t>
            </a:r>
          </a:p>
          <a:p>
            <a:pPr algn="l"/>
            <a:endParaRPr lang="en-GB">
              <a:solidFill>
                <a:schemeClr val="bg2"/>
              </a:solidFill>
              <a:highlight>
                <a:srgbClr val="FFFF00"/>
              </a:highlight>
            </a:endParaRPr>
          </a:p>
          <a:p>
            <a:pPr algn="l"/>
            <a:r>
              <a:rPr lang="en-GB">
                <a:solidFill>
                  <a:schemeClr val="bg2"/>
                </a:solidFill>
                <a:highlight>
                  <a:srgbClr val="FFFF00"/>
                </a:highlight>
              </a:rPr>
              <a:t>Table format might be better</a:t>
            </a:r>
          </a:p>
          <a:p>
            <a:pPr algn="l"/>
            <a:endParaRPr lang="en-GB" sz="1800">
              <a:solidFill>
                <a:schemeClr val="bg2"/>
              </a:solidFill>
              <a:highlight>
                <a:srgbClr val="FFFF00"/>
              </a:highlight>
            </a:endParaRPr>
          </a:p>
          <a:p>
            <a:pPr algn="l"/>
            <a:r>
              <a:rPr lang="en-GB">
                <a:solidFill>
                  <a:schemeClr val="bg2"/>
                </a:solidFill>
                <a:highlight>
                  <a:srgbClr val="FFFF00"/>
                </a:highlight>
              </a:rPr>
              <a:t>Rephrase engagement to quality of response.</a:t>
            </a:r>
          </a:p>
          <a:p>
            <a:pPr algn="l"/>
            <a:r>
              <a:rPr lang="en-GB">
                <a:solidFill>
                  <a:schemeClr val="bg2"/>
                </a:solidFill>
                <a:highlight>
                  <a:srgbClr val="FFFF00"/>
                </a:highlight>
              </a:rPr>
              <a:t>	quality sets expectation around further </a:t>
            </a:r>
            <a:endParaRPr lang="en-GB" sz="1800">
              <a:solidFill>
                <a:schemeClr val="bg2"/>
              </a:solidFill>
              <a:highlight>
                <a:srgbClr val="FFFF00"/>
              </a:highlight>
            </a:endParaRPr>
          </a:p>
        </p:txBody>
      </p:sp>
      <p:pic>
        <p:nvPicPr>
          <p:cNvPr id="22" name="Picture 21" descr="image.png"/>
          <p:cNvPicPr>
            <a:picLocks noChangeAspect="1"/>
          </p:cNvPicPr>
          <p:nvPr/>
        </p:nvPicPr>
        <p:blipFill>
          <a:blip r:embed="rId7"/>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8703535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55589-8388-2506-0CE5-5982BCBF688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14C16BF6-3B26-43DE-0B74-0627EA4F7636}"/>
              </a:ext>
            </a:extLst>
          </p:cNvPr>
          <p:cNvSpPr>
            <a:spLocks noGrp="1"/>
          </p:cNvSpPr>
          <p:nvPr>
            <p:ph type="body" sz="quarter" idx="16"/>
          </p:nvPr>
        </p:nvSpPr>
        <p:spPr>
          <a:xfrm>
            <a:off x="6122839" y="3715469"/>
            <a:ext cx="11160126" cy="4200146"/>
          </a:xfrm>
        </p:spPr>
        <p:txBody>
          <a:bodyPr anchor="ctr"/>
          <a:lstStyle/>
          <a:p>
            <a:pPr algn="ctr"/>
            <a:r>
              <a:rPr lang="en-GB" b="1" noProof="0">
                <a:latin typeface="Fira Sans Light" panose="020B0403050000020004" pitchFamily="34" charset="0"/>
              </a:rPr>
              <a:t>[Client] Readiness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053776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54255-2512-EAE0-2A1B-48D08554C9D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4B089E-4AB3-6689-07BA-9DA231FE85D4}"/>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36</a:t>
            </a:fld>
            <a:endParaRPr lang="en-GB" noProof="0"/>
          </a:p>
        </p:txBody>
      </p:sp>
      <p:sp>
        <p:nvSpPr>
          <p:cNvPr id="10" name="Text Placeholder 9">
            <a:extLst>
              <a:ext uri="{FF2B5EF4-FFF2-40B4-BE49-F238E27FC236}">
                <a16:creationId xmlns:a16="http://schemas.microsoft.com/office/drawing/2014/main" id="{4E65BEEF-32F8-0D83-D953-FAE80AAA90F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Cloud-specific, not overall capability</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8F8FE1E0-BE6B-5CD7-6A97-344197DA7E54}"/>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Readiness today</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EB7ADBED-5845-2955-16AA-D4BD4328EC82}"/>
              </a:ext>
            </a:extLst>
          </p:cNvPr>
          <p:cNvSpPr txBox="1"/>
          <p:nvPr/>
        </p:nvSpPr>
        <p:spPr>
          <a:xfrm>
            <a:off x="7107173" y="1362523"/>
            <a:ext cx="15913031" cy="10618291"/>
          </a:xfrm>
          <a:prstGeom prst="rect">
            <a:avLst/>
          </a:prstGeom>
          <a:noFill/>
        </p:spPr>
        <p:txBody>
          <a:bodyPr wrap="square">
            <a:spAutoFit/>
          </a:bodyPr>
          <a:lstStyle/>
          <a:p>
            <a:pPr defTabSz="1828800" fontAlgn="t">
              <a:spcAft>
                <a:spcPts val="1400"/>
              </a:spcAft>
              <a:buClr>
                <a:srgbClr val="EB0000"/>
              </a:buClr>
            </a:pPr>
            <a:r>
              <a:rPr lang="en-GB" sz="3200" b="1" dirty="0">
                <a:latin typeface="Fira Sans" panose="020B0503050000020004" pitchFamily="34" charset="0"/>
              </a:rPr>
              <a:t>Your team has deep expertise in VMware, Oracle, and networking. This score measures cloud readiness only.</a:t>
            </a:r>
          </a:p>
          <a:p>
            <a:pPr marL="742950" indent="-742950" defTabSz="1828800" fontAlgn="t">
              <a:spcAft>
                <a:spcPts val="1400"/>
              </a:spcAft>
              <a:buClr>
                <a:srgbClr val="EB0000"/>
              </a:buClr>
              <a:buFont typeface="Aktiv Grotesk" panose="020B0604020202020204" pitchFamily="34" charset="0"/>
              <a:buChar char="•"/>
            </a:pPr>
            <a:endParaRPr lang="en-GB" sz="3200" b="1" noProof="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200" dirty="0">
                <a:latin typeface="Fira Sans" panose="020B0503050000020004" pitchFamily="34" charset="0"/>
              </a:rPr>
              <a:t>Business: 2.5 Objectives clear. Operating model definition is the gap.</a:t>
            </a:r>
          </a:p>
          <a:p>
            <a:pPr marL="742950" indent="-742950" defTabSz="1828800" fontAlgn="t">
              <a:spcAft>
                <a:spcPts val="1400"/>
              </a:spcAft>
              <a:buClr>
                <a:srgbClr val="EB0000"/>
              </a:buClr>
              <a:buFont typeface="Aktiv Grotesk"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200" dirty="0">
                <a:latin typeface="Fira Sans" panose="020B0503050000020004" pitchFamily="34" charset="0"/>
              </a:rPr>
              <a:t>Governance: 3.0 Strongest area. CMDB maintained, supplier management mature.</a:t>
            </a:r>
          </a:p>
          <a:p>
            <a:pPr marL="742950" indent="-742950" defTabSz="1828800" fontAlgn="t">
              <a:spcAft>
                <a:spcPts val="1400"/>
              </a:spcAft>
              <a:buClr>
                <a:srgbClr val="EB0000"/>
              </a:buClr>
              <a:buFont typeface="Aktiv Grotesk"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200" dirty="0">
                <a:latin typeface="Fira Sans" panose="020B0503050000020004" pitchFamily="34" charset="0"/>
              </a:rPr>
              <a:t>Operations: 1.8 DR planning and cross-brand monitoring consistency are the gaps.</a:t>
            </a:r>
          </a:p>
          <a:p>
            <a:pPr marL="742950" indent="-742950" defTabSz="1828800" fontAlgn="t">
              <a:spcAft>
                <a:spcPts val="1400"/>
              </a:spcAft>
              <a:buClr>
                <a:srgbClr val="EB0000"/>
              </a:buClr>
              <a:buFont typeface="Aktiv Grotesk"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200" dirty="0">
                <a:latin typeface="Fira Sans" panose="020B0503050000020004" pitchFamily="34" charset="0"/>
              </a:rPr>
              <a:t>People: 1.2 Cloud-specific skills at earliest stage. No formal training plan yet.</a:t>
            </a:r>
          </a:p>
          <a:p>
            <a:pPr marL="742950" indent="-742950" defTabSz="1828800" fontAlgn="t">
              <a:spcAft>
                <a:spcPts val="1400"/>
              </a:spcAft>
              <a:buClr>
                <a:srgbClr val="EB0000"/>
              </a:buClr>
              <a:buFont typeface="Aktiv Grotesk"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200" dirty="0">
                <a:latin typeface="Fira Sans" panose="020B0503050000020004" pitchFamily="34" charset="0"/>
              </a:rPr>
              <a:t>Security: 2.0 CISO engaged. Shared responsibility model and cloud-native GRC early-stage.</a:t>
            </a:r>
          </a:p>
          <a:p>
            <a:pPr marL="742950" indent="-742950" defTabSz="1828800" fontAlgn="t">
              <a:spcAft>
                <a:spcPts val="1400"/>
              </a:spcAft>
              <a:buClr>
                <a:srgbClr val="EB0000"/>
              </a:buClr>
              <a:buFont typeface="Aktiv Grotesk" panose="020B0604020202020204" pitchFamily="34" charset="0"/>
              <a:buChar char="•"/>
            </a:pPr>
            <a:endParaRPr lang="en-GB" sz="3200" dirty="0">
              <a:latin typeface="Fira Sans" panose="020B0503050000020004" pitchFamily="34" charset="0"/>
            </a:endParaRPr>
          </a:p>
          <a:p>
            <a:pPr marL="742950" indent="-742950" defTabSz="1828800" fontAlgn="t">
              <a:spcAft>
                <a:spcPts val="1400"/>
              </a:spcAft>
              <a:buClr>
                <a:srgbClr val="EB0000"/>
              </a:buClr>
              <a:buFont typeface="Aktiv Grotesk" panose="020B0604020202020204" pitchFamily="34" charset="0"/>
              <a:buChar char="•"/>
            </a:pPr>
            <a:r>
              <a:rPr lang="en-GB" sz="3200" dirty="0">
                <a:latin typeface="Fira Sans" panose="020B0503050000020004" pitchFamily="34" charset="0"/>
              </a:rPr>
              <a:t>Bottom line: Overall: 2.1 of 5. Consistent with an organisation at the start of its cloud journey.</a:t>
            </a:r>
            <a:endParaRPr lang="en-GB" sz="32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4104132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444BF-3352-6CA4-BA20-1916CC886B6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E497C3E-582E-28FB-3EF4-0B51737D5CB6}"/>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37</a:t>
            </a:fld>
            <a:endParaRPr lang="en-GB" noProof="0"/>
          </a:p>
        </p:txBody>
      </p:sp>
      <p:sp>
        <p:nvSpPr>
          <p:cNvPr id="10" name="Text Placeholder 9">
            <a:extLst>
              <a:ext uri="{FF2B5EF4-FFF2-40B4-BE49-F238E27FC236}">
                <a16:creationId xmlns:a16="http://schemas.microsoft.com/office/drawing/2014/main" id="{97DD4CE2-3ECD-5BAD-4FBA-DB9E4FFC84B7}"/>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Current state to 12-month target</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E824F35-3346-0328-FEDC-239C9A47D41D}"/>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Closing the gap</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C193EC8B-1C23-D119-528E-F70FE180230A}"/>
              </a:ext>
            </a:extLst>
          </p:cNvPr>
          <p:cNvSpPr txBox="1"/>
          <p:nvPr/>
        </p:nvSpPr>
        <p:spPr>
          <a:xfrm>
            <a:off x="7424165" y="1982775"/>
            <a:ext cx="704773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Current</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Business: 2.5</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Governance: 3.0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Operations: 1.8</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People: 1.2</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Security: 2.0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Overall: 2.1</a:t>
            </a:r>
          </a:p>
        </p:txBody>
      </p:sp>
      <p:sp>
        <p:nvSpPr>
          <p:cNvPr id="3" name="TextBox 2">
            <a:extLst>
              <a:ext uri="{FF2B5EF4-FFF2-40B4-BE49-F238E27FC236}">
                <a16:creationId xmlns:a16="http://schemas.microsoft.com/office/drawing/2014/main" id="{58937000-C9B7-14D5-012B-AB7000F3396F}"/>
              </a:ext>
            </a:extLst>
          </p:cNvPr>
          <p:cNvSpPr txBox="1"/>
          <p:nvPr/>
        </p:nvSpPr>
        <p:spPr>
          <a:xfrm>
            <a:off x="15440405" y="1982775"/>
            <a:ext cx="8175499" cy="5047536"/>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12 Month target</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Business: 4.0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Governance: 4.0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Operations: 3.0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People: 3.0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Security: 4.0</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Overall: 3.6</a:t>
            </a:r>
            <a:endParaRPr lang="en-GB" sz="3600" noProof="0" dirty="0">
              <a:latin typeface="Fira Sans" panose="020B0503050000020004" pitchFamily="34" charset="0"/>
            </a:endParaRPr>
          </a:p>
        </p:txBody>
      </p:sp>
      <p:sp>
        <p:nvSpPr>
          <p:cNvPr id="7" name="TextBox 6">
            <a:extLst>
              <a:ext uri="{FF2B5EF4-FFF2-40B4-BE49-F238E27FC236}">
                <a16:creationId xmlns:a16="http://schemas.microsoft.com/office/drawing/2014/main" id="{61D5B0E8-340B-F60D-1B96-48C9715C90F0}"/>
              </a:ext>
            </a:extLst>
          </p:cNvPr>
          <p:cNvSpPr txBox="1"/>
          <p:nvPr/>
        </p:nvSpPr>
        <p:spPr>
          <a:xfrm>
            <a:off x="7424165" y="8140243"/>
            <a:ext cx="15179803" cy="4688463"/>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How it closes:</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Landing zone build establishes governance, security baselines, and </a:t>
            </a:r>
            <a:r>
              <a:rPr lang="en-GB" sz="3600" dirty="0" err="1">
                <a:latin typeface="Fira Sans" panose="020B0503050000020004" pitchFamily="34" charset="0"/>
              </a:rPr>
              <a:t>IaC</a:t>
            </a:r>
            <a:r>
              <a:rPr lang="en-GB" sz="3600" dirty="0">
                <a:latin typeface="Fira Sans" panose="020B0503050000020004" pitchFamily="34" charset="0"/>
              </a:rPr>
              <a:t> from day one</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Partner-assisted delivery carries the specialist load during transition</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Your team works alongside, absorbing capability cohort by cohort</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End state: Customer-led cloud operation with internal capability built in-flight</a:t>
            </a: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2467430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DAD97-DDC6-211E-ABF0-ADB52762880D}"/>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1575E3D-C54D-758F-C43A-031C9A8C6F5E}"/>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Challenges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764446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11866-C390-50DB-2F36-8A5D5AC5776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E93F0B7-991F-7B1A-8B6C-97B315A0D3CC}"/>
              </a:ext>
            </a:extLst>
          </p:cNvPr>
          <p:cNvSpPr>
            <a:spLocks noGrp="1"/>
          </p:cNvSpPr>
          <p:nvPr>
            <p:ph type="sldNum" sz="quarter" idx="4"/>
          </p:nvPr>
        </p:nvSpPr>
        <p:spPr>
          <a:xfrm>
            <a:off x="22331085" y="13027080"/>
            <a:ext cx="1234804" cy="215444"/>
          </a:xfrm>
        </p:spPr>
        <p:txBody>
          <a:bodyPr/>
          <a:lstStyle/>
          <a:p>
            <a:fld id="{762E77F0-FB5B-4E8E-9BC9-34F14560A017}" type="slidenum">
              <a:rPr lang="en-GB" noProof="0" smtClean="0"/>
              <a:pPr/>
              <a:t>39</a:t>
            </a:fld>
            <a:endParaRPr lang="en-GB" noProof="0"/>
          </a:p>
        </p:txBody>
      </p:sp>
      <p:sp>
        <p:nvSpPr>
          <p:cNvPr id="4" name="TextBox 3">
            <a:extLst>
              <a:ext uri="{FF2B5EF4-FFF2-40B4-BE49-F238E27FC236}">
                <a16:creationId xmlns:a16="http://schemas.microsoft.com/office/drawing/2014/main" id="{22CB9205-8BC5-A354-3074-1839182EBC53}"/>
              </a:ext>
            </a:extLst>
          </p:cNvPr>
          <p:cNvSpPr txBox="1"/>
          <p:nvPr/>
        </p:nvSpPr>
        <p:spPr>
          <a:xfrm>
            <a:off x="406009" y="473476"/>
            <a:ext cx="4051109" cy="1046440"/>
          </a:xfrm>
          <a:prstGeom prst="rect">
            <a:avLst/>
          </a:prstGeom>
          <a:noFill/>
        </p:spPr>
        <p:txBody>
          <a:bodyPr wrap="none" rtlCol="0">
            <a:spAutoFit/>
          </a:bodyPr>
          <a:lstStyle/>
          <a:p>
            <a:pPr algn="l"/>
            <a:r>
              <a:rPr lang="en-GB" sz="6200" dirty="0">
                <a:solidFill>
                  <a:srgbClr val="FF0000"/>
                </a:solidFill>
                <a:latin typeface="Fira Sans Light" panose="020B0403050000020004" pitchFamily="34" charset="0"/>
              </a:rPr>
              <a:t>Challenges</a:t>
            </a:r>
            <a:endParaRPr lang="en-GB" sz="6200" noProof="0" dirty="0">
              <a:solidFill>
                <a:srgbClr val="FF0000"/>
              </a:solidFill>
              <a:latin typeface="Fira Sans Light" panose="020B0403050000020004" pitchFamily="34" charset="0"/>
            </a:endParaRPr>
          </a:p>
        </p:txBody>
      </p:sp>
      <p:graphicFrame>
        <p:nvGraphicFramePr>
          <p:cNvPr id="92" name="Diagram 91">
            <a:extLst>
              <a:ext uri="{FF2B5EF4-FFF2-40B4-BE49-F238E27FC236}">
                <a16:creationId xmlns:a16="http://schemas.microsoft.com/office/drawing/2014/main" id="{91E2D2B3-D579-E6F3-BA2D-5A316438FA45}"/>
              </a:ext>
            </a:extLst>
          </p:cNvPr>
          <p:cNvGraphicFramePr/>
          <p:nvPr>
            <p:extLst>
              <p:ext uri="{D42A27DB-BD31-4B8C-83A1-F6EECF244321}">
                <p14:modId xmlns:p14="http://schemas.microsoft.com/office/powerpoint/2010/main" val="3044437016"/>
              </p:ext>
            </p:extLst>
          </p:nvPr>
        </p:nvGraphicFramePr>
        <p:xfrm>
          <a:off x="775368" y="2341022"/>
          <a:ext cx="9908674" cy="98509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93" name="Diagram 92">
            <a:extLst>
              <a:ext uri="{FF2B5EF4-FFF2-40B4-BE49-F238E27FC236}">
                <a16:creationId xmlns:a16="http://schemas.microsoft.com/office/drawing/2014/main" id="{7EF226EF-5554-E991-EDE7-BFF4D3E2B4AC}"/>
              </a:ext>
            </a:extLst>
          </p:cNvPr>
          <p:cNvGraphicFramePr/>
          <p:nvPr>
            <p:extLst>
              <p:ext uri="{D42A27DB-BD31-4B8C-83A1-F6EECF244321}">
                <p14:modId xmlns:p14="http://schemas.microsoft.com/office/powerpoint/2010/main" val="3280303278"/>
              </p:ext>
            </p:extLst>
          </p:nvPr>
        </p:nvGraphicFramePr>
        <p:xfrm>
          <a:off x="11566358" y="2629780"/>
          <a:ext cx="9908674" cy="98509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pic>
        <p:nvPicPr>
          <p:cNvPr id="94" name="Picture 93" descr="image.png"/>
          <p:cNvPicPr>
            <a:picLocks noChangeAspect="1"/>
          </p:cNvPicPr>
          <p:nvPr/>
        </p:nvPicPr>
        <p:blipFill>
          <a:blip r:embed="rId1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787841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72014-674A-13BB-EF10-D6F44E502D7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3087EE60-60F6-E329-E47E-7E19DE29C8C3}"/>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Opportunities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68791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63C28-257F-78A0-04F8-E290C97EF3C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BDA1C0-E651-62A9-74F9-7204AD2E09E1}"/>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41</a:t>
            </a:fld>
            <a:endParaRPr lang="en-GB" noProof="0"/>
          </a:p>
        </p:txBody>
      </p:sp>
      <p:sp>
        <p:nvSpPr>
          <p:cNvPr id="10" name="Text Placeholder 9">
            <a:extLst>
              <a:ext uri="{FF2B5EF4-FFF2-40B4-BE49-F238E27FC236}">
                <a16:creationId xmlns:a16="http://schemas.microsoft.com/office/drawing/2014/main" id="{624581D9-21E5-38ED-A56C-9D9D68AF986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Modelled in Part 1</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1D2F2C55-F3DF-B7BC-FAB8-A4BC02716B47}"/>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Quantified opportunities</a:t>
            </a:r>
            <a:endParaRPr lang="en-GB" sz="5400" kern="1200" noProof="0" dirty="0">
              <a:ln w="9525">
                <a:noFill/>
              </a:ln>
              <a:latin typeface="Fira Sans" panose="020B0503050000020004" pitchFamily="34" charset="0"/>
            </a:endParaRPr>
          </a:p>
        </p:txBody>
      </p:sp>
      <p:sp>
        <p:nvSpPr>
          <p:cNvPr id="3" name="TextBox 2">
            <a:extLst>
              <a:ext uri="{FF2B5EF4-FFF2-40B4-BE49-F238E27FC236}">
                <a16:creationId xmlns:a16="http://schemas.microsoft.com/office/drawing/2014/main" id="{E471A8B5-1F74-1A17-E2CB-322DF4B62735}"/>
              </a:ext>
            </a:extLst>
          </p:cNvPr>
          <p:cNvSpPr txBox="1"/>
          <p:nvPr/>
        </p:nvSpPr>
        <p:spPr>
          <a:xfrm>
            <a:off x="6899911" y="830709"/>
            <a:ext cx="16344137" cy="10946586"/>
          </a:xfrm>
          <a:prstGeom prst="rect">
            <a:avLst/>
          </a:prstGeom>
          <a:noFill/>
        </p:spPr>
        <p:txBody>
          <a:bodyPr wrap="square">
            <a:spAutoFit/>
          </a:bodyPr>
          <a:lstStyle/>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Oracle modernisation to PostgreSQL </a:t>
            </a:r>
            <a:r>
              <a:rPr lang="en-GB" sz="3600" dirty="0">
                <a:latin typeface="Fira Sans" panose="020B0503050000020004" pitchFamily="34" charset="0"/>
              </a:rPr>
              <a:t>| £45-65K/</a:t>
            </a:r>
            <a:r>
              <a:rPr lang="en-GB" sz="3600" dirty="0" err="1">
                <a:latin typeface="Fira Sans" panose="020B0503050000020004" pitchFamily="34" charset="0"/>
              </a:rPr>
              <a:t>mo</a:t>
            </a:r>
            <a:r>
              <a:rPr lang="en-GB" sz="3600" dirty="0">
                <a:latin typeface="Fira Sans" panose="020B0503050000020004" pitchFamily="34" charset="0"/>
              </a:rPr>
              <a:t> saving (£540-780K/yr) Eliminates £650K/yr support contract. Requires Phase 2 assessment. Conversion cost not yet estimated.</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Windows BYOL </a:t>
            </a:r>
            <a:r>
              <a:rPr lang="en-GB" sz="3600" dirty="0">
                <a:latin typeface="Fira Sans" panose="020B0503050000020004" pitchFamily="34" charset="0"/>
              </a:rPr>
              <a:t>| £7-18K/</a:t>
            </a:r>
            <a:r>
              <a:rPr lang="en-GB" sz="3600" dirty="0" err="1">
                <a:latin typeface="Fira Sans" panose="020B0503050000020004" pitchFamily="34" charset="0"/>
              </a:rPr>
              <a:t>mo</a:t>
            </a:r>
            <a:r>
              <a:rPr lang="en-GB" sz="3600" dirty="0">
                <a:latin typeface="Fira Sans" panose="020B0503050000020004" pitchFamily="34" charset="0"/>
              </a:rPr>
              <a:t> saving depending on cloud Requires active SA. Cost-effective on Azure (AHB). On AWS/GCP only while EA is active (expires May 2027).</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SQL Server BYOL </a:t>
            </a:r>
            <a:r>
              <a:rPr lang="en-GB" sz="3600" dirty="0">
                <a:latin typeface="Fira Sans" panose="020B0503050000020004" pitchFamily="34" charset="0"/>
              </a:rPr>
              <a:t>| £14-15K/</a:t>
            </a:r>
            <a:r>
              <a:rPr lang="en-GB" sz="3600" dirty="0" err="1">
                <a:latin typeface="Fira Sans" panose="020B0503050000020004" pitchFamily="34" charset="0"/>
              </a:rPr>
              <a:t>mo</a:t>
            </a:r>
            <a:r>
              <a:rPr lang="en-GB" sz="3600" dirty="0">
                <a:latin typeface="Fira Sans" panose="020B0503050000020004" pitchFamily="34" charset="0"/>
              </a:rPr>
              <a:t> saving across all clouds Requires SA confirmation from </a:t>
            </a:r>
            <a:r>
              <a:rPr lang="en-GB" sz="3600" dirty="0" err="1">
                <a:latin typeface="Fira Sans" panose="020B0503050000020004" pitchFamily="34" charset="0"/>
              </a:rPr>
              <a:t>Bluesource</a:t>
            </a:r>
            <a:r>
              <a:rPr lang="en-GB" sz="3600" dirty="0">
                <a:latin typeface="Fira Sans" panose="020B0503050000020004" pitchFamily="34" charset="0"/>
              </a:rPr>
              <a:t>. Cost-effective on all three platforms.</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Storage tiering </a:t>
            </a:r>
            <a:r>
              <a:rPr lang="en-GB" sz="3600" dirty="0">
                <a:latin typeface="Fira Sans" panose="020B0503050000020004" pitchFamily="34" charset="0"/>
              </a:rPr>
              <a:t>| £10-19K/</a:t>
            </a:r>
            <a:r>
              <a:rPr lang="en-GB" sz="3600" dirty="0" err="1">
                <a:latin typeface="Fira Sans" panose="020B0503050000020004" pitchFamily="34" charset="0"/>
              </a:rPr>
              <a:t>mo</a:t>
            </a:r>
            <a:r>
              <a:rPr lang="en-GB" sz="3600" dirty="0">
                <a:latin typeface="Fira Sans" panose="020B0503050000020004" pitchFamily="34" charset="0"/>
              </a:rPr>
              <a:t> saving depending on cloud 336 TiB non-production moved from SSD to HDD class. No application impact.</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RTA rightsizing </a:t>
            </a:r>
            <a:r>
              <a:rPr lang="en-GB" sz="3600" dirty="0">
                <a:latin typeface="Fira Sans" panose="020B0503050000020004" pitchFamily="34" charset="0"/>
              </a:rPr>
              <a:t>| Saving TBD (Phase 2 to quantify) Many instances significantly overprovisioned. Right-size during migration for immediate saving.</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21120260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195C4-3CC9-C48C-CA19-FF3EF82974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2EECA7-7E5A-B22F-8BA7-E7F83BDBDFB8}"/>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42</a:t>
            </a:fld>
            <a:endParaRPr lang="en-GB" noProof="0"/>
          </a:p>
        </p:txBody>
      </p:sp>
      <p:sp>
        <p:nvSpPr>
          <p:cNvPr id="10" name="Text Placeholder 9">
            <a:extLst>
              <a:ext uri="{FF2B5EF4-FFF2-40B4-BE49-F238E27FC236}">
                <a16:creationId xmlns:a16="http://schemas.microsoft.com/office/drawing/2014/main" id="{86B0F577-CC24-6B54-0AAC-0D730517E2B2}"/>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Phase 2 to validate</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324EF621-39AE-9401-C78E-96A36D7F6CFC}"/>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Strategic opportunities</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32752ACD-A3A2-82EB-AAAC-3182A829071A}"/>
              </a:ext>
            </a:extLst>
          </p:cNvPr>
          <p:cNvSpPr txBox="1"/>
          <p:nvPr/>
        </p:nvSpPr>
        <p:spPr>
          <a:xfrm>
            <a:off x="6899911" y="830709"/>
            <a:ext cx="16344137" cy="12054582"/>
          </a:xfrm>
          <a:prstGeom prst="rect">
            <a:avLst/>
          </a:prstGeom>
          <a:noFill/>
        </p:spPr>
        <p:txBody>
          <a:bodyPr wrap="square">
            <a:spAutoFit/>
          </a:bodyPr>
          <a:lstStyle/>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Sydney datacentre exit </a:t>
            </a:r>
            <a:r>
              <a:rPr lang="en-GB" sz="3600" dirty="0">
                <a:latin typeface="Fira Sans" panose="020B0503050000020004" pitchFamily="34" charset="0"/>
              </a:rPr>
              <a:t>4 servers, flexible contract, £40K/yr cost offset. Low-risk proof point. Migrate early</a:t>
            </a:r>
            <a:r>
              <a:rPr lang="en-GB" sz="3600" b="1" dirty="0">
                <a:latin typeface="Fira Sans" panose="020B0503050000020004" pitchFamily="34" charset="0"/>
              </a:rPr>
              <a:t>.</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Application rationalisation </a:t>
            </a:r>
            <a:r>
              <a:rPr lang="en-GB" sz="3600" dirty="0">
                <a:latin typeface="Fira Sans" panose="020B0503050000020004" pitchFamily="34" charset="0"/>
              </a:rPr>
              <a:t>Lotus Notes (SaaS replacement), </a:t>
            </a:r>
            <a:r>
              <a:rPr lang="en-GB" sz="3600" dirty="0" err="1">
                <a:latin typeface="Fira Sans" panose="020B0503050000020004" pitchFamily="34" charset="0"/>
              </a:rPr>
              <a:t>Atex</a:t>
            </a:r>
            <a:r>
              <a:rPr lang="en-GB" sz="3600" dirty="0">
                <a:latin typeface="Fira Sans" panose="020B0503050000020004" pitchFamily="34" charset="0"/>
              </a:rPr>
              <a:t> 5.5 (32-bit, retire when </a:t>
            </a:r>
            <a:r>
              <a:rPr lang="en-GB" sz="3600" dirty="0" err="1">
                <a:latin typeface="Fira Sans" panose="020B0503050000020004" pitchFamily="34" charset="0"/>
              </a:rPr>
              <a:t>Atex</a:t>
            </a:r>
            <a:r>
              <a:rPr lang="en-GB" sz="3600" dirty="0">
                <a:latin typeface="Fira Sans" panose="020B0503050000020004" pitchFamily="34" charset="0"/>
              </a:rPr>
              <a:t> 6 complete), SolarWinds and Zabbix (replace with cloud-native monitoring). Every app retired is servers removed from migration scope.</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Load balancer modernisation </a:t>
            </a:r>
            <a:r>
              <a:rPr lang="en-GB" sz="3600" dirty="0">
                <a:latin typeface="Fira Sans" panose="020B0503050000020004" pitchFamily="34" charset="0"/>
              </a:rPr>
              <a:t>F5 (corporate) and Zeus/Ivanti </a:t>
            </a:r>
            <a:r>
              <a:rPr lang="en-GB" sz="3600" dirty="0" err="1">
                <a:latin typeface="Fira Sans" panose="020B0503050000020004" pitchFamily="34" charset="0"/>
              </a:rPr>
              <a:t>vTM</a:t>
            </a:r>
            <a:r>
              <a:rPr lang="en-GB" sz="3600" dirty="0">
                <a:latin typeface="Fira Sans" panose="020B0503050000020004" pitchFamily="34" charset="0"/>
              </a:rPr>
              <a:t> (Customer_App1) replaced by cloud-native. No hardware lifecycle, auto-scaling, native integration.</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Observability consolidation </a:t>
            </a:r>
            <a:r>
              <a:rPr lang="en-GB" sz="3600" dirty="0">
                <a:latin typeface="Fira Sans" panose="020B0503050000020004" pitchFamily="34" charset="0"/>
              </a:rPr>
              <a:t>Replace SolarWinds and Zabbix with a single cloud-native or cloud-agnostic monitoring platform. Consistent across brands.</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Infrastructure as Code from day one </a:t>
            </a:r>
            <a:r>
              <a:rPr lang="en-GB" sz="3600" dirty="0">
                <a:latin typeface="Fira Sans" panose="020B0503050000020004" pitchFamily="34" charset="0"/>
              </a:rPr>
              <a:t>All cloud provisioning via Terraform or cloud-native equivalent. Reproducible, auditable, eliminates manual configuration errors.</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74280205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DBEA-0CE9-F5E1-B3AB-C63A574AFD17}"/>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AE1DFF3-C252-F86B-085F-D8DA7CDD85D1}"/>
              </a:ext>
            </a:extLst>
          </p:cNvPr>
          <p:cNvSpPr>
            <a:spLocks noGrp="1"/>
          </p:cNvSpPr>
          <p:nvPr>
            <p:ph type="body" sz="quarter" idx="16"/>
          </p:nvPr>
        </p:nvSpPr>
        <p:spPr>
          <a:xfrm>
            <a:off x="6122839" y="3715469"/>
            <a:ext cx="11160126" cy="4200146"/>
          </a:xfrm>
        </p:spPr>
        <p:txBody>
          <a:bodyPr anchor="ctr"/>
          <a:lstStyle/>
          <a:p>
            <a:pPr algn="ctr"/>
            <a:r>
              <a:rPr lang="en-GB" b="1" noProof="0" dirty="0">
                <a:latin typeface="Fira Sans Light" panose="020B0403050000020004" pitchFamily="34" charset="0"/>
              </a:rPr>
              <a:t>Moving Forward and Part 2</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4240702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5D3A8-8F8B-22C2-DC2B-0B7E38610AB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26A489-A3AB-7E81-EF6B-F1A5EF65B5E5}"/>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44</a:t>
            </a:fld>
            <a:endParaRPr lang="en-GB" noProof="0"/>
          </a:p>
        </p:txBody>
      </p:sp>
      <p:sp>
        <p:nvSpPr>
          <p:cNvPr id="10" name="Text Placeholder 9">
            <a:extLst>
              <a:ext uri="{FF2B5EF4-FFF2-40B4-BE49-F238E27FC236}">
                <a16:creationId xmlns:a16="http://schemas.microsoft.com/office/drawing/2014/main" id="{191A3925-6712-2B0A-4984-C119C216D840}"/>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Data and decisions</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2F9BB55B-FD0C-79E9-DF2D-A7BCBA9E1FDF}"/>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What you need to do now</a:t>
            </a:r>
            <a:endParaRPr lang="en-GB" sz="5400" kern="1200" noProof="0" dirty="0">
              <a:ln w="9525">
                <a:noFill/>
              </a:ln>
              <a:latin typeface="Fira Sans" panose="020B0503050000020004" pitchFamily="34" charset="0"/>
            </a:endParaRPr>
          </a:p>
        </p:txBody>
      </p:sp>
      <p:sp>
        <p:nvSpPr>
          <p:cNvPr id="2" name="TextBox 1">
            <a:extLst>
              <a:ext uri="{FF2B5EF4-FFF2-40B4-BE49-F238E27FC236}">
                <a16:creationId xmlns:a16="http://schemas.microsoft.com/office/drawing/2014/main" id="{0149AB80-CC43-1C95-F269-8BA70F5FC9D7}"/>
              </a:ext>
            </a:extLst>
          </p:cNvPr>
          <p:cNvSpPr txBox="1"/>
          <p:nvPr/>
        </p:nvSpPr>
        <p:spPr>
          <a:xfrm>
            <a:off x="7424165" y="1982775"/>
            <a:ext cx="7047739" cy="7458452"/>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Data to provide</a:t>
            </a:r>
          </a:p>
          <a:p>
            <a:pPr marL="571500" indent="-571500" defTabSz="1828800" fontAlgn="t">
              <a:spcAft>
                <a:spcPts val="1400"/>
              </a:spcAft>
              <a:buClr>
                <a:srgbClr val="EB0000"/>
              </a:buClr>
              <a:buFont typeface="Aktiv Grotesk" panose="020B0604020202020204" pitchFamily="34" charset="0"/>
              <a:buChar cha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SA confirmation from </a:t>
            </a:r>
            <a:r>
              <a:rPr lang="en-GB" sz="3600" dirty="0" err="1">
                <a:latin typeface="Fira Sans" panose="020B0503050000020004" pitchFamily="34" charset="0"/>
              </a:rPr>
              <a:t>Bluesource</a:t>
            </a:r>
            <a:r>
              <a:rPr lang="en-GB" sz="3600" dirty="0">
                <a:latin typeface="Fira Sans" panose="020B0503050000020004" pitchFamily="34" charset="0"/>
              </a:rPr>
              <a:t> (unblocks BYOL modelling)</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Broadcom VCF subscription quote (completes cost of doing nothing)</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MOL B-cluster DMA access (largest database, currently sized from hardware spec only)</a:t>
            </a:r>
          </a:p>
        </p:txBody>
      </p:sp>
      <p:sp>
        <p:nvSpPr>
          <p:cNvPr id="3" name="TextBox 2">
            <a:extLst>
              <a:ext uri="{FF2B5EF4-FFF2-40B4-BE49-F238E27FC236}">
                <a16:creationId xmlns:a16="http://schemas.microsoft.com/office/drawing/2014/main" id="{6CF84058-421F-8E28-EE84-440D2C3A3409}"/>
              </a:ext>
            </a:extLst>
          </p:cNvPr>
          <p:cNvSpPr txBox="1"/>
          <p:nvPr/>
        </p:nvSpPr>
        <p:spPr>
          <a:xfrm>
            <a:off x="15440405" y="1982775"/>
            <a:ext cx="8175499" cy="7817525"/>
          </a:xfrm>
          <a:prstGeom prst="rect">
            <a:avLst/>
          </a:prstGeom>
          <a:noFill/>
        </p:spPr>
        <p:txBody>
          <a:bodyPr wrap="square">
            <a:spAutoFit/>
          </a:bodyPr>
          <a:lstStyle/>
          <a:p>
            <a:pPr defTabSz="1828800" fontAlgn="t">
              <a:spcAft>
                <a:spcPts val="1400"/>
              </a:spcAft>
              <a:buClr>
                <a:srgbClr val="EB0000"/>
              </a:buClr>
            </a:pPr>
            <a:r>
              <a:rPr lang="en-GB" sz="3600" dirty="0">
                <a:latin typeface="Fira Sans" panose="020B0503050000020004" pitchFamily="34" charset="0"/>
              </a:rPr>
              <a:t>Decisions to make</a:t>
            </a:r>
          </a:p>
          <a:p>
            <a:pPr defTabSz="1828800" fontAlgn="t">
              <a:spcAft>
                <a:spcPts val="1400"/>
              </a:spcAft>
              <a:buClr>
                <a:srgbClr val="EB0000"/>
              </a:buClr>
            </a:pPr>
            <a:endParaRPr lang="en-GB" sz="3600"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Primary platform (this assessment recommends AWS)</a:t>
            </a:r>
          </a:p>
          <a:p>
            <a:pPr marL="571500" indent="-571500" defTabSz="1828800" fontAlgn="t">
              <a:spcAft>
                <a:spcPts val="1400"/>
              </a:spcAft>
              <a:buClr>
                <a:srgbClr val="EB0000"/>
              </a:buClr>
              <a:buFont typeface="Aktiv Grotesk" panose="020B0604020202020204" pitchFamily="34" charset="0"/>
              <a:buChar char="•"/>
            </a:pPr>
            <a:r>
              <a:rPr lang="en-GB" sz="3600" dirty="0" err="1">
                <a:latin typeface="Fira Sans" panose="020B0503050000020004" pitchFamily="34" charset="0"/>
              </a:rPr>
              <a:t>Atex</a:t>
            </a:r>
            <a:r>
              <a:rPr lang="en-GB" sz="3600" dirty="0">
                <a:latin typeface="Fira Sans" panose="020B0503050000020004" pitchFamily="34" charset="0"/>
              </a:rPr>
              <a:t> vendor engagement on unicast support</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Oracle path: </a:t>
            </a:r>
            <a:r>
              <a:rPr lang="en-GB" sz="3600" dirty="0" err="1">
                <a:latin typeface="Fira Sans" panose="020B0503050000020004" pitchFamily="34" charset="0"/>
              </a:rPr>
              <a:t>Exadata@Cloud</a:t>
            </a:r>
            <a:r>
              <a:rPr lang="en-GB" sz="3600" dirty="0">
                <a:latin typeface="Fira Sans" panose="020B0503050000020004" pitchFamily="34" charset="0"/>
              </a:rPr>
              <a:t> now, PostgreSQL timing for Phase 2</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Day 2 operating model (partner-assisted with upskilling)</a:t>
            </a:r>
          </a:p>
          <a:p>
            <a:pPr marL="571500" indent="-571500" defTabSz="1828800" fontAlgn="t">
              <a:spcAft>
                <a:spcPts val="1400"/>
              </a:spcAft>
              <a:buClr>
                <a:srgbClr val="EB0000"/>
              </a:buClr>
              <a:buFont typeface="Aktiv Grotesk" panose="020B0604020202020204" pitchFamily="34" charset="0"/>
              <a:buChar char="•"/>
            </a:pPr>
            <a:r>
              <a:rPr lang="en-GB" sz="3600" dirty="0">
                <a:latin typeface="Fira Sans" panose="020B0503050000020004" pitchFamily="34" charset="0"/>
              </a:rPr>
              <a:t>CPO and CTO joint sponsorship for Mail Online</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29806563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ECC5E-FDFD-3533-E973-5BD06E774B8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46896A-0D31-5322-ED74-6C607EB91D57}"/>
              </a:ext>
            </a:extLst>
          </p:cNvPr>
          <p:cNvSpPr>
            <a:spLocks noGrp="1"/>
          </p:cNvSpPr>
          <p:nvPr>
            <p:ph type="sldNum" sz="quarter" idx="11"/>
          </p:nvPr>
        </p:nvSpPr>
        <p:spPr/>
        <p:txBody>
          <a:bodyPr vert="horz" lIns="0" tIns="0" rIns="0" bIns="0" rtlCol="0" anchor="t" anchorCtr="0">
            <a:normAutofit/>
          </a:bodyPr>
          <a:lstStyle/>
          <a:p>
            <a:pPr>
              <a:spcAft>
                <a:spcPts val="600"/>
              </a:spcAft>
            </a:pPr>
            <a:fld id="{762E77F0-FB5B-4E8E-9BC9-34F14560A017}" type="slidenum">
              <a:rPr lang="en-GB" noProof="0" smtClean="0"/>
              <a:pPr>
                <a:spcAft>
                  <a:spcPts val="600"/>
                </a:spcAft>
              </a:pPr>
              <a:t>45</a:t>
            </a:fld>
            <a:endParaRPr lang="en-GB" noProof="0"/>
          </a:p>
        </p:txBody>
      </p:sp>
      <p:sp>
        <p:nvSpPr>
          <p:cNvPr id="10" name="Text Placeholder 9">
            <a:extLst>
              <a:ext uri="{FF2B5EF4-FFF2-40B4-BE49-F238E27FC236}">
                <a16:creationId xmlns:a16="http://schemas.microsoft.com/office/drawing/2014/main" id="{3CE5B241-B260-C5AC-BAFD-EF7391ABBDC3}"/>
              </a:ext>
            </a:extLst>
          </p:cNvPr>
          <p:cNvSpPr>
            <a:spLocks noGrp="1"/>
          </p:cNvSpPr>
          <p:nvPr>
            <p:ph type="body" sz="quarter" idx="13"/>
          </p:nvPr>
        </p:nvSpPr>
        <p:spPr>
          <a:xfrm>
            <a:off x="533709" y="6028362"/>
            <a:ext cx="5216526" cy="3536261"/>
          </a:xfrm>
        </p:spPr>
        <p:txBody>
          <a:bodyPr anchor="ctr"/>
          <a:lstStyle/>
          <a:p>
            <a:pPr algn="ctr"/>
            <a:r>
              <a:rPr lang="en-GB" sz="3200" dirty="0">
                <a:latin typeface="Fira Sans" panose="020B0503050000020004" pitchFamily="34" charset="0"/>
              </a:rPr>
              <a:t>From assessment to migration plan</a:t>
            </a:r>
            <a:endParaRPr lang="en-GB" sz="3200" noProof="0" dirty="0">
              <a:latin typeface="Fira Sans" panose="020B0503050000020004" pitchFamily="34" charset="0"/>
            </a:endParaRPr>
          </a:p>
        </p:txBody>
      </p:sp>
      <p:sp>
        <p:nvSpPr>
          <p:cNvPr id="5" name="Title 1">
            <a:extLst>
              <a:ext uri="{FF2B5EF4-FFF2-40B4-BE49-F238E27FC236}">
                <a16:creationId xmlns:a16="http://schemas.microsoft.com/office/drawing/2014/main" id="{9C7D1CD1-3791-40A5-2547-73556686B41B}"/>
              </a:ext>
            </a:extLst>
          </p:cNvPr>
          <p:cNvSpPr>
            <a:spLocks noGrp="1"/>
          </p:cNvSpPr>
          <p:nvPr>
            <p:ph type="title"/>
          </p:nvPr>
        </p:nvSpPr>
        <p:spPr>
          <a:xfrm>
            <a:off x="508649" y="3609563"/>
            <a:ext cx="5241586" cy="3062106"/>
          </a:xfrm>
        </p:spPr>
        <p:txBody>
          <a:bodyPr vert="horz" wrap="square" lIns="0" tIns="0" rIns="0" bIns="0" rtlCol="0" anchor="t" anchorCtr="0">
            <a:normAutofit/>
          </a:bodyPr>
          <a:lstStyle/>
          <a:p>
            <a:pPr algn="ctr"/>
            <a:r>
              <a:rPr lang="en-GB" sz="5400" dirty="0">
                <a:latin typeface="Fira Sans" panose="020B0503050000020004" pitchFamily="34" charset="0"/>
              </a:rPr>
              <a:t>Phase 2 entry point</a:t>
            </a:r>
            <a:endParaRPr lang="en-GB" sz="5400" kern="1200" noProof="0" dirty="0">
              <a:ln w="9525">
                <a:noFill/>
              </a:ln>
              <a:latin typeface="Fira Sans" panose="020B0503050000020004" pitchFamily="34" charset="0"/>
            </a:endParaRPr>
          </a:p>
        </p:txBody>
      </p:sp>
      <p:sp>
        <p:nvSpPr>
          <p:cNvPr id="6" name="TextBox 5">
            <a:extLst>
              <a:ext uri="{FF2B5EF4-FFF2-40B4-BE49-F238E27FC236}">
                <a16:creationId xmlns:a16="http://schemas.microsoft.com/office/drawing/2014/main" id="{96DA1012-AA8A-567A-F1EE-138B84859202}"/>
              </a:ext>
            </a:extLst>
          </p:cNvPr>
          <p:cNvSpPr txBox="1"/>
          <p:nvPr/>
        </p:nvSpPr>
        <p:spPr>
          <a:xfrm>
            <a:off x="6899911" y="1475374"/>
            <a:ext cx="16344137" cy="10392589"/>
          </a:xfrm>
          <a:prstGeom prst="rect">
            <a:avLst/>
          </a:prstGeom>
          <a:noFill/>
        </p:spPr>
        <p:txBody>
          <a:bodyPr wrap="square">
            <a:spAutoFit/>
          </a:bodyPr>
          <a:lstStyle/>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Discovery and profiling </a:t>
            </a:r>
            <a:r>
              <a:rPr lang="en-GB" sz="3600" dirty="0">
                <a:latin typeface="Fira Sans" panose="020B0503050000020004" pitchFamily="34" charset="0"/>
              </a:rPr>
              <a:t>Extend to full 4,500+ estate. MOL B-cluster DMA. Deep performance profiling. Per-application 7R classification.</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Architecture and design </a:t>
            </a:r>
            <a:r>
              <a:rPr lang="en-GB" sz="3600" dirty="0">
                <a:latin typeface="Fira Sans" panose="020B0503050000020004" pitchFamily="34" charset="0"/>
              </a:rPr>
              <a:t>Landing zone design. Security posture assessment. Network and load balancer modernisation. </a:t>
            </a:r>
            <a:r>
              <a:rPr lang="en-GB" sz="3600" dirty="0" err="1">
                <a:latin typeface="Fira Sans" panose="020B0503050000020004" pitchFamily="34" charset="0"/>
              </a:rPr>
              <a:t>Guardicore</a:t>
            </a:r>
            <a:r>
              <a:rPr lang="en-GB" sz="3600" dirty="0">
                <a:latin typeface="Fira Sans" panose="020B0503050000020004" pitchFamily="34" charset="0"/>
              </a:rPr>
              <a:t> policy migration.</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Data and modernisation </a:t>
            </a:r>
            <a:r>
              <a:rPr lang="en-GB" sz="3600" dirty="0">
                <a:latin typeface="Fira Sans" panose="020B0503050000020004" pitchFamily="34" charset="0"/>
              </a:rPr>
              <a:t>Oracle modernisation assessment (highest-value workstream). SQL Server per-instance assessment. PostgreSQL feasibility</a:t>
            </a:r>
            <a:r>
              <a:rPr lang="en-GB" sz="3600" b="1" dirty="0">
                <a:latin typeface="Fira Sans" panose="020B0503050000020004" pitchFamily="34" charset="0"/>
              </a:rPr>
              <a:t>.</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Planning and governance </a:t>
            </a:r>
            <a:r>
              <a:rPr lang="en-GB" sz="3600" dirty="0">
                <a:latin typeface="Fira Sans" panose="020B0503050000020004" pitchFamily="34" charset="0"/>
              </a:rPr>
              <a:t>Cohort sequencing with timeline. Co-migration group scheduling. Dual-run cost modelling. Cloud Platform Team formation. Staff training roadmap.</a:t>
            </a:r>
          </a:p>
          <a:p>
            <a:pPr marL="571500" indent="-571500" defTabSz="1828800" fontAlgn="t">
              <a:spcAft>
                <a:spcPts val="1400"/>
              </a:spcAft>
              <a:buClr>
                <a:srgbClr val="EB0000"/>
              </a:buClr>
              <a:buFont typeface="Aktiv Grotesk" panose="020B0604020202020204" pitchFamily="34" charset="0"/>
              <a:buChar char="•"/>
            </a:pPr>
            <a:endParaRPr lang="en-GB" sz="3600" b="1" dirty="0">
              <a:latin typeface="Fira Sans" panose="020B0503050000020004" pitchFamily="34" charset="0"/>
            </a:endParaRPr>
          </a:p>
          <a:p>
            <a:pPr marL="571500" indent="-571500" defTabSz="1828800" fontAlgn="t">
              <a:spcAft>
                <a:spcPts val="1400"/>
              </a:spcAft>
              <a:buClr>
                <a:srgbClr val="EB0000"/>
              </a:buClr>
              <a:buFont typeface="Aktiv Grotesk" panose="020B0604020202020204" pitchFamily="34" charset="0"/>
              <a:buChar char="•"/>
            </a:pPr>
            <a:r>
              <a:rPr lang="en-GB" sz="3600" b="1" dirty="0">
                <a:latin typeface="Fira Sans" panose="020B0503050000020004" pitchFamily="34" charset="0"/>
              </a:rPr>
              <a:t>Bottom line: </a:t>
            </a:r>
            <a:r>
              <a:rPr lang="en-GB" sz="3600" dirty="0">
                <a:latin typeface="Fira Sans" panose="020B0503050000020004" pitchFamily="34" charset="0"/>
              </a:rPr>
              <a:t>Phase 2 is a separately proposed engagement. It turns this report into a concrete migration plan. It does not execute migration.</a:t>
            </a:r>
            <a:endParaRPr lang="en-GB" sz="3600" noProof="0" dirty="0">
              <a:latin typeface="Fira Sans" panose="020B0503050000020004" pitchFamily="34" charset="0"/>
            </a:endParaRPr>
          </a:p>
        </p:txBody>
      </p:sp>
      <p:pic>
        <p:nvPicPr>
          <p:cNvPr id="11" name="Picture 10"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31873144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664A3-0BAF-3C29-662A-F13BF64FABF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34F41C5-ED8C-324F-AFDC-EDA6FF552217}"/>
              </a:ext>
            </a:extLst>
          </p:cNvPr>
          <p:cNvSpPr>
            <a:spLocks noGrp="1"/>
          </p:cNvSpPr>
          <p:nvPr>
            <p:ph type="title"/>
          </p:nvPr>
        </p:nvSpPr>
        <p:spPr/>
        <p:txBody>
          <a:bodyPr/>
          <a:lstStyle/>
          <a:p>
            <a:r>
              <a:rPr lang="en-GB" dirty="0"/>
              <a:t>Indicative timeline</a:t>
            </a:r>
          </a:p>
        </p:txBody>
      </p:sp>
      <p:sp>
        <p:nvSpPr>
          <p:cNvPr id="4" name="Slide Number Placeholder 3">
            <a:extLst>
              <a:ext uri="{FF2B5EF4-FFF2-40B4-BE49-F238E27FC236}">
                <a16:creationId xmlns:a16="http://schemas.microsoft.com/office/drawing/2014/main" id="{EBB272EC-310E-F466-C142-AE3F0077C418}"/>
              </a:ext>
            </a:extLst>
          </p:cNvPr>
          <p:cNvSpPr>
            <a:spLocks noGrp="1"/>
          </p:cNvSpPr>
          <p:nvPr>
            <p:ph type="sldNum" sz="quarter" idx="4"/>
          </p:nvPr>
        </p:nvSpPr>
        <p:spPr/>
        <p:txBody>
          <a:bodyPr/>
          <a:lstStyle/>
          <a:p>
            <a:fld id="{762E77F0-FB5B-4E8E-9BC9-34F14560A017}" type="slidenum">
              <a:rPr lang="en-US" smtClean="0"/>
              <a:pPr/>
              <a:t>46</a:t>
            </a:fld>
            <a:endParaRPr lang="en-US"/>
          </a:p>
        </p:txBody>
      </p:sp>
      <p:sp>
        <p:nvSpPr>
          <p:cNvPr id="7" name="TextBox 6">
            <a:extLst>
              <a:ext uri="{FF2B5EF4-FFF2-40B4-BE49-F238E27FC236}">
                <a16:creationId xmlns:a16="http://schemas.microsoft.com/office/drawing/2014/main" id="{C65B0B31-8E7C-6E89-9711-2FA74D033D4E}"/>
              </a:ext>
            </a:extLst>
          </p:cNvPr>
          <p:cNvSpPr txBox="1"/>
          <p:nvPr/>
        </p:nvSpPr>
        <p:spPr>
          <a:xfrm>
            <a:off x="1261872" y="3409801"/>
            <a:ext cx="18416016" cy="2677656"/>
          </a:xfrm>
          <a:prstGeom prst="rect">
            <a:avLst/>
          </a:prstGeom>
          <a:noFill/>
        </p:spPr>
        <p:txBody>
          <a:bodyPr wrap="square" rtlCol="0">
            <a:spAutoFit/>
          </a:bodyPr>
          <a:lstStyle/>
          <a:p>
            <a:pPr marL="285750" indent="-285750">
              <a:buFont typeface="Aktiv Grotesk" panose="020B0604020202020204" pitchFamily="34" charset="0"/>
              <a:buChar char="•"/>
            </a:pPr>
            <a:r>
              <a:rPr lang="en-GB" sz="2800" dirty="0"/>
              <a:t>Phase 2 (planning and design): 15 weeks, Q3 2026</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Migration execution: Q4 2026 to Q3 2027 (13 months)</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2800" dirty="0"/>
              <a:t>DC lease expiry: November 2027 (achievable if Phase 2 starts Q3 and critical decisions are made during planning)</a:t>
            </a:r>
            <a:endParaRPr lang="en-GB" sz="2800" b="1" dirty="0"/>
          </a:p>
        </p:txBody>
      </p:sp>
      <p:pic>
        <p:nvPicPr>
          <p:cNvPr id="8" name="Picture 7"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23604891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234D6-843F-A625-0E1E-384E38E98AD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1D04AE8-9F37-FD1E-8B3F-26FA8E8864DC}"/>
              </a:ext>
            </a:extLst>
          </p:cNvPr>
          <p:cNvSpPr>
            <a:spLocks noGrp="1"/>
          </p:cNvSpPr>
          <p:nvPr>
            <p:ph type="title"/>
          </p:nvPr>
        </p:nvSpPr>
        <p:spPr/>
        <p:txBody>
          <a:bodyPr/>
          <a:lstStyle/>
          <a:p>
            <a:r>
              <a:rPr lang="en-GB" dirty="0"/>
              <a:t>Hyperscaler guidance</a:t>
            </a:r>
          </a:p>
        </p:txBody>
      </p:sp>
      <p:sp>
        <p:nvSpPr>
          <p:cNvPr id="4" name="Slide Number Placeholder 3">
            <a:extLst>
              <a:ext uri="{FF2B5EF4-FFF2-40B4-BE49-F238E27FC236}">
                <a16:creationId xmlns:a16="http://schemas.microsoft.com/office/drawing/2014/main" id="{3CDED91F-43F1-7AAD-8F36-77B49DFC1BA3}"/>
              </a:ext>
            </a:extLst>
          </p:cNvPr>
          <p:cNvSpPr>
            <a:spLocks noGrp="1"/>
          </p:cNvSpPr>
          <p:nvPr>
            <p:ph type="sldNum" sz="quarter" idx="4"/>
          </p:nvPr>
        </p:nvSpPr>
        <p:spPr/>
        <p:txBody>
          <a:bodyPr/>
          <a:lstStyle/>
          <a:p>
            <a:fld id="{762E77F0-FB5B-4E8E-9BC9-34F14560A017}" type="slidenum">
              <a:rPr lang="en-US" smtClean="0"/>
              <a:pPr/>
              <a:t>47</a:t>
            </a:fld>
            <a:endParaRPr lang="en-US"/>
          </a:p>
        </p:txBody>
      </p:sp>
      <p:sp>
        <p:nvSpPr>
          <p:cNvPr id="7" name="TextBox 6">
            <a:extLst>
              <a:ext uri="{FF2B5EF4-FFF2-40B4-BE49-F238E27FC236}">
                <a16:creationId xmlns:a16="http://schemas.microsoft.com/office/drawing/2014/main" id="{CB3B8C02-3404-3AE7-455A-ADD05A394A50}"/>
              </a:ext>
            </a:extLst>
          </p:cNvPr>
          <p:cNvSpPr txBox="1"/>
          <p:nvPr/>
        </p:nvSpPr>
        <p:spPr>
          <a:xfrm>
            <a:off x="1261872" y="3409801"/>
            <a:ext cx="9582912" cy="5386090"/>
          </a:xfrm>
          <a:prstGeom prst="rect">
            <a:avLst/>
          </a:prstGeom>
          <a:noFill/>
        </p:spPr>
        <p:txBody>
          <a:bodyPr wrap="square" rtlCol="0">
            <a:spAutoFit/>
          </a:bodyPr>
          <a:lstStyle/>
          <a:p>
            <a:r>
              <a:rPr lang="en-GB" sz="2800" b="1" dirty="0"/>
              <a:t>Questions to ask each cloud</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3200" dirty="0"/>
              <a:t>What is your answer for Oracle? (the whole path, not just the price)</a:t>
            </a:r>
          </a:p>
          <a:p>
            <a:pPr marL="285750" indent="-285750">
              <a:buFont typeface="Aktiv Grotesk" panose="020B0604020202020204" pitchFamily="34" charset="0"/>
              <a:buChar char="•"/>
            </a:pPr>
            <a:r>
              <a:rPr lang="en-GB" sz="3200" dirty="0"/>
              <a:t>How have you sized our workloads? (does their methodology match?)</a:t>
            </a:r>
          </a:p>
          <a:p>
            <a:pPr marL="285750" indent="-285750">
              <a:buFont typeface="Aktiv Grotesk" panose="020B0604020202020204" pitchFamily="34" charset="0"/>
              <a:buChar char="•"/>
            </a:pPr>
            <a:r>
              <a:rPr lang="en-GB" sz="3200" dirty="0"/>
              <a:t>What does BYOL look like for Server 2022? (only Azure AHB works without restrictions)</a:t>
            </a:r>
          </a:p>
          <a:p>
            <a:pPr marL="285750" indent="-285750">
              <a:buFont typeface="Aktiv Grotesk" panose="020B0604020202020204" pitchFamily="34" charset="0"/>
              <a:buChar char="•"/>
            </a:pPr>
            <a:r>
              <a:rPr lang="en-GB" sz="3200" dirty="0"/>
              <a:t>What is your commercial offer? (private pricing, credits, funded resources)</a:t>
            </a:r>
          </a:p>
          <a:p>
            <a:pPr marL="285750" indent="-285750">
              <a:buFont typeface="Aktiv Grotesk" panose="020B0604020202020204" pitchFamily="34" charset="0"/>
              <a:buChar char="•"/>
            </a:pPr>
            <a:r>
              <a:rPr lang="en-GB" sz="3200" dirty="0"/>
              <a:t>Who owns Day 2 operations?</a:t>
            </a:r>
            <a:endParaRPr lang="en-GB" sz="3200" b="1" dirty="0"/>
          </a:p>
        </p:txBody>
      </p:sp>
      <p:sp>
        <p:nvSpPr>
          <p:cNvPr id="2" name="TextBox 1">
            <a:extLst>
              <a:ext uri="{FF2B5EF4-FFF2-40B4-BE49-F238E27FC236}">
                <a16:creationId xmlns:a16="http://schemas.microsoft.com/office/drawing/2014/main" id="{4494EDA4-5135-6095-2609-F7FD8617C914}"/>
              </a:ext>
            </a:extLst>
          </p:cNvPr>
          <p:cNvSpPr txBox="1"/>
          <p:nvPr/>
        </p:nvSpPr>
        <p:spPr>
          <a:xfrm>
            <a:off x="12819890" y="2948136"/>
            <a:ext cx="9582912" cy="6309420"/>
          </a:xfrm>
          <a:prstGeom prst="rect">
            <a:avLst/>
          </a:prstGeom>
          <a:noFill/>
        </p:spPr>
        <p:txBody>
          <a:bodyPr wrap="square" rtlCol="0">
            <a:spAutoFit/>
          </a:bodyPr>
          <a:lstStyle/>
          <a:p>
            <a:endParaRPr lang="en-GB" sz="2800" dirty="0"/>
          </a:p>
          <a:p>
            <a:r>
              <a:rPr lang="en-GB" sz="2800" b="1" dirty="0"/>
              <a:t>Warning signs</a:t>
            </a:r>
          </a:p>
          <a:p>
            <a:pPr marL="285750" indent="-285750">
              <a:buFont typeface="Aktiv Grotesk" panose="020B0604020202020204" pitchFamily="34" charset="0"/>
              <a:buChar char="•"/>
            </a:pPr>
            <a:endParaRPr lang="en-GB" sz="2800" dirty="0"/>
          </a:p>
          <a:p>
            <a:pPr marL="285750" indent="-285750">
              <a:buFont typeface="Aktiv Grotesk" panose="020B0604020202020204" pitchFamily="34" charset="0"/>
              <a:buChar char="•"/>
            </a:pPr>
            <a:r>
              <a:rPr lang="en-GB" sz="3200" dirty="0"/>
              <a:t>All-5 self-ratings without Customer-specific justification</a:t>
            </a:r>
          </a:p>
          <a:p>
            <a:pPr marL="285750" indent="-285750">
              <a:buFont typeface="Aktiv Grotesk" panose="020B0604020202020204" pitchFamily="34" charset="0"/>
              <a:buChar char="•"/>
            </a:pPr>
            <a:r>
              <a:rPr lang="en-GB" sz="3200" dirty="0"/>
              <a:t>Cost figures that do not include Oracle, SQL licensing, or support</a:t>
            </a:r>
          </a:p>
          <a:p>
            <a:pPr marL="285750" indent="-285750">
              <a:buFont typeface="Aktiv Grotesk" panose="020B0604020202020204" pitchFamily="34" charset="0"/>
              <a:buChar char="•"/>
            </a:pPr>
            <a:r>
              <a:rPr lang="en-GB" sz="3200" dirty="0"/>
              <a:t>Sizing using only their own tool without independent validation</a:t>
            </a:r>
          </a:p>
          <a:p>
            <a:pPr marL="285750" indent="-285750">
              <a:buFont typeface="Aktiv Grotesk" panose="020B0604020202020204" pitchFamily="34" charset="0"/>
              <a:buChar char="•"/>
            </a:pPr>
            <a:r>
              <a:rPr lang="en-GB" sz="3200" dirty="0"/>
              <a:t>Year 1 savings claims without acknowledging dual-run cost</a:t>
            </a:r>
          </a:p>
          <a:p>
            <a:pPr marL="285750" indent="-285750">
              <a:buFont typeface="Aktiv Grotesk" panose="020B0604020202020204" pitchFamily="34" charset="0"/>
              <a:buChar char="•"/>
            </a:pPr>
            <a:r>
              <a:rPr lang="en-GB" sz="3200" dirty="0"/>
              <a:t>Proposals that ignore your Software Assurance status</a:t>
            </a:r>
            <a:endParaRPr lang="en-GB" sz="3200" b="1" dirty="0"/>
          </a:p>
        </p:txBody>
      </p:sp>
      <p:pic>
        <p:nvPicPr>
          <p:cNvPr id="8" name="Picture 7" descr="image.png"/>
          <p:cNvPicPr>
            <a:picLocks noChangeAspect="1"/>
          </p:cNvPicPr>
          <p:nvPr/>
        </p:nvPicPr>
        <p:blipFill>
          <a:blip r:embed="rId2"/>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19087317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C3F6B7D-9F2B-1D64-C1D6-061C3C9A7D69}"/>
              </a:ext>
            </a:extLst>
          </p:cNvPr>
          <p:cNvSpPr>
            <a:spLocks noGrp="1"/>
          </p:cNvSpPr>
          <p:nvPr>
            <p:ph type="sldNum" sz="quarter" idx="4"/>
          </p:nvPr>
        </p:nvSpPr>
        <p:spPr/>
        <p:txBody>
          <a:bodyPr/>
          <a:lstStyle/>
          <a:p>
            <a:fld id="{762E77F0-FB5B-4E8E-9BC9-34F14560A017}" type="slidenum">
              <a:rPr lang="en-US" smtClean="0"/>
              <a:pPr/>
              <a:t>48</a:t>
            </a:fld>
            <a:endParaRPr lang="en-US"/>
          </a:p>
        </p:txBody>
      </p:sp>
      <p:pic>
        <p:nvPicPr>
          <p:cNvPr id="4" name="Picture 3">
            <a:extLst>
              <a:ext uri="{FF2B5EF4-FFF2-40B4-BE49-F238E27FC236}">
                <a16:creationId xmlns:a16="http://schemas.microsoft.com/office/drawing/2014/main" id="{FEAD8882-BE4B-EE79-BAC2-0281377516D4}"/>
              </a:ext>
            </a:extLst>
          </p:cNvPr>
          <p:cNvPicPr>
            <a:picLocks noChangeAspect="1"/>
          </p:cNvPicPr>
          <p:nvPr/>
        </p:nvPicPr>
        <p:blipFill>
          <a:blip r:embed="rId2"/>
          <a:stretch>
            <a:fillRect/>
          </a:stretch>
        </p:blipFill>
        <p:spPr>
          <a:xfrm>
            <a:off x="0" y="0"/>
            <a:ext cx="24384000" cy="13716000"/>
          </a:xfrm>
          <a:prstGeom prst="rect">
            <a:avLst/>
          </a:prstGeom>
        </p:spPr>
      </p:pic>
      <p:pic>
        <p:nvPicPr>
          <p:cNvPr id="5" name="Picture 4" descr="image.png"/>
          <p:cNvPicPr>
            <a:picLocks noChangeAspect="1"/>
          </p:cNvPicPr>
          <p:nvPr/>
        </p:nvPicPr>
        <p:blipFill>
          <a:blip r:embed="rId3"/>
          <a:stretch>
            <a:fillRect/>
          </a:stretch>
        </p:blipFill>
        <p:spPr>
          <a:xfrm>
            <a:off x="658368" y="13287011"/>
            <a:ext cx="2286000" cy="291829"/>
          </a:xfrm>
          <a:prstGeom prst="rect">
            <a:avLst/>
          </a:prstGeom>
        </p:spPr>
      </p:pic>
    </p:spTree>
    <p:extLst>
      <p:ext uri="{BB962C8B-B14F-4D97-AF65-F5344CB8AC3E}">
        <p14:creationId xmlns:p14="http://schemas.microsoft.com/office/powerpoint/2010/main" val="9570309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NAME" val="CustomIcon"/>
</p:tagLst>
</file>

<file path=ppt/tags/tag6.xml><?xml version="1.0" encoding="utf-8"?>
<p:tagLst xmlns:a="http://schemas.openxmlformats.org/drawingml/2006/main" xmlns:r="http://schemas.openxmlformats.org/officeDocument/2006/relationships" xmlns:p="http://schemas.openxmlformats.org/presentationml/2006/main">
  <p:tag name="NAME" val="CustomIcon"/>
</p:tagLst>
</file>

<file path=ppt/tags/tag7.xml><?xml version="1.0" encoding="utf-8"?>
<p:tagLst xmlns:a="http://schemas.openxmlformats.org/drawingml/2006/main" xmlns:r="http://schemas.openxmlformats.org/officeDocument/2006/relationships" xmlns:p="http://schemas.openxmlformats.org/presentationml/2006/main">
  <p:tag name="NAME" val="CustomIcon"/>
</p:tagLst>
</file>

<file path=ppt/tags/tag8.xml><?xml version="1.0" encoding="utf-8"?>
<p:tagLst xmlns:a="http://schemas.openxmlformats.org/drawingml/2006/main" xmlns:r="http://schemas.openxmlformats.org/officeDocument/2006/relationships" xmlns:p="http://schemas.openxmlformats.org/presentationml/2006/main">
  <p:tag name="NAME" val="CustomIcon"/>
</p:tagLst>
</file>

<file path=ppt/tags/tag9.xml><?xml version="1.0" encoding="utf-8"?>
<p:tagLst xmlns:a="http://schemas.openxmlformats.org/drawingml/2006/main" xmlns:r="http://schemas.openxmlformats.org/officeDocument/2006/relationships" xmlns:p="http://schemas.openxmlformats.org/presentationml/2006/main">
  <p:tag name="NAME" val="CustomIcon"/>
</p:tagLst>
</file>

<file path=ppt/tags/tag10.xml><?xml version="1.0" encoding="utf-8"?>
<p:tagLst xmlns:a="http://schemas.openxmlformats.org/drawingml/2006/main" xmlns:r="http://schemas.openxmlformats.org/officeDocument/2006/relationships" xmlns:p="http://schemas.openxmlformats.org/presentationml/2006/main">
  <p:tag name="NAME" val="CustomIcon"/>
</p:tagLst>
</file>

<file path=ppt/tags/tag11.xml><?xml version="1.0" encoding="utf-8"?>
<p:tagLst xmlns:a="http://schemas.openxmlformats.org/drawingml/2006/main" xmlns:r="http://schemas.openxmlformats.org/officeDocument/2006/relationships" xmlns:p="http://schemas.openxmlformats.org/presentationml/2006/main">
  <p:tag name="NAME" val="CustomIcon"/>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4" ma:contentTypeDescription="Create a new document." ma:contentTypeScope="" ma:versionID="40948e22bc3c5fc56b3589e180180867">
  <xsd:schema xmlns:xsd="http://www.w3.org/2001/XMLSchema" xmlns:xs="http://www.w3.org/2001/XMLSchema" xmlns:p="http://schemas.microsoft.com/office/2006/metadata/properties" xmlns:ns2="236d467e-fe90-4ae0-9fe2-011d77897820" xmlns:ns3="4544b03d-ed08-46e1-a5f8-632fc735be33" targetNamespace="http://schemas.microsoft.com/office/2006/metadata/properties" ma:root="true" ma:fieldsID="d8ffb09f5a9b81b82a3526b32c263078" ns2:_="" ns3:_="">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documentManagement>
</p:properties>
</file>

<file path=customXml/itemProps1.xml><?xml version="1.0" encoding="utf-8"?>
<ds:datastoreItem xmlns:ds="http://schemas.openxmlformats.org/officeDocument/2006/customXml" ds:itemID="{9CE5A395-71BD-474C-94DE-E3F449D46F50}">
  <ds:schemaRefs>
    <ds:schemaRef ds:uri="236d467e-fe90-4ae0-9fe2-011d77897820"/>
    <ds:schemaRef ds:uri="4544b03d-ed08-46e1-a5f8-632fc735be3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3.xml><?xml version="1.0" encoding="utf-8"?>
<ds:datastoreItem xmlns:ds="http://schemas.openxmlformats.org/officeDocument/2006/customXml" ds:itemID="{545E54FE-1271-4B25-A017-622AE12E6FD6}">
  <ds:schemaRefs>
    <ds:schemaRef ds:uri="http://schemas.openxmlformats.org/package/2006/metadata/core-properties"/>
    <ds:schemaRef ds:uri="236d467e-fe90-4ae0-9fe2-011d77897820"/>
    <ds:schemaRef ds:uri="http://purl.org/dc/terms/"/>
    <ds:schemaRef ds:uri="http://schemas.microsoft.com/office/2006/metadata/properties"/>
    <ds:schemaRef ds:uri="http://schemas.microsoft.com/office/2006/documentManagement/types"/>
    <ds:schemaRef ds:uri="http://purl.org/dc/dcmitype/"/>
    <ds:schemaRef ds:uri="http://www.w3.org/XML/1998/namespace"/>
    <ds:schemaRef ds:uri="http://schemas.microsoft.com/office/infopath/2007/PartnerControls"/>
    <ds:schemaRef ds:uri="4544b03d-ed08-46e1-a5f8-632fc735be33"/>
    <ds:schemaRef ds:uri="http://purl.org/dc/elements/1.1/"/>
  </ds:schemaRefs>
</ds:datastoreItem>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TotalTime>25</TotalTime>
  <Words>5599</Words>
  <Application>Microsoft Office PowerPoint</Application>
  <PresentationFormat>Custom</PresentationFormat>
  <Paragraphs>1094</Paragraphs>
  <Slides>48</Slides>
  <Notes>18</Notes>
  <HiddenSlides>1</HiddenSlides>
  <MMClips>0</MMClips>
  <ScaleCrop>false</ScaleCrop>
  <HeadingPairs>
    <vt:vector size="4" baseType="variant">
      <vt:variant>
        <vt:lpstr>Theme</vt:lpstr>
      </vt:variant>
      <vt:variant>
        <vt:i4>13</vt:i4>
      </vt:variant>
      <vt:variant>
        <vt:lpstr>Slide Titles</vt:lpstr>
      </vt:variant>
      <vt:variant>
        <vt:i4>48</vt:i4>
      </vt:variant>
    </vt:vector>
  </HeadingPairs>
  <TitlesOfParts>
    <vt:vector size="6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The case for acting now</vt:lpstr>
      <vt:lpstr>PowerPoint Presentation</vt:lpstr>
      <vt:lpstr>DMG’s Global Presence</vt:lpstr>
      <vt:lpstr>PowerPoint Presentation</vt:lpstr>
      <vt:lpstr>Application landscape </vt:lpstr>
      <vt:lpstr>Workshop findings</vt:lpstr>
      <vt:lpstr>Discovery and data gaps</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Technical constraints</vt:lpstr>
      <vt:lpstr>Migration cohorts</vt:lpstr>
      <vt:lpstr>Co-migration groups</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What you need to do now</vt:lpstr>
      <vt:lpstr>Phase 2 entry point</vt:lpstr>
      <vt:lpstr>Indicative timeline</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lastModifiedBy>Matthew Wright</cp:lastModifiedBy>
  <cp:revision>2</cp:revision>
  <dcterms:created xsi:type="dcterms:W3CDTF">2018-11-07T18:59:03Z</dcterms:created>
  <dcterms:modified xsi:type="dcterms:W3CDTF">2026-04-26T11:46:24Z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