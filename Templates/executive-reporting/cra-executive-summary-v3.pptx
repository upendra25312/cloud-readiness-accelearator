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8" r:id="rId50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3-year committed monthly</c:v>
                </c:pt>
              </c:strCache>
            </c:strRef>
          </c:tx>
          <c:spPr>
            <a:solidFill>
              <a:srgbClr val="E30613"/>
            </a:solidFill>
          </c:spPr>
          <c:cat>
            <c:strRef>
              <c:f>Sheet1!$A$2:$A$4</c:f>
              <c:strCache>
                <c:ptCount val="3"/>
                <c:pt idx="0">
                  <c:v>AWS</c:v>
                </c:pt>
                <c:pt idx="1">
                  <c:v>Azure</c:v>
                </c:pt>
                <c:pt idx="2">
                  <c:v>Google Cloud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190</c:v>
                </c:pt>
                <c:pt idx="1">
                  <c:v>275</c:v>
                </c:pt>
                <c:pt idx="2">
                  <c:v>187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what was in scope: application count, VM count, DC count, duration. Also state the scope confidence level (High/Medium/Low) and any late-breaking scope changes (e.g., a 57% variance like the DMG Media UK engagement).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CRA four-phase diagram. State the discovery tooling used (GCP Migration Center, RVTools, Azure Migrate, etc.) and the data quality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count by OS / hypervisor / size tier. Highlight EoL OS flags. Link to Appendix for full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 count by criticality (P1/P2/P3). Tech stack distribution. Highlight Oracle RAC and OSS licensing risks if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readiness distribution: Cloud Ready / Cloud Friendly / Cloud Challenged / Blocked. Bar chart is clearest. Call out the % that requires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Three-year comparison chart. Show on-prem status quo vs Azure vs AWS vs GCP. Ensure on-prem baseline INCLUDES ESU costs and hardware refresh. Show Year 1 dual-running cost. Year 1 dual-running is often 15-25% higher than steady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AHB impact (Windows + SQL Server count and £/$ saving). Show Oracle BYOL options. Show net TCO AFTER licensing overlay. This is often the slide that changes the recommendation relative to pure compute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MANDATORY: Show AMM / MAP / PSO eligibility and estimated credit value. This is a Rackspace commercial differentiator. Do NOT put this in the appendix. State whether deal registration has been initiated.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10 risks in table format: RAG status, mitigation. Ensure Oracle risks (if present), data residency, and EoL OS are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AMM/MAP/PSO registration timeline. Show that deal registration was (or will be) completed before Part 2 SOW countersignature. This protects partner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scope, indicative investment range (pre-approved by Pre-Sales Director), timeline, and next steps. The customer should be able to decide at this meeting whether to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CTA: who needs to sign what by when. Immediate actions (alliance registration, Part 2 kickoff date, AMM submission). Leave 15-20 min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ktiv Grotesk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ktiv Grotesk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ktiv Grotesk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ktiv Grotesk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ktiv Grotesk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ktiv Grotesk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ktiv Grotesk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ktiv Grotesk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ktiv Grotesk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37160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FFFFFF"/>
                </a:solidFill>
              </a:rPr>
              <a:t>RACKSPACE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600">
                <a:solidFill>
                  <a:srgbClr val="FFFFFF"/>
                </a:solidFill>
              </a:rPr>
              <a:t>CRA Executive Summary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Phase 3: Hyperscaler Evaluation --&gt; Customer Playback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114601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PURPOSE</a:t>
            </a:r>
          </a:p>
          <a:p>
            <a:r>
              <a:rPr sz="900"/>
              <a:t>This is the Phase 3 playback deck presented to the customer CTO and senior leadership team. It presents assessment findings, three-cloud comparison, TCO analysis, and hyperscaler recommendation. This is the most customer-visible CRA deliverable.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57700"/>
            <a:ext cx="36575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AUDIENCE</a:t>
            </a:r>
          </a:p>
          <a:p>
            <a:r>
              <a:rPr sz="900"/>
              <a:t>Customer CTO / IT Director + Rackspace Lead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268" y="4457700"/>
            <a:ext cx="46328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WHEN TO USE</a:t>
            </a:r>
          </a:p>
          <a:p>
            <a:r>
              <a:rPr sz="900"/>
              <a:t>After Phase 3 TCO and scoring complete; before Part 2 SOW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7596" y="4457700"/>
            <a:ext cx="24383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VERSION</a:t>
            </a:r>
          </a:p>
          <a:p>
            <a:r>
              <a:rPr sz="900"/>
              <a:t>v3.0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435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WHAT TO CUSTOMISE</a:t>
            </a:r>
          </a:p>
          <a:p>
            <a:r>
              <a:rPr sz="900"/>
              <a:t>- Replace [Customer Name] on every slide (20+ instances)</a:t>
            </a:r>
          </a:p>
          <a:p>
            <a:r>
              <a:rPr sz="900"/>
              <a:t>- Update all financial figures from your TCO model</a:t>
            </a:r>
          </a:p>
          <a:p>
            <a:r>
              <a:rPr sz="900"/>
              <a:t>- Populate the scoring matrix with your engagement's weighted scores</a:t>
            </a:r>
          </a:p>
          <a:p>
            <a:r>
              <a:rPr sz="900"/>
              <a:t>- Confirm Recommendation slide comes AFTER evidence slides 8-12</a:t>
            </a:r>
          </a:p>
          <a:p>
            <a:r>
              <a:rPr sz="900"/>
              <a:t>- Update partner funding slide with actual AMM/MAP/PSO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37794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646464"/>
                </a:solidFill>
              </a:rPr>
              <a:t>CRA Framework v2.0 -- Rackspace Cloud Solutions Architecture  |  Confidential  |  (c) 2026 Rackspace Technology</a:t>
            </a:r>
          </a:p>
        </p:txBody>
      </p:sp>
      <p:pic>
        <p:nvPicPr>
          <p:cNvPr id="13" name="Picture 12" descr="rackspace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615" y="164592"/>
            <a:ext cx="2560320" cy="3268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[CLIENT_NAME]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920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Executive Summary Template | Platform direction and path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[MONTH YEAR] | [PRESENTER NAME] | [TITLE]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57607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7" name="Picture 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Working 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structure for executive playback sessions. Every item must drive a decision, dependency or quantified next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430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441959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Agenda item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Detail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Key findings, recommendation and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Why cloud, why now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drivers and case for action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Estate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Applications, databases, locations and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Methodology, complete view and caveats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Constraints, cohorts and co-migration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Recommendation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Scoring, cost and final platform direction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Current state and target operating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7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Phase 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Scope, inputs, owners and timeline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188720"/>
            <a:ext cx="356616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0" y="129844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this become a status readout. Close each section with the decision needed or the risk being carried.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5128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cost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32136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69296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9296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outputs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3886200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39959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Output 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42976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Executive deck | detailed report | TCO model | Phase 2 plan</a:t>
            </a:r>
          </a:p>
        </p:txBody>
      </p:sp>
      <p:pic>
        <p:nvPicPr>
          <p:cNvPr id="24" name="Picture 23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What this assessment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Define boundaries early. It protects the recommendation from false precision.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Evidence-based cloud suitability
Cost comparison across AWS, Azure and Google Cloud
Technical constraints and readiness gaps
Primary platform recommendation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Final migration execution cost
Application-by-application cutover plan
Detailed landing zone build
Final database modernization business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188720"/>
            <a:ext cx="3520440" cy="14630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Why boundaries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Phase 1 decides direction. Phase 2 turns direction into a sequenced, costed and governed migration plan.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116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[%]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confidence</a:t>
            </a:r>
          </a:p>
        </p:txBody>
      </p:sp>
      <p:pic>
        <p:nvPicPr>
          <p:cNvPr id="32" name="Picture 3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BLUF: decision-ready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slide the board should understand without the appendix.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[Estate scale, constraints, cost drivers and readiness gaps in two sentences.]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[Primary platform direction with validated exceptions. State the trade-off directly.]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it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[Annual on-prem baseline vs complete cloud view. Include excluded items.]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388620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Direction</a:t>
            </a:r>
          </a:p>
        </p:txBody>
      </p:sp>
      <p:sp>
        <p:nvSpPr>
          <p:cNvPr id="21" name="Oval 20"/>
          <p:cNvSpPr/>
          <p:nvPr/>
        </p:nvSpPr>
        <p:spPr>
          <a:xfrm>
            <a:off x="681228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Economics</a:t>
            </a:r>
          </a:p>
        </p:txBody>
      </p:sp>
      <p:sp>
        <p:nvSpPr>
          <p:cNvPr id="23" name="Oval 22"/>
          <p:cNvSpPr/>
          <p:nvPr/>
        </p:nvSpPr>
        <p:spPr>
          <a:xfrm>
            <a:off x="973836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" y="3218688"/>
            <a:ext cx="8869680" cy="18288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754880"/>
            <a:ext cx="1078992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6460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10515600" cy="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as the primary platform direction and approve Phase 2 planning to validate sequencing, migration cost and operating model.</a:t>
            </a:r>
          </a:p>
        </p:txBody>
      </p:sp>
      <p:pic>
        <p:nvPicPr>
          <p:cNvPr id="29" name="Picture 28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Scope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to make the assessment boundary explicit.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
Priced and assessed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applications
Profiled through workshops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databases
Oracle / SQL / open-source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locations
Datacentres and cloud regions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
AWS, Azure and Google Cloud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274320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2976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In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Out of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[Datacentres / platforms]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[Excluded sites]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Applications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[Apps profiled]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Full cutover runbooks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Planning-grade TCO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Final invoice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Current vs target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Detailed org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629400" y="2834640"/>
            <a:ext cx="45262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94436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How to read this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246120"/>
            <a:ext cx="4251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Anything outside the in-scope boundary is not ignored. It is either a Phase 2 action or a decision dependency.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160520"/>
            <a:ext cx="452628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27024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Confidence 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572000"/>
            <a:ext cx="4251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[%] with the evidence confidence based on discovery depth, workshops and client data quality.</a:t>
            </a:r>
          </a:p>
        </p:txBody>
      </p:sp>
      <p:pic>
        <p:nvPicPr>
          <p:cNvPr id="30" name="Picture 29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five findings maximum. Every finding needs evidence and a decision implication.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70104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Finding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669280"/>
            <a:ext cx="1042416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77900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80760"/>
            <a:ext cx="10149840" cy="-11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finding should be a point of view, not a description. Example: "The estate is cloud-fit, but the database path decides risk and economics."</a:t>
            </a:r>
          </a:p>
        </p:txBody>
      </p:sp>
      <p:pic>
        <p:nvPicPr>
          <p:cNvPr id="12" name="Picture 1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Why Cloud,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Business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Connect cloud to business outcomes, not technology preference.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14300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5272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1. Standardization and simplification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Reduce platform sprawl and create a governed set of reusable architecture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2. Productivity and cost optimization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Remove low-value work and shift from fixed capacity to demand-aligned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1304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3. Automation and workflow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Automate repeatable work and reduce operational toil.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234440"/>
            <a:ext cx="3657600" cy="10972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344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64592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Avoid generic cloud language. Tie every driver to a client-stated business goal, renewal event or operating constraint.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83464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9443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Expected outcomes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2461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Security, resilience and data / AI capability are outcomes unless the client explicitly states them as primary drivers.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4340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45312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Success measures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75488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driver needs a measurable outcome: run-rate reduction, delivery velocity, audit coverage or resilience target.</a:t>
            </a:r>
          </a:p>
        </p:txBody>
      </p:sp>
      <p:pic>
        <p:nvPicPr>
          <p:cNvPr id="26" name="Picture 25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The case for acting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renewal / decision window that makes timing material.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1005840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Data freeze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Contract renewal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Platform decision</a:t>
            </a:r>
          </a:p>
        </p:txBody>
      </p:sp>
      <p:sp>
        <p:nvSpPr>
          <p:cNvPr id="18" name="Oval 17"/>
          <p:cNvSpPr/>
          <p:nvPr/>
        </p:nvSpPr>
        <p:spPr>
          <a:xfrm>
            <a:off x="84582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Migration window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Exit / renew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7240" y="3749039"/>
          <a:ext cx="104241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  <a:gridCol w="2606040"/>
                <a:gridCol w="2606040"/>
              </a:tblGrid>
              <a:tr h="30861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state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if deferred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[Lease / hardware refresh]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Exit, renew or 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Capital re-lock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[License / support agreement]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renewal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and support exposure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[Growth / resilience driver]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Platform scaling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constraint remains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Estate and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Estate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Make the client recognize its own estate in the first two minutes.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infra types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2331720"/>
          <a:ext cx="6537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4490"/>
                <a:gridCol w="1634490"/>
                <a:gridCol w="1634490"/>
                <a:gridCol w="1634490"/>
              </a:tblGrid>
              <a:tr h="530352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Criticality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Key dependency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[APP_2]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[APP_4]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543800" y="2468880"/>
            <a:ext cx="3520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25786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Estate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28803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Show enough detail to prove discovery depth, but keep full inventory in the workbook.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840480"/>
            <a:ext cx="352044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2519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with the top applications by server count, business criticality or migration complexity.</a:t>
            </a:r>
          </a:p>
        </p:txBody>
      </p:sp>
      <p:pic>
        <p:nvPicPr>
          <p:cNvPr id="30" name="Picture 29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Application and database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Database gravity often decides sequencing, risk and economics.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14300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566928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Platform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Instances / hosts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Migration 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Oracle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 / BYOL]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[Exadata / IaaS / modernization]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SQL Server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 / BYOL]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SQL / license mobility]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PostgreSQL / MySQL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service candidate]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Other / appliance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[Vendor]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[Retain / refactor / replace]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3720" y="1234440"/>
            <a:ext cx="41148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34416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Key database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4592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What is the safest near-term path and what modernization path creates the long-term economics?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743200"/>
            <a:ext cx="411480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85292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15468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Collect workload-level data for the highest-value database clusters and validate conversion scope.</a:t>
            </a:r>
          </a:p>
        </p:txBody>
      </p:sp>
      <p:pic>
        <p:nvPicPr>
          <p:cNvPr id="15" name="Picture 1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Discovery confidence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clear on what is known, what is estimated and what still needs collection.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Inventory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26187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261872"/>
            <a:ext cx="263347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2344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Performance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0195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1901951"/>
            <a:ext cx="190195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87451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65%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5146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Dependencies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54203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8840" y="2542032"/>
            <a:ext cx="131673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5146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5467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18211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182111"/>
            <a:ext cx="1609344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15467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55%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Licensing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82219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48840" y="3822192"/>
            <a:ext cx="204825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947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70%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280160"/>
            <a:ext cx="41605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38988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Strong enough for Phase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691639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why the current data is sufficient for platform direction and planning-grade TCO.]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2834640"/>
            <a:ext cx="416052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94436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Not enough for migration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24612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what Phase 2 must collect before cutover planning.]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257800"/>
            <a:ext cx="99669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67528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69280"/>
            <a:ext cx="96926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Never hide data gaps. Label them and turn them into Phase 2 work packages.</a:t>
            </a:r>
          </a:p>
        </p:txBody>
      </p:sp>
      <p:pic>
        <p:nvPicPr>
          <p:cNvPr id="37" name="Picture 3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Cost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The method matters as much as the number. This slide defends the comparison.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057400"/>
            <a:ext cx="932688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5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Normalize data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Native sizing</a:t>
            </a:r>
          </a:p>
        </p:txBody>
      </p:sp>
      <p:sp>
        <p:nvSpPr>
          <p:cNvPr id="13" name="Oval 12"/>
          <p:cNvSpPr/>
          <p:nvPr/>
        </p:nvSpPr>
        <p:spPr>
          <a:xfrm>
            <a:off x="576072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Price validation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1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Optimization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59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3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Complete 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86200"/>
            <a:ext cx="46634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Included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Compute, block storage, OS licensing, standard network estimate, database assumptions where applicable.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886200"/>
            <a:ext cx="4663440" cy="9601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Handled separately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Migration labour, dual-run cost, commercial incentives, support tiers and client-specific procurement terms.</a:t>
            </a:r>
          </a:p>
        </p:txBody>
      </p:sp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Cloud infrastructure 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Replace example data with client values. Show monthly and annual decision numbers.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34440"/>
          <a:ext cx="475488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234440"/>
          <a:ext cx="51206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View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PAYG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3-year monthly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Complete annual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80760" y="3246120"/>
            <a:ext cx="5120640" cy="11430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3558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Headline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484632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 A] is lowest on the complete view. [Cloud B] is within [x]%. [Cloud C] carries a premium driven by [reason].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560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headline PAYG pricing decide. The complete view must include databases, licensing, storage optimization and required support assumptions.</a:t>
            </a:r>
          </a:p>
        </p:txBody>
      </p:sp>
      <p:pic>
        <p:nvPicPr>
          <p:cNvPr id="16" name="Picture 15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Complete view: the decision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table that executives will remember. Keep it clean and traceable.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09728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Baseline committed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Database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Support / license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- Optimization levers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Indicative egress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Complete view annual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14300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544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the annual delta between clouds and what drives it.]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31720"/>
            <a:ext cx="347472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4414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Sensitivity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7432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Egress volume, database path, BYOL eligibility, commitment level and commercial credits.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52044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6301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Commercial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9319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Keep credits and partner discounts separate from retail TCO until validated.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Optimization levers and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Separate savings levers from assumptions. This avoids false confidence.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0972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7056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Lever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Potential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Condition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/ caveat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Reservations / commitments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Stable workloads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Commitment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AHB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Entitlement confirmed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Rules differ by cloud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Performance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Database modernization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Conversion validated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investment excluded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Needs workload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532120"/>
            <a:ext cx="10241280" cy="4572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4184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943600"/>
            <a:ext cx="9966959" cy="-7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forces cost caveats, assumptions and Year 1 structure into the main narrative, not an appendix.</a:t>
            </a:r>
          </a:p>
        </p:txBody>
      </p:sp>
      <p:pic>
        <p:nvPicPr>
          <p:cNvPr id="12" name="Picture 1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Business and Application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Constraints that shape the migration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technical blockers that matter to sequencing and platform choice.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Constraint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Affected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Cloud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Required action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[Legacy protocol / multicast]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[Supported / workaround / unsupported]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[Vendor decision or refactor]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[Database clustering]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 / DBs]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[Native managed path vs IaaS]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[Preferred path]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[Licensing rule]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[OS / DB]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[Cloud-specific eligibility]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[License confirmation]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treat constraints as blockers. Treat them as sequencing inputs.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977639"/>
            <a:ext cx="32004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constraint needs one owner, one decision date and one fallback route.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Validate with vendors and application owners before migration planning.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Migration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Cohorts are planning units. Phase 2 turns them into a release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385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Shared services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92024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0299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33172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Low dependency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01168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1214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Planned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2316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Moderate 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10312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2128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Complex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51460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Critical workloads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2194560"/>
            <a:ext cx="1645920" cy="6400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3042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0604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Vendor / business decision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26679" y="1143000"/>
          <a:ext cx="3383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572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Cohort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822960" y="4983480"/>
            <a:ext cx="1024128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9320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94960"/>
            <a:ext cx="9966959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You cannot pick applications for convenience. You pick them by coupling, readiness and business risk.</a:t>
            </a:r>
          </a:p>
        </p:txBody>
      </p:sp>
      <p:pic>
        <p:nvPicPr>
          <p:cNvPr id="27" name="Picture 2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Hyperscaler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Weighted scoring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client-approved weightings. Keep scoring transparent and defensible.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6492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1298448"/>
                <a:gridCol w="1298448"/>
                <a:gridCol w="1298448"/>
                <a:gridCol w="1298448"/>
              </a:tblGrid>
              <a:tr h="568234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Goal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Winner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Security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Weighted score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0" y="1143000"/>
            <a:ext cx="356616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2527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554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 narrow scoring gap does not mean no recommendation. Use constraints and complete-view cost to break 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1st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2nd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297680"/>
            <a:ext cx="35661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440740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709160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requires explicit explanation when cost ranking and scoring ranking differ.</a:t>
            </a:r>
          </a:p>
        </p:txBody>
      </p:sp>
      <p:pic>
        <p:nvPicPr>
          <p:cNvPr id="24" name="Picture 23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Recommendation: primary platform with validated exceptions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decisive, but show the trade-offs.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5272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Primary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[AWS / Azure / Google Cloud]
Why: first on [scoring / economics / constraints].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Validated exceptions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[Workload A stays on X]
[Workload B stays on Y]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Trade-offs managed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[Weakness] mitigated by [action].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Why this is the right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First on scoring or near-tie with decisive 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3192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Competitive complete-view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Clearer operating model and partner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Known exceptions are deliberate, not accidental multi-cloud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29184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340156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70332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[Executive sponsor] approves platform direction. Architecture team validates exceptions and landing zone implications in Phase 2.</a:t>
            </a:r>
          </a:p>
        </p:txBody>
      </p:sp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Readiness and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Readiness: current state to 12-month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Readiness measures cloud execution capability, not overall team competence.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1600200"/>
            <a:ext cx="91440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210312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2606039"/>
            <a:ext cx="658368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0" y="3108960"/>
            <a:ext cx="438912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3611880"/>
            <a:ext cx="73152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12-month target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60020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3760" y="210312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2606039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310896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361188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0" y="1280160"/>
            <a:ext cx="201168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20" y="138988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1691639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practical consequence, not a judgement.]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2514600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20" y="262432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People path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29260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Partner-assisted delivery with internal upskilling.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60" y="3749039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46920" y="385876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Security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6920" y="41605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 guardrails, IAM, logging and GRC baseline.</a:t>
            </a:r>
          </a:p>
        </p:txBody>
      </p:sp>
      <p:pic>
        <p:nvPicPr>
          <p:cNvPr id="59" name="Picture 58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Challenges and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Pair every challenge with a response. Quantify opportunities where 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5486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Challenge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Response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Legacy 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Blocks direct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Replatform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Access inconsistency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Slows discovery and delivery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Standard IAM / PAM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Database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Drives risk and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Dedicated data workstream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Skills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Specialist load starts early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Partner-assisted upskilling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1097280"/>
          <a:ext cx="51663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Opportunity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BYOL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License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Performance test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Application rationalization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Scope reduction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Owner decision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507492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846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migration risk is manageable if Phase 2 validates dependencies, database paths, operating model and commercial terms before execution.</a:t>
            </a:r>
          </a:p>
        </p:txBody>
      </p:sp>
      <p:pic>
        <p:nvPicPr>
          <p:cNvPr id="13" name="Picture 12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Phase 2 entry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Phase 2 turns direction into a migration-ready plan. It does not execute migration.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Discovery and profiling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Full estate validation, dependencies and utilization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Architecture and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zone, network, identity, security and observability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Data and modernization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Oracle, SQL Server and managed database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Planning and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Cohort sequencing, dual-run model and risk register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154680"/>
          <a:ext cx="5486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862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Deliverable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Target date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Validated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Landing zone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629400" y="3154680"/>
            <a:ext cx="4251960" cy="15544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64408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Critical path 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39776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1. Confirm high-value database data
2. Approve platform direction
3. Validate vendor constraints
4. Agree operating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Suggested duration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12-16 weeks for planning and design, followed by 12-18 months migration execution depending on complexity and decisions.</a:t>
            </a:r>
          </a:p>
        </p:txBody>
      </p:sp>
      <p:pic>
        <p:nvPicPr>
          <p:cNvPr id="27" name="Picture 2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Hyperscaler presentation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when the client hears direct proposals from AWS, Microsoft and Google.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Questions that reveal whether they understand the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is your full answer for our database path, not just infrastructure price?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75688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How did you size workloads and how was pricing validated?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51176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does BYOL mean for our actual OS and SQL estate?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commercial terms, credits and funded resources are committed?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02152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Who owns Day 2 operations and capability transfer?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1234440"/>
          <a:ext cx="45262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140"/>
                <a:gridCol w="2263140"/>
              </a:tblGrid>
              <a:tr h="419100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Warning sign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All-5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client-specific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 excludes databases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False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Ignores 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case distortion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dual-run view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Year 1 surprise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Day 2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Operating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Closing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direction and Phase 2 scope, or explicitly accept the renewal and delay risk.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Engagement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'Engagement Scope'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Assessment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'Assessment Methodology'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Infrastructure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'Infrastructure Summary'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Application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'Application Landscape'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Cloud Readiness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'Cloud Readiness Profile'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TCO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'TCO Analysis'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Licensing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'Licensing Overlay'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'Risk Register'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 &amp; Timeline'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 2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 2 Entry Point'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Questions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'Questions &amp; Next Steps'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ktiv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ktiv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ktiv Grotesk"/>
        <a:font script="Hebr" typeface="Aktiv Grotesk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ktiv Grotesk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ktiv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ktiv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ktiv Grotesk"/>
        <a:font script="Hebr" typeface="Aktiv Grotesk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ktiv Grotesk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