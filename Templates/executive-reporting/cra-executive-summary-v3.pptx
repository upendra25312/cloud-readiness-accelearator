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8" r:id="rId50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3-year committed monthly</c:v>
                </c:pt>
              </c:strCache>
            </c:strRef>
          </c:tx>
          <c:spPr>
            <a:solidFill>
              <a:srgbClr val="E30613"/>
            </a:solidFill>
          </c:spPr>
          <c:cat>
            <c:strRef>
              <c:f>Sheet1!$A$2:$A$4</c:f>
              <c:strCache>
                <c:ptCount val="3"/>
                <c:pt idx="0">
                  <c:v>AWS</c:v>
                </c:pt>
                <c:pt idx="1">
                  <c:v>Azure</c:v>
                </c:pt>
                <c:pt idx="2">
                  <c:v>Google Cloud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190</c:v>
                </c:pt>
                <c:pt idx="1">
                  <c:v>275</c:v>
                </c:pt>
                <c:pt idx="2">
                  <c:v>187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what was in scope: application count, VM count, DC count, duration. Also state the scope confidence level (High/Medium/Low) and any late-breaking scope changes (e.g., a 57% variance like the DMG Media UK engagement).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CRA four-phase diagram. State the discovery tooling used (GCP Migration Center, RVTools, Azure Migrate, etc.) and the data quality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 count by OS / hypervisor / size tier. Highlight EoL OS flags. Link to Appendix for full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 count by criticality (P1/P2/P3). Tech stack distribution. Highlight Oracle RAC and OSS licensing risks if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readiness distribution: Cloud Ready / Cloud Friendly / Cloud Challenged / Blocked. Bar chart is clearest. Call out the % that requires re-architecture.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Three-year comparison chart. Show on-prem status quo vs Azure vs AWS vs GCP. Ensure on-prem baseline INCLUDES ESU costs and hardware refresh. Show Year 1 dual-running cost. Year 1 dual-running is often 15-25% higher than steady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AHB impact (Windows + SQL Server count and £/$ saving). Show Oracle BYOL options. Show net TCO AFTER licensing overlay. This is often the slide that changes the recommendation relative to pure compute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MANDATORY: Show AMM / MAP / PSO eligibility and estimated credit value. This is a Rackspace commercial differentiator. Do NOT put this in the appendix. State whether deal registration has been initiated.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10 risks in table format: RAG status, mitigation. Ensure Oracle risks (if present), data residency, and EoL OS are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AMM/MAP/PSO registration timeline. Show that deal registration was (or will be) completed before Part 2 SOW countersignature. This protects partner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scope, indicative investment range (pre-approved by Pre-Sales Director), timeline, and next steps. The customer should be able to decide at this meeting whether to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CTA: who needs to sign what by when. Immediate actions (alliance registration, Part 2 kickoff date, AMM submission). Leave 15-20 min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9436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[CLIENT_NAME]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9202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Executive Summary Template | Platform direction and path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5074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[MONTH YEAR] | [PRESENTER NAME] | [TITLE]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57607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Working 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structure for executive playback sessions. Every item must drive a decision, dependency or quantified next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14300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441959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Agenda item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Detail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Time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Key findings, recommendation and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Why cloud, why now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drivers and case for action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Estate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Applications, databases, locations and gaps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Cost comparison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Methodology, complete view and caveats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30m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Constraints, cohorts and co-migration groups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Recommendation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Scoring, cost and final platform direction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25m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41959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Readiness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Current state and target operating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15m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7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Phase 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Scope, inputs, owners and timeline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20m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18120" y="1188720"/>
            <a:ext cx="356616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0" y="129844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discipline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1600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let this become a status readout. Close each section with the decision needed or the risk being carried.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5128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62288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cost views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32136" y="2743200"/>
            <a:ext cx="10515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69296" y="2852928"/>
            <a:ext cx="7772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9296" y="3154680"/>
            <a:ext cx="777239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outputs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3886200"/>
            <a:ext cx="35661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399592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Output package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429768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Executive deck | detailed report | TCO model | Phase 2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What this assessment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Define boundaries early. It protects the recommendation from false precision.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88720"/>
            <a:ext cx="352044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This assessment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Evidence-based cloud suitability
Cost comparison across AWS, Azure and Google Cloud
Technical constraints and readiness gaps
Primary platform recommendation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88720"/>
            <a:ext cx="352044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This assessment does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Final migration execution cost
Application-by-application cutover plan
Detailed landing zone build
Final database modernization business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188720"/>
            <a:ext cx="3520440" cy="14630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29844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Why boundaries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2461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Phase 1 decides direction. Phase 2 turns direction into a sequenced, costed and governed migration plan.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DBs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81160" y="3749039"/>
            <a:ext cx="1554480" cy="8686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38587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[%]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416052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confidence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BLUF: decision-ready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This is the slide the board should understand without the appendix.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we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[Estate scale, constraints, cost drivers and readiness gaps in two sentences.]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we 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[Primary platform direction with validated exceptions. State the trade-off directly.]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143000"/>
            <a:ext cx="347472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What it costs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554480"/>
            <a:ext cx="320040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[Annual on-prem baseline vs complete cloud view. Include excluded items.]</a:t>
            </a:r>
          </a:p>
        </p:txBody>
      </p:sp>
      <p:sp>
        <p:nvSpPr>
          <p:cNvPr id="17" name="Oval 16"/>
          <p:cNvSpPr/>
          <p:nvPr/>
        </p:nvSpPr>
        <p:spPr>
          <a:xfrm>
            <a:off x="96012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Evidence</a:t>
            </a:r>
          </a:p>
        </p:txBody>
      </p:sp>
      <p:sp>
        <p:nvSpPr>
          <p:cNvPr id="19" name="Oval 18"/>
          <p:cNvSpPr/>
          <p:nvPr/>
        </p:nvSpPr>
        <p:spPr>
          <a:xfrm>
            <a:off x="388620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Direction</a:t>
            </a:r>
          </a:p>
        </p:txBody>
      </p:sp>
      <p:sp>
        <p:nvSpPr>
          <p:cNvPr id="21" name="Oval 20"/>
          <p:cNvSpPr/>
          <p:nvPr/>
        </p:nvSpPr>
        <p:spPr>
          <a:xfrm>
            <a:off x="681228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Economics</a:t>
            </a:r>
          </a:p>
        </p:txBody>
      </p:sp>
      <p:sp>
        <p:nvSpPr>
          <p:cNvPr id="23" name="Oval 22"/>
          <p:cNvSpPr/>
          <p:nvPr/>
        </p:nvSpPr>
        <p:spPr>
          <a:xfrm>
            <a:off x="9738360" y="3108960"/>
            <a:ext cx="228600" cy="22860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3429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6B7280"/>
                </a:solidFill>
                <a:latin typeface="Aptos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9848" y="3218688"/>
            <a:ext cx="8869680" cy="18288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754880"/>
            <a:ext cx="10789920" cy="594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6460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166360"/>
            <a:ext cx="10515600" cy="64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Approve [PRIMARY_PLATFORM] as the primary platform direction and approve Phase 2 planning to validate sequencing, migration cost and operating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Scope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slide to make the assessment boundary explicit.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
Priced and assessed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applications
Profiled through workshops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databases
Oracle / SQL / open-source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locations
Datacentres and cloud regions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1097280"/>
            <a:ext cx="1874519" cy="9601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207007"/>
            <a:ext cx="160019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1508760"/>
            <a:ext cx="1600199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clouds
AWS, Azure and Google Cloud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85800" y="2743200"/>
          <a:ext cx="5486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2976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Area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In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Out of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[Datacentres / platforms]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[Excluded sites]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Applications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[Apps profiled]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Full cutover runbooks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Planning-grade TCO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Final invoice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Current vs target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Detailed org design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6629400" y="2834640"/>
            <a:ext cx="452628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2944368"/>
            <a:ext cx="4251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How to read this slide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246120"/>
            <a:ext cx="4251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Anything outside the in-scope boundary is not ignored. It is either a Phase 2 action or a decision dependency.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4160520"/>
            <a:ext cx="4526280" cy="9144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4270248"/>
            <a:ext cx="4251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Confidence marker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572000"/>
            <a:ext cx="4251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Replace [%] with the evidence confidence based on discovery depth, workshops and client data quality.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five findings maximum. Every finding needs evidence and a decision implication.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1430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70104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Finding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Evidence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Implication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[Finding headline]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[Evidence]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[Decision or risk]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5669280"/>
            <a:ext cx="1042416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77900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80760"/>
            <a:ext cx="10149840" cy="-11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finding should be a point of view, not a description. Example: "The estate is cloud-fit, but the database path decides risk and economics."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Why Cloud,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Business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Connect cloud to business outcomes, not technology preference.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14300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5272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1. Standardization and simplification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Reduce platform sprawl and create a governed set of reusable architecture patterns.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2316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2. Productivity and cost optimization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3464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Remove low-value work and shift from fixed capacity to demand-aligned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61264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1304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3. Automation and workflow optimization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Automate repeatable work and reduce operational toil.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234440"/>
            <a:ext cx="3657600" cy="10972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1344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note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645920"/>
            <a:ext cx="3383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Avoid generic cloud language. Tie every driver to a client-stated business goal, renewal event or operating constraint.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2834640"/>
            <a:ext cx="3657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29443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Expected outcomes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24612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Security, resilience and data / AI capability are outcomes unless the client explicitly states them as primary drivers.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43400"/>
            <a:ext cx="36576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45312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Success measures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754880"/>
            <a:ext cx="3383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Each driver needs a measurable outcome: run-rate reduction, delivery velocity, audit coverage or resilience target.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The case for acting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Show the renewal / decision window that makes timing material.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20240"/>
            <a:ext cx="10058400" cy="2743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Data freeze</a:t>
            </a:r>
          </a:p>
        </p:txBody>
      </p:sp>
      <p:sp>
        <p:nvSpPr>
          <p:cNvPr id="12" name="Oval 11"/>
          <p:cNvSpPr/>
          <p:nvPr/>
        </p:nvSpPr>
        <p:spPr>
          <a:xfrm>
            <a:off x="34290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Contract renewal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Platform decision</a:t>
            </a:r>
          </a:p>
        </p:txBody>
      </p:sp>
      <p:sp>
        <p:nvSpPr>
          <p:cNvPr id="18" name="Oval 17"/>
          <p:cNvSpPr/>
          <p:nvPr/>
        </p:nvSpPr>
        <p:spPr>
          <a:xfrm>
            <a:off x="84582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Migration window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0" y="1792224"/>
            <a:ext cx="256032" cy="256032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52760" y="1325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30613"/>
                </a:solidFill>
                <a:latin typeface="Aptos"/>
              </a:rPr>
              <a:t>[Qx YYYY]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21488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111827"/>
                </a:solidFill>
                <a:latin typeface="Aptos"/>
              </a:rPr>
              <a:t>Exit / renew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77240" y="3749039"/>
          <a:ext cx="104241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  <a:gridCol w="2606040"/>
                <a:gridCol w="2606040"/>
              </a:tblGrid>
              <a:tr h="30861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Trigger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Current state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Risk if deferred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[Lease / hardware refresh]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Exit, renew or 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Capital re-lock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[License / support agreement]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BYOL / renewal path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Cost and support exposure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[Growth / resilience driver]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[Status]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Platform scaling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Business constraint remains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Estate and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Estate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Make the client recognize its own estate in the first two minutes.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servers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DBs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sites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051560"/>
            <a:ext cx="1600200" cy="73152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1612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[N]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463039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infra types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" y="2331720"/>
          <a:ext cx="6537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4490"/>
                <a:gridCol w="1634490"/>
                <a:gridCol w="1634490"/>
                <a:gridCol w="1634490"/>
              </a:tblGrid>
              <a:tr h="530352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Application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Servers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Criticality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Key dependency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[APP_2]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High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[APP_4]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[DB / network / app]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7543800" y="2468880"/>
            <a:ext cx="352044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0" y="257860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Estate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288036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Show enough detail to prove discovery depth, but keep full inventory in the workbook.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840480"/>
            <a:ext cx="352044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3950208"/>
            <a:ext cx="3246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25196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Replace with the top applications by server count, business criticality or migration complexity.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Application and database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Database gravity often decides sequencing, risk and economics.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143000"/>
          <a:ext cx="57607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80"/>
                <a:gridCol w="1440180"/>
                <a:gridCol w="1440180"/>
                <a:gridCol w="1440180"/>
              </a:tblGrid>
              <a:tr h="566928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Platform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Instances / hosts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Licensing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Migration implication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Oracle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[Support / BYOL]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[Exadata / IaaS / modernization]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SQL Server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 / BYOL]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[Managed SQL / license mobility]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PostgreSQL / MySQL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[Support]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[Managed service candidate]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Other / appliance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[Vendor]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[Retain / refactor / replace]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03720" y="1234440"/>
            <a:ext cx="411480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34416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Key database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4592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What is the safest near-term path and what modernization path creates the long-term economics?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2743200"/>
            <a:ext cx="411480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2852928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Phase 2 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15468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Collect workload-level data for the highest-value database clusters and validate conversion scope.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Discovery confidence and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Be clear on what is known, what is estimated and what still needs collection.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Inventory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26187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261872"/>
            <a:ext cx="2633472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23444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874519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Performance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901951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1901951"/>
            <a:ext cx="1901952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874519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65%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51460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Dependencies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54203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48840" y="2542032"/>
            <a:ext cx="1316736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51460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154679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Software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182111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182111"/>
            <a:ext cx="1609344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154679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55%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794760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11827"/>
                </a:solidFill>
                <a:latin typeface="Aptos"/>
              </a:rPr>
              <a:t>Licensing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3822192"/>
            <a:ext cx="2926080" cy="164592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48840" y="3822192"/>
            <a:ext cx="2048256" cy="16459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0" y="37947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30613"/>
                </a:solidFill>
                <a:latin typeface="Aptos"/>
              </a:rPr>
              <a:t>70%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1280160"/>
            <a:ext cx="416052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138988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Strong enough for Phase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691639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[Explain why the current data is sufficient for platform direction and planning-grade TCO.]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2834640"/>
            <a:ext cx="4160520" cy="100584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2944368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Not enough for migration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24612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[Explain what Phase 2 must collect before cutover planning.]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257800"/>
            <a:ext cx="99669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67528"/>
            <a:ext cx="9692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rule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69280"/>
            <a:ext cx="96926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Never hide data gaps. Label them and turn them into Phase 2 work packages.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Cost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Cost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The method matters as much as the number. This slide defends the comparison.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057400"/>
            <a:ext cx="9326880" cy="27432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5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Normalize data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Native sizing</a:t>
            </a:r>
          </a:p>
        </p:txBody>
      </p:sp>
      <p:sp>
        <p:nvSpPr>
          <p:cNvPr id="13" name="Oval 12"/>
          <p:cNvSpPr/>
          <p:nvPr/>
        </p:nvSpPr>
        <p:spPr>
          <a:xfrm>
            <a:off x="576072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Price validation</a:t>
            </a:r>
          </a:p>
        </p:txBody>
      </p:sp>
      <p:sp>
        <p:nvSpPr>
          <p:cNvPr id="15" name="Oval 14"/>
          <p:cNvSpPr/>
          <p:nvPr/>
        </p:nvSpPr>
        <p:spPr>
          <a:xfrm>
            <a:off x="8092440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1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Optimization</a:t>
            </a:r>
          </a:p>
        </p:txBody>
      </p:sp>
      <p:sp>
        <p:nvSpPr>
          <p:cNvPr id="17" name="Oval 16"/>
          <p:cNvSpPr/>
          <p:nvPr/>
        </p:nvSpPr>
        <p:spPr>
          <a:xfrm>
            <a:off x="10424159" y="1920240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39" y="233172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111827"/>
                </a:solidFill>
                <a:latin typeface="Aptos"/>
              </a:rPr>
              <a:t>Complete 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886200"/>
            <a:ext cx="46634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959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Included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297680"/>
            <a:ext cx="4389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Compute, block storage, OS licensing, standard network estimate, database assumptions where applicable.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06440" y="3886200"/>
            <a:ext cx="4663440" cy="9601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9959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Handled separately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97680"/>
            <a:ext cx="4389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Migration labour, dual-run cost, commercial incentives, support tiers and client-specific procurement terms.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Cloud infrastructure cost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Replace example data with client values. Show monthly and annual decision numbers.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34440"/>
          <a:ext cx="475488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1234440"/>
          <a:ext cx="51206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View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PAYG 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3-year monthly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Complete annual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080760" y="3246120"/>
            <a:ext cx="5120640" cy="11430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35584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Headline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484632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 A] is lowest on the complete view. [Cloud B] is within [x]%. [Cloud C] carries a premium driven by [reason].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846320"/>
            <a:ext cx="104241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5604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caution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let headline PAYG pricing decide. The complete view must include databases, licensing, storage optimization and required support assumptions.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Complete view: the decision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This is the table that executives will remember. Keep it clean and traceable.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09728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Component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Baseline committed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Database path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Support / license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- Optimization levers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+ Indicative egress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Complete view annual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63840" y="1143000"/>
            <a:ext cx="3474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2527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5448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[State the annual delta between clouds and what drives it.]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331720"/>
            <a:ext cx="347472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244144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Sensitivity to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7432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Egress volume, database path, BYOL eligibility, commitment level and commercial credits.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520440"/>
            <a:ext cx="3474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6301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Commercial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93192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Keep credits and partner discounts separate from retail TCO until validated.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Optimization levers and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Separate savings levers from assumptions. This avoids false confidence.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09728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7056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Lever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Potential 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Condition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Risk / caveat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Reservations / commitments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Stable workloads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Commitment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BYOL / AHB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Entitlement confirmed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Rules differ by cloud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Storage tiering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Data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Performance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Database modernization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Conversion validated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Migration investment excluded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Rightsizing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Utilization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Needs workload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5532120"/>
            <a:ext cx="10241280" cy="4572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641848"/>
            <a:ext cx="99669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Audit fix applied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943600"/>
            <a:ext cx="9966959" cy="-73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template now forces cost caveats, assumptions and Year 1 structure into the main narrative, not an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Business and Application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Constraints that shape the migration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Show the technical blockers that matter to sequencing and platform choice.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1430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40"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Constraint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Affected scope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Cloud 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FFFFFF"/>
                          </a:solidFill>
                          <a:latin typeface="Aptos"/>
                        </a:rPr>
                        <a:t>Required action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[Legacy protocol / multicast]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[Apps]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[Supported / workaround / unsupported]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[Vendor decision or refactor]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[Database clustering]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[Apps / DBs]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[Native managed path vs IaaS]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[Preferred path]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[Licensing rule]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[OS / DB]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[Cloud-specific eligibility]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>
                          <a:solidFill>
                            <a:srgbClr val="111827"/>
                          </a:solidFill>
                          <a:latin typeface="Aptos"/>
                        </a:rPr>
                        <a:t>[License confirmation]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3977639"/>
            <a:ext cx="320040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Do not treat constraints as blockers. Treat them as sequencing inputs.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977639"/>
            <a:ext cx="32004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Each constraint needs one owner, one decision date and one fallback route.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977639"/>
            <a:ext cx="320040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087368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3891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Validate with vendors and application owners before migration planning.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Migration cohorts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Cohorts are planning units. Phase 2 turns them into a release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3852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Shared services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92024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02996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Quick wins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33172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Low dependency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201168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12140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Planned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2316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Moderate 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2103120"/>
            <a:ext cx="1645920" cy="64008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21284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Complex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51460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Critical workloads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2194560"/>
            <a:ext cx="1645920" cy="6400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3042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606040"/>
            <a:ext cx="13716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Vendor / business decision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26679" y="1143000"/>
          <a:ext cx="3383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1127760"/>
                <a:gridCol w="1127760"/>
              </a:tblGrid>
              <a:tr h="4572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Cohort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Apps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Aptos"/>
                        </a:rPr>
                        <a:t>Servers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111827"/>
                          </a:solidFill>
                          <a:latin typeface="Aptos"/>
                        </a:rPr>
                        <a:t>[N]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822960" y="4983480"/>
            <a:ext cx="1024128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93208"/>
            <a:ext cx="99669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Template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94960"/>
            <a:ext cx="9966959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You cannot pick applications for convenience. You pick them by coupling, readiness and business risk.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Hyperscaler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Weighted scoring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client-approved weightings. Keep scoring transparent and defensible.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097280"/>
          <a:ext cx="6492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1298448"/>
                <a:gridCol w="1298448"/>
                <a:gridCol w="1298448"/>
                <a:gridCol w="1298448"/>
              </a:tblGrid>
              <a:tr h="568234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Goal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AWS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Azure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Google Cloud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Winner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Reliability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Security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Business fit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Licensing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Weighted score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[%]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 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0" y="1143000"/>
            <a:ext cx="3566160" cy="91440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25272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Interpretation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1554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 narrow scoring gap does not mean no recommendation. Use constraints and complete-view cost to break 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1st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2nd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971800"/>
            <a:ext cx="960120" cy="77724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21240" y="3081528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11827"/>
                </a:solidFill>
                <a:latin typeface="Aptos"/>
              </a:rPr>
              <a:t>3rd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338328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[Cloud]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297680"/>
            <a:ext cx="356616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440740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Audit fix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709160"/>
            <a:ext cx="32918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template now requires explicit explanation when cost ranking and scoring ranking differ.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Recommendation: primary platform with validated exceptions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Be decisive, but show the trade-offs.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143000"/>
            <a:ext cx="3840480" cy="12801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52728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Primary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35661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[AWS / Azure / Google Cloud]
Why: first on [scoring / economics / constraints].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1430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125272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Validated exceptions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554480"/>
            <a:ext cx="2651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[Workload A stays on X]
[Workload B stays on Y]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430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252728"/>
            <a:ext cx="2651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Trade-offs managed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554480"/>
            <a:ext cx="2651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[Weakness] mitigated by [action].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089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Why this is the right 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First on scoring or near-tie with decisive constraints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3192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Competitive complete-view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4340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Clearer operating model and partner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11827"/>
                </a:solidFill>
                <a:latin typeface="Aptos"/>
              </a:rPr>
              <a:t>• Known exceptions are deliberate, not accidental multi-cloud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3291840"/>
            <a:ext cx="3840480" cy="12801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3401568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Decision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703320"/>
            <a:ext cx="35661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[Executive sponsor] approves platform direction. Architecture team validates exceptions and landing zone implications in Phase 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06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14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Readiness and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3246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Cloud Readiness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600" y="576072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ptos"/>
              </a:rPr>
              <a:t>Cloud Strategy.
Decision Ready.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Readiness: current state to 12-month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Readiness measures cloud execution capability, not overall team competence.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Business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60020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1600200"/>
            <a:ext cx="91440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155448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574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Governance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210312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" y="2103120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05740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6032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2606039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2606039"/>
            <a:ext cx="658368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39" y="256032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1.8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632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People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310896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0" y="3108960"/>
            <a:ext cx="438912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306324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56616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Security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361188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0" y="3611880"/>
            <a:ext cx="73152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39" y="356616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2.0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1143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12-month target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155448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Business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160020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160020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155448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05740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Governance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210312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223760" y="210312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05740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56032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Operations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2606039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23760" y="2606039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256032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30632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People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310896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23760" y="3108960"/>
            <a:ext cx="109728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06324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3.0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356616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11827"/>
                </a:solidFill>
                <a:latin typeface="Aptos"/>
              </a:rPr>
              <a:t>Security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3611880"/>
            <a:ext cx="1828800" cy="128016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23760" y="3611880"/>
            <a:ext cx="1463040" cy="128016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3566160"/>
            <a:ext cx="320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1">
                <a:solidFill>
                  <a:srgbClr val="E30613"/>
                </a:solidFill>
                <a:latin typeface="Aptos"/>
              </a:rPr>
              <a:t>4.0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09760" y="1280160"/>
            <a:ext cx="2011680" cy="82296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46920" y="138988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Interpretation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1691639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[State practical consequence, not a judgement.]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60" y="2514600"/>
            <a:ext cx="20116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46920" y="262432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People path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6920" y="29260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Partner-assisted delivery with internal upskilling.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09760" y="3749039"/>
            <a:ext cx="20116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46920" y="3858768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Security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6920" y="416052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Landing zone guardrails, IAM, logging and GRC baseline.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Challenges and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Pair every challenge with a response. Quantify opportunities where possible.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097280"/>
          <a:ext cx="5486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76656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Challenge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Response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Legacy 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Blocks direct migration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Replatform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Access inconsistency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Slows discovery and delivery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Standard IAM / PAM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Database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Drives risk and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Dedicated data workstream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Skills gap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Specialist load starts early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Partner-assisted upskilling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55080" y="1097280"/>
          <a:ext cx="51663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2120"/>
                <a:gridCol w="1722120"/>
                <a:gridCol w="1722120"/>
              </a:tblGrid>
              <a:tr h="676656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Opportunity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Impact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Validation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BYOL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License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Storage tiering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Performance test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Rightsizing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[Saving]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Utilization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Application rationalization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Scope reduction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Owner decision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5074920"/>
            <a:ext cx="10424160" cy="5029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8464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Executive takeaway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The migration risk is manageable if Phase 2 validates dependencies, database paths, operating model and commercial terms before execution.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Phase 2 entry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Phase 2 turns direction into a migration-ready plan. It does not execute migration.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Discovery and profiling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Full estate validation, dependencies and utilization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Architecture and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Landing zone, network, identity, security and observability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Data and modernization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Oracle, SQL Server and managed database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143000"/>
            <a:ext cx="251460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25272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Planning and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554480"/>
            <a:ext cx="22402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Cohort sequencing, dual-run model and risk register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3154680"/>
          <a:ext cx="5486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88620"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Deliverable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 b="1">
                          <a:solidFill>
                            <a:srgbClr val="FFFFFF"/>
                          </a:solidFill>
                          <a:latin typeface="Aptos"/>
                        </a:rPr>
                        <a:t>Target date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Validated 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Landing zone design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Migration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[Owner]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20">
                          <a:solidFill>
                            <a:srgbClr val="111827"/>
                          </a:solidFill>
                          <a:latin typeface="Aptos"/>
                        </a:rPr>
                        <a:t>[Date]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629400" y="3154680"/>
            <a:ext cx="4251960" cy="155448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264408"/>
            <a:ext cx="3977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Critical path 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66160"/>
            <a:ext cx="397764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1. Confirm high-value database data
2. Approve platform direction
3. Validate vendor constraints
4. Agree operating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166360"/>
            <a:ext cx="1042416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7608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Suggested duration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57784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12-16 weeks for planning and design, followed by 12-18 months migration execution depending on complexity and decisions.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11827"/>
                </a:solidFill>
                <a:latin typeface="Aptos"/>
              </a:rPr>
              <a:t>Hyperscaler presentation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30613"/>
                </a:solidFill>
                <a:latin typeface="Aptos"/>
              </a:rPr>
              <a:t>Use this slide when the client hears direct proposals from AWS, Microsoft and Google.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0624" y="932688"/>
            <a:ext cx="411480" cy="32004"/>
          </a:xfrm>
          <a:prstGeom prst="rect">
            <a:avLst/>
          </a:prstGeom>
          <a:solidFill>
            <a:srgbClr val="E30613"/>
          </a:solidFill>
          <a:ln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446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Aptos"/>
              </a:rPr>
              <a:t>[PARTNER] | Cloud Readiness Assessment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644652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>
                <a:solidFill>
                  <a:srgbClr val="D9DEE5"/>
                </a:solidFill>
                <a:latin typeface="Aptos"/>
              </a:rPr>
              <a:t>[CLIENT_NAME]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>
                <a:solidFill>
                  <a:srgbClr val="6B7280"/>
                </a:solidFill>
                <a:latin typeface="Apto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143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Aptos"/>
              </a:rPr>
              <a:t>Questions that reveal whether they understand the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is your full answer for our database path, not just infrastructure price?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75688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How did you size workloads and how was pricing validated?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51176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does BYOL mean for our actual OS and SQL estate?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26664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What commercial terms, credits and funded resources are committed?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02152"/>
            <a:ext cx="5394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• Who owns Day 2 operations and capability transfer?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0" y="1234440"/>
          <a:ext cx="45262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3140"/>
                <a:gridCol w="2263140"/>
              </a:tblGrid>
              <a:tr h="419100"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Warning sign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 b="1">
                          <a:solidFill>
                            <a:srgbClr val="FFFFFF"/>
                          </a:solidFill>
                          <a:latin typeface="Aptos"/>
                        </a:rPr>
                        <a:t>Why it matters</a:t>
                      </a:r>
                    </a:p>
                  </a:txBody>
                  <a:tcPr>
                    <a:solidFill>
                      <a:srgbClr val="E30613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All-5 scoring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client-specific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Cost excludes databases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False comparison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Ignores licensing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Business case distortion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dual-run view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Year 1 surprise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No Day 2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10">
                          <a:solidFill>
                            <a:srgbClr val="111827"/>
                          </a:solidFill>
                          <a:latin typeface="Aptos"/>
                        </a:rPr>
                        <a:t>Operating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85800" y="5166360"/>
            <a:ext cx="10424160" cy="502920"/>
          </a:xfrm>
          <a:prstGeom prst="roundRect">
            <a:avLst/>
          </a:prstGeom>
          <a:solidFill>
            <a:srgbClr val="FDE8EA"/>
          </a:solidFill>
          <a:ln w="9525">
            <a:solidFill>
              <a:srgbClr val="E306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276088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30613"/>
                </a:solidFill>
                <a:latin typeface="Aptos"/>
              </a:rPr>
              <a:t>Closing 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10149840" cy="-27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11827"/>
                </a:solidFill>
                <a:latin typeface="Aptos"/>
              </a:rPr>
              <a:t>Approve [PRIMARY_PLATFORM] direction and Phase 2 scope, or explicitly accept the renewal and delay risk.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Engagement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'Engagement Scope' with engagement data.]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Assessment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'Assessment Methodology' with engagement data.]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Infrastructure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'Infrastructure Summary' with engagement data.]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Application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'Application Landscape' with engagement data.]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Cloud Readiness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'Cloud Readiness Profile' with engagement data.]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TCO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'TCO Analysis' with engagement data.]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Licensing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'Licensing Overlay' with engagement data.]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Partner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'Partner Funding' with engagement data.]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Risk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'Risk Register' with engagement data.]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Partner Funding &amp;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'Partner Funding &amp; Timeline' with engagement data.]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Part 2 Entry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'Part 2 Entry Point' with engagement data.]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6017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FFFFFF"/>
                </a:solidFill>
              </a:rPr>
              <a:t>Questions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46464"/>
                </a:solidFill>
              </a:rPr>
              <a:t>[PLACEHOLDER: Complete 'Questions &amp; Next Steps' with engagement data.]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371600"/>
          </a:xfrm>
          <a:prstGeom prst="rect">
            <a:avLst/>
          </a:prstGeom>
          <a:solidFill>
            <a:srgbClr val="E31C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FFFFFF"/>
                </a:solidFill>
              </a:rPr>
              <a:t>RACKSPACE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114601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600">
                <a:solidFill>
                  <a:srgbClr val="FFFFFF"/>
                </a:solidFill>
              </a:rPr>
              <a:t>CRA Executive Summary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1460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Phase 3: Hyperscaler Evaluation --&gt; Customer Playback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1146017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PURPOSE</a:t>
            </a:r>
          </a:p>
          <a:p>
            <a:r>
              <a:rPr sz="900"/>
              <a:t>This is the Phase 3 playback deck presented to the customer CTO and senior leadership team. It presents assessment findings, three-cloud comparison, TCO analysis, and hyperscaler recommendation. This is the most customer-visible CRA deliverable.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457700"/>
            <a:ext cx="36575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AUDIENCE</a:t>
            </a:r>
          </a:p>
          <a:p>
            <a:r>
              <a:rPr sz="900"/>
              <a:t>Customer CTO / IT Director + Rackspace Lead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268" y="4457700"/>
            <a:ext cx="46328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WHEN TO USE</a:t>
            </a:r>
          </a:p>
          <a:p>
            <a:r>
              <a:rPr sz="900"/>
              <a:t>After Phase 3 TCO and scoring complete; before Part 2 SOW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7596" y="4457700"/>
            <a:ext cx="24383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VERSION</a:t>
            </a:r>
          </a:p>
          <a:p>
            <a:r>
              <a:rPr sz="900"/>
              <a:t>v3.0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43500"/>
            <a:ext cx="114601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00">
                <a:solidFill>
                  <a:srgbClr val="E31C3D"/>
                </a:solidFill>
              </a:rPr>
              <a:t>WHAT TO CUSTOMISE</a:t>
            </a:r>
          </a:p>
          <a:p>
            <a:r>
              <a:rPr sz="900"/>
              <a:t>- Replace [Customer Name] on every slide (20+ instances)</a:t>
            </a:r>
          </a:p>
          <a:p>
            <a:r>
              <a:rPr sz="900"/>
              <a:t>- Update all financial figures from your TCO model</a:t>
            </a:r>
          </a:p>
          <a:p>
            <a:r>
              <a:rPr sz="900"/>
              <a:t>- Populate the scoring matrix with your engagement's weighted scores</a:t>
            </a:r>
          </a:p>
          <a:p>
            <a:r>
              <a:rPr sz="900"/>
              <a:t>- Confirm Recommendation slide comes AFTER evidence slides 8-12</a:t>
            </a:r>
          </a:p>
          <a:p>
            <a:r>
              <a:rPr sz="900"/>
              <a:t>- Update partner funding slide with actual AMM/MAP/PSO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37794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646464"/>
                </a:solidFill>
              </a:rPr>
              <a:t>CRA Framework v2.0 -- Rackspace Cloud Solutions Architecture  |  Confidential  |  (c) 2026 Rackspace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