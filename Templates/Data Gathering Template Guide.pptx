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2.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3.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4"/>
    <p:sldMasterId id="2147483748" r:id="rId5"/>
    <p:sldMasterId id="2147483780" r:id="rId6"/>
    <p:sldMasterId id="2147483792" r:id="rId7"/>
  </p:sldMasterIdLst>
  <p:notesMasterIdLst>
    <p:notesMasterId r:id="rId23"/>
  </p:notesMasterIdLst>
  <p:sldIdLst>
    <p:sldId id="3635" r:id="rId8"/>
    <p:sldId id="3640" r:id="rId9"/>
    <p:sldId id="3642" r:id="rId10"/>
    <p:sldId id="2113417633" r:id="rId11"/>
    <p:sldId id="3641" r:id="rId12"/>
    <p:sldId id="2113417644" r:id="rId13"/>
    <p:sldId id="2113417636" r:id="rId14"/>
    <p:sldId id="2113417640" r:id="rId15"/>
    <p:sldId id="2113417637" r:id="rId16"/>
    <p:sldId id="2113417638" r:id="rId17"/>
    <p:sldId id="2113417639" r:id="rId18"/>
    <p:sldId id="2113417641" r:id="rId19"/>
    <p:sldId id="2113417642" r:id="rId20"/>
    <p:sldId id="2113417643" r:id="rId21"/>
    <p:sldId id="211341763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01" autoAdjust="0"/>
    <p:restoredTop sz="96197"/>
  </p:normalViewPr>
  <p:slideViewPr>
    <p:cSldViewPr snapToGrid="0">
      <p:cViewPr varScale="1">
        <p:scale>
          <a:sx n="122" d="100"/>
          <a:sy n="122" d="100"/>
        </p:scale>
        <p:origin x="21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2AA4D3-060E-49D2-912D-96A7D93FCDF8}" type="datetimeFigureOut">
              <a:rPr lang="en-GB" smtClean="0"/>
              <a:t>26/04/2026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D56DED-E57E-45F6-9687-078C30D07030}" type="slidenum">
              <a:rPr lang="en-GB" smtClean="0"/>
              <a:t>‹#›</a:t>
            </a:fld>
            <a:endParaRPr lang="en-GB" dirty="0"/>
          </a:p>
        </p:txBody>
      </p:sp>
    </p:spTree>
    <p:extLst>
      <p:ext uri="{BB962C8B-B14F-4D97-AF65-F5344CB8AC3E}">
        <p14:creationId xmlns:p14="http://schemas.microsoft.com/office/powerpoint/2010/main" val="4125024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267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sv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p:nvSpPr>
        <p:spPr bwMode="white">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561136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788750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p:nvSpPr>
        <p:spPr bwMode="white">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509701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5143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3232128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p>
            <a:r>
              <a:rPr lang="en-US"/>
              <a:t>Click to edit Master title style</a:t>
            </a:r>
          </a:p>
        </p:txBody>
      </p:sp>
    </p:spTree>
    <p:extLst>
      <p:ext uri="{BB962C8B-B14F-4D97-AF65-F5344CB8AC3E}">
        <p14:creationId xmlns:p14="http://schemas.microsoft.com/office/powerpoint/2010/main" val="852820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8029577" y="312485"/>
            <a:ext cx="3800474" cy="61753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1" y="1842516"/>
            <a:ext cx="2618253" cy="1138428"/>
          </a:xfrm>
        </p:spPr>
        <p:txBody>
          <a:bodyPr vert="horz" lIns="0" tIns="0" rIns="0" bIns="0" rtlCol="0">
            <a:no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GB"/>
          </a:p>
        </p:txBody>
      </p:sp>
    </p:spTree>
    <p:extLst>
      <p:ext uri="{BB962C8B-B14F-4D97-AF65-F5344CB8AC3E}">
        <p14:creationId xmlns:p14="http://schemas.microsoft.com/office/powerpoint/2010/main" val="825722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152775" y="2416705"/>
            <a:ext cx="8591550" cy="4079346"/>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8723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09573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4B8541B1-5A69-4116-9413-EDFFEC198E0C}" type="slidenum">
              <a:rPr lang="en-GB" smtClean="0"/>
              <a:t>‹#›</a:t>
            </a:fld>
            <a:endParaRPr lang="en-GB"/>
          </a:p>
        </p:txBody>
      </p:sp>
      <p:pic>
        <p:nvPicPr>
          <p:cNvPr id="6" name="Picture 5">
            <a:extLst>
              <a:ext uri="{FF2B5EF4-FFF2-40B4-BE49-F238E27FC236}">
                <a16:creationId xmlns:a16="http://schemas.microsoft.com/office/drawing/2014/main" id="{3F9E8279-BFE3-42FA-89A5-BD1779547B5B}"/>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138246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4191000" y="6500158"/>
            <a:ext cx="2873446" cy="243205"/>
          </a:xfrm>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2646062"/>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808499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3238500" y="6500158"/>
            <a:ext cx="2759146" cy="243205"/>
          </a:xfrm>
        </p:spPr>
        <p:txBody>
          <a:bodyPr/>
          <a:lstStyle>
            <a:lvl1pPr>
              <a:defRPr>
                <a:solidFill>
                  <a:schemeClr val="bg1"/>
                </a:solidFill>
              </a:defRPr>
            </a:lvl1pPr>
          </a:lstStyle>
          <a:p>
            <a:endParaRPr lang="en-GB"/>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99621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3238500" y="6500158"/>
            <a:ext cx="2823916" cy="243205"/>
          </a:xfrm>
        </p:spPr>
        <p:txBody>
          <a:bodyPr lIns="182880"/>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39188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607712"/>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2972151"/>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55196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008033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260504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876302"/>
            <a:ext cx="2666962" cy="292332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265672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260504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1584902"/>
            <a:ext cx="2666962" cy="292332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3964613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5">
            <a:extLst>
              <a:ext uri="{FF2B5EF4-FFF2-40B4-BE49-F238E27FC236}">
                <a16:creationId xmlns:a16="http://schemas.microsoft.com/office/drawing/2014/main" id="{62A334C7-39E0-4BC9-909A-79A06CAC7E86}"/>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01861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18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748107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p:nvSpPr>
        <p:spPr bwMode="white">
          <a:xfrm>
            <a:off x="8972550" y="0"/>
            <a:ext cx="3219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6176772"/>
          </a:xfrm>
        </p:spPr>
        <p:txBody>
          <a:bodyPr vert="horz" lIns="0" tIns="0" rIns="0" bIns="0" rtlCol="0">
            <a:noAutofit/>
          </a:bodyPr>
          <a:lstStyle>
            <a:lvl1pPr marL="0" indent="0">
              <a:lnSpc>
                <a:spcPct val="110000"/>
              </a:lnSpc>
              <a:buNone/>
              <a:defRPr lang="en-US" sz="2600" dirty="0">
                <a:ln w="3175">
                  <a:noFill/>
                </a:ln>
                <a:solidFill>
                  <a:schemeClr val="bg1"/>
                </a:solidFill>
              </a:defRPr>
            </a:lvl1pPr>
          </a:lstStyle>
          <a:p>
            <a:pPr lvl="0" fontAlgn="base">
              <a:spcAft>
                <a:spcPts val="2625"/>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361951" y="200026"/>
            <a:ext cx="8467725" cy="4752975"/>
          </a:xfrm>
        </p:spPr>
        <p:txBody>
          <a:bodyPr lIns="0"/>
          <a:lstStyle>
            <a:lvl1pPr marL="0" indent="0">
              <a:buFont typeface="Arial" panose="020B0604020202020204" pitchFamily="34" charset="0"/>
              <a:buNone/>
              <a:defRPr lang="en-US" sz="6700" kern="1200"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3505366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p:nvSpPr>
        <p:spPr bwMode="white">
          <a:xfrm>
            <a:off x="8972550" y="0"/>
            <a:ext cx="321945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9220199" y="314326"/>
            <a:ext cx="2619375" cy="6172200"/>
          </a:xfrm>
        </p:spPr>
        <p:txBody>
          <a:bodyPr lIns="0"/>
          <a:lstStyle>
            <a:lvl1pPr marL="0" indent="0">
              <a:lnSpc>
                <a:spcPct val="110000"/>
              </a:lnSpc>
              <a:buNone/>
              <a:defRPr sz="2600">
                <a:solidFill>
                  <a:schemeClr val="bg1"/>
                </a:solidFill>
              </a:defRPr>
            </a:lvl1pPr>
            <a:lvl2pPr marL="283368" indent="0">
              <a:buNone/>
              <a:defRPr sz="2600">
                <a:solidFill>
                  <a:schemeClr val="bg1"/>
                </a:solidFill>
              </a:defRPr>
            </a:lvl2pPr>
            <a:lvl3pPr marL="566737" indent="0">
              <a:buNone/>
              <a:defRPr sz="2600">
                <a:solidFill>
                  <a:schemeClr val="bg1"/>
                </a:solidFill>
              </a:defRPr>
            </a:lvl3pPr>
            <a:lvl4pPr marL="850106" indent="0">
              <a:buNone/>
              <a:defRPr sz="2600">
                <a:solidFill>
                  <a:schemeClr val="bg1"/>
                </a:solidFill>
              </a:defRPr>
            </a:lvl4pPr>
            <a:lvl5pPr marL="1133475" indent="0">
              <a:buNone/>
              <a:defRPr sz="26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292609" y="196596"/>
            <a:ext cx="8596049" cy="5244314"/>
          </a:xfrm>
          <a:ln w="12700">
            <a:noFill/>
          </a:ln>
        </p:spPr>
        <p:txBody>
          <a:bodyPr vert="horz" lIns="0" tIns="0" rIns="0" bIns="0" rtlCol="0" anchor="t" anchorCtr="0">
            <a:noAutofit/>
          </a:bodyPr>
          <a:lstStyle>
            <a:lvl1pPr marL="0" indent="0">
              <a:buNone/>
              <a:defRPr lang="en-US" sz="6700" i="1"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345387" y="5407018"/>
            <a:ext cx="8553450" cy="400050"/>
          </a:xfrm>
        </p:spPr>
        <p:txBody>
          <a:bodyPr vert="horz" lIns="0" tIns="0" rIns="0" bIns="0" rtlCol="0">
            <a:noAutofit/>
          </a:bodyPr>
          <a:lstStyle>
            <a:lvl1pPr marL="0" indent="0">
              <a:buNone/>
              <a:defRPr lang="en-US" sz="1800" smtClean="0">
                <a:solidFill>
                  <a:schemeClr val="tx1"/>
                </a:solidFill>
              </a:defRPr>
            </a:lvl1pPr>
            <a:lvl2pPr>
              <a:defRPr lang="en-US" smtClean="0"/>
            </a:lvl2pPr>
            <a:lvl3pPr>
              <a:defRPr lang="en-US" smtClean="0"/>
            </a:lvl3pPr>
            <a:lvl4pPr>
              <a:defRPr lang="en-US" smtClean="0"/>
            </a:lvl4pPr>
            <a:lvl5pPr>
              <a:defRPr lang="en-US"/>
            </a:lvl5pPr>
          </a:lstStyle>
          <a:p>
            <a:pPr marL="142875" lvl="0" indent="-142875"/>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58392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417868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69065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6096000" cy="3429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a:ln>
            <a:noFill/>
          </a:ln>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37199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665658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6096000" cy="1905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076555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1138428"/>
          </a:xfrm>
        </p:spPr>
        <p:txBody>
          <a:bodyPr vert="horz" lIns="0" tIns="0" rIns="0" bIns="0" rtlCol="0">
            <a:no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5">
            <a:extLst>
              <a:ext uri="{FF2B5EF4-FFF2-40B4-BE49-F238E27FC236}">
                <a16:creationId xmlns:a16="http://schemas.microsoft.com/office/drawing/2014/main" id="{D54D659C-D8FD-4F93-8C77-B8A55AFB2AE7}"/>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077091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1138428"/>
          </a:xfrm>
        </p:spPr>
        <p:txBody>
          <a:bodyPr vert="horz" lIns="0" tIns="0" rIns="0" bIns="0" rtlCol="0">
            <a:no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GB"/>
          </a:p>
        </p:txBody>
      </p:sp>
      <p:sp>
        <p:nvSpPr>
          <p:cNvPr id="11" name="Freeform 5">
            <a:extLst>
              <a:ext uri="{FF2B5EF4-FFF2-40B4-BE49-F238E27FC236}">
                <a16:creationId xmlns:a16="http://schemas.microsoft.com/office/drawing/2014/main" id="{E2A96162-D306-4576-A5C2-48AEDBC2AE86}"/>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748508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38428"/>
          </a:xfrm>
        </p:spPr>
        <p:txBody>
          <a:bodyPr vert="horz" lIns="0" tIns="0" rIns="0" bIns="0" rtlCol="0">
            <a:no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6176772"/>
          </a:xfrm>
        </p:spPr>
        <p:txBody>
          <a:bodyPr vert="horz" lIns="0" tIns="0" rIns="0" bIns="0" rtlCol="0">
            <a:noAutofit/>
          </a:bodyPr>
          <a:lstStyle>
            <a:lvl1pPr marL="142875" marR="0" indent="-142875"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037367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601623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8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792995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Image Slide - case stud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2110740" y="6500158"/>
            <a:ext cx="2759146" cy="243205"/>
          </a:xfrm>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hasCustomPrompt="1"/>
          </p:nvPr>
        </p:nvSpPr>
        <p:spPr>
          <a:xfrm>
            <a:off x="334496" y="268589"/>
            <a:ext cx="5571004" cy="607712"/>
          </a:xfrm>
        </p:spPr>
        <p:txBody>
          <a:bodyPr/>
          <a:lstStyle>
            <a:lvl1pPr>
              <a:defRPr kumimoji="0" lang="en-US" sz="2400" i="0" u="none" strike="noStrike" kern="1200" cap="none" spc="0" normalizeH="0" baseline="0" dirty="0">
                <a:ln>
                  <a:noFill/>
                </a:ln>
                <a:solidFill>
                  <a:schemeClr val="tx2"/>
                </a:solidFill>
                <a:effectLst/>
                <a:uLnTx/>
                <a:uFillTx/>
                <a:latin typeface="Arial"/>
                <a:ea typeface="+mn-ea"/>
                <a:cs typeface="+mn-cs"/>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a:t>Case study</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200152"/>
            <a:ext cx="5557799" cy="5295898"/>
          </a:xfrm>
        </p:spPr>
        <p:txBody>
          <a:bodyPr lIns="0"/>
          <a:lstStyle>
            <a:lvl1pPr marL="0" indent="0">
              <a:spcBef>
                <a:spcPts val="2400"/>
              </a:spcBef>
              <a:spcAft>
                <a:spcPts val="0"/>
              </a:spcAft>
              <a:buNone/>
              <a:defRPr sz="2000" b="1"/>
            </a:lvl1pPr>
            <a:lvl2pPr marL="283368" indent="0">
              <a:spcBef>
                <a:spcPts val="300"/>
              </a:spcBef>
              <a:spcAft>
                <a:spcPts val="300"/>
              </a:spcAft>
              <a:buNone/>
              <a:defRPr/>
            </a:lvl2pPr>
            <a:lvl3pPr marL="566737" indent="0">
              <a:spcBef>
                <a:spcPts val="300"/>
              </a:spcBef>
              <a:spcAft>
                <a:spcPts val="300"/>
              </a:spcAft>
              <a:buNone/>
              <a:defRPr/>
            </a:lvl3pPr>
            <a:lvl4pPr marL="850106" indent="0">
              <a:spcBef>
                <a:spcPts val="300"/>
              </a:spcBef>
              <a:spcAft>
                <a:spcPts val="300"/>
              </a:spcAft>
              <a:buNone/>
              <a:defRPr/>
            </a:lvl4pPr>
            <a:lvl5pPr marL="1133475" indent="0">
              <a:spcBef>
                <a:spcPts val="300"/>
              </a:spcBef>
              <a:spcAft>
                <a:spcPts val="300"/>
              </a:spcAft>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D4200C12-46D4-4518-A0B7-3701251A4FB1}"/>
              </a:ext>
            </a:extLst>
          </p:cNvPr>
          <p:cNvSpPr>
            <a:spLocks noGrp="1"/>
          </p:cNvSpPr>
          <p:nvPr>
            <p:ph sz="quarter" idx="16"/>
          </p:nvPr>
        </p:nvSpPr>
        <p:spPr>
          <a:xfrm>
            <a:off x="6096000" y="5942052"/>
            <a:ext cx="6096000" cy="553998"/>
          </a:xfrm>
          <a:solidFill>
            <a:schemeClr val="bg2"/>
          </a:solidFill>
        </p:spPr>
        <p:txBody>
          <a:bodyPr wrap="square" lIns="182880" tIns="91440" rIns="182880" bIns="182880" anchor="b" anchorCtr="0">
            <a:spAutoFit/>
          </a:bodyPr>
          <a:lstStyle>
            <a:lvl1pPr marL="60325" indent="-60325" algn="l" defTabSz="914400" rtl="0" eaLnBrk="1" latinLnBrk="0" hangingPunct="1">
              <a:lnSpc>
                <a:spcPct val="100000"/>
              </a:lnSpc>
              <a:spcBef>
                <a:spcPts val="1200"/>
              </a:spcBef>
              <a:spcAft>
                <a:spcPts val="0"/>
              </a:spcAft>
              <a:buClr>
                <a:schemeClr val="tx2"/>
              </a:buClr>
              <a:buFont typeface="Arial" panose="020B0604020202020204" pitchFamily="34" charset="0"/>
              <a:buNone/>
              <a:defRPr lang="en-US" sz="1800" kern="1200" dirty="0" smtClean="0">
                <a:ln>
                  <a:noFill/>
                </a:ln>
                <a:solidFill>
                  <a:prstClr val="white"/>
                </a:solidFill>
                <a:latin typeface="+mn-lt"/>
                <a:ea typeface="+mn-ea"/>
                <a:cs typeface="+mn-cs"/>
              </a:defRPr>
            </a:lvl1pPr>
            <a:lvl2pPr>
              <a:defRPr lang="en-US" sz="900" smtClean="0"/>
            </a:lvl2pPr>
            <a:lvl3pPr>
              <a:defRPr lang="en-US" sz="900" smtClean="0"/>
            </a:lvl3pPr>
            <a:lvl4pPr>
              <a:defRPr lang="en-US" sz="900" smtClean="0"/>
            </a:lvl4pPr>
            <a:lvl5pPr>
              <a:defRPr lang="en-US" sz="900"/>
            </a:lvl5pPr>
          </a:lstStyle>
          <a:p>
            <a:pPr marL="74613" lvl="0" indent="-74613" defTabSz="228600"/>
            <a:r>
              <a:rPr lang="en-US"/>
              <a:t>Click to edit Master text styles</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4236692" y="6111829"/>
            <a:ext cx="1666875" cy="550862"/>
          </a:xfr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10" name="Picture 9">
            <a:extLst>
              <a:ext uri="{FF2B5EF4-FFF2-40B4-BE49-F238E27FC236}">
                <a16:creationId xmlns:a16="http://schemas.microsoft.com/office/drawing/2014/main" id="{E26D4CF9-DA02-47C6-9FC8-B0A3A9F7ADDE}"/>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6728020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41331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01049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40" y="3902784"/>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314492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6096000"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869263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179211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08131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3238501" y="312485"/>
            <a:ext cx="8580301"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598614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765297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53243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528905"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49286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6096000" cy="190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067151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468400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891536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BEC3E-A067-4A39-9F54-CEB6FA458C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0BE1A82-1658-47A7-93D2-1F29443FFD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2B4C0B8-65CA-4A69-8560-816C23DC0D6E}"/>
              </a:ext>
            </a:extLst>
          </p:cNvPr>
          <p:cNvSpPr>
            <a:spLocks noGrp="1"/>
          </p:cNvSpPr>
          <p:nvPr>
            <p:ph type="dt" sz="half" idx="10"/>
          </p:nvPr>
        </p:nvSpPr>
        <p:spPr/>
        <p:txBody>
          <a:bodyPr/>
          <a:lstStyle/>
          <a:p>
            <a:fld id="{0BE14206-A1E3-45A1-98ED-D70DCE73C9F2}" type="datetimeFigureOut">
              <a:rPr lang="en-GB" smtClean="0"/>
              <a:t>26/04/2026</a:t>
            </a:fld>
            <a:endParaRPr lang="en-GB"/>
          </a:p>
        </p:txBody>
      </p:sp>
      <p:sp>
        <p:nvSpPr>
          <p:cNvPr id="5" name="Footer Placeholder 4">
            <a:extLst>
              <a:ext uri="{FF2B5EF4-FFF2-40B4-BE49-F238E27FC236}">
                <a16:creationId xmlns:a16="http://schemas.microsoft.com/office/drawing/2014/main" id="{D3A246D5-0A4F-44C0-B667-92126D7C26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8AAE26-50A4-4EF6-AD2F-33B7BED5DA01}"/>
              </a:ext>
            </a:extLst>
          </p:cNvPr>
          <p:cNvSpPr>
            <a:spLocks noGrp="1"/>
          </p:cNvSpPr>
          <p:nvPr>
            <p:ph type="sldNum" sz="quarter" idx="12"/>
          </p:nvPr>
        </p:nvSpPr>
        <p:spPr/>
        <p:txBody>
          <a:bodyPr/>
          <a:lstStyle/>
          <a:p>
            <a:fld id="{4B8541B1-5A69-4116-9413-EDFFEC198E0C}" type="slidenum">
              <a:rPr lang="en-GB" smtClean="0"/>
              <a:t>‹#›</a:t>
            </a:fld>
            <a:endParaRPr lang="en-GB"/>
          </a:p>
        </p:txBody>
      </p:sp>
    </p:spTree>
    <p:extLst>
      <p:ext uri="{BB962C8B-B14F-4D97-AF65-F5344CB8AC3E}">
        <p14:creationId xmlns:p14="http://schemas.microsoft.com/office/powerpoint/2010/main" val="9841258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 name="Group 4">
            <a:extLst>
              <a:ext uri="{FF2B5EF4-FFF2-40B4-BE49-F238E27FC236}">
                <a16:creationId xmlns:a16="http://schemas.microsoft.com/office/drawing/2014/main" id="{4CD80BBE-E9C1-4ADE-A161-0379299AA354}"/>
              </a:ext>
            </a:extLst>
          </p:cNvPr>
          <p:cNvGrpSpPr/>
          <p:nvPr/>
        </p:nvGrpSpPr>
        <p:grpSpPr>
          <a:xfrm>
            <a:off x="10241279" y="5808617"/>
            <a:ext cx="1455289" cy="742043"/>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07057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PostIt Image w Column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2120"/>
            <a:ext cx="12193524" cy="4953000"/>
          </a:xfrm>
          <a:solidFill>
            <a:schemeClr val="bg1">
              <a:lumMod val="85000"/>
            </a:schemeClr>
          </a:solidFill>
        </p:spPr>
        <p:txBody>
          <a:bodyPr/>
          <a:lstStyle>
            <a:lvl1pPr>
              <a:defRPr>
                <a:ln>
                  <a:noFill/>
                </a:ln>
              </a:defRPr>
            </a:lvl1pPr>
          </a:lstStyle>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ln>
                  <a:noFill/>
                </a:ln>
                <a:solidFill>
                  <a:schemeClr val="tx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ln>
                  <a:noFill/>
                </a:ln>
                <a:solidFill>
                  <a:schemeClr val="tx1"/>
                </a:solidFill>
              </a:defRPr>
            </a:lvl1pPr>
          </a:lstStyle>
          <a:p>
            <a:fld id="{762E77F0-FB5B-4E8E-9BC9-34F14560A017}" type="slidenum">
              <a:rPr lang="en-US" smtClean="0"/>
              <a:pPr/>
              <a:t>‹#›</a:t>
            </a:fld>
            <a:endParaRPr lang="en-US"/>
          </a:p>
        </p:txBody>
      </p:sp>
      <p:sp>
        <p:nvSpPr>
          <p:cNvPr id="2" name="Title 1">
            <a:extLst>
              <a:ext uri="{FF2B5EF4-FFF2-40B4-BE49-F238E27FC236}">
                <a16:creationId xmlns:a16="http://schemas.microsoft.com/office/drawing/2014/main" id="{AD5C2CD8-DC86-C544-8C8F-8AA6368F4C1E}"/>
              </a:ext>
            </a:extLst>
          </p:cNvPr>
          <p:cNvSpPr>
            <a:spLocks noGrp="1"/>
          </p:cNvSpPr>
          <p:nvPr>
            <p:ph type="title"/>
          </p:nvPr>
        </p:nvSpPr>
        <p:spPr>
          <a:xfrm>
            <a:off x="361950" y="365760"/>
            <a:ext cx="2952750" cy="1024890"/>
          </a:xfrm>
          <a:solidFill>
            <a:schemeClr val="bg1"/>
          </a:solidFill>
        </p:spPr>
        <p:txBody>
          <a:bodyPr lIns="360000" tIns="146304" rIns="182880" bIns="182880"/>
          <a:lstStyle>
            <a:lvl1pPr>
              <a:defRPr>
                <a:ln w="9525">
                  <a:noFill/>
                </a:ln>
              </a:defRPr>
            </a:lvl1pPr>
          </a:lstStyle>
          <a:p>
            <a:r>
              <a:rPr lang="en-US"/>
              <a:t>Click to edit Master title style</a:t>
            </a:r>
          </a:p>
        </p:txBody>
      </p:sp>
      <p:sp>
        <p:nvSpPr>
          <p:cNvPr id="12" name="Text Placeholder 11">
            <a:extLst>
              <a:ext uri="{FF2B5EF4-FFF2-40B4-BE49-F238E27FC236}">
                <a16:creationId xmlns:a16="http://schemas.microsoft.com/office/drawing/2014/main" id="{DCC058C0-AC01-CB46-87CA-5136C7D81224}"/>
              </a:ext>
            </a:extLst>
          </p:cNvPr>
          <p:cNvSpPr>
            <a:spLocks noGrp="1"/>
          </p:cNvSpPr>
          <p:nvPr>
            <p:ph type="body" sz="quarter" idx="15" hasCustomPrompt="1"/>
          </p:nvPr>
        </p:nvSpPr>
        <p:spPr>
          <a:xfrm>
            <a:off x="3302000" y="5075238"/>
            <a:ext cx="2603500" cy="228600"/>
          </a:xfrm>
        </p:spPr>
        <p:txBody>
          <a:bodyPr vert="horz" lIns="0" tIns="0" rIns="0" bIns="0" rtlCol="0">
            <a:noAutofit/>
          </a:bodyPr>
          <a:lstStyle>
            <a:lvl1pPr>
              <a:defRPr lang="en-US" b="1" smtClean="0">
                <a:ln>
                  <a:noFill/>
                </a:ln>
              </a:defRPr>
            </a:lvl1pPr>
            <a:lvl2pPr>
              <a:defRPr lang="en-US" smtClean="0"/>
            </a:lvl2pPr>
            <a:lvl3pPr>
              <a:defRPr lang="en-US" smtClean="0"/>
            </a:lvl3pPr>
            <a:lvl4pPr>
              <a:defRPr lang="en-US" smtClean="0"/>
            </a:lvl4pPr>
            <a:lvl5pPr>
              <a:defRPr lang="en-US"/>
            </a:lvl5pPr>
          </a:lstStyle>
          <a:p>
            <a:pPr lvl="0"/>
            <a:r>
              <a:rPr lang="en-US"/>
              <a:t>Header / Logo 1</a:t>
            </a:r>
          </a:p>
        </p:txBody>
      </p:sp>
      <p:sp>
        <p:nvSpPr>
          <p:cNvPr id="14" name="Text Placeholder 13">
            <a:extLst>
              <a:ext uri="{FF2B5EF4-FFF2-40B4-BE49-F238E27FC236}">
                <a16:creationId xmlns:a16="http://schemas.microsoft.com/office/drawing/2014/main" id="{3A174CE8-FAED-E344-9D43-F895B3880257}"/>
              </a:ext>
            </a:extLst>
          </p:cNvPr>
          <p:cNvSpPr>
            <a:spLocks noGrp="1"/>
          </p:cNvSpPr>
          <p:nvPr>
            <p:ph type="body" sz="quarter" idx="16" hasCustomPrompt="1"/>
          </p:nvPr>
        </p:nvSpPr>
        <p:spPr>
          <a:xfrm>
            <a:off x="3302667" y="5388783"/>
            <a:ext cx="2606040" cy="937260"/>
          </a:xfrm>
        </p:spPr>
        <p:txBody>
          <a:bodyPr vert="horz" lIns="0" tIns="0" rIns="0" bIns="0" rtlCol="0">
            <a:noAutofit/>
          </a:bodyPr>
          <a:lstStyle>
            <a:lvl1pPr>
              <a:defRPr lang="en-US" sz="1125" dirty="0" smtClean="0">
                <a:ln>
                  <a:noFill/>
                </a:ln>
              </a:defRPr>
            </a:lvl1pPr>
            <a:lvl2pPr>
              <a:defRPr lang="en-US" sz="1125" dirty="0" smtClean="0"/>
            </a:lvl2pPr>
            <a:lvl3pPr>
              <a:defRPr lang="en-US" sz="1125" dirty="0" smtClean="0"/>
            </a:lvl3pPr>
            <a:lvl4pPr>
              <a:defRPr lang="en-US" sz="1125" dirty="0" smtClean="0"/>
            </a:lvl4pPr>
            <a:lvl5pPr>
              <a:defRPr lang="en-US" sz="1125" dirty="0"/>
            </a:lvl5pPr>
          </a:lstStyle>
          <a:p>
            <a:pPr lvl="0">
              <a:spcAft>
                <a:spcPts val="1125"/>
              </a:spcAft>
            </a:pPr>
            <a:r>
              <a:rPr lang="en-US"/>
              <a:t>Text Here. Replace header with a logo/icon if needed.</a:t>
            </a:r>
          </a:p>
        </p:txBody>
      </p:sp>
      <p:sp>
        <p:nvSpPr>
          <p:cNvPr id="17" name="Text Placeholder 16">
            <a:extLst>
              <a:ext uri="{FF2B5EF4-FFF2-40B4-BE49-F238E27FC236}">
                <a16:creationId xmlns:a16="http://schemas.microsoft.com/office/drawing/2014/main" id="{90495CBD-86BD-F448-B412-5619D1E08B92}"/>
              </a:ext>
            </a:extLst>
          </p:cNvPr>
          <p:cNvSpPr>
            <a:spLocks noGrp="1"/>
          </p:cNvSpPr>
          <p:nvPr>
            <p:ph type="body" sz="quarter" idx="17" hasCustomPrompt="1"/>
          </p:nvPr>
        </p:nvSpPr>
        <p:spPr>
          <a:xfrm>
            <a:off x="6272657" y="5074920"/>
            <a:ext cx="2601468" cy="228600"/>
          </a:xfrm>
        </p:spPr>
        <p:txBody>
          <a:bodyPr vert="horz" lIns="0" tIns="0" rIns="0" bIns="0" rtlCol="0">
            <a:noAutofit/>
          </a:bodyPr>
          <a:lstStyle>
            <a:lvl1pPr>
              <a:defRPr lang="en-US" b="1" dirty="0" smtClean="0">
                <a:ln>
                  <a:noFill/>
                </a:ln>
              </a:defRPr>
            </a:lvl1pPr>
            <a:lvl2pPr>
              <a:defRPr lang="en-US" dirty="0" smtClean="0"/>
            </a:lvl2pPr>
            <a:lvl3pPr>
              <a:defRPr lang="en-US" dirty="0" smtClean="0"/>
            </a:lvl3pPr>
            <a:lvl4pPr>
              <a:defRPr lang="en-US" dirty="0" smtClean="0"/>
            </a:lvl4pPr>
            <a:lvl5pPr>
              <a:defRPr lang="en-US" dirty="0"/>
            </a:lvl5pPr>
          </a:lstStyle>
          <a:p>
            <a:pPr lvl="0"/>
            <a:r>
              <a:rPr lang="en-US"/>
              <a:t>Header / Logo 2</a:t>
            </a:r>
          </a:p>
        </p:txBody>
      </p:sp>
      <p:sp>
        <p:nvSpPr>
          <p:cNvPr id="19" name="Text Placeholder 18">
            <a:extLst>
              <a:ext uri="{FF2B5EF4-FFF2-40B4-BE49-F238E27FC236}">
                <a16:creationId xmlns:a16="http://schemas.microsoft.com/office/drawing/2014/main" id="{C019A4AC-BDD1-5E47-B147-29012BDE337D}"/>
              </a:ext>
            </a:extLst>
          </p:cNvPr>
          <p:cNvSpPr>
            <a:spLocks noGrp="1"/>
          </p:cNvSpPr>
          <p:nvPr>
            <p:ph type="body" sz="quarter" idx="18" hasCustomPrompt="1"/>
          </p:nvPr>
        </p:nvSpPr>
        <p:spPr>
          <a:xfrm>
            <a:off x="6272784" y="5387404"/>
            <a:ext cx="2606040" cy="937260"/>
          </a:xfrm>
        </p:spPr>
        <p:txBody>
          <a:bodyPr vert="horz" lIns="0" tIns="0" rIns="0" bIns="0" rtlCol="0">
            <a:noAutofit/>
          </a:bodyPr>
          <a:lstStyle>
            <a:lvl1pPr>
              <a:defRPr lang="en-US" sz="1125" dirty="0" smtClean="0">
                <a:ln>
                  <a:noFill/>
                </a:ln>
              </a:defRPr>
            </a:lvl1pPr>
            <a:lvl2pPr>
              <a:defRPr lang="en-US" sz="1125" dirty="0" smtClean="0"/>
            </a:lvl2pPr>
            <a:lvl3pPr>
              <a:defRPr lang="en-US" sz="1125" dirty="0" smtClean="0"/>
            </a:lvl3pPr>
            <a:lvl4pPr>
              <a:defRPr lang="en-US" sz="1125" dirty="0" smtClean="0"/>
            </a:lvl4pPr>
            <a:lvl5pPr>
              <a:defRPr lang="en-US" sz="1125" dirty="0"/>
            </a:lvl5pPr>
          </a:lstStyle>
          <a:p>
            <a:pPr lvl="0">
              <a:spcAft>
                <a:spcPts val="1125"/>
              </a:spcAft>
            </a:pPr>
            <a:r>
              <a:rPr lang="en-US"/>
              <a:t>Text Here. Replace header with a logo/icon if needed.</a:t>
            </a:r>
          </a:p>
        </p:txBody>
      </p:sp>
      <p:sp>
        <p:nvSpPr>
          <p:cNvPr id="21" name="Text Placeholder 20">
            <a:extLst>
              <a:ext uri="{FF2B5EF4-FFF2-40B4-BE49-F238E27FC236}">
                <a16:creationId xmlns:a16="http://schemas.microsoft.com/office/drawing/2014/main" id="{23F25846-6125-3043-A992-08E3E149E901}"/>
              </a:ext>
            </a:extLst>
          </p:cNvPr>
          <p:cNvSpPr>
            <a:spLocks noGrp="1"/>
          </p:cNvSpPr>
          <p:nvPr>
            <p:ph type="body" sz="quarter" idx="19" hasCustomPrompt="1"/>
          </p:nvPr>
        </p:nvSpPr>
        <p:spPr>
          <a:xfrm>
            <a:off x="9225725" y="5074920"/>
            <a:ext cx="2601468" cy="228600"/>
          </a:xfrm>
        </p:spPr>
        <p:txBody>
          <a:bodyPr vert="horz" lIns="0" tIns="0" rIns="0" bIns="0" rtlCol="0">
            <a:noAutofit/>
          </a:bodyPr>
          <a:lstStyle>
            <a:lvl1pPr>
              <a:defRPr lang="en-US" b="1" smtClean="0">
                <a:ln>
                  <a:noFill/>
                </a:ln>
              </a:defRPr>
            </a:lvl1pPr>
            <a:lvl2pPr>
              <a:defRPr lang="en-US" smtClean="0"/>
            </a:lvl2pPr>
            <a:lvl3pPr>
              <a:defRPr lang="en-US" smtClean="0"/>
            </a:lvl3pPr>
            <a:lvl4pPr>
              <a:defRPr lang="en-US" smtClean="0"/>
            </a:lvl4pPr>
            <a:lvl5pPr>
              <a:defRPr lang="en-US"/>
            </a:lvl5pPr>
          </a:lstStyle>
          <a:p>
            <a:pPr lvl="0"/>
            <a:r>
              <a:rPr lang="en-US"/>
              <a:t>Header / Logo 3</a:t>
            </a:r>
          </a:p>
        </p:txBody>
      </p:sp>
      <p:sp>
        <p:nvSpPr>
          <p:cNvPr id="23" name="Text Placeholder 22">
            <a:extLst>
              <a:ext uri="{FF2B5EF4-FFF2-40B4-BE49-F238E27FC236}">
                <a16:creationId xmlns:a16="http://schemas.microsoft.com/office/drawing/2014/main" id="{95B46F53-F64E-AC4D-B9A3-A430265FFAD6}"/>
              </a:ext>
            </a:extLst>
          </p:cNvPr>
          <p:cNvSpPr>
            <a:spLocks noGrp="1"/>
          </p:cNvSpPr>
          <p:nvPr>
            <p:ph type="body" sz="quarter" idx="20" hasCustomPrompt="1"/>
          </p:nvPr>
        </p:nvSpPr>
        <p:spPr>
          <a:xfrm>
            <a:off x="9226296" y="5390388"/>
            <a:ext cx="2606040" cy="937260"/>
          </a:xfrm>
        </p:spPr>
        <p:txBody>
          <a:bodyPr vert="horz" lIns="0" tIns="0" rIns="0" bIns="0" rtlCol="0">
            <a:noAutofit/>
          </a:bodyPr>
          <a:lstStyle>
            <a:lvl1pPr>
              <a:defRPr lang="en-US" sz="1125" smtClean="0">
                <a:ln>
                  <a:noFill/>
                </a:ln>
              </a:defRPr>
            </a:lvl1pPr>
            <a:lvl2pPr>
              <a:defRPr lang="en-US" sz="1125" smtClean="0"/>
            </a:lvl2pPr>
            <a:lvl3pPr>
              <a:defRPr lang="en-US" sz="1125" smtClean="0"/>
            </a:lvl3pPr>
            <a:lvl4pPr>
              <a:defRPr lang="en-US" sz="1125" smtClean="0"/>
            </a:lvl4pPr>
            <a:lvl5pPr>
              <a:defRPr lang="en-US" sz="1125"/>
            </a:lvl5pPr>
          </a:lstStyle>
          <a:p>
            <a:pPr lvl="0">
              <a:spcAft>
                <a:spcPts val="1125"/>
              </a:spcAft>
            </a:pPr>
            <a:r>
              <a:rPr lang="en-US"/>
              <a:t>Text Here. Replace header with a logo/icon if needed.</a:t>
            </a:r>
          </a:p>
        </p:txBody>
      </p:sp>
      <p:sp>
        <p:nvSpPr>
          <p:cNvPr id="24" name="Freeform 5">
            <a:extLst>
              <a:ext uri="{FF2B5EF4-FFF2-40B4-BE49-F238E27FC236}">
                <a16:creationId xmlns:a16="http://schemas.microsoft.com/office/drawing/2014/main" id="{348EC69C-A083-3247-99EE-F0491CBBF240}"/>
              </a:ext>
            </a:extLst>
          </p:cNvPr>
          <p:cNvSpPr>
            <a:spLocks noEditPoints="1"/>
          </p:cNvSpPr>
          <p:nvPr userDrawn="1"/>
        </p:nvSpPr>
        <p:spPr bwMode="auto">
          <a:xfrm>
            <a:off x="363576" y="6454886"/>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45720" tIns="22860" rIns="45720" bIns="22860" numCol="1" anchor="t" anchorCtr="0" compatLnSpc="1">
            <a:prstTxWarp prst="textNoShape">
              <a:avLst/>
            </a:prstTxWarp>
          </a:bodyPr>
          <a:lstStyle/>
          <a:p>
            <a:endParaRPr lang="en-US" sz="450">
              <a:ln>
                <a:noFill/>
              </a:ln>
            </a:endParaRPr>
          </a:p>
        </p:txBody>
      </p:sp>
    </p:spTree>
    <p:extLst>
      <p:ext uri="{BB962C8B-B14F-4D97-AF65-F5344CB8AC3E}">
        <p14:creationId xmlns:p14="http://schemas.microsoft.com/office/powerpoint/2010/main" val="324890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500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50000">
                                          <p:cBhvr additive="base">
                                            <p:cTn id="7" dur="500" fill="hold"/>
                                            <p:tgtEl>
                                              <p:spTgt spid="2"/>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Image Title 0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5A85A06-2F38-EF44-A887-B19E66BB54AB}"/>
              </a:ext>
            </a:extLst>
          </p:cNvPr>
          <p:cNvSpPr>
            <a:spLocks noGrp="1"/>
          </p:cNvSpPr>
          <p:nvPr>
            <p:ph type="pic" sz="quarter" idx="11"/>
          </p:nvPr>
        </p:nvSpPr>
        <p:spPr>
          <a:xfrm>
            <a:off x="4610100" y="0"/>
            <a:ext cx="7578852" cy="6858000"/>
          </a:xfrm>
          <a:solidFill>
            <a:schemeClr val="bg1">
              <a:lumMod val="75000"/>
            </a:schemeClr>
          </a:solidFill>
        </p:spPr>
        <p:txBody>
          <a:bodyPr/>
          <a:lstStyle>
            <a:lvl1pPr>
              <a:defRPr>
                <a:ln>
                  <a:noFill/>
                </a:ln>
              </a:defRPr>
            </a:lvl1pPr>
          </a:lstStyle>
          <a:p>
            <a:endParaRPr lang="en-US"/>
          </a:p>
        </p:txBody>
      </p:sp>
      <p:sp>
        <p:nvSpPr>
          <p:cNvPr id="2" name="Title 1"/>
          <p:cNvSpPr>
            <a:spLocks noGrp="1"/>
          </p:cNvSpPr>
          <p:nvPr>
            <p:ph type="ctrTitle" hasCustomPrompt="1"/>
          </p:nvPr>
        </p:nvSpPr>
        <p:spPr>
          <a:xfrm>
            <a:off x="324612" y="278892"/>
            <a:ext cx="4114038" cy="2157984"/>
          </a:xfrm>
        </p:spPr>
        <p:txBody>
          <a:bodyPr anchor="b" anchorCtr="0">
            <a:noAutofit/>
          </a:bodyPr>
          <a:lstStyle>
            <a:lvl1pPr algn="l" fontAlgn="b">
              <a:lnSpc>
                <a:spcPct val="112000"/>
              </a:lnSpc>
              <a:defRPr sz="4500">
                <a:ln w="190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338328" y="2514600"/>
            <a:ext cx="4100322" cy="1152144"/>
          </a:xfrm>
        </p:spPr>
        <p:txBody>
          <a:bodyPr vert="horz" lIns="0" tIns="0" rIns="0" bIns="0" rtlCol="0" anchor="t">
            <a:noAutofit/>
          </a:bodyPr>
          <a:lstStyle>
            <a:lvl1pPr>
              <a:defRPr lang="en-US" sz="2625">
                <a:ln w="1270">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347472" y="4901184"/>
            <a:ext cx="4091178" cy="790956"/>
          </a:xfrm>
        </p:spPr>
        <p:txBody>
          <a:bodyPr>
            <a:noAutofit/>
          </a:bodyPr>
          <a:lstStyle>
            <a:lvl1pPr marL="0" indent="0">
              <a:spcBef>
                <a:spcPts val="0"/>
              </a:spcBef>
              <a:buNone/>
              <a:defRPr>
                <a:ln>
                  <a:noFill/>
                </a:ln>
              </a:defRPr>
            </a:lvl1pPr>
          </a:lstStyle>
          <a:p>
            <a:pPr lvl="0"/>
            <a:r>
              <a:rPr lang="en-US"/>
              <a:t>Name goes here</a:t>
            </a:r>
            <a:br>
              <a:rPr lang="en-US"/>
            </a:br>
            <a:r>
              <a:rPr lang="en-US"/>
              <a:t>Position goes here</a:t>
            </a:r>
          </a:p>
        </p:txBody>
      </p:sp>
      <p:pic>
        <p:nvPicPr>
          <p:cNvPr id="7" name="Picture 6">
            <a:extLst>
              <a:ext uri="{FF2B5EF4-FFF2-40B4-BE49-F238E27FC236}">
                <a16:creationId xmlns:a16="http://schemas.microsoft.com/office/drawing/2014/main" id="{B4866BA3-BB3A-4529-B6CC-115C8BB85115}"/>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46491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85514307"/>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71FBEB87-5B79-FA3A-DF07-6F47FF0D95EE}"/>
              </a:ext>
            </a:extLst>
          </p:cNvPr>
          <p:cNvSpPr/>
          <p:nvPr userDrawn="1"/>
        </p:nvSpPr>
        <p:spPr>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Tree>
    <p:extLst>
      <p:ext uri="{BB962C8B-B14F-4D97-AF65-F5344CB8AC3E}">
        <p14:creationId xmlns:p14="http://schemas.microsoft.com/office/powerpoint/2010/main" val="38471934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dirty="0"/>
              <a:t>Subtitle or callout if needed, all titles and subtitles are sentence case </a:t>
            </a:r>
          </a:p>
        </p:txBody>
      </p:sp>
    </p:spTree>
    <p:extLst>
      <p:ext uri="{BB962C8B-B14F-4D97-AF65-F5344CB8AC3E}">
        <p14:creationId xmlns:p14="http://schemas.microsoft.com/office/powerpoint/2010/main" val="3066093513"/>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517818497"/>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099572509"/>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26029514"/>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9138594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637971528"/>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GB"/>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4639960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408279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GB"/>
              <a:t>Click to edit Master title style</a:t>
            </a:r>
            <a:endParaRPr lang="en-US" dirty="0"/>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58978191"/>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2" name="Picture 1">
            <a:extLst>
              <a:ext uri="{FF2B5EF4-FFF2-40B4-BE49-F238E27FC236}">
                <a16:creationId xmlns:a16="http://schemas.microsoft.com/office/drawing/2014/main" id="{2C50F812-03D7-D910-2BE7-77BA6FA475E7}"/>
              </a:ext>
            </a:extLst>
          </p:cNvPr>
          <p:cNvPicPr>
            <a:picLocks noChangeAspect="1"/>
          </p:cNvPicPr>
          <p:nvPr userDrawn="1"/>
        </p:nvPicPr>
        <p:blipFill>
          <a:blip r:embed="rId3"/>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7185284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36588792"/>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2" name="Picture 1">
            <a:extLst>
              <a:ext uri="{FF2B5EF4-FFF2-40B4-BE49-F238E27FC236}">
                <a16:creationId xmlns:a16="http://schemas.microsoft.com/office/drawing/2014/main" id="{7E3E0D2F-03E5-02A3-599B-86BE2AA69FAA}"/>
              </a:ext>
            </a:extLst>
          </p:cNvPr>
          <p:cNvPicPr>
            <a:picLocks noChangeAspect="1"/>
          </p:cNvPicPr>
          <p:nvPr userDrawn="1"/>
        </p:nvPicPr>
        <p:blipFill>
          <a:blip r:embed="rId3"/>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45259310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2" name="Picture 1">
            <a:extLst>
              <a:ext uri="{FF2B5EF4-FFF2-40B4-BE49-F238E27FC236}">
                <a16:creationId xmlns:a16="http://schemas.microsoft.com/office/drawing/2014/main" id="{79A8E892-031A-9F24-A623-603C5989656B}"/>
              </a:ext>
            </a:extLst>
          </p:cNvPr>
          <p:cNvPicPr>
            <a:picLocks noChangeAspect="1"/>
          </p:cNvPicPr>
          <p:nvPr userDrawn="1"/>
        </p:nvPicPr>
        <p:blipFill>
          <a:blip r:embed="rId3"/>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0118349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GB"/>
              <a:t>Click to edit Master title style</a:t>
            </a:r>
            <a:endParaRPr lang="en-US" dirty="0"/>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03586972"/>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110255298"/>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246133311"/>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366236312"/>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3" name="Freeform 5">
            <a:extLst>
              <a:ext uri="{FF2B5EF4-FFF2-40B4-BE49-F238E27FC236}">
                <a16:creationId xmlns:a16="http://schemas.microsoft.com/office/drawing/2014/main" id="{CF993681-4306-8218-D551-85F4AB7B6DB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7550396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76916205"/>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3387009496"/>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478110696"/>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549928440"/>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2" name="Freeform 5">
            <a:extLst>
              <a:ext uri="{FF2B5EF4-FFF2-40B4-BE49-F238E27FC236}">
                <a16:creationId xmlns:a16="http://schemas.microsoft.com/office/drawing/2014/main" id="{D9327E16-EEA9-5161-B6FF-49B3E1F9525A}"/>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40815004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7356963"/>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2" name="Freeform 5">
            <a:extLst>
              <a:ext uri="{FF2B5EF4-FFF2-40B4-BE49-F238E27FC236}">
                <a16:creationId xmlns:a16="http://schemas.microsoft.com/office/drawing/2014/main" id="{4BEF58CE-0700-A5CC-0002-A3D8D084629C}"/>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13098414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2" name="Freeform 5">
            <a:extLst>
              <a:ext uri="{FF2B5EF4-FFF2-40B4-BE49-F238E27FC236}">
                <a16:creationId xmlns:a16="http://schemas.microsoft.com/office/drawing/2014/main" id="{9CECA73E-63FF-9AE2-7363-4C2127106487}"/>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0423539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dirty="0"/>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
        <p:nvSpPr>
          <p:cNvPr id="2" name="Freeform 5">
            <a:extLst>
              <a:ext uri="{FF2B5EF4-FFF2-40B4-BE49-F238E27FC236}">
                <a16:creationId xmlns:a16="http://schemas.microsoft.com/office/drawing/2014/main" id="{12E0757C-CC51-5F96-2C2D-9DBBD3CAF1F3}"/>
              </a:ext>
            </a:extLst>
          </p:cNvPr>
          <p:cNvSpPr>
            <a:spLocks noEditPoints="1"/>
          </p:cNvSpPr>
          <p:nvPr userDrawn="1"/>
        </p:nvSpPr>
        <p:spPr bwMode="auto">
          <a:xfrm>
            <a:off x="363577" y="6454887"/>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450" dirty="0"/>
          </a:p>
        </p:txBody>
      </p:sp>
    </p:spTree>
    <p:extLst>
      <p:ext uri="{BB962C8B-B14F-4D97-AF65-F5344CB8AC3E}">
        <p14:creationId xmlns:p14="http://schemas.microsoft.com/office/powerpoint/2010/main" val="3371761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4612" y="278892"/>
            <a:ext cx="5771388" cy="2157984"/>
          </a:xfrm>
        </p:spPr>
        <p:txBody>
          <a:bodyPr anchor="b" anchorCtr="0">
            <a:noAutofit/>
          </a:bodyPr>
          <a:lstStyle>
            <a:lvl1pPr algn="l" fontAlgn="b">
              <a:lnSpc>
                <a:spcPct val="112000"/>
              </a:lnSpc>
              <a:defRPr sz="45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338328" y="2514601"/>
            <a:ext cx="5757672" cy="1153319"/>
          </a:xfrm>
        </p:spPr>
        <p:txBody>
          <a:bodyPr vert="horz" lIns="0" tIns="0" rIns="0" bIns="0" rtlCol="0" anchor="t">
            <a:noAutofit/>
          </a:bodyPr>
          <a:lstStyle>
            <a:lvl1pPr marL="0" indent="0">
              <a:buNone/>
              <a:defRPr lang="en-US" sz="2625"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347472" y="4901185"/>
            <a:ext cx="5748528" cy="790575"/>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7078981" y="1"/>
            <a:ext cx="5113020" cy="6859631"/>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450" dirty="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9081369" y="6581001"/>
            <a:ext cx="1215025" cy="276999"/>
          </a:xfrm>
          <a:prstGeom prst="rect">
            <a:avLst/>
          </a:prstGeom>
          <a:noFill/>
        </p:spPr>
        <p:txBody>
          <a:bodyPr wrap="square" rtlCol="0">
            <a:spAutoFit/>
          </a:bodyPr>
          <a:lstStyle/>
          <a:p>
            <a:pPr algn="l"/>
            <a:r>
              <a:rPr lang="en-US" sz="1200" dirty="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922258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Single Column - Simple with Sub">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509701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5143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1743960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561136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2420298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p>
            <a:r>
              <a:rPr lang="en-US"/>
              <a:t>Click to edit Master title style</a:t>
            </a:r>
          </a:p>
        </p:txBody>
      </p:sp>
    </p:spTree>
    <p:extLst>
      <p:ext uri="{BB962C8B-B14F-4D97-AF65-F5344CB8AC3E}">
        <p14:creationId xmlns:p14="http://schemas.microsoft.com/office/powerpoint/2010/main" val="299158213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1" y="1842516"/>
            <a:ext cx="2618253" cy="1138428"/>
          </a:xfrm>
        </p:spPr>
        <p:txBody>
          <a:bodyPr vert="horz" lIns="0" tIns="0" rIns="0" bIns="0" rtlCol="0">
            <a:noAutofit/>
          </a:bodyPr>
          <a:lstStyle>
            <a:lvl1pPr>
              <a:defRPr lang="en-US" sz="1875"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8020050" y="312484"/>
            <a:ext cx="3809492" cy="6176772"/>
          </a:xfrm>
        </p:spPr>
        <p:txBody>
          <a:bodyPr vert="horz" lIns="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dirty="0"/>
          </a:p>
        </p:txBody>
      </p:sp>
    </p:spTree>
    <p:extLst>
      <p:ext uri="{BB962C8B-B14F-4D97-AF65-F5344CB8AC3E}">
        <p14:creationId xmlns:p14="http://schemas.microsoft.com/office/powerpoint/2010/main" val="11926236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152775" y="2416705"/>
            <a:ext cx="8591550" cy="4079346"/>
          </a:xfrm>
        </p:spPr>
        <p:txBody>
          <a:bodyPr/>
          <a:lstStyle/>
          <a:p>
            <a:r>
              <a:rPr lang="en-US" dirty="0"/>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1344689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3388832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dirty="0"/>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21173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4191000" y="6500158"/>
            <a:ext cx="2873446" cy="243205"/>
          </a:xfrm>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4191000" y="310896"/>
            <a:ext cx="76276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sz="1600"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sz="1600"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sz="1600"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sz="1600"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sz="1600"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1140245"/>
          </a:xfrm>
        </p:spPr>
        <p:txBody>
          <a:bodyPr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2646062"/>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93209"/>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29331436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1_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dirty="0"/>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3238500" y="6500158"/>
            <a:ext cx="2759146" cy="243205"/>
          </a:xfrm>
        </p:spPr>
        <p:txBody>
          <a:bodyPr/>
          <a:lstStyle>
            <a:lvl1pPr>
              <a:defRPr>
                <a:solidFill>
                  <a:schemeClr val="bg1"/>
                </a:solidFill>
              </a:defRPr>
            </a:lvl1pPr>
          </a:lstStyle>
          <a:p>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345082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_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3238500" y="6500158"/>
            <a:ext cx="2823916" cy="243205"/>
          </a:xfrm>
        </p:spPr>
        <p:txBody>
          <a:bodyPr lIns="365760"/>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8972550" y="310896"/>
            <a:ext cx="285750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smtClean="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smtClean="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smtClean="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smtClean="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678003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_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607712"/>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9363681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1_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99430700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260504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876302"/>
            <a:ext cx="2666962" cy="292332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014620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260504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1584902"/>
            <a:ext cx="2666962" cy="292332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91690897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60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60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60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60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60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81394785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1800" b="0" i="0" u="none" strike="noStrike" kern="1200" cap="none" spc="0" normalizeH="0" baseline="0" noProof="0" dirty="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4074"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7894270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8972550" y="0"/>
            <a:ext cx="3219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6176772"/>
          </a:xfrm>
        </p:spPr>
        <p:txBody>
          <a:bodyPr vert="horz" lIns="0" tIns="0" rIns="0" bIns="0" rtlCol="0">
            <a:noAutofit/>
          </a:bodyPr>
          <a:lstStyle>
            <a:lvl1pPr>
              <a:lnSpc>
                <a:spcPct val="110000"/>
              </a:lnSpc>
              <a:defRPr lang="en-US" sz="2625" dirty="0">
                <a:ln w="3175">
                  <a:noFill/>
                </a:ln>
                <a:solidFill>
                  <a:schemeClr val="bg1"/>
                </a:solidFill>
              </a:defRPr>
            </a:lvl1pPr>
          </a:lstStyle>
          <a:p>
            <a:pPr lvl="0" fontAlgn="base">
              <a:spcAft>
                <a:spcPts val="2625"/>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361951" y="200026"/>
            <a:ext cx="8467725" cy="4752975"/>
          </a:xfrm>
        </p:spPr>
        <p:txBody>
          <a:bodyPr lIns="0"/>
          <a:lstStyle>
            <a:lvl1pPr marL="0" indent="0">
              <a:buFont typeface="Arial" panose="020B0604020202020204" pitchFamily="34" charset="0"/>
              <a:buNone/>
              <a:defRPr lang="en-US" sz="6750" kern="1200"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579605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8972550" y="0"/>
            <a:ext cx="321945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292609" y="196596"/>
            <a:ext cx="8596049" cy="5244314"/>
          </a:xfrm>
          <a:ln w="12700">
            <a:noFill/>
          </a:ln>
        </p:spPr>
        <p:txBody>
          <a:bodyPr vert="horz" lIns="0" tIns="0" rIns="0" bIns="0" rtlCol="0" anchor="t" anchorCtr="0">
            <a:noAutofit/>
          </a:bodyPr>
          <a:lstStyle>
            <a:lvl1pPr marL="0" indent="0">
              <a:buNone/>
              <a:defRPr lang="en-US" sz="6750" i="1"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6176772"/>
          </a:xfrm>
        </p:spPr>
        <p:txBody>
          <a:bodyPr vert="horz" lIns="0" tIns="0" rIns="0" bIns="0" rtlCol="0">
            <a:noAutofit/>
          </a:bodyPr>
          <a:lstStyle>
            <a:lvl1pPr>
              <a:lnSpc>
                <a:spcPct val="110000"/>
              </a:lnSpc>
              <a:spcBef>
                <a:spcPts val="0"/>
              </a:spcBef>
              <a:spcAft>
                <a:spcPts val="2625"/>
              </a:spcAft>
              <a:defRPr lang="en-US" sz="2625"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345387" y="5407018"/>
            <a:ext cx="8553450" cy="400050"/>
          </a:xfrm>
        </p:spPr>
        <p:txBody>
          <a:bodyPr vert="horz" lIns="0" tIns="0" rIns="0" bIns="0" rtlCol="0">
            <a:noAutofit/>
          </a:bodyPr>
          <a:lstStyle>
            <a:lvl1pPr marL="0" indent="0">
              <a:buNone/>
              <a:defRPr lang="en-US" sz="1875" smtClean="0">
                <a:solidFill>
                  <a:schemeClr val="tx1"/>
                </a:solidFill>
              </a:defRPr>
            </a:lvl1pPr>
            <a:lvl2pPr>
              <a:defRPr lang="en-US" smtClean="0"/>
            </a:lvl2pPr>
            <a:lvl3pPr>
              <a:defRPr lang="en-US" smtClean="0"/>
            </a:lvl3pPr>
            <a:lvl4pPr>
              <a:defRPr lang="en-US" smtClean="0"/>
            </a:lvl4pPr>
            <a:lvl5pPr>
              <a:defRPr lang="en-US"/>
            </a:lvl5pPr>
          </a:lstStyle>
          <a:p>
            <a:pPr marL="142875" lvl="0" indent="-142875"/>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86920461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6385451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09382560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6096000" cy="3429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37199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96470610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1"/>
            <a:ext cx="6096000" cy="1905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5587400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1138428"/>
          </a:xfrm>
        </p:spPr>
        <p:txBody>
          <a:bodyPr vert="horz" lIns="0" tIns="0" rIns="0" bIns="0" rtlCol="0">
            <a:noAutofit/>
          </a:bodyPr>
          <a:lstStyle>
            <a:lvl1pPr>
              <a:defRPr lang="en-US" sz="1875"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2868613"/>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66648573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1138428"/>
          </a:xfrm>
        </p:spPr>
        <p:txBody>
          <a:bodyPr vert="horz" lIns="0" tIns="0" rIns="0" bIns="0" rtlCol="0">
            <a:noAutofit/>
          </a:bodyPr>
          <a:lstStyle>
            <a:lvl1pPr>
              <a:defRPr lang="en-US" sz="1875"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dirty="0"/>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64780406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38428"/>
          </a:xfrm>
        </p:spPr>
        <p:txBody>
          <a:bodyPr vert="horz" lIns="0" tIns="0" rIns="0" bIns="0" rtlCol="0">
            <a:noAutofit/>
          </a:bodyPr>
          <a:lstStyle>
            <a:lvl1pPr>
              <a:defRPr lang="en-US" sz="1875"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6176772"/>
          </a:xfrm>
        </p:spPr>
        <p:txBody>
          <a:bodyPr vert="horz" lIns="0" tIns="0" rIns="0" bIns="0" rtlCol="0">
            <a:noAutofit/>
          </a:bodyPr>
          <a:lstStyle>
            <a:lvl1pPr marL="142875" marR="0" indent="-142875"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67210285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slide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84302349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8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slide to add picture</a:t>
            </a:r>
          </a:p>
          <a:p>
            <a:endParaRPr lang="en-US" dirty="0"/>
          </a:p>
          <a:p>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255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3791608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32385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59909567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99264845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0532887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1"/>
            <a:ext cx="6096000"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73907630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slide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74680013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slide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4074"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24690385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38705845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04226960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53243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528905"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24356709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1"/>
            <a:ext cx="6096000" cy="190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58140524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00578565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8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255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4190077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25" dirty="0">
                <a:ln>
                  <a:noFill/>
                </a:ln>
                <a:solidFill>
                  <a:schemeClr val="bg1"/>
                </a:solidFill>
              </a:defRPr>
            </a:lvl1pPr>
          </a:lstStyle>
          <a:p>
            <a:pPr lvl="0"/>
            <a:r>
              <a:rPr lang="en-US"/>
              <a:t>All titles/subtitles are sentence case</a:t>
            </a:r>
          </a:p>
        </p:txBody>
      </p:sp>
      <p:sp>
        <p:nvSpPr>
          <p:cNvPr id="5" name="Freeform 5">
            <a:extLst>
              <a:ext uri="{FF2B5EF4-FFF2-40B4-BE49-F238E27FC236}">
                <a16:creationId xmlns:a16="http://schemas.microsoft.com/office/drawing/2014/main" id="{A873D064-BA24-E649-9F0F-2FF783251544}"/>
              </a:ext>
            </a:extLst>
          </p:cNvPr>
          <p:cNvSpPr>
            <a:spLocks noEditPoints="1"/>
          </p:cNvSpPr>
          <p:nvPr userDrawn="1"/>
        </p:nvSpPr>
        <p:spPr bwMode="auto">
          <a:xfrm>
            <a:off x="363577" y="6454887"/>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450" dirty="0"/>
          </a:p>
        </p:txBody>
      </p:sp>
    </p:spTree>
    <p:extLst>
      <p:ext uri="{BB962C8B-B14F-4D97-AF65-F5344CB8AC3E}">
        <p14:creationId xmlns:p14="http://schemas.microsoft.com/office/powerpoint/2010/main" val="104189957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8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 020 8734 2600  </a:t>
            </a:r>
            <a:br>
              <a:rPr lang="en-US" sz="1500" dirty="0">
                <a:solidFill>
                  <a:schemeClr val="tx1"/>
                </a:solidFill>
              </a:rPr>
            </a:br>
            <a:r>
              <a:rPr lang="en-US" sz="1500" dirty="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2019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sp>
        <p:nvSpPr>
          <p:cNvPr id="7" name="Title 1">
            <a:extLst>
              <a:ext uri="{FF2B5EF4-FFF2-40B4-BE49-F238E27FC236}">
                <a16:creationId xmlns:a16="http://schemas.microsoft.com/office/drawing/2014/main" id="{4DD936F8-5B87-2F45-AA3C-23548A343CCB}"/>
              </a:ext>
            </a:extLst>
          </p:cNvPr>
          <p:cNvSpPr txBox="1">
            <a:spLocks/>
          </p:cNvSpPr>
          <p:nvPr userDrawn="1"/>
        </p:nvSpPr>
        <p:spPr>
          <a:xfrm>
            <a:off x="297657" y="140639"/>
            <a:ext cx="5693568" cy="781051"/>
          </a:xfrm>
          <a:prstGeom prst="rect">
            <a:avLst/>
          </a:prstGeom>
          <a:ln w="12700">
            <a:noFill/>
          </a:ln>
        </p:spPr>
        <p:txBody>
          <a:bodyPr vert="horz" lIns="0" tIns="0" rIns="0" bIns="0" rtlCol="0" anchor="t" anchorCtr="0">
            <a:no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50" kern="1200" dirty="0">
                <a:ln w="9525">
                  <a:noFill/>
                </a:ln>
                <a:solidFill>
                  <a:schemeClr val="bg1"/>
                </a:solidFill>
                <a:latin typeface="+mj-lt"/>
                <a:ea typeface="+mj-ea"/>
                <a:cs typeface="+mj-cs"/>
              </a:rPr>
              <a:t>Thank you</a:t>
            </a:r>
          </a:p>
        </p:txBody>
      </p:sp>
      <p:sp>
        <p:nvSpPr>
          <p:cNvPr id="8" name="Freeform 5">
            <a:extLst>
              <a:ext uri="{FF2B5EF4-FFF2-40B4-BE49-F238E27FC236}">
                <a16:creationId xmlns:a16="http://schemas.microsoft.com/office/drawing/2014/main" id="{0B1B1FF8-F883-5740-B513-124DC7FE3912}"/>
              </a:ext>
            </a:extLst>
          </p:cNvPr>
          <p:cNvSpPr>
            <a:spLocks noEditPoints="1"/>
          </p:cNvSpPr>
          <p:nvPr userDrawn="1"/>
        </p:nvSpPr>
        <p:spPr bwMode="auto">
          <a:xfrm>
            <a:off x="363577" y="6454887"/>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450" dirty="0"/>
          </a:p>
        </p:txBody>
      </p:sp>
    </p:spTree>
    <p:extLst>
      <p:ext uri="{BB962C8B-B14F-4D97-AF65-F5344CB8AC3E}">
        <p14:creationId xmlns:p14="http://schemas.microsoft.com/office/powerpoint/2010/main" val="268564255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90547985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1309806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GB"/>
              <a:t>Click to edit Master title style</a:t>
            </a:r>
            <a:endParaRPr lang="en-US" dirty="0"/>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969348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dirty="0"/>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99189891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GB"/>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42963588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61138367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3228113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3" name="Picture 2">
            <a:extLst>
              <a:ext uri="{FF2B5EF4-FFF2-40B4-BE49-F238E27FC236}">
                <a16:creationId xmlns:a16="http://schemas.microsoft.com/office/drawing/2014/main" id="{584D6BBB-8B3E-F84A-B277-B88C35D2A732}"/>
              </a:ext>
            </a:extLst>
          </p:cNvPr>
          <p:cNvPicPr>
            <a:picLocks noChangeAspect="1"/>
          </p:cNvPicPr>
          <p:nvPr userDrawn="1"/>
        </p:nvPicPr>
        <p:blipFill rotWithShape="1">
          <a:blip r:embed="rId3"/>
          <a:srcRect l="2678" r="9374" b="52081"/>
          <a:stretch/>
        </p:blipFill>
        <p:spPr>
          <a:xfrm rot="16200000">
            <a:off x="7539776" y="2205774"/>
            <a:ext cx="6858001" cy="2446450"/>
          </a:xfrm>
          <a:prstGeom prst="rect">
            <a:avLst/>
          </a:prstGeom>
        </p:spPr>
      </p:pic>
    </p:spTree>
    <p:extLst>
      <p:ext uri="{BB962C8B-B14F-4D97-AF65-F5344CB8AC3E}">
        <p14:creationId xmlns:p14="http://schemas.microsoft.com/office/powerpoint/2010/main" val="212504831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GB"/>
              <a:t>Click to edit Master title style</a:t>
            </a:r>
            <a:endParaRPr lang="en-US" dirty="0"/>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362620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428407317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1358900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15255530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19088692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96609177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8285909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68708508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157564754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9127052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75418193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8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020 8734 2600  </a:t>
            </a:r>
            <a:br>
              <a:rPr lang="en-US" sz="1500" dirty="0">
                <a:solidFill>
                  <a:schemeClr val="tx1"/>
                </a:solidFill>
              </a:rPr>
            </a:br>
            <a:r>
              <a:rPr lang="en-US" sz="1500" dirty="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29805663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35956110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4351826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57317162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2700497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70.xml"/><Relationship Id="rId21" Type="http://schemas.openxmlformats.org/officeDocument/2006/relationships/slideLayout" Target="../slideLayouts/slideLayout65.xml"/><Relationship Id="rId42" Type="http://schemas.openxmlformats.org/officeDocument/2006/relationships/slideLayout" Target="../slideLayouts/slideLayout86.xml"/><Relationship Id="rId47" Type="http://schemas.openxmlformats.org/officeDocument/2006/relationships/slideLayout" Target="../slideLayouts/slideLayout91.xml"/><Relationship Id="rId63" Type="http://schemas.openxmlformats.org/officeDocument/2006/relationships/slideLayout" Target="../slideLayouts/slideLayout107.xml"/><Relationship Id="rId68" Type="http://schemas.openxmlformats.org/officeDocument/2006/relationships/slideLayout" Target="../slideLayouts/slideLayout112.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slideLayout" Target="../slideLayouts/slideLayout89.xml"/><Relationship Id="rId53" Type="http://schemas.openxmlformats.org/officeDocument/2006/relationships/slideLayout" Target="../slideLayouts/slideLayout97.xml"/><Relationship Id="rId58" Type="http://schemas.openxmlformats.org/officeDocument/2006/relationships/slideLayout" Target="../slideLayouts/slideLayout102.xml"/><Relationship Id="rId66" Type="http://schemas.openxmlformats.org/officeDocument/2006/relationships/slideLayout" Target="../slideLayouts/slideLayout110.xml"/><Relationship Id="rId74" Type="http://schemas.openxmlformats.org/officeDocument/2006/relationships/image" Target="../media/image3.png"/><Relationship Id="rId5" Type="http://schemas.openxmlformats.org/officeDocument/2006/relationships/slideLayout" Target="../slideLayouts/slideLayout49.xml"/><Relationship Id="rId61" Type="http://schemas.openxmlformats.org/officeDocument/2006/relationships/slideLayout" Target="../slideLayouts/slideLayout105.xml"/><Relationship Id="rId19" Type="http://schemas.openxmlformats.org/officeDocument/2006/relationships/slideLayout" Target="../slideLayouts/slideLayout6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48" Type="http://schemas.openxmlformats.org/officeDocument/2006/relationships/slideLayout" Target="../slideLayouts/slideLayout92.xml"/><Relationship Id="rId56" Type="http://schemas.openxmlformats.org/officeDocument/2006/relationships/slideLayout" Target="../slideLayouts/slideLayout100.xml"/><Relationship Id="rId64" Type="http://schemas.openxmlformats.org/officeDocument/2006/relationships/slideLayout" Target="../slideLayouts/slideLayout108.xml"/><Relationship Id="rId69" Type="http://schemas.openxmlformats.org/officeDocument/2006/relationships/slideLayout" Target="../slideLayouts/slideLayout113.xml"/><Relationship Id="rId8" Type="http://schemas.openxmlformats.org/officeDocument/2006/relationships/slideLayout" Target="../slideLayouts/slideLayout52.xml"/><Relationship Id="rId51" Type="http://schemas.openxmlformats.org/officeDocument/2006/relationships/slideLayout" Target="../slideLayouts/slideLayout95.xml"/><Relationship Id="rId72" Type="http://schemas.openxmlformats.org/officeDocument/2006/relationships/theme" Target="../theme/theme2.xml"/><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46" Type="http://schemas.openxmlformats.org/officeDocument/2006/relationships/slideLayout" Target="../slideLayouts/slideLayout90.xml"/><Relationship Id="rId59" Type="http://schemas.openxmlformats.org/officeDocument/2006/relationships/slideLayout" Target="../slideLayouts/slideLayout103.xml"/><Relationship Id="rId67" Type="http://schemas.openxmlformats.org/officeDocument/2006/relationships/slideLayout" Target="../slideLayouts/slideLayout111.xml"/><Relationship Id="rId20" Type="http://schemas.openxmlformats.org/officeDocument/2006/relationships/slideLayout" Target="../slideLayouts/slideLayout64.xml"/><Relationship Id="rId41" Type="http://schemas.openxmlformats.org/officeDocument/2006/relationships/slideLayout" Target="../slideLayouts/slideLayout85.xml"/><Relationship Id="rId54" Type="http://schemas.openxmlformats.org/officeDocument/2006/relationships/slideLayout" Target="../slideLayouts/slideLayout98.xml"/><Relationship Id="rId62" Type="http://schemas.openxmlformats.org/officeDocument/2006/relationships/slideLayout" Target="../slideLayouts/slideLayout106.xml"/><Relationship Id="rId70" Type="http://schemas.openxmlformats.org/officeDocument/2006/relationships/slideLayout" Target="../slideLayouts/slideLayout11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49" Type="http://schemas.openxmlformats.org/officeDocument/2006/relationships/slideLayout" Target="../slideLayouts/slideLayout93.xml"/><Relationship Id="rId57" Type="http://schemas.openxmlformats.org/officeDocument/2006/relationships/slideLayout" Target="../slideLayouts/slideLayout101.xml"/><Relationship Id="rId10" Type="http://schemas.openxmlformats.org/officeDocument/2006/relationships/slideLayout" Target="../slideLayouts/slideLayout54.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52" Type="http://schemas.openxmlformats.org/officeDocument/2006/relationships/slideLayout" Target="../slideLayouts/slideLayout96.xml"/><Relationship Id="rId60" Type="http://schemas.openxmlformats.org/officeDocument/2006/relationships/slideLayout" Target="../slideLayouts/slideLayout104.xml"/><Relationship Id="rId65" Type="http://schemas.openxmlformats.org/officeDocument/2006/relationships/slideLayout" Target="../slideLayouts/slideLayout109.xml"/><Relationship Id="rId73" Type="http://schemas.openxmlformats.org/officeDocument/2006/relationships/image" Target="../media/image2.svg"/><Relationship Id="rId4" Type="http://schemas.openxmlformats.org/officeDocument/2006/relationships/slideLayout" Target="../slideLayouts/slideLayout48.xml"/><Relationship Id="rId9" Type="http://schemas.openxmlformats.org/officeDocument/2006/relationships/slideLayout" Target="../slideLayouts/slideLayout53.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9" Type="http://schemas.openxmlformats.org/officeDocument/2006/relationships/slideLayout" Target="../slideLayouts/slideLayout83.xml"/><Relationship Id="rId34" Type="http://schemas.openxmlformats.org/officeDocument/2006/relationships/slideLayout" Target="../slideLayouts/slideLayout78.xml"/><Relationship Id="rId50" Type="http://schemas.openxmlformats.org/officeDocument/2006/relationships/slideLayout" Target="../slideLayouts/slideLayout94.xml"/><Relationship Id="rId55" Type="http://schemas.openxmlformats.org/officeDocument/2006/relationships/slideLayout" Target="../slideLayouts/slideLayout99.xml"/><Relationship Id="rId7" Type="http://schemas.openxmlformats.org/officeDocument/2006/relationships/slideLayout" Target="../slideLayouts/slideLayout51.xml"/><Relationship Id="rId71" Type="http://schemas.openxmlformats.org/officeDocument/2006/relationships/slideLayout" Target="../slideLayouts/slideLayout1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3.xml"/><Relationship Id="rId13" Type="http://schemas.openxmlformats.org/officeDocument/2006/relationships/image" Target="../media/image5.svg"/><Relationship Id="rId3" Type="http://schemas.openxmlformats.org/officeDocument/2006/relationships/slideLayout" Target="../slideLayouts/slideLayout118.xml"/><Relationship Id="rId7" Type="http://schemas.openxmlformats.org/officeDocument/2006/relationships/slideLayout" Target="../slideLayouts/slideLayout122.xml"/><Relationship Id="rId12" Type="http://schemas.openxmlformats.org/officeDocument/2006/relationships/theme" Target="../theme/theme3.xml"/><Relationship Id="rId2" Type="http://schemas.openxmlformats.org/officeDocument/2006/relationships/slideLayout" Target="../slideLayouts/slideLayout117.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5" Type="http://schemas.openxmlformats.org/officeDocument/2006/relationships/slideLayout" Target="../slideLayouts/slideLayout120.xml"/><Relationship Id="rId10" Type="http://schemas.openxmlformats.org/officeDocument/2006/relationships/slideLayout" Target="../slideLayouts/slideLayout125.xml"/><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2" Type="http://schemas.openxmlformats.org/officeDocument/2006/relationships/slideLayout" Target="../slideLayouts/slideLayout128.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image" Target="../media/image13.svg"/><Relationship Id="rId10" Type="http://schemas.openxmlformats.org/officeDocument/2006/relationships/slideLayout" Target="../slideLayouts/slideLayout136.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238501" y="312485"/>
            <a:ext cx="8580301"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238500" y="6500158"/>
            <a:ext cx="2759146" cy="243205"/>
          </a:xfrm>
          <a:prstGeom prst="rect">
            <a:avLst/>
          </a:prstGeom>
        </p:spPr>
        <p:txBody>
          <a:bodyPr vert="horz" lIns="182880" tIns="73152" rIns="91440" bIns="45720" rtlCol="0" anchor="t" anchorCtr="0"/>
          <a:lstStyle>
            <a:lvl1pPr algn="l">
              <a:defRPr sz="700">
                <a:solidFill>
                  <a:schemeClr val="tx1"/>
                </a:solidFill>
              </a:defRPr>
            </a:lvl1pPr>
          </a:lstStyle>
          <a:p>
            <a:endParaRPr lang="en-GB"/>
          </a:p>
        </p:txBody>
      </p:sp>
      <p:sp>
        <p:nvSpPr>
          <p:cNvPr id="6" name="Slide Number Placeholder 5"/>
          <p:cNvSpPr>
            <a:spLocks noGrp="1"/>
          </p:cNvSpPr>
          <p:nvPr>
            <p:ph type="sldNum" sz="quarter" idx="4"/>
          </p:nvPr>
        </p:nvSpPr>
        <p:spPr>
          <a:xfrm>
            <a:off x="11201401" y="6492875"/>
            <a:ext cx="617402" cy="233172"/>
          </a:xfrm>
          <a:prstGeom prst="rect">
            <a:avLst/>
          </a:prstGeom>
        </p:spPr>
        <p:txBody>
          <a:bodyPr vert="horz" lIns="0" tIns="73152" rIns="0" bIns="45720" rtlCol="0" anchor="t" anchorCtr="0"/>
          <a:lstStyle>
            <a:lvl1pPr algn="r">
              <a:defRPr sz="700">
                <a:solidFill>
                  <a:schemeClr val="tx1"/>
                </a:solidFill>
              </a:defRPr>
            </a:lvl1pPr>
          </a:lstStyle>
          <a:p>
            <a:fld id="{4B8541B1-5A69-4116-9413-EDFFEC198E0C}" type="slidenum">
              <a:rPr lang="en-GB" smtClean="0"/>
              <a:t>‹#›</a:t>
            </a:fld>
            <a:endParaRPr lang="en-GB"/>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p:nvPicPr>
        <p:blipFill>
          <a:blip r:embed="rId46"/>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7708119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 id="2147483746" r:id="rId43"/>
    <p:sldLayoutId id="2147483747" r:id="rId44"/>
  </p:sldLayoutIdLst>
  <p:txStyles>
    <p:titleStyle>
      <a:lvl1pPr algn="l" defTabSz="914400" rtl="0" eaLnBrk="1" fontAlgn="base" latinLnBrk="0" hangingPunct="1">
        <a:lnSpc>
          <a:spcPct val="110000"/>
        </a:lnSpc>
        <a:spcBef>
          <a:spcPct val="0"/>
        </a:spcBef>
        <a:buNone/>
        <a:defRPr sz="3100" kern="1200">
          <a:ln w="9525">
            <a:noFill/>
          </a:ln>
          <a:solidFill>
            <a:schemeClr val="tx2"/>
          </a:solidFill>
          <a:latin typeface="+mj-lt"/>
          <a:ea typeface="+mj-ea"/>
          <a:cs typeface="+mj-cs"/>
        </a:defRPr>
      </a:lvl1pPr>
    </p:titleStyle>
    <p:bodyStyle>
      <a:lvl1pPr marL="142875" indent="-142875"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1pPr>
      <a:lvl2pPr marL="428625" indent="-145257"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2pPr>
      <a:lvl3pPr marL="714375" indent="-147638"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3pPr>
      <a:lvl4pPr marL="1000125" indent="-150019"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4pPr>
      <a:lvl5pPr marL="1285875" indent="-152400"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grpSp>
        <p:nvGrpSpPr>
          <p:cNvPr id="6" name="Group 5">
            <a:extLst>
              <a:ext uri="{FF2B5EF4-FFF2-40B4-BE49-F238E27FC236}">
                <a16:creationId xmlns:a16="http://schemas.microsoft.com/office/drawing/2014/main" id="{7826DB11-539A-2D54-6832-3A322D0E5C56}"/>
              </a:ext>
            </a:extLst>
          </p:cNvPr>
          <p:cNvGrpSpPr/>
          <p:nvPr/>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7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98919"/>
          </a:xfrm>
          <a:prstGeom prst="rect">
            <a:avLst/>
          </a:prstGeom>
          <a:ln w="12700">
            <a:noFill/>
          </a:ln>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142096974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4" r:id="rId26"/>
    <p:sldLayoutId id="2147483775" r:id="rId27"/>
    <p:sldLayoutId id="2147483776" r:id="rId28"/>
    <p:sldLayoutId id="2147483777" r:id="rId29"/>
    <p:sldLayoutId id="2147483778" r:id="rId30"/>
    <p:sldLayoutId id="2147483779" r:id="rId31"/>
    <p:sldLayoutId id="2147483661" r:id="rId32"/>
    <p:sldLayoutId id="2147483663" r:id="rId33"/>
    <p:sldLayoutId id="2147483664" r:id="rId34"/>
    <p:sldLayoutId id="2147483665" r:id="rId35"/>
    <p:sldLayoutId id="2147483666" r:id="rId36"/>
    <p:sldLayoutId id="2147483667" r:id="rId37"/>
    <p:sldLayoutId id="2147483668" r:id="rId38"/>
    <p:sldLayoutId id="2147483669" r:id="rId39"/>
    <p:sldLayoutId id="2147483670" r:id="rId40"/>
    <p:sldLayoutId id="2147483671" r:id="rId41"/>
    <p:sldLayoutId id="2147483672" r:id="rId42"/>
    <p:sldLayoutId id="2147483673" r:id="rId43"/>
    <p:sldLayoutId id="2147483674" r:id="rId44"/>
    <p:sldLayoutId id="2147483675" r:id="rId45"/>
    <p:sldLayoutId id="2147483676" r:id="rId46"/>
    <p:sldLayoutId id="2147483677" r:id="rId47"/>
    <p:sldLayoutId id="2147483678" r:id="rId48"/>
    <p:sldLayoutId id="2147483679" r:id="rId49"/>
    <p:sldLayoutId id="2147483680" r:id="rId50"/>
    <p:sldLayoutId id="2147483681" r:id="rId51"/>
    <p:sldLayoutId id="2147483682" r:id="rId52"/>
    <p:sldLayoutId id="2147483683" r:id="rId53"/>
    <p:sldLayoutId id="2147483684" r:id="rId54"/>
    <p:sldLayoutId id="2147483685" r:id="rId55"/>
    <p:sldLayoutId id="2147483686" r:id="rId56"/>
    <p:sldLayoutId id="2147483687" r:id="rId57"/>
    <p:sldLayoutId id="2147483688" r:id="rId58"/>
    <p:sldLayoutId id="2147483689" r:id="rId59"/>
    <p:sldLayoutId id="2147483690" r:id="rId60"/>
    <p:sldLayoutId id="2147483691" r:id="rId61"/>
    <p:sldLayoutId id="2147483692" r:id="rId62"/>
    <p:sldLayoutId id="2147483693" r:id="rId63"/>
    <p:sldLayoutId id="2147483694" r:id="rId64"/>
    <p:sldLayoutId id="2147483695" r:id="rId65"/>
    <p:sldLayoutId id="2147483696" r:id="rId66"/>
    <p:sldLayoutId id="2147483697" r:id="rId67"/>
    <p:sldLayoutId id="2147483698" r:id="rId68"/>
    <p:sldLayoutId id="2147483699" r:id="rId69"/>
    <p:sldLayoutId id="2147483701" r:id="rId70"/>
    <p:sldLayoutId id="2147483702" r:id="rId7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Fira Sans" panose="020B0503050000020004" pitchFamily="34" charset="0"/>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GB"/>
              <a:t>Click to edit Master title style</a:t>
            </a:r>
            <a:endParaRPr lang="en-US" dirty="0"/>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4" name="Picture 3">
            <a:extLst>
              <a:ext uri="{FF2B5EF4-FFF2-40B4-BE49-F238E27FC236}">
                <a16:creationId xmlns:a16="http://schemas.microsoft.com/office/drawing/2014/main" id="{101594CF-9E60-FEE9-725B-28644E2BEFC6}"/>
              </a:ext>
            </a:extLst>
          </p:cNvPr>
          <p:cNvPicPr>
            <a:picLocks noChangeAspect="1"/>
          </p:cNvPicPr>
          <p:nvPr/>
        </p:nvPicPr>
        <p:blipFill>
          <a:blip r:embed="rId14"/>
          <a:stretch>
            <a:fillRect/>
          </a:stretch>
        </p:blipFill>
        <p:spPr>
          <a:xfrm>
            <a:off x="0" y="4745736"/>
            <a:ext cx="3226194" cy="2112264"/>
          </a:xfrm>
          <a:prstGeom prst="rect">
            <a:avLst/>
          </a:prstGeom>
        </p:spPr>
      </p:pic>
    </p:spTree>
    <p:extLst>
      <p:ext uri="{BB962C8B-B14F-4D97-AF65-F5344CB8AC3E}">
        <p14:creationId xmlns:p14="http://schemas.microsoft.com/office/powerpoint/2010/main" val="100405731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58384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7.xml"/></Relationships>
</file>

<file path=ppt/slides/_rels/slide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AD1A51D-ABFA-47F1-AB2A-260D4927A1E5}"/>
              </a:ext>
            </a:extLst>
          </p:cNvPr>
          <p:cNvSpPr>
            <a:spLocks noGrp="1"/>
          </p:cNvSpPr>
          <p:nvPr>
            <p:ph type="body" sz="quarter" idx="10"/>
          </p:nvPr>
        </p:nvSpPr>
        <p:spPr/>
        <p:txBody>
          <a:bodyPr/>
          <a:lstStyle/>
          <a:p>
            <a:endParaRPr lang="en-GB" dirty="0"/>
          </a:p>
          <a:p>
            <a:r>
              <a:rPr lang="en-GB" dirty="0"/>
              <a:t>September 2022</a:t>
            </a:r>
          </a:p>
        </p:txBody>
      </p:sp>
      <p:sp>
        <p:nvSpPr>
          <p:cNvPr id="6" name="Title 5">
            <a:extLst>
              <a:ext uri="{FF2B5EF4-FFF2-40B4-BE49-F238E27FC236}">
                <a16:creationId xmlns:a16="http://schemas.microsoft.com/office/drawing/2014/main" id="{CAA4948F-F6FA-44B3-8DEC-0547FC832A83}"/>
              </a:ext>
            </a:extLst>
          </p:cNvPr>
          <p:cNvSpPr>
            <a:spLocks noGrp="1"/>
          </p:cNvSpPr>
          <p:nvPr>
            <p:ph type="ctrTitle"/>
          </p:nvPr>
        </p:nvSpPr>
        <p:spPr>
          <a:xfrm>
            <a:off x="323545" y="1011652"/>
            <a:ext cx="4791380" cy="1954638"/>
          </a:xfrm>
        </p:spPr>
        <p:txBody>
          <a:bodyPr/>
          <a:lstStyle/>
          <a:p>
            <a:br>
              <a:rPr lang="en-GB" dirty="0"/>
            </a:br>
            <a:r>
              <a:rPr lang="en-GB" dirty="0"/>
              <a:t>Data Gathering Template Guide</a:t>
            </a:r>
          </a:p>
        </p:txBody>
      </p:sp>
    </p:spTree>
    <p:extLst>
      <p:ext uri="{BB962C8B-B14F-4D97-AF65-F5344CB8AC3E}">
        <p14:creationId xmlns:p14="http://schemas.microsoft.com/office/powerpoint/2010/main" val="302178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915C3D-F194-48E3-9E21-7D05272BDBEE}"/>
              </a:ext>
            </a:extLst>
          </p:cNvPr>
          <p:cNvSpPr>
            <a:spLocks noGrp="1"/>
          </p:cNvSpPr>
          <p:nvPr>
            <p:ph type="sldNum" sz="quarter" idx="11"/>
          </p:nvPr>
        </p:nvSpPr>
        <p:spPr/>
        <p:txBody>
          <a:bodyPr/>
          <a:lstStyle/>
          <a:p>
            <a:fld id="{762E77F0-FB5B-4E8E-9BC9-34F14560A017}" type="slidenum">
              <a:rPr lang="en-US" smtClean="0"/>
              <a:pPr/>
              <a:t>2</a:t>
            </a:fld>
            <a:endParaRPr lang="en-US" dirty="0"/>
          </a:p>
        </p:txBody>
      </p:sp>
      <p:sp>
        <p:nvSpPr>
          <p:cNvPr id="3" name="Text Placeholder 2">
            <a:extLst>
              <a:ext uri="{FF2B5EF4-FFF2-40B4-BE49-F238E27FC236}">
                <a16:creationId xmlns:a16="http://schemas.microsoft.com/office/drawing/2014/main" id="{72CEBFCE-3FBF-4961-AD9F-B118F7A563A8}"/>
              </a:ext>
            </a:extLst>
          </p:cNvPr>
          <p:cNvSpPr>
            <a:spLocks noGrp="1"/>
          </p:cNvSpPr>
          <p:nvPr>
            <p:ph type="body" sz="quarter" idx="12"/>
          </p:nvPr>
        </p:nvSpPr>
        <p:spPr>
          <a:xfrm>
            <a:off x="361950" y="1335774"/>
            <a:ext cx="11468100" cy="5097018"/>
          </a:xfrm>
        </p:spPr>
        <p:txBody>
          <a:bodyPr/>
          <a:lstStyle/>
          <a:p>
            <a:r>
              <a:rPr lang="en-GB" dirty="0"/>
              <a:t>To get a high level understanding of a customer’s estate</a:t>
            </a:r>
          </a:p>
          <a:p>
            <a:r>
              <a:rPr lang="en-GB" dirty="0"/>
              <a:t>Attempting to map complexity to migrate applications without actually diving into app code</a:t>
            </a:r>
          </a:p>
          <a:p>
            <a:r>
              <a:rPr lang="en-GB" dirty="0"/>
              <a:t>By asking the right questions, you can design an effective migration approach at a high level</a:t>
            </a:r>
          </a:p>
          <a:p>
            <a:r>
              <a:rPr lang="en-GB" dirty="0"/>
              <a:t>Identifying dependencies, and mapping from Applications to Infrastructure</a:t>
            </a:r>
          </a:p>
          <a:p>
            <a:r>
              <a:rPr lang="en-GB" dirty="0"/>
              <a:t>Sourcing relevant data to create a high level release plan / Migration waves</a:t>
            </a:r>
          </a:p>
          <a:p>
            <a:endParaRPr lang="en-GB" dirty="0"/>
          </a:p>
          <a:p>
            <a:endParaRPr lang="en-GB" dirty="0"/>
          </a:p>
          <a:p>
            <a:endParaRPr lang="en-GB" dirty="0"/>
          </a:p>
        </p:txBody>
      </p:sp>
      <p:sp>
        <p:nvSpPr>
          <p:cNvPr id="5" name="Title 4">
            <a:extLst>
              <a:ext uri="{FF2B5EF4-FFF2-40B4-BE49-F238E27FC236}">
                <a16:creationId xmlns:a16="http://schemas.microsoft.com/office/drawing/2014/main" id="{7BEF80F9-BEB4-4B98-B5B3-905C3105C312}"/>
              </a:ext>
            </a:extLst>
          </p:cNvPr>
          <p:cNvSpPr>
            <a:spLocks noGrp="1"/>
          </p:cNvSpPr>
          <p:nvPr>
            <p:ph type="title"/>
          </p:nvPr>
        </p:nvSpPr>
        <p:spPr/>
        <p:txBody>
          <a:bodyPr/>
          <a:lstStyle/>
          <a:p>
            <a:r>
              <a:rPr lang="en-GB" dirty="0"/>
              <a:t>Why do we do it?</a:t>
            </a:r>
          </a:p>
        </p:txBody>
      </p:sp>
      <p:pic>
        <p:nvPicPr>
          <p:cNvPr id="8" name="Picture 7">
            <a:extLst>
              <a:ext uri="{FF2B5EF4-FFF2-40B4-BE49-F238E27FC236}">
                <a16:creationId xmlns:a16="http://schemas.microsoft.com/office/drawing/2014/main" id="{62AB43D2-0C46-4EA4-8970-9C3B6F669FA8}"/>
              </a:ext>
            </a:extLst>
          </p:cNvPr>
          <p:cNvPicPr>
            <a:picLocks noChangeAspect="1"/>
          </p:cNvPicPr>
          <p:nvPr/>
        </p:nvPicPr>
        <p:blipFill>
          <a:blip r:embed="rId2"/>
          <a:stretch>
            <a:fillRect/>
          </a:stretch>
        </p:blipFill>
        <p:spPr>
          <a:xfrm>
            <a:off x="2552131" y="3684588"/>
            <a:ext cx="7465325" cy="236608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99830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864036-110E-45A6-A2B2-E5F1D1155305}"/>
              </a:ext>
            </a:extLst>
          </p:cNvPr>
          <p:cNvSpPr>
            <a:spLocks noGrp="1"/>
          </p:cNvSpPr>
          <p:nvPr>
            <p:ph type="sldNum" sz="quarter" idx="11"/>
          </p:nvPr>
        </p:nvSpPr>
        <p:spPr/>
        <p:txBody>
          <a:bodyPr/>
          <a:lstStyle/>
          <a:p>
            <a:fld id="{762E77F0-FB5B-4E8E-9BC9-34F14560A017}" type="slidenum">
              <a:rPr lang="en-US" smtClean="0"/>
              <a:pPr/>
              <a:t>3</a:t>
            </a:fld>
            <a:endParaRPr lang="en-US" dirty="0"/>
          </a:p>
        </p:txBody>
      </p:sp>
      <p:sp>
        <p:nvSpPr>
          <p:cNvPr id="3" name="Text Placeholder 2">
            <a:extLst>
              <a:ext uri="{FF2B5EF4-FFF2-40B4-BE49-F238E27FC236}">
                <a16:creationId xmlns:a16="http://schemas.microsoft.com/office/drawing/2014/main" id="{F2BED86B-6CAE-4395-9663-DC963DAA6E94}"/>
              </a:ext>
            </a:extLst>
          </p:cNvPr>
          <p:cNvSpPr>
            <a:spLocks noGrp="1"/>
          </p:cNvSpPr>
          <p:nvPr>
            <p:ph type="body" sz="quarter" idx="12"/>
          </p:nvPr>
        </p:nvSpPr>
        <p:spPr/>
        <p:txBody>
          <a:bodyPr/>
          <a:lstStyle/>
          <a:p>
            <a:r>
              <a:rPr lang="en-GB" dirty="0"/>
              <a:t>Often confusion around what an Application actually is</a:t>
            </a:r>
          </a:p>
          <a:p>
            <a:r>
              <a:rPr lang="en-GB" dirty="0"/>
              <a:t>Template is populated with non-business applications (i.e Databases, Desktop apps, SaaS apps such as Office 365</a:t>
            </a:r>
          </a:p>
          <a:p>
            <a:r>
              <a:rPr lang="en-GB" dirty="0"/>
              <a:t>Template gets the “pass the buck” treatment where actual app owners are not completing it</a:t>
            </a:r>
          </a:p>
          <a:p>
            <a:r>
              <a:rPr lang="en-GB" dirty="0"/>
              <a:t>Uncertainty around what values to select for specific columns (e.g. Business Criticality, interfaces, dependent apps)</a:t>
            </a:r>
          </a:p>
          <a:p>
            <a:r>
              <a:rPr lang="en-GB" dirty="0"/>
              <a:t>Microservice-based architecture does not suit the template well</a:t>
            </a:r>
          </a:p>
          <a:p>
            <a:r>
              <a:rPr lang="en-GB" dirty="0"/>
              <a:t>Critical data points to perform complexity assessment aren’t captured</a:t>
            </a:r>
          </a:p>
        </p:txBody>
      </p:sp>
      <p:sp>
        <p:nvSpPr>
          <p:cNvPr id="5" name="Title 4">
            <a:extLst>
              <a:ext uri="{FF2B5EF4-FFF2-40B4-BE49-F238E27FC236}">
                <a16:creationId xmlns:a16="http://schemas.microsoft.com/office/drawing/2014/main" id="{C7F7D80E-ACDA-497E-BDBB-12EB9D82B559}"/>
              </a:ext>
            </a:extLst>
          </p:cNvPr>
          <p:cNvSpPr>
            <a:spLocks noGrp="1"/>
          </p:cNvSpPr>
          <p:nvPr>
            <p:ph type="title"/>
          </p:nvPr>
        </p:nvSpPr>
        <p:spPr/>
        <p:txBody>
          <a:bodyPr/>
          <a:lstStyle/>
          <a:p>
            <a:r>
              <a:rPr lang="en-GB" dirty="0"/>
              <a:t>What Goes wrong?</a:t>
            </a:r>
          </a:p>
        </p:txBody>
      </p:sp>
    </p:spTree>
    <p:extLst>
      <p:ext uri="{BB962C8B-B14F-4D97-AF65-F5344CB8AC3E}">
        <p14:creationId xmlns:p14="http://schemas.microsoft.com/office/powerpoint/2010/main" val="32544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B62DE2E-DE30-4E00-9060-6845040F9F7A}"/>
              </a:ext>
            </a:extLst>
          </p:cNvPr>
          <p:cNvSpPr>
            <a:spLocks noGrp="1"/>
          </p:cNvSpPr>
          <p:nvPr>
            <p:ph type="body" sz="quarter" idx="16"/>
          </p:nvPr>
        </p:nvSpPr>
        <p:spPr/>
        <p:txBody>
          <a:bodyPr/>
          <a:lstStyle/>
          <a:p>
            <a:r>
              <a:rPr lang="en-GB" dirty="0"/>
              <a:t>Template Guide</a:t>
            </a:r>
          </a:p>
        </p:txBody>
      </p:sp>
    </p:spTree>
    <p:extLst>
      <p:ext uri="{BB962C8B-B14F-4D97-AF65-F5344CB8AC3E}">
        <p14:creationId xmlns:p14="http://schemas.microsoft.com/office/powerpoint/2010/main" val="3895905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9F9946-A6D8-4267-BACF-37220716C0AE}"/>
              </a:ext>
            </a:extLst>
          </p:cNvPr>
          <p:cNvSpPr>
            <a:spLocks noGrp="1"/>
          </p:cNvSpPr>
          <p:nvPr>
            <p:ph type="sldNum" sz="quarter" idx="11"/>
          </p:nvPr>
        </p:nvSpPr>
        <p:spPr/>
        <p:txBody>
          <a:bodyPr/>
          <a:lstStyle/>
          <a:p>
            <a:fld id="{762E77F0-FB5B-4E8E-9BC9-34F14560A017}" type="slidenum">
              <a:rPr lang="en-US" smtClean="0"/>
              <a:pPr/>
              <a:t>5</a:t>
            </a:fld>
            <a:endParaRPr lang="en-US" dirty="0"/>
          </a:p>
        </p:txBody>
      </p:sp>
      <p:sp>
        <p:nvSpPr>
          <p:cNvPr id="3" name="Text Placeholder 2">
            <a:extLst>
              <a:ext uri="{FF2B5EF4-FFF2-40B4-BE49-F238E27FC236}">
                <a16:creationId xmlns:a16="http://schemas.microsoft.com/office/drawing/2014/main" id="{D6196351-0D67-4363-BB70-CAF2DACE6A90}"/>
              </a:ext>
            </a:extLst>
          </p:cNvPr>
          <p:cNvSpPr>
            <a:spLocks noGrp="1"/>
          </p:cNvSpPr>
          <p:nvPr>
            <p:ph type="body" sz="quarter" idx="12"/>
          </p:nvPr>
        </p:nvSpPr>
        <p:spPr>
          <a:xfrm>
            <a:off x="334496" y="1133775"/>
            <a:ext cx="11468100" cy="5097018"/>
          </a:xfrm>
        </p:spPr>
        <p:txBody>
          <a:bodyPr/>
          <a:lstStyle/>
          <a:p>
            <a:pPr marL="0" indent="0">
              <a:buNone/>
            </a:pPr>
            <a:r>
              <a:rPr lang="en-GB" sz="1800" dirty="0"/>
              <a:t>The </a:t>
            </a:r>
            <a:r>
              <a:rPr lang="en-GB" dirty="0"/>
              <a:t>first column (Application Name) in the Data </a:t>
            </a:r>
            <a:r>
              <a:rPr lang="en-GB" sz="1800" dirty="0"/>
              <a:t>Gathering template should include only </a:t>
            </a:r>
            <a:r>
              <a:rPr lang="en-GB" sz="1800" b="1" dirty="0"/>
              <a:t>Business Applications</a:t>
            </a:r>
            <a:r>
              <a:rPr lang="en-GB" sz="1800" dirty="0"/>
              <a:t> &amp; </a:t>
            </a:r>
            <a:r>
              <a:rPr lang="en-GB" sz="1800" b="1" dirty="0"/>
              <a:t>Shared Services </a:t>
            </a:r>
            <a:r>
              <a:rPr lang="en-GB" sz="1800" dirty="0"/>
              <a:t>in scope</a:t>
            </a:r>
            <a:endParaRPr lang="en-GB" dirty="0"/>
          </a:p>
          <a:p>
            <a:endParaRPr lang="en-GB" dirty="0"/>
          </a:p>
        </p:txBody>
      </p:sp>
      <p:sp>
        <p:nvSpPr>
          <p:cNvPr id="5" name="Title 4">
            <a:extLst>
              <a:ext uri="{FF2B5EF4-FFF2-40B4-BE49-F238E27FC236}">
                <a16:creationId xmlns:a16="http://schemas.microsoft.com/office/drawing/2014/main" id="{59A824B7-4591-4302-AF6F-067CBDC22314}"/>
              </a:ext>
            </a:extLst>
          </p:cNvPr>
          <p:cNvSpPr>
            <a:spLocks noGrp="1"/>
          </p:cNvSpPr>
          <p:nvPr>
            <p:ph type="title"/>
          </p:nvPr>
        </p:nvSpPr>
        <p:spPr/>
        <p:txBody>
          <a:bodyPr/>
          <a:lstStyle/>
          <a:p>
            <a:r>
              <a:rPr lang="en-GB" dirty="0"/>
              <a:t>What goes in the Template?</a:t>
            </a:r>
          </a:p>
        </p:txBody>
      </p:sp>
      <p:sp>
        <p:nvSpPr>
          <p:cNvPr id="7" name="TextBox 6">
            <a:extLst>
              <a:ext uri="{FF2B5EF4-FFF2-40B4-BE49-F238E27FC236}">
                <a16:creationId xmlns:a16="http://schemas.microsoft.com/office/drawing/2014/main" id="{0E62F962-E98B-4CB1-925C-78AC8F48CFD5}"/>
              </a:ext>
            </a:extLst>
          </p:cNvPr>
          <p:cNvSpPr txBox="1"/>
          <p:nvPr/>
        </p:nvSpPr>
        <p:spPr>
          <a:xfrm>
            <a:off x="389404" y="1686215"/>
            <a:ext cx="4781725" cy="5401479"/>
          </a:xfrm>
          <a:prstGeom prst="rect">
            <a:avLst/>
          </a:prstGeom>
          <a:noFill/>
        </p:spPr>
        <p:txBody>
          <a:bodyPr wrap="square" rtlCol="0">
            <a:spAutoFit/>
          </a:bodyPr>
          <a:lstStyle/>
          <a:p>
            <a:pPr algn="ctr"/>
            <a:r>
              <a:rPr lang="en-GB" sz="1600" dirty="0">
                <a:solidFill>
                  <a:srgbClr val="FF0000"/>
                </a:solidFill>
              </a:rPr>
              <a:t>Business Application</a:t>
            </a:r>
          </a:p>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rial"/>
                <a:ea typeface="+mn-ea"/>
                <a:cs typeface="+mn-cs"/>
              </a:rPr>
              <a:t>A collection of components that provides a business functionality  (e.g. buy a product, search through catalogue, advert management). Focus should be on apps that produce </a:t>
            </a:r>
            <a:r>
              <a:rPr kumimoji="0" lang="en-GB" sz="1400" b="1" i="0" u="none" strike="noStrike" kern="1200" cap="none" spc="0" normalizeH="0" baseline="0" noProof="0" dirty="0">
                <a:ln>
                  <a:noFill/>
                </a:ln>
                <a:solidFill>
                  <a:prstClr val="black"/>
                </a:solidFill>
                <a:effectLst/>
                <a:uLnTx/>
                <a:uFillTx/>
                <a:latin typeface="Arial"/>
                <a:ea typeface="+mn-ea"/>
                <a:cs typeface="+mn-cs"/>
              </a:rPr>
              <a:t>Business Functionality/Purpose</a:t>
            </a:r>
            <a:endParaRPr kumimoji="0" lang="en-GB" sz="1400" b="0" i="0" u="none" strike="noStrike" kern="1200" cap="none" spc="0" normalizeH="0" baseline="0" noProof="0" dirty="0">
              <a:ln>
                <a:noFill/>
              </a:ln>
              <a:solidFill>
                <a:prstClr val="black"/>
              </a:solidFill>
              <a:effectLst/>
              <a:uLnTx/>
              <a:uFillTx/>
              <a:latin typeface="Arial"/>
              <a:ea typeface="+mn-ea"/>
              <a:cs typeface="+mn-cs"/>
            </a:endParaRPr>
          </a:p>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rial"/>
                <a:ea typeface="+mn-ea"/>
                <a:cs typeface="+mn-cs"/>
              </a:rPr>
              <a:t>May be used internally, externally, or with other business applications to provide a wider service</a:t>
            </a:r>
          </a:p>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rial"/>
                <a:ea typeface="+mn-ea"/>
                <a:cs typeface="+mn-cs"/>
              </a:rPr>
              <a:t>N tier application, typically with client-server architecture, COTS or Bespoke.</a:t>
            </a:r>
          </a:p>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rial"/>
                <a:ea typeface="+mn-ea"/>
                <a:cs typeface="+mn-cs"/>
              </a:rPr>
              <a:t>Think in terms of the “Customer Journey”: If a customer wants to search for a product, purchase a product, upload photos and details to sell a product…</a:t>
            </a:r>
          </a:p>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rial"/>
                <a:ea typeface="+mn-ea"/>
                <a:cs typeface="+mn-cs"/>
              </a:rPr>
              <a:t>Each of these has a journey that will touch different components of the environment. Think about what closely interconnected components would be impacted by migrating to a different platform or migrated at a different time.</a:t>
            </a:r>
          </a:p>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endParaRPr kumimoji="0" lang="en-GB" sz="1400" b="0" i="0" u="none" strike="noStrike" kern="1200" cap="none" spc="0" normalizeH="0" baseline="0" noProof="0" dirty="0">
              <a:ln>
                <a:noFill/>
              </a:ln>
              <a:solidFill>
                <a:prstClr val="black"/>
              </a:solidFill>
              <a:effectLst/>
              <a:uLnTx/>
              <a:uFillTx/>
              <a:latin typeface="Arial"/>
              <a:ea typeface="+mn-ea"/>
              <a:cs typeface="+mn-cs"/>
            </a:endParaRPr>
          </a:p>
          <a:p>
            <a:pPr algn="l"/>
            <a:endParaRPr lang="en-GB" sz="1600" dirty="0">
              <a:solidFill>
                <a:srgbClr val="FF0000"/>
              </a:solidFill>
            </a:endParaRPr>
          </a:p>
        </p:txBody>
      </p:sp>
      <p:sp>
        <p:nvSpPr>
          <p:cNvPr id="8" name="TextBox 7">
            <a:extLst>
              <a:ext uri="{FF2B5EF4-FFF2-40B4-BE49-F238E27FC236}">
                <a16:creationId xmlns:a16="http://schemas.microsoft.com/office/drawing/2014/main" id="{958D7B2A-8B26-433D-9A3F-1AAB24EC7988}"/>
              </a:ext>
            </a:extLst>
          </p:cNvPr>
          <p:cNvSpPr txBox="1"/>
          <p:nvPr/>
        </p:nvSpPr>
        <p:spPr>
          <a:xfrm>
            <a:off x="5818480" y="1686215"/>
            <a:ext cx="4781725" cy="4862870"/>
          </a:xfrm>
          <a:prstGeom prst="rect">
            <a:avLst/>
          </a:prstGeom>
          <a:noFill/>
        </p:spPr>
        <p:txBody>
          <a:bodyPr wrap="square" rtlCol="0">
            <a:spAutoFit/>
          </a:bodyPr>
          <a:lstStyle/>
          <a:p>
            <a:pPr algn="ctr"/>
            <a:r>
              <a:rPr lang="en-GB" sz="1400" dirty="0">
                <a:solidFill>
                  <a:srgbClr val="FF0000"/>
                </a:solidFill>
              </a:rPr>
              <a:t>Shared Service</a:t>
            </a:r>
          </a:p>
          <a:p>
            <a:pPr marL="285750" indent="-285750" algn="l">
              <a:buClr>
                <a:srgbClr val="FF0000"/>
              </a:buClr>
              <a:buFont typeface="Arial" panose="020B0604020202020204" pitchFamily="34" charset="0"/>
              <a:buChar char="•"/>
            </a:pPr>
            <a:r>
              <a:rPr lang="en-GB" sz="1400" dirty="0">
                <a:latin typeface="Arial" panose="020B0604020202020204" pitchFamily="34" charset="0"/>
                <a:cs typeface="Arial" panose="020B0604020202020204" pitchFamily="34" charset="0"/>
              </a:rPr>
              <a:t>Infra Shared Services refer to infrastructure applications that are </a:t>
            </a:r>
            <a:r>
              <a:rPr lang="en-GB" sz="1400" b="1" dirty="0">
                <a:latin typeface="Arial" panose="020B0604020202020204" pitchFamily="34" charset="0"/>
                <a:cs typeface="Arial" panose="020B0604020202020204" pitchFamily="34" charset="0"/>
              </a:rPr>
              <a:t>utilised by almost all infrastructure</a:t>
            </a:r>
            <a:r>
              <a:rPr lang="en-GB" sz="1400" dirty="0">
                <a:latin typeface="Arial" panose="020B0604020202020204" pitchFamily="34" charset="0"/>
                <a:cs typeface="Arial" panose="020B0604020202020204" pitchFamily="34" charset="0"/>
              </a:rPr>
              <a:t>; these are typically managed by IT teams</a:t>
            </a:r>
          </a:p>
          <a:p>
            <a:pPr algn="l">
              <a:buClr>
                <a:srgbClr val="FF0000"/>
              </a:buClr>
            </a:pPr>
            <a:endParaRPr lang="en-GB" sz="1400" dirty="0">
              <a:latin typeface="Arial" panose="020B0604020202020204" pitchFamily="34" charset="0"/>
              <a:cs typeface="Arial" panose="020B0604020202020204" pitchFamily="34" charset="0"/>
            </a:endParaRPr>
          </a:p>
          <a:p>
            <a:pPr marL="285750" indent="-285750">
              <a:buClr>
                <a:srgbClr val="FF0000"/>
              </a:buClr>
              <a:buFont typeface="Arial" panose="020B0604020202020204" pitchFamily="34" charset="0"/>
              <a:buChar char="•"/>
            </a:pPr>
            <a:r>
              <a:rPr lang="en-GB" sz="1400" dirty="0">
                <a:latin typeface="Arial" panose="020B0604020202020204" pitchFamily="34" charset="0"/>
                <a:cs typeface="Arial" panose="020B0604020202020204" pitchFamily="34" charset="0"/>
              </a:rPr>
              <a:t>Given the criticality, these tend to be provisioned new in a target environment and run in parallel to the services in source – there is often no option for downtime on these services to ‘migrate’ them</a:t>
            </a:r>
          </a:p>
          <a:p>
            <a:pPr>
              <a:buClr>
                <a:srgbClr val="FF0000"/>
              </a:buClr>
            </a:pPr>
            <a:endParaRPr lang="en-GB" sz="1400" dirty="0">
              <a:latin typeface="Arial" panose="020B0604020202020204" pitchFamily="34" charset="0"/>
              <a:cs typeface="Arial" panose="020B0604020202020204" pitchFamily="34" charset="0"/>
            </a:endParaRPr>
          </a:p>
          <a:p>
            <a:pPr marL="285750" indent="-285750">
              <a:buClr>
                <a:srgbClr val="FF0000"/>
              </a:buClr>
              <a:buFont typeface="Arial" panose="020B0604020202020204" pitchFamily="34" charset="0"/>
              <a:buChar char="•"/>
            </a:pPr>
            <a:r>
              <a:rPr lang="en-GB" sz="1400" dirty="0">
                <a:latin typeface="Arial" panose="020B0604020202020204" pitchFamily="34" charset="0"/>
                <a:cs typeface="Arial" panose="020B0604020202020204" pitchFamily="34" charset="0"/>
              </a:rPr>
              <a:t>Can sometimes be replaced with Rackspace Managed Services, or Cloud Native services</a:t>
            </a:r>
          </a:p>
          <a:p>
            <a:pPr marL="285750" indent="-285750" algn="l">
              <a:buClr>
                <a:srgbClr val="FF0000"/>
              </a:buClr>
              <a:buFont typeface="Arial" panose="020B0604020202020204" pitchFamily="34" charset="0"/>
              <a:buChar char="•"/>
            </a:pPr>
            <a:endParaRPr lang="en-GB" sz="1400" dirty="0"/>
          </a:p>
          <a:p>
            <a:pPr marL="285750" indent="-285750" algn="l">
              <a:buClr>
                <a:srgbClr val="FF0000"/>
              </a:buClr>
              <a:buFont typeface="Arial" panose="020B0604020202020204" pitchFamily="34" charset="0"/>
              <a:buChar char="•"/>
            </a:pPr>
            <a:r>
              <a:rPr lang="en-GB" sz="1400" dirty="0"/>
              <a:t>Examples include: Domain Services &amp; DNS, Antivirus, Backup solutions, Mail services, Print Services, File Services, Deployment mechanisms (Pipelines)</a:t>
            </a:r>
          </a:p>
          <a:p>
            <a:pPr marL="285750" indent="-285750" algn="l">
              <a:buClr>
                <a:srgbClr val="FF0000"/>
              </a:buClr>
              <a:buFont typeface="Arial" panose="020B0604020202020204" pitchFamily="34" charset="0"/>
              <a:buChar char="•"/>
            </a:pPr>
            <a:endParaRPr lang="en-GB" sz="1400" dirty="0"/>
          </a:p>
          <a:p>
            <a:pPr marL="285750" indent="-285750" algn="l">
              <a:buClr>
                <a:srgbClr val="FF0000"/>
              </a:buClr>
              <a:buFont typeface="Arial" panose="020B0604020202020204" pitchFamily="34" charset="0"/>
              <a:buChar char="•"/>
            </a:pPr>
            <a:r>
              <a:rPr lang="en-GB" sz="1400" b="1" dirty="0"/>
              <a:t>Although Included in the Data gathering template for tracking, these are not subject to the same 8 step methodology as Business Applications</a:t>
            </a:r>
          </a:p>
          <a:p>
            <a:pPr marL="285750" indent="-285750" algn="l">
              <a:buFont typeface="Arial" panose="020B0604020202020204" pitchFamily="34" charset="0"/>
              <a:buChar char="•"/>
            </a:pPr>
            <a:endParaRPr lang="en-GB" sz="1600" dirty="0">
              <a:solidFill>
                <a:srgbClr val="FF0000"/>
              </a:solidFill>
            </a:endParaRPr>
          </a:p>
        </p:txBody>
      </p:sp>
    </p:spTree>
    <p:extLst>
      <p:ext uri="{BB962C8B-B14F-4D97-AF65-F5344CB8AC3E}">
        <p14:creationId xmlns:p14="http://schemas.microsoft.com/office/powerpoint/2010/main" val="2360612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9F9946-A6D8-4267-BACF-37220716C0AE}"/>
              </a:ext>
            </a:extLst>
          </p:cNvPr>
          <p:cNvSpPr>
            <a:spLocks noGrp="1"/>
          </p:cNvSpPr>
          <p:nvPr>
            <p:ph type="sldNum" sz="quarter" idx="11"/>
          </p:nvPr>
        </p:nvSpPr>
        <p:spPr/>
        <p:txBody>
          <a:bodyPr/>
          <a:lstStyle/>
          <a:p>
            <a:fld id="{762E77F0-FB5B-4E8E-9BC9-34F14560A017}" type="slidenum">
              <a:rPr lang="en-US" smtClean="0"/>
              <a:pPr/>
              <a:t>6</a:t>
            </a:fld>
            <a:endParaRPr lang="en-US" dirty="0"/>
          </a:p>
        </p:txBody>
      </p:sp>
      <p:sp>
        <p:nvSpPr>
          <p:cNvPr id="3" name="Text Placeholder 2">
            <a:extLst>
              <a:ext uri="{FF2B5EF4-FFF2-40B4-BE49-F238E27FC236}">
                <a16:creationId xmlns:a16="http://schemas.microsoft.com/office/drawing/2014/main" id="{D6196351-0D67-4363-BB70-CAF2DACE6A90}"/>
              </a:ext>
            </a:extLst>
          </p:cNvPr>
          <p:cNvSpPr>
            <a:spLocks noGrp="1"/>
          </p:cNvSpPr>
          <p:nvPr>
            <p:ph type="body" sz="quarter" idx="12"/>
          </p:nvPr>
        </p:nvSpPr>
        <p:spPr>
          <a:xfrm>
            <a:off x="334496" y="1207516"/>
            <a:ext cx="11468100" cy="5097018"/>
          </a:xfrm>
        </p:spPr>
        <p:txBody>
          <a:bodyPr/>
          <a:lstStyle/>
          <a:p>
            <a:pPr marL="0" indent="0">
              <a:buNone/>
            </a:pPr>
            <a:r>
              <a:rPr lang="en-GB" dirty="0"/>
              <a:t>Infra Shared Services are tracked but not assessed as part of the 8 step </a:t>
            </a:r>
            <a:r>
              <a:rPr lang="en-GB" dirty="0" err="1"/>
              <a:t>metholodgy</a:t>
            </a:r>
            <a:r>
              <a:rPr lang="en-GB" dirty="0"/>
              <a:t> and usually considered for landing zone design. Shared Services that business apps utilised but are still apps themselves are still assessed.</a:t>
            </a:r>
          </a:p>
          <a:p>
            <a:endParaRPr lang="en-GB" dirty="0"/>
          </a:p>
        </p:txBody>
      </p:sp>
      <p:sp>
        <p:nvSpPr>
          <p:cNvPr id="5" name="Title 4">
            <a:extLst>
              <a:ext uri="{FF2B5EF4-FFF2-40B4-BE49-F238E27FC236}">
                <a16:creationId xmlns:a16="http://schemas.microsoft.com/office/drawing/2014/main" id="{59A824B7-4591-4302-AF6F-067CBDC22314}"/>
              </a:ext>
            </a:extLst>
          </p:cNvPr>
          <p:cNvSpPr>
            <a:spLocks noGrp="1"/>
          </p:cNvSpPr>
          <p:nvPr>
            <p:ph type="title"/>
          </p:nvPr>
        </p:nvSpPr>
        <p:spPr/>
        <p:txBody>
          <a:bodyPr/>
          <a:lstStyle/>
          <a:p>
            <a:r>
              <a:rPr lang="en-GB" sz="2400"/>
              <a:t>Infra Shared Services vs Shared Services </a:t>
            </a:r>
            <a:endParaRPr lang="en-GB" sz="2400" dirty="0"/>
          </a:p>
        </p:txBody>
      </p:sp>
      <p:sp>
        <p:nvSpPr>
          <p:cNvPr id="7" name="TextBox 6">
            <a:extLst>
              <a:ext uri="{FF2B5EF4-FFF2-40B4-BE49-F238E27FC236}">
                <a16:creationId xmlns:a16="http://schemas.microsoft.com/office/drawing/2014/main" id="{0E62F962-E98B-4CB1-925C-78AC8F48CFD5}"/>
              </a:ext>
            </a:extLst>
          </p:cNvPr>
          <p:cNvSpPr txBox="1"/>
          <p:nvPr/>
        </p:nvSpPr>
        <p:spPr>
          <a:xfrm>
            <a:off x="389404" y="2029115"/>
            <a:ext cx="4781725" cy="2893100"/>
          </a:xfrm>
          <a:prstGeom prst="rect">
            <a:avLst/>
          </a:prstGeom>
          <a:noFill/>
        </p:spPr>
        <p:txBody>
          <a:bodyPr wrap="square" rtlCol="0">
            <a:spAutoFit/>
          </a:bodyPr>
          <a:lstStyle/>
          <a:p>
            <a:pPr algn="ctr"/>
            <a:r>
              <a:rPr lang="en-GB" dirty="0">
                <a:solidFill>
                  <a:srgbClr val="FF0000"/>
                </a:solidFill>
              </a:rPr>
              <a:t>Examples of Infra Shared Services</a:t>
            </a:r>
          </a:p>
          <a:p>
            <a:pPr algn="ctr"/>
            <a:r>
              <a:rPr lang="en-GB" dirty="0">
                <a:solidFill>
                  <a:srgbClr val="FF0000"/>
                </a:solidFill>
              </a:rPr>
              <a:t>(which are not assessed but still logged)</a:t>
            </a:r>
          </a:p>
          <a:p>
            <a:pPr marL="142875" marR="0" lvl="0" indent="-142875" algn="l" defTabSz="914400" rtl="0" eaLnBrk="1" fontAlgn="auto" latinLnBrk="0" hangingPunct="1">
              <a:lnSpc>
                <a:spcPct val="100000"/>
              </a:lnSpc>
              <a:spcBef>
                <a:spcPts val="0"/>
              </a:spcBef>
              <a:buClr>
                <a:srgbClr val="EB0000"/>
              </a:buClr>
              <a:buSzTx/>
              <a:buFont typeface="Arial"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rial"/>
                <a:ea typeface="+mn-ea"/>
                <a:cs typeface="+mn-cs"/>
              </a:rPr>
              <a:t>Domain services </a:t>
            </a:r>
          </a:p>
          <a:p>
            <a:pPr marL="142875" marR="0" lvl="0" indent="-142875" algn="l" defTabSz="914400" rtl="0" eaLnBrk="1" fontAlgn="auto" latinLnBrk="0" hangingPunct="1">
              <a:lnSpc>
                <a:spcPct val="100000"/>
              </a:lnSpc>
              <a:spcBef>
                <a:spcPts val="0"/>
              </a:spcBef>
              <a:buClr>
                <a:srgbClr val="EB0000"/>
              </a:buClr>
              <a:buSzTx/>
              <a:buFont typeface="Arial"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rial"/>
                <a:ea typeface="+mn-ea"/>
                <a:cs typeface="+mn-cs"/>
              </a:rPr>
              <a:t>Anti-Virus</a:t>
            </a:r>
          </a:p>
          <a:p>
            <a:pPr marL="142875" marR="0" lvl="0" indent="-142875" algn="l" defTabSz="914400" rtl="0" eaLnBrk="1" fontAlgn="auto" latinLnBrk="0" hangingPunct="1">
              <a:lnSpc>
                <a:spcPct val="100000"/>
              </a:lnSpc>
              <a:spcBef>
                <a:spcPts val="0"/>
              </a:spcBef>
              <a:buClr>
                <a:srgbClr val="EB0000"/>
              </a:buClr>
              <a:buSzTx/>
              <a:buFont typeface="Arial" panose="020B0604020202020204" pitchFamily="34" charset="0"/>
              <a:buChar char="•"/>
              <a:tabLst/>
              <a:defRPr/>
            </a:pPr>
            <a:r>
              <a:rPr lang="en-GB" dirty="0">
                <a:solidFill>
                  <a:prstClr val="black"/>
                </a:solidFill>
                <a:latin typeface="Arial"/>
              </a:rPr>
              <a:t>Mail Services</a:t>
            </a:r>
          </a:p>
          <a:p>
            <a:pPr marL="142875" marR="0" lvl="0" indent="-142875" algn="l" defTabSz="914400" rtl="0" eaLnBrk="1" fontAlgn="auto" latinLnBrk="0" hangingPunct="1">
              <a:lnSpc>
                <a:spcPct val="100000"/>
              </a:lnSpc>
              <a:spcBef>
                <a:spcPts val="0"/>
              </a:spcBef>
              <a:buClr>
                <a:srgbClr val="EB0000"/>
              </a:buClr>
              <a:buSzTx/>
              <a:buFont typeface="Arial"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rial"/>
                <a:ea typeface="+mn-ea"/>
                <a:cs typeface="+mn-cs"/>
              </a:rPr>
              <a:t>Print Services</a:t>
            </a:r>
          </a:p>
          <a:p>
            <a:pPr marL="142875" marR="0" lvl="0" indent="-142875" algn="l" defTabSz="914400" rtl="0" eaLnBrk="1" fontAlgn="auto" latinLnBrk="0" hangingPunct="1">
              <a:lnSpc>
                <a:spcPct val="100000"/>
              </a:lnSpc>
              <a:spcBef>
                <a:spcPts val="0"/>
              </a:spcBef>
              <a:buClr>
                <a:srgbClr val="EB0000"/>
              </a:buClr>
              <a:buSzTx/>
              <a:buFont typeface="Arial" panose="020B0604020202020204" pitchFamily="34" charset="0"/>
              <a:buChar char="•"/>
              <a:tabLst/>
              <a:defRPr/>
            </a:pPr>
            <a:r>
              <a:rPr lang="en-GB" dirty="0">
                <a:solidFill>
                  <a:prstClr val="black"/>
                </a:solidFill>
                <a:latin typeface="Arial"/>
              </a:rPr>
              <a:t>File Services</a:t>
            </a:r>
          </a:p>
          <a:p>
            <a:pPr marL="142875" marR="0" lvl="0" indent="-142875" algn="l" defTabSz="914400" rtl="0" eaLnBrk="1" fontAlgn="auto" latinLnBrk="0" hangingPunct="1">
              <a:lnSpc>
                <a:spcPct val="100000"/>
              </a:lnSpc>
              <a:spcBef>
                <a:spcPts val="0"/>
              </a:spcBef>
              <a:buClr>
                <a:srgbClr val="EB0000"/>
              </a:buClr>
              <a:buSzTx/>
              <a:buFont typeface="Arial"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rial"/>
                <a:ea typeface="+mn-ea"/>
                <a:cs typeface="+mn-cs"/>
              </a:rPr>
              <a:t>Pipelines / Deployment Mechanisms</a:t>
            </a:r>
          </a:p>
          <a:p>
            <a:pPr marL="142875" marR="0" lvl="0" indent="-142875" algn="l" defTabSz="914400" rtl="0" eaLnBrk="1" fontAlgn="auto" latinLnBrk="0" hangingPunct="1">
              <a:lnSpc>
                <a:spcPct val="100000"/>
              </a:lnSpc>
              <a:spcBef>
                <a:spcPts val="0"/>
              </a:spcBef>
              <a:buClr>
                <a:srgbClr val="EB0000"/>
              </a:buClr>
              <a:buSzTx/>
              <a:buFont typeface="Arial" panose="020B0604020202020204" pitchFamily="34" charset="0"/>
              <a:buChar char="•"/>
              <a:tabLst/>
              <a:defRPr/>
            </a:pPr>
            <a:r>
              <a:rPr lang="en-GB" dirty="0">
                <a:solidFill>
                  <a:prstClr val="black"/>
                </a:solidFill>
                <a:latin typeface="Arial"/>
              </a:rPr>
              <a:t>Backups</a:t>
            </a:r>
            <a:endParaRPr kumimoji="0" lang="en-GB" b="0" i="0" u="none" strike="noStrike" kern="1200" cap="none" spc="0" normalizeH="0" baseline="0" noProof="0" dirty="0">
              <a:ln>
                <a:noFill/>
              </a:ln>
              <a:solidFill>
                <a:prstClr val="black"/>
              </a:solidFill>
              <a:effectLst/>
              <a:uLnTx/>
              <a:uFillTx/>
              <a:latin typeface="Arial"/>
              <a:ea typeface="+mn-ea"/>
              <a:cs typeface="+mn-cs"/>
            </a:endParaRPr>
          </a:p>
          <a:p>
            <a:pPr algn="l"/>
            <a:endParaRPr lang="en-GB" sz="2000" dirty="0">
              <a:solidFill>
                <a:srgbClr val="FF0000"/>
              </a:solidFill>
            </a:endParaRPr>
          </a:p>
        </p:txBody>
      </p:sp>
      <p:sp>
        <p:nvSpPr>
          <p:cNvPr id="8" name="TextBox 7">
            <a:extLst>
              <a:ext uri="{FF2B5EF4-FFF2-40B4-BE49-F238E27FC236}">
                <a16:creationId xmlns:a16="http://schemas.microsoft.com/office/drawing/2014/main" id="{958D7B2A-8B26-433D-9A3F-1AAB24EC7988}"/>
              </a:ext>
            </a:extLst>
          </p:cNvPr>
          <p:cNvSpPr txBox="1"/>
          <p:nvPr/>
        </p:nvSpPr>
        <p:spPr>
          <a:xfrm>
            <a:off x="5818480" y="2029115"/>
            <a:ext cx="4781725" cy="2616101"/>
          </a:xfrm>
          <a:prstGeom prst="rect">
            <a:avLst/>
          </a:prstGeom>
          <a:noFill/>
        </p:spPr>
        <p:txBody>
          <a:bodyPr wrap="square" rtlCol="0">
            <a:spAutoFit/>
          </a:bodyPr>
          <a:lstStyle/>
          <a:p>
            <a:pPr algn="ctr"/>
            <a:r>
              <a:rPr lang="en-GB" dirty="0">
                <a:solidFill>
                  <a:srgbClr val="FF0000"/>
                </a:solidFill>
              </a:rPr>
              <a:t>Examples of Shared Services </a:t>
            </a:r>
          </a:p>
          <a:p>
            <a:pPr algn="ctr"/>
            <a:r>
              <a:rPr lang="en-GB" dirty="0">
                <a:solidFill>
                  <a:srgbClr val="FF0000"/>
                </a:solidFill>
              </a:rPr>
              <a:t>(which will be assessed)</a:t>
            </a:r>
          </a:p>
          <a:p>
            <a:pPr marL="285750" indent="-285750" algn="l">
              <a:buFont typeface="Arial" panose="020B0604020202020204" pitchFamily="34" charset="0"/>
              <a:buChar char="•"/>
            </a:pPr>
            <a:r>
              <a:rPr lang="en-GB" dirty="0"/>
              <a:t>Analytics </a:t>
            </a:r>
          </a:p>
          <a:p>
            <a:pPr marL="285750" indent="-285750" algn="l">
              <a:buFont typeface="Arial" panose="020B0604020202020204" pitchFamily="34" charset="0"/>
              <a:buChar char="•"/>
            </a:pPr>
            <a:r>
              <a:rPr lang="en-GB" dirty="0"/>
              <a:t>Reporting Services</a:t>
            </a:r>
          </a:p>
          <a:p>
            <a:pPr marL="285750" indent="-285750" algn="l">
              <a:buFont typeface="Arial" panose="020B0604020202020204" pitchFamily="34" charset="0"/>
              <a:buChar char="•"/>
            </a:pPr>
            <a:r>
              <a:rPr lang="en-GB" dirty="0" err="1"/>
              <a:t>PowerBI</a:t>
            </a:r>
            <a:endParaRPr lang="en-GB" dirty="0"/>
          </a:p>
          <a:p>
            <a:pPr marL="285750" indent="-285750" algn="l">
              <a:buFont typeface="Arial" panose="020B0604020202020204" pitchFamily="34" charset="0"/>
              <a:buChar char="•"/>
            </a:pPr>
            <a:r>
              <a:rPr lang="en-GB" dirty="0"/>
              <a:t>App that performs a certain function for multiple other apps (such as compressing files) </a:t>
            </a:r>
          </a:p>
          <a:p>
            <a:pPr marL="285750" indent="-285750" algn="l">
              <a:buFont typeface="Arial" panose="020B0604020202020204" pitchFamily="34" charset="0"/>
              <a:buChar char="•"/>
            </a:pPr>
            <a:endParaRPr lang="en-GB" sz="2000" dirty="0">
              <a:solidFill>
                <a:srgbClr val="FF0000"/>
              </a:solidFill>
            </a:endParaRPr>
          </a:p>
        </p:txBody>
      </p:sp>
    </p:spTree>
    <p:extLst>
      <p:ext uri="{BB962C8B-B14F-4D97-AF65-F5344CB8AC3E}">
        <p14:creationId xmlns:p14="http://schemas.microsoft.com/office/powerpoint/2010/main" val="1019453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D92504-5D50-45FF-AB24-20CA7E862D09}"/>
              </a:ext>
            </a:extLst>
          </p:cNvPr>
          <p:cNvSpPr>
            <a:spLocks noGrp="1"/>
          </p:cNvSpPr>
          <p:nvPr>
            <p:ph type="sldNum" sz="quarter" idx="11"/>
          </p:nvPr>
        </p:nvSpPr>
        <p:spPr/>
        <p:txBody>
          <a:bodyPr/>
          <a:lstStyle/>
          <a:p>
            <a:fld id="{762E77F0-FB5B-4E8E-9BC9-34F14560A017}" type="slidenum">
              <a:rPr lang="en-US" smtClean="0"/>
              <a:pPr/>
              <a:t>7</a:t>
            </a:fld>
            <a:endParaRPr lang="en-US" dirty="0"/>
          </a:p>
        </p:txBody>
      </p:sp>
      <p:sp>
        <p:nvSpPr>
          <p:cNvPr id="5" name="Title 4">
            <a:extLst>
              <a:ext uri="{FF2B5EF4-FFF2-40B4-BE49-F238E27FC236}">
                <a16:creationId xmlns:a16="http://schemas.microsoft.com/office/drawing/2014/main" id="{E029E912-5D97-4D49-8B9A-30C810072A31}"/>
              </a:ext>
            </a:extLst>
          </p:cNvPr>
          <p:cNvSpPr>
            <a:spLocks noGrp="1"/>
          </p:cNvSpPr>
          <p:nvPr>
            <p:ph type="title"/>
          </p:nvPr>
        </p:nvSpPr>
        <p:spPr/>
        <p:txBody>
          <a:bodyPr/>
          <a:lstStyle/>
          <a:p>
            <a:r>
              <a:rPr lang="en-GB" dirty="0"/>
              <a:t>What does NOT go in the Template?</a:t>
            </a:r>
          </a:p>
        </p:txBody>
      </p:sp>
      <p:sp>
        <p:nvSpPr>
          <p:cNvPr id="6" name="TextBox 5">
            <a:extLst>
              <a:ext uri="{FF2B5EF4-FFF2-40B4-BE49-F238E27FC236}">
                <a16:creationId xmlns:a16="http://schemas.microsoft.com/office/drawing/2014/main" id="{A07991F0-0CC0-4276-890F-B9D5CA7BFF9A}"/>
              </a:ext>
            </a:extLst>
          </p:cNvPr>
          <p:cNvSpPr txBox="1"/>
          <p:nvPr/>
        </p:nvSpPr>
        <p:spPr>
          <a:xfrm>
            <a:off x="1127339" y="3929299"/>
            <a:ext cx="2043292"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7Zip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PDF Readers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err="1">
                <a:ln>
                  <a:noFill/>
                </a:ln>
                <a:solidFill>
                  <a:prstClr val="black"/>
                </a:solidFill>
                <a:effectLst/>
                <a:uLnTx/>
                <a:uFillTx/>
                <a:latin typeface="Arial"/>
                <a:ea typeface="+mn-ea"/>
                <a:cs typeface="+mn-cs"/>
              </a:rPr>
              <a:t>Filezilla</a:t>
            </a:r>
            <a:endParaRPr kumimoji="0" lang="en-GB" sz="1800" b="0" i="0" u="none" strike="noStrike" kern="1200" cap="none" spc="0" normalizeH="0" baseline="0" noProof="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Notepad++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err="1">
              <a:ln>
                <a:noFill/>
              </a:ln>
              <a:solidFill>
                <a:prstClr val="black"/>
              </a:solidFill>
              <a:effectLst/>
              <a:uLnTx/>
              <a:uFillTx/>
              <a:latin typeface="Arial"/>
              <a:ea typeface="+mn-ea"/>
              <a:cs typeface="+mn-cs"/>
            </a:endParaRPr>
          </a:p>
        </p:txBody>
      </p:sp>
      <p:sp>
        <p:nvSpPr>
          <p:cNvPr id="7" name="TextBox 6">
            <a:extLst>
              <a:ext uri="{FF2B5EF4-FFF2-40B4-BE49-F238E27FC236}">
                <a16:creationId xmlns:a16="http://schemas.microsoft.com/office/drawing/2014/main" id="{534847BE-89B4-4405-A42F-75FC2D6B21BA}"/>
              </a:ext>
            </a:extLst>
          </p:cNvPr>
          <p:cNvSpPr txBox="1"/>
          <p:nvPr/>
        </p:nvSpPr>
        <p:spPr>
          <a:xfrm>
            <a:off x="4557552" y="3879112"/>
            <a:ext cx="1883718"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Office 365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Salesforce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err="1">
              <a:ln>
                <a:noFill/>
              </a:ln>
              <a:solidFill>
                <a:prstClr val="black"/>
              </a:solidFill>
              <a:effectLst/>
              <a:uLnTx/>
              <a:uFillTx/>
              <a:latin typeface="Arial"/>
              <a:ea typeface="+mn-ea"/>
              <a:cs typeface="+mn-cs"/>
            </a:endParaRPr>
          </a:p>
        </p:txBody>
      </p:sp>
      <p:sp>
        <p:nvSpPr>
          <p:cNvPr id="8" name="TextBox 7">
            <a:extLst>
              <a:ext uri="{FF2B5EF4-FFF2-40B4-BE49-F238E27FC236}">
                <a16:creationId xmlns:a16="http://schemas.microsoft.com/office/drawing/2014/main" id="{0BBF1FEB-7E0C-448A-B24F-60E8B4935DD5}"/>
              </a:ext>
            </a:extLst>
          </p:cNvPr>
          <p:cNvSpPr txBox="1"/>
          <p:nvPr/>
        </p:nvSpPr>
        <p:spPr>
          <a:xfrm>
            <a:off x="7867969" y="3879112"/>
            <a:ext cx="1930408"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SQL Server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IIS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err="1">
              <a:ln>
                <a:noFill/>
              </a:ln>
              <a:solidFill>
                <a:prstClr val="black"/>
              </a:solidFill>
              <a:effectLst/>
              <a:uLnTx/>
              <a:uFillTx/>
              <a:latin typeface="Arial"/>
              <a:ea typeface="+mn-ea"/>
              <a:cs typeface="+mn-cs"/>
            </a:endParaRPr>
          </a:p>
        </p:txBody>
      </p:sp>
      <p:sp>
        <p:nvSpPr>
          <p:cNvPr id="9" name="TextBox 8">
            <a:extLst>
              <a:ext uri="{FF2B5EF4-FFF2-40B4-BE49-F238E27FC236}">
                <a16:creationId xmlns:a16="http://schemas.microsoft.com/office/drawing/2014/main" id="{03110CF0-7C16-4E87-BD8C-923963861541}"/>
              </a:ext>
            </a:extLst>
          </p:cNvPr>
          <p:cNvSpPr txBox="1"/>
          <p:nvPr/>
        </p:nvSpPr>
        <p:spPr>
          <a:xfrm>
            <a:off x="1149918" y="3409249"/>
            <a:ext cx="204329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Arial"/>
                <a:ea typeface="+mn-ea"/>
                <a:cs typeface="+mn-cs"/>
              </a:rPr>
              <a:t>DESKTOP APPS</a:t>
            </a:r>
          </a:p>
        </p:txBody>
      </p:sp>
      <p:sp>
        <p:nvSpPr>
          <p:cNvPr id="10" name="TextBox 9">
            <a:extLst>
              <a:ext uri="{FF2B5EF4-FFF2-40B4-BE49-F238E27FC236}">
                <a16:creationId xmlns:a16="http://schemas.microsoft.com/office/drawing/2014/main" id="{AE6AD5D6-487D-4E6F-BF8E-3BF352CE2C5D}"/>
              </a:ext>
            </a:extLst>
          </p:cNvPr>
          <p:cNvSpPr txBox="1"/>
          <p:nvPr/>
        </p:nvSpPr>
        <p:spPr>
          <a:xfrm>
            <a:off x="4851071" y="3362553"/>
            <a:ext cx="14957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Arial"/>
                <a:ea typeface="+mn-ea"/>
                <a:cs typeface="+mn-cs"/>
              </a:rPr>
              <a:t>SaaS APPS</a:t>
            </a:r>
          </a:p>
        </p:txBody>
      </p:sp>
      <p:sp>
        <p:nvSpPr>
          <p:cNvPr id="11" name="TextBox 10">
            <a:extLst>
              <a:ext uri="{FF2B5EF4-FFF2-40B4-BE49-F238E27FC236}">
                <a16:creationId xmlns:a16="http://schemas.microsoft.com/office/drawing/2014/main" id="{77F581D0-1A1B-4534-80DD-1149B08D3F5B}"/>
              </a:ext>
            </a:extLst>
          </p:cNvPr>
          <p:cNvSpPr txBox="1"/>
          <p:nvPr/>
        </p:nvSpPr>
        <p:spPr>
          <a:xfrm>
            <a:off x="8144554" y="3379573"/>
            <a:ext cx="14957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Arial"/>
                <a:ea typeface="+mn-ea"/>
                <a:cs typeface="+mn-cs"/>
              </a:rPr>
              <a:t>SOFTWARE</a:t>
            </a:r>
          </a:p>
        </p:txBody>
      </p:sp>
      <p:grpSp>
        <p:nvGrpSpPr>
          <p:cNvPr id="12" name="Group 11">
            <a:extLst>
              <a:ext uri="{FF2B5EF4-FFF2-40B4-BE49-F238E27FC236}">
                <a16:creationId xmlns:a16="http://schemas.microsoft.com/office/drawing/2014/main" id="{B73251AF-6C54-4D13-9020-2AC7460A4794}"/>
              </a:ext>
            </a:extLst>
          </p:cNvPr>
          <p:cNvGrpSpPr>
            <a:grpSpLocks noChangeAspect="1"/>
          </p:cNvGrpSpPr>
          <p:nvPr/>
        </p:nvGrpSpPr>
        <p:grpSpPr>
          <a:xfrm>
            <a:off x="1655447" y="2359434"/>
            <a:ext cx="912812" cy="912813"/>
            <a:chOff x="4649788" y="2149475"/>
            <a:chExt cx="912812" cy="912813"/>
          </a:xfrm>
        </p:grpSpPr>
        <p:sp>
          <p:nvSpPr>
            <p:cNvPr id="13" name="Freeform 12">
              <a:extLst>
                <a:ext uri="{FF2B5EF4-FFF2-40B4-BE49-F238E27FC236}">
                  <a16:creationId xmlns:a16="http://schemas.microsoft.com/office/drawing/2014/main" id="{B28AA6B7-C609-4F62-BD87-16783AD3497A}"/>
                </a:ext>
              </a:extLst>
            </p:cNvPr>
            <p:cNvSpPr>
              <a:spLocks noChangeArrowheads="1"/>
            </p:cNvSpPr>
            <p:nvPr/>
          </p:nvSpPr>
          <p:spPr bwMode="auto">
            <a:xfrm>
              <a:off x="4649788" y="2149475"/>
              <a:ext cx="912812" cy="912813"/>
            </a:xfrm>
            <a:custGeom>
              <a:avLst/>
              <a:gdLst>
                <a:gd name="T0" fmla="*/ 933 w 2536"/>
                <a:gd name="T1" fmla="*/ 173 h 2536"/>
                <a:gd name="T2" fmla="*/ 782 w 2536"/>
                <a:gd name="T3" fmla="*/ 99 h 2536"/>
                <a:gd name="T4" fmla="*/ 729 w 2536"/>
                <a:gd name="T5" fmla="*/ 257 h 2536"/>
                <a:gd name="T6" fmla="*/ 539 w 2536"/>
                <a:gd name="T7" fmla="*/ 384 h 2536"/>
                <a:gd name="T8" fmla="*/ 373 w 2536"/>
                <a:gd name="T9" fmla="*/ 373 h 2536"/>
                <a:gd name="T10" fmla="*/ 384 w 2536"/>
                <a:gd name="T11" fmla="*/ 539 h 2536"/>
                <a:gd name="T12" fmla="*/ 257 w 2536"/>
                <a:gd name="T13" fmla="*/ 729 h 2536"/>
                <a:gd name="T14" fmla="*/ 99 w 2536"/>
                <a:gd name="T15" fmla="*/ 782 h 2536"/>
                <a:gd name="T16" fmla="*/ 173 w 2536"/>
                <a:gd name="T17" fmla="*/ 933 h 2536"/>
                <a:gd name="T18" fmla="*/ 127 w 2536"/>
                <a:gd name="T19" fmla="*/ 1159 h 2536"/>
                <a:gd name="T20" fmla="*/ 0 w 2536"/>
                <a:gd name="T21" fmla="*/ 1268 h 2536"/>
                <a:gd name="T22" fmla="*/ 127 w 2536"/>
                <a:gd name="T23" fmla="*/ 1377 h 2536"/>
                <a:gd name="T24" fmla="*/ 173 w 2536"/>
                <a:gd name="T25" fmla="*/ 1602 h 2536"/>
                <a:gd name="T26" fmla="*/ 99 w 2536"/>
                <a:gd name="T27" fmla="*/ 1754 h 2536"/>
                <a:gd name="T28" fmla="*/ 257 w 2536"/>
                <a:gd name="T29" fmla="*/ 1806 h 2536"/>
                <a:gd name="T30" fmla="*/ 384 w 2536"/>
                <a:gd name="T31" fmla="*/ 1997 h 2536"/>
                <a:gd name="T32" fmla="*/ 373 w 2536"/>
                <a:gd name="T33" fmla="*/ 2162 h 2536"/>
                <a:gd name="T34" fmla="*/ 539 w 2536"/>
                <a:gd name="T35" fmla="*/ 2152 h 2536"/>
                <a:gd name="T36" fmla="*/ 729 w 2536"/>
                <a:gd name="T37" fmla="*/ 2278 h 2536"/>
                <a:gd name="T38" fmla="*/ 782 w 2536"/>
                <a:gd name="T39" fmla="*/ 2437 h 2536"/>
                <a:gd name="T40" fmla="*/ 933 w 2536"/>
                <a:gd name="T41" fmla="*/ 2363 h 2536"/>
                <a:gd name="T42" fmla="*/ 1158 w 2536"/>
                <a:gd name="T43" fmla="*/ 2409 h 2536"/>
                <a:gd name="T44" fmla="*/ 1267 w 2536"/>
                <a:gd name="T45" fmla="*/ 2535 h 2536"/>
                <a:gd name="T46" fmla="*/ 1377 w 2536"/>
                <a:gd name="T47" fmla="*/ 2409 h 2536"/>
                <a:gd name="T48" fmla="*/ 1602 w 2536"/>
                <a:gd name="T49" fmla="*/ 2363 h 2536"/>
                <a:gd name="T50" fmla="*/ 1753 w 2536"/>
                <a:gd name="T51" fmla="*/ 2437 h 2536"/>
                <a:gd name="T52" fmla="*/ 1806 w 2536"/>
                <a:gd name="T53" fmla="*/ 2278 h 2536"/>
                <a:gd name="T54" fmla="*/ 1996 w 2536"/>
                <a:gd name="T55" fmla="*/ 2152 h 2536"/>
                <a:gd name="T56" fmla="*/ 2162 w 2536"/>
                <a:gd name="T57" fmla="*/ 2162 h 2536"/>
                <a:gd name="T58" fmla="*/ 2151 w 2536"/>
                <a:gd name="T59" fmla="*/ 1997 h 2536"/>
                <a:gd name="T60" fmla="*/ 2278 w 2536"/>
                <a:gd name="T61" fmla="*/ 1806 h 2536"/>
                <a:gd name="T62" fmla="*/ 2436 w 2536"/>
                <a:gd name="T63" fmla="*/ 1754 h 2536"/>
                <a:gd name="T64" fmla="*/ 2362 w 2536"/>
                <a:gd name="T65" fmla="*/ 1602 h 2536"/>
                <a:gd name="T66" fmla="*/ 2408 w 2536"/>
                <a:gd name="T67" fmla="*/ 1377 h 2536"/>
                <a:gd name="T68" fmla="*/ 2535 w 2536"/>
                <a:gd name="T69" fmla="*/ 1268 h 2536"/>
                <a:gd name="T70" fmla="*/ 2408 w 2536"/>
                <a:gd name="T71" fmla="*/ 1159 h 2536"/>
                <a:gd name="T72" fmla="*/ 2362 w 2536"/>
                <a:gd name="T73" fmla="*/ 933 h 2536"/>
                <a:gd name="T74" fmla="*/ 2436 w 2536"/>
                <a:gd name="T75" fmla="*/ 782 h 2536"/>
                <a:gd name="T76" fmla="*/ 2278 w 2536"/>
                <a:gd name="T77" fmla="*/ 729 h 2536"/>
                <a:gd name="T78" fmla="*/ 2151 w 2536"/>
                <a:gd name="T79" fmla="*/ 539 h 2536"/>
                <a:gd name="T80" fmla="*/ 2162 w 2536"/>
                <a:gd name="T81" fmla="*/ 373 h 2536"/>
                <a:gd name="T82" fmla="*/ 1996 w 2536"/>
                <a:gd name="T83" fmla="*/ 384 h 2536"/>
                <a:gd name="T84" fmla="*/ 1806 w 2536"/>
                <a:gd name="T85" fmla="*/ 257 h 2536"/>
                <a:gd name="T86" fmla="*/ 1753 w 2536"/>
                <a:gd name="T87" fmla="*/ 99 h 2536"/>
                <a:gd name="T88" fmla="*/ 1602 w 2536"/>
                <a:gd name="T89" fmla="*/ 173 h 2536"/>
                <a:gd name="T90" fmla="*/ 1377 w 2536"/>
                <a:gd name="T91" fmla="*/ 127 h 2536"/>
                <a:gd name="T92" fmla="*/ 1267 w 2536"/>
                <a:gd name="T93" fmla="*/ 0 h 2536"/>
                <a:gd name="T94" fmla="*/ 1158 w 2536"/>
                <a:gd name="T95" fmla="*/ 127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36" h="2536">
                  <a:moveTo>
                    <a:pt x="1063" y="243"/>
                  </a:moveTo>
                  <a:cubicBezTo>
                    <a:pt x="1007" y="254"/>
                    <a:pt x="954" y="225"/>
                    <a:pt x="933" y="173"/>
                  </a:cubicBezTo>
                  <a:cubicBezTo>
                    <a:pt x="930" y="168"/>
                    <a:pt x="928" y="163"/>
                    <a:pt x="926" y="159"/>
                  </a:cubicBezTo>
                  <a:cubicBezTo>
                    <a:pt x="901" y="102"/>
                    <a:pt x="838" y="74"/>
                    <a:pt x="782" y="99"/>
                  </a:cubicBezTo>
                  <a:cubicBezTo>
                    <a:pt x="725" y="123"/>
                    <a:pt x="697" y="187"/>
                    <a:pt x="722" y="243"/>
                  </a:cubicBezTo>
                  <a:cubicBezTo>
                    <a:pt x="724" y="247"/>
                    <a:pt x="726" y="252"/>
                    <a:pt x="729" y="257"/>
                  </a:cubicBezTo>
                  <a:cubicBezTo>
                    <a:pt x="750" y="310"/>
                    <a:pt x="732" y="370"/>
                    <a:pt x="687" y="398"/>
                  </a:cubicBezTo>
                  <a:cubicBezTo>
                    <a:pt x="641" y="430"/>
                    <a:pt x="577" y="423"/>
                    <a:pt x="539" y="384"/>
                  </a:cubicBezTo>
                  <a:cubicBezTo>
                    <a:pt x="535" y="380"/>
                    <a:pt x="531" y="376"/>
                    <a:pt x="528" y="373"/>
                  </a:cubicBezTo>
                  <a:cubicBezTo>
                    <a:pt x="486" y="331"/>
                    <a:pt x="415" y="330"/>
                    <a:pt x="373" y="373"/>
                  </a:cubicBezTo>
                  <a:cubicBezTo>
                    <a:pt x="331" y="415"/>
                    <a:pt x="331" y="486"/>
                    <a:pt x="373" y="528"/>
                  </a:cubicBezTo>
                  <a:cubicBezTo>
                    <a:pt x="376" y="531"/>
                    <a:pt x="380" y="535"/>
                    <a:pt x="384" y="539"/>
                  </a:cubicBezTo>
                  <a:cubicBezTo>
                    <a:pt x="422" y="578"/>
                    <a:pt x="430" y="641"/>
                    <a:pt x="398" y="687"/>
                  </a:cubicBezTo>
                  <a:cubicBezTo>
                    <a:pt x="366" y="732"/>
                    <a:pt x="306" y="750"/>
                    <a:pt x="257" y="729"/>
                  </a:cubicBezTo>
                  <a:cubicBezTo>
                    <a:pt x="252" y="726"/>
                    <a:pt x="247" y="724"/>
                    <a:pt x="243" y="722"/>
                  </a:cubicBezTo>
                  <a:cubicBezTo>
                    <a:pt x="187" y="697"/>
                    <a:pt x="123" y="725"/>
                    <a:pt x="99" y="782"/>
                  </a:cubicBezTo>
                  <a:cubicBezTo>
                    <a:pt x="74" y="838"/>
                    <a:pt x="102" y="901"/>
                    <a:pt x="158" y="926"/>
                  </a:cubicBezTo>
                  <a:cubicBezTo>
                    <a:pt x="163" y="928"/>
                    <a:pt x="168" y="930"/>
                    <a:pt x="173" y="933"/>
                  </a:cubicBezTo>
                  <a:cubicBezTo>
                    <a:pt x="225" y="954"/>
                    <a:pt x="253" y="1011"/>
                    <a:pt x="243" y="1063"/>
                  </a:cubicBezTo>
                  <a:cubicBezTo>
                    <a:pt x="232" y="1120"/>
                    <a:pt x="183" y="1159"/>
                    <a:pt x="127" y="1159"/>
                  </a:cubicBezTo>
                  <a:cubicBezTo>
                    <a:pt x="121" y="1159"/>
                    <a:pt x="115" y="1159"/>
                    <a:pt x="109" y="1159"/>
                  </a:cubicBezTo>
                  <a:cubicBezTo>
                    <a:pt x="49" y="1159"/>
                    <a:pt x="0" y="1208"/>
                    <a:pt x="0" y="1268"/>
                  </a:cubicBezTo>
                  <a:cubicBezTo>
                    <a:pt x="0" y="1328"/>
                    <a:pt x="49" y="1377"/>
                    <a:pt x="109" y="1377"/>
                  </a:cubicBezTo>
                  <a:cubicBezTo>
                    <a:pt x="115" y="1377"/>
                    <a:pt x="121" y="1377"/>
                    <a:pt x="127" y="1377"/>
                  </a:cubicBezTo>
                  <a:cubicBezTo>
                    <a:pt x="183" y="1377"/>
                    <a:pt x="229" y="1416"/>
                    <a:pt x="243" y="1472"/>
                  </a:cubicBezTo>
                  <a:cubicBezTo>
                    <a:pt x="253" y="1528"/>
                    <a:pt x="225" y="1581"/>
                    <a:pt x="173" y="1602"/>
                  </a:cubicBezTo>
                  <a:cubicBezTo>
                    <a:pt x="168" y="1604"/>
                    <a:pt x="163" y="1606"/>
                    <a:pt x="158" y="1609"/>
                  </a:cubicBezTo>
                  <a:cubicBezTo>
                    <a:pt x="102" y="1634"/>
                    <a:pt x="74" y="1697"/>
                    <a:pt x="99" y="1754"/>
                  </a:cubicBezTo>
                  <a:cubicBezTo>
                    <a:pt x="123" y="1810"/>
                    <a:pt x="187" y="1838"/>
                    <a:pt x="243" y="1813"/>
                  </a:cubicBezTo>
                  <a:cubicBezTo>
                    <a:pt x="247" y="1810"/>
                    <a:pt x="252" y="1808"/>
                    <a:pt x="257" y="1806"/>
                  </a:cubicBezTo>
                  <a:cubicBezTo>
                    <a:pt x="310" y="1785"/>
                    <a:pt x="370" y="1803"/>
                    <a:pt x="398" y="1849"/>
                  </a:cubicBezTo>
                  <a:cubicBezTo>
                    <a:pt x="430" y="1894"/>
                    <a:pt x="422" y="1958"/>
                    <a:pt x="384" y="1997"/>
                  </a:cubicBezTo>
                  <a:cubicBezTo>
                    <a:pt x="380" y="2000"/>
                    <a:pt x="376" y="2003"/>
                    <a:pt x="373" y="2007"/>
                  </a:cubicBezTo>
                  <a:cubicBezTo>
                    <a:pt x="331" y="2049"/>
                    <a:pt x="331" y="2120"/>
                    <a:pt x="373" y="2162"/>
                  </a:cubicBezTo>
                  <a:cubicBezTo>
                    <a:pt x="415" y="2204"/>
                    <a:pt x="486" y="2204"/>
                    <a:pt x="528" y="2162"/>
                  </a:cubicBezTo>
                  <a:cubicBezTo>
                    <a:pt x="531" y="2158"/>
                    <a:pt x="535" y="2155"/>
                    <a:pt x="539" y="2152"/>
                  </a:cubicBezTo>
                  <a:cubicBezTo>
                    <a:pt x="577" y="2113"/>
                    <a:pt x="641" y="2105"/>
                    <a:pt x="687" y="2137"/>
                  </a:cubicBezTo>
                  <a:cubicBezTo>
                    <a:pt x="732" y="2168"/>
                    <a:pt x="750" y="2229"/>
                    <a:pt x="729" y="2278"/>
                  </a:cubicBezTo>
                  <a:cubicBezTo>
                    <a:pt x="726" y="2282"/>
                    <a:pt x="724" y="2287"/>
                    <a:pt x="722" y="2292"/>
                  </a:cubicBezTo>
                  <a:cubicBezTo>
                    <a:pt x="697" y="2349"/>
                    <a:pt x="725" y="2412"/>
                    <a:pt x="782" y="2437"/>
                  </a:cubicBezTo>
                  <a:cubicBezTo>
                    <a:pt x="838" y="2461"/>
                    <a:pt x="901" y="2433"/>
                    <a:pt x="926" y="2377"/>
                  </a:cubicBezTo>
                  <a:cubicBezTo>
                    <a:pt x="928" y="2372"/>
                    <a:pt x="930" y="2367"/>
                    <a:pt x="933" y="2363"/>
                  </a:cubicBezTo>
                  <a:cubicBezTo>
                    <a:pt x="954" y="2310"/>
                    <a:pt x="1010" y="2282"/>
                    <a:pt x="1063" y="2292"/>
                  </a:cubicBezTo>
                  <a:cubicBezTo>
                    <a:pt x="1120" y="2303"/>
                    <a:pt x="1158" y="2352"/>
                    <a:pt x="1158" y="2409"/>
                  </a:cubicBezTo>
                  <a:cubicBezTo>
                    <a:pt x="1158" y="2414"/>
                    <a:pt x="1158" y="2420"/>
                    <a:pt x="1158" y="2426"/>
                  </a:cubicBezTo>
                  <a:cubicBezTo>
                    <a:pt x="1158" y="2486"/>
                    <a:pt x="1208" y="2535"/>
                    <a:pt x="1267" y="2535"/>
                  </a:cubicBezTo>
                  <a:cubicBezTo>
                    <a:pt x="1327" y="2535"/>
                    <a:pt x="1377" y="2486"/>
                    <a:pt x="1377" y="2426"/>
                  </a:cubicBezTo>
                  <a:cubicBezTo>
                    <a:pt x="1377" y="2420"/>
                    <a:pt x="1377" y="2414"/>
                    <a:pt x="1377" y="2409"/>
                  </a:cubicBezTo>
                  <a:cubicBezTo>
                    <a:pt x="1377" y="2352"/>
                    <a:pt x="1415" y="2306"/>
                    <a:pt x="1472" y="2292"/>
                  </a:cubicBezTo>
                  <a:cubicBezTo>
                    <a:pt x="1528" y="2282"/>
                    <a:pt x="1581" y="2310"/>
                    <a:pt x="1602" y="2363"/>
                  </a:cubicBezTo>
                  <a:cubicBezTo>
                    <a:pt x="1604" y="2367"/>
                    <a:pt x="1606" y="2372"/>
                    <a:pt x="1609" y="2377"/>
                  </a:cubicBezTo>
                  <a:cubicBezTo>
                    <a:pt x="1634" y="2433"/>
                    <a:pt x="1697" y="2461"/>
                    <a:pt x="1753" y="2437"/>
                  </a:cubicBezTo>
                  <a:cubicBezTo>
                    <a:pt x="1810" y="2412"/>
                    <a:pt x="1838" y="2349"/>
                    <a:pt x="1813" y="2292"/>
                  </a:cubicBezTo>
                  <a:cubicBezTo>
                    <a:pt x="1810" y="2287"/>
                    <a:pt x="1808" y="2282"/>
                    <a:pt x="1806" y="2278"/>
                  </a:cubicBezTo>
                  <a:cubicBezTo>
                    <a:pt x="1785" y="2225"/>
                    <a:pt x="1803" y="2166"/>
                    <a:pt x="1848" y="2137"/>
                  </a:cubicBezTo>
                  <a:cubicBezTo>
                    <a:pt x="1894" y="2106"/>
                    <a:pt x="1957" y="2113"/>
                    <a:pt x="1996" y="2152"/>
                  </a:cubicBezTo>
                  <a:cubicBezTo>
                    <a:pt x="1999" y="2155"/>
                    <a:pt x="2003" y="2158"/>
                    <a:pt x="2007" y="2162"/>
                  </a:cubicBezTo>
                  <a:cubicBezTo>
                    <a:pt x="2049" y="2204"/>
                    <a:pt x="2119" y="2204"/>
                    <a:pt x="2162" y="2162"/>
                  </a:cubicBezTo>
                  <a:cubicBezTo>
                    <a:pt x="2204" y="2120"/>
                    <a:pt x="2204" y="2049"/>
                    <a:pt x="2162" y="2007"/>
                  </a:cubicBezTo>
                  <a:cubicBezTo>
                    <a:pt x="2158" y="2003"/>
                    <a:pt x="2154" y="2000"/>
                    <a:pt x="2151" y="1997"/>
                  </a:cubicBezTo>
                  <a:cubicBezTo>
                    <a:pt x="2112" y="1958"/>
                    <a:pt x="2105" y="1894"/>
                    <a:pt x="2137" y="1849"/>
                  </a:cubicBezTo>
                  <a:cubicBezTo>
                    <a:pt x="2169" y="1803"/>
                    <a:pt x="2229" y="1785"/>
                    <a:pt x="2278" y="1806"/>
                  </a:cubicBezTo>
                  <a:cubicBezTo>
                    <a:pt x="2282" y="1808"/>
                    <a:pt x="2287" y="1810"/>
                    <a:pt x="2292" y="1813"/>
                  </a:cubicBezTo>
                  <a:cubicBezTo>
                    <a:pt x="2348" y="1838"/>
                    <a:pt x="2412" y="1810"/>
                    <a:pt x="2436" y="1754"/>
                  </a:cubicBezTo>
                  <a:cubicBezTo>
                    <a:pt x="2461" y="1697"/>
                    <a:pt x="2433" y="1634"/>
                    <a:pt x="2376" y="1609"/>
                  </a:cubicBezTo>
                  <a:cubicBezTo>
                    <a:pt x="2371" y="1606"/>
                    <a:pt x="2366" y="1604"/>
                    <a:pt x="2362" y="1602"/>
                  </a:cubicBezTo>
                  <a:cubicBezTo>
                    <a:pt x="2310" y="1581"/>
                    <a:pt x="2281" y="1525"/>
                    <a:pt x="2292" y="1472"/>
                  </a:cubicBezTo>
                  <a:cubicBezTo>
                    <a:pt x="2302" y="1416"/>
                    <a:pt x="2352" y="1377"/>
                    <a:pt x="2408" y="1377"/>
                  </a:cubicBezTo>
                  <a:cubicBezTo>
                    <a:pt x="2414" y="1377"/>
                    <a:pt x="2420" y="1377"/>
                    <a:pt x="2426" y="1377"/>
                  </a:cubicBezTo>
                  <a:cubicBezTo>
                    <a:pt x="2486" y="1377"/>
                    <a:pt x="2535" y="1328"/>
                    <a:pt x="2535" y="1268"/>
                  </a:cubicBezTo>
                  <a:cubicBezTo>
                    <a:pt x="2535" y="1208"/>
                    <a:pt x="2486" y="1159"/>
                    <a:pt x="2426" y="1159"/>
                  </a:cubicBezTo>
                  <a:cubicBezTo>
                    <a:pt x="2420" y="1159"/>
                    <a:pt x="2414" y="1159"/>
                    <a:pt x="2408" y="1159"/>
                  </a:cubicBezTo>
                  <a:cubicBezTo>
                    <a:pt x="2352" y="1159"/>
                    <a:pt x="2306" y="1120"/>
                    <a:pt x="2292" y="1063"/>
                  </a:cubicBezTo>
                  <a:cubicBezTo>
                    <a:pt x="2281" y="1007"/>
                    <a:pt x="2310" y="954"/>
                    <a:pt x="2362" y="933"/>
                  </a:cubicBezTo>
                  <a:cubicBezTo>
                    <a:pt x="2366" y="930"/>
                    <a:pt x="2371" y="928"/>
                    <a:pt x="2376" y="926"/>
                  </a:cubicBezTo>
                  <a:cubicBezTo>
                    <a:pt x="2433" y="901"/>
                    <a:pt x="2460" y="838"/>
                    <a:pt x="2436" y="782"/>
                  </a:cubicBezTo>
                  <a:cubicBezTo>
                    <a:pt x="2411" y="725"/>
                    <a:pt x="2348" y="697"/>
                    <a:pt x="2292" y="722"/>
                  </a:cubicBezTo>
                  <a:cubicBezTo>
                    <a:pt x="2287" y="724"/>
                    <a:pt x="2282" y="726"/>
                    <a:pt x="2278" y="729"/>
                  </a:cubicBezTo>
                  <a:cubicBezTo>
                    <a:pt x="2225" y="750"/>
                    <a:pt x="2165" y="732"/>
                    <a:pt x="2137" y="687"/>
                  </a:cubicBezTo>
                  <a:cubicBezTo>
                    <a:pt x="2105" y="641"/>
                    <a:pt x="2112" y="578"/>
                    <a:pt x="2151" y="539"/>
                  </a:cubicBezTo>
                  <a:cubicBezTo>
                    <a:pt x="2154" y="535"/>
                    <a:pt x="2158" y="531"/>
                    <a:pt x="2162" y="528"/>
                  </a:cubicBezTo>
                  <a:cubicBezTo>
                    <a:pt x="2204" y="486"/>
                    <a:pt x="2204" y="416"/>
                    <a:pt x="2162" y="373"/>
                  </a:cubicBezTo>
                  <a:cubicBezTo>
                    <a:pt x="2119" y="331"/>
                    <a:pt x="2049" y="331"/>
                    <a:pt x="2007" y="373"/>
                  </a:cubicBezTo>
                  <a:cubicBezTo>
                    <a:pt x="2003" y="376"/>
                    <a:pt x="1999" y="380"/>
                    <a:pt x="1996" y="384"/>
                  </a:cubicBezTo>
                  <a:cubicBezTo>
                    <a:pt x="1957" y="423"/>
                    <a:pt x="1893" y="430"/>
                    <a:pt x="1848" y="398"/>
                  </a:cubicBezTo>
                  <a:cubicBezTo>
                    <a:pt x="1802" y="366"/>
                    <a:pt x="1785" y="306"/>
                    <a:pt x="1806" y="257"/>
                  </a:cubicBezTo>
                  <a:cubicBezTo>
                    <a:pt x="1808" y="252"/>
                    <a:pt x="1810" y="247"/>
                    <a:pt x="1813" y="243"/>
                  </a:cubicBezTo>
                  <a:cubicBezTo>
                    <a:pt x="1838" y="187"/>
                    <a:pt x="1810" y="123"/>
                    <a:pt x="1753" y="99"/>
                  </a:cubicBezTo>
                  <a:cubicBezTo>
                    <a:pt x="1697" y="74"/>
                    <a:pt x="1634" y="102"/>
                    <a:pt x="1609" y="159"/>
                  </a:cubicBezTo>
                  <a:cubicBezTo>
                    <a:pt x="1606" y="163"/>
                    <a:pt x="1604" y="168"/>
                    <a:pt x="1602" y="173"/>
                  </a:cubicBezTo>
                  <a:cubicBezTo>
                    <a:pt x="1581" y="225"/>
                    <a:pt x="1524" y="254"/>
                    <a:pt x="1472" y="243"/>
                  </a:cubicBezTo>
                  <a:cubicBezTo>
                    <a:pt x="1415" y="232"/>
                    <a:pt x="1377" y="183"/>
                    <a:pt x="1377" y="127"/>
                  </a:cubicBezTo>
                  <a:cubicBezTo>
                    <a:pt x="1377" y="121"/>
                    <a:pt x="1377" y="115"/>
                    <a:pt x="1377" y="109"/>
                  </a:cubicBezTo>
                  <a:cubicBezTo>
                    <a:pt x="1377" y="49"/>
                    <a:pt x="1327" y="0"/>
                    <a:pt x="1267" y="0"/>
                  </a:cubicBezTo>
                  <a:cubicBezTo>
                    <a:pt x="1208" y="0"/>
                    <a:pt x="1158" y="49"/>
                    <a:pt x="1158" y="109"/>
                  </a:cubicBezTo>
                  <a:cubicBezTo>
                    <a:pt x="1158" y="115"/>
                    <a:pt x="1158" y="121"/>
                    <a:pt x="1158" y="127"/>
                  </a:cubicBezTo>
                  <a:cubicBezTo>
                    <a:pt x="1158" y="183"/>
                    <a:pt x="1120" y="232"/>
                    <a:pt x="1063" y="243"/>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14" name="Group 13">
              <a:extLst>
                <a:ext uri="{FF2B5EF4-FFF2-40B4-BE49-F238E27FC236}">
                  <a16:creationId xmlns:a16="http://schemas.microsoft.com/office/drawing/2014/main" id="{B554DFB1-605E-4706-9153-84F988F48563}"/>
                </a:ext>
              </a:extLst>
            </p:cNvPr>
            <p:cNvGrpSpPr/>
            <p:nvPr/>
          </p:nvGrpSpPr>
          <p:grpSpPr>
            <a:xfrm>
              <a:off x="4857750" y="2393950"/>
              <a:ext cx="482600" cy="431800"/>
              <a:chOff x="4857750" y="2393950"/>
              <a:chExt cx="482600" cy="431800"/>
            </a:xfrm>
          </p:grpSpPr>
          <p:sp>
            <p:nvSpPr>
              <p:cNvPr id="15" name="Freeform 13">
                <a:extLst>
                  <a:ext uri="{FF2B5EF4-FFF2-40B4-BE49-F238E27FC236}">
                    <a16:creationId xmlns:a16="http://schemas.microsoft.com/office/drawing/2014/main" id="{6BAB4154-7096-4B48-98E4-A2AC168AFE00}"/>
                  </a:ext>
                </a:extLst>
              </p:cNvPr>
              <p:cNvSpPr>
                <a:spLocks noChangeArrowheads="1"/>
              </p:cNvSpPr>
              <p:nvPr/>
            </p:nvSpPr>
            <p:spPr bwMode="auto">
              <a:xfrm>
                <a:off x="4857750" y="2393950"/>
                <a:ext cx="452438" cy="431800"/>
              </a:xfrm>
              <a:custGeom>
                <a:avLst/>
                <a:gdLst>
                  <a:gd name="T0" fmla="*/ 511 w 1255"/>
                  <a:gd name="T1" fmla="*/ 327 h 1198"/>
                  <a:gd name="T2" fmla="*/ 1187 w 1255"/>
                  <a:gd name="T3" fmla="*/ 943 h 1198"/>
                  <a:gd name="T4" fmla="*/ 1201 w 1255"/>
                  <a:gd name="T5" fmla="*/ 1141 h 1198"/>
                  <a:gd name="T6" fmla="*/ 1004 w 1255"/>
                  <a:gd name="T7" fmla="*/ 1126 h 1198"/>
                  <a:gd name="T8" fmla="*/ 388 w 1255"/>
                  <a:gd name="T9" fmla="*/ 450 h 1198"/>
                  <a:gd name="T10" fmla="*/ 229 w 1255"/>
                  <a:gd name="T11" fmla="*/ 531 h 1198"/>
                  <a:gd name="T12" fmla="*/ 215 w 1255"/>
                  <a:gd name="T13" fmla="*/ 577 h 1198"/>
                  <a:gd name="T14" fmla="*/ 198 w 1255"/>
                  <a:gd name="T15" fmla="*/ 595 h 1198"/>
                  <a:gd name="T16" fmla="*/ 159 w 1255"/>
                  <a:gd name="T17" fmla="*/ 595 h 1198"/>
                  <a:gd name="T18" fmla="*/ 11 w 1255"/>
                  <a:gd name="T19" fmla="*/ 447 h 1198"/>
                  <a:gd name="T20" fmla="*/ 11 w 1255"/>
                  <a:gd name="T21" fmla="*/ 408 h 1198"/>
                  <a:gd name="T22" fmla="*/ 29 w 1255"/>
                  <a:gd name="T23" fmla="*/ 391 h 1198"/>
                  <a:gd name="T24" fmla="*/ 74 w 1255"/>
                  <a:gd name="T25" fmla="*/ 376 h 1198"/>
                  <a:gd name="T26" fmla="*/ 78 w 1255"/>
                  <a:gd name="T27" fmla="*/ 376 h 1198"/>
                  <a:gd name="T28" fmla="*/ 183 w 1255"/>
                  <a:gd name="T29" fmla="*/ 271 h 1198"/>
                  <a:gd name="T30" fmla="*/ 183 w 1255"/>
                  <a:gd name="T31" fmla="*/ 267 h 1198"/>
                  <a:gd name="T32" fmla="*/ 198 w 1255"/>
                  <a:gd name="T33" fmla="*/ 221 h 1198"/>
                  <a:gd name="T34" fmla="*/ 352 w 1255"/>
                  <a:gd name="T35" fmla="*/ 67 h 1198"/>
                  <a:gd name="T36" fmla="*/ 514 w 1255"/>
                  <a:gd name="T37" fmla="*/ 0 h 1198"/>
                  <a:gd name="T38" fmla="*/ 697 w 1255"/>
                  <a:gd name="T39" fmla="*/ 88 h 1198"/>
                  <a:gd name="T40" fmla="*/ 504 w 1255"/>
                  <a:gd name="T41" fmla="*/ 109 h 1198"/>
                  <a:gd name="T42" fmla="*/ 511 w 1255"/>
                  <a:gd name="T43" fmla="*/ 327 h 1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55" h="1198">
                    <a:moveTo>
                      <a:pt x="511" y="327"/>
                    </a:moveTo>
                    <a:cubicBezTo>
                      <a:pt x="736" y="532"/>
                      <a:pt x="961" y="737"/>
                      <a:pt x="1187" y="943"/>
                    </a:cubicBezTo>
                    <a:cubicBezTo>
                      <a:pt x="1250" y="1000"/>
                      <a:pt x="1254" y="1084"/>
                      <a:pt x="1201" y="1141"/>
                    </a:cubicBezTo>
                    <a:cubicBezTo>
                      <a:pt x="1145" y="1197"/>
                      <a:pt x="1060" y="1190"/>
                      <a:pt x="1004" y="1126"/>
                    </a:cubicBezTo>
                    <a:cubicBezTo>
                      <a:pt x="798" y="900"/>
                      <a:pt x="593" y="675"/>
                      <a:pt x="388" y="450"/>
                    </a:cubicBezTo>
                    <a:cubicBezTo>
                      <a:pt x="317" y="380"/>
                      <a:pt x="215" y="450"/>
                      <a:pt x="229" y="531"/>
                    </a:cubicBezTo>
                    <a:cubicBezTo>
                      <a:pt x="233" y="549"/>
                      <a:pt x="226" y="567"/>
                      <a:pt x="215" y="577"/>
                    </a:cubicBezTo>
                    <a:cubicBezTo>
                      <a:pt x="212" y="581"/>
                      <a:pt x="205" y="588"/>
                      <a:pt x="198" y="595"/>
                    </a:cubicBezTo>
                    <a:cubicBezTo>
                      <a:pt x="187" y="605"/>
                      <a:pt x="169" y="605"/>
                      <a:pt x="159" y="595"/>
                    </a:cubicBezTo>
                    <a:cubicBezTo>
                      <a:pt x="109" y="545"/>
                      <a:pt x="60" y="496"/>
                      <a:pt x="11" y="447"/>
                    </a:cubicBezTo>
                    <a:cubicBezTo>
                      <a:pt x="0" y="436"/>
                      <a:pt x="0" y="419"/>
                      <a:pt x="11" y="408"/>
                    </a:cubicBezTo>
                    <a:cubicBezTo>
                      <a:pt x="17" y="402"/>
                      <a:pt x="23" y="396"/>
                      <a:pt x="29" y="391"/>
                    </a:cubicBezTo>
                    <a:cubicBezTo>
                      <a:pt x="39" y="380"/>
                      <a:pt x="57" y="373"/>
                      <a:pt x="74" y="376"/>
                    </a:cubicBezTo>
                    <a:cubicBezTo>
                      <a:pt x="75" y="376"/>
                      <a:pt x="76" y="376"/>
                      <a:pt x="78" y="376"/>
                    </a:cubicBezTo>
                    <a:cubicBezTo>
                      <a:pt x="138" y="387"/>
                      <a:pt x="194" y="331"/>
                      <a:pt x="183" y="271"/>
                    </a:cubicBezTo>
                    <a:cubicBezTo>
                      <a:pt x="183" y="269"/>
                      <a:pt x="183" y="268"/>
                      <a:pt x="183" y="267"/>
                    </a:cubicBezTo>
                    <a:cubicBezTo>
                      <a:pt x="180" y="250"/>
                      <a:pt x="187" y="232"/>
                      <a:pt x="198" y="221"/>
                    </a:cubicBezTo>
                    <a:cubicBezTo>
                      <a:pt x="249" y="169"/>
                      <a:pt x="300" y="118"/>
                      <a:pt x="352" y="67"/>
                    </a:cubicBezTo>
                    <a:cubicBezTo>
                      <a:pt x="395" y="24"/>
                      <a:pt x="455" y="0"/>
                      <a:pt x="514" y="0"/>
                    </a:cubicBezTo>
                    <a:cubicBezTo>
                      <a:pt x="631" y="0"/>
                      <a:pt x="690" y="77"/>
                      <a:pt x="697" y="88"/>
                    </a:cubicBezTo>
                    <a:cubicBezTo>
                      <a:pt x="652" y="35"/>
                      <a:pt x="557" y="52"/>
                      <a:pt x="504" y="109"/>
                    </a:cubicBezTo>
                    <a:cubicBezTo>
                      <a:pt x="451" y="169"/>
                      <a:pt x="451" y="267"/>
                      <a:pt x="511" y="327"/>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Freeform 14">
                <a:extLst>
                  <a:ext uri="{FF2B5EF4-FFF2-40B4-BE49-F238E27FC236}">
                    <a16:creationId xmlns:a16="http://schemas.microsoft.com/office/drawing/2014/main" id="{90F4CB0C-34DB-4812-A0AD-B37092C15757}"/>
                  </a:ext>
                </a:extLst>
              </p:cNvPr>
              <p:cNvSpPr>
                <a:spLocks noChangeArrowheads="1"/>
              </p:cNvSpPr>
              <p:nvPr/>
            </p:nvSpPr>
            <p:spPr bwMode="auto">
              <a:xfrm>
                <a:off x="4924425" y="2627313"/>
                <a:ext cx="193675" cy="195262"/>
              </a:xfrm>
              <a:custGeom>
                <a:avLst/>
                <a:gdLst>
                  <a:gd name="T0" fmla="*/ 388 w 540"/>
                  <a:gd name="T1" fmla="*/ 0 h 543"/>
                  <a:gd name="T2" fmla="*/ 67 w 540"/>
                  <a:gd name="T3" fmla="*/ 292 h 543"/>
                  <a:gd name="T4" fmla="*/ 57 w 540"/>
                  <a:gd name="T5" fmla="*/ 489 h 543"/>
                  <a:gd name="T6" fmla="*/ 254 w 540"/>
                  <a:gd name="T7" fmla="*/ 478 h 543"/>
                  <a:gd name="T8" fmla="*/ 539 w 540"/>
                  <a:gd name="T9" fmla="*/ 165 h 543"/>
                </a:gdLst>
                <a:ahLst/>
                <a:cxnLst>
                  <a:cxn ang="0">
                    <a:pos x="T0" y="T1"/>
                  </a:cxn>
                  <a:cxn ang="0">
                    <a:pos x="T2" y="T3"/>
                  </a:cxn>
                  <a:cxn ang="0">
                    <a:pos x="T4" y="T5"/>
                  </a:cxn>
                  <a:cxn ang="0">
                    <a:pos x="T6" y="T7"/>
                  </a:cxn>
                  <a:cxn ang="0">
                    <a:pos x="T8" y="T9"/>
                  </a:cxn>
                </a:cxnLst>
                <a:rect l="0" t="0" r="r" b="b"/>
                <a:pathLst>
                  <a:path w="540" h="543">
                    <a:moveTo>
                      <a:pt x="388" y="0"/>
                    </a:moveTo>
                    <a:cubicBezTo>
                      <a:pt x="281" y="97"/>
                      <a:pt x="174" y="194"/>
                      <a:pt x="67" y="292"/>
                    </a:cubicBezTo>
                    <a:cubicBezTo>
                      <a:pt x="4" y="348"/>
                      <a:pt x="0" y="436"/>
                      <a:pt x="57" y="489"/>
                    </a:cubicBezTo>
                    <a:cubicBezTo>
                      <a:pt x="110" y="542"/>
                      <a:pt x="198" y="542"/>
                      <a:pt x="254" y="478"/>
                    </a:cubicBezTo>
                    <a:cubicBezTo>
                      <a:pt x="349" y="373"/>
                      <a:pt x="444" y="269"/>
                      <a:pt x="539" y="165"/>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 name="Freeform 15">
                <a:extLst>
                  <a:ext uri="{FF2B5EF4-FFF2-40B4-BE49-F238E27FC236}">
                    <a16:creationId xmlns:a16="http://schemas.microsoft.com/office/drawing/2014/main" id="{0E83262D-0F40-4147-AFDA-BFFBCA9210F3}"/>
                  </a:ext>
                </a:extLst>
              </p:cNvPr>
              <p:cNvSpPr>
                <a:spLocks noChangeArrowheads="1"/>
              </p:cNvSpPr>
              <p:nvPr/>
            </p:nvSpPr>
            <p:spPr bwMode="auto">
              <a:xfrm>
                <a:off x="5116513" y="2403475"/>
                <a:ext cx="223837" cy="225425"/>
              </a:xfrm>
              <a:custGeom>
                <a:avLst/>
                <a:gdLst>
                  <a:gd name="T0" fmla="*/ 147 w 620"/>
                  <a:gd name="T1" fmla="*/ 627 h 628"/>
                  <a:gd name="T2" fmla="*/ 225 w 620"/>
                  <a:gd name="T3" fmla="*/ 543 h 628"/>
                  <a:gd name="T4" fmla="*/ 278 w 620"/>
                  <a:gd name="T5" fmla="*/ 528 h 628"/>
                  <a:gd name="T6" fmla="*/ 535 w 620"/>
                  <a:gd name="T7" fmla="*/ 462 h 628"/>
                  <a:gd name="T8" fmla="*/ 605 w 620"/>
                  <a:gd name="T9" fmla="*/ 229 h 628"/>
                  <a:gd name="T10" fmla="*/ 580 w 620"/>
                  <a:gd name="T11" fmla="*/ 201 h 628"/>
                  <a:gd name="T12" fmla="*/ 545 w 620"/>
                  <a:gd name="T13" fmla="*/ 208 h 628"/>
                  <a:gd name="T14" fmla="*/ 436 w 620"/>
                  <a:gd name="T15" fmla="*/ 317 h 628"/>
                  <a:gd name="T16" fmla="*/ 306 w 620"/>
                  <a:gd name="T17" fmla="*/ 317 h 628"/>
                  <a:gd name="T18" fmla="*/ 306 w 620"/>
                  <a:gd name="T19" fmla="*/ 187 h 628"/>
                  <a:gd name="T20" fmla="*/ 415 w 620"/>
                  <a:gd name="T21" fmla="*/ 78 h 628"/>
                  <a:gd name="T22" fmla="*/ 426 w 620"/>
                  <a:gd name="T23" fmla="*/ 43 h 628"/>
                  <a:gd name="T24" fmla="*/ 397 w 620"/>
                  <a:gd name="T25" fmla="*/ 18 h 628"/>
                  <a:gd name="T26" fmla="*/ 165 w 620"/>
                  <a:gd name="T27" fmla="*/ 88 h 628"/>
                  <a:gd name="T28" fmla="*/ 102 w 620"/>
                  <a:gd name="T29" fmla="*/ 349 h 628"/>
                  <a:gd name="T30" fmla="*/ 88 w 620"/>
                  <a:gd name="T31" fmla="*/ 405 h 628"/>
                  <a:gd name="T32" fmla="*/ 0 w 620"/>
                  <a:gd name="T33" fmla="*/ 486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628">
                    <a:moveTo>
                      <a:pt x="147" y="627"/>
                    </a:moveTo>
                    <a:cubicBezTo>
                      <a:pt x="173" y="599"/>
                      <a:pt x="199" y="571"/>
                      <a:pt x="225" y="543"/>
                    </a:cubicBezTo>
                    <a:cubicBezTo>
                      <a:pt x="239" y="528"/>
                      <a:pt x="260" y="521"/>
                      <a:pt x="278" y="528"/>
                    </a:cubicBezTo>
                    <a:cubicBezTo>
                      <a:pt x="366" y="553"/>
                      <a:pt x="464" y="532"/>
                      <a:pt x="535" y="462"/>
                    </a:cubicBezTo>
                    <a:cubicBezTo>
                      <a:pt x="598" y="398"/>
                      <a:pt x="619" y="310"/>
                      <a:pt x="605" y="229"/>
                    </a:cubicBezTo>
                    <a:cubicBezTo>
                      <a:pt x="602" y="215"/>
                      <a:pt x="594" y="205"/>
                      <a:pt x="580" y="201"/>
                    </a:cubicBezTo>
                    <a:cubicBezTo>
                      <a:pt x="565" y="197"/>
                      <a:pt x="556" y="201"/>
                      <a:pt x="545" y="208"/>
                    </a:cubicBezTo>
                    <a:cubicBezTo>
                      <a:pt x="524" y="229"/>
                      <a:pt x="489" y="264"/>
                      <a:pt x="436" y="317"/>
                    </a:cubicBezTo>
                    <a:cubicBezTo>
                      <a:pt x="401" y="352"/>
                      <a:pt x="341" y="352"/>
                      <a:pt x="306" y="317"/>
                    </a:cubicBezTo>
                    <a:cubicBezTo>
                      <a:pt x="271" y="282"/>
                      <a:pt x="271" y="222"/>
                      <a:pt x="306" y="187"/>
                    </a:cubicBezTo>
                    <a:cubicBezTo>
                      <a:pt x="342" y="150"/>
                      <a:pt x="378" y="114"/>
                      <a:pt x="415" y="78"/>
                    </a:cubicBezTo>
                    <a:cubicBezTo>
                      <a:pt x="426" y="67"/>
                      <a:pt x="429" y="57"/>
                      <a:pt x="426" y="43"/>
                    </a:cubicBezTo>
                    <a:cubicBezTo>
                      <a:pt x="422" y="28"/>
                      <a:pt x="412" y="21"/>
                      <a:pt x="397" y="18"/>
                    </a:cubicBezTo>
                    <a:cubicBezTo>
                      <a:pt x="316" y="0"/>
                      <a:pt x="227" y="24"/>
                      <a:pt x="165" y="88"/>
                    </a:cubicBezTo>
                    <a:cubicBezTo>
                      <a:pt x="94" y="158"/>
                      <a:pt x="74" y="261"/>
                      <a:pt x="102" y="349"/>
                    </a:cubicBezTo>
                    <a:cubicBezTo>
                      <a:pt x="109" y="370"/>
                      <a:pt x="102" y="391"/>
                      <a:pt x="88" y="405"/>
                    </a:cubicBezTo>
                    <a:cubicBezTo>
                      <a:pt x="70" y="423"/>
                      <a:pt x="42" y="448"/>
                      <a:pt x="0" y="486"/>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grpSp>
      <p:grpSp>
        <p:nvGrpSpPr>
          <p:cNvPr id="18" name="Group 17">
            <a:extLst>
              <a:ext uri="{FF2B5EF4-FFF2-40B4-BE49-F238E27FC236}">
                <a16:creationId xmlns:a16="http://schemas.microsoft.com/office/drawing/2014/main" id="{33FCDE71-CC75-44AF-991A-3C78806181AD}"/>
              </a:ext>
            </a:extLst>
          </p:cNvPr>
          <p:cNvGrpSpPr>
            <a:grpSpLocks noChangeAspect="1"/>
          </p:cNvGrpSpPr>
          <p:nvPr/>
        </p:nvGrpSpPr>
        <p:grpSpPr>
          <a:xfrm>
            <a:off x="5102420" y="2356078"/>
            <a:ext cx="912813" cy="911225"/>
            <a:chOff x="695325" y="3795713"/>
            <a:chExt cx="912813" cy="911225"/>
          </a:xfrm>
        </p:grpSpPr>
        <p:sp>
          <p:nvSpPr>
            <p:cNvPr id="19" name="Freeform 77">
              <a:extLst>
                <a:ext uri="{FF2B5EF4-FFF2-40B4-BE49-F238E27FC236}">
                  <a16:creationId xmlns:a16="http://schemas.microsoft.com/office/drawing/2014/main" id="{9DB874E4-95F0-4AD4-A755-ABA283FAEE08}"/>
                </a:ext>
              </a:extLst>
            </p:cNvPr>
            <p:cNvSpPr>
              <a:spLocks noChangeArrowheads="1"/>
            </p:cNvSpPr>
            <p:nvPr/>
          </p:nvSpPr>
          <p:spPr bwMode="auto">
            <a:xfrm>
              <a:off x="695325" y="3795713"/>
              <a:ext cx="912813" cy="911225"/>
            </a:xfrm>
            <a:custGeom>
              <a:avLst/>
              <a:gdLst>
                <a:gd name="T0" fmla="*/ 933 w 2536"/>
                <a:gd name="T1" fmla="*/ 169 h 2532"/>
                <a:gd name="T2" fmla="*/ 781 w 2536"/>
                <a:gd name="T3" fmla="*/ 95 h 2532"/>
                <a:gd name="T4" fmla="*/ 728 w 2536"/>
                <a:gd name="T5" fmla="*/ 253 h 2532"/>
                <a:gd name="T6" fmla="*/ 538 w 2536"/>
                <a:gd name="T7" fmla="*/ 380 h 2532"/>
                <a:gd name="T8" fmla="*/ 373 w 2536"/>
                <a:gd name="T9" fmla="*/ 369 h 2532"/>
                <a:gd name="T10" fmla="*/ 383 w 2536"/>
                <a:gd name="T11" fmla="*/ 535 h 2532"/>
                <a:gd name="T12" fmla="*/ 257 w 2536"/>
                <a:gd name="T13" fmla="*/ 725 h 2532"/>
                <a:gd name="T14" fmla="*/ 98 w 2536"/>
                <a:gd name="T15" fmla="*/ 778 h 2532"/>
                <a:gd name="T16" fmla="*/ 172 w 2536"/>
                <a:gd name="T17" fmla="*/ 929 h 2532"/>
                <a:gd name="T18" fmla="*/ 126 w 2536"/>
                <a:gd name="T19" fmla="*/ 1155 h 2532"/>
                <a:gd name="T20" fmla="*/ 0 w 2536"/>
                <a:gd name="T21" fmla="*/ 1264 h 2532"/>
                <a:gd name="T22" fmla="*/ 126 w 2536"/>
                <a:gd name="T23" fmla="*/ 1373 h 2532"/>
                <a:gd name="T24" fmla="*/ 172 w 2536"/>
                <a:gd name="T25" fmla="*/ 1598 h 2532"/>
                <a:gd name="T26" fmla="*/ 98 w 2536"/>
                <a:gd name="T27" fmla="*/ 1750 h 2532"/>
                <a:gd name="T28" fmla="*/ 257 w 2536"/>
                <a:gd name="T29" fmla="*/ 1803 h 2532"/>
                <a:gd name="T30" fmla="*/ 383 w 2536"/>
                <a:gd name="T31" fmla="*/ 1993 h 2532"/>
                <a:gd name="T32" fmla="*/ 373 w 2536"/>
                <a:gd name="T33" fmla="*/ 2158 h 2532"/>
                <a:gd name="T34" fmla="*/ 538 w 2536"/>
                <a:gd name="T35" fmla="*/ 2148 h 2532"/>
                <a:gd name="T36" fmla="*/ 728 w 2536"/>
                <a:gd name="T37" fmla="*/ 2274 h 2532"/>
                <a:gd name="T38" fmla="*/ 781 w 2536"/>
                <a:gd name="T39" fmla="*/ 2433 h 2532"/>
                <a:gd name="T40" fmla="*/ 933 w 2536"/>
                <a:gd name="T41" fmla="*/ 2359 h 2532"/>
                <a:gd name="T42" fmla="*/ 1158 w 2536"/>
                <a:gd name="T43" fmla="*/ 2405 h 2532"/>
                <a:gd name="T44" fmla="*/ 1267 w 2536"/>
                <a:gd name="T45" fmla="*/ 2531 h 2532"/>
                <a:gd name="T46" fmla="*/ 1376 w 2536"/>
                <a:gd name="T47" fmla="*/ 2405 h 2532"/>
                <a:gd name="T48" fmla="*/ 1602 w 2536"/>
                <a:gd name="T49" fmla="*/ 2359 h 2532"/>
                <a:gd name="T50" fmla="*/ 1753 w 2536"/>
                <a:gd name="T51" fmla="*/ 2433 h 2532"/>
                <a:gd name="T52" fmla="*/ 1806 w 2536"/>
                <a:gd name="T53" fmla="*/ 2274 h 2532"/>
                <a:gd name="T54" fmla="*/ 1996 w 2536"/>
                <a:gd name="T55" fmla="*/ 2148 h 2532"/>
                <a:gd name="T56" fmla="*/ 2161 w 2536"/>
                <a:gd name="T57" fmla="*/ 2158 h 2532"/>
                <a:gd name="T58" fmla="*/ 2151 w 2536"/>
                <a:gd name="T59" fmla="*/ 1993 h 2532"/>
                <a:gd name="T60" fmla="*/ 2278 w 2536"/>
                <a:gd name="T61" fmla="*/ 1803 h 2532"/>
                <a:gd name="T62" fmla="*/ 2436 w 2536"/>
                <a:gd name="T63" fmla="*/ 1750 h 2532"/>
                <a:gd name="T64" fmla="*/ 2362 w 2536"/>
                <a:gd name="T65" fmla="*/ 1598 h 2532"/>
                <a:gd name="T66" fmla="*/ 2408 w 2536"/>
                <a:gd name="T67" fmla="*/ 1373 h 2532"/>
                <a:gd name="T68" fmla="*/ 2535 w 2536"/>
                <a:gd name="T69" fmla="*/ 1264 h 2532"/>
                <a:gd name="T70" fmla="*/ 2408 w 2536"/>
                <a:gd name="T71" fmla="*/ 1155 h 2532"/>
                <a:gd name="T72" fmla="*/ 2362 w 2536"/>
                <a:gd name="T73" fmla="*/ 929 h 2532"/>
                <a:gd name="T74" fmla="*/ 2436 w 2536"/>
                <a:gd name="T75" fmla="*/ 778 h 2532"/>
                <a:gd name="T76" fmla="*/ 2278 w 2536"/>
                <a:gd name="T77" fmla="*/ 725 h 2532"/>
                <a:gd name="T78" fmla="*/ 2151 w 2536"/>
                <a:gd name="T79" fmla="*/ 535 h 2532"/>
                <a:gd name="T80" fmla="*/ 2161 w 2536"/>
                <a:gd name="T81" fmla="*/ 369 h 2532"/>
                <a:gd name="T82" fmla="*/ 1996 w 2536"/>
                <a:gd name="T83" fmla="*/ 380 h 2532"/>
                <a:gd name="T84" fmla="*/ 1806 w 2536"/>
                <a:gd name="T85" fmla="*/ 253 h 2532"/>
                <a:gd name="T86" fmla="*/ 1753 w 2536"/>
                <a:gd name="T87" fmla="*/ 95 h 2532"/>
                <a:gd name="T88" fmla="*/ 1602 w 2536"/>
                <a:gd name="T89" fmla="*/ 169 h 2532"/>
                <a:gd name="T90" fmla="*/ 1376 w 2536"/>
                <a:gd name="T91" fmla="*/ 123 h 2532"/>
                <a:gd name="T92" fmla="*/ 1267 w 2536"/>
                <a:gd name="T93" fmla="*/ 0 h 2532"/>
                <a:gd name="T94" fmla="*/ 1158 w 2536"/>
                <a:gd name="T95" fmla="*/ 126 h 2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36" h="2532">
                  <a:moveTo>
                    <a:pt x="1063" y="239"/>
                  </a:moveTo>
                  <a:cubicBezTo>
                    <a:pt x="1007" y="250"/>
                    <a:pt x="954" y="221"/>
                    <a:pt x="933" y="169"/>
                  </a:cubicBezTo>
                  <a:cubicBezTo>
                    <a:pt x="931" y="165"/>
                    <a:pt x="928" y="160"/>
                    <a:pt x="926" y="155"/>
                  </a:cubicBezTo>
                  <a:cubicBezTo>
                    <a:pt x="901" y="98"/>
                    <a:pt x="837" y="71"/>
                    <a:pt x="781" y="95"/>
                  </a:cubicBezTo>
                  <a:cubicBezTo>
                    <a:pt x="724" y="120"/>
                    <a:pt x="697" y="183"/>
                    <a:pt x="721" y="239"/>
                  </a:cubicBezTo>
                  <a:cubicBezTo>
                    <a:pt x="723" y="244"/>
                    <a:pt x="726" y="249"/>
                    <a:pt x="728" y="253"/>
                  </a:cubicBezTo>
                  <a:cubicBezTo>
                    <a:pt x="750" y="306"/>
                    <a:pt x="732" y="366"/>
                    <a:pt x="686" y="394"/>
                  </a:cubicBezTo>
                  <a:cubicBezTo>
                    <a:pt x="640" y="426"/>
                    <a:pt x="577" y="419"/>
                    <a:pt x="538" y="380"/>
                  </a:cubicBezTo>
                  <a:cubicBezTo>
                    <a:pt x="535" y="377"/>
                    <a:pt x="531" y="373"/>
                    <a:pt x="528" y="369"/>
                  </a:cubicBezTo>
                  <a:cubicBezTo>
                    <a:pt x="486" y="327"/>
                    <a:pt x="415" y="327"/>
                    <a:pt x="373" y="369"/>
                  </a:cubicBezTo>
                  <a:cubicBezTo>
                    <a:pt x="331" y="412"/>
                    <a:pt x="331" y="482"/>
                    <a:pt x="373" y="524"/>
                  </a:cubicBezTo>
                  <a:cubicBezTo>
                    <a:pt x="376" y="528"/>
                    <a:pt x="380" y="532"/>
                    <a:pt x="383" y="535"/>
                  </a:cubicBezTo>
                  <a:cubicBezTo>
                    <a:pt x="422" y="574"/>
                    <a:pt x="429" y="637"/>
                    <a:pt x="398" y="683"/>
                  </a:cubicBezTo>
                  <a:cubicBezTo>
                    <a:pt x="366" y="729"/>
                    <a:pt x="306" y="746"/>
                    <a:pt x="257" y="725"/>
                  </a:cubicBezTo>
                  <a:cubicBezTo>
                    <a:pt x="252" y="723"/>
                    <a:pt x="248" y="721"/>
                    <a:pt x="243" y="718"/>
                  </a:cubicBezTo>
                  <a:cubicBezTo>
                    <a:pt x="186" y="693"/>
                    <a:pt x="123" y="722"/>
                    <a:pt x="98" y="778"/>
                  </a:cubicBezTo>
                  <a:cubicBezTo>
                    <a:pt x="74" y="834"/>
                    <a:pt x="102" y="898"/>
                    <a:pt x="158" y="922"/>
                  </a:cubicBezTo>
                  <a:cubicBezTo>
                    <a:pt x="163" y="925"/>
                    <a:pt x="167" y="927"/>
                    <a:pt x="172" y="929"/>
                  </a:cubicBezTo>
                  <a:cubicBezTo>
                    <a:pt x="225" y="950"/>
                    <a:pt x="253" y="1007"/>
                    <a:pt x="243" y="1060"/>
                  </a:cubicBezTo>
                  <a:cubicBezTo>
                    <a:pt x="232" y="1116"/>
                    <a:pt x="183" y="1155"/>
                    <a:pt x="126" y="1155"/>
                  </a:cubicBezTo>
                  <a:cubicBezTo>
                    <a:pt x="120" y="1155"/>
                    <a:pt x="115" y="1155"/>
                    <a:pt x="109" y="1155"/>
                  </a:cubicBezTo>
                  <a:cubicBezTo>
                    <a:pt x="49" y="1155"/>
                    <a:pt x="0" y="1204"/>
                    <a:pt x="0" y="1264"/>
                  </a:cubicBezTo>
                  <a:cubicBezTo>
                    <a:pt x="0" y="1324"/>
                    <a:pt x="49" y="1373"/>
                    <a:pt x="109" y="1373"/>
                  </a:cubicBezTo>
                  <a:cubicBezTo>
                    <a:pt x="115" y="1373"/>
                    <a:pt x="120" y="1373"/>
                    <a:pt x="126" y="1373"/>
                  </a:cubicBezTo>
                  <a:cubicBezTo>
                    <a:pt x="183" y="1373"/>
                    <a:pt x="229" y="1412"/>
                    <a:pt x="243" y="1468"/>
                  </a:cubicBezTo>
                  <a:cubicBezTo>
                    <a:pt x="253" y="1524"/>
                    <a:pt x="225" y="1577"/>
                    <a:pt x="172" y="1598"/>
                  </a:cubicBezTo>
                  <a:cubicBezTo>
                    <a:pt x="167" y="1601"/>
                    <a:pt x="163" y="1603"/>
                    <a:pt x="158" y="1605"/>
                  </a:cubicBezTo>
                  <a:cubicBezTo>
                    <a:pt x="102" y="1630"/>
                    <a:pt x="74" y="1693"/>
                    <a:pt x="98" y="1750"/>
                  </a:cubicBezTo>
                  <a:cubicBezTo>
                    <a:pt x="123" y="1806"/>
                    <a:pt x="186" y="1834"/>
                    <a:pt x="243" y="1810"/>
                  </a:cubicBezTo>
                  <a:cubicBezTo>
                    <a:pt x="248" y="1808"/>
                    <a:pt x="252" y="1806"/>
                    <a:pt x="257" y="1803"/>
                  </a:cubicBezTo>
                  <a:cubicBezTo>
                    <a:pt x="310" y="1781"/>
                    <a:pt x="369" y="1799"/>
                    <a:pt x="398" y="1845"/>
                  </a:cubicBezTo>
                  <a:cubicBezTo>
                    <a:pt x="429" y="1891"/>
                    <a:pt x="422" y="1954"/>
                    <a:pt x="383" y="1993"/>
                  </a:cubicBezTo>
                  <a:cubicBezTo>
                    <a:pt x="380" y="1997"/>
                    <a:pt x="376" y="2000"/>
                    <a:pt x="373" y="2003"/>
                  </a:cubicBezTo>
                  <a:cubicBezTo>
                    <a:pt x="331" y="2045"/>
                    <a:pt x="331" y="2116"/>
                    <a:pt x="373" y="2158"/>
                  </a:cubicBezTo>
                  <a:cubicBezTo>
                    <a:pt x="415" y="2200"/>
                    <a:pt x="486" y="2200"/>
                    <a:pt x="528" y="2158"/>
                  </a:cubicBezTo>
                  <a:cubicBezTo>
                    <a:pt x="531" y="2155"/>
                    <a:pt x="535" y="2152"/>
                    <a:pt x="538" y="2148"/>
                  </a:cubicBezTo>
                  <a:cubicBezTo>
                    <a:pt x="577" y="2109"/>
                    <a:pt x="640" y="2102"/>
                    <a:pt x="686" y="2134"/>
                  </a:cubicBezTo>
                  <a:cubicBezTo>
                    <a:pt x="732" y="2165"/>
                    <a:pt x="750" y="2225"/>
                    <a:pt x="728" y="2274"/>
                  </a:cubicBezTo>
                  <a:cubicBezTo>
                    <a:pt x="726" y="2279"/>
                    <a:pt x="723" y="2284"/>
                    <a:pt x="721" y="2288"/>
                  </a:cubicBezTo>
                  <a:cubicBezTo>
                    <a:pt x="697" y="2345"/>
                    <a:pt x="725" y="2408"/>
                    <a:pt x="781" y="2433"/>
                  </a:cubicBezTo>
                  <a:cubicBezTo>
                    <a:pt x="838" y="2457"/>
                    <a:pt x="901" y="2429"/>
                    <a:pt x="926" y="2373"/>
                  </a:cubicBezTo>
                  <a:cubicBezTo>
                    <a:pt x="928" y="2369"/>
                    <a:pt x="931" y="2364"/>
                    <a:pt x="933" y="2359"/>
                  </a:cubicBezTo>
                  <a:cubicBezTo>
                    <a:pt x="954" y="2306"/>
                    <a:pt x="1010" y="2278"/>
                    <a:pt x="1063" y="2288"/>
                  </a:cubicBezTo>
                  <a:cubicBezTo>
                    <a:pt x="1119" y="2299"/>
                    <a:pt x="1158" y="2348"/>
                    <a:pt x="1158" y="2405"/>
                  </a:cubicBezTo>
                  <a:cubicBezTo>
                    <a:pt x="1158" y="2411"/>
                    <a:pt x="1158" y="2417"/>
                    <a:pt x="1158" y="2422"/>
                  </a:cubicBezTo>
                  <a:cubicBezTo>
                    <a:pt x="1158" y="2482"/>
                    <a:pt x="1207" y="2531"/>
                    <a:pt x="1267" y="2531"/>
                  </a:cubicBezTo>
                  <a:cubicBezTo>
                    <a:pt x="1327" y="2531"/>
                    <a:pt x="1376" y="2482"/>
                    <a:pt x="1376" y="2422"/>
                  </a:cubicBezTo>
                  <a:cubicBezTo>
                    <a:pt x="1376" y="2417"/>
                    <a:pt x="1376" y="2411"/>
                    <a:pt x="1376" y="2405"/>
                  </a:cubicBezTo>
                  <a:cubicBezTo>
                    <a:pt x="1376" y="2348"/>
                    <a:pt x="1415" y="2303"/>
                    <a:pt x="1471" y="2288"/>
                  </a:cubicBezTo>
                  <a:cubicBezTo>
                    <a:pt x="1528" y="2278"/>
                    <a:pt x="1580" y="2306"/>
                    <a:pt x="1602" y="2359"/>
                  </a:cubicBezTo>
                  <a:cubicBezTo>
                    <a:pt x="1604" y="2364"/>
                    <a:pt x="1607" y="2369"/>
                    <a:pt x="1609" y="2373"/>
                  </a:cubicBezTo>
                  <a:cubicBezTo>
                    <a:pt x="1633" y="2429"/>
                    <a:pt x="1697" y="2458"/>
                    <a:pt x="1753" y="2433"/>
                  </a:cubicBezTo>
                  <a:cubicBezTo>
                    <a:pt x="1809" y="2409"/>
                    <a:pt x="1837" y="2345"/>
                    <a:pt x="1813" y="2288"/>
                  </a:cubicBezTo>
                  <a:cubicBezTo>
                    <a:pt x="1811" y="2284"/>
                    <a:pt x="1808" y="2279"/>
                    <a:pt x="1806" y="2274"/>
                  </a:cubicBezTo>
                  <a:cubicBezTo>
                    <a:pt x="1785" y="2222"/>
                    <a:pt x="1802" y="2162"/>
                    <a:pt x="1848" y="2134"/>
                  </a:cubicBezTo>
                  <a:cubicBezTo>
                    <a:pt x="1894" y="2102"/>
                    <a:pt x="1957" y="2109"/>
                    <a:pt x="1996" y="2148"/>
                  </a:cubicBezTo>
                  <a:cubicBezTo>
                    <a:pt x="1999" y="2152"/>
                    <a:pt x="2003" y="2155"/>
                    <a:pt x="2006" y="2158"/>
                  </a:cubicBezTo>
                  <a:cubicBezTo>
                    <a:pt x="2049" y="2200"/>
                    <a:pt x="2118" y="2200"/>
                    <a:pt x="2161" y="2158"/>
                  </a:cubicBezTo>
                  <a:cubicBezTo>
                    <a:pt x="2203" y="2116"/>
                    <a:pt x="2204" y="2045"/>
                    <a:pt x="2161" y="2003"/>
                  </a:cubicBezTo>
                  <a:cubicBezTo>
                    <a:pt x="2158" y="2000"/>
                    <a:pt x="2154" y="1997"/>
                    <a:pt x="2151" y="1993"/>
                  </a:cubicBezTo>
                  <a:cubicBezTo>
                    <a:pt x="2112" y="1954"/>
                    <a:pt x="2105" y="1891"/>
                    <a:pt x="2137" y="1845"/>
                  </a:cubicBezTo>
                  <a:cubicBezTo>
                    <a:pt x="2168" y="1799"/>
                    <a:pt x="2228" y="1781"/>
                    <a:pt x="2278" y="1803"/>
                  </a:cubicBezTo>
                  <a:cubicBezTo>
                    <a:pt x="2283" y="1806"/>
                    <a:pt x="2287" y="1808"/>
                    <a:pt x="2292" y="1810"/>
                  </a:cubicBezTo>
                  <a:cubicBezTo>
                    <a:pt x="2348" y="1834"/>
                    <a:pt x="2411" y="1806"/>
                    <a:pt x="2436" y="1750"/>
                  </a:cubicBezTo>
                  <a:cubicBezTo>
                    <a:pt x="2461" y="1693"/>
                    <a:pt x="2432" y="1630"/>
                    <a:pt x="2376" y="1605"/>
                  </a:cubicBezTo>
                  <a:cubicBezTo>
                    <a:pt x="2371" y="1603"/>
                    <a:pt x="2367" y="1601"/>
                    <a:pt x="2362" y="1598"/>
                  </a:cubicBezTo>
                  <a:cubicBezTo>
                    <a:pt x="2309" y="1577"/>
                    <a:pt x="2281" y="1521"/>
                    <a:pt x="2292" y="1468"/>
                  </a:cubicBezTo>
                  <a:cubicBezTo>
                    <a:pt x="2302" y="1412"/>
                    <a:pt x="2351" y="1373"/>
                    <a:pt x="2408" y="1373"/>
                  </a:cubicBezTo>
                  <a:cubicBezTo>
                    <a:pt x="2414" y="1373"/>
                    <a:pt x="2419" y="1373"/>
                    <a:pt x="2425" y="1373"/>
                  </a:cubicBezTo>
                  <a:cubicBezTo>
                    <a:pt x="2485" y="1373"/>
                    <a:pt x="2535" y="1324"/>
                    <a:pt x="2535" y="1264"/>
                  </a:cubicBezTo>
                  <a:cubicBezTo>
                    <a:pt x="2535" y="1204"/>
                    <a:pt x="2485" y="1155"/>
                    <a:pt x="2425" y="1155"/>
                  </a:cubicBezTo>
                  <a:cubicBezTo>
                    <a:pt x="2419" y="1155"/>
                    <a:pt x="2414" y="1155"/>
                    <a:pt x="2408" y="1155"/>
                  </a:cubicBezTo>
                  <a:cubicBezTo>
                    <a:pt x="2351" y="1155"/>
                    <a:pt x="2306" y="1116"/>
                    <a:pt x="2292" y="1060"/>
                  </a:cubicBezTo>
                  <a:cubicBezTo>
                    <a:pt x="2281" y="1003"/>
                    <a:pt x="2309" y="950"/>
                    <a:pt x="2362" y="929"/>
                  </a:cubicBezTo>
                  <a:cubicBezTo>
                    <a:pt x="2367" y="927"/>
                    <a:pt x="2371" y="925"/>
                    <a:pt x="2376" y="922"/>
                  </a:cubicBezTo>
                  <a:cubicBezTo>
                    <a:pt x="2432" y="898"/>
                    <a:pt x="2461" y="834"/>
                    <a:pt x="2436" y="778"/>
                  </a:cubicBezTo>
                  <a:cubicBezTo>
                    <a:pt x="2411" y="722"/>
                    <a:pt x="2348" y="693"/>
                    <a:pt x="2292" y="718"/>
                  </a:cubicBezTo>
                  <a:cubicBezTo>
                    <a:pt x="2287" y="721"/>
                    <a:pt x="2283" y="723"/>
                    <a:pt x="2278" y="725"/>
                  </a:cubicBezTo>
                  <a:cubicBezTo>
                    <a:pt x="2225" y="746"/>
                    <a:pt x="2165" y="729"/>
                    <a:pt x="2137" y="683"/>
                  </a:cubicBezTo>
                  <a:cubicBezTo>
                    <a:pt x="2105" y="637"/>
                    <a:pt x="2112" y="574"/>
                    <a:pt x="2151" y="535"/>
                  </a:cubicBezTo>
                  <a:cubicBezTo>
                    <a:pt x="2154" y="532"/>
                    <a:pt x="2158" y="528"/>
                    <a:pt x="2161" y="524"/>
                  </a:cubicBezTo>
                  <a:cubicBezTo>
                    <a:pt x="2204" y="482"/>
                    <a:pt x="2203" y="412"/>
                    <a:pt x="2161" y="369"/>
                  </a:cubicBezTo>
                  <a:cubicBezTo>
                    <a:pt x="2118" y="327"/>
                    <a:pt x="2049" y="327"/>
                    <a:pt x="2006" y="369"/>
                  </a:cubicBezTo>
                  <a:cubicBezTo>
                    <a:pt x="2003" y="373"/>
                    <a:pt x="1999" y="377"/>
                    <a:pt x="1996" y="380"/>
                  </a:cubicBezTo>
                  <a:cubicBezTo>
                    <a:pt x="1957" y="419"/>
                    <a:pt x="1894" y="426"/>
                    <a:pt x="1848" y="394"/>
                  </a:cubicBezTo>
                  <a:cubicBezTo>
                    <a:pt x="1802" y="362"/>
                    <a:pt x="1785" y="302"/>
                    <a:pt x="1806" y="253"/>
                  </a:cubicBezTo>
                  <a:cubicBezTo>
                    <a:pt x="1808" y="249"/>
                    <a:pt x="1811" y="244"/>
                    <a:pt x="1813" y="239"/>
                  </a:cubicBezTo>
                  <a:cubicBezTo>
                    <a:pt x="1837" y="183"/>
                    <a:pt x="1809" y="119"/>
                    <a:pt x="1753" y="95"/>
                  </a:cubicBezTo>
                  <a:cubicBezTo>
                    <a:pt x="1697" y="70"/>
                    <a:pt x="1633" y="98"/>
                    <a:pt x="1609" y="155"/>
                  </a:cubicBezTo>
                  <a:cubicBezTo>
                    <a:pt x="1607" y="160"/>
                    <a:pt x="1604" y="165"/>
                    <a:pt x="1602" y="169"/>
                  </a:cubicBezTo>
                  <a:cubicBezTo>
                    <a:pt x="1580" y="221"/>
                    <a:pt x="1524" y="250"/>
                    <a:pt x="1471" y="239"/>
                  </a:cubicBezTo>
                  <a:cubicBezTo>
                    <a:pt x="1415" y="229"/>
                    <a:pt x="1376" y="179"/>
                    <a:pt x="1376" y="123"/>
                  </a:cubicBezTo>
                  <a:cubicBezTo>
                    <a:pt x="1376" y="119"/>
                    <a:pt x="1376" y="114"/>
                    <a:pt x="1376" y="109"/>
                  </a:cubicBezTo>
                  <a:cubicBezTo>
                    <a:pt x="1376" y="49"/>
                    <a:pt x="1327" y="0"/>
                    <a:pt x="1267" y="0"/>
                  </a:cubicBezTo>
                  <a:cubicBezTo>
                    <a:pt x="1207" y="0"/>
                    <a:pt x="1158" y="49"/>
                    <a:pt x="1158" y="109"/>
                  </a:cubicBezTo>
                  <a:cubicBezTo>
                    <a:pt x="1158" y="115"/>
                    <a:pt x="1158" y="121"/>
                    <a:pt x="1158" y="126"/>
                  </a:cubicBezTo>
                  <a:cubicBezTo>
                    <a:pt x="1158" y="179"/>
                    <a:pt x="1119" y="229"/>
                    <a:pt x="1063" y="239"/>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20" name="Group 19">
              <a:extLst>
                <a:ext uri="{FF2B5EF4-FFF2-40B4-BE49-F238E27FC236}">
                  <a16:creationId xmlns:a16="http://schemas.microsoft.com/office/drawing/2014/main" id="{C665CC05-D775-43C6-90BB-B994C60815B7}"/>
                </a:ext>
              </a:extLst>
            </p:cNvPr>
            <p:cNvGrpSpPr/>
            <p:nvPr/>
          </p:nvGrpSpPr>
          <p:grpSpPr>
            <a:xfrm>
              <a:off x="898525" y="3997325"/>
              <a:ext cx="508000" cy="506413"/>
              <a:chOff x="898525" y="3997325"/>
              <a:chExt cx="508000" cy="506413"/>
            </a:xfrm>
          </p:grpSpPr>
          <p:sp>
            <p:nvSpPr>
              <p:cNvPr id="21" name="Freeform 78">
                <a:extLst>
                  <a:ext uri="{FF2B5EF4-FFF2-40B4-BE49-F238E27FC236}">
                    <a16:creationId xmlns:a16="http://schemas.microsoft.com/office/drawing/2014/main" id="{9594AA28-BC29-4F69-BCAA-6BFEEFAF20E6}"/>
                  </a:ext>
                </a:extLst>
              </p:cNvPr>
              <p:cNvSpPr>
                <a:spLocks noChangeArrowheads="1"/>
              </p:cNvSpPr>
              <p:nvPr/>
            </p:nvSpPr>
            <p:spPr bwMode="auto">
              <a:xfrm>
                <a:off x="1152525" y="4064000"/>
                <a:ext cx="1588" cy="374650"/>
              </a:xfrm>
              <a:custGeom>
                <a:avLst/>
                <a:gdLst>
                  <a:gd name="T0" fmla="*/ 0 w 1"/>
                  <a:gd name="T1" fmla="*/ 0 h 1040"/>
                  <a:gd name="T2" fmla="*/ 0 w 1"/>
                  <a:gd name="T3" fmla="*/ 1039 h 1040"/>
                </a:gdLst>
                <a:ahLst/>
                <a:cxnLst>
                  <a:cxn ang="0">
                    <a:pos x="T0" y="T1"/>
                  </a:cxn>
                  <a:cxn ang="0">
                    <a:pos x="T2" y="T3"/>
                  </a:cxn>
                </a:cxnLst>
                <a:rect l="0" t="0" r="r" b="b"/>
                <a:pathLst>
                  <a:path w="1" h="1040">
                    <a:moveTo>
                      <a:pt x="0" y="0"/>
                    </a:moveTo>
                    <a:cubicBezTo>
                      <a:pt x="0" y="347"/>
                      <a:pt x="0" y="693"/>
                      <a:pt x="0" y="1039"/>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2" name="Freeform 79">
                <a:extLst>
                  <a:ext uri="{FF2B5EF4-FFF2-40B4-BE49-F238E27FC236}">
                    <a16:creationId xmlns:a16="http://schemas.microsoft.com/office/drawing/2014/main" id="{1C6221B4-D20D-423B-A1BE-B68D5FC77FCD}"/>
                  </a:ext>
                </a:extLst>
              </p:cNvPr>
              <p:cNvSpPr>
                <a:spLocks noChangeArrowheads="1"/>
              </p:cNvSpPr>
              <p:nvPr/>
            </p:nvSpPr>
            <p:spPr bwMode="auto">
              <a:xfrm>
                <a:off x="965200" y="4249738"/>
                <a:ext cx="373063" cy="1587"/>
              </a:xfrm>
              <a:custGeom>
                <a:avLst/>
                <a:gdLst>
                  <a:gd name="T0" fmla="*/ 0 w 1036"/>
                  <a:gd name="T1" fmla="*/ 0 h 1"/>
                  <a:gd name="T2" fmla="*/ 1035 w 1036"/>
                  <a:gd name="T3" fmla="*/ 0 h 1"/>
                </a:gdLst>
                <a:ahLst/>
                <a:cxnLst>
                  <a:cxn ang="0">
                    <a:pos x="T0" y="T1"/>
                  </a:cxn>
                  <a:cxn ang="0">
                    <a:pos x="T2" y="T3"/>
                  </a:cxn>
                </a:cxnLst>
                <a:rect l="0" t="0" r="r" b="b"/>
                <a:pathLst>
                  <a:path w="1036" h="1">
                    <a:moveTo>
                      <a:pt x="0" y="0"/>
                    </a:moveTo>
                    <a:cubicBezTo>
                      <a:pt x="345" y="0"/>
                      <a:pt x="690" y="0"/>
                      <a:pt x="1035"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3" name="Freeform 80">
                <a:extLst>
                  <a:ext uri="{FF2B5EF4-FFF2-40B4-BE49-F238E27FC236}">
                    <a16:creationId xmlns:a16="http://schemas.microsoft.com/office/drawing/2014/main" id="{A85A6913-7199-428D-93C4-316DBE4FD3D7}"/>
                  </a:ext>
                </a:extLst>
              </p:cNvPr>
              <p:cNvSpPr>
                <a:spLocks noChangeArrowheads="1"/>
              </p:cNvSpPr>
              <p:nvPr/>
            </p:nvSpPr>
            <p:spPr bwMode="auto">
              <a:xfrm>
                <a:off x="968375" y="4129088"/>
                <a:ext cx="368300" cy="1587"/>
              </a:xfrm>
              <a:custGeom>
                <a:avLst/>
                <a:gdLst>
                  <a:gd name="T0" fmla="*/ 1021 w 1022"/>
                  <a:gd name="T1" fmla="*/ 0 h 1"/>
                  <a:gd name="T2" fmla="*/ 0 w 1022"/>
                  <a:gd name="T3" fmla="*/ 0 h 1"/>
                </a:gdLst>
                <a:ahLst/>
                <a:cxnLst>
                  <a:cxn ang="0">
                    <a:pos x="T0" y="T1"/>
                  </a:cxn>
                  <a:cxn ang="0">
                    <a:pos x="T2" y="T3"/>
                  </a:cxn>
                </a:cxnLst>
                <a:rect l="0" t="0" r="r" b="b"/>
                <a:pathLst>
                  <a:path w="1022" h="1">
                    <a:moveTo>
                      <a:pt x="1021" y="0"/>
                    </a:moveTo>
                    <a:cubicBezTo>
                      <a:pt x="681" y="0"/>
                      <a:pt x="340" y="0"/>
                      <a:pt x="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4" name="Freeform 81">
                <a:extLst>
                  <a:ext uri="{FF2B5EF4-FFF2-40B4-BE49-F238E27FC236}">
                    <a16:creationId xmlns:a16="http://schemas.microsoft.com/office/drawing/2014/main" id="{3D131E05-8982-49A4-9CA6-D073FD0A053E}"/>
                  </a:ext>
                </a:extLst>
              </p:cNvPr>
              <p:cNvSpPr>
                <a:spLocks noChangeArrowheads="1"/>
              </p:cNvSpPr>
              <p:nvPr/>
            </p:nvSpPr>
            <p:spPr bwMode="auto">
              <a:xfrm>
                <a:off x="968375" y="4371975"/>
                <a:ext cx="368300" cy="1588"/>
              </a:xfrm>
              <a:custGeom>
                <a:avLst/>
                <a:gdLst>
                  <a:gd name="T0" fmla="*/ 0 w 1022"/>
                  <a:gd name="T1" fmla="*/ 0 h 1"/>
                  <a:gd name="T2" fmla="*/ 1021 w 1022"/>
                  <a:gd name="T3" fmla="*/ 0 h 1"/>
                </a:gdLst>
                <a:ahLst/>
                <a:cxnLst>
                  <a:cxn ang="0">
                    <a:pos x="T0" y="T1"/>
                  </a:cxn>
                  <a:cxn ang="0">
                    <a:pos x="T2" y="T3"/>
                  </a:cxn>
                </a:cxnLst>
                <a:rect l="0" t="0" r="r" b="b"/>
                <a:pathLst>
                  <a:path w="1022" h="1">
                    <a:moveTo>
                      <a:pt x="0" y="0"/>
                    </a:moveTo>
                    <a:cubicBezTo>
                      <a:pt x="340" y="0"/>
                      <a:pt x="681" y="0"/>
                      <a:pt x="1021"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Freeform 82">
                <a:extLst>
                  <a:ext uri="{FF2B5EF4-FFF2-40B4-BE49-F238E27FC236}">
                    <a16:creationId xmlns:a16="http://schemas.microsoft.com/office/drawing/2014/main" id="{C0C665E2-1741-4ABB-989E-99514BED7900}"/>
                  </a:ext>
                </a:extLst>
              </p:cNvPr>
              <p:cNvSpPr>
                <a:spLocks noChangeArrowheads="1"/>
              </p:cNvSpPr>
              <p:nvPr/>
            </p:nvSpPr>
            <p:spPr bwMode="auto">
              <a:xfrm>
                <a:off x="1119188" y="3997325"/>
                <a:ext cx="66675" cy="66675"/>
              </a:xfrm>
              <a:custGeom>
                <a:avLst/>
                <a:gdLst>
                  <a:gd name="T0" fmla="*/ 91 w 184"/>
                  <a:gd name="T1" fmla="*/ 0 h 184"/>
                  <a:gd name="T2" fmla="*/ 183 w 184"/>
                  <a:gd name="T3" fmla="*/ 91 h 184"/>
                  <a:gd name="T4" fmla="*/ 91 w 184"/>
                  <a:gd name="T5" fmla="*/ 183 h 184"/>
                  <a:gd name="T6" fmla="*/ 0 w 184"/>
                  <a:gd name="T7" fmla="*/ 91 h 184"/>
                  <a:gd name="T8" fmla="*/ 91 w 184"/>
                  <a:gd name="T9" fmla="*/ 0 h 184"/>
                </a:gdLst>
                <a:ahLst/>
                <a:cxnLst>
                  <a:cxn ang="0">
                    <a:pos x="T0" y="T1"/>
                  </a:cxn>
                  <a:cxn ang="0">
                    <a:pos x="T2" y="T3"/>
                  </a:cxn>
                  <a:cxn ang="0">
                    <a:pos x="T4" y="T5"/>
                  </a:cxn>
                  <a:cxn ang="0">
                    <a:pos x="T6" y="T7"/>
                  </a:cxn>
                  <a:cxn ang="0">
                    <a:pos x="T8" y="T9"/>
                  </a:cxn>
                </a:cxnLst>
                <a:rect l="0" t="0" r="r" b="b"/>
                <a:pathLst>
                  <a:path w="184" h="184">
                    <a:moveTo>
                      <a:pt x="91" y="0"/>
                    </a:moveTo>
                    <a:cubicBezTo>
                      <a:pt x="144" y="0"/>
                      <a:pt x="183" y="42"/>
                      <a:pt x="183" y="91"/>
                    </a:cubicBezTo>
                    <a:cubicBezTo>
                      <a:pt x="183" y="144"/>
                      <a:pt x="140" y="183"/>
                      <a:pt x="91" y="183"/>
                    </a:cubicBezTo>
                    <a:cubicBezTo>
                      <a:pt x="38" y="183"/>
                      <a:pt x="0" y="140"/>
                      <a:pt x="0" y="91"/>
                    </a:cubicBezTo>
                    <a:cubicBezTo>
                      <a:pt x="0" y="42"/>
                      <a:pt x="38" y="0"/>
                      <a:pt x="91"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6" name="Freeform 83">
                <a:extLst>
                  <a:ext uri="{FF2B5EF4-FFF2-40B4-BE49-F238E27FC236}">
                    <a16:creationId xmlns:a16="http://schemas.microsoft.com/office/drawing/2014/main" id="{C3001849-8C1E-4847-B727-6904C9D122F0}"/>
                  </a:ext>
                </a:extLst>
              </p:cNvPr>
              <p:cNvSpPr>
                <a:spLocks noChangeArrowheads="1"/>
              </p:cNvSpPr>
              <p:nvPr/>
            </p:nvSpPr>
            <p:spPr bwMode="auto">
              <a:xfrm>
                <a:off x="1119188" y="4437063"/>
                <a:ext cx="66675" cy="66675"/>
              </a:xfrm>
              <a:custGeom>
                <a:avLst/>
                <a:gdLst>
                  <a:gd name="T0" fmla="*/ 91 w 184"/>
                  <a:gd name="T1" fmla="*/ 183 h 184"/>
                  <a:gd name="T2" fmla="*/ 0 w 184"/>
                  <a:gd name="T3" fmla="*/ 91 h 184"/>
                  <a:gd name="T4" fmla="*/ 91 w 184"/>
                  <a:gd name="T5" fmla="*/ 0 h 184"/>
                  <a:gd name="T6" fmla="*/ 183 w 184"/>
                  <a:gd name="T7" fmla="*/ 91 h 184"/>
                  <a:gd name="T8" fmla="*/ 91 w 184"/>
                  <a:gd name="T9" fmla="*/ 183 h 184"/>
                </a:gdLst>
                <a:ahLst/>
                <a:cxnLst>
                  <a:cxn ang="0">
                    <a:pos x="T0" y="T1"/>
                  </a:cxn>
                  <a:cxn ang="0">
                    <a:pos x="T2" y="T3"/>
                  </a:cxn>
                  <a:cxn ang="0">
                    <a:pos x="T4" y="T5"/>
                  </a:cxn>
                  <a:cxn ang="0">
                    <a:pos x="T6" y="T7"/>
                  </a:cxn>
                  <a:cxn ang="0">
                    <a:pos x="T8" y="T9"/>
                  </a:cxn>
                </a:cxnLst>
                <a:rect l="0" t="0" r="r" b="b"/>
                <a:pathLst>
                  <a:path w="184" h="184">
                    <a:moveTo>
                      <a:pt x="91" y="183"/>
                    </a:moveTo>
                    <a:cubicBezTo>
                      <a:pt x="38" y="183"/>
                      <a:pt x="0" y="141"/>
                      <a:pt x="0" y="91"/>
                    </a:cubicBezTo>
                    <a:cubicBezTo>
                      <a:pt x="0" y="39"/>
                      <a:pt x="42" y="0"/>
                      <a:pt x="91" y="0"/>
                    </a:cubicBezTo>
                    <a:cubicBezTo>
                      <a:pt x="144" y="0"/>
                      <a:pt x="183" y="42"/>
                      <a:pt x="183" y="91"/>
                    </a:cubicBezTo>
                    <a:cubicBezTo>
                      <a:pt x="183" y="144"/>
                      <a:pt x="144" y="183"/>
                      <a:pt x="91" y="183"/>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Freeform 84">
                <a:extLst>
                  <a:ext uri="{FF2B5EF4-FFF2-40B4-BE49-F238E27FC236}">
                    <a16:creationId xmlns:a16="http://schemas.microsoft.com/office/drawing/2014/main" id="{36462A37-F046-45CD-9084-B7D551A16739}"/>
                  </a:ext>
                </a:extLst>
              </p:cNvPr>
              <p:cNvSpPr>
                <a:spLocks noChangeArrowheads="1"/>
              </p:cNvSpPr>
              <p:nvPr/>
            </p:nvSpPr>
            <p:spPr bwMode="auto">
              <a:xfrm>
                <a:off x="1339850" y="4216400"/>
                <a:ext cx="66675" cy="66675"/>
              </a:xfrm>
              <a:custGeom>
                <a:avLst/>
                <a:gdLst>
                  <a:gd name="T0" fmla="*/ 183 w 184"/>
                  <a:gd name="T1" fmla="*/ 92 h 184"/>
                  <a:gd name="T2" fmla="*/ 92 w 184"/>
                  <a:gd name="T3" fmla="*/ 183 h 184"/>
                  <a:gd name="T4" fmla="*/ 0 w 184"/>
                  <a:gd name="T5" fmla="*/ 92 h 184"/>
                  <a:gd name="T6" fmla="*/ 92 w 184"/>
                  <a:gd name="T7" fmla="*/ 0 h 184"/>
                  <a:gd name="T8" fmla="*/ 183 w 184"/>
                  <a:gd name="T9" fmla="*/ 92 h 184"/>
                </a:gdLst>
                <a:ahLst/>
                <a:cxnLst>
                  <a:cxn ang="0">
                    <a:pos x="T0" y="T1"/>
                  </a:cxn>
                  <a:cxn ang="0">
                    <a:pos x="T2" y="T3"/>
                  </a:cxn>
                  <a:cxn ang="0">
                    <a:pos x="T4" y="T5"/>
                  </a:cxn>
                  <a:cxn ang="0">
                    <a:pos x="T6" y="T7"/>
                  </a:cxn>
                  <a:cxn ang="0">
                    <a:pos x="T8" y="T9"/>
                  </a:cxn>
                </a:cxnLst>
                <a:rect l="0" t="0" r="r" b="b"/>
                <a:pathLst>
                  <a:path w="184" h="184">
                    <a:moveTo>
                      <a:pt x="183" y="92"/>
                    </a:moveTo>
                    <a:cubicBezTo>
                      <a:pt x="183" y="145"/>
                      <a:pt x="141" y="183"/>
                      <a:pt x="92" y="183"/>
                    </a:cubicBezTo>
                    <a:cubicBezTo>
                      <a:pt x="39" y="183"/>
                      <a:pt x="0" y="141"/>
                      <a:pt x="0" y="92"/>
                    </a:cubicBezTo>
                    <a:cubicBezTo>
                      <a:pt x="0" y="39"/>
                      <a:pt x="42" y="0"/>
                      <a:pt x="92" y="0"/>
                    </a:cubicBezTo>
                    <a:cubicBezTo>
                      <a:pt x="141" y="0"/>
                      <a:pt x="183" y="42"/>
                      <a:pt x="183" y="92"/>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8" name="Freeform 85">
                <a:extLst>
                  <a:ext uri="{FF2B5EF4-FFF2-40B4-BE49-F238E27FC236}">
                    <a16:creationId xmlns:a16="http://schemas.microsoft.com/office/drawing/2014/main" id="{BE24FD1C-86EE-446C-9BB2-B4CF976F5E9E}"/>
                  </a:ext>
                </a:extLst>
              </p:cNvPr>
              <p:cNvSpPr>
                <a:spLocks noChangeArrowheads="1"/>
              </p:cNvSpPr>
              <p:nvPr/>
            </p:nvSpPr>
            <p:spPr bwMode="auto">
              <a:xfrm>
                <a:off x="898525" y="4216400"/>
                <a:ext cx="66675" cy="68263"/>
              </a:xfrm>
              <a:custGeom>
                <a:avLst/>
                <a:gdLst>
                  <a:gd name="T0" fmla="*/ 0 w 184"/>
                  <a:gd name="T1" fmla="*/ 92 h 188"/>
                  <a:gd name="T2" fmla="*/ 92 w 184"/>
                  <a:gd name="T3" fmla="*/ 0 h 188"/>
                  <a:gd name="T4" fmla="*/ 183 w 184"/>
                  <a:gd name="T5" fmla="*/ 92 h 188"/>
                  <a:gd name="T6" fmla="*/ 92 w 184"/>
                  <a:gd name="T7" fmla="*/ 183 h 188"/>
                  <a:gd name="T8" fmla="*/ 0 w 184"/>
                  <a:gd name="T9" fmla="*/ 92 h 188"/>
                </a:gdLst>
                <a:ahLst/>
                <a:cxnLst>
                  <a:cxn ang="0">
                    <a:pos x="T0" y="T1"/>
                  </a:cxn>
                  <a:cxn ang="0">
                    <a:pos x="T2" y="T3"/>
                  </a:cxn>
                  <a:cxn ang="0">
                    <a:pos x="T4" y="T5"/>
                  </a:cxn>
                  <a:cxn ang="0">
                    <a:pos x="T6" y="T7"/>
                  </a:cxn>
                  <a:cxn ang="0">
                    <a:pos x="T8" y="T9"/>
                  </a:cxn>
                </a:cxnLst>
                <a:rect l="0" t="0" r="r" b="b"/>
                <a:pathLst>
                  <a:path w="184" h="188">
                    <a:moveTo>
                      <a:pt x="0" y="92"/>
                    </a:moveTo>
                    <a:cubicBezTo>
                      <a:pt x="0" y="39"/>
                      <a:pt x="42" y="0"/>
                      <a:pt x="92" y="0"/>
                    </a:cubicBezTo>
                    <a:cubicBezTo>
                      <a:pt x="144" y="0"/>
                      <a:pt x="183" y="43"/>
                      <a:pt x="183" y="92"/>
                    </a:cubicBezTo>
                    <a:cubicBezTo>
                      <a:pt x="183" y="142"/>
                      <a:pt x="141" y="183"/>
                      <a:pt x="92" y="183"/>
                    </a:cubicBezTo>
                    <a:cubicBezTo>
                      <a:pt x="42" y="187"/>
                      <a:pt x="0" y="145"/>
                      <a:pt x="0" y="92"/>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9" name="Freeform 86">
                <a:extLst>
                  <a:ext uri="{FF2B5EF4-FFF2-40B4-BE49-F238E27FC236}">
                    <a16:creationId xmlns:a16="http://schemas.microsoft.com/office/drawing/2014/main" id="{24A5EE85-C8BD-4E5F-B02C-7A046A3CB9D3}"/>
                  </a:ext>
                </a:extLst>
              </p:cNvPr>
              <p:cNvSpPr>
                <a:spLocks noChangeArrowheads="1"/>
              </p:cNvSpPr>
              <p:nvPr/>
            </p:nvSpPr>
            <p:spPr bwMode="auto">
              <a:xfrm>
                <a:off x="1184275" y="4038600"/>
                <a:ext cx="82550" cy="423863"/>
              </a:xfrm>
              <a:custGeom>
                <a:avLst/>
                <a:gdLst>
                  <a:gd name="T0" fmla="*/ 0 w 230"/>
                  <a:gd name="T1" fmla="*/ 1176 h 1177"/>
                  <a:gd name="T2" fmla="*/ 229 w 230"/>
                  <a:gd name="T3" fmla="*/ 588 h 1177"/>
                  <a:gd name="T4" fmla="*/ 0 w 230"/>
                  <a:gd name="T5" fmla="*/ 0 h 1177"/>
                </a:gdLst>
                <a:ahLst/>
                <a:cxnLst>
                  <a:cxn ang="0">
                    <a:pos x="T0" y="T1"/>
                  </a:cxn>
                  <a:cxn ang="0">
                    <a:pos x="T2" y="T3"/>
                  </a:cxn>
                  <a:cxn ang="0">
                    <a:pos x="T4" y="T5"/>
                  </a:cxn>
                </a:cxnLst>
                <a:rect l="0" t="0" r="r" b="b"/>
                <a:pathLst>
                  <a:path w="230" h="1177">
                    <a:moveTo>
                      <a:pt x="0" y="1176"/>
                    </a:moveTo>
                    <a:cubicBezTo>
                      <a:pt x="134" y="1102"/>
                      <a:pt x="229" y="866"/>
                      <a:pt x="229" y="588"/>
                    </a:cubicBezTo>
                    <a:cubicBezTo>
                      <a:pt x="229" y="310"/>
                      <a:pt x="134" y="74"/>
                      <a:pt x="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0" name="Freeform 87">
                <a:extLst>
                  <a:ext uri="{FF2B5EF4-FFF2-40B4-BE49-F238E27FC236}">
                    <a16:creationId xmlns:a16="http://schemas.microsoft.com/office/drawing/2014/main" id="{E232EB18-AD91-47D9-88A6-BC56443FF82E}"/>
                  </a:ext>
                </a:extLst>
              </p:cNvPr>
              <p:cNvSpPr>
                <a:spLocks noChangeArrowheads="1"/>
              </p:cNvSpPr>
              <p:nvPr/>
            </p:nvSpPr>
            <p:spPr bwMode="auto">
              <a:xfrm>
                <a:off x="1038225" y="4038600"/>
                <a:ext cx="82550" cy="423863"/>
              </a:xfrm>
              <a:custGeom>
                <a:avLst/>
                <a:gdLst>
                  <a:gd name="T0" fmla="*/ 229 w 230"/>
                  <a:gd name="T1" fmla="*/ 1176 h 1177"/>
                  <a:gd name="T2" fmla="*/ 0 w 230"/>
                  <a:gd name="T3" fmla="*/ 588 h 1177"/>
                  <a:gd name="T4" fmla="*/ 229 w 230"/>
                  <a:gd name="T5" fmla="*/ 0 h 1177"/>
                </a:gdLst>
                <a:ahLst/>
                <a:cxnLst>
                  <a:cxn ang="0">
                    <a:pos x="T0" y="T1"/>
                  </a:cxn>
                  <a:cxn ang="0">
                    <a:pos x="T2" y="T3"/>
                  </a:cxn>
                  <a:cxn ang="0">
                    <a:pos x="T4" y="T5"/>
                  </a:cxn>
                </a:cxnLst>
                <a:rect l="0" t="0" r="r" b="b"/>
                <a:pathLst>
                  <a:path w="230" h="1177">
                    <a:moveTo>
                      <a:pt x="229" y="1176"/>
                    </a:moveTo>
                    <a:cubicBezTo>
                      <a:pt x="95" y="1102"/>
                      <a:pt x="0" y="866"/>
                      <a:pt x="0" y="588"/>
                    </a:cubicBezTo>
                    <a:cubicBezTo>
                      <a:pt x="0" y="310"/>
                      <a:pt x="95" y="74"/>
                      <a:pt x="229"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1" name="Freeform 88">
                <a:extLst>
                  <a:ext uri="{FF2B5EF4-FFF2-40B4-BE49-F238E27FC236}">
                    <a16:creationId xmlns:a16="http://schemas.microsoft.com/office/drawing/2014/main" id="{A21089F0-843F-4D1E-972E-730CFB9F0C44}"/>
                  </a:ext>
                </a:extLst>
              </p:cNvPr>
              <p:cNvSpPr>
                <a:spLocks noChangeArrowheads="1"/>
              </p:cNvSpPr>
              <p:nvPr/>
            </p:nvSpPr>
            <p:spPr bwMode="auto">
              <a:xfrm>
                <a:off x="1185863" y="4284663"/>
                <a:ext cx="184150" cy="184150"/>
              </a:xfrm>
              <a:custGeom>
                <a:avLst/>
                <a:gdLst>
                  <a:gd name="T0" fmla="*/ 0 w 511"/>
                  <a:gd name="T1" fmla="*/ 510 h 511"/>
                  <a:gd name="T2" fmla="*/ 510 w 511"/>
                  <a:gd name="T3" fmla="*/ 0 h 511"/>
                </a:gdLst>
                <a:ahLst/>
                <a:cxnLst>
                  <a:cxn ang="0">
                    <a:pos x="T0" y="T1"/>
                  </a:cxn>
                  <a:cxn ang="0">
                    <a:pos x="T2" y="T3"/>
                  </a:cxn>
                </a:cxnLst>
                <a:rect l="0" t="0" r="r" b="b"/>
                <a:pathLst>
                  <a:path w="511" h="511">
                    <a:moveTo>
                      <a:pt x="0" y="510"/>
                    </a:moveTo>
                    <a:cubicBezTo>
                      <a:pt x="264" y="472"/>
                      <a:pt x="471" y="260"/>
                      <a:pt x="51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2" name="Freeform 89">
                <a:extLst>
                  <a:ext uri="{FF2B5EF4-FFF2-40B4-BE49-F238E27FC236}">
                    <a16:creationId xmlns:a16="http://schemas.microsoft.com/office/drawing/2014/main" id="{09169185-F1BC-48AB-8868-AC2D776A7C12}"/>
                  </a:ext>
                </a:extLst>
              </p:cNvPr>
              <p:cNvSpPr>
                <a:spLocks noChangeArrowheads="1"/>
              </p:cNvSpPr>
              <p:nvPr/>
            </p:nvSpPr>
            <p:spPr bwMode="auto">
              <a:xfrm>
                <a:off x="1185863" y="4033838"/>
                <a:ext cx="184150" cy="184150"/>
              </a:xfrm>
              <a:custGeom>
                <a:avLst/>
                <a:gdLst>
                  <a:gd name="T0" fmla="*/ 511 w 512"/>
                  <a:gd name="T1" fmla="*/ 510 h 511"/>
                  <a:gd name="T2" fmla="*/ 0 w 512"/>
                  <a:gd name="T3" fmla="*/ 0 h 511"/>
                </a:gdLst>
                <a:ahLst/>
                <a:cxnLst>
                  <a:cxn ang="0">
                    <a:pos x="T0" y="T1"/>
                  </a:cxn>
                  <a:cxn ang="0">
                    <a:pos x="T2" y="T3"/>
                  </a:cxn>
                </a:cxnLst>
                <a:rect l="0" t="0" r="r" b="b"/>
                <a:pathLst>
                  <a:path w="512" h="511">
                    <a:moveTo>
                      <a:pt x="511" y="510"/>
                    </a:moveTo>
                    <a:cubicBezTo>
                      <a:pt x="472" y="246"/>
                      <a:pt x="261" y="38"/>
                      <a:pt x="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3" name="Freeform 90">
                <a:extLst>
                  <a:ext uri="{FF2B5EF4-FFF2-40B4-BE49-F238E27FC236}">
                    <a16:creationId xmlns:a16="http://schemas.microsoft.com/office/drawing/2014/main" id="{F8125BCD-CF15-44D3-A4D5-381072B6B66F}"/>
                  </a:ext>
                </a:extLst>
              </p:cNvPr>
              <p:cNvSpPr>
                <a:spLocks noChangeArrowheads="1"/>
              </p:cNvSpPr>
              <p:nvPr/>
            </p:nvSpPr>
            <p:spPr bwMode="auto">
              <a:xfrm>
                <a:off x="935038" y="4033838"/>
                <a:ext cx="184150" cy="184150"/>
              </a:xfrm>
              <a:custGeom>
                <a:avLst/>
                <a:gdLst>
                  <a:gd name="T0" fmla="*/ 511 w 512"/>
                  <a:gd name="T1" fmla="*/ 0 h 511"/>
                  <a:gd name="T2" fmla="*/ 0 w 512"/>
                  <a:gd name="T3" fmla="*/ 510 h 511"/>
                </a:gdLst>
                <a:ahLst/>
                <a:cxnLst>
                  <a:cxn ang="0">
                    <a:pos x="T0" y="T1"/>
                  </a:cxn>
                  <a:cxn ang="0">
                    <a:pos x="T2" y="T3"/>
                  </a:cxn>
                </a:cxnLst>
                <a:rect l="0" t="0" r="r" b="b"/>
                <a:pathLst>
                  <a:path w="512" h="511">
                    <a:moveTo>
                      <a:pt x="511" y="0"/>
                    </a:moveTo>
                    <a:cubicBezTo>
                      <a:pt x="247" y="38"/>
                      <a:pt x="39" y="250"/>
                      <a:pt x="0" y="51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4" name="Freeform 91">
                <a:extLst>
                  <a:ext uri="{FF2B5EF4-FFF2-40B4-BE49-F238E27FC236}">
                    <a16:creationId xmlns:a16="http://schemas.microsoft.com/office/drawing/2014/main" id="{E97777E6-ABCE-4358-B639-F9C367F26037}"/>
                  </a:ext>
                </a:extLst>
              </p:cNvPr>
              <p:cNvSpPr>
                <a:spLocks noChangeArrowheads="1"/>
              </p:cNvSpPr>
              <p:nvPr/>
            </p:nvSpPr>
            <p:spPr bwMode="auto">
              <a:xfrm>
                <a:off x="933450" y="4284663"/>
                <a:ext cx="184150" cy="184150"/>
              </a:xfrm>
              <a:custGeom>
                <a:avLst/>
                <a:gdLst>
                  <a:gd name="T0" fmla="*/ 0 w 511"/>
                  <a:gd name="T1" fmla="*/ 0 h 511"/>
                  <a:gd name="T2" fmla="*/ 510 w 511"/>
                  <a:gd name="T3" fmla="*/ 510 h 511"/>
                </a:gdLst>
                <a:ahLst/>
                <a:cxnLst>
                  <a:cxn ang="0">
                    <a:pos x="T0" y="T1"/>
                  </a:cxn>
                  <a:cxn ang="0">
                    <a:pos x="T2" y="T3"/>
                  </a:cxn>
                </a:cxnLst>
                <a:rect l="0" t="0" r="r" b="b"/>
                <a:pathLst>
                  <a:path w="511" h="511">
                    <a:moveTo>
                      <a:pt x="0" y="0"/>
                    </a:moveTo>
                    <a:cubicBezTo>
                      <a:pt x="38" y="264"/>
                      <a:pt x="250" y="472"/>
                      <a:pt x="510" y="51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grpSp>
      <p:grpSp>
        <p:nvGrpSpPr>
          <p:cNvPr id="35" name="Group 34">
            <a:extLst>
              <a:ext uri="{FF2B5EF4-FFF2-40B4-BE49-F238E27FC236}">
                <a16:creationId xmlns:a16="http://schemas.microsoft.com/office/drawing/2014/main" id="{F05E7E8F-344E-4E67-8E82-8AC46E79B822}"/>
              </a:ext>
            </a:extLst>
          </p:cNvPr>
          <p:cNvGrpSpPr>
            <a:grpSpLocks noChangeAspect="1"/>
          </p:cNvGrpSpPr>
          <p:nvPr/>
        </p:nvGrpSpPr>
        <p:grpSpPr>
          <a:xfrm>
            <a:off x="8449698" y="2361506"/>
            <a:ext cx="912813" cy="912812"/>
            <a:chOff x="8604250" y="506413"/>
            <a:chExt cx="912813" cy="912812"/>
          </a:xfrm>
        </p:grpSpPr>
        <p:sp>
          <p:nvSpPr>
            <p:cNvPr id="36" name="Freeform 3">
              <a:extLst>
                <a:ext uri="{FF2B5EF4-FFF2-40B4-BE49-F238E27FC236}">
                  <a16:creationId xmlns:a16="http://schemas.microsoft.com/office/drawing/2014/main" id="{C351E115-554E-4DD0-A879-CCE0421D106F}"/>
                </a:ext>
              </a:extLst>
            </p:cNvPr>
            <p:cNvSpPr>
              <a:spLocks noChangeArrowheads="1"/>
            </p:cNvSpPr>
            <p:nvPr/>
          </p:nvSpPr>
          <p:spPr bwMode="auto">
            <a:xfrm>
              <a:off x="8604250" y="506413"/>
              <a:ext cx="912813" cy="912812"/>
            </a:xfrm>
            <a:custGeom>
              <a:avLst/>
              <a:gdLst>
                <a:gd name="T0" fmla="*/ 933 w 2536"/>
                <a:gd name="T1" fmla="*/ 173 h 2536"/>
                <a:gd name="T2" fmla="*/ 782 w 2536"/>
                <a:gd name="T3" fmla="*/ 99 h 2536"/>
                <a:gd name="T4" fmla="*/ 729 w 2536"/>
                <a:gd name="T5" fmla="*/ 257 h 2536"/>
                <a:gd name="T6" fmla="*/ 539 w 2536"/>
                <a:gd name="T7" fmla="*/ 384 h 2536"/>
                <a:gd name="T8" fmla="*/ 373 w 2536"/>
                <a:gd name="T9" fmla="*/ 373 h 2536"/>
                <a:gd name="T10" fmla="*/ 384 w 2536"/>
                <a:gd name="T11" fmla="*/ 539 h 2536"/>
                <a:gd name="T12" fmla="*/ 257 w 2536"/>
                <a:gd name="T13" fmla="*/ 729 h 2536"/>
                <a:gd name="T14" fmla="*/ 99 w 2536"/>
                <a:gd name="T15" fmla="*/ 782 h 2536"/>
                <a:gd name="T16" fmla="*/ 173 w 2536"/>
                <a:gd name="T17" fmla="*/ 933 h 2536"/>
                <a:gd name="T18" fmla="*/ 127 w 2536"/>
                <a:gd name="T19" fmla="*/ 1158 h 2536"/>
                <a:gd name="T20" fmla="*/ 0 w 2536"/>
                <a:gd name="T21" fmla="*/ 1268 h 2536"/>
                <a:gd name="T22" fmla="*/ 127 w 2536"/>
                <a:gd name="T23" fmla="*/ 1377 h 2536"/>
                <a:gd name="T24" fmla="*/ 173 w 2536"/>
                <a:gd name="T25" fmla="*/ 1602 h 2536"/>
                <a:gd name="T26" fmla="*/ 99 w 2536"/>
                <a:gd name="T27" fmla="*/ 1754 h 2536"/>
                <a:gd name="T28" fmla="*/ 257 w 2536"/>
                <a:gd name="T29" fmla="*/ 1806 h 2536"/>
                <a:gd name="T30" fmla="*/ 384 w 2536"/>
                <a:gd name="T31" fmla="*/ 1997 h 2536"/>
                <a:gd name="T32" fmla="*/ 373 w 2536"/>
                <a:gd name="T33" fmla="*/ 2162 h 2536"/>
                <a:gd name="T34" fmla="*/ 539 w 2536"/>
                <a:gd name="T35" fmla="*/ 2151 h 2536"/>
                <a:gd name="T36" fmla="*/ 729 w 2536"/>
                <a:gd name="T37" fmla="*/ 2278 h 2536"/>
                <a:gd name="T38" fmla="*/ 782 w 2536"/>
                <a:gd name="T39" fmla="*/ 2437 h 2536"/>
                <a:gd name="T40" fmla="*/ 933 w 2536"/>
                <a:gd name="T41" fmla="*/ 2363 h 2536"/>
                <a:gd name="T42" fmla="*/ 1159 w 2536"/>
                <a:gd name="T43" fmla="*/ 2409 h 2536"/>
                <a:gd name="T44" fmla="*/ 1268 w 2536"/>
                <a:gd name="T45" fmla="*/ 2535 h 2536"/>
                <a:gd name="T46" fmla="*/ 1377 w 2536"/>
                <a:gd name="T47" fmla="*/ 2409 h 2536"/>
                <a:gd name="T48" fmla="*/ 1602 w 2536"/>
                <a:gd name="T49" fmla="*/ 2363 h 2536"/>
                <a:gd name="T50" fmla="*/ 1754 w 2536"/>
                <a:gd name="T51" fmla="*/ 2437 h 2536"/>
                <a:gd name="T52" fmla="*/ 1806 w 2536"/>
                <a:gd name="T53" fmla="*/ 2278 h 2536"/>
                <a:gd name="T54" fmla="*/ 1996 w 2536"/>
                <a:gd name="T55" fmla="*/ 2151 h 2536"/>
                <a:gd name="T56" fmla="*/ 2162 w 2536"/>
                <a:gd name="T57" fmla="*/ 2162 h 2536"/>
                <a:gd name="T58" fmla="*/ 2151 w 2536"/>
                <a:gd name="T59" fmla="*/ 1997 h 2536"/>
                <a:gd name="T60" fmla="*/ 2278 w 2536"/>
                <a:gd name="T61" fmla="*/ 1806 h 2536"/>
                <a:gd name="T62" fmla="*/ 2437 w 2536"/>
                <a:gd name="T63" fmla="*/ 1754 h 2536"/>
                <a:gd name="T64" fmla="*/ 2363 w 2536"/>
                <a:gd name="T65" fmla="*/ 1602 h 2536"/>
                <a:gd name="T66" fmla="*/ 2408 w 2536"/>
                <a:gd name="T67" fmla="*/ 1377 h 2536"/>
                <a:gd name="T68" fmla="*/ 2535 w 2536"/>
                <a:gd name="T69" fmla="*/ 1268 h 2536"/>
                <a:gd name="T70" fmla="*/ 2408 w 2536"/>
                <a:gd name="T71" fmla="*/ 1158 h 2536"/>
                <a:gd name="T72" fmla="*/ 2363 w 2536"/>
                <a:gd name="T73" fmla="*/ 933 h 2536"/>
                <a:gd name="T74" fmla="*/ 2437 w 2536"/>
                <a:gd name="T75" fmla="*/ 782 h 2536"/>
                <a:gd name="T76" fmla="*/ 2278 w 2536"/>
                <a:gd name="T77" fmla="*/ 729 h 2536"/>
                <a:gd name="T78" fmla="*/ 2151 w 2536"/>
                <a:gd name="T79" fmla="*/ 539 h 2536"/>
                <a:gd name="T80" fmla="*/ 2162 w 2536"/>
                <a:gd name="T81" fmla="*/ 373 h 2536"/>
                <a:gd name="T82" fmla="*/ 1996 w 2536"/>
                <a:gd name="T83" fmla="*/ 384 h 2536"/>
                <a:gd name="T84" fmla="*/ 1806 w 2536"/>
                <a:gd name="T85" fmla="*/ 257 h 2536"/>
                <a:gd name="T86" fmla="*/ 1754 w 2536"/>
                <a:gd name="T87" fmla="*/ 99 h 2536"/>
                <a:gd name="T88" fmla="*/ 1602 w 2536"/>
                <a:gd name="T89" fmla="*/ 173 h 2536"/>
                <a:gd name="T90" fmla="*/ 1377 w 2536"/>
                <a:gd name="T91" fmla="*/ 127 h 2536"/>
                <a:gd name="T92" fmla="*/ 1268 w 2536"/>
                <a:gd name="T93" fmla="*/ 0 h 2536"/>
                <a:gd name="T94" fmla="*/ 1159 w 2536"/>
                <a:gd name="T95" fmla="*/ 127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36" h="2536">
                  <a:moveTo>
                    <a:pt x="1064" y="243"/>
                  </a:moveTo>
                  <a:cubicBezTo>
                    <a:pt x="1007" y="254"/>
                    <a:pt x="954" y="225"/>
                    <a:pt x="933" y="173"/>
                  </a:cubicBezTo>
                  <a:cubicBezTo>
                    <a:pt x="931" y="168"/>
                    <a:pt x="929" y="163"/>
                    <a:pt x="926" y="158"/>
                  </a:cubicBezTo>
                  <a:cubicBezTo>
                    <a:pt x="902" y="102"/>
                    <a:pt x="838" y="74"/>
                    <a:pt x="782" y="99"/>
                  </a:cubicBezTo>
                  <a:cubicBezTo>
                    <a:pt x="726" y="123"/>
                    <a:pt x="697" y="187"/>
                    <a:pt x="722" y="243"/>
                  </a:cubicBezTo>
                  <a:cubicBezTo>
                    <a:pt x="725" y="248"/>
                    <a:pt x="727" y="252"/>
                    <a:pt x="729" y="257"/>
                  </a:cubicBezTo>
                  <a:cubicBezTo>
                    <a:pt x="750" y="310"/>
                    <a:pt x="733" y="370"/>
                    <a:pt x="687" y="398"/>
                  </a:cubicBezTo>
                  <a:cubicBezTo>
                    <a:pt x="641" y="430"/>
                    <a:pt x="578" y="423"/>
                    <a:pt x="539" y="384"/>
                  </a:cubicBezTo>
                  <a:cubicBezTo>
                    <a:pt x="536" y="380"/>
                    <a:pt x="532" y="377"/>
                    <a:pt x="528" y="373"/>
                  </a:cubicBezTo>
                  <a:cubicBezTo>
                    <a:pt x="486" y="331"/>
                    <a:pt x="416" y="331"/>
                    <a:pt x="373" y="373"/>
                  </a:cubicBezTo>
                  <a:cubicBezTo>
                    <a:pt x="331" y="415"/>
                    <a:pt x="331" y="486"/>
                    <a:pt x="373" y="528"/>
                  </a:cubicBezTo>
                  <a:cubicBezTo>
                    <a:pt x="377" y="532"/>
                    <a:pt x="381" y="535"/>
                    <a:pt x="384" y="539"/>
                  </a:cubicBezTo>
                  <a:cubicBezTo>
                    <a:pt x="423" y="577"/>
                    <a:pt x="430" y="641"/>
                    <a:pt x="398" y="687"/>
                  </a:cubicBezTo>
                  <a:cubicBezTo>
                    <a:pt x="366" y="732"/>
                    <a:pt x="307" y="750"/>
                    <a:pt x="257" y="729"/>
                  </a:cubicBezTo>
                  <a:cubicBezTo>
                    <a:pt x="253" y="727"/>
                    <a:pt x="248" y="724"/>
                    <a:pt x="243" y="722"/>
                  </a:cubicBezTo>
                  <a:cubicBezTo>
                    <a:pt x="187" y="697"/>
                    <a:pt x="124" y="725"/>
                    <a:pt x="99" y="782"/>
                  </a:cubicBezTo>
                  <a:cubicBezTo>
                    <a:pt x="74" y="838"/>
                    <a:pt x="102" y="901"/>
                    <a:pt x="159" y="926"/>
                  </a:cubicBezTo>
                  <a:cubicBezTo>
                    <a:pt x="164" y="928"/>
                    <a:pt x="169" y="931"/>
                    <a:pt x="173" y="933"/>
                  </a:cubicBezTo>
                  <a:cubicBezTo>
                    <a:pt x="226" y="954"/>
                    <a:pt x="254" y="1011"/>
                    <a:pt x="243" y="1063"/>
                  </a:cubicBezTo>
                  <a:cubicBezTo>
                    <a:pt x="233" y="1120"/>
                    <a:pt x="183" y="1158"/>
                    <a:pt x="127" y="1158"/>
                  </a:cubicBezTo>
                  <a:cubicBezTo>
                    <a:pt x="121" y="1158"/>
                    <a:pt x="115" y="1158"/>
                    <a:pt x="109" y="1158"/>
                  </a:cubicBezTo>
                  <a:cubicBezTo>
                    <a:pt x="50" y="1158"/>
                    <a:pt x="0" y="1208"/>
                    <a:pt x="0" y="1268"/>
                  </a:cubicBezTo>
                  <a:cubicBezTo>
                    <a:pt x="0" y="1327"/>
                    <a:pt x="50" y="1377"/>
                    <a:pt x="109" y="1377"/>
                  </a:cubicBezTo>
                  <a:cubicBezTo>
                    <a:pt x="115" y="1377"/>
                    <a:pt x="121" y="1377"/>
                    <a:pt x="127" y="1377"/>
                  </a:cubicBezTo>
                  <a:cubicBezTo>
                    <a:pt x="183" y="1377"/>
                    <a:pt x="229" y="1416"/>
                    <a:pt x="243" y="1472"/>
                  </a:cubicBezTo>
                  <a:cubicBezTo>
                    <a:pt x="254" y="1528"/>
                    <a:pt x="226" y="1581"/>
                    <a:pt x="173" y="1602"/>
                  </a:cubicBezTo>
                  <a:cubicBezTo>
                    <a:pt x="169" y="1604"/>
                    <a:pt x="164" y="1607"/>
                    <a:pt x="159" y="1609"/>
                  </a:cubicBezTo>
                  <a:cubicBezTo>
                    <a:pt x="102" y="1634"/>
                    <a:pt x="74" y="1697"/>
                    <a:pt x="99" y="1754"/>
                  </a:cubicBezTo>
                  <a:cubicBezTo>
                    <a:pt x="124" y="1810"/>
                    <a:pt x="187" y="1838"/>
                    <a:pt x="243" y="1813"/>
                  </a:cubicBezTo>
                  <a:cubicBezTo>
                    <a:pt x="248" y="1810"/>
                    <a:pt x="253" y="1808"/>
                    <a:pt x="257" y="1806"/>
                  </a:cubicBezTo>
                  <a:cubicBezTo>
                    <a:pt x="310" y="1785"/>
                    <a:pt x="370" y="1803"/>
                    <a:pt x="398" y="1849"/>
                  </a:cubicBezTo>
                  <a:cubicBezTo>
                    <a:pt x="430" y="1894"/>
                    <a:pt x="423" y="1958"/>
                    <a:pt x="384" y="1997"/>
                  </a:cubicBezTo>
                  <a:cubicBezTo>
                    <a:pt x="381" y="2000"/>
                    <a:pt x="377" y="2003"/>
                    <a:pt x="373" y="2007"/>
                  </a:cubicBezTo>
                  <a:cubicBezTo>
                    <a:pt x="331" y="2049"/>
                    <a:pt x="331" y="2120"/>
                    <a:pt x="373" y="2162"/>
                  </a:cubicBezTo>
                  <a:cubicBezTo>
                    <a:pt x="416" y="2204"/>
                    <a:pt x="486" y="2204"/>
                    <a:pt x="528" y="2162"/>
                  </a:cubicBezTo>
                  <a:cubicBezTo>
                    <a:pt x="532" y="2158"/>
                    <a:pt x="536" y="2154"/>
                    <a:pt x="539" y="2151"/>
                  </a:cubicBezTo>
                  <a:cubicBezTo>
                    <a:pt x="578" y="2113"/>
                    <a:pt x="641" y="2106"/>
                    <a:pt x="687" y="2137"/>
                  </a:cubicBezTo>
                  <a:cubicBezTo>
                    <a:pt x="733" y="2169"/>
                    <a:pt x="750" y="2229"/>
                    <a:pt x="729" y="2278"/>
                  </a:cubicBezTo>
                  <a:cubicBezTo>
                    <a:pt x="727" y="2282"/>
                    <a:pt x="725" y="2287"/>
                    <a:pt x="722" y="2292"/>
                  </a:cubicBezTo>
                  <a:cubicBezTo>
                    <a:pt x="697" y="2349"/>
                    <a:pt x="726" y="2412"/>
                    <a:pt x="782" y="2437"/>
                  </a:cubicBezTo>
                  <a:cubicBezTo>
                    <a:pt x="838" y="2461"/>
                    <a:pt x="902" y="2433"/>
                    <a:pt x="926" y="2377"/>
                  </a:cubicBezTo>
                  <a:cubicBezTo>
                    <a:pt x="929" y="2372"/>
                    <a:pt x="931" y="2367"/>
                    <a:pt x="933" y="2363"/>
                  </a:cubicBezTo>
                  <a:cubicBezTo>
                    <a:pt x="954" y="2310"/>
                    <a:pt x="1011" y="2282"/>
                    <a:pt x="1064" y="2292"/>
                  </a:cubicBezTo>
                  <a:cubicBezTo>
                    <a:pt x="1120" y="2303"/>
                    <a:pt x="1159" y="2352"/>
                    <a:pt x="1159" y="2409"/>
                  </a:cubicBezTo>
                  <a:cubicBezTo>
                    <a:pt x="1159" y="2414"/>
                    <a:pt x="1159" y="2420"/>
                    <a:pt x="1159" y="2426"/>
                  </a:cubicBezTo>
                  <a:cubicBezTo>
                    <a:pt x="1159" y="2486"/>
                    <a:pt x="1208" y="2535"/>
                    <a:pt x="1268" y="2535"/>
                  </a:cubicBezTo>
                  <a:cubicBezTo>
                    <a:pt x="1328" y="2535"/>
                    <a:pt x="1377" y="2486"/>
                    <a:pt x="1377" y="2426"/>
                  </a:cubicBezTo>
                  <a:cubicBezTo>
                    <a:pt x="1377" y="2420"/>
                    <a:pt x="1377" y="2414"/>
                    <a:pt x="1377" y="2409"/>
                  </a:cubicBezTo>
                  <a:cubicBezTo>
                    <a:pt x="1377" y="2352"/>
                    <a:pt x="1416" y="2306"/>
                    <a:pt x="1472" y="2292"/>
                  </a:cubicBezTo>
                  <a:cubicBezTo>
                    <a:pt x="1528" y="2282"/>
                    <a:pt x="1581" y="2310"/>
                    <a:pt x="1602" y="2363"/>
                  </a:cubicBezTo>
                  <a:cubicBezTo>
                    <a:pt x="1605" y="2367"/>
                    <a:pt x="1607" y="2372"/>
                    <a:pt x="1609" y="2377"/>
                  </a:cubicBezTo>
                  <a:cubicBezTo>
                    <a:pt x="1634" y="2433"/>
                    <a:pt x="1698" y="2461"/>
                    <a:pt x="1754" y="2437"/>
                  </a:cubicBezTo>
                  <a:cubicBezTo>
                    <a:pt x="1811" y="2412"/>
                    <a:pt x="1838" y="2349"/>
                    <a:pt x="1813" y="2292"/>
                  </a:cubicBezTo>
                  <a:cubicBezTo>
                    <a:pt x="1811" y="2287"/>
                    <a:pt x="1809" y="2282"/>
                    <a:pt x="1806" y="2278"/>
                  </a:cubicBezTo>
                  <a:cubicBezTo>
                    <a:pt x="1785" y="2225"/>
                    <a:pt x="1803" y="2166"/>
                    <a:pt x="1849" y="2137"/>
                  </a:cubicBezTo>
                  <a:cubicBezTo>
                    <a:pt x="1894" y="2106"/>
                    <a:pt x="1958" y="2113"/>
                    <a:pt x="1996" y="2151"/>
                  </a:cubicBezTo>
                  <a:cubicBezTo>
                    <a:pt x="2000" y="2154"/>
                    <a:pt x="2004" y="2158"/>
                    <a:pt x="2007" y="2162"/>
                  </a:cubicBezTo>
                  <a:cubicBezTo>
                    <a:pt x="2049" y="2204"/>
                    <a:pt x="2120" y="2204"/>
                    <a:pt x="2162" y="2162"/>
                  </a:cubicBezTo>
                  <a:cubicBezTo>
                    <a:pt x="2204" y="2120"/>
                    <a:pt x="2204" y="2049"/>
                    <a:pt x="2162" y="2007"/>
                  </a:cubicBezTo>
                  <a:cubicBezTo>
                    <a:pt x="2159" y="2003"/>
                    <a:pt x="2155" y="2000"/>
                    <a:pt x="2151" y="1997"/>
                  </a:cubicBezTo>
                  <a:cubicBezTo>
                    <a:pt x="2113" y="1958"/>
                    <a:pt x="2106" y="1894"/>
                    <a:pt x="2137" y="1849"/>
                  </a:cubicBezTo>
                  <a:cubicBezTo>
                    <a:pt x="2169" y="1803"/>
                    <a:pt x="2229" y="1785"/>
                    <a:pt x="2278" y="1806"/>
                  </a:cubicBezTo>
                  <a:cubicBezTo>
                    <a:pt x="2283" y="1808"/>
                    <a:pt x="2288" y="1810"/>
                    <a:pt x="2292" y="1813"/>
                  </a:cubicBezTo>
                  <a:cubicBezTo>
                    <a:pt x="2349" y="1838"/>
                    <a:pt x="2412" y="1810"/>
                    <a:pt x="2437" y="1754"/>
                  </a:cubicBezTo>
                  <a:cubicBezTo>
                    <a:pt x="2461" y="1697"/>
                    <a:pt x="2433" y="1634"/>
                    <a:pt x="2377" y="1609"/>
                  </a:cubicBezTo>
                  <a:cubicBezTo>
                    <a:pt x="2373" y="1607"/>
                    <a:pt x="2368" y="1604"/>
                    <a:pt x="2363" y="1602"/>
                  </a:cubicBezTo>
                  <a:cubicBezTo>
                    <a:pt x="2310" y="1581"/>
                    <a:pt x="2282" y="1525"/>
                    <a:pt x="2292" y="1472"/>
                  </a:cubicBezTo>
                  <a:cubicBezTo>
                    <a:pt x="2303" y="1416"/>
                    <a:pt x="2352" y="1377"/>
                    <a:pt x="2408" y="1377"/>
                  </a:cubicBezTo>
                  <a:cubicBezTo>
                    <a:pt x="2414" y="1377"/>
                    <a:pt x="2420" y="1377"/>
                    <a:pt x="2426" y="1377"/>
                  </a:cubicBezTo>
                  <a:cubicBezTo>
                    <a:pt x="2486" y="1377"/>
                    <a:pt x="2535" y="1327"/>
                    <a:pt x="2535" y="1268"/>
                  </a:cubicBezTo>
                  <a:cubicBezTo>
                    <a:pt x="2535" y="1208"/>
                    <a:pt x="2486" y="1158"/>
                    <a:pt x="2426" y="1158"/>
                  </a:cubicBezTo>
                  <a:cubicBezTo>
                    <a:pt x="2420" y="1158"/>
                    <a:pt x="2414" y="1158"/>
                    <a:pt x="2408" y="1158"/>
                  </a:cubicBezTo>
                  <a:cubicBezTo>
                    <a:pt x="2352" y="1158"/>
                    <a:pt x="2306" y="1120"/>
                    <a:pt x="2292" y="1063"/>
                  </a:cubicBezTo>
                  <a:cubicBezTo>
                    <a:pt x="2282" y="1007"/>
                    <a:pt x="2310" y="954"/>
                    <a:pt x="2363" y="933"/>
                  </a:cubicBezTo>
                  <a:cubicBezTo>
                    <a:pt x="2368" y="931"/>
                    <a:pt x="2373" y="928"/>
                    <a:pt x="2377" y="926"/>
                  </a:cubicBezTo>
                  <a:cubicBezTo>
                    <a:pt x="2433" y="901"/>
                    <a:pt x="2461" y="838"/>
                    <a:pt x="2437" y="782"/>
                  </a:cubicBezTo>
                  <a:cubicBezTo>
                    <a:pt x="2412" y="725"/>
                    <a:pt x="2349" y="697"/>
                    <a:pt x="2292" y="722"/>
                  </a:cubicBezTo>
                  <a:cubicBezTo>
                    <a:pt x="2288" y="724"/>
                    <a:pt x="2283" y="727"/>
                    <a:pt x="2278" y="729"/>
                  </a:cubicBezTo>
                  <a:cubicBezTo>
                    <a:pt x="2225" y="750"/>
                    <a:pt x="2165" y="732"/>
                    <a:pt x="2137" y="687"/>
                  </a:cubicBezTo>
                  <a:cubicBezTo>
                    <a:pt x="2106" y="641"/>
                    <a:pt x="2113" y="577"/>
                    <a:pt x="2151" y="539"/>
                  </a:cubicBezTo>
                  <a:cubicBezTo>
                    <a:pt x="2155" y="535"/>
                    <a:pt x="2159" y="532"/>
                    <a:pt x="2162" y="528"/>
                  </a:cubicBezTo>
                  <a:cubicBezTo>
                    <a:pt x="2204" y="486"/>
                    <a:pt x="2204" y="415"/>
                    <a:pt x="2162" y="373"/>
                  </a:cubicBezTo>
                  <a:cubicBezTo>
                    <a:pt x="2120" y="331"/>
                    <a:pt x="2049" y="331"/>
                    <a:pt x="2007" y="373"/>
                  </a:cubicBezTo>
                  <a:cubicBezTo>
                    <a:pt x="2004" y="377"/>
                    <a:pt x="2000" y="380"/>
                    <a:pt x="1996" y="384"/>
                  </a:cubicBezTo>
                  <a:cubicBezTo>
                    <a:pt x="1958" y="423"/>
                    <a:pt x="1894" y="430"/>
                    <a:pt x="1849" y="398"/>
                  </a:cubicBezTo>
                  <a:cubicBezTo>
                    <a:pt x="1803" y="366"/>
                    <a:pt x="1785" y="306"/>
                    <a:pt x="1806" y="257"/>
                  </a:cubicBezTo>
                  <a:cubicBezTo>
                    <a:pt x="1809" y="252"/>
                    <a:pt x="1811" y="248"/>
                    <a:pt x="1813" y="243"/>
                  </a:cubicBezTo>
                  <a:cubicBezTo>
                    <a:pt x="1838" y="187"/>
                    <a:pt x="1811" y="123"/>
                    <a:pt x="1754" y="99"/>
                  </a:cubicBezTo>
                  <a:cubicBezTo>
                    <a:pt x="1698" y="74"/>
                    <a:pt x="1634" y="102"/>
                    <a:pt x="1609" y="158"/>
                  </a:cubicBezTo>
                  <a:cubicBezTo>
                    <a:pt x="1607" y="163"/>
                    <a:pt x="1605" y="168"/>
                    <a:pt x="1602" y="173"/>
                  </a:cubicBezTo>
                  <a:cubicBezTo>
                    <a:pt x="1581" y="225"/>
                    <a:pt x="1525" y="254"/>
                    <a:pt x="1472" y="243"/>
                  </a:cubicBezTo>
                  <a:cubicBezTo>
                    <a:pt x="1416" y="232"/>
                    <a:pt x="1377" y="183"/>
                    <a:pt x="1377" y="127"/>
                  </a:cubicBezTo>
                  <a:cubicBezTo>
                    <a:pt x="1377" y="121"/>
                    <a:pt x="1377" y="115"/>
                    <a:pt x="1377" y="109"/>
                  </a:cubicBezTo>
                  <a:cubicBezTo>
                    <a:pt x="1377" y="49"/>
                    <a:pt x="1328" y="0"/>
                    <a:pt x="1268" y="0"/>
                  </a:cubicBezTo>
                  <a:cubicBezTo>
                    <a:pt x="1208" y="0"/>
                    <a:pt x="1159" y="49"/>
                    <a:pt x="1159" y="109"/>
                  </a:cubicBezTo>
                  <a:cubicBezTo>
                    <a:pt x="1159" y="115"/>
                    <a:pt x="1159" y="121"/>
                    <a:pt x="1159" y="127"/>
                  </a:cubicBezTo>
                  <a:cubicBezTo>
                    <a:pt x="1159" y="187"/>
                    <a:pt x="1120" y="232"/>
                    <a:pt x="1064" y="243"/>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37" name="Group 36">
              <a:extLst>
                <a:ext uri="{FF2B5EF4-FFF2-40B4-BE49-F238E27FC236}">
                  <a16:creationId xmlns:a16="http://schemas.microsoft.com/office/drawing/2014/main" id="{280D6F9E-DB63-4F45-A406-60998042963A}"/>
                </a:ext>
              </a:extLst>
            </p:cNvPr>
            <p:cNvGrpSpPr/>
            <p:nvPr/>
          </p:nvGrpSpPr>
          <p:grpSpPr>
            <a:xfrm>
              <a:off x="8824913" y="757238"/>
              <a:ext cx="469900" cy="412750"/>
              <a:chOff x="8824913" y="757238"/>
              <a:chExt cx="469900" cy="412750"/>
            </a:xfrm>
          </p:grpSpPr>
          <p:sp>
            <p:nvSpPr>
              <p:cNvPr id="38" name="Freeform 4">
                <a:extLst>
                  <a:ext uri="{FF2B5EF4-FFF2-40B4-BE49-F238E27FC236}">
                    <a16:creationId xmlns:a16="http://schemas.microsoft.com/office/drawing/2014/main" id="{76E53A67-860B-4A9B-8F20-4F2CD22F13B1}"/>
                  </a:ext>
                </a:extLst>
              </p:cNvPr>
              <p:cNvSpPr>
                <a:spLocks noChangeArrowheads="1"/>
              </p:cNvSpPr>
              <p:nvPr/>
            </p:nvSpPr>
            <p:spPr bwMode="auto">
              <a:xfrm>
                <a:off x="8824913" y="757238"/>
                <a:ext cx="469900" cy="150812"/>
              </a:xfrm>
              <a:custGeom>
                <a:avLst/>
                <a:gdLst>
                  <a:gd name="T0" fmla="*/ 25 w 1307"/>
                  <a:gd name="T1" fmla="*/ 173 h 417"/>
                  <a:gd name="T2" fmla="*/ 0 w 1307"/>
                  <a:gd name="T3" fmla="*/ 208 h 417"/>
                  <a:gd name="T4" fmla="*/ 25 w 1307"/>
                  <a:gd name="T5" fmla="*/ 243 h 417"/>
                  <a:gd name="T6" fmla="*/ 616 w 1307"/>
                  <a:gd name="T7" fmla="*/ 409 h 417"/>
                  <a:gd name="T8" fmla="*/ 690 w 1307"/>
                  <a:gd name="T9" fmla="*/ 409 h 417"/>
                  <a:gd name="T10" fmla="*/ 1281 w 1307"/>
                  <a:gd name="T11" fmla="*/ 243 h 417"/>
                  <a:gd name="T12" fmla="*/ 1306 w 1307"/>
                  <a:gd name="T13" fmla="*/ 208 h 417"/>
                  <a:gd name="T14" fmla="*/ 1281 w 1307"/>
                  <a:gd name="T15" fmla="*/ 173 h 417"/>
                  <a:gd name="T16" fmla="*/ 690 w 1307"/>
                  <a:gd name="T17" fmla="*/ 7 h 417"/>
                  <a:gd name="T18" fmla="*/ 616 w 1307"/>
                  <a:gd name="T19" fmla="*/ 7 h 417"/>
                  <a:gd name="T20" fmla="*/ 25 w 1307"/>
                  <a:gd name="T21" fmla="*/ 173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7" h="417">
                    <a:moveTo>
                      <a:pt x="25" y="173"/>
                    </a:moveTo>
                    <a:cubicBezTo>
                      <a:pt x="10" y="176"/>
                      <a:pt x="0" y="190"/>
                      <a:pt x="0" y="208"/>
                    </a:cubicBezTo>
                    <a:cubicBezTo>
                      <a:pt x="0" y="222"/>
                      <a:pt x="10" y="236"/>
                      <a:pt x="25" y="243"/>
                    </a:cubicBezTo>
                    <a:cubicBezTo>
                      <a:pt x="222" y="298"/>
                      <a:pt x="419" y="354"/>
                      <a:pt x="616" y="409"/>
                    </a:cubicBezTo>
                    <a:cubicBezTo>
                      <a:pt x="641" y="416"/>
                      <a:pt x="665" y="416"/>
                      <a:pt x="690" y="409"/>
                    </a:cubicBezTo>
                    <a:cubicBezTo>
                      <a:pt x="887" y="354"/>
                      <a:pt x="1084" y="298"/>
                      <a:pt x="1281" y="243"/>
                    </a:cubicBezTo>
                    <a:cubicBezTo>
                      <a:pt x="1295" y="240"/>
                      <a:pt x="1306" y="226"/>
                      <a:pt x="1306" y="208"/>
                    </a:cubicBezTo>
                    <a:cubicBezTo>
                      <a:pt x="1306" y="194"/>
                      <a:pt x="1295" y="180"/>
                      <a:pt x="1281" y="173"/>
                    </a:cubicBezTo>
                    <a:cubicBezTo>
                      <a:pt x="1084" y="118"/>
                      <a:pt x="887" y="62"/>
                      <a:pt x="690" y="7"/>
                    </a:cubicBezTo>
                    <a:cubicBezTo>
                      <a:pt x="665" y="0"/>
                      <a:pt x="641" y="0"/>
                      <a:pt x="616" y="7"/>
                    </a:cubicBezTo>
                    <a:cubicBezTo>
                      <a:pt x="419" y="62"/>
                      <a:pt x="222" y="118"/>
                      <a:pt x="25" y="173"/>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9" name="Freeform 5">
                <a:extLst>
                  <a:ext uri="{FF2B5EF4-FFF2-40B4-BE49-F238E27FC236}">
                    <a16:creationId xmlns:a16="http://schemas.microsoft.com/office/drawing/2014/main" id="{5968B77B-B320-4B69-BE09-64FC1921EFF2}"/>
                  </a:ext>
                </a:extLst>
              </p:cNvPr>
              <p:cNvSpPr>
                <a:spLocks noChangeArrowheads="1"/>
              </p:cNvSpPr>
              <p:nvPr/>
            </p:nvSpPr>
            <p:spPr bwMode="auto">
              <a:xfrm>
                <a:off x="8824913" y="876300"/>
                <a:ext cx="469900" cy="119063"/>
              </a:xfrm>
              <a:custGeom>
                <a:avLst/>
                <a:gdLst>
                  <a:gd name="T0" fmla="*/ 341 w 1307"/>
                  <a:gd name="T1" fmla="*/ 0 h 332"/>
                  <a:gd name="T2" fmla="*/ 25 w 1307"/>
                  <a:gd name="T3" fmla="*/ 88 h 332"/>
                  <a:gd name="T4" fmla="*/ 0 w 1307"/>
                  <a:gd name="T5" fmla="*/ 123 h 332"/>
                  <a:gd name="T6" fmla="*/ 25 w 1307"/>
                  <a:gd name="T7" fmla="*/ 159 h 332"/>
                  <a:gd name="T8" fmla="*/ 616 w 1307"/>
                  <a:gd name="T9" fmla="*/ 324 h 332"/>
                  <a:gd name="T10" fmla="*/ 690 w 1307"/>
                  <a:gd name="T11" fmla="*/ 324 h 332"/>
                  <a:gd name="T12" fmla="*/ 1281 w 1307"/>
                  <a:gd name="T13" fmla="*/ 159 h 332"/>
                  <a:gd name="T14" fmla="*/ 1306 w 1307"/>
                  <a:gd name="T15" fmla="*/ 123 h 332"/>
                  <a:gd name="T16" fmla="*/ 1281 w 1307"/>
                  <a:gd name="T17" fmla="*/ 88 h 332"/>
                  <a:gd name="T18" fmla="*/ 965 w 1307"/>
                  <a:gd name="T19"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7" h="332">
                    <a:moveTo>
                      <a:pt x="341" y="0"/>
                    </a:moveTo>
                    <a:cubicBezTo>
                      <a:pt x="236" y="29"/>
                      <a:pt x="131" y="59"/>
                      <a:pt x="25" y="88"/>
                    </a:cubicBezTo>
                    <a:cubicBezTo>
                      <a:pt x="10" y="92"/>
                      <a:pt x="0" y="106"/>
                      <a:pt x="0" y="123"/>
                    </a:cubicBezTo>
                    <a:cubicBezTo>
                      <a:pt x="0" y="138"/>
                      <a:pt x="10" y="152"/>
                      <a:pt x="25" y="159"/>
                    </a:cubicBezTo>
                    <a:cubicBezTo>
                      <a:pt x="222" y="214"/>
                      <a:pt x="419" y="269"/>
                      <a:pt x="616" y="324"/>
                    </a:cubicBezTo>
                    <a:cubicBezTo>
                      <a:pt x="641" y="331"/>
                      <a:pt x="665" y="331"/>
                      <a:pt x="690" y="324"/>
                    </a:cubicBezTo>
                    <a:cubicBezTo>
                      <a:pt x="887" y="269"/>
                      <a:pt x="1084" y="214"/>
                      <a:pt x="1281" y="159"/>
                    </a:cubicBezTo>
                    <a:cubicBezTo>
                      <a:pt x="1295" y="155"/>
                      <a:pt x="1306" y="141"/>
                      <a:pt x="1306" y="123"/>
                    </a:cubicBezTo>
                    <a:cubicBezTo>
                      <a:pt x="1306" y="109"/>
                      <a:pt x="1295" y="95"/>
                      <a:pt x="1281" y="88"/>
                    </a:cubicBezTo>
                    <a:cubicBezTo>
                      <a:pt x="1176" y="59"/>
                      <a:pt x="1071" y="29"/>
                      <a:pt x="965" y="0"/>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0" name="Freeform 6">
                <a:extLst>
                  <a:ext uri="{FF2B5EF4-FFF2-40B4-BE49-F238E27FC236}">
                    <a16:creationId xmlns:a16="http://schemas.microsoft.com/office/drawing/2014/main" id="{B9663920-6EDF-42E9-9900-0A4F240B1D78}"/>
                  </a:ext>
                </a:extLst>
              </p:cNvPr>
              <p:cNvSpPr>
                <a:spLocks noChangeArrowheads="1"/>
              </p:cNvSpPr>
              <p:nvPr/>
            </p:nvSpPr>
            <p:spPr bwMode="auto">
              <a:xfrm>
                <a:off x="8824913" y="963613"/>
                <a:ext cx="469900" cy="119062"/>
              </a:xfrm>
              <a:custGeom>
                <a:avLst/>
                <a:gdLst>
                  <a:gd name="T0" fmla="*/ 341 w 1307"/>
                  <a:gd name="T1" fmla="*/ 0 h 332"/>
                  <a:gd name="T2" fmla="*/ 25 w 1307"/>
                  <a:gd name="T3" fmla="*/ 88 h 332"/>
                  <a:gd name="T4" fmla="*/ 0 w 1307"/>
                  <a:gd name="T5" fmla="*/ 123 h 332"/>
                  <a:gd name="T6" fmla="*/ 25 w 1307"/>
                  <a:gd name="T7" fmla="*/ 159 h 332"/>
                  <a:gd name="T8" fmla="*/ 616 w 1307"/>
                  <a:gd name="T9" fmla="*/ 324 h 332"/>
                  <a:gd name="T10" fmla="*/ 690 w 1307"/>
                  <a:gd name="T11" fmla="*/ 324 h 332"/>
                  <a:gd name="T12" fmla="*/ 1281 w 1307"/>
                  <a:gd name="T13" fmla="*/ 159 h 332"/>
                  <a:gd name="T14" fmla="*/ 1306 w 1307"/>
                  <a:gd name="T15" fmla="*/ 123 h 332"/>
                  <a:gd name="T16" fmla="*/ 1281 w 1307"/>
                  <a:gd name="T17" fmla="*/ 88 h 332"/>
                  <a:gd name="T18" fmla="*/ 965 w 1307"/>
                  <a:gd name="T19"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7" h="332">
                    <a:moveTo>
                      <a:pt x="341" y="0"/>
                    </a:moveTo>
                    <a:cubicBezTo>
                      <a:pt x="236" y="29"/>
                      <a:pt x="131" y="59"/>
                      <a:pt x="25" y="88"/>
                    </a:cubicBezTo>
                    <a:cubicBezTo>
                      <a:pt x="10" y="92"/>
                      <a:pt x="0" y="106"/>
                      <a:pt x="0" y="123"/>
                    </a:cubicBezTo>
                    <a:cubicBezTo>
                      <a:pt x="0" y="137"/>
                      <a:pt x="10" y="152"/>
                      <a:pt x="25" y="159"/>
                    </a:cubicBezTo>
                    <a:cubicBezTo>
                      <a:pt x="222" y="214"/>
                      <a:pt x="419" y="269"/>
                      <a:pt x="616" y="324"/>
                    </a:cubicBezTo>
                    <a:cubicBezTo>
                      <a:pt x="641" y="331"/>
                      <a:pt x="665" y="331"/>
                      <a:pt x="690" y="324"/>
                    </a:cubicBezTo>
                    <a:cubicBezTo>
                      <a:pt x="887" y="269"/>
                      <a:pt x="1084" y="214"/>
                      <a:pt x="1281" y="159"/>
                    </a:cubicBezTo>
                    <a:cubicBezTo>
                      <a:pt x="1295" y="155"/>
                      <a:pt x="1306" y="141"/>
                      <a:pt x="1306" y="123"/>
                    </a:cubicBezTo>
                    <a:cubicBezTo>
                      <a:pt x="1306" y="109"/>
                      <a:pt x="1295" y="95"/>
                      <a:pt x="1281" y="88"/>
                    </a:cubicBezTo>
                    <a:cubicBezTo>
                      <a:pt x="1176" y="59"/>
                      <a:pt x="1071" y="29"/>
                      <a:pt x="965" y="0"/>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1" name="Freeform 7">
                <a:extLst>
                  <a:ext uri="{FF2B5EF4-FFF2-40B4-BE49-F238E27FC236}">
                    <a16:creationId xmlns:a16="http://schemas.microsoft.com/office/drawing/2014/main" id="{AFB9AB04-2B28-40C9-B6BC-700DBD6D32EE}"/>
                  </a:ext>
                </a:extLst>
              </p:cNvPr>
              <p:cNvSpPr>
                <a:spLocks noChangeArrowheads="1"/>
              </p:cNvSpPr>
              <p:nvPr/>
            </p:nvSpPr>
            <p:spPr bwMode="auto">
              <a:xfrm>
                <a:off x="8824913" y="1050925"/>
                <a:ext cx="469900" cy="119063"/>
              </a:xfrm>
              <a:custGeom>
                <a:avLst/>
                <a:gdLst>
                  <a:gd name="T0" fmla="*/ 341 w 1307"/>
                  <a:gd name="T1" fmla="*/ 0 h 332"/>
                  <a:gd name="T2" fmla="*/ 25 w 1307"/>
                  <a:gd name="T3" fmla="*/ 88 h 332"/>
                  <a:gd name="T4" fmla="*/ 0 w 1307"/>
                  <a:gd name="T5" fmla="*/ 123 h 332"/>
                  <a:gd name="T6" fmla="*/ 25 w 1307"/>
                  <a:gd name="T7" fmla="*/ 159 h 332"/>
                  <a:gd name="T8" fmla="*/ 616 w 1307"/>
                  <a:gd name="T9" fmla="*/ 324 h 332"/>
                  <a:gd name="T10" fmla="*/ 690 w 1307"/>
                  <a:gd name="T11" fmla="*/ 324 h 332"/>
                  <a:gd name="T12" fmla="*/ 1281 w 1307"/>
                  <a:gd name="T13" fmla="*/ 159 h 332"/>
                  <a:gd name="T14" fmla="*/ 1306 w 1307"/>
                  <a:gd name="T15" fmla="*/ 123 h 332"/>
                  <a:gd name="T16" fmla="*/ 1281 w 1307"/>
                  <a:gd name="T17" fmla="*/ 88 h 332"/>
                  <a:gd name="T18" fmla="*/ 965 w 1307"/>
                  <a:gd name="T19"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7" h="332">
                    <a:moveTo>
                      <a:pt x="341" y="0"/>
                    </a:moveTo>
                    <a:cubicBezTo>
                      <a:pt x="236" y="29"/>
                      <a:pt x="131" y="59"/>
                      <a:pt x="25" y="88"/>
                    </a:cubicBezTo>
                    <a:cubicBezTo>
                      <a:pt x="10" y="92"/>
                      <a:pt x="0" y="106"/>
                      <a:pt x="0" y="123"/>
                    </a:cubicBezTo>
                    <a:cubicBezTo>
                      <a:pt x="0" y="137"/>
                      <a:pt x="10" y="152"/>
                      <a:pt x="25" y="159"/>
                    </a:cubicBezTo>
                    <a:cubicBezTo>
                      <a:pt x="222" y="214"/>
                      <a:pt x="419" y="269"/>
                      <a:pt x="616" y="324"/>
                    </a:cubicBezTo>
                    <a:cubicBezTo>
                      <a:pt x="641" y="331"/>
                      <a:pt x="665" y="331"/>
                      <a:pt x="690" y="324"/>
                    </a:cubicBezTo>
                    <a:cubicBezTo>
                      <a:pt x="887" y="269"/>
                      <a:pt x="1084" y="214"/>
                      <a:pt x="1281" y="159"/>
                    </a:cubicBezTo>
                    <a:cubicBezTo>
                      <a:pt x="1295" y="155"/>
                      <a:pt x="1306" y="141"/>
                      <a:pt x="1306" y="123"/>
                    </a:cubicBezTo>
                    <a:cubicBezTo>
                      <a:pt x="1306" y="109"/>
                      <a:pt x="1295" y="95"/>
                      <a:pt x="1281" y="88"/>
                    </a:cubicBezTo>
                    <a:cubicBezTo>
                      <a:pt x="1176" y="59"/>
                      <a:pt x="1071" y="29"/>
                      <a:pt x="965" y="0"/>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grpSp>
      <p:sp>
        <p:nvSpPr>
          <p:cNvPr id="42" name="TextBox 41">
            <a:extLst>
              <a:ext uri="{FF2B5EF4-FFF2-40B4-BE49-F238E27FC236}">
                <a16:creationId xmlns:a16="http://schemas.microsoft.com/office/drawing/2014/main" id="{751EB848-F045-4017-B5A5-EB66A0E678CB}"/>
              </a:ext>
            </a:extLst>
          </p:cNvPr>
          <p:cNvSpPr txBox="1"/>
          <p:nvPr/>
        </p:nvSpPr>
        <p:spPr>
          <a:xfrm>
            <a:off x="425557" y="1417236"/>
            <a:ext cx="100395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a:ea typeface="+mn-ea"/>
                <a:cs typeface="+mn-cs"/>
              </a:rPr>
              <a:t>Applications that would </a:t>
            </a:r>
            <a:r>
              <a:rPr kumimoji="0" lang="en-GB" sz="1800" b="1" i="0" u="none" strike="noStrike" kern="1200" cap="none" spc="0" normalizeH="0" baseline="0" noProof="0" dirty="0">
                <a:ln>
                  <a:noFill/>
                </a:ln>
                <a:solidFill>
                  <a:prstClr val="black"/>
                </a:solidFill>
                <a:effectLst/>
                <a:uLnTx/>
                <a:uFillTx/>
                <a:latin typeface="Arial"/>
                <a:ea typeface="+mn-ea"/>
                <a:cs typeface="+mn-cs"/>
              </a:rPr>
              <a:t>NOT</a:t>
            </a:r>
            <a:r>
              <a:rPr kumimoji="0" lang="en-GB" sz="1800" b="0" i="0" u="none" strike="noStrike" kern="1200" cap="none" spc="0" normalizeH="0" baseline="0" noProof="0" dirty="0">
                <a:ln>
                  <a:noFill/>
                </a:ln>
                <a:solidFill>
                  <a:prstClr val="black"/>
                </a:solidFill>
                <a:effectLst/>
                <a:uLnTx/>
                <a:uFillTx/>
                <a:latin typeface="Arial"/>
                <a:ea typeface="+mn-ea"/>
                <a:cs typeface="+mn-cs"/>
              </a:rPr>
              <a:t> be </a:t>
            </a:r>
            <a:r>
              <a:rPr lang="en-GB" dirty="0">
                <a:solidFill>
                  <a:prstClr val="black"/>
                </a:solidFill>
                <a:latin typeface="Arial"/>
              </a:rPr>
              <a:t>included in the data gathering template: </a:t>
            </a:r>
            <a:endParaRPr kumimoji="0" lang="en-GB"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90116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5B5D87-1A9C-4296-BE6D-8FD51B76A1AE}"/>
              </a:ext>
            </a:extLst>
          </p:cNvPr>
          <p:cNvSpPr>
            <a:spLocks noGrp="1"/>
          </p:cNvSpPr>
          <p:nvPr>
            <p:ph type="sldNum" sz="quarter" idx="11"/>
          </p:nvPr>
        </p:nvSpPr>
        <p:spPr/>
        <p:txBody>
          <a:bodyPr/>
          <a:lstStyle/>
          <a:p>
            <a:fld id="{762E77F0-FB5B-4E8E-9BC9-34F14560A017}" type="slidenum">
              <a:rPr lang="en-US" smtClean="0"/>
              <a:pPr/>
              <a:t>8</a:t>
            </a:fld>
            <a:endParaRPr lang="en-US" dirty="0"/>
          </a:p>
        </p:txBody>
      </p:sp>
      <p:sp>
        <p:nvSpPr>
          <p:cNvPr id="3" name="Text Placeholder 2">
            <a:extLst>
              <a:ext uri="{FF2B5EF4-FFF2-40B4-BE49-F238E27FC236}">
                <a16:creationId xmlns:a16="http://schemas.microsoft.com/office/drawing/2014/main" id="{FAAF5F2B-708A-4ADB-8E23-E7A72E24BA97}"/>
              </a:ext>
            </a:extLst>
          </p:cNvPr>
          <p:cNvSpPr>
            <a:spLocks noGrp="1"/>
          </p:cNvSpPr>
          <p:nvPr>
            <p:ph type="body" sz="quarter" idx="12"/>
          </p:nvPr>
        </p:nvSpPr>
        <p:spPr>
          <a:xfrm>
            <a:off x="361950" y="1780033"/>
            <a:ext cx="11468100" cy="5097018"/>
          </a:xfrm>
        </p:spPr>
        <p:txBody>
          <a:bodyPr/>
          <a:lstStyle/>
          <a:p>
            <a:pPr marL="342900" indent="-342900">
              <a:buFont typeface="+mj-lt"/>
              <a:buAutoNum type="arabicPeriod"/>
            </a:pPr>
            <a:r>
              <a:rPr lang="en-GB" dirty="0"/>
              <a:t>Populate the leftmost column with all Applications in scope as listed by the customer (make sure they understand what is meant by an Application)</a:t>
            </a:r>
          </a:p>
          <a:p>
            <a:pPr marL="342900" indent="-342900">
              <a:buFont typeface="+mj-lt"/>
              <a:buAutoNum type="arabicPeriod"/>
            </a:pPr>
            <a:r>
              <a:rPr lang="en-GB" dirty="0"/>
              <a:t>Schedule validation session with customer to ensure that the applications listed are actually in scope for migration and are in line with SOW. No value gained in gathering data on apps that will not move to cloud or apps that are out of scope</a:t>
            </a:r>
          </a:p>
          <a:p>
            <a:pPr marL="342900" indent="-342900">
              <a:buFont typeface="+mj-lt"/>
              <a:buAutoNum type="arabicPeriod"/>
            </a:pPr>
            <a:r>
              <a:rPr lang="en-GB" dirty="0"/>
              <a:t>During validation session, explain the overall goal of the template, and attempt to get information on which applications are owned by who (Populate the app owner column)</a:t>
            </a:r>
          </a:p>
          <a:p>
            <a:pPr marL="342900" indent="-342900">
              <a:buFont typeface="+mj-lt"/>
              <a:buAutoNum type="arabicPeriod"/>
            </a:pPr>
            <a:r>
              <a:rPr lang="en-GB" dirty="0"/>
              <a:t>Schedule workshops with relevant app owners to take them through the template for their applications. Work column by column with each individual app and explain what it means and why we gather that data.</a:t>
            </a:r>
          </a:p>
          <a:p>
            <a:pPr marL="342900" indent="-342900">
              <a:buFont typeface="+mj-lt"/>
              <a:buAutoNum type="arabicPeriod"/>
            </a:pPr>
            <a:r>
              <a:rPr lang="en-GB" dirty="0"/>
              <a:t>If there are constraints due to timeline or large volume of apps – there is potential to leave the template in the customer’s hands to populate the sheet (However, clear instructions and examples should be provided to avoid misuse of the document, and workshops should be held for validation of unclear data points</a:t>
            </a:r>
          </a:p>
          <a:p>
            <a:pPr marL="342900" indent="-342900">
              <a:buFont typeface="+mj-lt"/>
              <a:buAutoNum type="arabicPeriod"/>
            </a:pPr>
            <a:endParaRPr lang="en-GB" dirty="0"/>
          </a:p>
        </p:txBody>
      </p:sp>
      <p:sp>
        <p:nvSpPr>
          <p:cNvPr id="5" name="Title 4">
            <a:extLst>
              <a:ext uri="{FF2B5EF4-FFF2-40B4-BE49-F238E27FC236}">
                <a16:creationId xmlns:a16="http://schemas.microsoft.com/office/drawing/2014/main" id="{2EC8D6F9-4D7E-4DB6-AC18-F95F8C47074B}"/>
              </a:ext>
            </a:extLst>
          </p:cNvPr>
          <p:cNvSpPr>
            <a:spLocks noGrp="1"/>
          </p:cNvSpPr>
          <p:nvPr>
            <p:ph type="title"/>
          </p:nvPr>
        </p:nvSpPr>
        <p:spPr/>
        <p:txBody>
          <a:bodyPr/>
          <a:lstStyle/>
          <a:p>
            <a:r>
              <a:rPr lang="en-GB" dirty="0"/>
              <a:t>How to populate it?</a:t>
            </a:r>
          </a:p>
        </p:txBody>
      </p:sp>
    </p:spTree>
    <p:extLst>
      <p:ext uri="{BB962C8B-B14F-4D97-AF65-F5344CB8AC3E}">
        <p14:creationId xmlns:p14="http://schemas.microsoft.com/office/powerpoint/2010/main" val="2042014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9</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760982"/>
            <a:ext cx="11468100" cy="5097018"/>
          </a:xfrm>
        </p:spPr>
        <p:txBody>
          <a:bodyPr/>
          <a:lstStyle/>
          <a:p>
            <a:r>
              <a:rPr lang="en-GB" sz="1600" b="1" dirty="0"/>
              <a:t>Application Name: </a:t>
            </a:r>
            <a:r>
              <a:rPr lang="en-GB" sz="1600" dirty="0"/>
              <a:t>Starting point for the template – All business Applications and Shared Services should be listed here (see Slide 5 for more info)</a:t>
            </a:r>
          </a:p>
          <a:p>
            <a:r>
              <a:rPr lang="en-GB" sz="1600" b="1" dirty="0"/>
              <a:t>Application Class: </a:t>
            </a:r>
            <a:r>
              <a:rPr lang="en-GB" sz="1600" dirty="0"/>
              <a:t>Values can be either Business App, Infra Shared Service, Desktop Software (considered </a:t>
            </a:r>
            <a:r>
              <a:rPr lang="en-GB" sz="1600" b="1" dirty="0"/>
              <a:t>out of scope</a:t>
            </a:r>
            <a:r>
              <a:rPr lang="en-GB" sz="1600" dirty="0"/>
              <a:t>) or SaaS (considered </a:t>
            </a:r>
            <a:r>
              <a:rPr lang="en-GB" sz="1600" b="1" dirty="0"/>
              <a:t>out of scope</a:t>
            </a:r>
            <a:r>
              <a:rPr lang="en-GB" sz="1600" dirty="0"/>
              <a:t>)</a:t>
            </a:r>
            <a:endParaRPr lang="en-GB" sz="1600" b="1" dirty="0"/>
          </a:p>
          <a:p>
            <a:r>
              <a:rPr lang="en-GB" sz="1600" b="1" dirty="0"/>
              <a:t>Application Description: </a:t>
            </a:r>
            <a:r>
              <a:rPr lang="en-GB" sz="1600" dirty="0"/>
              <a:t>Few short sentences describing the application purpose/function and high level technical details. Should not become a long paragraph or detailed description.</a:t>
            </a:r>
          </a:p>
          <a:p>
            <a:r>
              <a:rPr lang="en-GB" sz="1600" b="1" dirty="0"/>
              <a:t>Application Environment: </a:t>
            </a:r>
            <a:r>
              <a:rPr lang="en-GB" sz="1600" dirty="0"/>
              <a:t>Does this exist in Prod/Dev/Test, or all of the above? Test environments will have less migration risk due to impacted users. Prod has much greater risk during migration. Test enviros usually make a good fit for first movers</a:t>
            </a:r>
          </a:p>
          <a:p>
            <a:r>
              <a:rPr lang="en-GB" sz="1600" b="1" dirty="0"/>
              <a:t>Application Owner: </a:t>
            </a:r>
            <a:r>
              <a:rPr lang="en-GB" sz="1600" dirty="0"/>
              <a:t>Should be a SME (Subject Matter Expert) on the application. Should be the person present in workshops to provide data for template.</a:t>
            </a:r>
          </a:p>
          <a:p>
            <a:r>
              <a:rPr lang="en-GB" sz="1600" b="1" dirty="0"/>
              <a:t>Presentation Method: </a:t>
            </a:r>
            <a:r>
              <a:rPr lang="en-GB" sz="1600" dirty="0"/>
              <a:t>How is the application accessed? Could be a backend system accessed through RDP/SSH sessions, or through an API (even potentially through SQL management server if it’s a data warehouse). Could be accessed via a website or GUI for frontend service</a:t>
            </a:r>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spTree>
    <p:extLst>
      <p:ext uri="{BB962C8B-B14F-4D97-AF65-F5344CB8AC3E}">
        <p14:creationId xmlns:p14="http://schemas.microsoft.com/office/powerpoint/2010/main" val="2476696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10</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492393"/>
            <a:ext cx="11468100" cy="5097018"/>
          </a:xfrm>
        </p:spPr>
        <p:txBody>
          <a:bodyPr/>
          <a:lstStyle/>
          <a:p>
            <a:r>
              <a:rPr lang="en-GB" sz="1600" b="1" dirty="0"/>
              <a:t>Application Components: </a:t>
            </a:r>
            <a:r>
              <a:rPr lang="en-GB" sz="1600" dirty="0"/>
              <a:t>How many services or separately installed parts make up this application? </a:t>
            </a:r>
            <a:r>
              <a:rPr lang="en-GB" sz="1600" b="1" dirty="0"/>
              <a:t> </a:t>
            </a:r>
            <a:r>
              <a:rPr lang="en-GB" sz="1600" dirty="0"/>
              <a:t>(e.g. SAP finance made up of multiple products that need to be installed separately). Just a number needed, does not require the actual list of components at this stage.</a:t>
            </a:r>
          </a:p>
          <a:p>
            <a:r>
              <a:rPr lang="en-GB" sz="1600" b="1" dirty="0"/>
              <a:t>Lifecycle Status: </a:t>
            </a:r>
            <a:r>
              <a:rPr lang="en-GB" sz="1600" dirty="0"/>
              <a:t>These should be customer defined, but to give examples for their understanding:</a:t>
            </a:r>
          </a:p>
          <a:p>
            <a:pPr lvl="2">
              <a:buFont typeface="Wingdings" panose="05000000000000000000" pitchFamily="2" charset="2"/>
              <a:buChar char="ü"/>
            </a:pPr>
            <a:r>
              <a:rPr lang="en-GB" sz="1600" b="1" dirty="0"/>
              <a:t>New in: </a:t>
            </a:r>
            <a:r>
              <a:rPr lang="en-GB" sz="1600" dirty="0"/>
              <a:t>Built or bought in the last 3-6 months</a:t>
            </a:r>
          </a:p>
          <a:p>
            <a:pPr lvl="2">
              <a:buFont typeface="Wingdings" panose="05000000000000000000" pitchFamily="2" charset="2"/>
              <a:buChar char="ü"/>
            </a:pPr>
            <a:r>
              <a:rPr lang="en-GB" sz="1600" b="1" dirty="0"/>
              <a:t>Midlife:</a:t>
            </a:r>
            <a:r>
              <a:rPr lang="en-GB" sz="1600" dirty="0"/>
              <a:t> In operation for more than 6 months</a:t>
            </a:r>
          </a:p>
          <a:p>
            <a:pPr lvl="2">
              <a:buFont typeface="Wingdings" panose="05000000000000000000" pitchFamily="2" charset="2"/>
              <a:buChar char="ü"/>
            </a:pPr>
            <a:r>
              <a:rPr lang="en-GB" sz="1600" b="1" dirty="0"/>
              <a:t>End of Life: </a:t>
            </a:r>
            <a:r>
              <a:rPr lang="en-GB" sz="1600" dirty="0"/>
              <a:t>Outdated software, unsupported by manufacturer – nearing decision point to decommission</a:t>
            </a:r>
          </a:p>
          <a:p>
            <a:pPr lvl="2">
              <a:buFont typeface="Wingdings" panose="05000000000000000000" pitchFamily="2" charset="2"/>
              <a:buChar char="ü"/>
            </a:pPr>
            <a:r>
              <a:rPr lang="en-GB" sz="1600" b="1" dirty="0"/>
              <a:t>Decommissioned: </a:t>
            </a:r>
            <a:r>
              <a:rPr lang="en-GB" sz="1600" dirty="0"/>
              <a:t>Application no longer serving users, but servers are still up and running.</a:t>
            </a:r>
          </a:p>
          <a:p>
            <a:r>
              <a:rPr lang="en-GB" sz="1600" b="1" dirty="0"/>
              <a:t>Users: </a:t>
            </a:r>
            <a:r>
              <a:rPr lang="en-GB" sz="1600" dirty="0"/>
              <a:t>How many users make use of the application? Could be 10-20 for internal applications or 100’s/1000’s for customer-facing applications</a:t>
            </a:r>
          </a:p>
          <a:p>
            <a:r>
              <a:rPr lang="en-GB" sz="1600" b="1" dirty="0"/>
              <a:t>Business Unit: </a:t>
            </a:r>
            <a:r>
              <a:rPr lang="en-GB" sz="1600" dirty="0"/>
              <a:t>Can be a department or segment of the business (e.g. HR, IT, Finance, Engineering) </a:t>
            </a:r>
          </a:p>
          <a:p>
            <a:r>
              <a:rPr lang="en-GB" sz="1600" b="1" dirty="0"/>
              <a:t>Peak Period: </a:t>
            </a:r>
            <a:r>
              <a:rPr lang="en-GB" sz="1600" dirty="0"/>
              <a:t>When are there spikes in traffic to this application? Is it busiest on Monday mornings, Friday afternoon, Black Friday, Christmas? Useful to identify a suitable outage window to Migrate application to ensure minimal impact to users.</a:t>
            </a:r>
            <a:endParaRPr lang="en-GB" sz="1600" b="1" dirty="0"/>
          </a:p>
          <a:p>
            <a:pPr>
              <a:buFont typeface="Wingdings" panose="05000000000000000000" pitchFamily="2" charset="2"/>
              <a:buChar char="§"/>
            </a:pPr>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spTree>
    <p:extLst>
      <p:ext uri="{BB962C8B-B14F-4D97-AF65-F5344CB8AC3E}">
        <p14:creationId xmlns:p14="http://schemas.microsoft.com/office/powerpoint/2010/main" val="613784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11</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472058"/>
            <a:ext cx="11468100" cy="5097018"/>
          </a:xfrm>
        </p:spPr>
        <p:txBody>
          <a:bodyPr/>
          <a:lstStyle/>
          <a:p>
            <a:r>
              <a:rPr lang="en-GB" sz="1600" b="1" dirty="0"/>
              <a:t>Application Type: </a:t>
            </a:r>
            <a:r>
              <a:rPr lang="en-GB" sz="1600" dirty="0"/>
              <a:t>Bespoke meaning it was built by the customer, or COTS meaning it was bought from an external third party. Can be a combination of both (i.e COTS with customization)</a:t>
            </a:r>
          </a:p>
          <a:p>
            <a:r>
              <a:rPr lang="en-GB" sz="1600" b="1" dirty="0"/>
              <a:t>Automation:</a:t>
            </a:r>
            <a:r>
              <a:rPr lang="en-GB" sz="1600" dirty="0"/>
              <a:t> Is the application code automatically redeployed using a pipeline or deployment mechanism? Or is the application manually installed and configured by customer? If they rely heavily on their deployment mechanism for applications – there is the option to suggest they rebuild this pipeline in cloud and use it to deploy their apps</a:t>
            </a:r>
          </a:p>
          <a:p>
            <a:r>
              <a:rPr lang="en-GB" sz="1600" b="1" dirty="0"/>
              <a:t>Infrastructure Count:</a:t>
            </a:r>
            <a:r>
              <a:rPr lang="en-GB" sz="1600" dirty="0"/>
              <a:t> Simply the number of servers that host the application</a:t>
            </a:r>
          </a:p>
          <a:p>
            <a:r>
              <a:rPr lang="en-GB" sz="1600" b="1" dirty="0"/>
              <a:t>Infrastructure:</a:t>
            </a:r>
            <a:r>
              <a:rPr lang="en-GB" sz="1600" dirty="0"/>
              <a:t> The actual hostnames of servers that run this application. Useful in completing the Application to Infrastructure mapping for later phases. Important to know which servers are needed to be targeted during migration and those to be decommissioned post migration.</a:t>
            </a:r>
          </a:p>
          <a:p>
            <a:r>
              <a:rPr lang="en-GB" sz="1600" b="1" dirty="0"/>
              <a:t>OS: </a:t>
            </a:r>
            <a:r>
              <a:rPr lang="en-GB" sz="1600" dirty="0"/>
              <a:t>Operating system of severs running the application. Useful to get actual version (e.g. Window 2003) to identify if server OS is out of vendor support. </a:t>
            </a:r>
          </a:p>
          <a:p>
            <a:r>
              <a:rPr lang="en-GB" sz="1600" b="1" dirty="0"/>
              <a:t>Dependant Applications: </a:t>
            </a:r>
            <a:r>
              <a:rPr lang="en-GB" sz="1600" dirty="0"/>
              <a:t>This refers to hard latency dependencies. What other applications would be seriously impacted (or cease to run) if this application was moved to a different location at a different time</a:t>
            </a:r>
          </a:p>
          <a:p>
            <a:r>
              <a:rPr lang="en-GB" sz="1600" b="1" dirty="0"/>
              <a:t>Interfaces: </a:t>
            </a:r>
            <a:r>
              <a:rPr lang="en-GB" sz="1600" dirty="0"/>
              <a:t>Number of communication paths between other applications. Usually similar to dependant applications. Just a number is required</a:t>
            </a:r>
          </a:p>
          <a:p>
            <a:endParaRPr lang="en-GB" sz="1600" dirty="0"/>
          </a:p>
          <a:p>
            <a:endParaRPr lang="en-GB" sz="1600" b="1"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spTree>
    <p:extLst>
      <p:ext uri="{BB962C8B-B14F-4D97-AF65-F5344CB8AC3E}">
        <p14:creationId xmlns:p14="http://schemas.microsoft.com/office/powerpoint/2010/main" val="266242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12</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440006"/>
            <a:ext cx="11468100" cy="5097018"/>
          </a:xfrm>
        </p:spPr>
        <p:txBody>
          <a:bodyPr/>
          <a:lstStyle/>
          <a:p>
            <a:r>
              <a:rPr lang="en-GB" sz="1600" b="1" dirty="0"/>
              <a:t>IP/Hostname Concern:</a:t>
            </a:r>
            <a:r>
              <a:rPr lang="en-GB" sz="1600" dirty="0"/>
              <a:t> Are there any network concerns to consider that cannot be easily managed with a DNS change (e.g. Hardcoded IP addresses, load balancers, multiple IP addresses)</a:t>
            </a:r>
            <a:endParaRPr lang="en-GB" sz="1600" b="1" dirty="0"/>
          </a:p>
          <a:p>
            <a:r>
              <a:rPr lang="en-GB" sz="1600" b="1" dirty="0"/>
              <a:t>Application Tiers: </a:t>
            </a:r>
            <a:r>
              <a:rPr lang="en-GB" sz="1600" dirty="0"/>
              <a:t>Number of application tiers (Usually between 1-3). Referring to frontend (UI), middleware (business logic) and backend (databases). Can be 4 tiered if there are external connection</a:t>
            </a:r>
          </a:p>
          <a:p>
            <a:r>
              <a:rPr lang="en-GB" sz="1600" b="1" dirty="0"/>
              <a:t>Databases: </a:t>
            </a:r>
            <a:r>
              <a:rPr lang="en-GB" sz="1600" dirty="0"/>
              <a:t>Simply number of databases that are being used to run this application</a:t>
            </a:r>
          </a:p>
          <a:p>
            <a:r>
              <a:rPr lang="en-GB" sz="1600" b="1" dirty="0"/>
              <a:t>DB Type:</a:t>
            </a:r>
            <a:r>
              <a:rPr lang="en-GB" sz="1600" dirty="0"/>
              <a:t> Database technology used (e.g. Oracle, SQL, PostgreSQL)</a:t>
            </a:r>
          </a:p>
          <a:p>
            <a:r>
              <a:rPr lang="en-GB" sz="1600" b="1" dirty="0"/>
              <a:t>DB Size:</a:t>
            </a:r>
            <a:r>
              <a:rPr lang="en-GB" sz="1600" dirty="0"/>
              <a:t> Simply volume of data that exists in databases (in MB/GB)</a:t>
            </a:r>
          </a:p>
          <a:p>
            <a:r>
              <a:rPr lang="en-GB" sz="1600" b="1" dirty="0"/>
              <a:t>Data Volume: </a:t>
            </a:r>
            <a:r>
              <a:rPr lang="en-GB" sz="1600" dirty="0"/>
              <a:t>Refers to any additional data not stored in database (i.e. </a:t>
            </a:r>
            <a:r>
              <a:rPr lang="en-GB" sz="1600" dirty="0" err="1"/>
              <a:t>Fileshare</a:t>
            </a:r>
            <a:r>
              <a:rPr lang="en-GB" sz="1600" dirty="0"/>
              <a:t> or external storage)</a:t>
            </a:r>
          </a:p>
          <a:p>
            <a:r>
              <a:rPr lang="en-GB" sz="1600" b="1" dirty="0"/>
              <a:t>RPO: </a:t>
            </a:r>
            <a:r>
              <a:rPr lang="en-GB" sz="1600" dirty="0"/>
              <a:t>Recovery Point Objective - describes the age of the data you want to restore in the event of a disaster. Usually related to backup frequency (i.e. Biweekly, Daily). </a:t>
            </a:r>
          </a:p>
          <a:p>
            <a:r>
              <a:rPr lang="en-GB" sz="1600" b="1" dirty="0"/>
              <a:t>RTO: </a:t>
            </a:r>
            <a:r>
              <a:rPr lang="en-GB" sz="1600" dirty="0"/>
              <a:t>Timeframe requirement for how long it should take to recover from the time of declaring the disaster to when the critical process or system is available to users. (App owners may not have this information – sometimes defined in SLA of applications)</a:t>
            </a:r>
          </a:p>
          <a:p>
            <a:r>
              <a:rPr lang="en-GB" sz="1600" b="1" dirty="0"/>
              <a:t>MTO</a:t>
            </a:r>
            <a:r>
              <a:rPr lang="en-GB" sz="1600" dirty="0"/>
              <a:t>: Maximum amount of time that an organization can survive without the business process in any form. (App owners may not have this information – sometimes defined in SLA of applications)</a:t>
            </a:r>
          </a:p>
          <a:p>
            <a:pPr marL="0" indent="0">
              <a:buNone/>
            </a:pPr>
            <a:endParaRPr lang="en-GB" sz="1600"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spTree>
    <p:extLst>
      <p:ext uri="{BB962C8B-B14F-4D97-AF65-F5344CB8AC3E}">
        <p14:creationId xmlns:p14="http://schemas.microsoft.com/office/powerpoint/2010/main" val="588659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13</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538732"/>
            <a:ext cx="11468100" cy="5097018"/>
          </a:xfrm>
        </p:spPr>
        <p:txBody>
          <a:bodyPr/>
          <a:lstStyle/>
          <a:p>
            <a:r>
              <a:rPr lang="en-GB" sz="1600" b="1" dirty="0"/>
              <a:t>SLA Uptime: </a:t>
            </a:r>
            <a:r>
              <a:rPr lang="en-GB" sz="1600" dirty="0"/>
              <a:t>The availability required for the application (Usually defined in SLA). Examples of levels: </a:t>
            </a:r>
          </a:p>
          <a:p>
            <a:pPr lvl="1">
              <a:buFont typeface="Wingdings" panose="05000000000000000000" pitchFamily="2" charset="2"/>
              <a:buChar char="ü"/>
            </a:pPr>
            <a:r>
              <a:rPr lang="en-GB" sz="1600" b="1" dirty="0"/>
              <a:t>High:</a:t>
            </a:r>
            <a:r>
              <a:rPr lang="en-GB" sz="1600" dirty="0"/>
              <a:t> Always available (99.99999%)</a:t>
            </a:r>
          </a:p>
          <a:p>
            <a:pPr lvl="1">
              <a:buFont typeface="Wingdings" panose="05000000000000000000" pitchFamily="2" charset="2"/>
              <a:buChar char="ü"/>
            </a:pPr>
            <a:r>
              <a:rPr lang="en-GB" sz="1600" b="1" dirty="0"/>
              <a:t>Medium:</a:t>
            </a:r>
            <a:r>
              <a:rPr lang="en-GB" sz="1600" dirty="0"/>
              <a:t> Can tolerate a small amount of downtime</a:t>
            </a:r>
          </a:p>
          <a:p>
            <a:pPr lvl="1">
              <a:buFont typeface="Wingdings" panose="05000000000000000000" pitchFamily="2" charset="2"/>
              <a:buChar char="ü"/>
            </a:pPr>
            <a:r>
              <a:rPr lang="en-GB" sz="1600" b="1" dirty="0"/>
              <a:t>Low: </a:t>
            </a:r>
            <a:r>
              <a:rPr lang="en-GB" sz="1600" dirty="0"/>
              <a:t>Downtime has little to no effect on application</a:t>
            </a:r>
          </a:p>
          <a:p>
            <a:r>
              <a:rPr lang="en-GB" sz="1600" b="1" dirty="0"/>
              <a:t>Business Criticality:</a:t>
            </a:r>
            <a:r>
              <a:rPr lang="en-GB" sz="1600" dirty="0"/>
              <a:t> How severely would users be impacted from downtime of the application? Examples of levels:</a:t>
            </a:r>
          </a:p>
          <a:p>
            <a:pPr lvl="1">
              <a:buFont typeface="Wingdings" panose="05000000000000000000" pitchFamily="2" charset="2"/>
              <a:buChar char="ü"/>
            </a:pPr>
            <a:r>
              <a:rPr lang="en-GB" sz="1600" b="1" dirty="0"/>
              <a:t>High:</a:t>
            </a:r>
            <a:r>
              <a:rPr lang="en-GB" sz="1600" dirty="0"/>
              <a:t> Money or customers lost. Internal workload teams severely impacted</a:t>
            </a:r>
          </a:p>
          <a:p>
            <a:pPr lvl="1">
              <a:buFont typeface="Wingdings" panose="05000000000000000000" pitchFamily="2" charset="2"/>
              <a:buChar char="ü"/>
            </a:pPr>
            <a:r>
              <a:rPr lang="en-GB" sz="1600" b="1" dirty="0"/>
              <a:t>Medium: </a:t>
            </a:r>
            <a:r>
              <a:rPr lang="en-GB" sz="1600" dirty="0"/>
              <a:t>Users of app would experience irritation or have small to medium impact</a:t>
            </a:r>
          </a:p>
          <a:p>
            <a:pPr lvl="1">
              <a:buFont typeface="Wingdings" panose="05000000000000000000" pitchFamily="2" charset="2"/>
              <a:buChar char="ü"/>
            </a:pPr>
            <a:r>
              <a:rPr lang="en-GB" sz="1600" b="1" dirty="0"/>
              <a:t>Low: </a:t>
            </a:r>
            <a:r>
              <a:rPr lang="en-GB" sz="1600" dirty="0"/>
              <a:t>Test environments. Not critical to business or used mainly for sandboxes, testing of app functionality.</a:t>
            </a:r>
            <a:endParaRPr lang="en-GB" sz="1600" b="1" dirty="0"/>
          </a:p>
          <a:p>
            <a:r>
              <a:rPr lang="en-GB" sz="1600" b="1" dirty="0"/>
              <a:t>Compliance: </a:t>
            </a:r>
            <a:r>
              <a:rPr lang="en-GB" sz="1600" dirty="0"/>
              <a:t>Is the data processed/stored in the application subject to any regulatory requirements? Examples of levels:</a:t>
            </a:r>
            <a:endParaRPr lang="en-GB" sz="1600" b="1" dirty="0"/>
          </a:p>
          <a:p>
            <a:pPr lvl="1">
              <a:buFont typeface="Wingdings" panose="05000000000000000000" pitchFamily="2" charset="2"/>
              <a:buChar char="ü"/>
            </a:pPr>
            <a:r>
              <a:rPr lang="en-GB" sz="1600" b="1" dirty="0"/>
              <a:t>High: </a:t>
            </a:r>
            <a:r>
              <a:rPr lang="en-GB" sz="1600" dirty="0"/>
              <a:t>Application is subject to strict data regulations that are enforced</a:t>
            </a:r>
          </a:p>
          <a:p>
            <a:pPr lvl="1">
              <a:buFont typeface="Wingdings" panose="05000000000000000000" pitchFamily="2" charset="2"/>
              <a:buChar char="ü"/>
            </a:pPr>
            <a:r>
              <a:rPr lang="en-GB" sz="1600" b="1" dirty="0"/>
              <a:t>Medium:</a:t>
            </a:r>
            <a:r>
              <a:rPr lang="en-GB" sz="1600" dirty="0"/>
              <a:t> Compliance regulations in place, not always followed or adhered to</a:t>
            </a:r>
          </a:p>
          <a:p>
            <a:pPr lvl="1">
              <a:buFont typeface="Wingdings" panose="05000000000000000000" pitchFamily="2" charset="2"/>
              <a:buChar char="ü"/>
            </a:pPr>
            <a:r>
              <a:rPr lang="en-GB" sz="1600" b="1" dirty="0"/>
              <a:t>Low:</a:t>
            </a:r>
            <a:r>
              <a:rPr lang="en-GB" sz="1600" dirty="0"/>
              <a:t> Very basic compliance regulations or none in place</a:t>
            </a:r>
            <a:endParaRPr lang="en-GB" sz="1600" b="1" dirty="0"/>
          </a:p>
          <a:p>
            <a:pPr marL="0" indent="0">
              <a:buNone/>
            </a:pPr>
            <a:endParaRPr lang="en-GB" sz="1600"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spTree>
    <p:extLst>
      <p:ext uri="{BB962C8B-B14F-4D97-AF65-F5344CB8AC3E}">
        <p14:creationId xmlns:p14="http://schemas.microsoft.com/office/powerpoint/2010/main" val="1103329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14</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760982"/>
            <a:ext cx="11468100" cy="5097018"/>
          </a:xfrm>
        </p:spPr>
        <p:txBody>
          <a:bodyPr/>
          <a:lstStyle/>
          <a:p>
            <a:r>
              <a:rPr lang="en-GB" sz="1600" b="1" dirty="0"/>
              <a:t>Data Sensitivity:</a:t>
            </a:r>
            <a:r>
              <a:rPr lang="en-GB" sz="1600" dirty="0"/>
              <a:t> How sensitive is the data stored/processed in the application? Examples of Levels</a:t>
            </a:r>
          </a:p>
          <a:p>
            <a:pPr lvl="1">
              <a:buFont typeface="Wingdings" panose="05000000000000000000" pitchFamily="2" charset="2"/>
              <a:buChar char="ü"/>
            </a:pPr>
            <a:r>
              <a:rPr lang="en-GB" sz="1600" b="1" dirty="0"/>
              <a:t>High:</a:t>
            </a:r>
            <a:r>
              <a:rPr lang="en-GB" sz="1600" dirty="0"/>
              <a:t> Financial records, credit card information, intellectual property, authentication data</a:t>
            </a:r>
          </a:p>
          <a:p>
            <a:pPr lvl="1">
              <a:buFont typeface="Wingdings" panose="05000000000000000000" pitchFamily="2" charset="2"/>
              <a:buChar char="ü"/>
            </a:pPr>
            <a:r>
              <a:rPr lang="en-GB" sz="1600" b="1" dirty="0"/>
              <a:t>Medium:</a:t>
            </a:r>
            <a:r>
              <a:rPr lang="en-GB" sz="1600" dirty="0"/>
              <a:t> Emails, documents, reports with little to no confidential data. Internal company information</a:t>
            </a:r>
          </a:p>
          <a:p>
            <a:pPr lvl="1">
              <a:buFont typeface="Wingdings" panose="05000000000000000000" pitchFamily="2" charset="2"/>
              <a:buChar char="ü"/>
            </a:pPr>
            <a:r>
              <a:rPr lang="en-GB" sz="1600" b="1" dirty="0"/>
              <a:t>Low:</a:t>
            </a:r>
            <a:r>
              <a:rPr lang="en-GB" sz="1600" dirty="0"/>
              <a:t> Mostly public facing data. Little to no impact if data breach occurred.</a:t>
            </a:r>
          </a:p>
          <a:p>
            <a:r>
              <a:rPr lang="en-GB" sz="1600" b="1" dirty="0"/>
              <a:t>Knowledge Level: </a:t>
            </a:r>
            <a:r>
              <a:rPr lang="en-GB" sz="1600" dirty="0"/>
              <a:t>How well understood is the application to the customer? Can they debug, rebuild or redeploy the application? Examples of Levels:</a:t>
            </a:r>
          </a:p>
          <a:p>
            <a:pPr lvl="1">
              <a:buFont typeface="Wingdings" panose="05000000000000000000" pitchFamily="2" charset="2"/>
              <a:buChar char="ü"/>
            </a:pPr>
            <a:r>
              <a:rPr lang="en-GB" sz="1600" b="1" dirty="0"/>
              <a:t>High:</a:t>
            </a:r>
            <a:r>
              <a:rPr lang="en-GB" sz="1600" dirty="0"/>
              <a:t> Built in house, developer or team still present or well documented. Can easily debug and redeploy application</a:t>
            </a:r>
          </a:p>
          <a:p>
            <a:pPr lvl="1">
              <a:buFont typeface="Wingdings" panose="05000000000000000000" pitchFamily="2" charset="2"/>
              <a:buChar char="ü"/>
            </a:pPr>
            <a:r>
              <a:rPr lang="en-GB" sz="1600" b="1" dirty="0"/>
              <a:t>Medium:</a:t>
            </a:r>
            <a:r>
              <a:rPr lang="en-GB" sz="1600" dirty="0"/>
              <a:t> Fairly well documented and understood. Team could debug or redeploy application with some effort.</a:t>
            </a:r>
          </a:p>
          <a:p>
            <a:pPr lvl="1">
              <a:buFont typeface="Wingdings" panose="05000000000000000000" pitchFamily="2" charset="2"/>
              <a:buChar char="ü"/>
            </a:pPr>
            <a:r>
              <a:rPr lang="en-GB" sz="1600" b="1" dirty="0"/>
              <a:t>Low: </a:t>
            </a:r>
            <a:r>
              <a:rPr lang="en-GB" sz="1600" dirty="0"/>
              <a:t>Poorly documented, little to no understanding of application. Team would struggle to debug or redeploy application.</a:t>
            </a:r>
            <a:endParaRPr lang="en-GB" sz="1600" b="1"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spTree>
    <p:extLst>
      <p:ext uri="{BB962C8B-B14F-4D97-AF65-F5344CB8AC3E}">
        <p14:creationId xmlns:p14="http://schemas.microsoft.com/office/powerpoint/2010/main" val="392080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8A52F9-19A9-4E54-8611-0F4D2E8D5B59}"/>
              </a:ext>
            </a:extLst>
          </p:cNvPr>
          <p:cNvSpPr>
            <a:spLocks noGrp="1"/>
          </p:cNvSpPr>
          <p:nvPr>
            <p:ph type="sldNum" sz="quarter" idx="11"/>
          </p:nvPr>
        </p:nvSpPr>
        <p:spPr/>
        <p:txBody>
          <a:bodyPr/>
          <a:lstStyle/>
          <a:p>
            <a:fld id="{762E77F0-FB5B-4E8E-9BC9-34F14560A017}" type="slidenum">
              <a:rPr lang="en-US" smtClean="0"/>
              <a:pPr/>
              <a:t>15</a:t>
            </a:fld>
            <a:endParaRPr lang="en-US" dirty="0"/>
          </a:p>
        </p:txBody>
      </p:sp>
      <p:sp>
        <p:nvSpPr>
          <p:cNvPr id="3" name="Text Placeholder 2">
            <a:extLst>
              <a:ext uri="{FF2B5EF4-FFF2-40B4-BE49-F238E27FC236}">
                <a16:creationId xmlns:a16="http://schemas.microsoft.com/office/drawing/2014/main" id="{8D7EA840-5874-420A-BD62-0E3CAA6994E0}"/>
              </a:ext>
            </a:extLst>
          </p:cNvPr>
          <p:cNvSpPr>
            <a:spLocks noGrp="1"/>
          </p:cNvSpPr>
          <p:nvPr>
            <p:ph type="body" sz="quarter" idx="12"/>
          </p:nvPr>
        </p:nvSpPr>
        <p:spPr>
          <a:xfrm>
            <a:off x="361950" y="2322350"/>
            <a:ext cx="11468100" cy="5097018"/>
          </a:xfrm>
        </p:spPr>
        <p:txBody>
          <a:bodyPr/>
          <a:lstStyle/>
          <a:p>
            <a:r>
              <a:rPr lang="en-GB" sz="1600" b="1" dirty="0"/>
              <a:t>Application Type (Bespoke vs COTS)</a:t>
            </a:r>
          </a:p>
          <a:p>
            <a:r>
              <a:rPr lang="en-GB" sz="1600" b="1" dirty="0"/>
              <a:t>App Components (Number)</a:t>
            </a:r>
          </a:p>
          <a:p>
            <a:r>
              <a:rPr lang="en-GB" sz="1600" b="1" dirty="0"/>
              <a:t>Interfaces/Dependencies (Number)</a:t>
            </a:r>
          </a:p>
          <a:p>
            <a:r>
              <a:rPr lang="en-GB" sz="1600" b="1" dirty="0"/>
              <a:t>Tiers (Number)</a:t>
            </a:r>
          </a:p>
          <a:p>
            <a:r>
              <a:rPr lang="en-GB" sz="1600" b="1" dirty="0"/>
              <a:t>Databases (Number)</a:t>
            </a:r>
          </a:p>
          <a:p>
            <a:r>
              <a:rPr lang="en-GB" sz="1600" b="1" dirty="0"/>
              <a:t>Criticality (High/Medium/Low)</a:t>
            </a:r>
          </a:p>
          <a:p>
            <a:r>
              <a:rPr lang="en-GB" sz="1600" b="1" dirty="0"/>
              <a:t>Compliance (High/Medium/Low)</a:t>
            </a:r>
          </a:p>
          <a:p>
            <a:r>
              <a:rPr lang="en-GB" sz="1600" b="1" dirty="0"/>
              <a:t>Knowledge Levels (High/Medium/Low)</a:t>
            </a:r>
          </a:p>
          <a:p>
            <a:r>
              <a:rPr lang="en-GB" sz="1600" b="1" dirty="0"/>
              <a:t>Infrastructure Items (Number)</a:t>
            </a:r>
          </a:p>
          <a:p>
            <a:r>
              <a:rPr lang="en-GB" sz="1600" b="1" dirty="0"/>
              <a:t>Architecture (Windows vs Linux)</a:t>
            </a:r>
          </a:p>
        </p:txBody>
      </p:sp>
      <p:sp>
        <p:nvSpPr>
          <p:cNvPr id="4" name="Text Placeholder 3">
            <a:extLst>
              <a:ext uri="{FF2B5EF4-FFF2-40B4-BE49-F238E27FC236}">
                <a16:creationId xmlns:a16="http://schemas.microsoft.com/office/drawing/2014/main" id="{94E4365B-4DFE-4B23-9D13-0E4E69C1DC16}"/>
              </a:ext>
            </a:extLst>
          </p:cNvPr>
          <p:cNvSpPr>
            <a:spLocks noGrp="1"/>
          </p:cNvSpPr>
          <p:nvPr>
            <p:ph type="body" sz="quarter" idx="13"/>
          </p:nvPr>
        </p:nvSpPr>
        <p:spPr>
          <a:xfrm>
            <a:off x="344489" y="1590676"/>
            <a:ext cx="11485563" cy="514350"/>
          </a:xfrm>
        </p:spPr>
        <p:txBody>
          <a:bodyPr/>
          <a:lstStyle/>
          <a:p>
            <a:r>
              <a:rPr lang="en-GB" dirty="0"/>
              <a:t>These values are the critical data points required to generate a complexity score using our scoring template (Ensure these data points are gathered during workshops)</a:t>
            </a:r>
          </a:p>
        </p:txBody>
      </p:sp>
      <p:sp>
        <p:nvSpPr>
          <p:cNvPr id="5" name="Title 4">
            <a:extLst>
              <a:ext uri="{FF2B5EF4-FFF2-40B4-BE49-F238E27FC236}">
                <a16:creationId xmlns:a16="http://schemas.microsoft.com/office/drawing/2014/main" id="{16AA8C20-A109-465F-B24A-23D6286C0EC9}"/>
              </a:ext>
            </a:extLst>
          </p:cNvPr>
          <p:cNvSpPr>
            <a:spLocks noGrp="1"/>
          </p:cNvSpPr>
          <p:nvPr>
            <p:ph type="title"/>
          </p:nvPr>
        </p:nvSpPr>
        <p:spPr/>
        <p:txBody>
          <a:bodyPr/>
          <a:lstStyle/>
          <a:p>
            <a:r>
              <a:rPr lang="en-GB" dirty="0"/>
              <a:t>Complexity assessment minimum requirements</a:t>
            </a:r>
          </a:p>
        </p:txBody>
      </p:sp>
    </p:spTree>
    <p:extLst>
      <p:ext uri="{BB962C8B-B14F-4D97-AF65-F5344CB8AC3E}">
        <p14:creationId xmlns:p14="http://schemas.microsoft.com/office/powerpoint/2010/main" val="1840445761"/>
      </p:ext>
    </p:extLst>
  </p:cSld>
  <p:clrMapOvr>
    <a:masterClrMapping/>
  </p:clrMapOvr>
</p:sld>
</file>

<file path=ppt/theme/theme1.xml><?xml version="1.0" encoding="utf-8"?>
<a:theme xmlns:a="http://schemas.openxmlformats.org/drawingml/2006/main" name="RackspaceTech Theme">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Tech Theme" id="{2E984DFC-1B0E-4C3F-90B5-6FE8433EE52C}" vid="{2E5AC66D-D70C-46EA-9FF1-959E6C486D8A}"/>
    </a:ext>
  </a:extLst>
</a:theme>
</file>

<file path=ppt/theme/theme2.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5061A055-FB56-FA49-A85B-F15A28A3B8DA}"/>
    </a:ext>
  </a:extLst>
</a:theme>
</file>

<file path=ppt/theme/theme3.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47E0E0A6-F9B8-664F-BBDE-B941737C3CA0}"/>
    </a:ext>
  </a:extLst>
</a:theme>
</file>

<file path=ppt/theme/theme4.xml><?xml version="1.0" encoding="utf-8"?>
<a:theme xmlns:a="http://schemas.openxmlformats.org/drawingml/2006/main" name="1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C32F4402-BC09-A142-9B9D-D5F06454E12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544b03d-ed08-46e1-a5f8-632fc735be33" xsi:nil="true"/>
    <Document_x0020_Title xmlns="5f48960e-adff-4c4b-a3cc-c04684fce5eb" xsi:nil="true"/>
    <lcf76f155ced4ddcb4097134ff3c332f xmlns="5f48960e-adff-4c4b-a3cc-c04684fce5eb">
      <Terms xmlns="http://schemas.microsoft.com/office/infopath/2007/PartnerControls"/>
    </lcf76f155ced4ddcb4097134ff3c332f>
    <Comment xmlns="5f48960e-adff-4c4b-a3cc-c04684fce5eb" xsi:nil="true"/>
    <_ip_UnifiedCompliancePolicyProperties xmlns="http://schemas.microsoft.com/sharepoint/v3" xsi:nil="true"/>
    <_Flow_SignoffStatus xmlns="5f48960e-adff-4c4b-a3cc-c04684fce5eb" xsi:nil="true"/>
    <CustomerName xmlns="5f48960e-adff-4c4b-a3cc-c04684fce5eb"/>
    <Opportunitystage xmlns="5f48960e-adff-4c4b-a3cc-c04684fce5eb">RFP</Opportunitystag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5D2EC39F447F47952F4A30B9BA462D" ma:contentTypeVersion="27" ma:contentTypeDescription="Create a new document." ma:contentTypeScope="" ma:versionID="5331645de4615e572d048749ea8d1162">
  <xsd:schema xmlns:xsd="http://www.w3.org/2001/XMLSchema" xmlns:xs="http://www.w3.org/2001/XMLSchema" xmlns:p="http://schemas.microsoft.com/office/2006/metadata/properties" xmlns:ns1="http://schemas.microsoft.com/sharepoint/v3" xmlns:ns2="5f48960e-adff-4c4b-a3cc-c04684fce5eb" xmlns:ns3="4544b03d-ed08-46e1-a5f8-632fc735be33" targetNamespace="http://schemas.microsoft.com/office/2006/metadata/properties" ma:root="true" ma:fieldsID="799ff8191013df01993bc677d8848a09" ns1:_="" ns2:_="" ns3:_="">
    <xsd:import namespace="http://schemas.microsoft.com/sharepoint/v3"/>
    <xsd:import namespace="5f48960e-adff-4c4b-a3cc-c04684fce5eb"/>
    <xsd:import namespace="4544b03d-ed08-46e1-a5f8-632fc735be33"/>
    <xsd:element name="properties">
      <xsd:complexType>
        <xsd:sequence>
          <xsd:element name="documentManagement">
            <xsd:complexType>
              <xsd:all>
                <xsd:element ref="ns2:Comment" minOccurs="0"/>
                <xsd:element ref="ns2:_Flow_SignoffStatus" minOccurs="0"/>
                <xsd:element ref="ns2:Document_x0020_Title" minOccurs="0"/>
                <xsd:element ref="ns2:CustomerName"/>
                <xsd:element ref="ns2:Opportunitystage"/>
                <xsd:element ref="ns3:SharedWithUsers" minOccurs="0"/>
                <xsd:element ref="ns3:SharedWithDetails" minOccurs="0"/>
                <xsd:element ref="ns2:MediaServiceMetadata" minOccurs="0"/>
                <xsd:element ref="ns2:MediaServiceFastMetadata" minOccurs="0"/>
                <xsd:element ref="ns2:MediaServiceDateTaken" minOccurs="0"/>
                <xsd:element ref="ns2:MediaServiceAutoTags" minOccurs="0"/>
                <xsd:element ref="ns2:MediaServiceLocation" minOccurs="0"/>
                <xsd:element ref="ns1:_ip_UnifiedCompliancePolicyProperties" minOccurs="0"/>
                <xsd:element ref="ns1:_ip_UnifiedCompliancePolicyUIAction" minOccurs="0"/>
                <xsd:element ref="ns2:MediaServiceOC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description="" ma:hidden="true" ma:internalName="_ip_UnifiedCompliancePolicyProperties" ma:readOnly="false">
      <xsd:simpleType>
        <xsd:restriction base="dms:Note"/>
      </xsd:simpleType>
    </xsd:element>
    <xsd:element name="_ip_UnifiedCompliancePolicyUIAction" ma:index="16" nillable="true" ma:displayName="Unified Compliance Policy UI Action" ma:descrip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f48960e-adff-4c4b-a3cc-c04684fce5eb" elementFormDefault="qualified">
    <xsd:import namespace="http://schemas.microsoft.com/office/2006/documentManagement/types"/>
    <xsd:import namespace="http://schemas.microsoft.com/office/infopath/2007/PartnerControls"/>
    <xsd:element name="Comment" ma:index="2" nillable="true" ma:displayName="Comment" ma:internalName="Comment" ma:readOnly="false">
      <xsd:simpleType>
        <xsd:restriction base="dms:Text">
          <xsd:maxLength value="255"/>
        </xsd:restriction>
      </xsd:simpleType>
    </xsd:element>
    <xsd:element name="_Flow_SignoffStatus" ma:index="3" nillable="true" ma:displayName="Sign-off status" ma:internalName="_x0024_Resources_x003a_core_x002c_Signoff_Status_x003b_" ma:readOnly="false">
      <xsd:simpleType>
        <xsd:restriction base="dms:Text"/>
      </xsd:simpleType>
    </xsd:element>
    <xsd:element name="Document_x0020_Title" ma:index="4" nillable="true" ma:displayName="Document Title" ma:list="{236d467e-fe90-4ae0-9fe2-011d77897820}" ma:internalName="Document_x0020_Title" ma:readOnly="false" ma:showField="ComplianceAssetId">
      <xsd:simpleType>
        <xsd:restriction base="dms:Lookup"/>
      </xsd:simpleType>
    </xsd:element>
    <xsd:element name="CustomerName" ma:index="5" ma:displayName="Customer Name" ma:format="Dropdown" ma:internalName="CustomerName" ma:readOnly="false">
      <xsd:simpleType>
        <xsd:restriction base="dms:Text">
          <xsd:maxLength value="40"/>
        </xsd:restriction>
      </xsd:simpleType>
    </xsd:element>
    <xsd:element name="Opportunitystage" ma:index="6" ma:displayName="Opportunity stage" ma:default="RFP" ma:description="Describes the stage at which Opportunity currently is" ma:format="Dropdown" ma:internalName="Opportunitystage" ma:readOnly="false">
      <xsd:simpleType>
        <xsd:restriction base="dms:Choice">
          <xsd:enumeration value="RFI"/>
          <xsd:enumeration value="RFP"/>
          <xsd:enumeration value="Unofficial"/>
          <xsd:enumeration value="Closed won"/>
          <xsd:enumeration value="Closed unprocessed"/>
          <xsd:enumeration value="Closed lost"/>
        </xsd:restriction>
      </xsd:simpleType>
    </xsd:element>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hidden="true" ma:internalName="MediaServiceAutoTags" ma:readOnly="true">
      <xsd:simpleType>
        <xsd:restriction base="dms:Text"/>
      </xsd:simpleType>
    </xsd:element>
    <xsd:element name="MediaServiceLocation" ma:index="14" nillable="true" ma:displayName="MediaServiceLocation" ma:description="" ma:hidden="true" ma:internalName="MediaServiceLocation" ma:readOnly="true">
      <xsd:simpleType>
        <xsd:restriction base="dms:Text"/>
      </xsd:simpleType>
    </xsd:element>
    <xsd:element name="MediaServiceOCR" ma:index="18" nillable="true" ma:displayName="MediaServiceOCR" ma:hidden="true" ma:internalName="MediaServiceOCR" ma:readOnly="true">
      <xsd:simpleType>
        <xsd:restriction base="dms:Note"/>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hidden="true" ma:internalName="MediaServiceKeyPoints" ma:readOnly="true">
      <xsd:simpleType>
        <xsd:restriction base="dms:Note"/>
      </xsd:simpleType>
    </xsd:element>
    <xsd:element name="MediaLengthInSeconds" ma:index="25" nillable="true" ma:displayName="Length (seconds)" ma:hidden="true"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element name="MediaServiceBillingMetadata" ma:index="3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8" nillable="true" ma:displayName="Shared With"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hidden="true" ma:internalName="SharedWithDetails" ma:readOnly="true">
      <xsd:simpleType>
        <xsd:restriction base="dms:Note"/>
      </xsd:simpleType>
    </xsd:element>
    <xsd:element name="TaxCatchAll" ma:index="28" nillable="true" ma:displayName="Taxonomy Catch All Column" ma:hidden="true" ma:list="{a735703f-a276-49e5-accf-32bfcce930c1}" ma:internalName="TaxCatchAll" ma:readOnly="false"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0F514C-9EB1-48A6-B303-7F121F308C87}">
  <ds:schemaRefs>
    <ds:schemaRef ds:uri="http://schemas.microsoft.com/sharepoint/v3/contenttype/forms"/>
  </ds:schemaRefs>
</ds:datastoreItem>
</file>

<file path=customXml/itemProps2.xml><?xml version="1.0" encoding="utf-8"?>
<ds:datastoreItem xmlns:ds="http://schemas.openxmlformats.org/officeDocument/2006/customXml" ds:itemID="{4A0237D7-F617-48F1-9A61-C0F4ACCBB947}">
  <ds:schemaRefs>
    <ds:schemaRef ds:uri="http://schemas.microsoft.com/office/infopath/2007/PartnerControls"/>
    <ds:schemaRef ds:uri="http://purl.org/dc/terms/"/>
    <ds:schemaRef ds:uri="5f48960e-adff-4c4b-a3cc-c04684fce5eb"/>
    <ds:schemaRef ds:uri="http://schemas.microsoft.com/office/2006/documentManagement/types"/>
    <ds:schemaRef ds:uri="http://schemas.openxmlformats.org/package/2006/metadata/core-properties"/>
    <ds:schemaRef ds:uri="http://www.w3.org/XML/1998/namespace"/>
    <ds:schemaRef ds:uri="http://schemas.microsoft.com/sharepoint/v3"/>
    <ds:schemaRef ds:uri="http://purl.org/dc/elements/1.1/"/>
    <ds:schemaRef ds:uri="4544b03d-ed08-46e1-a5f8-632fc735be33"/>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094367EA-20AD-4310-A03F-1ABC4FDC31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f48960e-adff-4c4b-a3cc-c04684fce5eb"/>
    <ds:schemaRef ds:uri="4544b03d-ed08-46e1-a5f8-632fc735be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otalTime>26</TotalTime>
  <Words>2174</Words>
  <Application>Microsoft Office PowerPoint</Application>
  <PresentationFormat>Widescreen</PresentationFormat>
  <Paragraphs>163</Paragraphs>
  <Slides>15</Slides>
  <Notes>1</Notes>
  <HiddenSlides>0</HiddenSlides>
  <MMClips>0</MMClips>
  <ScaleCrop>false</ScaleCrop>
  <HeadingPairs>
    <vt:vector size="4" baseType="variant">
      <vt:variant>
        <vt:lpstr>Theme</vt:lpstr>
      </vt:variant>
      <vt:variant>
        <vt:i4>4</vt:i4>
      </vt:variant>
      <vt:variant>
        <vt:lpstr>Slide Titles</vt:lpstr>
      </vt:variant>
      <vt:variant>
        <vt:i4>15</vt:i4>
      </vt:variant>
    </vt:vector>
  </HeadingPairs>
  <TitlesOfParts>
    <vt:vector size="19" baseType="lpstr">
      <vt:lpstr>RackspaceTech Theme</vt:lpstr>
      <vt:lpstr>Content Slides</vt:lpstr>
      <vt:lpstr>1_Content Slides</vt:lpstr>
      <vt:lpstr>1_Titles and Breakers</vt:lpstr>
      <vt:lpstr> Data Gathering Template Guide</vt:lpstr>
      <vt:lpstr>Why do we do it?</vt:lpstr>
      <vt:lpstr>What Goes wrong?</vt:lpstr>
      <vt:lpstr>PowerPoint Presentation</vt:lpstr>
      <vt:lpstr>What goes in the Template?</vt:lpstr>
      <vt:lpstr>Infra Shared Services vs Shared Services </vt:lpstr>
      <vt:lpstr>What does NOT go in the Template?</vt:lpstr>
      <vt:lpstr>How to populate it?</vt:lpstr>
      <vt:lpstr>Additional Context on Columns </vt:lpstr>
      <vt:lpstr>Additional Context on Columns </vt:lpstr>
      <vt:lpstr>Additional Context on Columns </vt:lpstr>
      <vt:lpstr>Additional Context on Columns </vt:lpstr>
      <vt:lpstr>Additional Context on Columns </vt:lpstr>
      <vt:lpstr>Additional Context on Columns </vt:lpstr>
      <vt:lpstr>Complexity assessment minimum requirements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Scoping &amp; Profiling Data Gathering Template Guide</dc:title>
  <dc:creator>Joshua Gonggryp</dc:creator>
  <cp:lastModifiedBy>Max Hurn</cp:lastModifiedBy>
  <cp:revision>6</cp:revision>
  <dcterms:created xsi:type="dcterms:W3CDTF">2022-07-26T12:21:25Z</dcterms:created>
  <dcterms:modified xsi:type="dcterms:W3CDTF">2026-04-26T17:55:52Z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0x0101006F5D2EC39F447F47952F4A30B9BA462D</vt:lpwstr>
  </property>
  <property fmtid="{D5CDD505-2E9C-101B-9397-08002B2CF9AE}" pid="3" name="MediaServiceImageTags">
    <vt:lpwstr/>
  </property>
</Properties>
</file>