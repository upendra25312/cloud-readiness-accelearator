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Methodology, templates, tooling, and delivery guide for CRA practitioners</a:t>
            </a:r>
          </a:p>
        </p:txBody>
      </p:sp>
      <p:sp>
        <p:nvSpPr>
          <p:cNvPr id="3" name="Text Placeholder 2"/>
          <p:cNvSpPr>
            <a:spLocks noGrp="1"/>
          </p:cNvSpPr>
          <p:nvPr>
            <p:ph type="body" idx="13" sz="quarter"/>
          </p:nvPr>
        </p:nvSpPr>
        <p:spPr/>
        <p:txBody>
          <a:bodyPr wrap="square"/>
          <a:lstStyle/>
          <a:p>
            <a:r>
              <a:rPr sz="1400">
                <a:solidFill>
                  <a:srgbClr val="FFCCCC"/>
                </a:solidFill>
              </a:rPr>
              <a:t>Rackspace Cloud Solutions Architecture  |  CRA Framework v2.0</a:t>
            </a:r>
          </a:p>
        </p:txBody>
      </p:sp>
      <p:sp>
        <p:nvSpPr>
          <p:cNvPr id="4" name="Title 3"/>
          <p:cNvSpPr>
            <a:spLocks noGrp="1"/>
          </p:cNvSpPr>
          <p:nvPr>
            <p:ph type="title"/>
          </p:nvPr>
        </p:nvSpPr>
        <p:spPr/>
        <p:txBody>
          <a:bodyPr wrap="square"/>
          <a:lstStyle/>
          <a:p>
            <a:r>
              <a:rPr sz="3600" b="1">
                <a:solidFill>
                  <a:srgbClr val="FFFFFF"/>
                </a:solidFill>
              </a:rPr>
              <a:t>Cloud Readiness Accelerator — Technical Framework Overview</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PHASE 1: DISCOVERY (Wks 1–7): Azure Migrate / GCP Migration Center / AWS ADS  ·  VM + app + network data  ·  App inventory</a:t>
            </a:r>
          </a:p>
          <a:p>
            <a:pPr>
              <a:spcAft>
                <a:spcPts val="300"/>
              </a:spcAft>
            </a:pPr>
            <a:r>
              <a:rPr sz="1400"/>
              <a:t>PHASE 2: ANALYSIS (Wks 6–10): Cloud readiness scoring (5 dims) · Governance maturity · OSS licence flags</a:t>
            </a:r>
          </a:p>
          <a:p>
            <a:pPr>
              <a:spcAft>
                <a:spcPts val="300"/>
              </a:spcAft>
            </a:pPr>
            <a:r>
              <a:rPr sz="1400"/>
              <a:t>PHASE 3: EVALUATION (Wks 11–14): 7-layer TCO per hyperscaler · Hyperscaler decision matrix · Recommendation</a:t>
            </a:r>
          </a:p>
          <a:p>
            <a:pPr>
              <a:spcAft>
                <a:spcPts val="300"/>
              </a:spcAft>
            </a:pPr>
            <a:r>
              <a:rPr sz="1400"/>
              <a:t>PHASE 4: PLANNING (Wks 11–20): Migration wave plan · Risk register · Governance model · Part 2 Entry Point</a:t>
            </a:r>
          </a:p>
          <a:p>
            <a:pPr>
              <a:spcAft>
                <a:spcPts val="300"/>
              </a:spcAft>
            </a:pPr>
            <a:r>
              <a:rPr sz="1400"/>
              <a:t/>
            </a:r>
          </a:p>
          <a:p>
            <a:pPr>
              <a:spcAft>
                <a:spcPts val="300"/>
              </a:spcAft>
            </a:pPr>
            <a:r>
              <a:rPr sz="1400"/>
              <a:t>PARALLELISATION: Phase 2 starts at Phase 1 Week 6 — do NOT wait for Phase 1 to complete</a:t>
            </a:r>
          </a:p>
          <a:p>
            <a:pPr>
              <a:spcAft>
                <a:spcPts val="300"/>
              </a:spcAft>
            </a:pPr>
            <a:r>
              <a:rPr sz="1400"/>
              <a:t>GATE 1 (hard): &gt;=14 days clean utilisation data for &gt;=90% of VMs before Phase 3</a:t>
            </a:r>
          </a:p>
          <a:p>
            <a:pPr>
              <a:spcAft>
                <a:spcPts val="300"/>
              </a:spcAft>
            </a:pPr>
            <a:r>
              <a:rPr sz="1400"/>
              <a:t>GATE 2 (pre-commercial): Alliance partner deal registration COMPLETE before Part 2 SOW countersignature</a:t>
            </a:r>
          </a:p>
        </p:txBody>
      </p:sp>
      <p:sp>
        <p:nvSpPr>
          <p:cNvPr id="3" name="Title 2"/>
          <p:cNvSpPr>
            <a:spLocks noGrp="1"/>
          </p:cNvSpPr>
          <p:nvPr>
            <p:ph type="title"/>
          </p:nvPr>
        </p:nvSpPr>
        <p:spPr/>
        <p:txBody>
          <a:bodyPr wrap="square"/>
          <a:lstStyle/>
          <a:p>
            <a:r>
              <a:rPr sz="2400" b="1"/>
              <a:t>Framework architecture — four phases, two gates, one parallelisation point</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Core objective: Complete, accurate, validated inventory with &gt;=14 days clean CPU/RAM/storage/network utilisation data from &gt;=90% of VMs.</a:t>
            </a:r>
          </a:p>
          <a:p>
            <a:pPr>
              <a:spcAft>
                <a:spcPts val="300"/>
              </a:spcAft>
            </a:pPr>
            <a:r>
              <a:rPr sz="1400"/>
              <a:t/>
            </a:r>
          </a:p>
          <a:p>
            <a:pPr>
              <a:spcAft>
                <a:spcPts val="300"/>
              </a:spcAft>
            </a:pPr>
            <a:r>
              <a:rPr sz="1400"/>
              <a:t>1. Infrastructure discovery tooling: VM specs, OS, hypervisor, utilisation data, storage I/O</a:t>
            </a:r>
          </a:p>
          <a:p>
            <a:pPr>
              <a:spcAft>
                <a:spcPts val="300"/>
              </a:spcAft>
            </a:pPr>
            <a:r>
              <a:rPr sz="1400"/>
              <a:t>2. Application inventory: tech stack, DB, VM count, readiness flag, dependencies</a:t>
            </a:r>
          </a:p>
          <a:p>
            <a:pPr>
              <a:spcAft>
                <a:spcPts val="300"/>
              </a:spcAft>
            </a:pPr>
            <a:r>
              <a:rPr sz="1400"/>
              <a:t>3. Dependency mapping (with app owners): dependency heat map, tightly-coupled clusters</a:t>
            </a:r>
          </a:p>
          <a:p>
            <a:pPr>
              <a:spcAft>
                <a:spcPts val="300"/>
              </a:spcAft>
            </a:pPr>
            <a:r>
              <a:rPr sz="1400"/>
              <a:t/>
            </a:r>
          </a:p>
          <a:p>
            <a:pPr>
              <a:spcAft>
                <a:spcPts val="300"/>
              </a:spcAft>
            </a:pPr>
            <a:r>
              <a:rPr sz="1400"/>
              <a:t>CRITICAL: Serialising these workstreams costs 4–6 weeks. Application workshops CAN start at Week 2 while tooling is collecting data.</a:t>
            </a:r>
          </a:p>
          <a:p>
            <a:pPr>
              <a:spcAft>
                <a:spcPts val="300"/>
              </a:spcAft>
            </a:pPr>
            <a:r>
              <a:rPr sz="1400"/>
              <a:t>Run RVTools export on Day 1 regardless of target hyperscaler — provides instant VMware inventory for cross-validation.</a:t>
            </a:r>
          </a:p>
          <a:p>
            <a:pPr>
              <a:spcAft>
                <a:spcPts val="300"/>
              </a:spcAft>
            </a:pPr>
            <a:r>
              <a:rPr sz="1400"/>
              <a:t>Submit firewall CAB request on Day 1 — can take 5–15 business days to approve in enterprise organisations.</a:t>
            </a:r>
          </a:p>
        </p:txBody>
      </p:sp>
      <p:sp>
        <p:nvSpPr>
          <p:cNvPr id="3" name="Title 2"/>
          <p:cNvSpPr>
            <a:spLocks noGrp="1"/>
          </p:cNvSpPr>
          <p:nvPr>
            <p:ph type="title"/>
          </p:nvPr>
        </p:nvSpPr>
        <p:spPr/>
        <p:txBody>
          <a:bodyPr wrap="square"/>
          <a:lstStyle/>
          <a:p>
            <a:r>
              <a:rPr sz="2400" b="1"/>
              <a:t>Phase 1 — three workstreams running simultaneously</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Phase 1 — discovery tooling selection</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4290060"/>
                <a:gridCol w="4290060"/>
                <a:gridCol w="4290060"/>
                <a:gridCol w="4290060"/>
              </a:tblGrid>
              <a:tr h="697626">
                <a:tc>
                  <a:txBody>
                    <a:bodyPr/>
                    <a:lstStyle/>
                    <a:p>
                      <a:r>
                        <a:rPr b="1" sz="1200">
                          <a:solidFill>
                            <a:srgbClr val="FFFFFF"/>
                          </a:solidFill>
                        </a:rPr>
                        <a:t>Tool</a:t>
                      </a:r>
                    </a:p>
                  </a:txBody>
                  <a:tcPr>
                    <a:solidFill>
                      <a:srgbClr val="E31C3D"/>
                    </a:solidFill>
                  </a:tcPr>
                </a:tc>
                <a:tc>
                  <a:txBody>
                    <a:bodyPr/>
                    <a:lstStyle/>
                    <a:p>
                      <a:r>
                        <a:rPr b="1" sz="1200">
                          <a:solidFill>
                            <a:srgbClr val="FFFFFF"/>
                          </a:solidFill>
                        </a:rPr>
                        <a:t>Hyperscaler</a:t>
                      </a:r>
                    </a:p>
                  </a:txBody>
                  <a:tcPr>
                    <a:solidFill>
                      <a:srgbClr val="E31C3D"/>
                    </a:solidFill>
                  </a:tcPr>
                </a:tc>
                <a:tc>
                  <a:txBody>
                    <a:bodyPr/>
                    <a:lstStyle/>
                    <a:p>
                      <a:r>
                        <a:rPr b="1" sz="1200">
                          <a:solidFill>
                            <a:srgbClr val="FFFFFF"/>
                          </a:solidFill>
                        </a:rPr>
                        <a:t>Deployment</a:t>
                      </a:r>
                    </a:p>
                  </a:txBody>
                  <a:tcPr>
                    <a:solidFill>
                      <a:srgbClr val="E31C3D"/>
                    </a:solidFill>
                  </a:tcPr>
                </a:tc>
                <a:tc>
                  <a:txBody>
                    <a:bodyPr/>
                    <a:lstStyle/>
                    <a:p>
                      <a:r>
                        <a:rPr b="1" sz="1200">
                          <a:solidFill>
                            <a:srgbClr val="FFFFFF"/>
                          </a:solidFill>
                        </a:rPr>
                        <a:t>Key Output</a:t>
                      </a:r>
                    </a:p>
                  </a:txBody>
                  <a:tcPr>
                    <a:solidFill>
                      <a:srgbClr val="E31C3D"/>
                    </a:solidFill>
                  </a:tcPr>
                </a:tc>
              </a:tr>
              <a:tr h="697626">
                <a:tc>
                  <a:txBody>
                    <a:bodyPr/>
                    <a:lstStyle/>
                    <a:p>
                      <a:r>
                        <a:rPr sz="1100"/>
                        <a:t>Azure Migrate</a:t>
                      </a:r>
                    </a:p>
                  </a:txBody>
                  <a:tcPr>
                    <a:solidFill>
                      <a:srgbClr val="F2F2F2"/>
                    </a:solidFill>
                  </a:tcPr>
                </a:tc>
                <a:tc>
                  <a:txBody>
                    <a:bodyPr/>
                    <a:lstStyle/>
                    <a:p>
                      <a:r>
                        <a:rPr sz="1100"/>
                        <a:t>Azure primary</a:t>
                      </a:r>
                    </a:p>
                  </a:txBody>
                  <a:tcPr>
                    <a:solidFill>
                      <a:srgbClr val="F2F2F2"/>
                    </a:solidFill>
                  </a:tcPr>
                </a:tc>
                <a:tc>
                  <a:txBody>
                    <a:bodyPr/>
                    <a:lstStyle/>
                    <a:p>
                      <a:r>
                        <a:rPr sz="1100"/>
                        <a:t>Agent or agentless (vCenter connector)</a:t>
                      </a:r>
                    </a:p>
                  </a:txBody>
                  <a:tcPr>
                    <a:solidFill>
                      <a:srgbClr val="F2F2F2"/>
                    </a:solidFill>
                  </a:tcPr>
                </a:tc>
                <a:tc>
                  <a:txBody>
                    <a:bodyPr/>
                    <a:lstStyle/>
                    <a:p>
                      <a:r>
                        <a:rPr sz="1100"/>
                        <a:t>infrastructure-profiling.xlsx source data</a:t>
                      </a:r>
                    </a:p>
                  </a:txBody>
                  <a:tcPr>
                    <a:solidFill>
                      <a:srgbClr val="F2F2F2"/>
                    </a:solidFill>
                  </a:tcPr>
                </a:tc>
              </a:tr>
              <a:tr h="697626">
                <a:tc>
                  <a:txBody>
                    <a:bodyPr/>
                    <a:lstStyle/>
                    <a:p>
                      <a:r>
                        <a:rPr sz="1100"/>
                        <a:t>AWS ADS</a:t>
                      </a:r>
                    </a:p>
                  </a:txBody>
                  <a:tcPr>
                    <a:solidFill>
                      <a:srgbClr val="FFFFFF"/>
                    </a:solidFill>
                  </a:tcPr>
                </a:tc>
                <a:tc>
                  <a:txBody>
                    <a:bodyPr/>
                    <a:lstStyle/>
                    <a:p>
                      <a:r>
                        <a:rPr sz="1100"/>
                        <a:t>AWS primary</a:t>
                      </a:r>
                    </a:p>
                  </a:txBody>
                  <a:tcPr>
                    <a:solidFill>
                      <a:srgbClr val="FFFFFF"/>
                    </a:solidFill>
                  </a:tcPr>
                </a:tc>
                <a:tc>
                  <a:txBody>
                    <a:bodyPr/>
                    <a:lstStyle/>
                    <a:p>
                      <a:r>
                        <a:rPr sz="1100"/>
                        <a:t>Agent-based or Agentless Connector</a:t>
                      </a:r>
                    </a:p>
                  </a:txBody>
                  <a:tcPr>
                    <a:solidFill>
                      <a:srgbClr val="FFFFFF"/>
                    </a:solidFill>
                  </a:tcPr>
                </a:tc>
                <a:tc>
                  <a:txBody>
                    <a:bodyPr/>
                    <a:lstStyle/>
                    <a:p>
                      <a:r>
                        <a:rPr sz="1100"/>
                        <a:t>aws-evaluation.xlsx input</a:t>
                      </a:r>
                    </a:p>
                  </a:txBody>
                  <a:tcPr>
                    <a:solidFill>
                      <a:srgbClr val="FFFFFF"/>
                    </a:solidFill>
                  </a:tcPr>
                </a:tc>
              </a:tr>
              <a:tr h="697626">
                <a:tc>
                  <a:txBody>
                    <a:bodyPr/>
                    <a:lstStyle/>
                    <a:p>
                      <a:r>
                        <a:rPr sz="1100"/>
                        <a:t>GCP Migration Center</a:t>
                      </a:r>
                    </a:p>
                  </a:txBody>
                  <a:tcPr>
                    <a:solidFill>
                      <a:srgbClr val="F2F2F2"/>
                    </a:solidFill>
                  </a:tcPr>
                </a:tc>
                <a:tc>
                  <a:txBody>
                    <a:bodyPr/>
                    <a:lstStyle/>
                    <a:p>
                      <a:r>
                        <a:rPr sz="1100"/>
                        <a:t>GCP primary</a:t>
                      </a:r>
                    </a:p>
                  </a:txBody>
                  <a:tcPr>
                    <a:solidFill>
                      <a:srgbClr val="F2F2F2"/>
                    </a:solidFill>
                  </a:tcPr>
                </a:tc>
                <a:tc>
                  <a:txBody>
                    <a:bodyPr/>
                    <a:lstStyle/>
                    <a:p>
                      <a:r>
                        <a:rPr sz="1100"/>
                        <a:t>VM Manager agent or RVTools import</a:t>
                      </a:r>
                    </a:p>
                  </a:txBody>
                  <a:tcPr>
                    <a:solidFill>
                      <a:srgbClr val="F2F2F2"/>
                    </a:solidFill>
                  </a:tcPr>
                </a:tc>
                <a:tc>
                  <a:txBody>
                    <a:bodyPr/>
                    <a:lstStyle/>
                    <a:p>
                      <a:r>
                        <a:rPr sz="1100"/>
                        <a:t>gcp-evaluation.xlsx input</a:t>
                      </a:r>
                    </a:p>
                  </a:txBody>
                  <a:tcPr>
                    <a:solidFill>
                      <a:srgbClr val="F2F2F2"/>
                    </a:solidFill>
                  </a:tcPr>
                </a:tc>
              </a:tr>
              <a:tr h="697630">
                <a:tc>
                  <a:txBody>
                    <a:bodyPr/>
                    <a:lstStyle/>
                    <a:p>
                      <a:r>
                        <a:rPr sz="1100"/>
                        <a:t>RVTools</a:t>
                      </a:r>
                    </a:p>
                  </a:txBody>
                  <a:tcPr>
                    <a:solidFill>
                      <a:srgbClr val="FFFFFF"/>
                    </a:solidFill>
                  </a:tcPr>
                </a:tc>
                <a:tc>
                  <a:txBody>
                    <a:bodyPr/>
                    <a:lstStyle/>
                    <a:p>
                      <a:r>
                        <a:rPr sz="1100"/>
                        <a:t>All hyperscalers</a:t>
                      </a:r>
                    </a:p>
                  </a:txBody>
                  <a:tcPr>
                    <a:solidFill>
                      <a:srgbClr val="FFFFFF"/>
                    </a:solidFill>
                  </a:tcPr>
                </a:tc>
                <a:tc>
                  <a:txBody>
                    <a:bodyPr/>
                    <a:lstStyle/>
                    <a:p>
                      <a:r>
                        <a:rPr sz="1100"/>
                        <a:t>VMware utility — no agent needed</a:t>
                      </a:r>
                    </a:p>
                  </a:txBody>
                  <a:tcPr>
                    <a:solidFill>
                      <a:srgbClr val="FFFFFF"/>
                    </a:solidFill>
                  </a:tcPr>
                </a:tc>
                <a:tc>
                  <a:txBody>
                    <a:bodyPr/>
                    <a:lstStyle/>
                    <a:p>
                      <a:r>
                        <a:rPr sz="1100"/>
                        <a:t>Cross-validation of all discovery tools</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Utilisation data collection period: &gt;=14 days continuous clean data</a:t>
            </a:r>
          </a:p>
          <a:p>
            <a:pPr>
              <a:spcAft>
                <a:spcPts val="300"/>
              </a:spcAft>
            </a:pPr>
            <a:r>
              <a:rPr sz="1400"/>
              <a:t>VM coverage: &gt;=90% of in-scope VMs reporting</a:t>
            </a:r>
          </a:p>
          <a:p>
            <a:pPr>
              <a:spcAft>
                <a:spcPts val="300"/>
              </a:spcAft>
            </a:pPr>
            <a:r>
              <a:rPr sz="1400"/>
              <a:t>CPU data quality: P95 values available for &gt;=90% of VMs</a:t>
            </a:r>
          </a:p>
          <a:p>
            <a:pPr>
              <a:spcAft>
                <a:spcPts val="300"/>
              </a:spcAft>
            </a:pPr>
            <a:r>
              <a:rPr sz="1400"/>
              <a:t>RAM data quality: P95 values available for &gt;=90% of VMs</a:t>
            </a:r>
          </a:p>
          <a:p>
            <a:pPr>
              <a:spcAft>
                <a:spcPts val="300"/>
              </a:spcAft>
            </a:pPr>
            <a:r>
              <a:rPr sz="1400"/>
              <a:t/>
            </a:r>
          </a:p>
          <a:p>
            <a:pPr>
              <a:spcAft>
                <a:spcPts val="300"/>
              </a:spcAft>
            </a:pPr>
            <a:r>
              <a:rPr sz="1400"/>
              <a:t>WHY THE GATE IS HARD:</a:t>
            </a:r>
          </a:p>
          <a:p>
            <a:pPr>
              <a:spcAft>
                <a:spcPts val="300"/>
              </a:spcAft>
            </a:pPr>
            <a:r>
              <a:rPr sz="1400"/>
              <a:t>"Using 6 days of data instead of 14 produces right-sizing recommendations with +-30-50% error. At 500 VMs, that is a £2M–£5M range in the business case — not acceptable at board level."</a:t>
            </a:r>
          </a:p>
          <a:p>
            <a:pPr>
              <a:spcAft>
                <a:spcPts val="300"/>
              </a:spcAft>
            </a:pPr>
            <a:r>
              <a:rPr sz="1400"/>
              <a:t/>
            </a:r>
          </a:p>
          <a:p>
            <a:pPr>
              <a:spcAft>
                <a:spcPts val="300"/>
              </a:spcAft>
            </a:pPr>
            <a:r>
              <a:rPr sz="1400"/>
              <a:t>When customer pushes to skip: quantify the risk in writing → offer interim (share Phase 1 report while data collection continues) → document customer's decision if they override</a:t>
            </a:r>
          </a:p>
        </p:txBody>
      </p:sp>
      <p:sp>
        <p:nvSpPr>
          <p:cNvPr id="3" name="Title 2"/>
          <p:cNvSpPr>
            <a:spLocks noGrp="1"/>
          </p:cNvSpPr>
          <p:nvPr>
            <p:ph type="title"/>
          </p:nvPr>
        </p:nvSpPr>
        <p:spPr/>
        <p:txBody>
          <a:bodyPr wrap="square"/>
          <a:lstStyle/>
          <a:p>
            <a:r>
              <a:rPr sz="2400" b="1"/>
              <a:t>GATE 1 — Phase 3 cannot start without this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Phase 2 — five-dimension scoring model</a:t>
            </a:r>
          </a:p>
        </p:txBody>
      </p:sp>
      <p:sp>
        <p:nvSpPr>
          <p:cNvPr id="4" name="Text Placeholder 3"/>
          <p:cNvSpPr>
            <a:spLocks noGrp="1"/>
          </p:cNvSpPr>
          <p:nvPr>
            <p:ph type="body" idx="13" sz="quarter"/>
          </p:nvPr>
        </p:nvSpPr>
        <p:spPr/>
        <p:txBody>
          <a:bodyPr wrap="square"/>
          <a:lstStyle/>
          <a:p>
            <a:r>
              <a:rPr sz="1300">
                <a:solidFill>
                  <a:srgbClr val="333333"/>
                </a:solidFill>
              </a:rPr>
              <a:t>Composite: 4.0–5.0 = Cloud Ready  ·  3.0–3.9 = Cloud Friendly  ·  2.0–2.9 = Cloud Challenged  ·  1.0–1.9 = Blocked</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581355">
                <a:tc>
                  <a:txBody>
                    <a:bodyPr/>
                    <a:lstStyle/>
                    <a:p>
                      <a:r>
                        <a:rPr b="1" sz="1200">
                          <a:solidFill>
                            <a:srgbClr val="FFFFFF"/>
                          </a:solidFill>
                        </a:rPr>
                        <a:t>Dimension</a:t>
                      </a:r>
                    </a:p>
                  </a:txBody>
                  <a:tcPr>
                    <a:solidFill>
                      <a:srgbClr val="E31C3D"/>
                    </a:solidFill>
                  </a:tcPr>
                </a:tc>
                <a:tc>
                  <a:txBody>
                    <a:bodyPr/>
                    <a:lstStyle/>
                    <a:p>
                      <a:r>
                        <a:rPr b="1" sz="1200">
                          <a:solidFill>
                            <a:srgbClr val="FFFFFF"/>
                          </a:solidFill>
                        </a:rPr>
                        <a:t>Scale</a:t>
                      </a:r>
                    </a:p>
                  </a:txBody>
                  <a:tcPr>
                    <a:solidFill>
                      <a:srgbClr val="E31C3D"/>
                    </a:solidFill>
                  </a:tcPr>
                </a:tc>
                <a:tc>
                  <a:txBody>
                    <a:bodyPr/>
                    <a:lstStyle/>
                    <a:p>
                      <a:r>
                        <a:rPr b="1" sz="1200">
                          <a:solidFill>
                            <a:srgbClr val="FFFFFF"/>
                          </a:solidFill>
                        </a:rPr>
                        <a:t>Low Score Means</a:t>
                      </a:r>
                    </a:p>
                  </a:txBody>
                  <a:tcPr>
                    <a:solidFill>
                      <a:srgbClr val="E31C3D"/>
                    </a:solidFill>
                  </a:tcPr>
                </a:tc>
              </a:tr>
              <a:tr h="581355">
                <a:tc>
                  <a:txBody>
                    <a:bodyPr/>
                    <a:lstStyle/>
                    <a:p>
                      <a:r>
                        <a:rPr sz="1100"/>
                        <a:t>Technical Complexity</a:t>
                      </a:r>
                    </a:p>
                  </a:txBody>
                  <a:tcPr>
                    <a:solidFill>
                      <a:srgbClr val="F2F2F2"/>
                    </a:solidFill>
                  </a:tcPr>
                </a:tc>
                <a:tc>
                  <a:txBody>
                    <a:bodyPr/>
                    <a:lstStyle/>
                    <a:p>
                      <a:r>
                        <a:rPr sz="1100"/>
                        <a:t>1 (complex) – 5 (simple)</a:t>
                      </a:r>
                    </a:p>
                  </a:txBody>
                  <a:tcPr>
                    <a:solidFill>
                      <a:srgbClr val="F2F2F2"/>
                    </a:solidFill>
                  </a:tcPr>
                </a:tc>
                <a:tc>
                  <a:txBody>
                    <a:bodyPr/>
                    <a:lstStyle/>
                    <a:p>
                      <a:r>
                        <a:rPr sz="1100"/>
                        <a:t>Legacy OS, custom middleware, tightly-coupled architecture</a:t>
                      </a:r>
                    </a:p>
                  </a:txBody>
                  <a:tcPr>
                    <a:solidFill>
                      <a:srgbClr val="F2F2F2"/>
                    </a:solidFill>
                  </a:tcPr>
                </a:tc>
              </a:tr>
              <a:tr h="581355">
                <a:tc>
                  <a:txBody>
                    <a:bodyPr/>
                    <a:lstStyle/>
                    <a:p>
                      <a:r>
                        <a:rPr sz="1100"/>
                        <a:t>Business Criticality</a:t>
                      </a:r>
                    </a:p>
                  </a:txBody>
                  <a:tcPr>
                    <a:solidFill>
                      <a:srgbClr val="FFFFFF"/>
                    </a:solidFill>
                  </a:tcPr>
                </a:tc>
                <a:tc>
                  <a:txBody>
                    <a:bodyPr/>
                    <a:lstStyle/>
                    <a:p>
                      <a:r>
                        <a:rPr sz="1100"/>
                        <a:t>1 (critical) – 5 (non-critical)</a:t>
                      </a:r>
                    </a:p>
                  </a:txBody>
                  <a:tcPr>
                    <a:solidFill>
                      <a:srgbClr val="FFFFFF"/>
                    </a:solidFill>
                  </a:tcPr>
                </a:tc>
                <a:tc>
                  <a:txBody>
                    <a:bodyPr/>
                    <a:lstStyle/>
                    <a:p>
                      <a:r>
                        <a:rPr sz="1100"/>
                        <a:t>RTO &lt; 4hrs, RPO &lt; 1hr, zero-downtime required</a:t>
                      </a:r>
                    </a:p>
                  </a:txBody>
                  <a:tcPr>
                    <a:solidFill>
                      <a:srgbClr val="FFFFFF"/>
                    </a:solidFill>
                  </a:tcPr>
                </a:tc>
              </a:tr>
              <a:tr h="581355">
                <a:tc>
                  <a:txBody>
                    <a:bodyPr/>
                    <a:lstStyle/>
                    <a:p>
                      <a:r>
                        <a:rPr sz="1100"/>
                        <a:t>Data Sensitivity</a:t>
                      </a:r>
                    </a:p>
                  </a:txBody>
                  <a:tcPr>
                    <a:solidFill>
                      <a:srgbClr val="F2F2F2"/>
                    </a:solidFill>
                  </a:tcPr>
                </a:tc>
                <a:tc>
                  <a:txBody>
                    <a:bodyPr/>
                    <a:lstStyle/>
                    <a:p>
                      <a:r>
                        <a:rPr sz="1100"/>
                        <a:t>1 (highly sensitive) – 5 (non-sensitive)</a:t>
                      </a:r>
                    </a:p>
                  </a:txBody>
                  <a:tcPr>
                    <a:solidFill>
                      <a:srgbClr val="F2F2F2"/>
                    </a:solidFill>
                  </a:tcPr>
                </a:tc>
                <a:tc>
                  <a:txBody>
                    <a:bodyPr/>
                    <a:lstStyle/>
                    <a:p>
                      <a:r>
                        <a:rPr sz="1100"/>
                        <a:t>PII, FCA-regulated data, GDPR sovereignty constraints</a:t>
                      </a:r>
                    </a:p>
                  </a:txBody>
                  <a:tcPr>
                    <a:solidFill>
                      <a:srgbClr val="F2F2F2"/>
                    </a:solidFill>
                  </a:tcPr>
                </a:tc>
              </a:tr>
              <a:tr h="581355">
                <a:tc>
                  <a:txBody>
                    <a:bodyPr/>
                    <a:lstStyle/>
                    <a:p>
                      <a:r>
                        <a:rPr sz="1100"/>
                        <a:t>Dependency Risk</a:t>
                      </a:r>
                    </a:p>
                  </a:txBody>
                  <a:tcPr>
                    <a:solidFill>
                      <a:srgbClr val="FFFFFF"/>
                    </a:solidFill>
                  </a:tcPr>
                </a:tc>
                <a:tc>
                  <a:txBody>
                    <a:bodyPr/>
                    <a:lstStyle/>
                    <a:p>
                      <a:r>
                        <a:rPr sz="1100"/>
                        <a:t>1 (high) – 5 (low)</a:t>
                      </a:r>
                    </a:p>
                  </a:txBody>
                  <a:tcPr>
                    <a:solidFill>
                      <a:srgbClr val="FFFFFF"/>
                    </a:solidFill>
                  </a:tcPr>
                </a:tc>
                <a:tc>
                  <a:txBody>
                    <a:bodyPr/>
                    <a:lstStyle/>
                    <a:p>
                      <a:r>
                        <a:rPr sz="1100"/>
                        <a:t>Tightly-coupled dependencies, on-prem latency requirements</a:t>
                      </a:r>
                    </a:p>
                  </a:txBody>
                  <a:tcPr>
                    <a:solidFill>
                      <a:srgbClr val="FFFFFF"/>
                    </a:solidFill>
                  </a:tcPr>
                </a:tc>
              </a:tr>
              <a:tr h="581359">
                <a:tc>
                  <a:txBody>
                    <a:bodyPr/>
                    <a:lstStyle/>
                    <a:p>
                      <a:r>
                        <a:rPr sz="1100"/>
                        <a:t>Licence Risk</a:t>
                      </a:r>
                    </a:p>
                  </a:txBody>
                  <a:tcPr>
                    <a:solidFill>
                      <a:srgbClr val="F2F2F2"/>
                    </a:solidFill>
                  </a:tcPr>
                </a:tc>
                <a:tc>
                  <a:txBody>
                    <a:bodyPr/>
                    <a:lstStyle/>
                    <a:p>
                      <a:r>
                        <a:rPr sz="1100"/>
                        <a:t>1 (high risk) – 5 (low risk)</a:t>
                      </a:r>
                    </a:p>
                  </a:txBody>
                  <a:tcPr>
                    <a:solidFill>
                      <a:srgbClr val="F2F2F2"/>
                    </a:solidFill>
                  </a:tcPr>
                </a:tc>
                <a:tc>
                  <a:txBody>
                    <a:bodyPr/>
                    <a:lstStyle/>
                    <a:p>
                      <a:r>
                        <a:rPr sz="1100"/>
                        <a:t>Oracle RAC, Oracle EE, IBM ILMT, Windows without AHB, SAP</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OSS LICENCE CHANGES (2023–2024) affecting cloud deployments:</a:t>
            </a:r>
          </a:p>
          <a:p>
            <a:pPr>
              <a:spcAft>
                <a:spcPts val="300"/>
              </a:spcAft>
            </a:pPr>
            <a:r>
              <a:rPr sz="1400"/>
              <a:t>  Redis OSS (post v7.4): SSPL/RSALv2 — requires paid licence for commercial cloud use</a:t>
            </a:r>
          </a:p>
          <a:p>
            <a:pPr>
              <a:spcAft>
                <a:spcPts val="300"/>
              </a:spcAft>
            </a:pPr>
            <a:r>
              <a:rPr sz="1400"/>
              <a:t>  Elasticsearch (post 7.10): SSPL — check if using elastic.co or AWS OpenSearch fork</a:t>
            </a:r>
          </a:p>
          <a:p>
            <a:pPr>
              <a:spcAft>
                <a:spcPts val="300"/>
              </a:spcAft>
            </a:pPr>
            <a:r>
              <a:rPr sz="1400"/>
              <a:t>  HashiCorp Vault / Terraform: BSL — commercial use restrictions at scale</a:t>
            </a:r>
          </a:p>
          <a:p>
            <a:pPr>
              <a:spcAft>
                <a:spcPts val="300"/>
              </a:spcAft>
            </a:pPr>
            <a:r>
              <a:rPr sz="1400"/>
              <a:t>  MongoDB: SSPL — validate version and applicable managed service</a:t>
            </a:r>
          </a:p>
          <a:p>
            <a:pPr>
              <a:spcAft>
                <a:spcPts val="300"/>
              </a:spcAft>
            </a:pPr>
            <a:r>
              <a:rPr sz="1400"/>
              <a:t/>
            </a:r>
          </a:p>
          <a:p>
            <a:pPr>
              <a:spcAft>
                <a:spcPts val="300"/>
              </a:spcAft>
            </a:pPr>
            <a:r>
              <a:rPr sz="1400"/>
              <a:t>Action trigger: ANY OSS Licence Risk Flag → immediate commercial review in Phase 2 BEFORE TCO is built</a:t>
            </a:r>
          </a:p>
          <a:p>
            <a:pPr>
              <a:spcAft>
                <a:spcPts val="300"/>
              </a:spcAft>
            </a:pPr>
            <a:r>
              <a:rPr sz="1400"/>
              <a:t>A TCO model that does not include OSS re-licensing costs is incomplete and will create budget surprises.</a:t>
            </a:r>
          </a:p>
          <a:p>
            <a:pPr>
              <a:spcAft>
                <a:spcPts val="300"/>
              </a:spcAft>
            </a:pPr>
            <a:r>
              <a:rPr sz="1400"/>
              <a:t/>
            </a:r>
          </a:p>
          <a:p>
            <a:pPr>
              <a:spcAft>
                <a:spcPts val="300"/>
              </a:spcAft>
            </a:pPr>
            <a:r>
              <a:rPr sz="1400"/>
              <a:t>DMG Media UK: 140+ Redis instances identified. OSS flag column in the application inventory exists because of this engagement.</a:t>
            </a:r>
          </a:p>
        </p:txBody>
      </p:sp>
      <p:sp>
        <p:nvSpPr>
          <p:cNvPr id="3" name="Title 2"/>
          <p:cNvSpPr>
            <a:spLocks noGrp="1"/>
          </p:cNvSpPr>
          <p:nvPr>
            <p:ph type="title"/>
          </p:nvPr>
        </p:nvSpPr>
        <p:spPr/>
        <p:txBody>
          <a:bodyPr wrap="square"/>
          <a:lstStyle/>
          <a:p>
            <a:r>
              <a:rPr sz="2400" b="1"/>
              <a:t>Phase 2 — OSS licence risk: the commercial time bomb you must not miss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Phase 3 — 7-layer TCO model: why each layer exists</a:t>
            </a:r>
          </a:p>
        </p:txBody>
      </p:sp>
      <p:sp>
        <p:nvSpPr>
          <p:cNvPr id="4" name="Text Placeholder 3"/>
          <p:cNvSpPr>
            <a:spLocks noGrp="1"/>
          </p:cNvSpPr>
          <p:nvPr>
            <p:ph type="body" idx="13" sz="quarter"/>
          </p:nvPr>
        </p:nvSpPr>
        <p:spPr/>
        <p:txBody>
          <a:bodyPr wrap="square"/>
          <a:lstStyle/>
          <a:p>
            <a:r>
              <a:rPr sz="1300">
                <a:solidFill>
                  <a:srgbClr val="333333"/>
                </a:solidFill>
              </a:rPr>
              <a:t>Template: business-case-tco-roi.xlsx  ·  TCO-Summary tab produces board-level number: 3yr net cost (post-partner funding) vs 3yr on-prem</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36016">
                <a:tc>
                  <a:txBody>
                    <a:bodyPr/>
                    <a:lstStyle/>
                    <a:p>
                      <a:r>
                        <a:rPr b="1" sz="1200">
                          <a:solidFill>
                            <a:srgbClr val="FFFFFF"/>
                          </a:solidFill>
                        </a:rPr>
                        <a:t>Layer</a:t>
                      </a:r>
                    </a:p>
                  </a:txBody>
                  <a:tcPr>
                    <a:solidFill>
                      <a:srgbClr val="E31C3D"/>
                    </a:solidFill>
                  </a:tcPr>
                </a:tc>
                <a:tc>
                  <a:txBody>
                    <a:bodyPr/>
                    <a:lstStyle/>
                    <a:p>
                      <a:r>
                        <a:rPr b="1" sz="1200">
                          <a:solidFill>
                            <a:srgbClr val="FFFFFF"/>
                          </a:solidFill>
                        </a:rPr>
                        <a:t>Tab Name</a:t>
                      </a:r>
                    </a:p>
                  </a:txBody>
                  <a:tcPr>
                    <a:solidFill>
                      <a:srgbClr val="E31C3D"/>
                    </a:solidFill>
                  </a:tcPr>
                </a:tc>
                <a:tc>
                  <a:txBody>
                    <a:bodyPr/>
                    <a:lstStyle/>
                    <a:p>
                      <a:r>
                        <a:rPr b="1" sz="1200">
                          <a:solidFill>
                            <a:srgbClr val="FFFFFF"/>
                          </a:solidFill>
                        </a:rPr>
                        <a:t>Common Mistake</a:t>
                      </a:r>
                    </a:p>
                  </a:txBody>
                  <a:tcPr>
                    <a:solidFill>
                      <a:srgbClr val="E31C3D"/>
                    </a:solidFill>
                  </a:tcPr>
                </a:tc>
              </a:tr>
              <a:tr h="436016">
                <a:tc>
                  <a:txBody>
                    <a:bodyPr/>
                    <a:lstStyle/>
                    <a:p>
                      <a:r>
                        <a:rPr sz="1100"/>
                        <a:t>(a) Like-for-Like</a:t>
                      </a:r>
                    </a:p>
                  </a:txBody>
                  <a:tcPr>
                    <a:solidFill>
                      <a:srgbClr val="F2F2F2"/>
                    </a:solidFill>
                  </a:tcPr>
                </a:tc>
                <a:tc>
                  <a:txBody>
                    <a:bodyPr/>
                    <a:lstStyle/>
                    <a:p>
                      <a:r>
                        <a:rPr sz="1100"/>
                        <a:t>L4L-Baseline</a:t>
                      </a:r>
                    </a:p>
                  </a:txBody>
                  <a:tcPr>
                    <a:solidFill>
                      <a:srgbClr val="F2F2F2"/>
                    </a:solidFill>
                  </a:tcPr>
                </a:tc>
                <a:tc>
                  <a:txBody>
                    <a:bodyPr/>
                    <a:lstStyle/>
                    <a:p>
                      <a:r>
                        <a:rPr sz="1100"/>
                        <a:t>Using rounded estimates instead of actual P95 utilisation</a:t>
                      </a:r>
                    </a:p>
                  </a:txBody>
                  <a:tcPr>
                    <a:solidFill>
                      <a:srgbClr val="F2F2F2"/>
                    </a:solidFill>
                  </a:tcPr>
                </a:tc>
              </a:tr>
              <a:tr h="436016">
                <a:tc>
                  <a:txBody>
                    <a:bodyPr/>
                    <a:lstStyle/>
                    <a:p>
                      <a:r>
                        <a:rPr sz="1100"/>
                        <a:t>(b) Optimised</a:t>
                      </a:r>
                    </a:p>
                  </a:txBody>
                  <a:tcPr>
                    <a:solidFill>
                      <a:srgbClr val="FFFFFF"/>
                    </a:solidFill>
                  </a:tcPr>
                </a:tc>
                <a:tc>
                  <a:txBody>
                    <a:bodyPr/>
                    <a:lstStyle/>
                    <a:p>
                      <a:r>
                        <a:rPr sz="1100"/>
                        <a:t>Optimised-Rightsized</a:t>
                      </a:r>
                    </a:p>
                  </a:txBody>
                  <a:tcPr>
                    <a:solidFill>
                      <a:srgbClr val="FFFFFF"/>
                    </a:solidFill>
                  </a:tcPr>
                </a:tc>
                <a:tc>
                  <a:txBody>
                    <a:bodyPr/>
                    <a:lstStyle/>
                    <a:p>
                      <a:r>
                        <a:rPr sz="1100"/>
                        <a:t>Using P50 (median) instead of P95 — underestimates required size</a:t>
                      </a:r>
                    </a:p>
                  </a:txBody>
                  <a:tcPr>
                    <a:solidFill>
                      <a:srgbClr val="FFFFFF"/>
                    </a:solidFill>
                  </a:tcPr>
                </a:tc>
              </a:tr>
              <a:tr h="436016">
                <a:tc>
                  <a:txBody>
                    <a:bodyPr/>
                    <a:lstStyle/>
                    <a:p>
                      <a:r>
                        <a:rPr sz="1100"/>
                        <a:t>(c) Delta</a:t>
                      </a:r>
                    </a:p>
                  </a:txBody>
                  <a:tcPr>
                    <a:solidFill>
                      <a:srgbClr val="F2F2F2"/>
                    </a:solidFill>
                  </a:tcPr>
                </a:tc>
                <a:tc>
                  <a:txBody>
                    <a:bodyPr/>
                    <a:lstStyle/>
                    <a:p>
                      <a:r>
                        <a:rPr sz="1100"/>
                        <a:t>Calculated (b-a)</a:t>
                      </a:r>
                    </a:p>
                  </a:txBody>
                  <a:tcPr>
                    <a:solidFill>
                      <a:srgbClr val="F2F2F2"/>
                    </a:solidFill>
                  </a:tcPr>
                </a:tc>
                <a:tc>
                  <a:txBody>
                    <a:bodyPr/>
                    <a:lstStyle/>
                    <a:p>
                      <a:r>
                        <a:rPr sz="1100"/>
                        <a:t>Presenting this as 'the saving' without showing layers d–g</a:t>
                      </a:r>
                    </a:p>
                  </a:txBody>
                  <a:tcPr>
                    <a:solidFill>
                      <a:srgbClr val="F2F2F2"/>
                    </a:solidFill>
                  </a:tcPr>
                </a:tc>
              </a:tr>
              <a:tr h="436016">
                <a:tc>
                  <a:txBody>
                    <a:bodyPr/>
                    <a:lstStyle/>
                    <a:p>
                      <a:r>
                        <a:rPr sz="1100"/>
                        <a:t>(d) Licensing Overlay</a:t>
                      </a:r>
                    </a:p>
                  </a:txBody>
                  <a:tcPr>
                    <a:solidFill>
                      <a:srgbClr val="FFFFFF"/>
                    </a:solidFill>
                  </a:tcPr>
                </a:tc>
                <a:tc>
                  <a:txBody>
                    <a:bodyPr/>
                    <a:lstStyle/>
                    <a:p>
                      <a:r>
                        <a:rPr sz="1100"/>
                        <a:t>Licensing-Overlay</a:t>
                      </a:r>
                    </a:p>
                  </a:txBody>
                  <a:tcPr>
                    <a:solidFill>
                      <a:srgbClr val="FFFFFF"/>
                    </a:solidFill>
                  </a:tcPr>
                </a:tc>
                <a:tc>
                  <a:txBody>
                    <a:bodyPr/>
                    <a:lstStyle/>
                    <a:p>
                      <a:r>
                        <a:rPr sz="1100"/>
                        <a:t>Omitting Oracle BYOL licensing premium/saving</a:t>
                      </a:r>
                    </a:p>
                  </a:txBody>
                  <a:tcPr>
                    <a:solidFill>
                      <a:srgbClr val="FFFFFF"/>
                    </a:solidFill>
                  </a:tcPr>
                </a:tc>
              </a:tr>
              <a:tr h="436016">
                <a:tc>
                  <a:txBody>
                    <a:bodyPr/>
                    <a:lstStyle/>
                    <a:p>
                      <a:r>
                        <a:rPr sz="1100"/>
                        <a:t>(e) On-Prem Status Quo</a:t>
                      </a:r>
                    </a:p>
                  </a:txBody>
                  <a:tcPr>
                    <a:solidFill>
                      <a:srgbClr val="F2F2F2"/>
                    </a:solidFill>
                  </a:tcPr>
                </a:tc>
                <a:tc>
                  <a:txBody>
                    <a:bodyPr/>
                    <a:lstStyle/>
                    <a:p>
                      <a:r>
                        <a:rPr sz="1100"/>
                        <a:t>OnPrem-StatusQuo</a:t>
                      </a:r>
                    </a:p>
                  </a:txBody>
                  <a:tcPr>
                    <a:solidFill>
                      <a:srgbClr val="F2F2F2"/>
                    </a:solidFill>
                  </a:tcPr>
                </a:tc>
                <a:tc>
                  <a:txBody>
                    <a:bodyPr/>
                    <a:lstStyle/>
                    <a:p>
                      <a:r>
                        <a:rPr sz="1100"/>
                        <a:t>Using standard depreciation without including hardware refresh cycle</a:t>
                      </a:r>
                    </a:p>
                  </a:txBody>
                  <a:tcPr>
                    <a:solidFill>
                      <a:srgbClr val="F2F2F2"/>
                    </a:solidFill>
                  </a:tcPr>
                </a:tc>
              </a:tr>
              <a:tr h="436016">
                <a:tc>
                  <a:txBody>
                    <a:bodyPr/>
                    <a:lstStyle/>
                    <a:p>
                      <a:r>
                        <a:rPr sz="1100"/>
                        <a:t>(f) Year 1 Dual-Running</a:t>
                      </a:r>
                    </a:p>
                  </a:txBody>
                  <a:tcPr>
                    <a:solidFill>
                      <a:srgbClr val="FFFFFF"/>
                    </a:solidFill>
                  </a:tcPr>
                </a:tc>
                <a:tc>
                  <a:txBody>
                    <a:bodyPr/>
                    <a:lstStyle/>
                    <a:p>
                      <a:r>
                        <a:rPr sz="1100"/>
                        <a:t>Year1-DualRunning</a:t>
                      </a:r>
                    </a:p>
                  </a:txBody>
                  <a:tcPr>
                    <a:solidFill>
                      <a:srgbClr val="FFFFFF"/>
                    </a:solidFill>
                  </a:tcPr>
                </a:tc>
                <a:tc>
                  <a:txBody>
                    <a:bodyPr/>
                    <a:lstStyle/>
                    <a:p>
                      <a:r>
                        <a:rPr sz="1100"/>
                        <a:t>Omitting parallel environment costs (most common budget shock)</a:t>
                      </a:r>
                    </a:p>
                  </a:txBody>
                  <a:tcPr>
                    <a:solidFill>
                      <a:srgbClr val="FFFFFF"/>
                    </a:solidFill>
                  </a:tcPr>
                </a:tc>
              </a:tr>
              <a:tr h="436022">
                <a:tc>
                  <a:txBody>
                    <a:bodyPr/>
                    <a:lstStyle/>
                    <a:p>
                      <a:r>
                        <a:rPr sz="1100"/>
                        <a:t>(g) Partner Credits</a:t>
                      </a:r>
                    </a:p>
                  </a:txBody>
                  <a:tcPr>
                    <a:solidFill>
                      <a:srgbClr val="F2F2F2"/>
                    </a:solidFill>
                  </a:tcPr>
                </a:tc>
                <a:tc>
                  <a:txBody>
                    <a:bodyPr/>
                    <a:lstStyle/>
                    <a:p>
                      <a:r>
                        <a:rPr sz="1100"/>
                        <a:t>Partner-Credits</a:t>
                      </a:r>
                    </a:p>
                  </a:txBody>
                  <a:tcPr>
                    <a:solidFill>
                      <a:srgbClr val="F2F2F2"/>
                    </a:solidFill>
                  </a:tcPr>
                </a:tc>
                <a:tc>
                  <a:txBody>
                    <a:bodyPr/>
                    <a:lstStyle/>
                    <a:p>
                      <a:r>
                        <a:rPr sz="1100"/>
                        <a:t>Building the board case without this — largest headline number driver</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9 required tabs: Criteria-Weights · Azure-Evaluation · AWS-Evaluation · GCP-Evaluation · Comparative-Matrix · 7Rs-Estate-View · Multi-Cloud-Exceptions · Worked-Example · Instructions</a:t>
            </a:r>
          </a:p>
          <a:p>
            <a:pPr>
              <a:spcAft>
                <a:spcPts val="300"/>
              </a:spcAft>
            </a:pPr>
            <a:r>
              <a:rPr sz="1400"/>
              <a:t/>
            </a:r>
          </a:p>
          <a:p>
            <a:pPr>
              <a:spcAft>
                <a:spcPts val="300"/>
              </a:spcAft>
            </a:pPr>
            <a:r>
              <a:rPr sz="1400"/>
              <a:t>CRITICAL RULES before presenting the recommendation:</a:t>
            </a:r>
          </a:p>
          <a:p>
            <a:pPr>
              <a:spcAft>
                <a:spcPts val="300"/>
              </a:spcAft>
            </a:pPr>
            <a:r>
              <a:rPr sz="1400"/>
              <a:t>1. Criteria weights agreed in WRITING by customer BEFORE any scoring begins</a:t>
            </a:r>
          </a:p>
          <a:p>
            <a:pPr>
              <a:spcAft>
                <a:spcPts val="300"/>
              </a:spcAft>
            </a:pPr>
            <a:r>
              <a:rPr sz="1400"/>
              <a:t>2. All three clouds scored with equal rigour — never eliminate one before matrix is complete</a:t>
            </a:r>
          </a:p>
          <a:p>
            <a:pPr>
              <a:spcAft>
                <a:spcPts val="300"/>
              </a:spcAft>
            </a:pPr>
            <a:r>
              <a:rPr sz="1400"/>
              <a:t>3. Every score has a documented evidence reference — not 'expert judgment'</a:t>
            </a:r>
          </a:p>
          <a:p>
            <a:pPr>
              <a:spcAft>
                <a:spcPts val="300"/>
              </a:spcAft>
            </a:pPr>
            <a:r>
              <a:rPr sz="1400"/>
              <a:t>4. Recommendation slide follows the evidence slides — NEVER precedes them</a:t>
            </a:r>
          </a:p>
          <a:p>
            <a:pPr>
              <a:spcAft>
                <a:spcPts val="300"/>
              </a:spcAft>
            </a:pPr>
            <a:r>
              <a:rPr sz="1400"/>
              <a:t>5. The matrix score and the recommendation are consistent</a:t>
            </a:r>
          </a:p>
          <a:p>
            <a:pPr>
              <a:spcAft>
                <a:spcPts val="300"/>
              </a:spcAft>
            </a:pPr>
            <a:r>
              <a:rPr sz="1400"/>
              <a:t/>
            </a:r>
          </a:p>
          <a:p>
            <a:pPr>
              <a:spcAft>
                <a:spcPts val="300"/>
              </a:spcAft>
            </a:pPr>
            <a:r>
              <a:rPr sz="1400"/>
              <a:t>Evidence-before-recommendation is the most important quality rule in the entire framework.</a:t>
            </a:r>
          </a:p>
        </p:txBody>
      </p:sp>
      <p:sp>
        <p:nvSpPr>
          <p:cNvPr id="3" name="Title 2"/>
          <p:cNvSpPr>
            <a:spLocks noGrp="1"/>
          </p:cNvSpPr>
          <p:nvPr>
            <p:ph type="title"/>
          </p:nvPr>
        </p:nvSpPr>
        <p:spPr/>
        <p:txBody>
          <a:bodyPr wrap="square"/>
          <a:lstStyle/>
          <a:p>
            <a:r>
              <a:rPr sz="2400" b="1"/>
              <a:t>Phase 3 — Hyperscaler Decision Matrix: critical validation rules</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Phase 4 — wave sequencing principles</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98304">
                <a:tc>
                  <a:txBody>
                    <a:bodyPr/>
                    <a:lstStyle/>
                    <a:p>
                      <a:r>
                        <a:rPr b="1" sz="1200">
                          <a:solidFill>
                            <a:srgbClr val="FFFFFF"/>
                          </a:solidFill>
                        </a:rPr>
                        <a:t>Wave</a:t>
                      </a:r>
                    </a:p>
                  </a:txBody>
                  <a:tcPr>
                    <a:solidFill>
                      <a:srgbClr val="E31C3D"/>
                    </a:solidFill>
                  </a:tcPr>
                </a:tc>
                <a:tc>
                  <a:txBody>
                    <a:bodyPr/>
                    <a:lstStyle/>
                    <a:p>
                      <a:r>
                        <a:rPr b="1" sz="1200">
                          <a:solidFill>
                            <a:srgbClr val="FFFFFF"/>
                          </a:solidFill>
                        </a:rPr>
                        <a:t>Characteristics</a:t>
                      </a:r>
                    </a:p>
                  </a:txBody>
                  <a:tcPr>
                    <a:solidFill>
                      <a:srgbClr val="E31C3D"/>
                    </a:solidFill>
                  </a:tcPr>
                </a:tc>
                <a:tc>
                  <a:txBody>
                    <a:bodyPr/>
                    <a:lstStyle/>
                    <a:p>
                      <a:r>
                        <a:rPr b="1" sz="1200">
                          <a:solidFill>
                            <a:srgbClr val="FFFFFF"/>
                          </a:solidFill>
                        </a:rPr>
                        <a:t>DO NOT include</a:t>
                      </a:r>
                    </a:p>
                  </a:txBody>
                  <a:tcPr>
                    <a:solidFill>
                      <a:srgbClr val="E31C3D"/>
                    </a:solidFill>
                  </a:tcPr>
                </a:tc>
              </a:tr>
              <a:tr h="498304">
                <a:tc>
                  <a:txBody>
                    <a:bodyPr/>
                    <a:lstStyle/>
                    <a:p>
                      <a:r>
                        <a:rPr sz="1100"/>
                        <a:t>Wave 0 (PoC, 8–12 wks)</a:t>
                      </a:r>
                    </a:p>
                  </a:txBody>
                  <a:tcPr>
                    <a:solidFill>
                      <a:srgbClr val="F2F2F2"/>
                    </a:solidFill>
                  </a:tcPr>
                </a:tc>
                <a:tc>
                  <a:txBody>
                    <a:bodyPr/>
                    <a:lstStyle/>
                    <a:p>
                      <a:r>
                        <a:rPr sz="1100"/>
                        <a:t>Non-production · 5–10% of estate · Dev/Test · simple Tier-3</a:t>
                      </a:r>
                    </a:p>
                  </a:txBody>
                  <a:tcPr>
                    <a:solidFill>
                      <a:srgbClr val="F2F2F2"/>
                    </a:solidFill>
                  </a:tcPr>
                </a:tc>
                <a:tc>
                  <a:txBody>
                    <a:bodyPr/>
                    <a:lstStyle/>
                    <a:p>
                      <a:r>
                        <a:rPr sz="1100"/>
                        <a:t>Tier-1 · SAP · Oracle RAC · business-critical</a:t>
                      </a:r>
                    </a:p>
                  </a:txBody>
                  <a:tcPr>
                    <a:solidFill>
                      <a:srgbClr val="F2F2F2"/>
                    </a:solidFill>
                  </a:tcPr>
                </a:tc>
              </a:tr>
              <a:tr h="498304">
                <a:tc>
                  <a:txBody>
                    <a:bodyPr/>
                    <a:lstStyle/>
                    <a:p>
                      <a:r>
                        <a:rPr sz="1100"/>
                        <a:t>Wave 1</a:t>
                      </a:r>
                    </a:p>
                  </a:txBody>
                  <a:tcPr>
                    <a:solidFill>
                      <a:srgbClr val="FFFFFF"/>
                    </a:solidFill>
                  </a:tcPr>
                </a:tc>
                <a:tc>
                  <a:txBody>
                    <a:bodyPr/>
                    <a:lstStyle/>
                    <a:p>
                      <a:r>
                        <a:rPr sz="1100"/>
                        <a:t>Cloud Ready · low dependency · Tier-3 · internal tools</a:t>
                      </a:r>
                    </a:p>
                  </a:txBody>
                  <a:tcPr>
                    <a:solidFill>
                      <a:srgbClr val="FFFFFF"/>
                    </a:solidFill>
                  </a:tcPr>
                </a:tc>
                <a:tc>
                  <a:txBody>
                    <a:bodyPr/>
                    <a:lstStyle/>
                    <a:p>
                      <a:r>
                        <a:rPr sz="1100"/>
                        <a:t>Tightly-coupled dependency clusters</a:t>
                      </a:r>
                    </a:p>
                  </a:txBody>
                  <a:tcPr>
                    <a:solidFill>
                      <a:srgbClr val="FFFFFF"/>
                    </a:solidFill>
                  </a:tcPr>
                </a:tc>
              </a:tr>
              <a:tr h="498304">
                <a:tc>
                  <a:txBody>
                    <a:bodyPr/>
                    <a:lstStyle/>
                    <a:p>
                      <a:r>
                        <a:rPr sz="1100"/>
                        <a:t>Wave 2</a:t>
                      </a:r>
                    </a:p>
                  </a:txBody>
                  <a:tcPr>
                    <a:solidFill>
                      <a:srgbClr val="F2F2F2"/>
                    </a:solidFill>
                  </a:tcPr>
                </a:tc>
                <a:tc>
                  <a:txBody>
                    <a:bodyPr/>
                    <a:lstStyle/>
                    <a:p>
                      <a:r>
                        <a:rPr sz="1100"/>
                        <a:t>Cloud Friendly · low-medium complexity · mid-tier</a:t>
                      </a:r>
                    </a:p>
                  </a:txBody>
                  <a:tcPr>
                    <a:solidFill>
                      <a:srgbClr val="F2F2F2"/>
                    </a:solidFill>
                  </a:tcPr>
                </a:tc>
                <a:tc>
                  <a:txBody>
                    <a:bodyPr/>
                    <a:lstStyle/>
                    <a:p>
                      <a:r>
                        <a:rPr sz="1100"/>
                        <a:t>Applications that need Wave 1 to complete first</a:t>
                      </a:r>
                    </a:p>
                  </a:txBody>
                  <a:tcPr>
                    <a:solidFill>
                      <a:srgbClr val="F2F2F2"/>
                    </a:solidFill>
                  </a:tcPr>
                </a:tc>
              </a:tr>
              <a:tr h="498304">
                <a:tc>
                  <a:txBody>
                    <a:bodyPr/>
                    <a:lstStyle/>
                    <a:p>
                      <a:r>
                        <a:rPr sz="1100"/>
                        <a:t>Wave 3</a:t>
                      </a:r>
                    </a:p>
                  </a:txBody>
                  <a:tcPr>
                    <a:solidFill>
                      <a:srgbClr val="FFFFFF"/>
                    </a:solidFill>
                  </a:tcPr>
                </a:tc>
                <a:tc>
                  <a:txBody>
                    <a:bodyPr/>
                    <a:lstStyle/>
                    <a:p>
                      <a:r>
                        <a:rPr sz="1100"/>
                        <a:t>Cloud Challenged or medium-high · custom middleware</a:t>
                      </a:r>
                    </a:p>
                  </a:txBody>
                  <a:tcPr>
                    <a:solidFill>
                      <a:srgbClr val="FFFFFF"/>
                    </a:solidFill>
                  </a:tcPr>
                </a:tc>
                <a:tc>
                  <a:txBody>
                    <a:bodyPr/>
                    <a:lstStyle/>
                    <a:p>
                      <a:r>
                        <a:rPr sz="1100"/>
                        <a:t>Tier-1 production before Wave 2 validated</a:t>
                      </a:r>
                    </a:p>
                  </a:txBody>
                  <a:tcPr>
                    <a:solidFill>
                      <a:srgbClr val="FFFFFF"/>
                    </a:solidFill>
                  </a:tcPr>
                </a:tc>
              </a:tr>
              <a:tr h="498304">
                <a:tc>
                  <a:txBody>
                    <a:bodyPr/>
                    <a:lstStyle/>
                    <a:p>
                      <a:r>
                        <a:rPr sz="1100"/>
                        <a:t>Wave 4</a:t>
                      </a:r>
                    </a:p>
                  </a:txBody>
                  <a:tcPr>
                    <a:solidFill>
                      <a:srgbClr val="F2F2F2"/>
                    </a:solidFill>
                  </a:tcPr>
                </a:tc>
                <a:tc>
                  <a:txBody>
                    <a:bodyPr/>
                    <a:lstStyle/>
                    <a:p>
                      <a:r>
                        <a:rPr sz="1100"/>
                        <a:t>Tier-1 business-critical · ERP, CRM, core business</a:t>
                      </a:r>
                    </a:p>
                  </a:txBody>
                  <a:tcPr>
                    <a:solidFill>
                      <a:srgbClr val="F2F2F2"/>
                    </a:solidFill>
                  </a:tcPr>
                </a:tc>
                <a:tc>
                  <a:txBody>
                    <a:bodyPr/>
                    <a:lstStyle/>
                    <a:p>
                      <a:r>
                        <a:rPr sz="1100"/>
                        <a:t>Only after waves 1–3 validated in production</a:t>
                      </a:r>
                    </a:p>
                  </a:txBody>
                  <a:tcPr>
                    <a:solidFill>
                      <a:srgbClr val="F2F2F2"/>
                    </a:solidFill>
                  </a:tcPr>
                </a:tc>
              </a:tr>
              <a:tr h="498310">
                <a:tc>
                  <a:txBody>
                    <a:bodyPr/>
                    <a:lstStyle/>
                    <a:p>
                      <a:r>
                        <a:rPr sz="1100"/>
                        <a:t>Wave 5+</a:t>
                      </a:r>
                    </a:p>
                  </a:txBody>
                  <a:tcPr>
                    <a:solidFill>
                      <a:srgbClr val="FFFFFF"/>
                    </a:solidFill>
                  </a:tcPr>
                </a:tc>
                <a:tc>
                  <a:txBody>
                    <a:bodyPr/>
                    <a:lstStyle/>
                    <a:p>
                      <a:r>
                        <a:rPr sz="1100"/>
                        <a:t>Retained · Oracle specialist · multi-cloud exceptions</a:t>
                      </a:r>
                    </a:p>
                  </a:txBody>
                  <a:tcPr>
                    <a:solidFill>
                      <a:srgbClr val="FFFFFF"/>
                    </a:solidFill>
                  </a:tcPr>
                </a:tc>
                <a:tc>
                  <a:txBody>
                    <a:bodyPr/>
                    <a:lstStyle/>
                    <a:p>
                      <a:r>
                        <a:rPr sz="1100"/>
                        <a:t>Force Oracle RAC to primary cloud without specialist review</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Nine lessons from a real engagement — embedded in the framework</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348813">
                <a:tc>
                  <a:txBody>
                    <a:bodyPr/>
                    <a:lstStyle/>
                    <a:p>
                      <a:r>
                        <a:rPr b="1" sz="1200">
                          <a:solidFill>
                            <a:srgbClr val="FFFFFF"/>
                          </a:solidFill>
                        </a:rPr>
                        <a:t>#</a:t>
                      </a:r>
                    </a:p>
                  </a:txBody>
                  <a:tcPr>
                    <a:solidFill>
                      <a:srgbClr val="E31C3D"/>
                    </a:solidFill>
                  </a:tcPr>
                </a:tc>
                <a:tc>
                  <a:txBody>
                    <a:bodyPr/>
                    <a:lstStyle/>
                    <a:p>
                      <a:r>
                        <a:rPr b="1" sz="1200">
                          <a:solidFill>
                            <a:srgbClr val="FFFFFF"/>
                          </a:solidFill>
                        </a:rPr>
                        <a:t>Lesson</a:t>
                      </a:r>
                    </a:p>
                  </a:txBody>
                  <a:tcPr>
                    <a:solidFill>
                      <a:srgbClr val="E31C3D"/>
                    </a:solidFill>
                  </a:tcPr>
                </a:tc>
                <a:tc>
                  <a:txBody>
                    <a:bodyPr/>
                    <a:lstStyle/>
                    <a:p>
                      <a:r>
                        <a:rPr b="1" sz="1200">
                          <a:solidFill>
                            <a:srgbClr val="FFFFFF"/>
                          </a:solidFill>
                        </a:rPr>
                        <a:t>What Changed in Framework</a:t>
                      </a:r>
                    </a:p>
                  </a:txBody>
                  <a:tcPr>
                    <a:solidFill>
                      <a:srgbClr val="E31C3D"/>
                    </a:solidFill>
                  </a:tcPr>
                </a:tc>
              </a:tr>
              <a:tr h="348813">
                <a:tc>
                  <a:txBody>
                    <a:bodyPr/>
                    <a:lstStyle/>
                    <a:p>
                      <a:r>
                        <a:rPr sz="1100"/>
                        <a:t>1</a:t>
                      </a:r>
                    </a:p>
                  </a:txBody>
                  <a:tcPr>
                    <a:solidFill>
                      <a:srgbClr val="F2F2F2"/>
                    </a:solidFill>
                  </a:tcPr>
                </a:tc>
                <a:tc>
                  <a:txBody>
                    <a:bodyPr/>
                    <a:lstStyle/>
                    <a:p>
                      <a:r>
                        <a:rPr sz="1100"/>
                        <a:t>Scope variance: 57% more VMs than SoW</a:t>
                      </a:r>
                    </a:p>
                  </a:txBody>
                  <a:tcPr>
                    <a:solidFill>
                      <a:srgbClr val="F2F2F2"/>
                    </a:solidFill>
                  </a:tcPr>
                </a:tc>
                <a:tc>
                  <a:txBody>
                    <a:bodyPr/>
                    <a:lstStyle/>
                    <a:p>
                      <a:r>
                        <a:rPr sz="1100"/>
                        <a:t>Scope variance clause in SoW · confidence scoring in app inventory</a:t>
                      </a:r>
                    </a:p>
                  </a:txBody>
                  <a:tcPr>
                    <a:solidFill>
                      <a:srgbClr val="F2F2F2"/>
                    </a:solidFill>
                  </a:tcPr>
                </a:tc>
              </a:tr>
              <a:tr h="348813">
                <a:tc>
                  <a:txBody>
                    <a:bodyPr/>
                    <a:lstStyle/>
                    <a:p>
                      <a:r>
                        <a:rPr sz="1100"/>
                        <a:t>2</a:t>
                      </a:r>
                    </a:p>
                  </a:txBody>
                  <a:tcPr>
                    <a:solidFill>
                      <a:srgbClr val="FFFFFF"/>
                    </a:solidFill>
                  </a:tcPr>
                </a:tc>
                <a:tc>
                  <a:txBody>
                    <a:bodyPr/>
                    <a:lstStyle/>
                    <a:p>
                      <a:r>
                        <a:rPr sz="1100"/>
                        <a:t>CAB not submitted Day 1 → 2-week delay</a:t>
                      </a:r>
                    </a:p>
                  </a:txBody>
                  <a:tcPr>
                    <a:solidFill>
                      <a:srgbClr val="FFFFFF"/>
                    </a:solidFill>
                  </a:tcPr>
                </a:tc>
                <a:tc>
                  <a:txBody>
                    <a:bodyPr/>
                    <a:lstStyle/>
                    <a:p>
                      <a:r>
                        <a:rPr sz="1100"/>
                        <a:t>Phase 1 kickoff checklist — CAB on Day 1</a:t>
                      </a:r>
                    </a:p>
                  </a:txBody>
                  <a:tcPr>
                    <a:solidFill>
                      <a:srgbClr val="FFFFFF"/>
                    </a:solidFill>
                  </a:tcPr>
                </a:tc>
              </a:tr>
              <a:tr h="348813">
                <a:tc>
                  <a:txBody>
                    <a:bodyPr/>
                    <a:lstStyle/>
                    <a:p>
                      <a:r>
                        <a:rPr sz="1100"/>
                        <a:t>3</a:t>
                      </a:r>
                    </a:p>
                  </a:txBody>
                  <a:tcPr>
                    <a:solidFill>
                      <a:srgbClr val="F2F2F2"/>
                    </a:solidFill>
                  </a:tcPr>
                </a:tc>
                <a:tc>
                  <a:txBody>
                    <a:bodyPr/>
                    <a:lstStyle/>
                    <a:p>
                      <a:r>
                        <a:rPr sz="1100"/>
                        <a:t>Oracle RAC found Week 5 → Oracle analysis delayed Phase 3 by 6 weeks</a:t>
                      </a:r>
                    </a:p>
                  </a:txBody>
                  <a:tcPr>
                    <a:solidFill>
                      <a:srgbClr val="F2F2F2"/>
                    </a:solidFill>
                  </a:tcPr>
                </a:tc>
                <a:tc>
                  <a:txBody>
                    <a:bodyPr/>
                    <a:lstStyle/>
                    <a:p>
                      <a:r>
                        <a:rPr sz="1100"/>
                        <a:t>Oracle Practice Flag column in application inventory</a:t>
                      </a:r>
                    </a:p>
                  </a:txBody>
                  <a:tcPr>
                    <a:solidFill>
                      <a:srgbClr val="F2F2F2"/>
                    </a:solidFill>
                  </a:tcPr>
                </a:tc>
              </a:tr>
              <a:tr h="348813">
                <a:tc>
                  <a:txBody>
                    <a:bodyPr/>
                    <a:lstStyle/>
                    <a:p>
                      <a:r>
                        <a:rPr sz="1100"/>
                        <a:t>4</a:t>
                      </a:r>
                    </a:p>
                  </a:txBody>
                  <a:tcPr>
                    <a:solidFill>
                      <a:srgbClr val="FFFFFF"/>
                    </a:solidFill>
                  </a:tcPr>
                </a:tc>
                <a:tc>
                  <a:txBody>
                    <a:bodyPr/>
                    <a:lstStyle/>
                    <a:p>
                      <a:r>
                        <a:rPr sz="1100"/>
                        <a:t>Redis OSS licence change discovered in Phase 3 → TCO re-work</a:t>
                      </a:r>
                    </a:p>
                  </a:txBody>
                  <a:tcPr>
                    <a:solidFill>
                      <a:srgbClr val="FFFFFF"/>
                    </a:solidFill>
                  </a:tcPr>
                </a:tc>
                <a:tc>
                  <a:txBody>
                    <a:bodyPr/>
                    <a:lstStyle/>
                    <a:p>
                      <a:r>
                        <a:rPr sz="1100"/>
                        <a:t>OSS Licence Risk column in application inventory</a:t>
                      </a:r>
                    </a:p>
                  </a:txBody>
                  <a:tcPr>
                    <a:solidFill>
                      <a:srgbClr val="FFFFFF"/>
                    </a:solidFill>
                  </a:tcPr>
                </a:tc>
              </a:tr>
              <a:tr h="348813">
                <a:tc>
                  <a:txBody>
                    <a:bodyPr/>
                    <a:lstStyle/>
                    <a:p>
                      <a:r>
                        <a:rPr sz="1100"/>
                        <a:t>5</a:t>
                      </a:r>
                    </a:p>
                  </a:txBody>
                  <a:tcPr>
                    <a:solidFill>
                      <a:srgbClr val="F2F2F2"/>
                    </a:solidFill>
                  </a:tcPr>
                </a:tc>
                <a:tc>
                  <a:txBody>
                    <a:bodyPr/>
                    <a:lstStyle/>
                    <a:p>
                      <a:r>
                        <a:rPr sz="1100"/>
                        <a:t>AMM not pre-registered at Phase 1 → customer missed funding</a:t>
                      </a:r>
                    </a:p>
                  </a:txBody>
                  <a:tcPr>
                    <a:solidFill>
                      <a:srgbClr val="F2F2F2"/>
                    </a:solidFill>
                  </a:tcPr>
                </a:tc>
                <a:tc>
                  <a:txBody>
                    <a:bodyPr/>
                    <a:lstStyle/>
                    <a:p>
                      <a:r>
                        <a:rPr sz="1100"/>
                        <a:t>AMM registration at Phase 1 kickoff · Alliance Manager on Day 1 call</a:t>
                      </a:r>
                    </a:p>
                  </a:txBody>
                  <a:tcPr>
                    <a:solidFill>
                      <a:srgbClr val="F2F2F2"/>
                    </a:solidFill>
                  </a:tcPr>
                </a:tc>
              </a:tr>
              <a:tr h="348813">
                <a:tc>
                  <a:txBody>
                    <a:bodyPr/>
                    <a:lstStyle/>
                    <a:p>
                      <a:r>
                        <a:rPr sz="1100"/>
                        <a:t>6</a:t>
                      </a:r>
                    </a:p>
                  </a:txBody>
                  <a:tcPr>
                    <a:solidFill>
                      <a:srgbClr val="FFFFFF"/>
                    </a:solidFill>
                  </a:tcPr>
                </a:tc>
                <a:tc>
                  <a:txBody>
                    <a:bodyPr/>
                    <a:lstStyle/>
                    <a:p>
                      <a:r>
                        <a:rPr sz="1100"/>
                        <a:t>Utilisation data window shortened → TCO accuracy compromised</a:t>
                      </a:r>
                    </a:p>
                  </a:txBody>
                  <a:tcPr>
                    <a:solidFill>
                      <a:srgbClr val="FFFFFF"/>
                    </a:solidFill>
                  </a:tcPr>
                </a:tc>
                <a:tc>
                  <a:txBody>
                    <a:bodyPr/>
                    <a:lstStyle/>
                    <a:p>
                      <a:r>
                        <a:rPr sz="1100"/>
                        <a:t>Gate 1 hard requirement · written escalation process</a:t>
                      </a:r>
                    </a:p>
                  </a:txBody>
                  <a:tcPr>
                    <a:solidFill>
                      <a:srgbClr val="FFFFFF"/>
                    </a:solidFill>
                  </a:tcPr>
                </a:tc>
              </a:tr>
              <a:tr h="348813">
                <a:tc>
                  <a:txBody>
                    <a:bodyPr/>
                    <a:lstStyle/>
                    <a:p>
                      <a:r>
                        <a:rPr sz="1100"/>
                        <a:t>7</a:t>
                      </a:r>
                    </a:p>
                  </a:txBody>
                  <a:tcPr>
                    <a:solidFill>
                      <a:srgbClr val="F2F2F2"/>
                    </a:solidFill>
                  </a:tcPr>
                </a:tc>
                <a:tc>
                  <a:txBody>
                    <a:bodyPr/>
                    <a:lstStyle/>
                    <a:p>
                      <a:r>
                        <a:rPr sz="1100"/>
                        <a:t>Phase 2 not started until Phase 1 complete → 4-week delay</a:t>
                      </a:r>
                    </a:p>
                  </a:txBody>
                  <a:tcPr>
                    <a:solidFill>
                      <a:srgbClr val="F2F2F2"/>
                    </a:solidFill>
                  </a:tcPr>
                </a:tc>
                <a:tc>
                  <a:txBody>
                    <a:bodyPr/>
                    <a:lstStyle/>
                    <a:p>
                      <a:r>
                        <a:rPr sz="1100"/>
                        <a:t>Parallelisation: Phase 2 starts at Phase 1 Week 6</a:t>
                      </a:r>
                    </a:p>
                  </a:txBody>
                  <a:tcPr>
                    <a:solidFill>
                      <a:srgbClr val="F2F2F2"/>
                    </a:solidFill>
                  </a:tcPr>
                </a:tc>
              </a:tr>
              <a:tr h="348813">
                <a:tc>
                  <a:txBody>
                    <a:bodyPr/>
                    <a:lstStyle/>
                    <a:p>
                      <a:r>
                        <a:rPr sz="1100"/>
                        <a:t>8</a:t>
                      </a:r>
                    </a:p>
                  </a:txBody>
                  <a:tcPr>
                    <a:solidFill>
                      <a:srgbClr val="FFFFFF"/>
                    </a:solidFill>
                  </a:tcPr>
                </a:tc>
                <a:tc>
                  <a:txBody>
                    <a:bodyPr/>
                    <a:lstStyle/>
                    <a:p>
                      <a:r>
                        <a:rPr sz="1100"/>
                        <a:t>EoL OS not flagged until Phase 3 → ESU costs missed</a:t>
                      </a:r>
                    </a:p>
                  </a:txBody>
                  <a:tcPr>
                    <a:solidFill>
                      <a:srgbClr val="FFFFFF"/>
                    </a:solidFill>
                  </a:tcPr>
                </a:tc>
                <a:tc>
                  <a:txBody>
                    <a:bodyPr/>
                    <a:lstStyle/>
                    <a:p>
                      <a:r>
                        <a:rPr sz="1100"/>
                        <a:t>EoL OS column in infrastructure-profiling · flag in risk register</a:t>
                      </a:r>
                    </a:p>
                  </a:txBody>
                  <a:tcPr>
                    <a:solidFill>
                      <a:srgbClr val="FFFFFF"/>
                    </a:solidFill>
                  </a:tcPr>
                </a:tc>
              </a:tr>
              <a:tr h="348817">
                <a:tc>
                  <a:txBody>
                    <a:bodyPr/>
                    <a:lstStyle/>
                    <a:p>
                      <a:r>
                        <a:rPr sz="1100"/>
                        <a:t>9</a:t>
                      </a:r>
                    </a:p>
                  </a:txBody>
                  <a:tcPr>
                    <a:solidFill>
                      <a:srgbClr val="F2F2F2"/>
                    </a:solidFill>
                  </a:tcPr>
                </a:tc>
                <a:tc>
                  <a:txBody>
                    <a:bodyPr/>
                    <a:lstStyle/>
                    <a:p>
                      <a:r>
                        <a:rPr sz="1100"/>
                        <a:t>Recommendation before evidence → customer challenged credibility</a:t>
                      </a:r>
                    </a:p>
                  </a:txBody>
                  <a:tcPr>
                    <a:solidFill>
                      <a:srgbClr val="F2F2F2"/>
                    </a:solidFill>
                  </a:tcPr>
                </a:tc>
                <a:tc>
                  <a:txBody>
                    <a:bodyPr/>
                    <a:lstStyle/>
                    <a:p>
                      <a:r>
                        <a:rPr sz="1100"/>
                        <a:t>Evidence-before-recommendation rule · deck structure validation checklist</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 ] 1. &gt;=14 days clean utilisation data confirmed for &gt;=90% of VMs</a:t>
            </a:r>
          </a:p>
          <a:p>
            <a:pPr>
              <a:spcAft>
                <a:spcPts val="300"/>
              </a:spcAft>
            </a:pPr>
            <a:r>
              <a:rPr sz="1400"/>
              <a:t>[ ] 2. All 7 TCO layers populated for each cloud — no blank rows</a:t>
            </a:r>
          </a:p>
          <a:p>
            <a:pPr>
              <a:spcAft>
                <a:spcPts val="300"/>
              </a:spcAft>
            </a:pPr>
            <a:r>
              <a:rPr sz="1400"/>
              <a:t>[ ] 3. Pricing validated against calculator source this week</a:t>
            </a:r>
          </a:p>
          <a:p>
            <a:pPr>
              <a:spcAft>
                <a:spcPts val="300"/>
              </a:spcAft>
            </a:pPr>
            <a:r>
              <a:rPr sz="1400"/>
              <a:t>[ ] 4. AHB eligibility confirmed (SA status verified with customer)</a:t>
            </a:r>
          </a:p>
          <a:p>
            <a:pPr>
              <a:spcAft>
                <a:spcPts val="300"/>
              </a:spcAft>
            </a:pPr>
            <a:r>
              <a:rPr sz="1400"/>
              <a:t>[ ] 5. Oracle licensing reviewed by Oracle Practice Lead — email sign-off filed</a:t>
            </a:r>
          </a:p>
          <a:p>
            <a:pPr>
              <a:spcAft>
                <a:spcPts val="300"/>
              </a:spcAft>
            </a:pPr>
            <a:r>
              <a:rPr sz="1400"/>
              <a:t>[ ] 6. OSS licence flags resolved — all modelled in TCO</a:t>
            </a:r>
          </a:p>
          <a:p>
            <a:pPr>
              <a:spcAft>
                <a:spcPts val="300"/>
              </a:spcAft>
            </a:pPr>
            <a:r>
              <a:rPr sz="1400"/>
              <a:t>[ ] 7. Hyperscaler matrix weights agreed in writing by customer</a:t>
            </a:r>
          </a:p>
          <a:p>
            <a:pPr>
              <a:spcAft>
                <a:spcPts val="300"/>
              </a:spcAft>
            </a:pPr>
            <a:r>
              <a:rPr sz="1400"/>
              <a:t>[ ] 8. All three clouds scored with evidence references — no blank evidence fields</a:t>
            </a:r>
          </a:p>
          <a:p>
            <a:pPr>
              <a:spcAft>
                <a:spcPts val="300"/>
              </a:spcAft>
            </a:pPr>
            <a:r>
              <a:rPr sz="1400"/>
              <a:t>[ ] 9. Recommendation slide comes AFTER evidence slides (slide &gt;=13)</a:t>
            </a:r>
          </a:p>
          <a:p>
            <a:pPr>
              <a:spcAft>
                <a:spcPts val="300"/>
              </a:spcAft>
            </a:pPr>
            <a:r>
              <a:rPr sz="1400"/>
              <a:t>[ ] 10. AMM/MAP/PSO registration confirmed by Alliance Manager — email filed</a:t>
            </a:r>
          </a:p>
          <a:p>
            <a:pPr>
              <a:spcAft>
                <a:spcPts val="300"/>
              </a:spcAft>
            </a:pPr>
            <a:r>
              <a:rPr sz="1400"/>
              <a:t/>
            </a:r>
          </a:p>
          <a:p>
            <a:pPr>
              <a:spcAft>
                <a:spcPts val="300"/>
              </a:spcAft>
            </a:pPr>
            <a:r>
              <a:rPr sz="1400"/>
              <a:t>This checklist is not optional. A missing check is a quality failure. If you cannot complete all 10, delay the playback.</a:t>
            </a:r>
          </a:p>
        </p:txBody>
      </p:sp>
      <p:sp>
        <p:nvSpPr>
          <p:cNvPr id="3" name="Title 2"/>
          <p:cNvSpPr>
            <a:spLocks noGrp="1"/>
          </p:cNvSpPr>
          <p:nvPr>
            <p:ph type="title"/>
          </p:nvPr>
        </p:nvSpPr>
        <p:spPr/>
        <p:txBody>
          <a:bodyPr wrap="square"/>
          <a:lstStyle/>
          <a:p>
            <a:r>
              <a:rPr sz="2400" b="1"/>
              <a:t>Pre-playback QA checklist — 10 checks before presenting Phase 3</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