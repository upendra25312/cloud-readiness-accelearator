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A structured path to a confident, evidence-based cloud migration decision</a:t>
            </a:r>
          </a:p>
        </p:txBody>
      </p:sp>
      <p:sp>
        <p:nvSpPr>
          <p:cNvPr id="3" name="Text Placeholder 2"/>
          <p:cNvSpPr>
            <a:spLocks noGrp="1"/>
          </p:cNvSpPr>
          <p:nvPr>
            <p:ph type="body" idx="13" sz="quarter"/>
          </p:nvPr>
        </p:nvSpPr>
        <p:spPr/>
        <p:txBody>
          <a:bodyPr wrap="square"/>
          <a:lstStyle/>
          <a:p>
            <a:r>
              <a:rPr sz="1400">
                <a:solidFill>
                  <a:srgbClr val="FFCCCC"/>
                </a:solidFill>
              </a:rPr>
              <a:t>Rackspace Cloud Solutions Architecture  |  [Customer Name]  |  [Date]</a:t>
            </a:r>
          </a:p>
        </p:txBody>
      </p:sp>
      <p:sp>
        <p:nvSpPr>
          <p:cNvPr id="4" name="Title 3"/>
          <p:cNvSpPr>
            <a:spLocks noGrp="1"/>
          </p:cNvSpPr>
          <p:nvPr>
            <p:ph type="title"/>
          </p:nvPr>
        </p:nvSpPr>
        <p:spPr/>
        <p:txBody>
          <a:bodyPr wrap="square"/>
          <a:lstStyle/>
          <a:p>
            <a:r>
              <a:rPr sz="3600" b="1">
                <a:solidFill>
                  <a:srgbClr val="FFFFFF"/>
                </a:solidFill>
              </a:rPr>
              <a:t>Cloud Readiness Assessment</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TOO MANY OPINIONS: Every hyperscaler says they are the best choice. Without independent analysis, the loudest voice wins.</a:t>
            </a:r>
          </a:p>
          <a:p>
            <a:pPr>
              <a:spcAft>
                <a:spcPts val="300"/>
              </a:spcAft>
            </a:pPr>
            <a:r>
              <a:rPr sz="1400"/>
              <a:t/>
            </a:r>
          </a:p>
          <a:p>
            <a:pPr>
              <a:spcAft>
                <a:spcPts val="300"/>
              </a:spcAft>
            </a:pPr>
            <a:r>
              <a:rPr sz="1400"/>
              <a:t>COMPLEXITY YOU CANNOT SEE: Oracle databases, end-of-life OS, licensing obligations, and infrastructure dependencies only visible once you look. Most cloud cost estimates start before the data is collected.</a:t>
            </a:r>
          </a:p>
          <a:p>
            <a:pPr>
              <a:spcAft>
                <a:spcPts val="300"/>
              </a:spcAft>
            </a:pPr>
            <a:r>
              <a:rPr sz="1400"/>
              <a:t/>
            </a:r>
          </a:p>
          <a:p>
            <a:pPr>
              <a:spcAft>
                <a:spcPts val="300"/>
              </a:spcAft>
            </a:pPr>
            <a:r>
              <a:rPr sz="1400"/>
              <a:t>THE COST OF GETTING IT WRONG: Organisations without a formal assessment overspend by 30–60% in Year 1.</a:t>
            </a:r>
          </a:p>
          <a:p>
            <a:pPr>
              <a:spcAft>
                <a:spcPts val="300"/>
              </a:spcAft>
            </a:pPr>
            <a:r>
              <a:rPr sz="1400"/>
              <a:t/>
            </a:r>
          </a:p>
          <a:p>
            <a:pPr>
              <a:spcAft>
                <a:spcPts val="300"/>
              </a:spcAft>
            </a:pPr>
            <a:r>
              <a:rPr sz="1400"/>
              <a:t>"A cloud migration decision is a board-level financial commitment of £1M–£10M+. It deserves the same rigour as any capital investment."</a:t>
            </a:r>
          </a:p>
        </p:txBody>
      </p:sp>
      <p:sp>
        <p:nvSpPr>
          <p:cNvPr id="3" name="Title 2"/>
          <p:cNvSpPr>
            <a:spLocks noGrp="1"/>
          </p:cNvSpPr>
          <p:nvPr>
            <p:ph type="title"/>
          </p:nvPr>
        </p:nvSpPr>
        <p:spPr/>
        <p:txBody>
          <a:bodyPr wrap="square"/>
          <a:lstStyle/>
          <a:p>
            <a:r>
              <a:rPr sz="2400" b="1"/>
              <a:t>Moving to cloud is not the hard part — deciding which cloud, when, and at what cost is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A CRA is a decision-making system, not a report</a:t>
            </a:r>
          </a:p>
        </p:txBody>
      </p:sp>
      <p:sp>
        <p:nvSpPr>
          <p:cNvPr id="4" name="Text Placeholder 3"/>
          <p:cNvSpPr>
            <a:spLocks noGrp="1"/>
          </p:cNvSpPr>
          <p:nvPr>
            <p:ph type="body" idx="13" sz="quarter"/>
          </p:nvPr>
        </p:nvSpPr>
        <p:spPr/>
        <p:txBody>
          <a:bodyPr wrap="square"/>
          <a:lstStyle/>
          <a:p>
            <a:r>
              <a:rPr sz="1300">
                <a:solidFill>
                  <a:srgbClr val="333333"/>
                </a:solidFill>
              </a:rPr>
              <a:t>Four phases · 16–20 weeks · Uses proven tooling · Fully cloud-neutral recommendation</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387570">
                <a:tc>
                  <a:txBody>
                    <a:bodyPr/>
                    <a:lstStyle/>
                    <a:p>
                      <a:r>
                        <a:rPr b="1" sz="1200">
                          <a:solidFill>
                            <a:srgbClr val="FFFFFF"/>
                          </a:solidFill>
                        </a:rPr>
                        <a:t>Deliverable</a:t>
                      </a:r>
                    </a:p>
                  </a:txBody>
                  <a:tcPr>
                    <a:solidFill>
                      <a:srgbClr val="E31C3D"/>
                    </a:solidFill>
                  </a:tcPr>
                </a:tc>
                <a:tc>
                  <a:txBody>
                    <a:bodyPr/>
                    <a:lstStyle/>
                    <a:p>
                      <a:r>
                        <a:rPr b="1" sz="1200">
                          <a:solidFill>
                            <a:srgbClr val="FFFFFF"/>
                          </a:solidFill>
                        </a:rPr>
                        <a:t>Purpose</a:t>
                      </a:r>
                    </a:p>
                  </a:txBody>
                  <a:tcPr>
                    <a:solidFill>
                      <a:srgbClr val="E31C3D"/>
                    </a:solidFill>
                  </a:tcPr>
                </a:tc>
              </a:tr>
              <a:tr h="387570">
                <a:tc>
                  <a:txBody>
                    <a:bodyPr/>
                    <a:lstStyle/>
                    <a:p>
                      <a:r>
                        <a:rPr sz="1100"/>
                        <a:t>Infrastructure &amp; Application Inventory</a:t>
                      </a:r>
                    </a:p>
                  </a:txBody>
                  <a:tcPr>
                    <a:solidFill>
                      <a:srgbClr val="F2F2F2"/>
                    </a:solidFill>
                  </a:tcPr>
                </a:tc>
                <a:tc>
                  <a:txBody>
                    <a:bodyPr/>
                    <a:lstStyle/>
                    <a:p>
                      <a:r>
                        <a:rPr sz="1100"/>
                        <a:t>Definitive record of your estate — scope, complexity, dependencies</a:t>
                      </a:r>
                    </a:p>
                  </a:txBody>
                  <a:tcPr>
                    <a:solidFill>
                      <a:srgbClr val="F2F2F2"/>
                    </a:solidFill>
                  </a:tcPr>
                </a:tc>
              </a:tr>
              <a:tr h="387570">
                <a:tc>
                  <a:txBody>
                    <a:bodyPr/>
                    <a:lstStyle/>
                    <a:p>
                      <a:r>
                        <a:rPr sz="1100"/>
                        <a:t>Cloud Readiness Scores</a:t>
                      </a:r>
                    </a:p>
                  </a:txBody>
                  <a:tcPr>
                    <a:solidFill>
                      <a:srgbClr val="FFFFFF"/>
                    </a:solidFill>
                  </a:tcPr>
                </a:tc>
                <a:tc>
                  <a:txBody>
                    <a:bodyPr/>
                    <a:lstStyle/>
                    <a:p>
                      <a:r>
                        <a:rPr sz="1100"/>
                        <a:t>Per-application traffic-light readiness rating</a:t>
                      </a:r>
                    </a:p>
                  </a:txBody>
                  <a:tcPr>
                    <a:solidFill>
                      <a:srgbClr val="FFFFFF"/>
                    </a:solidFill>
                  </a:tcPr>
                </a:tc>
              </a:tr>
              <a:tr h="387570">
                <a:tc>
                  <a:txBody>
                    <a:bodyPr/>
                    <a:lstStyle/>
                    <a:p>
                      <a:r>
                        <a:rPr sz="1100"/>
                        <a:t>Total Cost of Ownership (TCO) Analysis</a:t>
                      </a:r>
                    </a:p>
                  </a:txBody>
                  <a:tcPr>
                    <a:solidFill>
                      <a:srgbClr val="F2F2F2"/>
                    </a:solidFill>
                  </a:tcPr>
                </a:tc>
                <a:tc>
                  <a:txBody>
                    <a:bodyPr/>
                    <a:lstStyle/>
                    <a:p>
                      <a:r>
                        <a:rPr sz="1100"/>
                        <a:t>7-layer financial model covering all cost scenarios</a:t>
                      </a:r>
                    </a:p>
                  </a:txBody>
                  <a:tcPr>
                    <a:solidFill>
                      <a:srgbClr val="F2F2F2"/>
                    </a:solidFill>
                  </a:tcPr>
                </a:tc>
              </a:tr>
              <a:tr h="387570">
                <a:tc>
                  <a:txBody>
                    <a:bodyPr/>
                    <a:lstStyle/>
                    <a:p>
                      <a:r>
                        <a:rPr sz="1100"/>
                        <a:t>Hyperscaler Evaluation</a:t>
                      </a:r>
                    </a:p>
                  </a:txBody>
                  <a:tcPr>
                    <a:solidFill>
                      <a:srgbClr val="FFFFFF"/>
                    </a:solidFill>
                  </a:tcPr>
                </a:tc>
                <a:tc>
                  <a:txBody>
                    <a:bodyPr/>
                    <a:lstStyle/>
                    <a:p>
                      <a:r>
                        <a:rPr sz="1100"/>
                        <a:t>Scored comparison: AWS vs Azure vs GCP for your specific estate</a:t>
                      </a:r>
                    </a:p>
                  </a:txBody>
                  <a:tcPr>
                    <a:solidFill>
                      <a:srgbClr val="FFFFFF"/>
                    </a:solidFill>
                  </a:tcPr>
                </a:tc>
              </a:tr>
              <a:tr h="387570">
                <a:tc>
                  <a:txBody>
                    <a:bodyPr/>
                    <a:lstStyle/>
                    <a:p>
                      <a:r>
                        <a:rPr sz="1100"/>
                        <a:t>Hyperscaler Recommendation</a:t>
                      </a:r>
                    </a:p>
                  </a:txBody>
                  <a:tcPr>
                    <a:solidFill>
                      <a:srgbClr val="F2F2F2"/>
                    </a:solidFill>
                  </a:tcPr>
                </a:tc>
                <a:tc>
                  <a:txBody>
                    <a:bodyPr/>
                    <a:lstStyle/>
                    <a:p>
                      <a:r>
                        <a:rPr sz="1100"/>
                        <a:t>Evidence-based recommendation with financial justification</a:t>
                      </a:r>
                    </a:p>
                  </a:txBody>
                  <a:tcPr>
                    <a:solidFill>
                      <a:srgbClr val="F2F2F2"/>
                    </a:solidFill>
                  </a:tcPr>
                </a:tc>
              </a:tr>
              <a:tr h="387570">
                <a:tc>
                  <a:txBody>
                    <a:bodyPr/>
                    <a:lstStyle/>
                    <a:p>
                      <a:r>
                        <a:rPr sz="1100"/>
                        <a:t>Risk Register</a:t>
                      </a:r>
                    </a:p>
                  </a:txBody>
                  <a:tcPr>
                    <a:solidFill>
                      <a:srgbClr val="FFFFFF"/>
                    </a:solidFill>
                  </a:tcPr>
                </a:tc>
                <a:tc>
                  <a:txBody>
                    <a:bodyPr/>
                    <a:lstStyle/>
                    <a:p>
                      <a:r>
                        <a:rPr sz="1100"/>
                        <a:t>Technical, licensing, and delivery risks identified and scored</a:t>
                      </a:r>
                    </a:p>
                  </a:txBody>
                  <a:tcPr>
                    <a:solidFill>
                      <a:srgbClr val="FFFFFF"/>
                    </a:solidFill>
                  </a:tcPr>
                </a:tc>
              </a:tr>
              <a:tr h="387570">
                <a:tc>
                  <a:txBody>
                    <a:bodyPr/>
                    <a:lstStyle/>
                    <a:p>
                      <a:r>
                        <a:rPr sz="1100"/>
                        <a:t>Migration Wave Plan</a:t>
                      </a:r>
                    </a:p>
                  </a:txBody>
                  <a:tcPr>
                    <a:solidFill>
                      <a:srgbClr val="F2F2F2"/>
                    </a:solidFill>
                  </a:tcPr>
                </a:tc>
                <a:tc>
                  <a:txBody>
                    <a:bodyPr/>
                    <a:lstStyle/>
                    <a:p>
                      <a:r>
                        <a:rPr sz="1100"/>
                        <a:t>Sequenced application migration roadmap</a:t>
                      </a:r>
                    </a:p>
                  </a:txBody>
                  <a:tcPr>
                    <a:solidFill>
                      <a:srgbClr val="F2F2F2"/>
                    </a:solidFill>
                  </a:tcPr>
                </a:tc>
              </a:tr>
              <a:tr h="387574">
                <a:tc>
                  <a:txBody>
                    <a:bodyPr/>
                    <a:lstStyle/>
                    <a:p>
                      <a:r>
                        <a:rPr sz="1100"/>
                        <a:t>Part 2 Entry Point</a:t>
                      </a:r>
                    </a:p>
                  </a:txBody>
                  <a:tcPr>
                    <a:solidFill>
                      <a:srgbClr val="FFFFFF"/>
                    </a:solidFill>
                  </a:tcPr>
                </a:tc>
                <a:tc>
                  <a:txBody>
                    <a:bodyPr/>
                    <a:lstStyle/>
                    <a:p>
                      <a:r>
                        <a:rPr sz="1100"/>
                        <a:t>Commercial document that initiates the migration engagement</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300"/>
              </a:spcAft>
            </a:pPr>
            <a:r>
              <a:rPr sz="1300" b="1"/>
              <a:t>Partner Funding:</a:t>
            </a:r>
          </a:p>
          <a:p>
            <a:pPr>
              <a:spcAft>
                <a:spcPts val="300"/>
              </a:spcAft>
            </a:pPr>
            <a:r>
              <a:rPr sz="1300"/>
              <a:t>Qualified partner for Microsoft AMM, AWS MAP, and Google PSO</a:t>
            </a:r>
          </a:p>
          <a:p>
            <a:pPr>
              <a:spcAft>
                <a:spcPts val="300"/>
              </a:spcAft>
            </a:pPr>
            <a:r>
              <a:rPr sz="1300"/>
              <a:t>A correctly documented CRA can unlock £100K–£1M+ in partner funding</a:t>
            </a:r>
          </a:p>
          <a:p>
            <a:pPr>
              <a:spcAft>
                <a:spcPts val="300"/>
              </a:spcAft>
            </a:pPr>
            <a:r>
              <a:rPr sz="1300"/>
              <a:t>We identify funding eligibility as part of the assessment — at no extra cost</a:t>
            </a:r>
          </a:p>
          <a:p>
            <a:pPr>
              <a:spcAft>
                <a:spcPts val="300"/>
              </a:spcAft>
            </a:pPr>
            <a:r>
              <a:rPr sz="1300"/>
              <a:t/>
            </a:r>
          </a:p>
          <a:p>
            <a:pPr>
              <a:spcAft>
                <a:spcPts val="300"/>
              </a:spcAft>
            </a:pPr>
            <a:r>
              <a:rPr sz="1300"/>
              <a:t>"A Rackspace CRA pays for itself when partner funding is identified."</a:t>
            </a:r>
          </a:p>
        </p:txBody>
      </p:sp>
      <p:sp>
        <p:nvSpPr>
          <p:cNvPr id="3" name="Text Placeholder 2"/>
          <p:cNvSpPr>
            <a:spLocks noGrp="1"/>
          </p:cNvSpPr>
          <p:nvPr>
            <p:ph type="body" idx="12" sz="quarter"/>
          </p:nvPr>
        </p:nvSpPr>
        <p:spPr/>
        <p:txBody>
          <a:bodyPr wrap="square"/>
          <a:lstStyle/>
          <a:p>
            <a:pPr>
              <a:spcAft>
                <a:spcPts val="300"/>
              </a:spcAft>
            </a:pPr>
            <a:r>
              <a:rPr sz="1300" b="1"/>
              <a:t>Independence:</a:t>
            </a:r>
          </a:p>
          <a:p>
            <a:pPr>
              <a:spcAft>
                <a:spcPts val="300"/>
              </a:spcAft>
            </a:pPr>
            <a:r>
              <a:rPr sz="1300"/>
              <a:t>Rackspace has no hyperscaler revenue target</a:t>
            </a:r>
          </a:p>
          <a:p>
            <a:pPr>
              <a:spcAft>
                <a:spcPts val="300"/>
              </a:spcAft>
            </a:pPr>
            <a:r>
              <a:rPr sz="1300"/>
              <a:t>Our recommendation is based entirely on your data</a:t>
            </a:r>
          </a:p>
          <a:p>
            <a:pPr>
              <a:spcAft>
                <a:spcPts val="300"/>
              </a:spcAft>
            </a:pPr>
            <a:r>
              <a:rPr sz="1300"/>
              <a:t>We have delivered assessments recommending all three hyperscalers</a:t>
            </a:r>
          </a:p>
          <a:p>
            <a:pPr>
              <a:spcAft>
                <a:spcPts val="300"/>
              </a:spcAft>
            </a:pPr>
            <a:r>
              <a:rPr sz="1300"/>
              <a:t>If AWS is the right answer, we recommend AWS</a:t>
            </a:r>
          </a:p>
        </p:txBody>
      </p:sp>
      <p:sp>
        <p:nvSpPr>
          <p:cNvPr id="4" name="Text Placeholder 3"/>
          <p:cNvSpPr>
            <a:spLocks noGrp="1"/>
          </p:cNvSpPr>
          <p:nvPr>
            <p:ph type="body" idx="13" sz="quarter"/>
          </p:nvPr>
        </p:nvSpPr>
        <p:spPr/>
        <p:txBody>
          <a:bodyPr/>
          <a:lstStyle/>
          <a:p/>
        </p:txBody>
      </p:sp>
      <p:sp>
        <p:nvSpPr>
          <p:cNvPr id="5" name="Title 4"/>
          <p:cNvSpPr>
            <a:spLocks noGrp="1"/>
          </p:cNvSpPr>
          <p:nvPr>
            <p:ph type="title"/>
          </p:nvPr>
        </p:nvSpPr>
        <p:spPr/>
        <p:txBody>
          <a:bodyPr wrap="square"/>
          <a:lstStyle/>
          <a:p>
            <a:r>
              <a:rPr sz="2400" b="1"/>
              <a:t>The difference is independence — and the ability to unlock partner funding</a:t>
            </a:r>
          </a:p>
        </p:txBody>
      </p:sp>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DISCOVERY (7 weeks): Deploy tooling · Collect VM, app, storage &amp; network data · Map app dependencies</a:t>
            </a:r>
          </a:p>
          <a:p>
            <a:pPr>
              <a:spcAft>
                <a:spcPts val="300"/>
              </a:spcAft>
            </a:pPr>
            <a:r>
              <a:rPr sz="1400"/>
              <a:t>PHASE 2: ANALYSIS (4 weeks, starts at Phase 1 Week 6): Score each app across 5 cloud readiness dimensions</a:t>
            </a:r>
          </a:p>
          <a:p>
            <a:pPr>
              <a:spcAft>
                <a:spcPts val="300"/>
              </a:spcAft>
            </a:pPr>
            <a:r>
              <a:rPr sz="1400"/>
              <a:t>PHASE 3: EVALUATION (3 weeks): Model TCO for all 3 clouds · Evaluate all 3 hyperscalers · Produce recommendation</a:t>
            </a:r>
          </a:p>
          <a:p>
            <a:pPr>
              <a:spcAft>
                <a:spcPts val="300"/>
              </a:spcAft>
            </a:pPr>
            <a:r>
              <a:rPr sz="1400"/>
              <a:t>  GATE 2: Alliance partner deal registration complete before Part 2 SOW</a:t>
            </a:r>
          </a:p>
          <a:p>
            <a:pPr>
              <a:spcAft>
                <a:spcPts val="300"/>
              </a:spcAft>
            </a:pPr>
            <a:r>
              <a:rPr sz="1400"/>
              <a:t>PHASE 4: PLANNING (6 weeks): Build migration waves · Define risk register · Finalise Part 2 Entry Point</a:t>
            </a:r>
          </a:p>
          <a:p>
            <a:pPr>
              <a:spcAft>
                <a:spcPts val="300"/>
              </a:spcAft>
            </a:pPr>
            <a:r>
              <a:rPr sz="1400"/>
              <a:t/>
            </a:r>
          </a:p>
          <a:p>
            <a:pPr>
              <a:spcAft>
                <a:spcPts val="300"/>
              </a:spcAft>
            </a:pPr>
            <a:r>
              <a:rPr sz="1400"/>
              <a:t>GATE 1 (hard): &gt;=14 days clean utilisation data required before Phase 3 can begin</a:t>
            </a:r>
          </a:p>
          <a:p>
            <a:pPr>
              <a:spcAft>
                <a:spcPts val="300"/>
              </a:spcAft>
            </a:pPr>
            <a:r>
              <a:rPr sz="1400"/>
              <a:t>Total: 16–20 weeks for mid-market estates (200–500 applications)</a:t>
            </a:r>
          </a:p>
        </p:txBody>
      </p:sp>
      <p:sp>
        <p:nvSpPr>
          <p:cNvPr id="3" name="Title 2"/>
          <p:cNvSpPr>
            <a:spLocks noGrp="1"/>
          </p:cNvSpPr>
          <p:nvPr>
            <p:ph type="title"/>
          </p:nvPr>
        </p:nvSpPr>
        <p:spPr/>
        <p:txBody>
          <a:bodyPr wrap="square"/>
          <a:lstStyle/>
          <a:p>
            <a:r>
              <a:rPr sz="2400" b="1"/>
              <a:t>Four phases. Structured gates. No guesswork.</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3 — A 7-layer cost model you can present to your board</a:t>
            </a:r>
          </a:p>
        </p:txBody>
      </p:sp>
      <p:sp>
        <p:nvSpPr>
          <p:cNvPr id="4" name="Text Placeholder 3"/>
          <p:cNvSpPr>
            <a:spLocks noGrp="1"/>
          </p:cNvSpPr>
          <p:nvPr>
            <p:ph type="body" idx="13" sz="quarter"/>
          </p:nvPr>
        </p:nvSpPr>
        <p:spPr/>
        <p:txBody>
          <a:bodyPr wrap="square"/>
          <a:lstStyle/>
          <a:p>
            <a:r>
              <a:rPr sz="1300">
                <a:solidFill>
                  <a:srgbClr val="333333"/>
                </a:solidFill>
              </a:rPr>
              <a:t>Most cloud cost estimates only cover 2 of these 7 layers. Difference between layers (a) and (g) is typically 40–60% for a Microsoft-heavy estate with AMM funding.</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Layer</a:t>
                      </a:r>
                    </a:p>
                  </a:txBody>
                  <a:tcPr>
                    <a:solidFill>
                      <a:srgbClr val="E31C3D"/>
                    </a:solidFill>
                  </a:tcPr>
                </a:tc>
                <a:tc>
                  <a:txBody>
                    <a:bodyPr/>
                    <a:lstStyle/>
                    <a:p>
                      <a:r>
                        <a:rPr b="1" sz="1200">
                          <a:solidFill>
                            <a:srgbClr val="FFFFFF"/>
                          </a:solidFill>
                        </a:rPr>
                        <a:t>What It Models</a:t>
                      </a:r>
                    </a:p>
                  </a:txBody>
                  <a:tcPr>
                    <a:solidFill>
                      <a:srgbClr val="E31C3D"/>
                    </a:solidFill>
                  </a:tcPr>
                </a:tc>
                <a:tc>
                  <a:txBody>
                    <a:bodyPr/>
                    <a:lstStyle/>
                    <a:p>
                      <a:r>
                        <a:rPr b="1" sz="1200">
                          <a:solidFill>
                            <a:srgbClr val="FFFFFF"/>
                          </a:solidFill>
                        </a:rPr>
                        <a:t>Why It Matters</a:t>
                      </a:r>
                    </a:p>
                  </a:txBody>
                  <a:tcPr>
                    <a:solidFill>
                      <a:srgbClr val="E31C3D"/>
                    </a:solidFill>
                  </a:tcPr>
                </a:tc>
              </a:tr>
              <a:tr h="436016">
                <a:tc>
                  <a:txBody>
                    <a:bodyPr/>
                    <a:lstStyle/>
                    <a:p>
                      <a:r>
                        <a:rPr sz="1100"/>
                        <a:t>(a) Like-for-Like Baseline</a:t>
                      </a:r>
                    </a:p>
                  </a:txBody>
                  <a:tcPr>
                    <a:solidFill>
                      <a:srgbClr val="F2F2F2"/>
                    </a:solidFill>
                  </a:tcPr>
                </a:tc>
                <a:tc>
                  <a:txBody>
                    <a:bodyPr/>
                    <a:lstStyle/>
                    <a:p>
                      <a:r>
                        <a:rPr sz="1100"/>
                        <a:t>Exact current specification, lifted to cloud</a:t>
                      </a:r>
                    </a:p>
                  </a:txBody>
                  <a:tcPr>
                    <a:solidFill>
                      <a:srgbClr val="F2F2F2"/>
                    </a:solidFill>
                  </a:tcPr>
                </a:tc>
                <a:tc>
                  <a:txBody>
                    <a:bodyPr/>
                    <a:lstStyle/>
                    <a:p>
                      <a:r>
                        <a:rPr sz="1100"/>
                        <a:t>Starting point — cost of doing nothing extra</a:t>
                      </a:r>
                    </a:p>
                  </a:txBody>
                  <a:tcPr>
                    <a:solidFill>
                      <a:srgbClr val="F2F2F2"/>
                    </a:solidFill>
                  </a:tcPr>
                </a:tc>
              </a:tr>
              <a:tr h="436016">
                <a:tc>
                  <a:txBody>
                    <a:bodyPr/>
                    <a:lstStyle/>
                    <a:p>
                      <a:r>
                        <a:rPr sz="1100"/>
                        <a:t>(b) Optimised / Right-Sized</a:t>
                      </a:r>
                    </a:p>
                  </a:txBody>
                  <a:tcPr>
                    <a:solidFill>
                      <a:srgbClr val="FFFFFF"/>
                    </a:solidFill>
                  </a:tcPr>
                </a:tc>
                <a:tc>
                  <a:txBody>
                    <a:bodyPr/>
                    <a:lstStyle/>
                    <a:p>
                      <a:r>
                        <a:rPr sz="1100"/>
                        <a:t>Cloud-right-sized instances (P95 utilisation data)</a:t>
                      </a:r>
                    </a:p>
                  </a:txBody>
                  <a:tcPr>
                    <a:solidFill>
                      <a:srgbClr val="FFFFFF"/>
                    </a:solidFill>
                  </a:tcPr>
                </a:tc>
                <a:tc>
                  <a:txBody>
                    <a:bodyPr/>
                    <a:lstStyle/>
                    <a:p>
                      <a:r>
                        <a:rPr sz="1100"/>
                        <a:t>Typically 20–35% lower than like-for-like</a:t>
                      </a:r>
                    </a:p>
                  </a:txBody>
                  <a:tcPr>
                    <a:solidFill>
                      <a:srgbClr val="FFFFFF"/>
                    </a:solidFill>
                  </a:tcPr>
                </a:tc>
              </a:tr>
              <a:tr h="436016">
                <a:tc>
                  <a:txBody>
                    <a:bodyPr/>
                    <a:lstStyle/>
                    <a:p>
                      <a:r>
                        <a:rPr sz="1100"/>
                        <a:t>(c) Delta (b minus a)</a:t>
                      </a:r>
                    </a:p>
                  </a:txBody>
                  <a:tcPr>
                    <a:solidFill>
                      <a:srgbClr val="F2F2F2"/>
                    </a:solidFill>
                  </a:tcPr>
                </a:tc>
                <a:tc>
                  <a:txBody>
                    <a:bodyPr/>
                    <a:lstStyle/>
                    <a:p>
                      <a:r>
                        <a:rPr sz="1100"/>
                        <a:t>Financial benefit of right-sizing alone</a:t>
                      </a:r>
                    </a:p>
                  </a:txBody>
                  <a:tcPr>
                    <a:solidFill>
                      <a:srgbClr val="F2F2F2"/>
                    </a:solidFill>
                  </a:tcPr>
                </a:tc>
                <a:tc>
                  <a:txBody>
                    <a:bodyPr/>
                    <a:lstStyle/>
                    <a:p>
                      <a:r>
                        <a:rPr sz="1100"/>
                        <a:t>Headline 'cloud saving' number</a:t>
                      </a:r>
                    </a:p>
                  </a:txBody>
                  <a:tcPr>
                    <a:solidFill>
                      <a:srgbClr val="F2F2F2"/>
                    </a:solidFill>
                  </a:tcPr>
                </a:tc>
              </a:tr>
              <a:tr h="436016">
                <a:tc>
                  <a:txBody>
                    <a:bodyPr/>
                    <a:lstStyle/>
                    <a:p>
                      <a:r>
                        <a:rPr sz="1100"/>
                        <a:t>(d) Licensing Overlay</a:t>
                      </a:r>
                    </a:p>
                  </a:txBody>
                  <a:tcPr>
                    <a:solidFill>
                      <a:srgbClr val="FFFFFF"/>
                    </a:solidFill>
                  </a:tcPr>
                </a:tc>
                <a:tc>
                  <a:txBody>
                    <a:bodyPr/>
                    <a:lstStyle/>
                    <a:p>
                      <a:r>
                        <a:rPr sz="1100"/>
                        <a:t>SQL Server AHB, Oracle BYOL, Windows AHB</a:t>
                      </a:r>
                    </a:p>
                  </a:txBody>
                  <a:tcPr>
                    <a:solidFill>
                      <a:srgbClr val="FFFFFF"/>
                    </a:solidFill>
                  </a:tcPr>
                </a:tc>
                <a:tc>
                  <a:txBody>
                    <a:bodyPr/>
                    <a:lstStyle/>
                    <a:p>
                      <a:r>
                        <a:rPr sz="1100"/>
                        <a:t>Often the single largest cost item in Microsoft-heavy estates</a:t>
                      </a:r>
                    </a:p>
                  </a:txBody>
                  <a:tcPr>
                    <a:solidFill>
                      <a:srgbClr val="FFFFFF"/>
                    </a:solidFill>
                  </a:tcPr>
                </a:tc>
              </a:tr>
              <a:tr h="436016">
                <a:tc>
                  <a:txBody>
                    <a:bodyPr/>
                    <a:lstStyle/>
                    <a:p>
                      <a:r>
                        <a:rPr sz="1100"/>
                        <a:t>(e) On-Premises Status Quo</a:t>
                      </a:r>
                    </a:p>
                  </a:txBody>
                  <a:tcPr>
                    <a:solidFill>
                      <a:srgbClr val="F2F2F2"/>
                    </a:solidFill>
                  </a:tcPr>
                </a:tc>
                <a:tc>
                  <a:txBody>
                    <a:bodyPr/>
                    <a:lstStyle/>
                    <a:p>
                      <a:r>
                        <a:rPr sz="1100"/>
                        <a:t>Current hardware + maintenance + facilities (3yr)</a:t>
                      </a:r>
                    </a:p>
                  </a:txBody>
                  <a:tcPr>
                    <a:solidFill>
                      <a:srgbClr val="F2F2F2"/>
                    </a:solidFill>
                  </a:tcPr>
                </a:tc>
                <a:tc>
                  <a:txBody>
                    <a:bodyPr/>
                    <a:lstStyle/>
                    <a:p>
                      <a:r>
                        <a:rPr sz="1100"/>
                        <a:t>Establishes true cost of staying on-premises</a:t>
                      </a:r>
                    </a:p>
                  </a:txBody>
                  <a:tcPr>
                    <a:solidFill>
                      <a:srgbClr val="F2F2F2"/>
                    </a:solidFill>
                  </a:tcPr>
                </a:tc>
              </a:tr>
              <a:tr h="436016">
                <a:tc>
                  <a:txBody>
                    <a:bodyPr/>
                    <a:lstStyle/>
                    <a:p>
                      <a:r>
                        <a:rPr sz="1100"/>
                        <a:t>(f) Year 1 Dual-Running</a:t>
                      </a:r>
                    </a:p>
                  </a:txBody>
                  <a:tcPr>
                    <a:solidFill>
                      <a:srgbClr val="FFFFFF"/>
                    </a:solidFill>
                  </a:tcPr>
                </a:tc>
                <a:tc>
                  <a:txBody>
                    <a:bodyPr/>
                    <a:lstStyle/>
                    <a:p>
                      <a:r>
                        <a:rPr sz="1100"/>
                        <a:t>Cloud costs + remaining on-prem during overlap</a:t>
                      </a:r>
                    </a:p>
                  </a:txBody>
                  <a:tcPr>
                    <a:solidFill>
                      <a:srgbClr val="FFFFFF"/>
                    </a:solidFill>
                  </a:tcPr>
                </a:tc>
                <a:tc>
                  <a:txBody>
                    <a:bodyPr/>
                    <a:lstStyle/>
                    <a:p>
                      <a:r>
                        <a:rPr sz="1100"/>
                        <a:t>Prevents 'it cost more in Year 1 than expected' problem</a:t>
                      </a:r>
                    </a:p>
                  </a:txBody>
                  <a:tcPr>
                    <a:solidFill>
                      <a:srgbClr val="FFFFFF"/>
                    </a:solidFill>
                  </a:tcPr>
                </a:tc>
              </a:tr>
              <a:tr h="436022">
                <a:tc>
                  <a:txBody>
                    <a:bodyPr/>
                    <a:lstStyle/>
                    <a:p>
                      <a:r>
                        <a:rPr sz="1100"/>
                        <a:t>(g) Partner Discounts &amp; Credits</a:t>
                      </a:r>
                    </a:p>
                  </a:txBody>
                  <a:tcPr>
                    <a:solidFill>
                      <a:srgbClr val="F2F2F2"/>
                    </a:solidFill>
                  </a:tcPr>
                </a:tc>
                <a:tc>
                  <a:txBody>
                    <a:bodyPr/>
                    <a:lstStyle/>
                    <a:p>
                      <a:r>
                        <a:rPr sz="1100"/>
                        <a:t>AMM / MAP / PSO funding applied</a:t>
                      </a:r>
                    </a:p>
                  </a:txBody>
                  <a:tcPr>
                    <a:solidFill>
                      <a:srgbClr val="F2F2F2"/>
                    </a:solidFill>
                  </a:tcPr>
                </a:tc>
                <a:tc>
                  <a:txBody>
                    <a:bodyPr/>
                    <a:lstStyle/>
                    <a:p>
                      <a:r>
                        <a:rPr sz="1100"/>
                        <a:t>Net cost after partner funding — the board-level headline</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recommendation follows the evidence. We do not start with a preferred cloud and build a case for it."</a:t>
            </a:r>
          </a:p>
          <a:p>
            <a:pPr>
              <a:spcAft>
                <a:spcPts val="300"/>
              </a:spcAft>
            </a:pPr>
            <a:r>
              <a:rPr sz="1400"/>
              <a:t/>
            </a:r>
          </a:p>
          <a:p>
            <a:pPr>
              <a:spcAft>
                <a:spcPts val="300"/>
              </a:spcAft>
            </a:pPr>
            <a:r>
              <a:rPr sz="1400"/>
              <a:t>Evaluation criteria — agreed with you BEFORE scoring begins:</a:t>
            </a:r>
          </a:p>
          <a:p>
            <a:pPr>
              <a:spcAft>
                <a:spcPts val="300"/>
              </a:spcAft>
            </a:pPr>
            <a:r>
              <a:rPr sz="1400"/>
              <a:t>  Technical compatibility with your estate</a:t>
            </a:r>
          </a:p>
          <a:p>
            <a:pPr>
              <a:spcAft>
                <a:spcPts val="300"/>
              </a:spcAft>
            </a:pPr>
            <a:r>
              <a:rPr sz="1400"/>
              <a:t>  3-year Total Cost of Ownership</a:t>
            </a:r>
          </a:p>
          <a:p>
            <a:pPr>
              <a:spcAft>
                <a:spcPts val="300"/>
              </a:spcAft>
            </a:pPr>
            <a:r>
              <a:rPr sz="1400"/>
              <a:t>  Regulatory and compliance fit</a:t>
            </a:r>
          </a:p>
          <a:p>
            <a:pPr>
              <a:spcAft>
                <a:spcPts val="300"/>
              </a:spcAft>
            </a:pPr>
            <a:r>
              <a:rPr sz="1400"/>
              <a:t>  Azure Hybrid Benefit / licensing optimisation</a:t>
            </a:r>
          </a:p>
          <a:p>
            <a:pPr>
              <a:spcAft>
                <a:spcPts val="300"/>
              </a:spcAft>
            </a:pPr>
            <a:r>
              <a:rPr sz="1400"/>
              <a:t>  Migration complexity and tooling</a:t>
            </a:r>
          </a:p>
          <a:p>
            <a:pPr>
              <a:spcAft>
                <a:spcPts val="300"/>
              </a:spcAft>
            </a:pPr>
            <a:r>
              <a:rPr sz="1400"/>
              <a:t>  Hyperscaler roadmap and services</a:t>
            </a:r>
          </a:p>
          <a:p>
            <a:pPr>
              <a:spcAft>
                <a:spcPts val="300"/>
              </a:spcAft>
            </a:pPr>
            <a:r>
              <a:rPr sz="1400"/>
              <a:t/>
            </a:r>
          </a:p>
          <a:p>
            <a:pPr>
              <a:spcAft>
                <a:spcPts val="300"/>
              </a:spcAft>
            </a:pPr>
            <a:r>
              <a:rPr sz="1400"/>
              <a:t>All three hyperscalers are scored — we never eliminate options before the evidence is presented.</a:t>
            </a:r>
          </a:p>
          <a:p>
            <a:pPr>
              <a:spcAft>
                <a:spcPts val="300"/>
              </a:spcAft>
            </a:pPr>
            <a:r>
              <a:rPr sz="1400"/>
              <a:t>The recommendation slide comes AFTER the evidence slides — never before.</a:t>
            </a:r>
          </a:p>
        </p:txBody>
      </p:sp>
      <p:sp>
        <p:nvSpPr>
          <p:cNvPr id="3" name="Title 2"/>
          <p:cNvSpPr>
            <a:spLocks noGrp="1"/>
          </p:cNvSpPr>
          <p:nvPr>
            <p:ph type="title"/>
          </p:nvPr>
        </p:nvSpPr>
        <p:spPr/>
        <p:txBody>
          <a:bodyPr wrap="square"/>
          <a:lstStyle/>
          <a:p>
            <a:r>
              <a:rPr sz="2400" b="1"/>
              <a:t>Phase 3 — How we choose the right cloud for your estate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Eight formal deliverables — all board-grade</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387570">
                <a:tc>
                  <a:txBody>
                    <a:bodyPr/>
                    <a:lstStyle/>
                    <a:p>
                      <a:r>
                        <a:rPr b="1" sz="1200">
                          <a:solidFill>
                            <a:srgbClr val="FFFFFF"/>
                          </a:solidFill>
                        </a:rPr>
                        <a:t>#</a:t>
                      </a:r>
                    </a:p>
                  </a:txBody>
                  <a:tcPr>
                    <a:solidFill>
                      <a:srgbClr val="E31C3D"/>
                    </a:solidFill>
                  </a:tcPr>
                </a:tc>
                <a:tc>
                  <a:txBody>
                    <a:bodyPr/>
                    <a:lstStyle/>
                    <a:p>
                      <a:r>
                        <a:rPr b="1" sz="1200">
                          <a:solidFill>
                            <a:srgbClr val="FFFFFF"/>
                          </a:solidFill>
                        </a:rPr>
                        <a:t>Deliverable</a:t>
                      </a:r>
                    </a:p>
                  </a:txBody>
                  <a:tcPr>
                    <a:solidFill>
                      <a:srgbClr val="E31C3D"/>
                    </a:solidFill>
                  </a:tcPr>
                </a:tc>
                <a:tc>
                  <a:txBody>
                    <a:bodyPr/>
                    <a:lstStyle/>
                    <a:p>
                      <a:r>
                        <a:rPr b="1" sz="1200">
                          <a:solidFill>
                            <a:srgbClr val="FFFFFF"/>
                          </a:solidFill>
                        </a:rPr>
                        <a:t>Format</a:t>
                      </a:r>
                    </a:p>
                  </a:txBody>
                  <a:tcPr>
                    <a:solidFill>
                      <a:srgbClr val="E31C3D"/>
                    </a:solidFill>
                  </a:tcPr>
                </a:tc>
                <a:tc>
                  <a:txBody>
                    <a:bodyPr/>
                    <a:lstStyle/>
                    <a:p>
                      <a:r>
                        <a:rPr b="1" sz="1200">
                          <a:solidFill>
                            <a:srgbClr val="FFFFFF"/>
                          </a:solidFill>
                        </a:rPr>
                        <a:t>Phase</a:t>
                      </a:r>
                    </a:p>
                  </a:txBody>
                  <a:tcPr>
                    <a:solidFill>
                      <a:srgbClr val="E31C3D"/>
                    </a:solidFill>
                  </a:tcPr>
                </a:tc>
              </a:tr>
              <a:tr h="387570">
                <a:tc>
                  <a:txBody>
                    <a:bodyPr/>
                    <a:lstStyle/>
                    <a:p>
                      <a:r>
                        <a:rPr sz="1100"/>
                        <a:t>1</a:t>
                      </a:r>
                    </a:p>
                  </a:txBody>
                  <a:tcPr>
                    <a:solidFill>
                      <a:srgbClr val="F2F2F2"/>
                    </a:solidFill>
                  </a:tcPr>
                </a:tc>
                <a:tc>
                  <a:txBody>
                    <a:bodyPr/>
                    <a:lstStyle/>
                    <a:p>
                      <a:r>
                        <a:rPr sz="1100"/>
                        <a:t>Application &amp; Infrastructure Inventory</a:t>
                      </a:r>
                    </a:p>
                  </a:txBody>
                  <a:tcPr>
                    <a:solidFill>
                      <a:srgbClr val="F2F2F2"/>
                    </a:solidFill>
                  </a:tcPr>
                </a:tc>
                <a:tc>
                  <a:txBody>
                    <a:bodyPr/>
                    <a:lstStyle/>
                    <a:p>
                      <a:r>
                        <a:rPr sz="1100"/>
                        <a:t>Excel workbooks (3 files)</a:t>
                      </a:r>
                    </a:p>
                  </a:txBody>
                  <a:tcPr>
                    <a:solidFill>
                      <a:srgbClr val="F2F2F2"/>
                    </a:solidFill>
                  </a:tcPr>
                </a:tc>
                <a:tc>
                  <a:txBody>
                    <a:bodyPr/>
                    <a:lstStyle/>
                    <a:p>
                      <a:r>
                        <a:rPr sz="1100"/>
                        <a:t>Phase 1</a:t>
                      </a:r>
                    </a:p>
                  </a:txBody>
                  <a:tcPr>
                    <a:solidFill>
                      <a:srgbClr val="F2F2F2"/>
                    </a:solidFill>
                  </a:tcPr>
                </a:tc>
              </a:tr>
              <a:tr h="387570">
                <a:tc>
                  <a:txBody>
                    <a:bodyPr/>
                    <a:lstStyle/>
                    <a:p>
                      <a:r>
                        <a:rPr sz="1100"/>
                        <a:t>2</a:t>
                      </a:r>
                    </a:p>
                  </a:txBody>
                  <a:tcPr>
                    <a:solidFill>
                      <a:srgbClr val="FFFFFF"/>
                    </a:solidFill>
                  </a:tcPr>
                </a:tc>
                <a:tc>
                  <a:txBody>
                    <a:bodyPr/>
                    <a:lstStyle/>
                    <a:p>
                      <a:r>
                        <a:rPr sz="1100"/>
                        <a:t>Phase 1 Discovery Report</a:t>
                      </a:r>
                    </a:p>
                  </a:txBody>
                  <a:tcPr>
                    <a:solidFill>
                      <a:srgbClr val="FFFFFF"/>
                    </a:solidFill>
                  </a:tcPr>
                </a:tc>
                <a:tc>
                  <a:txBody>
                    <a:bodyPr/>
                    <a:lstStyle/>
                    <a:p>
                      <a:r>
                        <a:rPr sz="1100"/>
                        <a:t>Word document, 20–30 pages</a:t>
                      </a:r>
                    </a:p>
                  </a:txBody>
                  <a:tcPr>
                    <a:solidFill>
                      <a:srgbClr val="FFFFFF"/>
                    </a:solidFill>
                  </a:tcPr>
                </a:tc>
                <a:tc>
                  <a:txBody>
                    <a:bodyPr/>
                    <a:lstStyle/>
                    <a:p>
                      <a:r>
                        <a:rPr sz="1100"/>
                        <a:t>Phase 1</a:t>
                      </a:r>
                    </a:p>
                  </a:txBody>
                  <a:tcPr>
                    <a:solidFill>
                      <a:srgbClr val="FFFFFF"/>
                    </a:solidFill>
                  </a:tcPr>
                </a:tc>
              </a:tr>
              <a:tr h="387570">
                <a:tc>
                  <a:txBody>
                    <a:bodyPr/>
                    <a:lstStyle/>
                    <a:p>
                      <a:r>
                        <a:rPr sz="1100"/>
                        <a:t>3</a:t>
                      </a:r>
                    </a:p>
                  </a:txBody>
                  <a:tcPr>
                    <a:solidFill>
                      <a:srgbClr val="F2F2F2"/>
                    </a:solidFill>
                  </a:tcPr>
                </a:tc>
                <a:tc>
                  <a:txBody>
                    <a:bodyPr/>
                    <a:lstStyle/>
                    <a:p>
                      <a:r>
                        <a:rPr sz="1100"/>
                        <a:t>Cloud Readiness Scores</a:t>
                      </a:r>
                    </a:p>
                  </a:txBody>
                  <a:tcPr>
                    <a:solidFill>
                      <a:srgbClr val="F2F2F2"/>
                    </a:solidFill>
                  </a:tcPr>
                </a:tc>
                <a:tc>
                  <a:txBody>
                    <a:bodyPr/>
                    <a:lstStyle/>
                    <a:p>
                      <a:r>
                        <a:rPr sz="1100"/>
                        <a:t>Excel workbook</a:t>
                      </a:r>
                    </a:p>
                  </a:txBody>
                  <a:tcPr>
                    <a:solidFill>
                      <a:srgbClr val="F2F2F2"/>
                    </a:solidFill>
                  </a:tcPr>
                </a:tc>
                <a:tc>
                  <a:txBody>
                    <a:bodyPr/>
                    <a:lstStyle/>
                    <a:p>
                      <a:r>
                        <a:rPr sz="1100"/>
                        <a:t>Phase 2</a:t>
                      </a:r>
                    </a:p>
                  </a:txBody>
                  <a:tcPr>
                    <a:solidFill>
                      <a:srgbClr val="F2F2F2"/>
                    </a:solidFill>
                  </a:tcPr>
                </a:tc>
              </a:tr>
              <a:tr h="387570">
                <a:tc>
                  <a:txBody>
                    <a:bodyPr/>
                    <a:lstStyle/>
                    <a:p>
                      <a:r>
                        <a:rPr sz="1100"/>
                        <a:t>4</a:t>
                      </a:r>
                    </a:p>
                  </a:txBody>
                  <a:tcPr>
                    <a:solidFill>
                      <a:srgbClr val="FFFFFF"/>
                    </a:solidFill>
                  </a:tcPr>
                </a:tc>
                <a:tc>
                  <a:txBody>
                    <a:bodyPr/>
                    <a:lstStyle/>
                    <a:p>
                      <a:r>
                        <a:rPr sz="1100"/>
                        <a:t>Governance Maturity Assessment</a:t>
                      </a:r>
                    </a:p>
                  </a:txBody>
                  <a:tcPr>
                    <a:solidFill>
                      <a:srgbClr val="FFFFFF"/>
                    </a:solidFill>
                  </a:tcPr>
                </a:tc>
                <a:tc>
                  <a:txBody>
                    <a:bodyPr/>
                    <a:lstStyle/>
                    <a:p>
                      <a:r>
                        <a:rPr sz="1100"/>
                        <a:t>Excel + workshop summary</a:t>
                      </a:r>
                    </a:p>
                  </a:txBody>
                  <a:tcPr>
                    <a:solidFill>
                      <a:srgbClr val="FFFFFF"/>
                    </a:solidFill>
                  </a:tcPr>
                </a:tc>
                <a:tc>
                  <a:txBody>
                    <a:bodyPr/>
                    <a:lstStyle/>
                    <a:p>
                      <a:r>
                        <a:rPr sz="1100"/>
                        <a:t>Phase 2</a:t>
                      </a:r>
                    </a:p>
                  </a:txBody>
                  <a:tcPr>
                    <a:solidFill>
                      <a:srgbClr val="FFFFFF"/>
                    </a:solidFill>
                  </a:tcPr>
                </a:tc>
              </a:tr>
              <a:tr h="387570">
                <a:tc>
                  <a:txBody>
                    <a:bodyPr/>
                    <a:lstStyle/>
                    <a:p>
                      <a:r>
                        <a:rPr sz="1100"/>
                        <a:t>5</a:t>
                      </a:r>
                    </a:p>
                  </a:txBody>
                  <a:tcPr>
                    <a:solidFill>
                      <a:srgbClr val="F2F2F2"/>
                    </a:solidFill>
                  </a:tcPr>
                </a:tc>
                <a:tc>
                  <a:txBody>
                    <a:bodyPr/>
                    <a:lstStyle/>
                    <a:p>
                      <a:r>
                        <a:rPr sz="1100"/>
                        <a:t>TCO Analysis — All 7 Layers</a:t>
                      </a:r>
                    </a:p>
                  </a:txBody>
                  <a:tcPr>
                    <a:solidFill>
                      <a:srgbClr val="F2F2F2"/>
                    </a:solidFill>
                  </a:tcPr>
                </a:tc>
                <a:tc>
                  <a:txBody>
                    <a:bodyPr/>
                    <a:lstStyle/>
                    <a:p>
                      <a:r>
                        <a:rPr sz="1100"/>
                        <a:t>Excel workbook (per hyperscaler)</a:t>
                      </a:r>
                    </a:p>
                  </a:txBody>
                  <a:tcPr>
                    <a:solidFill>
                      <a:srgbClr val="F2F2F2"/>
                    </a:solidFill>
                  </a:tcPr>
                </a:tc>
                <a:tc>
                  <a:txBody>
                    <a:bodyPr/>
                    <a:lstStyle/>
                    <a:p>
                      <a:r>
                        <a:rPr sz="1100"/>
                        <a:t>Phase 3</a:t>
                      </a:r>
                    </a:p>
                  </a:txBody>
                  <a:tcPr>
                    <a:solidFill>
                      <a:srgbClr val="F2F2F2"/>
                    </a:solidFill>
                  </a:tcPr>
                </a:tc>
              </a:tr>
              <a:tr h="387570">
                <a:tc>
                  <a:txBody>
                    <a:bodyPr/>
                    <a:lstStyle/>
                    <a:p>
                      <a:r>
                        <a:rPr sz="1100"/>
                        <a:t>6</a:t>
                      </a:r>
                    </a:p>
                  </a:txBody>
                  <a:tcPr>
                    <a:solidFill>
                      <a:srgbClr val="FFFFFF"/>
                    </a:solidFill>
                  </a:tcPr>
                </a:tc>
                <a:tc>
                  <a:txBody>
                    <a:bodyPr/>
                    <a:lstStyle/>
                    <a:p>
                      <a:r>
                        <a:rPr sz="1100"/>
                        <a:t>Cloud Readiness Assessment Report</a:t>
                      </a:r>
                    </a:p>
                  </a:txBody>
                  <a:tcPr>
                    <a:solidFill>
                      <a:srgbClr val="FFFFFF"/>
                    </a:solidFill>
                  </a:tcPr>
                </a:tc>
                <a:tc>
                  <a:txBody>
                    <a:bodyPr/>
                    <a:lstStyle/>
                    <a:p>
                      <a:r>
                        <a:rPr sz="1100"/>
                        <a:t>Word document, 40–60 pages</a:t>
                      </a:r>
                    </a:p>
                  </a:txBody>
                  <a:tcPr>
                    <a:solidFill>
                      <a:srgbClr val="FFFFFF"/>
                    </a:solidFill>
                  </a:tcPr>
                </a:tc>
                <a:tc>
                  <a:txBody>
                    <a:bodyPr/>
                    <a:lstStyle/>
                    <a:p>
                      <a:r>
                        <a:rPr sz="1100"/>
                        <a:t>Phase 3</a:t>
                      </a:r>
                    </a:p>
                  </a:txBody>
                  <a:tcPr>
                    <a:solidFill>
                      <a:srgbClr val="FFFFFF"/>
                    </a:solidFill>
                  </a:tcPr>
                </a:tc>
              </a:tr>
              <a:tr h="387570">
                <a:tc>
                  <a:txBody>
                    <a:bodyPr/>
                    <a:lstStyle/>
                    <a:p>
                      <a:r>
                        <a:rPr sz="1100"/>
                        <a:t>7</a:t>
                      </a:r>
                    </a:p>
                  </a:txBody>
                  <a:tcPr>
                    <a:solidFill>
                      <a:srgbClr val="F2F2F2"/>
                    </a:solidFill>
                  </a:tcPr>
                </a:tc>
                <a:tc>
                  <a:txBody>
                    <a:bodyPr/>
                    <a:lstStyle/>
                    <a:p>
                      <a:r>
                        <a:rPr sz="1100"/>
                        <a:t>Executive Summary Presentation</a:t>
                      </a:r>
                    </a:p>
                  </a:txBody>
                  <a:tcPr>
                    <a:solidFill>
                      <a:srgbClr val="F2F2F2"/>
                    </a:solidFill>
                  </a:tcPr>
                </a:tc>
                <a:tc>
                  <a:txBody>
                    <a:bodyPr/>
                    <a:lstStyle/>
                    <a:p>
                      <a:r>
                        <a:rPr sz="1100"/>
                        <a:t>PowerPoint deck, 18 slides</a:t>
                      </a:r>
                    </a:p>
                  </a:txBody>
                  <a:tcPr>
                    <a:solidFill>
                      <a:srgbClr val="F2F2F2"/>
                    </a:solidFill>
                  </a:tcPr>
                </a:tc>
                <a:tc>
                  <a:txBody>
                    <a:bodyPr/>
                    <a:lstStyle/>
                    <a:p>
                      <a:r>
                        <a:rPr sz="1100"/>
                        <a:t>Phase 3</a:t>
                      </a:r>
                    </a:p>
                  </a:txBody>
                  <a:tcPr>
                    <a:solidFill>
                      <a:srgbClr val="F2F2F2"/>
                    </a:solidFill>
                  </a:tcPr>
                </a:tc>
              </a:tr>
              <a:tr h="387574">
                <a:tc>
                  <a:txBody>
                    <a:bodyPr/>
                    <a:lstStyle/>
                    <a:p>
                      <a:r>
                        <a:rPr sz="1100"/>
                        <a:t>8</a:t>
                      </a:r>
                    </a:p>
                  </a:txBody>
                  <a:tcPr>
                    <a:solidFill>
                      <a:srgbClr val="FFFFFF"/>
                    </a:solidFill>
                  </a:tcPr>
                </a:tc>
                <a:tc>
                  <a:txBody>
                    <a:bodyPr/>
                    <a:lstStyle/>
                    <a:p>
                      <a:r>
                        <a:rPr sz="1100"/>
                        <a:t>Part 2 Entry Point (migration SOW)</a:t>
                      </a:r>
                    </a:p>
                  </a:txBody>
                  <a:tcPr>
                    <a:solidFill>
                      <a:srgbClr val="FFFFFF"/>
                    </a:solidFill>
                  </a:tcPr>
                </a:tc>
                <a:tc>
                  <a:txBody>
                    <a:bodyPr/>
                    <a:lstStyle/>
                    <a:p>
                      <a:r>
                        <a:rPr sz="1100"/>
                        <a:t>Word document, 8–12 pages</a:t>
                      </a:r>
                    </a:p>
                  </a:txBody>
                  <a:tcPr>
                    <a:solidFill>
                      <a:srgbClr val="FFFFFF"/>
                    </a:solidFill>
                  </a:tcPr>
                </a:tc>
                <a:tc>
                  <a:txBody>
                    <a:bodyPr/>
                    <a:lstStyle/>
                    <a:p>
                      <a:r>
                        <a:rPr sz="1100"/>
                        <a:t>Phase 4</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A UK digital media group — one of the UK's largest digital publishing organisations</a:t>
            </a:r>
          </a:p>
          <a:p>
            <a:pPr>
              <a:spcAft>
                <a:spcPts val="300"/>
              </a:spcAft>
            </a:pPr>
            <a:r>
              <a:rPr sz="1400"/>
              <a:t>On-premises VMware estate, 2 UK data centres</a:t>
            </a:r>
          </a:p>
          <a:p>
            <a:pPr>
              <a:spcAft>
                <a:spcPts val="300"/>
              </a:spcAft>
            </a:pPr>
            <a:r>
              <a:rPr sz="1400"/>
              <a:t/>
            </a:r>
          </a:p>
          <a:p>
            <a:pPr>
              <a:spcAft>
                <a:spcPts val="300"/>
              </a:spcAft>
            </a:pPr>
            <a:r>
              <a:rPr sz="1400"/>
              <a:t>Discovery:   4,200+ VMs · 280 applications · 18 Oracle RAC clusters · 57% more infrastructure than CMDB showed</a:t>
            </a:r>
          </a:p>
          <a:p>
            <a:pPr>
              <a:spcAft>
                <a:spcPts val="300"/>
              </a:spcAft>
            </a:pPr>
            <a:r>
              <a:rPr sz="1400"/>
              <a:t>Analysis:    Cloud Readiness Scores for all 280 applications · Governance maturity across 6 domains</a:t>
            </a:r>
          </a:p>
          <a:p>
            <a:pPr>
              <a:spcAft>
                <a:spcPts val="300"/>
              </a:spcAft>
            </a:pPr>
            <a:r>
              <a:rPr sz="1400"/>
              <a:t>Evaluation:  3-way TCO model (Azure vs AWS vs GCP) across 9 regions · Hyperscaler recommendation</a:t>
            </a:r>
          </a:p>
          <a:p>
            <a:pPr>
              <a:spcAft>
                <a:spcPts val="300"/>
              </a:spcAft>
            </a:pPr>
            <a:r>
              <a:rPr sz="1400"/>
              <a:t>Planning:    Partner funding identified and pre-registered · Migration wave plan produced</a:t>
            </a:r>
          </a:p>
          <a:p>
            <a:pPr>
              <a:spcAft>
                <a:spcPts val="300"/>
              </a:spcAft>
            </a:pPr>
            <a:r>
              <a:rPr sz="1400"/>
              <a:t/>
            </a:r>
          </a:p>
          <a:p>
            <a:pPr>
              <a:spcAft>
                <a:spcPts val="300"/>
              </a:spcAft>
            </a:pPr>
            <a:r>
              <a:rPr sz="1400"/>
              <a:t>"A board-ready business case, an evidence-backed hyperscaler recommendation, a migration wave plan for 280 applications, and identification of seven-figure partner funding eligibility — all within a 16-week structured engagement."</a:t>
            </a:r>
          </a:p>
        </p:txBody>
      </p:sp>
      <p:sp>
        <p:nvSpPr>
          <p:cNvPr id="3" name="Title 2"/>
          <p:cNvSpPr>
            <a:spLocks noGrp="1"/>
          </p:cNvSpPr>
          <p:nvPr>
            <p:ph type="title"/>
          </p:nvPr>
        </p:nvSpPr>
        <p:spPr/>
        <p:txBody>
          <a:bodyPr wrap="square"/>
          <a:lstStyle/>
          <a:p>
            <a:r>
              <a:rPr sz="2400" b="1"/>
              <a:t>A reference engagement — four phases, every deliverable, a real outcome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You may be eligible for significant partner programme funding</a:t>
            </a:r>
          </a:p>
        </p:txBody>
      </p:sp>
      <p:sp>
        <p:nvSpPr>
          <p:cNvPr id="4" name="Text Placeholder 3"/>
          <p:cNvSpPr>
            <a:spLocks noGrp="1"/>
          </p:cNvSpPr>
          <p:nvPr>
            <p:ph type="body" idx="13" sz="quarter"/>
          </p:nvPr>
        </p:nvSpPr>
        <p:spPr/>
        <p:txBody>
          <a:bodyPr wrap="square"/>
          <a:lstStyle/>
          <a:p>
            <a:r>
              <a:rPr sz="1300">
                <a:solidFill>
                  <a:srgbClr val="333333"/>
                </a:solidFill>
              </a:rPr>
              <a:t>Partner programme eligibility confirmed by Rackspace before Part 2 SOW is signed. All applicable programmes pre-registered at Phase 1 kickoff.</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Programme</a:t>
                      </a:r>
                    </a:p>
                  </a:txBody>
                  <a:tcPr>
                    <a:solidFill>
                      <a:srgbClr val="E31C3D"/>
                    </a:solidFill>
                  </a:tcPr>
                </a:tc>
                <a:tc>
                  <a:txBody>
                    <a:bodyPr/>
                    <a:lstStyle/>
                    <a:p>
                      <a:r>
                        <a:rPr b="1" sz="1200">
                          <a:solidFill>
                            <a:srgbClr val="FFFFFF"/>
                          </a:solidFill>
                        </a:rPr>
                        <a:t>What It Covers</a:t>
                      </a:r>
                    </a:p>
                  </a:txBody>
                  <a:tcPr>
                    <a:solidFill>
                      <a:srgbClr val="E31C3D"/>
                    </a:solidFill>
                  </a:tcPr>
                </a:tc>
                <a:tc>
                  <a:txBody>
                    <a:bodyPr/>
                    <a:lstStyle/>
                    <a:p>
                      <a:r>
                        <a:rPr b="1" sz="1200">
                          <a:solidFill>
                            <a:srgbClr val="FFFFFF"/>
                          </a:solidFill>
                        </a:rPr>
                        <a:t>CRA Requirement</a:t>
                      </a:r>
                    </a:p>
                  </a:txBody>
                  <a:tcPr>
                    <a:solidFill>
                      <a:srgbClr val="E31C3D"/>
                    </a:solidFill>
                  </a:tcPr>
                </a:tc>
              </a:tr>
              <a:tr h="872033">
                <a:tc>
                  <a:txBody>
                    <a:bodyPr/>
                    <a:lstStyle/>
                    <a:p>
                      <a:r>
                        <a:rPr sz="1100"/>
                        <a:t>Microsoft Azure — AMM</a:t>
                      </a:r>
                    </a:p>
                  </a:txBody>
                  <a:tcPr>
                    <a:solidFill>
                      <a:srgbClr val="F2F2F2"/>
                    </a:solidFill>
                  </a:tcPr>
                </a:tc>
                <a:tc>
                  <a:txBody>
                    <a:bodyPr/>
                    <a:lstStyle/>
                    <a:p>
                      <a:r>
                        <a:rPr sz="1100"/>
                        <a:t>Typically 10–30% of migration services cost</a:t>
                      </a:r>
                    </a:p>
                  </a:txBody>
                  <a:tcPr>
                    <a:solidFill>
                      <a:srgbClr val="F2F2F2"/>
                    </a:solidFill>
                  </a:tcPr>
                </a:tc>
                <a:tc>
                  <a:txBody>
                    <a:bodyPr/>
                    <a:lstStyle/>
                    <a:p>
                      <a:r>
                        <a:rPr sz="1100"/>
                        <a:t>Pre-registration before migration begins — CRA produces all required documentation</a:t>
                      </a:r>
                    </a:p>
                  </a:txBody>
                  <a:tcPr>
                    <a:solidFill>
                      <a:srgbClr val="F2F2F2"/>
                    </a:solidFill>
                  </a:tcPr>
                </a:tc>
              </a:tr>
              <a:tr h="872033">
                <a:tc>
                  <a:txBody>
                    <a:bodyPr/>
                    <a:lstStyle/>
                    <a:p>
                      <a:r>
                        <a:rPr sz="1100"/>
                        <a:t>AWS — MAP</a:t>
                      </a:r>
                    </a:p>
                  </a:txBody>
                  <a:tcPr>
                    <a:solidFill>
                      <a:srgbClr val="FFFFFF"/>
                    </a:solidFill>
                  </a:tcPr>
                </a:tc>
                <a:tc>
                  <a:txBody>
                    <a:bodyPr/>
                    <a:lstStyle/>
                    <a:p>
                      <a:r>
                        <a:rPr sz="1100"/>
                        <a:t>Financial assistance and technical support for migration to AWS</a:t>
                      </a:r>
                    </a:p>
                  </a:txBody>
                  <a:tcPr>
                    <a:solidFill>
                      <a:srgbClr val="FFFFFF"/>
                    </a:solidFill>
                  </a:tcPr>
                </a:tc>
                <a:tc>
                  <a:txBody>
                    <a:bodyPr/>
                    <a:lstStyle/>
                    <a:p>
                      <a:r>
                        <a:rPr sz="1100"/>
                        <a:t>ACE deal registration at engagement start — CRA Assessment maps to MAP Assess</a:t>
                      </a:r>
                    </a:p>
                  </a:txBody>
                  <a:tcPr>
                    <a:solidFill>
                      <a:srgbClr val="FFFFFF"/>
                    </a:solidFill>
                  </a:tcPr>
                </a:tc>
              </a:tr>
              <a:tr h="872035">
                <a:tc>
                  <a:txBody>
                    <a:bodyPr/>
                    <a:lstStyle/>
                    <a:p>
                      <a:r>
                        <a:rPr sz="1100"/>
                        <a:t>Google Cloud — PSO Credits / RAMP</a:t>
                      </a:r>
                    </a:p>
                  </a:txBody>
                  <a:tcPr>
                    <a:solidFill>
                      <a:srgbClr val="F2F2F2"/>
                    </a:solidFill>
                  </a:tcPr>
                </a:tc>
                <a:tc>
                  <a:txBody>
                    <a:bodyPr/>
                    <a:lstStyle/>
                    <a:p>
                      <a:r>
                        <a:rPr sz="1100"/>
                        <a:t>Migration credits against GCP consumption</a:t>
                      </a:r>
                    </a:p>
                  </a:txBody>
                  <a:tcPr>
                    <a:solidFill>
                      <a:srgbClr val="F2F2F2"/>
                    </a:solidFill>
                  </a:tcPr>
                </a:tc>
                <a:tc>
                  <a:txBody>
                    <a:bodyPr/>
                    <a:lstStyle/>
                    <a:p>
                      <a:r>
                        <a:rPr sz="1100"/>
                        <a:t>CRA outputs qualify for RAMP — opportunity registration at Phase 1</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From this conversation to a signed Statement of Work</a:t>
            </a:r>
          </a:p>
        </p:txBody>
      </p:sp>
      <p:sp>
        <p:nvSpPr>
          <p:cNvPr id="4" name="Text Placeholder 3"/>
          <p:cNvSpPr>
            <a:spLocks noGrp="1"/>
          </p:cNvSpPr>
          <p:nvPr>
            <p:ph type="body" idx="13" sz="quarter"/>
          </p:nvPr>
        </p:nvSpPr>
        <p:spPr/>
        <p:txBody>
          <a:bodyPr wrap="square"/>
          <a:lstStyle/>
          <a:p>
            <a:r>
              <a:rPr sz="1300">
                <a:solidFill>
                  <a:srgbClr val="333333"/>
                </a:solidFill>
              </a:rPr>
              <a:t>Ready to begin? Contact [your name] at [email] to schedule the scoping workshop.</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Step</a:t>
                      </a:r>
                    </a:p>
                  </a:txBody>
                  <a:tcPr>
                    <a:solidFill>
                      <a:srgbClr val="E31C3D"/>
                    </a:solidFill>
                  </a:tcPr>
                </a:tc>
                <a:tc>
                  <a:txBody>
                    <a:bodyPr/>
                    <a:lstStyle/>
                    <a:p>
                      <a:r>
                        <a:rPr b="1" sz="1200">
                          <a:solidFill>
                            <a:srgbClr val="FFFFFF"/>
                          </a:solidFill>
                        </a:rPr>
                        <a:t>What Happens</a:t>
                      </a:r>
                    </a:p>
                  </a:txBody>
                  <a:tcPr>
                    <a:solidFill>
                      <a:srgbClr val="E31C3D"/>
                    </a:solidFill>
                  </a:tcPr>
                </a:tc>
                <a:tc>
                  <a:txBody>
                    <a:bodyPr/>
                    <a:lstStyle/>
                    <a:p>
                      <a:r>
                        <a:rPr b="1" sz="1200">
                          <a:solidFill>
                            <a:srgbClr val="FFFFFF"/>
                          </a:solidFill>
                        </a:rPr>
                        <a:t>Timeline</a:t>
                      </a:r>
                    </a:p>
                  </a:txBody>
                  <a:tcPr>
                    <a:solidFill>
                      <a:srgbClr val="E31C3D"/>
                    </a:solidFill>
                  </a:tcPr>
                </a:tc>
              </a:tr>
              <a:tr h="872033">
                <a:tc>
                  <a:txBody>
                    <a:bodyPr/>
                    <a:lstStyle/>
                    <a:p>
                      <a:r>
                        <a:rPr sz="1100"/>
                        <a:t>Scoping Workshop</a:t>
                      </a:r>
                    </a:p>
                  </a:txBody>
                  <a:tcPr>
                    <a:solidFill>
                      <a:srgbClr val="F2F2F2"/>
                    </a:solidFill>
                  </a:tcPr>
                </a:tc>
                <a:tc>
                  <a:txBody>
                    <a:bodyPr/>
                    <a:lstStyle/>
                    <a:p>
                      <a:r>
                        <a:rPr sz="1100"/>
                        <a:t>Validate estate size · Screen for Oracle/SAP · Confirm funding eligibility · Agree timeline</a:t>
                      </a:r>
                    </a:p>
                  </a:txBody>
                  <a:tcPr>
                    <a:solidFill>
                      <a:srgbClr val="F2F2F2"/>
                    </a:solidFill>
                  </a:tcPr>
                </a:tc>
                <a:tc>
                  <a:txBody>
                    <a:bodyPr/>
                    <a:lstStyle/>
                    <a:p>
                      <a:r>
                        <a:rPr sz="1100"/>
                        <a:t>1–2 days after this meeting</a:t>
                      </a:r>
                    </a:p>
                  </a:txBody>
                  <a:tcPr>
                    <a:solidFill>
                      <a:srgbClr val="F2F2F2"/>
                    </a:solidFill>
                  </a:tcPr>
                </a:tc>
              </a:tr>
              <a:tr h="872033">
                <a:tc>
                  <a:txBody>
                    <a:bodyPr/>
                    <a:lstStyle/>
                    <a:p>
                      <a:r>
                        <a:rPr sz="1100"/>
                        <a:t>Statement of Work</a:t>
                      </a:r>
                    </a:p>
                  </a:txBody>
                  <a:tcPr>
                    <a:solidFill>
                      <a:srgbClr val="FFFFFF"/>
                    </a:solidFill>
                  </a:tcPr>
                </a:tc>
                <a:tc>
                  <a:txBody>
                    <a:bodyPr/>
                    <a:lstStyle/>
                    <a:p>
                      <a:r>
                        <a:rPr sz="1100"/>
                        <a:t>Fixed-fee SOW: agreed scope · deliverables · acceptance criteria · partner funding plan</a:t>
                      </a:r>
                    </a:p>
                  </a:txBody>
                  <a:tcPr>
                    <a:solidFill>
                      <a:srgbClr val="FFFFFF"/>
                    </a:solidFill>
                  </a:tcPr>
                </a:tc>
                <a:tc>
                  <a:txBody>
                    <a:bodyPr/>
                    <a:lstStyle/>
                    <a:p>
                      <a:r>
                        <a:rPr sz="1100"/>
                        <a:t>Within 1 week of scoping</a:t>
                      </a:r>
                    </a:p>
                  </a:txBody>
                  <a:tcPr>
                    <a:solidFill>
                      <a:srgbClr val="FFFFFF"/>
                    </a:solidFill>
                  </a:tcPr>
                </a:tc>
              </a:tr>
              <a:tr h="872035">
                <a:tc>
                  <a:txBody>
                    <a:bodyPr/>
                    <a:lstStyle/>
                    <a:p>
                      <a:r>
                        <a:rPr sz="1100"/>
                        <a:t>Phase 1 Kickoff</a:t>
                      </a:r>
                    </a:p>
                  </a:txBody>
                  <a:tcPr>
                    <a:solidFill>
                      <a:srgbClr val="F2F2F2"/>
                    </a:solidFill>
                  </a:tcPr>
                </a:tc>
                <a:tc>
                  <a:txBody>
                    <a:bodyPr/>
                    <a:lstStyle/>
                    <a:p>
                      <a:r>
                        <a:rPr sz="1100"/>
                        <a:t>Tooling deployment · CAB request submitted · Alliance Manager pre-registers · First status call</a:t>
                      </a:r>
                    </a:p>
                  </a:txBody>
                  <a:tcPr>
                    <a:solidFill>
                      <a:srgbClr val="F2F2F2"/>
                    </a:solidFill>
                  </a:tcPr>
                </a:tc>
                <a:tc>
                  <a:txBody>
                    <a:bodyPr/>
                    <a:lstStyle/>
                    <a:p>
                      <a:r>
                        <a:rPr sz="1100"/>
                        <a:t>Within 2 weeks of SOW signature</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Schedule a scoping workshop with Rackspace Cloud Solutions Architecture</a:t>
            </a:r>
          </a:p>
          <a:p>
            <a:pPr>
              <a:spcAft>
                <a:spcPts val="300"/>
              </a:spcAft>
            </a:pPr>
            <a:r>
              <a:rPr sz="1400"/>
              <a:t/>
            </a:r>
          </a:p>
          <a:p>
            <a:pPr>
              <a:spcAft>
                <a:spcPts val="300"/>
              </a:spcAft>
            </a:pPr>
            <a:r>
              <a:rPr sz="1400"/>
              <a:t>Contact: [Your Name] — [email] — Rackspace Cloud Solutions Architecture</a:t>
            </a:r>
          </a:p>
        </p:txBody>
      </p:sp>
      <p:sp>
        <p:nvSpPr>
          <p:cNvPr id="3" name="Title 2"/>
          <p:cNvSpPr>
            <a:spLocks noGrp="1"/>
          </p:cNvSpPr>
          <p:nvPr>
            <p:ph type="title"/>
          </p:nvPr>
        </p:nvSpPr>
        <p:spPr/>
        <p:txBody>
          <a:bodyPr wrap="square"/>
          <a:lstStyle/>
          <a:p>
            <a:r>
              <a:rPr sz="2400" b="1"/>
              <a:t>Next steps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