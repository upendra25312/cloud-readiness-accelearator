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A practitioner-grade framework for delivering cloud readiness assessments at scale</a:t>
            </a:r>
          </a:p>
        </p:txBody>
      </p:sp>
      <p:sp>
        <p:nvSpPr>
          <p:cNvPr id="3" name="Text Placeholder 2"/>
          <p:cNvSpPr>
            <a:spLocks noGrp="1"/>
          </p:cNvSpPr>
          <p:nvPr>
            <p:ph type="body" idx="13" sz="quarter"/>
          </p:nvPr>
        </p:nvSpPr>
        <p:spPr/>
        <p:txBody>
          <a:bodyPr wrap="square"/>
          <a:lstStyle/>
          <a:p>
            <a:r>
              <a:rPr sz="1400">
                <a:solidFill>
                  <a:srgbClr val="FFCCCC"/>
                </a:solidFill>
              </a:rPr>
              <a:t>Cloud Solutions Architecture  |  Internal Leadership Briefing  |  2026</a:t>
            </a:r>
          </a:p>
        </p:txBody>
      </p:sp>
      <p:sp>
        <p:nvSpPr>
          <p:cNvPr id="4" name="Title 3"/>
          <p:cNvSpPr>
            <a:spLocks noGrp="1"/>
          </p:cNvSpPr>
          <p:nvPr>
            <p:ph type="title"/>
          </p:nvPr>
        </p:nvSpPr>
        <p:spPr/>
        <p:txBody>
          <a:bodyPr wrap="square"/>
          <a:lstStyle/>
          <a:p>
            <a:r>
              <a:rPr sz="3600" b="1">
                <a:solidFill>
                  <a:srgbClr val="FFFFFF"/>
                </a:solidFill>
              </a:rPr>
              <a:t>Cloud Readiness Accelerator</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Delivery teams spend 3–6 weeks scoping and building templates before an assessment even starts</a:t>
            </a:r>
          </a:p>
          <a:p>
            <a:pPr>
              <a:spcAft>
                <a:spcPts val="300"/>
              </a:spcAft>
            </a:pPr>
            <a:r>
              <a:rPr sz="1400"/>
              <a:t>Inconsistent outputs across engagements create QA risk and weaken partner trust</a:t>
            </a:r>
          </a:p>
          <a:p>
            <a:pPr>
              <a:spcAft>
                <a:spcPts val="300"/>
              </a:spcAft>
            </a:pPr>
            <a:r>
              <a:rPr sz="1400"/>
              <a:t>Customers get a free 15-minute Azure check from Microsoft — we must compete on depth, not speed</a:t>
            </a:r>
          </a:p>
          <a:p>
            <a:pPr>
              <a:spcAft>
                <a:spcPts val="300"/>
              </a:spcAft>
            </a:pPr>
            <a:r>
              <a:rPr sz="1400"/>
              <a:t/>
            </a:r>
          </a:p>
          <a:p>
            <a:pPr>
              <a:spcAft>
                <a:spcPts val="300"/>
              </a:spcAft>
            </a:pPr>
            <a:r>
              <a:rPr sz="1400"/>
              <a:t>"Without a standardised framework, we win deals on relationships and lose renewals on quality."</a:t>
            </a:r>
          </a:p>
        </p:txBody>
      </p:sp>
      <p:sp>
        <p:nvSpPr>
          <p:cNvPr id="3" name="Title 2"/>
          <p:cNvSpPr>
            <a:spLocks noGrp="1"/>
          </p:cNvSpPr>
          <p:nvPr>
            <p:ph type="title"/>
          </p:nvPr>
        </p:nvSpPr>
        <p:spPr/>
        <p:txBody>
          <a:bodyPr wrap="square"/>
          <a:lstStyle/>
          <a:p>
            <a:r>
              <a:rPr sz="2400" b="1"/>
              <a:t>Every CRA engagement starts from scratch — and it costs us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The window is open now</a:t>
            </a:r>
          </a:p>
        </p:txBody>
      </p:sp>
      <p:sp>
        <p:nvSpPr>
          <p:cNvPr id="4" name="Text Placeholder 3"/>
          <p:cNvSpPr>
            <a:spLocks noGrp="1"/>
          </p:cNvSpPr>
          <p:nvPr>
            <p:ph type="body" idx="13" sz="quarter"/>
          </p:nvPr>
        </p:nvSpPr>
        <p:spPr/>
        <p:txBody>
          <a:bodyPr wrap="square"/>
          <a:lstStyle/>
          <a:p>
            <a:r>
              <a:rPr sz="1300">
                <a:solidFill>
                  <a:srgbClr val="333333"/>
                </a:solidFill>
              </a:rPr>
              <a:t>$10M+ revenue influence potential in Year 1 — 15 engagements x $650K average deal size</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8580120"/>
                <a:gridCol w="8580120"/>
              </a:tblGrid>
              <a:tr h="581355">
                <a:tc>
                  <a:txBody>
                    <a:bodyPr/>
                    <a:lstStyle/>
                    <a:p>
                      <a:r>
                        <a:rPr b="1" sz="1200">
                          <a:solidFill>
                            <a:srgbClr val="FFFFFF"/>
                          </a:solidFill>
                        </a:rPr>
                        <a:t>Signal</a:t>
                      </a:r>
                    </a:p>
                  </a:txBody>
                  <a:tcPr>
                    <a:solidFill>
                      <a:srgbClr val="E31C3D"/>
                    </a:solidFill>
                  </a:tcPr>
                </a:tc>
                <a:tc>
                  <a:txBody>
                    <a:bodyPr/>
                    <a:lstStyle/>
                    <a:p>
                      <a:r>
                        <a:rPr b="1" sz="1200">
                          <a:solidFill>
                            <a:srgbClr val="FFFFFF"/>
                          </a:solidFill>
                        </a:rPr>
                        <a:t>What It Means for Rackspace</a:t>
                      </a:r>
                    </a:p>
                  </a:txBody>
                  <a:tcPr>
                    <a:solidFill>
                      <a:srgbClr val="E31C3D"/>
                    </a:solidFill>
                  </a:tcPr>
                </a:tc>
              </a:tr>
              <a:tr h="581355">
                <a:tc>
                  <a:txBody>
                    <a:bodyPr/>
                    <a:lstStyle/>
                    <a:p>
                      <a:r>
                        <a:rPr sz="1100"/>
                        <a:t>70% of enterprises accelerating cloud migration post-2024</a:t>
                      </a:r>
                    </a:p>
                  </a:txBody>
                  <a:tcPr>
                    <a:solidFill>
                      <a:srgbClr val="F2F2F2"/>
                    </a:solidFill>
                  </a:tcPr>
                </a:tc>
                <a:tc>
                  <a:txBody>
                    <a:bodyPr/>
                    <a:lstStyle/>
                    <a:p>
                      <a:r>
                        <a:rPr sz="1100"/>
                        <a:t>High inbound demand for formal readiness assessments</a:t>
                      </a:r>
                    </a:p>
                  </a:txBody>
                  <a:tcPr>
                    <a:solidFill>
                      <a:srgbClr val="F2F2F2"/>
                    </a:solidFill>
                  </a:tcPr>
                </a:tc>
              </a:tr>
              <a:tr h="581355">
                <a:tc>
                  <a:txBody>
                    <a:bodyPr/>
                    <a:lstStyle/>
                    <a:p>
                      <a:r>
                        <a:rPr sz="1100"/>
                        <a:t>Average CRA deal size: $250K–$1.5M</a:t>
                      </a:r>
                    </a:p>
                  </a:txBody>
                  <a:tcPr>
                    <a:solidFill>
                      <a:srgbClr val="FFFFFF"/>
                    </a:solidFill>
                  </a:tcPr>
                </a:tc>
                <a:tc>
                  <a:txBody>
                    <a:bodyPr/>
                    <a:lstStyle/>
                    <a:p>
                      <a:r>
                        <a:rPr sz="1100"/>
                        <a:t>Premium revenue per engagement</a:t>
                      </a:r>
                    </a:p>
                  </a:txBody>
                  <a:tcPr>
                    <a:solidFill>
                      <a:srgbClr val="FFFFFF"/>
                    </a:solidFill>
                  </a:tcPr>
                </a:tc>
              </a:tr>
              <a:tr h="581355">
                <a:tc>
                  <a:txBody>
                    <a:bodyPr/>
                    <a:lstStyle/>
                    <a:p>
                      <a:r>
                        <a:rPr sz="1100"/>
                        <a:t>Microsoft / AWS / GCP all have FREE 15-min tools</a:t>
                      </a:r>
                    </a:p>
                  </a:txBody>
                  <a:tcPr>
                    <a:solidFill>
                      <a:srgbClr val="F2F2F2"/>
                    </a:solidFill>
                  </a:tcPr>
                </a:tc>
                <a:tc>
                  <a:txBody>
                    <a:bodyPr/>
                    <a:lstStyle/>
                    <a:p>
                      <a:r>
                        <a:rPr sz="1100"/>
                        <a:t>We must differentiate on depth, deliverables, and alliance leverage</a:t>
                      </a:r>
                    </a:p>
                  </a:txBody>
                  <a:tcPr>
                    <a:solidFill>
                      <a:srgbClr val="F2F2F2"/>
                    </a:solidFill>
                  </a:tcPr>
                </a:tc>
              </a:tr>
              <a:tr h="581355">
                <a:tc>
                  <a:txBody>
                    <a:bodyPr/>
                    <a:lstStyle/>
                    <a:p>
                      <a:r>
                        <a:rPr sz="1100"/>
                        <a:t>Customers cite 'lack of internal capability' as #1 migration barrier</a:t>
                      </a:r>
                    </a:p>
                  </a:txBody>
                  <a:tcPr>
                    <a:solidFill>
                      <a:srgbClr val="FFFFFF"/>
                    </a:solidFill>
                  </a:tcPr>
                </a:tc>
                <a:tc>
                  <a:txBody>
                    <a:bodyPr/>
                    <a:lstStyle/>
                    <a:p>
                      <a:r>
                        <a:rPr sz="1100"/>
                        <a:t>CRA directly addresses the most cited blocker</a:t>
                      </a:r>
                    </a:p>
                  </a:txBody>
                  <a:tcPr>
                    <a:solidFill>
                      <a:srgbClr val="FFFFFF"/>
                    </a:solidFill>
                  </a:tcPr>
                </a:tc>
              </a:tr>
              <a:tr h="581359">
                <a:tc>
                  <a:txBody>
                    <a:bodyPr/>
                    <a:lstStyle/>
                    <a:p>
                      <a:r>
                        <a:rPr sz="1100"/>
                        <a:t>Alliance partners reward assessment-led deal creation</a:t>
                      </a:r>
                    </a:p>
                  </a:txBody>
                  <a:tcPr>
                    <a:solidFill>
                      <a:srgbClr val="F2F2F2"/>
                    </a:solidFill>
                  </a:tcPr>
                </a:tc>
                <a:tc>
                  <a:txBody>
                    <a:bodyPr/>
                    <a:lstStyle/>
                    <a:p>
                      <a:r>
                        <a:rPr sz="1100"/>
                        <a:t>Every CRA engagement is a co-sell opportunity</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300"/>
              </a:spcAft>
            </a:pPr>
            <a:r>
              <a:rPr sz="1300" b="1"/>
              <a:t>What it replaces:</a:t>
            </a:r>
          </a:p>
          <a:p>
            <a:pPr>
              <a:spcAft>
                <a:spcPts val="300"/>
              </a:spcAft>
            </a:pPr>
            <a:r>
              <a:rPr sz="1300"/>
              <a:t>6–8 weeks of custom scoping and template-building</a:t>
            </a:r>
          </a:p>
          <a:p>
            <a:pPr>
              <a:spcAft>
                <a:spcPts val="300"/>
              </a:spcAft>
            </a:pPr>
            <a:r>
              <a:rPr sz="1300"/>
              <a:t>Inconsistent outputs across delivery teams</a:t>
            </a:r>
          </a:p>
          <a:p>
            <a:pPr>
              <a:spcAft>
                <a:spcPts val="300"/>
              </a:spcAft>
            </a:pPr>
            <a:r>
              <a:rPr sz="1300"/>
              <a:t>Architect-dependent tribal knowledge</a:t>
            </a:r>
          </a:p>
          <a:p>
            <a:pPr>
              <a:spcAft>
                <a:spcPts val="300"/>
              </a:spcAft>
            </a:pPr>
            <a:r>
              <a:rPr sz="1300"/>
              <a:t>Missed AMM / MAP funding opportunities</a:t>
            </a:r>
          </a:p>
          <a:p>
            <a:pPr>
              <a:spcAft>
                <a:spcPts val="300"/>
              </a:spcAft>
            </a:pPr>
            <a:r>
              <a:rPr sz="1300"/>
              <a:t/>
            </a:r>
          </a:p>
          <a:p>
            <a:pPr>
              <a:spcAft>
                <a:spcPts val="300"/>
              </a:spcAft>
            </a:pPr>
            <a:r>
              <a:rPr sz="1300"/>
              <a:t>Result: 30%+ reduction in delivery time. Consistent, auditable outputs.</a:t>
            </a:r>
          </a:p>
        </p:txBody>
      </p:sp>
      <p:sp>
        <p:nvSpPr>
          <p:cNvPr id="3" name="Text Placeholder 2"/>
          <p:cNvSpPr>
            <a:spLocks noGrp="1"/>
          </p:cNvSpPr>
          <p:nvPr>
            <p:ph type="body" idx="12" sz="quarter"/>
          </p:nvPr>
        </p:nvSpPr>
        <p:spPr/>
        <p:txBody>
          <a:bodyPr wrap="square"/>
          <a:lstStyle/>
          <a:p>
            <a:pPr>
              <a:spcAft>
                <a:spcPts val="300"/>
              </a:spcAft>
            </a:pPr>
            <a:r>
              <a:rPr sz="1300" b="1"/>
              <a:t>What it includes:</a:t>
            </a:r>
          </a:p>
          <a:p>
            <a:pPr>
              <a:spcAft>
                <a:spcPts val="300"/>
              </a:spcAft>
            </a:pPr>
            <a:r>
              <a:rPr sz="1300"/>
              <a:t>Four-phase methodology (Discovery to Analysis to Evaluation to Planning)</a:t>
            </a:r>
          </a:p>
          <a:p>
            <a:pPr>
              <a:spcAft>
                <a:spcPts val="300"/>
              </a:spcAft>
            </a:pPr>
            <a:r>
              <a:rPr sz="1300"/>
              <a:t>30+ reusable templates (Excel, Word, PPTX) for every deliverable</a:t>
            </a:r>
          </a:p>
          <a:p>
            <a:pPr>
              <a:spcAft>
                <a:spcPts val="300"/>
              </a:spcAft>
            </a:pPr>
            <a:r>
              <a:rPr sz="1300"/>
              <a:t>TCO models validated against real customer data (AWS, Azure, GCP)</a:t>
            </a:r>
          </a:p>
          <a:p>
            <a:pPr>
              <a:spcAft>
                <a:spcPts val="300"/>
              </a:spcAft>
            </a:pPr>
            <a:r>
              <a:rPr sz="1300"/>
              <a:t>Hyperscaler decision matrix — vendor-neutral, board-grade</a:t>
            </a:r>
          </a:p>
          <a:p>
            <a:pPr>
              <a:spcAft>
                <a:spcPts val="300"/>
              </a:spcAft>
            </a:pPr>
            <a:r>
              <a:rPr sz="1300"/>
              <a:t>Reference case study: DMG Media UK (4,200+ VMs, Azure + AMM funding)</a:t>
            </a:r>
          </a:p>
          <a:p>
            <a:pPr>
              <a:spcAft>
                <a:spcPts val="300"/>
              </a:spcAft>
            </a:pPr>
            <a:r>
              <a:rPr sz="1300"/>
              <a:t>Alliance alignment guides (Microsoft CAF, AWS MAP, GCP PSO)</a:t>
            </a:r>
          </a:p>
        </p:txBody>
      </p:sp>
      <p:sp>
        <p:nvSpPr>
          <p:cNvPr id="4" name="Text Placeholder 3"/>
          <p:cNvSpPr>
            <a:spLocks noGrp="1"/>
          </p:cNvSpPr>
          <p:nvPr>
            <p:ph type="body" idx="13" sz="quarter"/>
          </p:nvPr>
        </p:nvSpPr>
        <p:spPr/>
        <p:txBody>
          <a:bodyPr/>
          <a:lstStyle/>
          <a:p/>
        </p:txBody>
      </p:sp>
      <p:sp>
        <p:nvSpPr>
          <p:cNvPr id="5" name="Title 4"/>
          <p:cNvSpPr>
            <a:spLocks noGrp="1"/>
          </p:cNvSpPr>
          <p:nvPr>
            <p:ph type="title"/>
          </p:nvPr>
        </p:nvSpPr>
        <p:spPr/>
        <p:txBody>
          <a:bodyPr wrap="square"/>
          <a:lstStyle/>
          <a:p>
            <a:r>
              <a:rPr sz="2400" b="1"/>
              <a:t>A complete, reusable toolkit — not a methodology document</a:t>
            </a:r>
          </a:p>
        </p:txBody>
      </p:sp>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DISCOVERY (7 weeks): Application inventory · Infrastructure profiling · Dependency mapping</a:t>
            </a:r>
          </a:p>
          <a:p>
            <a:pPr>
              <a:spcAft>
                <a:spcPts val="300"/>
              </a:spcAft>
            </a:pPr>
            <a:r>
              <a:rPr sz="1400"/>
              <a:t>ANALYSIS (4 weeks): 5-dimension readiness scoring · Gap identification · Cloud maturity assessment</a:t>
            </a:r>
          </a:p>
          <a:p>
            <a:pPr>
              <a:spcAft>
                <a:spcPts val="300"/>
              </a:spcAft>
            </a:pPr>
            <a:r>
              <a:rPr sz="1400"/>
              <a:t>EVALUATION (3 weeks): TCO modelling (AWS/Azure/GCP) · Hyperscaler decision matrix · Business case</a:t>
            </a:r>
          </a:p>
          <a:p>
            <a:pPr>
              <a:spcAft>
                <a:spcPts val="300"/>
              </a:spcAft>
            </a:pPr>
            <a:r>
              <a:rPr sz="1400"/>
              <a:t>PLANNING (6 weeks): Migration waves · Risk register · Governance model · Part 2 entry point</a:t>
            </a:r>
          </a:p>
          <a:p>
            <a:pPr>
              <a:spcAft>
                <a:spcPts val="300"/>
              </a:spcAft>
            </a:pPr>
            <a:r>
              <a:rPr sz="1400"/>
              <a:t/>
            </a:r>
          </a:p>
          <a:p>
            <a:pPr>
              <a:spcAft>
                <a:spcPts val="300"/>
              </a:spcAft>
            </a:pPr>
            <a:r>
              <a:rPr sz="1400"/>
              <a:t>Total: 16–20 weeks parallelised (mid-market). Scales to 200+ applications.</a:t>
            </a:r>
          </a:p>
          <a:p>
            <a:pPr>
              <a:spcAft>
                <a:spcPts val="300"/>
              </a:spcAft>
            </a:pPr>
            <a:r>
              <a:rPr sz="1400"/>
              <a:t>4,212 VMs discovered in Phase 1 (DMG Media UK)  |  57% scope variance identified  |  AMM funding unlocked</a:t>
            </a:r>
          </a:p>
        </p:txBody>
      </p:sp>
      <p:sp>
        <p:nvSpPr>
          <p:cNvPr id="3" name="Title 2"/>
          <p:cNvSpPr>
            <a:spLocks noGrp="1"/>
          </p:cNvSpPr>
          <p:nvPr>
            <p:ph type="title"/>
          </p:nvPr>
        </p:nvSpPr>
        <p:spPr/>
        <p:txBody>
          <a:bodyPr wrap="square"/>
          <a:lstStyle/>
          <a:p>
            <a:r>
              <a:rPr sz="2400" b="1"/>
              <a:t>Structured, repeatable, end-to-end — four phases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Microsoft SMART and Rackspace CRA serve different moments</a:t>
            </a:r>
          </a:p>
        </p:txBody>
      </p:sp>
      <p:sp>
        <p:nvSpPr>
          <p:cNvPr id="4" name="Text Placeholder 3"/>
          <p:cNvSpPr>
            <a:spLocks noGrp="1"/>
          </p:cNvSpPr>
          <p:nvPr>
            <p:ph type="body" idx="13" sz="quarter"/>
          </p:nvPr>
        </p:nvSpPr>
        <p:spPr/>
        <p:txBody>
          <a:bodyPr wrap="square"/>
          <a:lstStyle/>
          <a:p>
            <a:r>
              <a:rPr sz="1300">
                <a:solidFill>
                  <a:srgbClr val="333333"/>
                </a:solidFill>
              </a:rPr>
              <a:t>SMART generates the lead. CRA converts it to revenue.</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8580120"/>
                <a:gridCol w="8580120"/>
              </a:tblGrid>
              <a:tr h="498304">
                <a:tc>
                  <a:txBody>
                    <a:bodyPr/>
                    <a:lstStyle/>
                    <a:p>
                      <a:r>
                        <a:rPr b="1" sz="1200">
                          <a:solidFill>
                            <a:srgbClr val="FFFFFF"/>
                          </a:solidFill>
                        </a:rPr>
                        <a:t>Microsoft SMART Assessment</a:t>
                      </a:r>
                    </a:p>
                  </a:txBody>
                  <a:tcPr>
                    <a:solidFill>
                      <a:srgbClr val="E31C3D"/>
                    </a:solidFill>
                  </a:tcPr>
                </a:tc>
                <a:tc>
                  <a:txBody>
                    <a:bodyPr/>
                    <a:lstStyle/>
                    <a:p>
                      <a:r>
                        <a:rPr b="1" sz="1200">
                          <a:solidFill>
                            <a:srgbClr val="FFFFFF"/>
                          </a:solidFill>
                        </a:rPr>
                        <a:t>Rackspace CRA</a:t>
                      </a:r>
                    </a:p>
                  </a:txBody>
                  <a:tcPr>
                    <a:solidFill>
                      <a:srgbClr val="E31C3D"/>
                    </a:solidFill>
                  </a:tcPr>
                </a:tc>
              </a:tr>
              <a:tr h="498304">
                <a:tc>
                  <a:txBody>
                    <a:bodyPr/>
                    <a:lstStyle/>
                    <a:p>
                      <a:r>
                        <a:rPr sz="1100"/>
                        <a:t>Free, self-service</a:t>
                      </a:r>
                    </a:p>
                  </a:txBody>
                  <a:tcPr>
                    <a:solidFill>
                      <a:srgbClr val="F2F2F2"/>
                    </a:solidFill>
                  </a:tcPr>
                </a:tc>
                <a:tc>
                  <a:txBody>
                    <a:bodyPr/>
                    <a:lstStyle/>
                    <a:p>
                      <a:r>
                        <a:rPr sz="1100"/>
                        <a:t>Formal engagement, deliverable-based</a:t>
                      </a:r>
                    </a:p>
                  </a:txBody>
                  <a:tcPr>
                    <a:solidFill>
                      <a:srgbClr val="F2F2F2"/>
                    </a:solidFill>
                  </a:tcPr>
                </a:tc>
              </a:tr>
              <a:tr h="498304">
                <a:tc>
                  <a:txBody>
                    <a:bodyPr/>
                    <a:lstStyle/>
                    <a:p>
                      <a:r>
                        <a:rPr sz="1100"/>
                        <a:t>15 minutes</a:t>
                      </a:r>
                    </a:p>
                  </a:txBody>
                  <a:tcPr>
                    <a:solidFill>
                      <a:srgbClr val="FFFFFF"/>
                    </a:solidFill>
                  </a:tcPr>
                </a:tc>
                <a:tc>
                  <a:txBody>
                    <a:bodyPr/>
                    <a:lstStyle/>
                    <a:p>
                      <a:r>
                        <a:rPr sz="1100"/>
                        <a:t>16–20 weeks</a:t>
                      </a:r>
                    </a:p>
                  </a:txBody>
                  <a:tcPr>
                    <a:solidFill>
                      <a:srgbClr val="FFFFFF"/>
                    </a:solidFill>
                  </a:tcPr>
                </a:tc>
              </a:tr>
              <a:tr h="498304">
                <a:tc>
                  <a:txBody>
                    <a:bodyPr/>
                    <a:lstStyle/>
                    <a:p>
                      <a:r>
                        <a:rPr sz="1100"/>
                        <a:t>Azure only</a:t>
                      </a:r>
                    </a:p>
                  </a:txBody>
                  <a:tcPr>
                    <a:solidFill>
                      <a:srgbClr val="F2F2F2"/>
                    </a:solidFill>
                  </a:tcPr>
                </a:tc>
                <a:tc>
                  <a:txBody>
                    <a:bodyPr/>
                    <a:lstStyle/>
                    <a:p>
                      <a:r>
                        <a:rPr sz="1100"/>
                        <a:t>AWS + Azure + GCP</a:t>
                      </a:r>
                    </a:p>
                  </a:txBody>
                  <a:tcPr>
                    <a:solidFill>
                      <a:srgbClr val="F2F2F2"/>
                    </a:solidFill>
                  </a:tcPr>
                </a:tc>
              </a:tr>
              <a:tr h="498304">
                <a:tc>
                  <a:txBody>
                    <a:bodyPr/>
                    <a:lstStyle/>
                    <a:p>
                      <a:r>
                        <a:rPr sz="1100"/>
                        <a:t>No deliverable</a:t>
                      </a:r>
                    </a:p>
                  </a:txBody>
                  <a:tcPr>
                    <a:solidFill>
                      <a:srgbClr val="FFFFFF"/>
                    </a:solidFill>
                  </a:tcPr>
                </a:tc>
                <a:tc>
                  <a:txBody>
                    <a:bodyPr/>
                    <a:lstStyle/>
                    <a:p>
                      <a:r>
                        <a:rPr sz="1100"/>
                        <a:t>30–50 page assessment report</a:t>
                      </a:r>
                    </a:p>
                  </a:txBody>
                  <a:tcPr>
                    <a:solidFill>
                      <a:srgbClr val="FFFFFF"/>
                    </a:solidFill>
                  </a:tcPr>
                </a:tc>
              </a:tr>
              <a:tr h="498304">
                <a:tc>
                  <a:txBody>
                    <a:bodyPr/>
                    <a:lstStyle/>
                    <a:p>
                      <a:r>
                        <a:rPr sz="1100"/>
                        <a:t>Pre-sales screening</a:t>
                      </a:r>
                    </a:p>
                  </a:txBody>
                  <a:tcPr>
                    <a:solidFill>
                      <a:srgbClr val="F2F2F2"/>
                    </a:solidFill>
                  </a:tcPr>
                </a:tc>
                <a:tc>
                  <a:txBody>
                    <a:bodyPr/>
                    <a:lstStyle/>
                    <a:p>
                      <a:r>
                        <a:rPr sz="1100"/>
                        <a:t>Board / CIO sign-off document</a:t>
                      </a:r>
                    </a:p>
                  </a:txBody>
                  <a:tcPr>
                    <a:solidFill>
                      <a:srgbClr val="F2F2F2"/>
                    </a:solidFill>
                  </a:tcPr>
                </a:tc>
              </a:tr>
              <a:tr h="498310">
                <a:tc>
                  <a:txBody>
                    <a:bodyPr/>
                    <a:lstStyle/>
                    <a:p>
                      <a:r>
                        <a:rPr sz="1100"/>
                        <a:t>No AMM eligibility</a:t>
                      </a:r>
                    </a:p>
                  </a:txBody>
                  <a:tcPr>
                    <a:solidFill>
                      <a:srgbClr val="FFFFFF"/>
                    </a:solidFill>
                  </a:tcPr>
                </a:tc>
                <a:tc>
                  <a:txBody>
                    <a:bodyPr/>
                    <a:lstStyle/>
                    <a:p>
                      <a:r>
                        <a:rPr sz="1100"/>
                        <a:t>CRA outputs satisfy AMM requirements</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DMG Media UK (Daily Mail Group Trust) — UK's largest digital media group</a:t>
            </a:r>
          </a:p>
          <a:p>
            <a:pPr>
              <a:spcAft>
                <a:spcPts val="300"/>
              </a:spcAft>
            </a:pPr>
            <a:r>
              <a:rPr sz="1400"/>
              <a:t>On-premises VMware estate, 2 UK data centres, 10 vCenter instances</a:t>
            </a:r>
          </a:p>
          <a:p>
            <a:pPr>
              <a:spcAft>
                <a:spcPts val="300"/>
              </a:spcAft>
            </a:pPr>
            <a:r>
              <a:rPr sz="1400"/>
              <a:t/>
            </a:r>
          </a:p>
          <a:p>
            <a:pPr>
              <a:spcAft>
                <a:spcPts val="300"/>
              </a:spcAft>
            </a:pPr>
            <a:r>
              <a:rPr sz="1400"/>
              <a:t>4,212 VMs discovered  |  +57% above SoW scope</a:t>
            </a:r>
          </a:p>
          <a:p>
            <a:pPr>
              <a:spcAft>
                <a:spcPts val="300"/>
              </a:spcAft>
            </a:pPr>
            <a:r>
              <a:rPr sz="1400"/>
              <a:t>3-way evaluation: Azure vs AWS vs GCP across 9 regions</a:t>
            </a:r>
          </a:p>
          <a:p>
            <a:pPr>
              <a:spcAft>
                <a:spcPts val="300"/>
              </a:spcAft>
            </a:pPr>
            <a:r>
              <a:rPr sz="1400"/>
              <a:t>Azure recommended: UK South primary  |  AMM funding identified</a:t>
            </a:r>
          </a:p>
          <a:p>
            <a:pPr>
              <a:spcAft>
                <a:spcPts val="300"/>
              </a:spcAft>
            </a:pPr>
            <a:r>
              <a:rPr sz="1400"/>
              <a:t/>
            </a:r>
          </a:p>
          <a:p>
            <a:pPr>
              <a:spcAft>
                <a:spcPts val="300"/>
              </a:spcAft>
            </a:pPr>
            <a:r>
              <a:rPr sz="1400"/>
              <a:t>Framework lessons embedded from this engagement:</a:t>
            </a:r>
          </a:p>
          <a:p>
            <a:pPr>
              <a:spcAft>
                <a:spcPts val="300"/>
              </a:spcAft>
            </a:pPr>
            <a:r>
              <a:rPr sz="1400"/>
              <a:t>Scope validation worksheet · Legacy OS discovery · AMM pre-engagement checklist · Oracle RAC migration path</a:t>
            </a:r>
          </a:p>
        </p:txBody>
      </p:sp>
      <p:sp>
        <p:nvSpPr>
          <p:cNvPr id="3" name="Title 2"/>
          <p:cNvSpPr>
            <a:spLocks noGrp="1"/>
          </p:cNvSpPr>
          <p:nvPr>
            <p:ph type="title"/>
          </p:nvPr>
        </p:nvSpPr>
        <p:spPr/>
        <p:txBody>
          <a:bodyPr wrap="square"/>
          <a:lstStyle/>
          <a:p>
            <a:r>
              <a:rPr sz="2400" b="1"/>
              <a:t>One engagement. Every phase. Real numbers. — DMG Media UK</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30% FASTER — assessment delivery vs. custom-built engagement</a:t>
            </a:r>
          </a:p>
          <a:p>
            <a:pPr>
              <a:spcAft>
                <a:spcPts val="300"/>
              </a:spcAft>
            </a:pPr>
            <a:r>
              <a:rPr sz="1400"/>
              <a:t>$10M+ INFLUENCED REVENUE — in Year 1  (15 engagements x $650K avg)</a:t>
            </a:r>
          </a:p>
          <a:p>
            <a:pPr>
              <a:spcAft>
                <a:spcPts val="300"/>
              </a:spcAft>
            </a:pPr>
            <a:r>
              <a:rPr sz="1400"/>
              <a:t>3 ALLIANCE PROGRAMMES — Microsoft AMM + AWS MAP + Google PSO funding eligible</a:t>
            </a:r>
          </a:p>
          <a:p>
            <a:pPr>
              <a:spcAft>
                <a:spcPts val="300"/>
              </a:spcAft>
            </a:pPr>
            <a:r>
              <a:rPr sz="1400"/>
              <a:t/>
            </a:r>
          </a:p>
          <a:p>
            <a:pPr>
              <a:spcAft>
                <a:spcPts val="300"/>
              </a:spcAft>
            </a:pPr>
            <a:r>
              <a:rPr sz="1400"/>
              <a:t>NPS target: &gt;70  |  30+ templates reused across engagements  |  8+ co-sell deals Year 1</a:t>
            </a:r>
          </a:p>
          <a:p>
            <a:pPr>
              <a:spcAft>
                <a:spcPts val="300"/>
              </a:spcAft>
            </a:pPr>
            <a:r>
              <a:rPr sz="1400"/>
              <a:t/>
            </a:r>
          </a:p>
          <a:p>
            <a:pPr>
              <a:spcAft>
                <a:spcPts val="300"/>
              </a:spcAft>
            </a:pPr>
            <a:r>
              <a:rPr sz="1400"/>
              <a:t>Investment to finish remaining 37%: ~$80K–$120K fully loaded</a:t>
            </a:r>
          </a:p>
          <a:p>
            <a:pPr>
              <a:spcAft>
                <a:spcPts val="300"/>
              </a:spcAft>
            </a:pPr>
            <a:r>
              <a:rPr sz="1400"/>
              <a:t>(0.5 FTE x 12 weeks + writer + designer)</a:t>
            </a:r>
          </a:p>
          <a:p>
            <a:pPr>
              <a:spcAft>
                <a:spcPts val="300"/>
              </a:spcAft>
            </a:pPr>
            <a:r>
              <a:rPr sz="1400"/>
              <a:t>Expected return: $10M+ influenced revenue — 80–100x ROI</a:t>
            </a:r>
          </a:p>
        </p:txBody>
      </p:sp>
      <p:sp>
        <p:nvSpPr>
          <p:cNvPr id="3" name="Title 2"/>
          <p:cNvSpPr>
            <a:spLocks noGrp="1"/>
          </p:cNvSpPr>
          <p:nvPr>
            <p:ph type="title"/>
          </p:nvPr>
        </p:nvSpPr>
        <p:spPr/>
        <p:txBody>
          <a:bodyPr wrap="square"/>
          <a:lstStyle/>
          <a:p>
            <a:r>
              <a:rPr sz="2400" b="1"/>
              <a:t>The numbers that matter to leadership</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Built to fund, not just deliver — Alliance Partner Alignment</a:t>
            </a:r>
          </a:p>
        </p:txBody>
      </p:sp>
      <p:sp>
        <p:nvSpPr>
          <p:cNvPr id="4" name="Text Placeholder 3"/>
          <p:cNvSpPr>
            <a:spLocks noGrp="1"/>
          </p:cNvSpPr>
          <p:nvPr>
            <p:ph type="body" idx="13" sz="quarter"/>
          </p:nvPr>
        </p:nvSpPr>
        <p:spPr/>
        <p:txBody>
          <a:bodyPr wrap="square"/>
          <a:lstStyle/>
          <a:p>
            <a:r>
              <a:rPr sz="1300">
                <a:solidFill>
                  <a:srgbClr val="333333"/>
                </a:solidFill>
              </a:rPr>
              <a:t>Every CRA engagement is a potential AMM, MAP, or PSO funding conversation. CRA makes this systematic.</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8580120"/>
                <a:gridCol w="8580120"/>
              </a:tblGrid>
              <a:tr h="872033">
                <a:tc>
                  <a:txBody>
                    <a:bodyPr/>
                    <a:lstStyle/>
                    <a:p>
                      <a:r>
                        <a:rPr b="1" sz="1200">
                          <a:solidFill>
                            <a:srgbClr val="FFFFFF"/>
                          </a:solidFill>
                        </a:rPr>
                        <a:t>Partner</a:t>
                      </a:r>
                    </a:p>
                  </a:txBody>
                  <a:tcPr>
                    <a:solidFill>
                      <a:srgbClr val="E31C3D"/>
                    </a:solidFill>
                  </a:tcPr>
                </a:tc>
                <a:tc>
                  <a:txBody>
                    <a:bodyPr/>
                    <a:lstStyle/>
                    <a:p>
                      <a:r>
                        <a:rPr b="1" sz="1200">
                          <a:solidFill>
                            <a:srgbClr val="FFFFFF"/>
                          </a:solidFill>
                        </a:rPr>
                        <a:t>CRA Alignment</a:t>
                      </a:r>
                    </a:p>
                  </a:txBody>
                  <a:tcPr>
                    <a:solidFill>
                      <a:srgbClr val="E31C3D"/>
                    </a:solidFill>
                  </a:tcPr>
                </a:tc>
              </a:tr>
              <a:tr h="872033">
                <a:tc>
                  <a:txBody>
                    <a:bodyPr/>
                    <a:lstStyle/>
                    <a:p>
                      <a:r>
                        <a:rPr sz="1100"/>
                        <a:t>Microsoft Azure (CAF/AMM)</a:t>
                      </a:r>
                    </a:p>
                  </a:txBody>
                  <a:tcPr>
                    <a:solidFill>
                      <a:srgbClr val="F2F2F2"/>
                    </a:solidFill>
                  </a:tcPr>
                </a:tc>
                <a:tc>
                  <a:txBody>
                    <a:bodyPr/>
                    <a:lstStyle/>
                    <a:p>
                      <a:r>
                        <a:rPr sz="1100"/>
                        <a:t>CRA phases map to CAF stages · TCO satisfies AMM deliverable requirements · AHB modelled · Pre-engagement AMM checklist</a:t>
                      </a:r>
                    </a:p>
                  </a:txBody>
                  <a:tcPr>
                    <a:solidFill>
                      <a:srgbClr val="F2F2F2"/>
                    </a:solidFill>
                  </a:tcPr>
                </a:tc>
              </a:tr>
              <a:tr h="872033">
                <a:tc>
                  <a:txBody>
                    <a:bodyPr/>
                    <a:lstStyle/>
                    <a:p>
                      <a:r>
                        <a:rPr sz="1100"/>
                        <a:t>AWS (MAP)</a:t>
                      </a:r>
                    </a:p>
                  </a:txBody>
                  <a:tcPr>
                    <a:solidFill>
                      <a:srgbClr val="FFFFFF"/>
                    </a:solidFill>
                  </a:tcPr>
                </a:tc>
                <a:tc>
                  <a:txBody>
                    <a:bodyPr/>
                    <a:lstStyle/>
                    <a:p>
                      <a:r>
                        <a:rPr sz="1100"/>
                        <a:t>CRA Assessment maps to MAP Assess · Inventory + readiness scoring satisfy MAP deal registration · TCO: On-Demand, 3yr RI, Savings Plans</a:t>
                      </a:r>
                    </a:p>
                  </a:txBody>
                  <a:tcPr>
                    <a:solidFill>
                      <a:srgbClr val="FFFFFF"/>
                    </a:solidFill>
                  </a:tcPr>
                </a:tc>
              </a:tr>
              <a:tr h="872035">
                <a:tc>
                  <a:txBody>
                    <a:bodyPr/>
                    <a:lstStyle/>
                    <a:p>
                      <a:r>
                        <a:rPr sz="1100"/>
                        <a:t>Google Cloud (PSO/RAMP)</a:t>
                      </a:r>
                    </a:p>
                  </a:txBody>
                  <a:tcPr>
                    <a:solidFill>
                      <a:srgbClr val="F2F2F2"/>
                    </a:solidFill>
                  </a:tcPr>
                </a:tc>
                <a:tc>
                  <a:txBody>
                    <a:bodyPr/>
                    <a:lstStyle/>
                    <a:p>
                      <a:r>
                        <a:rPr sz="1100"/>
                        <a:t>Discovery aligns to Migration Center inputs · GCP TCO across 3 regions (On-Demand + CUDs) · RAMP programme alignment</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PHASE 1: FOUNDATION — COMPLETE</a:t>
            </a:r>
          </a:p>
          <a:p>
            <a:pPr>
              <a:spcAft>
                <a:spcPts val="300"/>
              </a:spcAft>
            </a:pPr>
            <a:r>
              <a:rPr sz="1400"/>
              <a:t>  Repo structured · 30+ templates · DMG Media UK case study · README rewritten · v1.0 published</a:t>
            </a:r>
          </a:p>
          <a:p>
            <a:pPr>
              <a:spcAft>
                <a:spcPts val="300"/>
              </a:spcAft>
            </a:pPr>
            <a:r>
              <a:rPr sz="1400"/>
              <a:t/>
            </a:r>
          </a:p>
          <a:p>
            <a:pPr>
              <a:spcAft>
                <a:spcPts val="300"/>
              </a:spcAft>
            </a:pPr>
            <a:r>
              <a:rPr sz="1400"/>
              <a:t>PHASE 2: ENHANCEMENT — IN PROGRESS</a:t>
            </a:r>
          </a:p>
          <a:p>
            <a:pPr>
              <a:spcAft>
                <a:spcPts val="300"/>
              </a:spcAft>
            </a:pPr>
            <a:r>
              <a:rPr sz="1400"/>
              <a:t>  Template content audit (4A–4E) · Leadership and executive presentation decks</a:t>
            </a:r>
          </a:p>
          <a:p>
            <a:pPr>
              <a:spcAft>
                <a:spcPts val="300"/>
              </a:spcAft>
            </a:pPr>
            <a:r>
              <a:rPr sz="1400"/>
              <a:t>  Microsoft CAF + AWS MAP + GCP PSO alignment docs · Branding applied</a:t>
            </a:r>
          </a:p>
          <a:p>
            <a:pPr>
              <a:spcAft>
                <a:spcPts val="300"/>
              </a:spcAft>
            </a:pPr>
            <a:r>
              <a:rPr sz="1400"/>
              <a:t/>
            </a:r>
          </a:p>
          <a:p>
            <a:pPr>
              <a:spcAft>
                <a:spcPts val="300"/>
              </a:spcAft>
            </a:pPr>
            <a:r>
              <a:rPr sz="1400"/>
              <a:t>PHASE 3: SCALE — PLANNED</a:t>
            </a:r>
          </a:p>
          <a:p>
            <a:pPr>
              <a:spcAft>
                <a:spcPts val="300"/>
              </a:spcAft>
            </a:pPr>
            <a:r>
              <a:rPr sz="1400"/>
              <a:t>  Internal SA team training · SharePoint library · AMM programme submission · Alliance go-to-market</a:t>
            </a:r>
          </a:p>
          <a:p>
            <a:pPr>
              <a:spcAft>
                <a:spcPts val="300"/>
              </a:spcAft>
            </a:pPr>
            <a:r>
              <a:rPr sz="1400"/>
              <a:t/>
            </a:r>
          </a:p>
          <a:p>
            <a:pPr>
              <a:spcAft>
                <a:spcPts val="300"/>
              </a:spcAft>
            </a:pPr>
            <a:r>
              <a:rPr sz="1400"/>
              <a:t>Current status: 63% complete. On track for Release 1.1.</a:t>
            </a:r>
          </a:p>
        </p:txBody>
      </p:sp>
      <p:sp>
        <p:nvSpPr>
          <p:cNvPr id="3" name="Title 2"/>
          <p:cNvSpPr>
            <a:spLocks noGrp="1"/>
          </p:cNvSpPr>
          <p:nvPr>
            <p:ph type="title"/>
          </p:nvPr>
        </p:nvSpPr>
        <p:spPr/>
        <p:txBody>
          <a:bodyPr wrap="square"/>
          <a:lstStyle/>
          <a:p>
            <a:r>
              <a:rPr sz="2400" b="1"/>
              <a:t>Roadmap — where we are, where we go next</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1. RESOURCE COMMITMENT</a:t>
            </a:r>
          </a:p>
          <a:p>
            <a:pPr>
              <a:spcAft>
                <a:spcPts val="300"/>
              </a:spcAft>
            </a:pPr>
            <a:r>
              <a:rPr sz="1400"/>
              <a:t>   0.5 FTE Cloud Solutions Architect for 12 weeks  +  0.1 FTE Technical Writer for 8 weeks</a:t>
            </a:r>
          </a:p>
          <a:p>
            <a:pPr>
              <a:spcAft>
                <a:spcPts val="300"/>
              </a:spcAft>
            </a:pPr>
            <a:r>
              <a:rPr sz="1400"/>
              <a:t>   Estimated fully loaded cost: $80K–$120K</a:t>
            </a:r>
          </a:p>
          <a:p>
            <a:pPr>
              <a:spcAft>
                <a:spcPts val="300"/>
              </a:spcAft>
            </a:pPr>
            <a:r>
              <a:rPr sz="1400"/>
              <a:t/>
            </a:r>
          </a:p>
          <a:p>
            <a:pPr>
              <a:spcAft>
                <a:spcPts val="300"/>
              </a:spcAft>
            </a:pPr>
            <a:r>
              <a:rPr sz="1400"/>
              <a:t>2. EXECUTIVE SPONSORSHIP</a:t>
            </a:r>
          </a:p>
          <a:p>
            <a:pPr>
              <a:spcAft>
                <a:spcPts val="300"/>
              </a:spcAft>
            </a:pPr>
            <a:r>
              <a:rPr sz="1400"/>
              <a:t>   VP or Director level sponsor for partner conversations with Microsoft, AWS, and Google</a:t>
            </a:r>
          </a:p>
          <a:p>
            <a:pPr>
              <a:spcAft>
                <a:spcPts val="300"/>
              </a:spcAft>
            </a:pPr>
            <a:r>
              <a:rPr sz="1400"/>
              <a:t>   One internal leadership session to validate framework before external sharing</a:t>
            </a:r>
          </a:p>
          <a:p>
            <a:pPr>
              <a:spcAft>
                <a:spcPts val="300"/>
              </a:spcAft>
            </a:pPr>
            <a:r>
              <a:rPr sz="1400"/>
              <a:t/>
            </a:r>
          </a:p>
          <a:p>
            <a:pPr>
              <a:spcAft>
                <a:spcPts val="300"/>
              </a:spcAft>
            </a:pPr>
            <a:r>
              <a:rPr sz="1400"/>
              <a:t>3. GO-TO-MARKET ACTIVATION</a:t>
            </a:r>
          </a:p>
          <a:p>
            <a:pPr>
              <a:spcAft>
                <a:spcPts val="300"/>
              </a:spcAft>
            </a:pPr>
            <a:r>
              <a:rPr sz="1400"/>
              <a:t>   Approval to share with Microsoft UK and AWS UK partner managers</a:t>
            </a:r>
          </a:p>
          <a:p>
            <a:pPr>
              <a:spcAft>
                <a:spcPts val="300"/>
              </a:spcAft>
            </a:pPr>
            <a:r>
              <a:rPr sz="1400"/>
              <a:t>   (subject to legal review of DMG Media UK case study — in progress)</a:t>
            </a:r>
          </a:p>
          <a:p>
            <a:pPr>
              <a:spcAft>
                <a:spcPts val="300"/>
              </a:spcAft>
            </a:pPr>
            <a:r>
              <a:rPr sz="1400"/>
              <a:t/>
            </a:r>
          </a:p>
          <a:p>
            <a:pPr>
              <a:spcAft>
                <a:spcPts val="300"/>
              </a:spcAft>
            </a:pPr>
            <a:r>
              <a:rPr sz="1400"/>
              <a:t>Investment: ~$100K.  Return: $10M+ influenced revenue in Year 1.  100x ROI.</a:t>
            </a:r>
          </a:p>
        </p:txBody>
      </p:sp>
      <p:sp>
        <p:nvSpPr>
          <p:cNvPr id="3" name="Title 2"/>
          <p:cNvSpPr>
            <a:spLocks noGrp="1"/>
          </p:cNvSpPr>
          <p:nvPr>
            <p:ph type="title"/>
          </p:nvPr>
        </p:nvSpPr>
        <p:spPr/>
        <p:txBody>
          <a:bodyPr wrap="square"/>
          <a:lstStyle/>
          <a:p>
            <a:r>
              <a:rPr sz="2400" b="1"/>
              <a:t>Three asks. Twelve weeks. $10M+ return.</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Next steps — decisions needed today</a:t>
            </a:r>
          </a:p>
        </p:txBody>
      </p:sp>
      <p:sp>
        <p:nvSpPr>
          <p:cNvPr id="4" name="Text Placeholder 3"/>
          <p:cNvSpPr>
            <a:spLocks noGrp="1"/>
          </p:cNvSpPr>
          <p:nvPr>
            <p:ph type="body" idx="13" sz="quarter"/>
          </p:nvPr>
        </p:nvSpPr>
        <p:spPr/>
        <p:txBody>
          <a:bodyPr wrap="square"/>
          <a:lstStyle/>
          <a:p>
            <a:r>
              <a:rPr sz="1300">
                <a:solidFill>
                  <a:srgbClr val="333333"/>
                </a:solidFill>
              </a:rPr>
              <a:t>"The framework exists. The methodology is proven. The case study is real. The only question is whether we resource it to scale."</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Action</a:t>
                      </a:r>
                    </a:p>
                  </a:txBody>
                  <a:tcPr>
                    <a:solidFill>
                      <a:srgbClr val="E31C3D"/>
                    </a:solidFill>
                  </a:tcPr>
                </a:tc>
                <a:tc>
                  <a:txBody>
                    <a:bodyPr/>
                    <a:lstStyle/>
                    <a:p>
                      <a:r>
                        <a:rPr b="1" sz="1200">
                          <a:solidFill>
                            <a:srgbClr val="FFFFFF"/>
                          </a:solidFill>
                        </a:rPr>
                        <a:t>Owner</a:t>
                      </a:r>
                    </a:p>
                  </a:txBody>
                  <a:tcPr>
                    <a:solidFill>
                      <a:srgbClr val="E31C3D"/>
                    </a:solidFill>
                  </a:tcPr>
                </a:tc>
                <a:tc>
                  <a:txBody>
                    <a:bodyPr/>
                    <a:lstStyle/>
                    <a:p>
                      <a:r>
                        <a:rPr b="1" sz="1200">
                          <a:solidFill>
                            <a:srgbClr val="FFFFFF"/>
                          </a:solidFill>
                        </a:rPr>
                        <a:t>When</a:t>
                      </a:r>
                    </a:p>
                  </a:txBody>
                  <a:tcPr>
                    <a:solidFill>
                      <a:srgbClr val="E31C3D"/>
                    </a:solidFill>
                  </a:tcPr>
                </a:tc>
              </a:tr>
              <a:tr h="872033">
                <a:tc>
                  <a:txBody>
                    <a:bodyPr/>
                    <a:lstStyle/>
                    <a:p>
                      <a:r>
                        <a:rPr sz="1100"/>
                        <a:t>Confirm 0.5 FTE architect commitment for Weeks 5–12</a:t>
                      </a:r>
                    </a:p>
                  </a:txBody>
                  <a:tcPr>
                    <a:solidFill>
                      <a:srgbClr val="F2F2F2"/>
                    </a:solidFill>
                  </a:tcPr>
                </a:tc>
                <a:tc>
                  <a:txBody>
                    <a:bodyPr/>
                    <a:lstStyle/>
                    <a:p>
                      <a:r>
                        <a:rPr sz="1100"/>
                        <a:t>[VP/Director Name]</a:t>
                      </a:r>
                    </a:p>
                  </a:txBody>
                  <a:tcPr>
                    <a:solidFill>
                      <a:srgbClr val="F2F2F2"/>
                    </a:solidFill>
                  </a:tcPr>
                </a:tc>
                <a:tc>
                  <a:txBody>
                    <a:bodyPr/>
                    <a:lstStyle/>
                    <a:p>
                      <a:r>
                        <a:rPr sz="1100"/>
                        <a:t>This meeting</a:t>
                      </a:r>
                    </a:p>
                  </a:txBody>
                  <a:tcPr>
                    <a:solidFill>
                      <a:srgbClr val="F2F2F2"/>
                    </a:solidFill>
                  </a:tcPr>
                </a:tc>
              </a:tr>
              <a:tr h="872033">
                <a:tc>
                  <a:txBody>
                    <a:bodyPr/>
                    <a:lstStyle/>
                    <a:p>
                      <a:r>
                        <a:rPr sz="1100"/>
                        <a:t>Identify executive sponsor for Microsoft/AWS co-sell conversations</a:t>
                      </a:r>
                    </a:p>
                  </a:txBody>
                  <a:tcPr>
                    <a:solidFill>
                      <a:srgbClr val="FFFFFF"/>
                    </a:solidFill>
                  </a:tcPr>
                </a:tc>
                <a:tc>
                  <a:txBody>
                    <a:bodyPr/>
                    <a:lstStyle/>
                    <a:p>
                      <a:r>
                        <a:rPr sz="1100"/>
                        <a:t>[VP Name]</a:t>
                      </a:r>
                    </a:p>
                  </a:txBody>
                  <a:tcPr>
                    <a:solidFill>
                      <a:srgbClr val="FFFFFF"/>
                    </a:solidFill>
                  </a:tcPr>
                </a:tc>
                <a:tc>
                  <a:txBody>
                    <a:bodyPr/>
                    <a:lstStyle/>
                    <a:p>
                      <a:r>
                        <a:rPr sz="1100"/>
                        <a:t>This week</a:t>
                      </a:r>
                    </a:p>
                  </a:txBody>
                  <a:tcPr>
                    <a:solidFill>
                      <a:srgbClr val="FFFFFF"/>
                    </a:solidFill>
                  </a:tcPr>
                </a:tc>
              </a:tr>
              <a:tr h="872035">
                <a:tc>
                  <a:txBody>
                    <a:bodyPr/>
                    <a:lstStyle/>
                    <a:p>
                      <a:r>
                        <a:rPr sz="1100"/>
                        <a:t>Initiate legal review of DMG Media UK case study</a:t>
                      </a:r>
                    </a:p>
                  </a:txBody>
                  <a:tcPr>
                    <a:solidFill>
                      <a:srgbClr val="F2F2F2"/>
                    </a:solidFill>
                  </a:tcPr>
                </a:tc>
                <a:tc>
                  <a:txBody>
                    <a:bodyPr/>
                    <a:lstStyle/>
                    <a:p>
                      <a:r>
                        <a:rPr sz="1100"/>
                        <a:t>Legal / [Name]</a:t>
                      </a:r>
                    </a:p>
                  </a:txBody>
                  <a:tcPr>
                    <a:solidFill>
                      <a:srgbClr val="F2F2F2"/>
                    </a:solidFill>
                  </a:tcPr>
                </a:tc>
                <a:tc>
                  <a:txBody>
                    <a:bodyPr/>
                    <a:lstStyle/>
                    <a:p>
                      <a:r>
                        <a:rPr sz="1100"/>
                        <a:t>This week</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