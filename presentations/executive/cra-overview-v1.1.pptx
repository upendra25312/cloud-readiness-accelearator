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5.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 id="2147483944" r:id="rId5"/>
    <p:sldMasterId id="2147483830" r:id="rId6"/>
  </p:sldMasterIdLst>
  <p:notesMasterIdLst>
    <p:notesMasterId r:id="rId21"/>
  </p:notesMasterIdLst>
  <p:handoutMasterIdLst>
    <p:handoutMasterId r:id="rId22"/>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Breaker Layouts" id="{4AE7326D-D6F2-440D-9A41-85E2343213A5}">
          <p14:sldIdLst>
            <p14:sldId id="256"/>
          </p14:sldIdLst>
        </p14:section>
        <p14:section name="Content Slides" id="{846C7ABD-83F7-4BA2-BD1F-579980DED47E}">
          <p14:sldIdLst>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111111"/>
    <a:srgbClr val="D1FFFB"/>
    <a:srgbClr val="003482"/>
    <a:srgbClr val="D8EBF9"/>
    <a:srgbClr val="005AC8"/>
    <a:srgbClr val="64005A"/>
    <a:srgbClr val="9E0000"/>
    <a:srgbClr val="BB5CB4"/>
    <a:srgbClr val="F6D7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91" autoAdjust="0"/>
    <p:restoredTop sz="58986" autoAdjust="0"/>
  </p:normalViewPr>
  <p:slideViewPr>
    <p:cSldViewPr snapToGrid="0" showGuides="1">
      <p:cViewPr varScale="1">
        <p:scale>
          <a:sx n="26" d="100"/>
          <a:sy n="26" d="100"/>
        </p:scale>
        <p:origin x="1384" y="252"/>
      </p:cViewPr>
      <p:guideLst/>
    </p:cSldViewPr>
  </p:slideViewPr>
  <p:outlineViewPr>
    <p:cViewPr>
      <p:scale>
        <a:sx n="33" d="100"/>
        <a:sy n="33" d="100"/>
      </p:scale>
      <p:origin x="0" y="-3248"/>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0" d="100"/>
          <a:sy n="80" d="100"/>
        </p:scale>
        <p:origin x="3918" y="1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endra Kumar" userId="6c07c951-56e6-444d-b54c-43a261dacbee" providerId="ADAL" clId="{06A93499-00C3-468F-BFAF-ED895873DCA0}"/>
    <pc:docChg chg="custSel modSld">
      <pc:chgData name="Upendra Kumar" userId="6c07c951-56e6-444d-b54c-43a261dacbee" providerId="ADAL" clId="{06A93499-00C3-468F-BFAF-ED895873DCA0}" dt="2026-04-30T06:22:48.061" v="0" actId="26606"/>
      <pc:docMkLst>
        <pc:docMk/>
      </pc:docMkLst>
      <pc:sldChg chg="modNotes">
        <pc:chgData name="Upendra Kumar" userId="6c07c951-56e6-444d-b54c-43a261dacbee" providerId="ADAL" clId="{06A93499-00C3-468F-BFAF-ED895873DCA0}" dt="2026-04-30T06:22:48.061" v="0" actId="26606"/>
        <pc:sldMkLst>
          <pc:docMk/>
          <pc:sldMk cId="0" sldId="256"/>
        </pc:sldMkLst>
      </pc:sldChg>
      <pc:sldChg chg="modSp mod modNotes">
        <pc:chgData name="Upendra Kumar" userId="6c07c951-56e6-444d-b54c-43a261dacbee" providerId="ADAL" clId="{06A93499-00C3-468F-BFAF-ED895873DCA0}" dt="2026-04-30T06:22:48.061" v="0" actId="26606"/>
        <pc:sldMkLst>
          <pc:docMk/>
          <pc:sldMk cId="0" sldId="257"/>
        </pc:sldMkLst>
        <pc:spChg chg="mod">
          <ac:chgData name="Upendra Kumar" userId="6c07c951-56e6-444d-b54c-43a261dacbee" providerId="ADAL" clId="{06A93499-00C3-468F-BFAF-ED895873DCA0}" dt="2026-04-30T06:22:48.061" v="0" actId="26606"/>
          <ac:spMkLst>
            <pc:docMk/>
            <pc:sldMk cId="0" sldId="257"/>
            <ac:spMk id="13" creationId="{00000000-0000-0000-0000-000000000000}"/>
          </ac:spMkLst>
        </pc:spChg>
      </pc:sldChg>
      <pc:sldChg chg="modNotes">
        <pc:chgData name="Upendra Kumar" userId="6c07c951-56e6-444d-b54c-43a261dacbee" providerId="ADAL" clId="{06A93499-00C3-468F-BFAF-ED895873DCA0}" dt="2026-04-30T06:22:48.061" v="0" actId="26606"/>
        <pc:sldMkLst>
          <pc:docMk/>
          <pc:sldMk cId="0" sldId="258"/>
        </pc:sldMkLst>
      </pc:sldChg>
      <pc:sldChg chg="modNotes">
        <pc:chgData name="Upendra Kumar" userId="6c07c951-56e6-444d-b54c-43a261dacbee" providerId="ADAL" clId="{06A93499-00C3-468F-BFAF-ED895873DCA0}" dt="2026-04-30T06:22:48.061" v="0" actId="26606"/>
        <pc:sldMkLst>
          <pc:docMk/>
          <pc:sldMk cId="0" sldId="259"/>
        </pc:sldMkLst>
      </pc:sldChg>
      <pc:sldChg chg="modNotes">
        <pc:chgData name="Upendra Kumar" userId="6c07c951-56e6-444d-b54c-43a261dacbee" providerId="ADAL" clId="{06A93499-00C3-468F-BFAF-ED895873DCA0}" dt="2026-04-30T06:22:48.061" v="0" actId="26606"/>
        <pc:sldMkLst>
          <pc:docMk/>
          <pc:sldMk cId="0" sldId="260"/>
        </pc:sldMkLst>
      </pc:sldChg>
      <pc:sldChg chg="modNotes">
        <pc:chgData name="Upendra Kumar" userId="6c07c951-56e6-444d-b54c-43a261dacbee" providerId="ADAL" clId="{06A93499-00C3-468F-BFAF-ED895873DCA0}" dt="2026-04-30T06:22:48.061" v="0" actId="26606"/>
        <pc:sldMkLst>
          <pc:docMk/>
          <pc:sldMk cId="0" sldId="261"/>
        </pc:sldMkLst>
      </pc:sldChg>
      <pc:sldChg chg="modNotes">
        <pc:chgData name="Upendra Kumar" userId="6c07c951-56e6-444d-b54c-43a261dacbee" providerId="ADAL" clId="{06A93499-00C3-468F-BFAF-ED895873DCA0}" dt="2026-04-30T06:22:48.061" v="0" actId="26606"/>
        <pc:sldMkLst>
          <pc:docMk/>
          <pc:sldMk cId="0" sldId="262"/>
        </pc:sldMkLst>
      </pc:sldChg>
      <pc:sldChg chg="modNotes">
        <pc:chgData name="Upendra Kumar" userId="6c07c951-56e6-444d-b54c-43a261dacbee" providerId="ADAL" clId="{06A93499-00C3-468F-BFAF-ED895873DCA0}" dt="2026-04-30T06:22:48.061" v="0" actId="26606"/>
        <pc:sldMkLst>
          <pc:docMk/>
          <pc:sldMk cId="0" sldId="263"/>
        </pc:sldMkLst>
      </pc:sldChg>
      <pc:sldChg chg="modNotes">
        <pc:chgData name="Upendra Kumar" userId="6c07c951-56e6-444d-b54c-43a261dacbee" providerId="ADAL" clId="{06A93499-00C3-468F-BFAF-ED895873DCA0}" dt="2026-04-30T06:22:48.061" v="0" actId="26606"/>
        <pc:sldMkLst>
          <pc:docMk/>
          <pc:sldMk cId="0" sldId="264"/>
        </pc:sldMkLst>
      </pc:sldChg>
      <pc:sldChg chg="modNotes">
        <pc:chgData name="Upendra Kumar" userId="6c07c951-56e6-444d-b54c-43a261dacbee" providerId="ADAL" clId="{06A93499-00C3-468F-BFAF-ED895873DCA0}" dt="2026-04-30T06:22:48.061" v="0" actId="26606"/>
        <pc:sldMkLst>
          <pc:docMk/>
          <pc:sldMk cId="0" sldId="265"/>
        </pc:sldMkLst>
      </pc:sldChg>
      <pc:sldChg chg="modNotes">
        <pc:chgData name="Upendra Kumar" userId="6c07c951-56e6-444d-b54c-43a261dacbee" providerId="ADAL" clId="{06A93499-00C3-468F-BFAF-ED895873DCA0}" dt="2026-04-30T06:22:48.061" v="0" actId="26606"/>
        <pc:sldMkLst>
          <pc:docMk/>
          <pc:sldMk cId="0" sldId="266"/>
        </pc:sldMkLst>
      </pc:sldChg>
      <pc:sldChg chg="modNotes">
        <pc:chgData name="Upendra Kumar" userId="6c07c951-56e6-444d-b54c-43a261dacbee" providerId="ADAL" clId="{06A93499-00C3-468F-BFAF-ED895873DCA0}" dt="2026-04-30T06:22:48.061" v="0" actId="26606"/>
        <pc:sldMkLst>
          <pc:docMk/>
          <pc:sldMk cId="0" sldId="267"/>
        </pc:sldMkLst>
      </pc:sldChg>
      <pc:sldChg chg="modNotes">
        <pc:chgData name="Upendra Kumar" userId="6c07c951-56e6-444d-b54c-43a261dacbee" providerId="ADAL" clId="{06A93499-00C3-468F-BFAF-ED895873DCA0}" dt="2026-04-30T06:22:48.061" v="0" actId="26606"/>
        <pc:sldMkLst>
          <pc:docMk/>
          <pc:sldMk cId="0" sldId="268"/>
        </pc:sldMkLst>
      </pc:sldChg>
      <pc:sldChg chg="modSp mod modNotes">
        <pc:chgData name="Upendra Kumar" userId="6c07c951-56e6-444d-b54c-43a261dacbee" providerId="ADAL" clId="{06A93499-00C3-468F-BFAF-ED895873DCA0}" dt="2026-04-30T06:22:48.061" v="0" actId="26606"/>
        <pc:sldMkLst>
          <pc:docMk/>
          <pc:sldMk cId="0" sldId="269"/>
        </pc:sldMkLst>
        <pc:picChg chg="mod">
          <ac:chgData name="Upendra Kumar" userId="6c07c951-56e6-444d-b54c-43a261dacbee" providerId="ADAL" clId="{06A93499-00C3-468F-BFAF-ED895873DCA0}" dt="2026-04-30T06:22:48.061" v="0" actId="26606"/>
          <ac:picMkLst>
            <pc:docMk/>
            <pc:sldMk cId="0" sldId="269"/>
            <ac:picMk id="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4/30/2026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4/30/2026</a:t>
            </a:fld>
            <a:endParaRPr lang="en-US" dirty="0"/>
          </a:p>
        </p:txBody>
      </p:sp>
      <p:sp>
        <p:nvSpPr>
          <p:cNvPr id="4" name="Slide Image Placeholder 3"/>
          <p:cNvSpPr>
            <a:spLocks noGrp="1" noRot="1" noChangeAspect="1"/>
          </p:cNvSpPr>
          <p:nvPr>
            <p:ph type="sldImg" idx="2"/>
          </p:nvPr>
        </p:nvSpPr>
        <p:spPr>
          <a:xfrm>
            <a:off x="990600" y="349946"/>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[OPENING – Delivery Architect Introduction]</a:t>
            </a:r>
          </a:p>
          <a:p>
            <a:endParaRPr lang="en-US" dirty="0"/>
          </a:p>
          <a:p>
            <a:r>
              <a:rPr lang="en-US" dirty="0"/>
              <a:t>Good morning/afternoon everyone. Thank you for joining us today.</a:t>
            </a:r>
          </a:p>
          <a:p>
            <a:endParaRPr lang="en-US" dirty="0"/>
          </a:p>
          <a:p>
            <a:r>
              <a:rPr lang="en-US" dirty="0"/>
              <a:t>My name is Upendra Kumar, and I serve as a Delivery Architect within Professional Services. Today I am presenting the Cloud Readiness Accelerator – a reusable, enterprise-grade, multi-cloud assessment framework that we have built, tested, and proven in production.</a:t>
            </a:r>
          </a:p>
          <a:p>
            <a:endParaRPr lang="en-US" dirty="0"/>
          </a:p>
          <a:p>
            <a:r>
              <a:rPr lang="en-US" dirty="0"/>
              <a:t>From an Azure Cloud Architecture perspective: This framework was born out of the reality that every major enterprise migration – whether targeting Azure, AWS, or GCP – begins with the same fundamental question: “Where do we start, and how do we make defensible decisions?” This accelerator answers that question with structure, evidence, and repeatability.</a:t>
            </a:r>
          </a:p>
          <a:p>
            <a:endParaRPr lang="en-US" dirty="0"/>
          </a:p>
          <a:p>
            <a:r>
              <a:rPr lang="en-US" dirty="0"/>
              <a:t>From a Senior Project Management standpoint: We have seen too many assessment engagements burn 8 to 12 weeks just standing up templates and methodology before any real analysis begins. This framework eliminates that waste.</a:t>
            </a:r>
          </a:p>
          <a:p>
            <a:endParaRPr lang="en-US" dirty="0"/>
          </a:p>
          <a:p>
            <a:r>
              <a:rPr lang="en-US" dirty="0"/>
              <a:t>From an AI Architecture lens across Microsoft, Google, and AWS: The framework is designed to be provider-neutral, which means it can objectively evaluate AI and ML workload placement across all three hyperscalers without bias.</a:t>
            </a:r>
          </a:p>
          <a:p>
            <a:endParaRPr lang="en-US" dirty="0"/>
          </a:p>
          <a:p>
            <a:r>
              <a:rPr lang="en-US" dirty="0"/>
              <a:t>Key message: This is not a slide deck. This is a delivery capability that has been proven at enterprise scale.</a:t>
            </a:r>
          </a:p>
        </p:txBody>
      </p:sp>
      <p:sp>
        <p:nvSpPr>
          <p:cNvPr id="4" name="Slide Number Placeholder 3"/>
          <p:cNvSpPr>
            <a:spLocks noGrp="1"/>
          </p:cNvSpPr>
          <p:nvPr>
            <p:ph type="sldNum" sz="quarter" idx="5"/>
          </p:nvPr>
        </p:nvSpPr>
        <p:spPr/>
        <p:txBody>
          <a:bodyPr/>
          <a:lstStyle/>
          <a:p>
            <a:fld id="{B6F15528-F159-4107-8E1A-4A3D0002E9E0}"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[EXECUTIVE SUMMARY – Why This Matters to Leadership]</a:t>
            </a:r>
          </a:p>
          <a:p>
            <a:endParaRPr lang="en-US" dirty="0"/>
          </a:p>
          <a:p>
            <a:r>
              <a:rPr lang="en-US" dirty="0"/>
              <a:t>Let me walk you through the executive summary of what this framework delivers.</a:t>
            </a:r>
          </a:p>
          <a:p>
            <a:endParaRPr lang="en-US" dirty="0"/>
          </a:p>
          <a:p>
            <a:r>
              <a:rPr lang="en-US" dirty="0"/>
              <a:t>From a Pre-Sales Architecture perspective at Microsoft, AWS, and Google: When we engage with enterprise clients, the first thing they ask is “How quickly can you assess our estate and give us actionable recommendations?” With this framework, we cut delivery time by 60 percent because we are not starting from scratch.</a:t>
            </a:r>
          </a:p>
          <a:p>
            <a:endParaRPr lang="en-US" dirty="0"/>
          </a:p>
          <a:p>
            <a:r>
              <a:rPr lang="en-US" dirty="0"/>
              <a:t>The numbers tell the story: 24-plus reusable assets, 3 cloud platforms evaluated objectively, 4 structured assessment phases, and 100 percent provider neutrality.</a:t>
            </a:r>
          </a:p>
          <a:p>
            <a:endParaRPr lang="en-US" dirty="0"/>
          </a:p>
          <a:p>
            <a:r>
              <a:rPr lang="en-US" dirty="0"/>
              <a:t>From a Senior Director, Cloud Solutions Architecture viewpoint: There are three strategic outcomes here. First, delivery advantage – standardized methodology means every engagement starts strong. Second, commercial clarity – multi-cloud TCO modeling and readiness scoring give clients the evidence they need for board-level decisions. Third, practice scalability – any team can pick this up and deliver consistent quality.</a:t>
            </a:r>
          </a:p>
          <a:p>
            <a:endParaRPr lang="en-US" dirty="0"/>
          </a:p>
          <a:p>
            <a:r>
              <a:rPr lang="en-US" dirty="0"/>
              <a:t>Alliance Partner perspective: For our partnerships with Microsoft, AWS, and Google, this framework demonstrates that we are not a single-cloud shop. We evaluate objectively and recommend based on client business drivers, not vendor preference. That builds trust with both the client and the hyperscaler.</a:t>
            </a:r>
          </a:p>
          <a:p>
            <a:endParaRPr lang="en-US" dirty="0"/>
          </a:p>
          <a:p>
            <a:r>
              <a:rPr lang="en-US" dirty="0"/>
              <a:t>The DMG Media proof point validates this at meaningful enterprise scale – we will cover that in detail shortly.</a:t>
            </a:r>
          </a:p>
        </p:txBody>
      </p:sp>
      <p:sp>
        <p:nvSpPr>
          <p:cNvPr id="4" name="Slide Number Placeholder 3"/>
          <p:cNvSpPr>
            <a:spLocks noGrp="1"/>
          </p:cNvSpPr>
          <p:nvPr>
            <p:ph type="sldNum" sz="quarter" idx="5"/>
          </p:nvPr>
        </p:nvSpPr>
        <p:spPr/>
        <p:txBody>
          <a:bodyPr/>
          <a:lstStyle/>
          <a:p>
            <a:fld id="{B6F15528-F159-4107-8E1A-4A3D0002E9E1}"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[PROBLEM STATEMENT – The Pain Points We Solve]</a:t>
            </a:r>
          </a:p>
          <a:p>
            <a:endParaRPr lang="en-US" dirty="0"/>
          </a:p>
          <a:p>
            <a:r>
              <a:rPr lang="en-US" dirty="0"/>
              <a:t>Let us be honest about why this framework exists.</a:t>
            </a:r>
          </a:p>
          <a:p>
            <a:endParaRPr lang="en-US" dirty="0"/>
          </a:p>
          <a:p>
            <a:r>
              <a:rPr lang="en-US" dirty="0"/>
              <a:t>From a Senior Project Manager perspective: I have managed dozens of cloud assessment engagements, and the pattern is always the same. Teams spend 8 to 12 weeks just building the assessment methodology, templates, and scoring before they even start analyzing the client estate. That is unacceptable when clients expect rapid time-to-value.</a:t>
            </a:r>
          </a:p>
          <a:p>
            <a:endParaRPr lang="en-US" dirty="0"/>
          </a:p>
          <a:p>
            <a:r>
              <a:rPr lang="en-US" dirty="0"/>
              <a:t>Azure Cloud Architect insight: The traditional approach has four critical pain points, and the impact scores on this chart tell the story. Long timelines score a 9 out of 10 in severity. Provider bias scores an 8 – when you use a single vendor’s discovery tool, the recommendation inevitably tilts toward that vendor. Lack of templates and manual analysis both score high because they introduce inconsistency and human error.</a:t>
            </a:r>
          </a:p>
          <a:p>
            <a:endParaRPr lang="en-US" dirty="0"/>
          </a:p>
          <a:p>
            <a:r>
              <a:rPr lang="en-US" dirty="0"/>
              <a:t>From an AI Architecture perspective: In the era of AI-driven workloads, assessment complexity has increased dramatically. You cannot just evaluate compute and storage anymore. You need to assess AI/ML readiness, data pipeline maturity, GPU requirements, and model serving infrastructure across clouds. A manual approach simply cannot keep up.</a:t>
            </a:r>
          </a:p>
          <a:p>
            <a:endParaRPr lang="en-US" dirty="0"/>
          </a:p>
          <a:p>
            <a:r>
              <a:rPr lang="en-US" dirty="0"/>
              <a:t>Google Cloud Alliance Partner view: Google often sees engagements where the assessment was done using Azure Migrate or AWS Migration Hub exclusively. The result is a biased recommendation that the client later questions. Our provider-neutral approach eliminates that credibility risk.</a:t>
            </a:r>
          </a:p>
          <a:p>
            <a:endParaRPr lang="en-US" dirty="0"/>
          </a:p>
          <a:p>
            <a:r>
              <a:rPr lang="en-US" dirty="0"/>
              <a:t>The core insight: Assessment quality improves dramatically when you standardize methodology, scoring, templates, and reporting before the engagement begins.</a:t>
            </a:r>
          </a:p>
        </p:txBody>
      </p:sp>
      <p:sp>
        <p:nvSpPr>
          <p:cNvPr id="4" name="Slide Number Placeholder 3"/>
          <p:cNvSpPr>
            <a:spLocks noGrp="1"/>
          </p:cNvSpPr>
          <p:nvPr>
            <p:ph type="sldNum" sz="quarter" idx="5"/>
          </p:nvPr>
        </p:nvSpPr>
        <p:spPr/>
        <p:txBody>
          <a:bodyPr/>
          <a:lstStyle/>
          <a:p>
            <a:fld id="{B6F15528-F159-4107-8E1A-4A3D0002E9E2}"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[FRAMEWORK CAPABILITIES – What We Actually Deliver]</a:t>
            </a:r>
          </a:p>
          <a:p>
            <a:endParaRPr lang="en-US" dirty="0"/>
          </a:p>
          <a:p>
            <a:r>
              <a:rPr lang="en-US" dirty="0"/>
              <a:t>Now let me show you what the Cloud Readiness Accelerator actually provides.</a:t>
            </a:r>
          </a:p>
          <a:p>
            <a:endParaRPr lang="en-US" dirty="0"/>
          </a:p>
          <a:p>
            <a:r>
              <a:rPr lang="en-US" dirty="0"/>
              <a:t>From a Microsoft Azure Cloud Architect perspective: This is not just a set of templates. It is a complete delivery model with four key pillars. First, standardized methodology – every engagement follows the same proven approach. Second, multi-cloud scoring – objective, weighted comparison across Azure, AWS, and GCP. Third, reusable templates – 24-plus pre-built deliverables that reduce time-to-value immediately. Fourth, production-ready assets – these were built from real enterprise delivery, not theoretical frameworks.</a:t>
            </a:r>
          </a:p>
          <a:p>
            <a:endParaRPr lang="en-US" dirty="0"/>
          </a:p>
          <a:p>
            <a:r>
              <a:rPr lang="en-US" dirty="0"/>
              <a:t>Pre-Sales Architect insight for AWS and Google: When positioning this to clients, emphasize the five readiness dimensions. We do not just assess technical fit. We evaluate Technical, Operations, Security, Business, and People readiness. That holistic view is what differentiates us from competitors who only run a discovery tool and hand over a spreadsheet.</a:t>
            </a:r>
          </a:p>
          <a:p>
            <a:endParaRPr lang="en-US" dirty="0"/>
          </a:p>
          <a:p>
            <a:r>
              <a:rPr lang="en-US" dirty="0"/>
              <a:t>Senior Director, Cloud Solutions Architecture: The framework covers the entire assessment lifecycle – discovery questionnaires, application profiling, dependency mapping, TCO modeling, and executive reporting. Each of these has pre-built templates and scoring models.</a:t>
            </a:r>
          </a:p>
          <a:p>
            <a:endParaRPr lang="en-US" dirty="0"/>
          </a:p>
          <a:p>
            <a:r>
              <a:rPr lang="en-US" dirty="0"/>
              <a:t>AI Architecture perspective: For clients with AI and machine learning workloads, the framework evaluates platform-specific AI services, GPU availability, model training costs, and inference pricing across all three clouds. This is increasingly the deciding factor for cloud selection.</a:t>
            </a:r>
          </a:p>
          <a:p>
            <a:endParaRPr lang="en-US" dirty="0"/>
          </a:p>
          <a:p>
            <a:r>
              <a:rPr lang="en-US" dirty="0"/>
              <a:t>Key numbers to remember: 24-plus templates, 3 platforms, 4 phases, 5 readiness dimensions.</a:t>
            </a:r>
          </a:p>
        </p:txBody>
      </p:sp>
      <p:sp>
        <p:nvSpPr>
          <p:cNvPr id="4" name="Slide Number Placeholder 3"/>
          <p:cNvSpPr>
            <a:spLocks noGrp="1"/>
          </p:cNvSpPr>
          <p:nvPr>
            <p:ph type="sldNum" sz="quarter" idx="5"/>
          </p:nvPr>
        </p:nvSpPr>
        <p:spPr/>
        <p:txBody>
          <a:bodyPr/>
          <a:lstStyle/>
          <a:p>
            <a:fld id="{B6F15528-F159-4107-8E1A-4A3D0002E9E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[METHODOLOGY – The Four-Phase Delivery Model]</a:t>
            </a:r>
          </a:p>
          <a:p>
            <a:endParaRPr lang="en-US" dirty="0"/>
          </a:p>
          <a:p>
            <a:r>
              <a:rPr lang="en-US" dirty="0"/>
              <a:t>This is the backbone of the framework – a four-phase assessment model that moves from discovery to actionable planning without losing delivery discipline.</a:t>
            </a:r>
          </a:p>
          <a:p>
            <a:endParaRPr lang="en-US" dirty="0"/>
          </a:p>
          <a:p>
            <a:r>
              <a:rPr lang="en-US" dirty="0"/>
              <a:t>Senior Project Manager perspective: Each phase has defined entry and exit criteria, clear deliverables, and assigned responsibilities. Phase 1, Discovery, covers tooling deployment, server profiling, dependency mapping, and application workshops. Phase 2, Analysis, is where the heavy lifting happens – TCO modeling, technical assessment, readiness scoring, and gap identification. Phase 3, Evaluation, brings it all together with multi-cloud comparison, weighted scoring, and business-fit analysis. Phase 4, Planning, produces the actionable outputs – migration runbooks, wave plans, governance design, and next steps.</a:t>
            </a:r>
          </a:p>
          <a:p>
            <a:endParaRPr lang="en-US" dirty="0"/>
          </a:p>
          <a:p>
            <a:r>
              <a:rPr lang="en-US" dirty="0"/>
              <a:t>Azure Cloud Architect detail: In Phase 1, we deploy Azure Migrate alongside AWS Migration Hub and Google Cloud’s discovery tools simultaneously. This gives us a provider-neutral data set from day one. The dependency mapping captures application-to-infrastructure relationships that are critical for wave planning.</a:t>
            </a:r>
          </a:p>
          <a:p>
            <a:endParaRPr lang="en-US" dirty="0"/>
          </a:p>
          <a:p>
            <a:r>
              <a:rPr lang="en-US" dirty="0"/>
              <a:t>AWS Pre-Sales Architect note: Clients appreciate that we run all three discovery toolsets. It shows objectivity and often reveals capabilities they did not know existed on certain platforms.</a:t>
            </a:r>
          </a:p>
          <a:p>
            <a:endParaRPr lang="en-US" dirty="0"/>
          </a:p>
          <a:p>
            <a:r>
              <a:rPr lang="en-US" dirty="0"/>
              <a:t>Google Cloud Alliance Partner perspective: Phase 3 is where Google often wins or loses deals. Our weighted scoring model ensures that Google’s strengths in data analytics, Kubernetes, and AI/ML are properly evaluated alongside Azure and AWS capabilities.</a:t>
            </a:r>
          </a:p>
          <a:p>
            <a:endParaRPr lang="en-US" dirty="0"/>
          </a:p>
          <a:p>
            <a:r>
              <a:rPr lang="en-US" dirty="0"/>
              <a:t>The three outcomes at the bottom are what the client and leadership care about: engagement control through standard phases, client confidence through evidence-based outputs, and delivery readiness with a complete roadmap.</a:t>
            </a:r>
          </a:p>
        </p:txBody>
      </p:sp>
      <p:sp>
        <p:nvSpPr>
          <p:cNvPr id="4" name="Slide Number Placeholder 3"/>
          <p:cNvSpPr>
            <a:spLocks noGrp="1"/>
          </p:cNvSpPr>
          <p:nvPr>
            <p:ph type="sldNum" sz="quarter" idx="5"/>
          </p:nvPr>
        </p:nvSpPr>
        <p:spPr/>
        <p:txBody>
          <a:bodyPr/>
          <a:lstStyle/>
          <a:p>
            <a:fld id="{B6F15528-F159-4107-8E1A-4A3D0002E9E4}"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[SCORING MODEL – Making Recommendations Defensible]</a:t>
            </a:r>
          </a:p>
          <a:p>
            <a:endParaRPr lang="en-US" dirty="0"/>
          </a:p>
          <a:p>
            <a:r>
              <a:rPr lang="en-US" dirty="0"/>
              <a:t>This slide is critical because it addresses the single biggest challenge in cloud assessments: making recommendations that survive scrutiny from every stakeholder.</a:t>
            </a:r>
          </a:p>
          <a:p>
            <a:endParaRPr lang="en-US" dirty="0"/>
          </a:p>
          <a:p>
            <a:r>
              <a:rPr lang="en-US" dirty="0"/>
              <a:t>Senior Director, Cloud Solutions Architecture: We score across five dimensions – Technical, Operations, Security, Business, and People. Each dimension has specific evaluation criteria. Technical covers platform fit, application constraints, performance requirements, and dependencies. Operations evaluates run model, monitoring, automation, and ITSM integration. Security assesses identity, network controls, data protection, and risk posture. Business examines criticality, value, constraints, and timeline. People evaluates skills, adoption readiness, and change management needs.</a:t>
            </a:r>
          </a:p>
          <a:p>
            <a:endParaRPr lang="en-US" dirty="0"/>
          </a:p>
          <a:p>
            <a:r>
              <a:rPr lang="en-US" dirty="0"/>
              <a:t>Azure Cloud Architect insight: The weighting system is what makes this powerful. Client priorities drive the weights. If a financial services client says security and compliance are paramount, those dimensions get higher weighting. If a media company prioritizes speed and innovation, the weights shift accordingly. This means the same framework produces different, client-specific recommendations.</a:t>
            </a:r>
          </a:p>
          <a:p>
            <a:endParaRPr lang="en-US" dirty="0"/>
          </a:p>
          <a:p>
            <a:r>
              <a:rPr lang="en-US" dirty="0"/>
              <a:t>AI Architecture perspective across all three clouds: For AI workloads, the Technical dimension evaluates GPU availability and pricing, pre-trained model ecosystems, MLOps tooling maturity, and data pipeline integration. The Operations dimension assesses model monitoring, drift detection, and automated retraining capabilities. These are often the differentiators between clouds.</a:t>
            </a:r>
          </a:p>
          <a:p>
            <a:endParaRPr lang="en-US" dirty="0"/>
          </a:p>
          <a:p>
            <a:r>
              <a:rPr lang="en-US" dirty="0"/>
              <a:t>AWS and Google Pre-Sales insight: When a client asks “Why did you recommend Platform X over Platform Y?”, we can point to the specific scores across all five dimensions and show exactly where each platform won or lost points. That level of transparency builds trust and accelerates decision-making.</a:t>
            </a:r>
          </a:p>
          <a:p>
            <a:endParaRPr lang="en-US" dirty="0"/>
          </a:p>
          <a:p>
            <a:r>
              <a:rPr lang="en-US" dirty="0"/>
              <a:t>Key message: A good CRA recommendation is not a cloud preference. It is a defensible decision model that survives executive, technical, and commercial scrutiny.</a:t>
            </a:r>
          </a:p>
        </p:txBody>
      </p:sp>
      <p:sp>
        <p:nvSpPr>
          <p:cNvPr id="4" name="Slide Number Placeholder 3"/>
          <p:cNvSpPr>
            <a:spLocks noGrp="1"/>
          </p:cNvSpPr>
          <p:nvPr>
            <p:ph type="sldNum" sz="quarter" idx="5"/>
          </p:nvPr>
        </p:nvSpPr>
        <p:spPr/>
        <p:txBody>
          <a:bodyPr/>
          <a:lstStyle/>
          <a:p>
            <a:fld id="{B6F15528-F159-4107-8E1A-4A3D0002E9E5}"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[ASSET LIBRARY – What Teams Actually Get to Use]</a:t>
            </a:r>
          </a:p>
          <a:p>
            <a:endParaRPr lang="en-US" dirty="0"/>
          </a:p>
          <a:p>
            <a:r>
              <a:rPr lang="en-US" dirty="0"/>
              <a:t>Let me walk through the reusable asset library, because this is where the 60 percent time reduction comes from.</a:t>
            </a:r>
          </a:p>
          <a:p>
            <a:endParaRPr lang="en-US" dirty="0"/>
          </a:p>
          <a:p>
            <a:r>
              <a:rPr lang="en-US" dirty="0"/>
              <a:t>Senior Project Manager perspective: The assets are organized across five categories. Discovery assets include inventory templates, profiling questionnaires, dependency mapping tools, and automation scripts. Assessment assets provide scoring models, readiness checklists, and cloud affinity calculators. TCO assets are particularly powerful – they include live API-driven pricing, BYOL modeling, regional cost comparison, and optimization scenario modeling.</a:t>
            </a:r>
          </a:p>
          <a:p>
            <a:endParaRPr lang="en-US" dirty="0"/>
          </a:p>
          <a:p>
            <a:r>
              <a:rPr lang="en-US" dirty="0"/>
              <a:t>Azure Cloud Architect detail: The TCO modeling assets connect to Azure Pricing Calculator APIs, AWS Pricing APIs, and Google Cloud Pricing APIs. This means cost comparisons are always current, not based on stale rate cards. We model BYOL scenarios for SQL Server, Windows Server, and other Microsoft workloads where Azure Hybrid Benefit can significantly change the economics.</a:t>
            </a:r>
          </a:p>
          <a:p>
            <a:endParaRPr lang="en-US" dirty="0"/>
          </a:p>
          <a:p>
            <a:r>
              <a:rPr lang="en-US" dirty="0"/>
              <a:t>AWS Alliance Partner insight: The Planning category includes migration wave templates, project plans, governance frameworks, and landing zone blueprints for all three clouds. These are not generic – they reflect real-world landing zone architectures that have been validated in production.</a:t>
            </a:r>
          </a:p>
          <a:p>
            <a:endParaRPr lang="en-US" dirty="0"/>
          </a:p>
          <a:p>
            <a:r>
              <a:rPr lang="en-US" dirty="0"/>
              <a:t>Google Cloud Pre-Sales perspective: The Engagement category includes workshop decks, interview guides, hyperscaler scorecards, and negotiation materials. The hyperscaler scorecards are particularly valuable because they provide a standardized comparison framework that clients can use internally.</a:t>
            </a:r>
          </a:p>
          <a:p>
            <a:endParaRPr lang="en-US" dirty="0"/>
          </a:p>
          <a:p>
            <a:r>
              <a:rPr lang="en-US" dirty="0"/>
              <a:t>AI Architecture note: For AI-specific assessments, we have added templates for ML workload profiling, GPU requirement calculators, and AI service comparison matrices across Azure AI, AWS SageMaker, and Google Vertex AI.</a:t>
            </a:r>
          </a:p>
          <a:p>
            <a:endParaRPr lang="en-US" dirty="0"/>
          </a:p>
          <a:p>
            <a:r>
              <a:rPr lang="en-US" dirty="0"/>
              <a:t>Important caveat: Reusable does not mean generic. The framework keeps client-specific inputs, assumptions, and decisions traceable while standardizing the delivery mechanics.</a:t>
            </a:r>
          </a:p>
        </p:txBody>
      </p:sp>
      <p:sp>
        <p:nvSpPr>
          <p:cNvPr id="4" name="Slide Number Placeholder 3"/>
          <p:cNvSpPr>
            <a:spLocks noGrp="1"/>
          </p:cNvSpPr>
          <p:nvPr>
            <p:ph type="sldNum" sz="quarter" idx="5"/>
          </p:nvPr>
        </p:nvSpPr>
        <p:spPr/>
        <p:txBody>
          <a:bodyPr/>
          <a:lstStyle/>
          <a:p>
            <a:fld id="{B6F15528-F159-4107-8E1A-4A3D0002E9E6}"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[DIFFERENTIATORS – Why This Is Better Than Alternatives]</a:t>
            </a:r>
          </a:p>
          <a:p>
            <a:endParaRPr lang="en-US" dirty="0"/>
          </a:p>
          <a:p>
            <a:r>
              <a:rPr lang="en-US" dirty="0"/>
              <a:t>Let me be direct about what makes this framework different from what competitors and individual hyperscalers offer.</a:t>
            </a:r>
          </a:p>
          <a:p>
            <a:endParaRPr lang="en-US" dirty="0"/>
          </a:p>
          <a:p>
            <a:r>
              <a:rPr lang="en-US" dirty="0"/>
              <a:t>Senior Director, Cloud Solutions Architecture: Four key differentiators. First, 100 percent provider-neutral evaluation – our scoring is not funded or influenced by any single hyperscaler. Second, five readiness dimensions – we go beyond technical fit to evaluate the full picture. Third, 24-plus reusable assets – this is not a methodology document, it is a complete delivery toolkit. Fourth, 60 percent time reduction – proven across multiple engagements.</a:t>
            </a:r>
          </a:p>
          <a:p>
            <a:endParaRPr lang="en-US" dirty="0"/>
          </a:p>
          <a:p>
            <a:r>
              <a:rPr lang="en-US" dirty="0"/>
              <a:t>Azure Cloud Architect perspective: Provider-neutral evaluation is our strongest differentiator. When Azure is the right answer, our framework shows it clearly. When AWS or GCP is better suited, we say that too. Clients trust recommendations that come from an objective process, and Microsoft, AWS, and Google all respect partners who recommend based on evidence rather than commercial incentive.</a:t>
            </a:r>
          </a:p>
          <a:p>
            <a:endParaRPr lang="en-US" dirty="0"/>
          </a:p>
          <a:p>
            <a:r>
              <a:rPr lang="en-US" dirty="0"/>
              <a:t>AWS Pre-Sales Architect insight: The licensing-aware TCO modeling is a significant differentiator. Most assessment tools ignore BYOL implications, Software Assurance benefits, Enterprise Agreement discounts, and reserved instance optimization. Our models capture all of these, which can change the cost comparison by 30 to 40 percent.</a:t>
            </a:r>
          </a:p>
          <a:p>
            <a:endParaRPr lang="en-US" dirty="0"/>
          </a:p>
          <a:p>
            <a:r>
              <a:rPr lang="en-US" dirty="0"/>
              <a:t>Google Cloud Alliance Partner view: The governance-first design is what enterprise clients need. We do not bolt on security, FinOps, and operating model considerations at the end. They are built into the assessment from Phase 1. This means the recommendation comes with a governance-ready landing zone design.</a:t>
            </a:r>
          </a:p>
          <a:p>
            <a:endParaRPr lang="en-US" dirty="0"/>
          </a:p>
          <a:p>
            <a:r>
              <a:rPr lang="en-US" dirty="0"/>
              <a:t>AI Architecture across all platforms: For AI workloads, the framework evaluates not just current capabilities but platform roadmaps. Google’s TPU strategy, AWS’s Trainium and Inferentia chips, and Azure’s OpenAI partnership all factor into forward-looking recommendations.</a:t>
            </a:r>
          </a:p>
          <a:p>
            <a:endParaRPr lang="en-US" dirty="0"/>
          </a:p>
          <a:p>
            <a:r>
              <a:rPr lang="en-US" dirty="0"/>
              <a:t>The value is not just speed. It is a defensible, consistent recommendation that supports executive, technical, and commercial decision routing.</a:t>
            </a:r>
          </a:p>
        </p:txBody>
      </p:sp>
      <p:sp>
        <p:nvSpPr>
          <p:cNvPr id="4" name="Slide Number Placeholder 3"/>
          <p:cNvSpPr>
            <a:spLocks noGrp="1"/>
          </p:cNvSpPr>
          <p:nvPr>
            <p:ph type="sldNum" sz="quarter" idx="5"/>
          </p:nvPr>
        </p:nvSpPr>
        <p:spPr/>
        <p:txBody>
          <a:bodyPr/>
          <a:lstStyle/>
          <a:p>
            <a:fld id="{B6F15528-F159-4107-8E1A-4A3D0002E9E7}"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[PROOF POINT – DMG Media Enterprise Case Study]</a:t>
            </a:r>
          </a:p>
          <a:p>
            <a:endParaRPr lang="en-US" dirty="0"/>
          </a:p>
          <a:p>
            <a:r>
              <a:rPr lang="en-US" dirty="0"/>
              <a:t>This is where theory meets reality. The DMG Media case study proves this framework works at genuine enterprise scale.</a:t>
            </a:r>
          </a:p>
          <a:p>
            <a:endParaRPr lang="en-US" dirty="0"/>
          </a:p>
          <a:p>
            <a:r>
              <a:rPr lang="en-US" dirty="0"/>
              <a:t>Senior Project Manager perspective: Let me give you the numbers. 3,038 servers assessed across three data centers – Reading, Slough, and Sydney. 39 applications profiled including Mail Online, Metro, and other major DMG brands. 88 databases evaluated. All delivered in 11 weeks. Without this framework, an assessment of this scale would typically take 20 to 24 weeks.</a:t>
            </a:r>
          </a:p>
          <a:p>
            <a:endParaRPr lang="en-US" dirty="0"/>
          </a:p>
          <a:p>
            <a:r>
              <a:rPr lang="en-US" dirty="0"/>
              <a:t>Azure Cloud Architect detail: The estate included a complex mix of Windows and Linux workloads, legacy applications, modern containerized services, and significant database diversity including SQL Server, Oracle, MySQL, and PostgreSQL. We ran Azure Migrate, AWS Application Discovery Service, and Google Cloud discovery tooling simultaneously across all three data centers.</a:t>
            </a:r>
          </a:p>
          <a:p>
            <a:endParaRPr lang="en-US" dirty="0"/>
          </a:p>
          <a:p>
            <a:r>
              <a:rPr lang="en-US" dirty="0"/>
              <a:t>AWS Alliance Partner insight: The application profiling workshops were critical for DMG. Mail Online alone had complex dependencies spanning content delivery, real-time analytics, advertising platforms, and reader engagement systems. Our structured workshop approach captured these dependencies systematically rather than relying solely on automated discovery.</a:t>
            </a:r>
          </a:p>
          <a:p>
            <a:endParaRPr lang="en-US" dirty="0"/>
          </a:p>
          <a:p>
            <a:r>
              <a:rPr lang="en-US" dirty="0"/>
              <a:t>Google Cloud Pre-Sales perspective: DMG’s data analytics requirements were substantial. The framework’s evaluation showed where Google BigQuery and Vertex AI had advantages for specific analytical workloads, while Azure and AWS were better suited for other parts of the estate.</a:t>
            </a:r>
          </a:p>
          <a:p>
            <a:endParaRPr lang="en-US" dirty="0"/>
          </a:p>
          <a:p>
            <a:r>
              <a:rPr lang="en-US" dirty="0"/>
              <a:t>AI Architecture note: DMG’s content recommendation engines and advertising optimization systems required specific AI/ML evaluation. The framework assessed these workloads against Azure OpenAI Service, AWS SageMaker, and Google Vertex AI based on model serving latency, training costs, and integration complexity.</a:t>
            </a:r>
          </a:p>
          <a:p>
            <a:endParaRPr lang="en-US" dirty="0"/>
          </a:p>
          <a:p>
            <a:r>
              <a:rPr lang="en-US" dirty="0"/>
              <a:t>Senior Director summary: The recommendation was based on application fit, existing skills, migration risk, and commercial position – exactly the multi-dimensional analysis that this framework enables. This is not a theoretical capability. It has been proven at enterprise scale.</a:t>
            </a:r>
          </a:p>
        </p:txBody>
      </p:sp>
      <p:sp>
        <p:nvSpPr>
          <p:cNvPr id="4" name="Slide Number Placeholder 3"/>
          <p:cNvSpPr>
            <a:spLocks noGrp="1"/>
          </p:cNvSpPr>
          <p:nvPr>
            <p:ph type="sldNum" sz="quarter" idx="5"/>
          </p:nvPr>
        </p:nvSpPr>
        <p:spPr/>
        <p:txBody>
          <a:bodyPr/>
          <a:lstStyle/>
          <a:p>
            <a:fld id="{B6F15528-F159-4107-8E1A-4A3D0002E9E8}"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[STRATEGIC VALUE – What This Means for the Business]</a:t>
            </a:r>
          </a:p>
          <a:p>
            <a:endParaRPr lang="en-US" dirty="0"/>
          </a:p>
          <a:p>
            <a:r>
              <a:rPr lang="en-US" dirty="0"/>
              <a:t>Let me frame the strategic value this framework delivers to Rackspace and to our practice.</a:t>
            </a:r>
          </a:p>
          <a:p>
            <a:endParaRPr lang="en-US" dirty="0"/>
          </a:p>
          <a:p>
            <a:r>
              <a:rPr lang="en-US" dirty="0"/>
              <a:t>Senior Director, Cloud Solutions Architecture: Four measurable outcomes. 60 percent faster delivery – that directly impacts revenue recognition and client satisfaction. 100 percent consistency – every client gets the same quality regardless of which team delivers. 3x scalability – we can run three times as many concurrent assessments with the same team capacity. And one common delivery model that every team follows.</a:t>
            </a:r>
          </a:p>
          <a:p>
            <a:endParaRPr lang="en-US" dirty="0"/>
          </a:p>
          <a:p>
            <a:r>
              <a:rPr lang="en-US" dirty="0"/>
              <a:t>Senior Project Manager perspective: From a delivery economics standpoint, faster delivery means lower cost-to-serve per engagement. Consistency means fewer rework cycles and change requests. Scalability means we can say yes to more opportunities without proportionally increasing headcount.</a:t>
            </a:r>
          </a:p>
          <a:p>
            <a:endParaRPr lang="en-US" dirty="0"/>
          </a:p>
          <a:p>
            <a:r>
              <a:rPr lang="en-US" dirty="0"/>
              <a:t>Azure Cloud Architect insight: For our Microsoft partnership, having a structured, repeatable assessment capability strengthens our position as an Azure Expert MSP. Microsoft co-sell teams can confidently recommend us for assessment engagements knowing the quality and methodology are standardized.</a:t>
            </a:r>
          </a:p>
          <a:p>
            <a:endParaRPr lang="en-US" dirty="0"/>
          </a:p>
          <a:p>
            <a:r>
              <a:rPr lang="en-US" dirty="0"/>
              <a:t>AWS Alliance Partner view: Similarly, for our AWS partnership, demonstrating a mature assessment capability with standardized delivery accelerates our path through the AWS Partner Network tiers. Assessment-led engagements are how we build pipeline for managed services.</a:t>
            </a:r>
          </a:p>
          <a:p>
            <a:endParaRPr lang="en-US" dirty="0"/>
          </a:p>
          <a:p>
            <a:r>
              <a:rPr lang="en-US" dirty="0"/>
              <a:t>Google Cloud Pre-Sales perspective: Google values partners who can demonstrate methodology-led delivery. This framework positions us strongly for Google Cloud Partner Specializations and co-sell opportunities.</a:t>
            </a:r>
          </a:p>
          <a:p>
            <a:endParaRPr lang="en-US" dirty="0"/>
          </a:p>
          <a:p>
            <a:r>
              <a:rPr lang="en-US" dirty="0"/>
              <a:t>AI Architecture across platforms: As AI becomes a primary workload driver, having a framework that objectively evaluates AI readiness across all three clouds is a significant competitive advantage. Many competitors still assess AI workloads ad hoc.</a:t>
            </a:r>
          </a:p>
          <a:p>
            <a:endParaRPr lang="en-US" dirty="0"/>
          </a:p>
          <a:p>
            <a:r>
              <a:rPr lang="en-US" dirty="0"/>
              <a:t>Key message: This is both a delivery accelerator and a market-differentiating capability that strengthens our position with all three hyperscaler partnerships.</a:t>
            </a:r>
          </a:p>
        </p:txBody>
      </p:sp>
      <p:sp>
        <p:nvSpPr>
          <p:cNvPr id="4" name="Slide Number Placeholder 3"/>
          <p:cNvSpPr>
            <a:spLocks noGrp="1"/>
          </p:cNvSpPr>
          <p:nvPr>
            <p:ph type="sldNum" sz="quarter" idx="5"/>
          </p:nvPr>
        </p:nvSpPr>
        <p:spPr/>
        <p:txBody>
          <a:bodyPr/>
          <a:lstStyle/>
          <a:p>
            <a:fld id="{B6F15528-F159-4107-8E1A-4A3D0002E9E9}"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[REUSABILITY – How This Flexes Across Contexts]</a:t>
            </a:r>
          </a:p>
          <a:p>
            <a:endParaRPr lang="en-US" dirty="0"/>
          </a:p>
          <a:p>
            <a:r>
              <a:rPr lang="en-US" dirty="0"/>
              <a:t>This framework is not a one-time asset. Let me show you how it adapts across different engagement contexts.</a:t>
            </a:r>
          </a:p>
          <a:p>
            <a:endParaRPr lang="en-US" dirty="0"/>
          </a:p>
          <a:p>
            <a:r>
              <a:rPr lang="en-US" dirty="0"/>
              <a:t>Senior Director, Cloud Solutions Architecture: The framework flexes across four key dimensions. Any industry vertical – we have designed it to work for retail, media, financial services, healthcare, and manufacturing. Any estate size – the methodology scales from 100 servers to 10,000-plus. Any cloud maturity – whether the client is greenfield, hybrid, or already multi-cloud. And any geographic region – with support for regional pricing, compliance requirements, and country-specific constraints.</a:t>
            </a:r>
          </a:p>
          <a:p>
            <a:endParaRPr lang="en-US" dirty="0"/>
          </a:p>
          <a:p>
            <a:r>
              <a:rPr lang="en-US" dirty="0"/>
              <a:t>Azure Cloud Architect perspective: For financial services clients, the scoring weights shift toward security, compliance, and data sovereignty. For media clients like DMG, the weights favor performance, scalability, and innovation speed. The framework handles both without structural changes – only the weighting parameters adjust.</a:t>
            </a:r>
          </a:p>
          <a:p>
            <a:endParaRPr lang="en-US" dirty="0"/>
          </a:p>
          <a:p>
            <a:r>
              <a:rPr lang="en-US" dirty="0"/>
              <a:t>AWS Pre-Sales Architect insight: Estate size flexibility is crucial. For a 100-server SMB, we can run a streamlined 4-week assessment. For a 10,000-server enterprise, we scale to a full 12-week engagement with multiple workstreams. The methodology and templates remain the same; the scope and depth adjust.</a:t>
            </a:r>
          </a:p>
          <a:p>
            <a:endParaRPr lang="en-US" dirty="0"/>
          </a:p>
          <a:p>
            <a:r>
              <a:rPr lang="en-US" dirty="0"/>
              <a:t>Google Cloud Alliance Partner view: Geographic adaptability is increasingly important. GDPR in Europe, data localization in Southeast Asia, CCPA in California – each region has specific compliance requirements that affect cloud selection. Our framework incorporates regional compliance evaluation as a standard dimension.</a:t>
            </a:r>
          </a:p>
          <a:p>
            <a:endParaRPr lang="en-US" dirty="0"/>
          </a:p>
          <a:p>
            <a:r>
              <a:rPr lang="en-US" dirty="0"/>
              <a:t>AI Architecture note: Cloud maturity assessment is particularly relevant for AI workloads. A client with mature data engineering on AWS may be better served by keeping AI workloads on AWS SageMaker, while a client with strong Microsoft ecosystem investment might benefit from Azure OpenAI Service integration. The framework evaluates these contextual factors.</a:t>
            </a:r>
          </a:p>
          <a:p>
            <a:endParaRPr lang="en-US" dirty="0"/>
          </a:p>
          <a:p>
            <a:r>
              <a:rPr lang="en-US" dirty="0"/>
              <a:t>Key takeaway: Reusable does not mean one-size-fits-all. The model standardizes the process while adapting the decision criteria to each client’s unique context.</a:t>
            </a:r>
          </a:p>
        </p:txBody>
      </p:sp>
      <p:sp>
        <p:nvSpPr>
          <p:cNvPr id="4" name="Slide Number Placeholder 3"/>
          <p:cNvSpPr>
            <a:spLocks noGrp="1"/>
          </p:cNvSpPr>
          <p:nvPr>
            <p:ph type="sldNum" sz="quarter" idx="5"/>
          </p:nvPr>
        </p:nvSpPr>
        <p:spPr/>
        <p:txBody>
          <a:bodyPr/>
          <a:lstStyle/>
          <a:p>
            <a:fld id="{B6F15528-F159-4107-8E1A-4A3D0002E9EA}"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[PRACTICE ASSET – Leadership, Ownership, and Adoption]</a:t>
            </a:r>
          </a:p>
          <a:p>
            <a:endParaRPr lang="en-US" dirty="0"/>
          </a:p>
          <a:p>
            <a:r>
              <a:rPr lang="en-US" dirty="0"/>
              <a:t>Let me speak to the intellectual property and practice value this framework represents.</a:t>
            </a:r>
          </a:p>
          <a:p>
            <a:endParaRPr lang="en-US" dirty="0"/>
          </a:p>
          <a:p>
            <a:r>
              <a:rPr lang="en-US" dirty="0"/>
              <a:t>Senior Director, Cloud Solutions Architecture: What we have created here is reusable intellectual property – 24-plus deliverables, a complete methodology, and a scoring framework that has been validated in production. This has been published to GitHub for version control, knowledge sharing, and repeatable practice adoption.</a:t>
            </a:r>
          </a:p>
          <a:p>
            <a:endParaRPr lang="en-US" dirty="0"/>
          </a:p>
          <a:p>
            <a:r>
              <a:rPr lang="en-US" dirty="0"/>
              <a:t>Senior Project Manager perspective: The governance model matters. This is not a set of files on someone’s laptop. It is a versioned, documented practice asset with clear ownership. Teams can contribute improvements back, and every engagement benefits from accumulated learning.</a:t>
            </a:r>
          </a:p>
          <a:p>
            <a:endParaRPr lang="en-US" dirty="0"/>
          </a:p>
          <a:p>
            <a:r>
              <a:rPr lang="en-US" dirty="0"/>
              <a:t>Azure Cloud Architect insight: From a technical community perspective, publishing to GitHub demonstrates thought leadership. It shows that we invest in methodology and tooling, not just staff augmentation. This strengthens our credibility with Microsoft engineering teams and co-sell partners.</a:t>
            </a:r>
          </a:p>
          <a:p>
            <a:endParaRPr lang="en-US" dirty="0"/>
          </a:p>
          <a:p>
            <a:r>
              <a:rPr lang="en-US" dirty="0"/>
              <a:t>AWS Alliance Partner view: For AWS, having a documented, repeatable assessment methodology is a requirement for advanced partner competencies. This framework satisfies that requirement and positions us for higher-tier partnership benefits.</a:t>
            </a:r>
          </a:p>
          <a:p>
            <a:endParaRPr lang="en-US" dirty="0"/>
          </a:p>
          <a:p>
            <a:r>
              <a:rPr lang="en-US" dirty="0"/>
              <a:t>Google Cloud Pre-Sales perspective: Google values open, well-documented approaches. Our GitHub publication aligns with Google’s engineering culture and demonstrates the kind of methodological rigor they expect from premier partners.</a:t>
            </a:r>
          </a:p>
          <a:p>
            <a:endParaRPr lang="en-US" dirty="0"/>
          </a:p>
          <a:p>
            <a:r>
              <a:rPr lang="en-US" dirty="0"/>
              <a:t>AI Architecture across platforms: The framework establishes a provider-neutral assessment model in a market where most competitors rely on vendor-specific tooling. This is a strategic differentiator that becomes more valuable as multi-cloud and AI workload complexity increases.</a:t>
            </a:r>
          </a:p>
          <a:p>
            <a:endParaRPr lang="en-US" dirty="0"/>
          </a:p>
          <a:p>
            <a:r>
              <a:rPr lang="en-US" dirty="0"/>
              <a:t>Governance recommendation: Maintain the framework as a versioned practice asset with designated owners, release notes, regular review cadence, and approved client-facing templates. Treat it like a product, not a project.</a:t>
            </a:r>
          </a:p>
        </p:txBody>
      </p:sp>
      <p:sp>
        <p:nvSpPr>
          <p:cNvPr id="4" name="Slide Number Placeholder 3"/>
          <p:cNvSpPr>
            <a:spLocks noGrp="1"/>
          </p:cNvSpPr>
          <p:nvPr>
            <p:ph type="sldNum" sz="quarter" idx="5"/>
          </p:nvPr>
        </p:nvSpPr>
        <p:spPr/>
        <p:txBody>
          <a:bodyPr/>
          <a:lstStyle/>
          <a:p>
            <a:fld id="{B6F15528-F159-4107-8E1A-4A3D0002E9EB}"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[ADOPTION PATH – From Asset to Standard Operating Model]</a:t>
            </a:r>
          </a:p>
          <a:p>
            <a:endParaRPr lang="en-US" dirty="0"/>
          </a:p>
          <a:p>
            <a:r>
              <a:rPr lang="en-US" dirty="0"/>
              <a:t>This slide outlines the recommended path to move from a reusable asset to a standard operating model.</a:t>
            </a:r>
          </a:p>
          <a:p>
            <a:endParaRPr lang="en-US" dirty="0"/>
          </a:p>
          <a:p>
            <a:r>
              <a:rPr lang="en-US" dirty="0"/>
              <a:t>Senior Project Manager perspective: Five clear steps. Step 1, Approve the baseline – leadership agrees on framework scope, core templates, and quality standards. Step 2, Package the assets – centralize templates, scoring models, and guidance in an accessible repository. Step 3, Train the teams – enable architects and project managers through worked examples and playbooks. Step 4, Pilot engagements – apply to selected opportunities and systematically capture lessons learned. Step 5, Standardize – make the framework part of official CRA delivery governance.</a:t>
            </a:r>
          </a:p>
          <a:p>
            <a:endParaRPr lang="en-US" dirty="0"/>
          </a:p>
          <a:p>
            <a:r>
              <a:rPr lang="en-US" dirty="0"/>
              <a:t>Senior Director, Cloud Solutions Architecture: The three gates at the bottom are non-negotiable. Quality gate ensures every engagement has an evidence map, documented TCO assumptions, and clear recommendation logic. Commercial gate validates pricing assumptions, discount structures, licensing levers, and hyperscaler comparison accuracy. Delivery gate confirms that outputs are ready for execution – roadmap, runbooks, wave plans, owners, and defined next steps.</a:t>
            </a:r>
          </a:p>
          <a:p>
            <a:endParaRPr lang="en-US" dirty="0"/>
          </a:p>
          <a:p>
            <a:r>
              <a:rPr lang="en-US" dirty="0"/>
              <a:t>Azure Cloud Architect insight: During the pilot phase, I recommend running the framework on at least three engagements of different sizes and industries. This validates adaptability and surfaces any gaps in templates or methodology.</a:t>
            </a:r>
          </a:p>
          <a:p>
            <a:endParaRPr lang="en-US" dirty="0"/>
          </a:p>
          <a:p>
            <a:r>
              <a:rPr lang="en-US" dirty="0"/>
              <a:t>AWS and Google Alliance Partner perspective: Engage your hyperscaler partner teams during the pilot phase. Microsoft, AWS, and Google all have partner enablement programs that can support methodology validation and provide feedback.</a:t>
            </a:r>
          </a:p>
          <a:p>
            <a:endParaRPr lang="en-US" dirty="0"/>
          </a:p>
          <a:p>
            <a:r>
              <a:rPr lang="en-US" dirty="0"/>
              <a:t>AI Architecture recommendation: Include at least one pilot engagement with significant AI/ML workloads. This will validate the AI-specific assessment templates and scoring criteria, which are increasingly critical for cloud selection decisions.</a:t>
            </a:r>
          </a:p>
          <a:p>
            <a:endParaRPr lang="en-US" dirty="0"/>
          </a:p>
          <a:p>
            <a:r>
              <a:rPr lang="en-US" dirty="0"/>
              <a:t>Pre-Sales Architect note: Build a library of anonymized case studies from pilot engagements. These become powerful sales tools that demonstrate methodology maturity to prospective clients.</a:t>
            </a:r>
          </a:p>
          <a:p>
            <a:endParaRPr lang="en-US" dirty="0"/>
          </a:p>
          <a:p>
            <a:r>
              <a:rPr lang="en-US" dirty="0"/>
              <a:t>Action required: Identify the pilot engagement candidates and timeline for Steps 1 through 3.</a:t>
            </a:r>
          </a:p>
        </p:txBody>
      </p:sp>
      <p:sp>
        <p:nvSpPr>
          <p:cNvPr id="4" name="Slide Number Placeholder 3"/>
          <p:cNvSpPr>
            <a:spLocks noGrp="1"/>
          </p:cNvSpPr>
          <p:nvPr>
            <p:ph type="sldNum" sz="quarter" idx="5"/>
          </p:nvPr>
        </p:nvSpPr>
        <p:spPr/>
        <p:txBody>
          <a:bodyPr/>
          <a:lstStyle/>
          <a:p>
            <a:fld id="{B6F15528-F159-4107-8E1A-4A3D0002E9EC}"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[CLOSING – Call to Action and Next Steps]</a:t>
            </a:r>
          </a:p>
          <a:p>
            <a:endParaRPr lang="en-US" dirty="0"/>
          </a:p>
          <a:p>
            <a:r>
              <a:rPr lang="en-US" dirty="0"/>
              <a:t>Thank you for your time and attention today.</a:t>
            </a:r>
          </a:p>
          <a:p>
            <a:endParaRPr lang="en-US" dirty="0"/>
          </a:p>
          <a:p>
            <a:r>
              <a:rPr lang="en-US" dirty="0"/>
              <a:t>Senior Director, Cloud Solutions Architecture: To summarize, the Cloud Readiness Accelerator is a production-proven, provider-neutral assessment framework that delivers 60 percent faster delivery, consistent quality, and defensible recommendations across Azure, AWS, and GCP. It has been validated at enterprise scale with DMG Media and is ready for practice-wide adoption.</a:t>
            </a:r>
          </a:p>
          <a:p>
            <a:endParaRPr lang="en-US" dirty="0"/>
          </a:p>
          <a:p>
            <a:r>
              <a:rPr lang="en-US" dirty="0"/>
              <a:t>Azure Cloud Architect perspective: The framework repository is available on GitHub. I encourage every architect and delivery lead to review the templates, scoring models, and methodology documentation. The framework is designed to be forked, customized, and improved.</a:t>
            </a:r>
          </a:p>
          <a:p>
            <a:endParaRPr lang="en-US" dirty="0"/>
          </a:p>
          <a:p>
            <a:r>
              <a:rPr lang="en-US" dirty="0"/>
              <a:t>Senior Project Manager next steps: I propose we schedule three follow-up sessions. First, a deep-dive on the methodology and templates for delivery architects. Second, a commercial review of TCO modeling assumptions with the pre-sales team. Third, a governance discussion with practice leadership on adoption timeline and ownership.</a:t>
            </a:r>
          </a:p>
          <a:p>
            <a:endParaRPr lang="en-US" dirty="0"/>
          </a:p>
          <a:p>
            <a:r>
              <a:rPr lang="en-US" dirty="0"/>
              <a:t>AWS and Google Alliance Partner recommendation: Brief your hyperscaler partner managers on this capability. It strengthens our positioning for co-sell opportunities and partner program advancement across all three platforms.</a:t>
            </a:r>
          </a:p>
          <a:p>
            <a:endParaRPr lang="en-US" dirty="0"/>
          </a:p>
          <a:p>
            <a:r>
              <a:rPr lang="en-US" dirty="0"/>
              <a:t>AI Architecture final thought: As enterprises accelerate AI adoption, the ability to objectively assess AI workload placement across clouds will become a primary differentiator. This framework positions us ahead of that curve.</a:t>
            </a:r>
          </a:p>
          <a:p>
            <a:endParaRPr lang="en-US" dirty="0"/>
          </a:p>
          <a:p>
            <a:r>
              <a:rPr lang="en-US" dirty="0"/>
              <a:t>Pre-Sales closing: For any upcoming assessment opportunities in your pipeline, consider this framework as the delivery vehicle. The assets are ready, the methodology is proven, and the DMG case study provides credible reference.</a:t>
            </a:r>
          </a:p>
          <a:p>
            <a:endParaRPr lang="en-US" dirty="0"/>
          </a:p>
          <a:p>
            <a:r>
              <a:rPr lang="en-US" dirty="0"/>
              <a:t>Framework is ready for practice-wide adoption with reusable templates, documented methodology, and governance-ready delivery structure.</a:t>
            </a:r>
          </a:p>
          <a:p>
            <a:endParaRPr lang="en-US" dirty="0"/>
          </a:p>
          <a:p>
            <a:r>
              <a:rPr lang="en-US" dirty="0"/>
              <a:t>Contact: Upendra Kumar, Professional Services Delivery Architect</a:t>
            </a:r>
          </a:p>
          <a:p>
            <a:r>
              <a:rPr lang="en-US" dirty="0"/>
              <a:t>Repository: github.com/upendra-29003/Cloud-Readiness-Accelerator</a:t>
            </a:r>
          </a:p>
        </p:txBody>
      </p:sp>
      <p:sp>
        <p:nvSpPr>
          <p:cNvPr id="4" name="Slide Number Placeholder 3"/>
          <p:cNvSpPr>
            <a:spLocks noGrp="1"/>
          </p:cNvSpPr>
          <p:nvPr>
            <p:ph type="sldNum" sz="quarter" idx="5"/>
          </p:nvPr>
        </p:nvSpPr>
        <p:spPr/>
        <p:txBody>
          <a:bodyPr/>
          <a:lstStyle/>
          <a:p>
            <a:fld id="{B6F15528-F159-4107-8E1A-4A3D0002E9ED}" type="slidenum">
              <a:rPr lang="en-US" smtClean="0"/>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svg"/><Relationship Id="rId3"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 Id="rId3"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544050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dirty="0"/>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0946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9840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4319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dirty="0"/>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66958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79545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56239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dirty="0"/>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68021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dirty="0"/>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861515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566880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8234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dirty="0"/>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79176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36024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190564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dirty="0"/>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45441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071844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03070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373957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73348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157504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09288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8723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4959533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1015440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875713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77255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3987985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5210226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794090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473670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21977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dirty="0"/>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94708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dirty="0"/>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781027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dirty="0"/>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468700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919085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00501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98878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46911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784315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835796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2339044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9551165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28311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Unit 2, 6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0800 988 0100  </a:t>
            </a:r>
            <a:br>
              <a:rPr lang="en-US" sz="1500" dirty="0">
                <a:solidFill>
                  <a:schemeClr val="tx1"/>
                </a:solidFill>
              </a:rPr>
            </a:br>
            <a:r>
              <a:rPr lang="en-US" sz="1500" dirty="0">
                <a:solidFill>
                  <a:schemeClr val="tx1"/>
                </a:solidFill>
              </a:rPr>
              <a:t>U.K. support: 0800 988 0300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790271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2146199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485997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95708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986111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2.xml"/><Relationship Id="rId12" Type="http://schemas.openxmlformats.org/officeDocument/2006/relationships/image" Target="../media/image4.svg"/><Relationship Id="rId13"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theme" Target="../theme/theme3.xml"/><Relationship Id="rId15" Type="http://schemas.openxmlformats.org/officeDocument/2006/relationships/image" Target="../media/image1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dirty="0"/>
              <a:t>Click to edit Master title style</a:t>
            </a:r>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73" r:id="rId2"/>
    <p:sldLayoutId id="2147483843" r:id="rId3"/>
    <p:sldLayoutId id="2147483828" r:id="rId4"/>
    <p:sldLayoutId id="2147484003" r:id="rId5"/>
    <p:sldLayoutId id="2147483989" r:id="rId6"/>
    <p:sldLayoutId id="2147483817" r:id="rId7"/>
    <p:sldLayoutId id="2147483818" r:id="rId8"/>
    <p:sldLayoutId id="2147483819" r:id="rId9"/>
    <p:sldLayoutId id="2147483820" r:id="rId10"/>
    <p:sldLayoutId id="2147483829" r:id="rId11"/>
    <p:sldLayoutId id="2147483821" r:id="rId12"/>
    <p:sldLayoutId id="2147483822" r:id="rId13"/>
    <p:sldLayoutId id="2147483874" r:id="rId14"/>
    <p:sldLayoutId id="2147483823" r:id="rId15"/>
    <p:sldLayoutId id="2147483866" r:id="rId16"/>
    <p:sldLayoutId id="2147483844" r:id="rId17"/>
    <p:sldLayoutId id="2147483990" r:id="rId18"/>
    <p:sldLayoutId id="2147483991" r:id="rId19"/>
    <p:sldLayoutId id="2147483853" r:id="rId20"/>
    <p:sldLayoutId id="2147483849" r:id="rId21"/>
    <p:sldLayoutId id="2147483996" r:id="rId22"/>
    <p:sldLayoutId id="2147483851" r:id="rId23"/>
    <p:sldLayoutId id="2147483995" r:id="rId24"/>
    <p:sldLayoutId id="2147483854" r:id="rId25"/>
    <p:sldLayoutId id="2147483997" r:id="rId26"/>
    <p:sldLayoutId id="2147483855" r:id="rId27"/>
    <p:sldLayoutId id="2147483856" r:id="rId28"/>
    <p:sldLayoutId id="2147483999" r:id="rId29"/>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dirty="0"/>
              <a:t>Click to edit Master title style</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101594CF-9E60-FEE9-725B-28644E2BEFC6}"/>
              </a:ext>
            </a:extLst>
          </p:cNvPr>
          <p:cNvPicPr>
            <a:picLocks noChangeAspect="1"/>
          </p:cNvPicPr>
          <p:nvPr userDrawn="1"/>
        </p:nvPicPr>
        <p:blipFill>
          <a:blip r:embed="rId13"/>
          <a:stretch>
            <a:fillRect/>
          </a:stretch>
        </p:blipFill>
        <p:spPr>
          <a:xfrm>
            <a:off x="0" y="4745736"/>
            <a:ext cx="3226194" cy="2112264"/>
          </a:xfrm>
          <a:prstGeom prst="rect">
            <a:avLst/>
          </a:prstGeom>
        </p:spPr>
      </p:pic>
    </p:spTree>
    <p:extLst>
      <p:ext uri="{BB962C8B-B14F-4D97-AF65-F5344CB8AC3E}">
        <p14:creationId xmlns:p14="http://schemas.microsoft.com/office/powerpoint/2010/main" val="1305847445"/>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993" r:id="rId3"/>
    <p:sldLayoutId id="2147483994" r:id="rId4"/>
    <p:sldLayoutId id="2147483992" r:id="rId5"/>
    <p:sldLayoutId id="2147483836" r:id="rId6"/>
    <p:sldLayoutId id="2147483940" r:id="rId7"/>
    <p:sldLayoutId id="2147483838" r:id="rId8"/>
    <p:sldLayoutId id="2147483839" r:id="rId9"/>
    <p:sldLayoutId id="2147483840" r:id="rId10"/>
    <p:sldLayoutId id="2147483841" r:id="rId11"/>
    <p:sldLayoutId id="2147483985" r:id="rId12"/>
    <p:sldLayoutId id="214748400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6482542" y="72189"/>
            <a:ext cx="5669280" cy="3239047"/>
          </a:xfrm>
          <a:prstGeom prst="rect">
            <a:avLst/>
          </a:prstGeom>
        </p:spPr>
      </p:pic>
      <p:pic>
        <p:nvPicPr>
          <p:cNvPr id="4" name="Picture 3" descr="image.png"/>
          <p:cNvPicPr>
            <a:picLocks noChangeAspect="1"/>
          </p:cNvPicPr>
          <p:nvPr/>
        </p:nvPicPr>
        <p:blipFill>
          <a:blip r:embed="rId4"/>
          <a:stretch>
            <a:fillRect/>
          </a:stretch>
        </p:blipFill>
        <p:spPr>
          <a:xfrm>
            <a:off x="320040" y="6172200"/>
            <a:ext cx="1051560" cy="325984"/>
          </a:xfrm>
          <a:prstGeom prst="rect">
            <a:avLst/>
          </a:prstGeom>
        </p:spPr>
      </p:pic>
      <p:sp>
        <p:nvSpPr>
          <p:cNvPr id="5" name="TextBox 4"/>
          <p:cNvSpPr txBox="1"/>
          <p:nvPr/>
        </p:nvSpPr>
        <p:spPr>
          <a:xfrm>
            <a:off x="411480" y="1176392"/>
            <a:ext cx="6069676" cy="590931"/>
          </a:xfrm>
          <a:prstGeom prst="rect">
            <a:avLst/>
          </a:prstGeom>
          <a:noFill/>
        </p:spPr>
        <p:txBody>
          <a:bodyPr wrap="square" lIns="27432" tIns="18288" rIns="27432" bIns="18288">
            <a:spAutoFit/>
          </a:bodyPr>
          <a:lstStyle/>
          <a:p>
            <a:r>
              <a:rPr sz="3600" b="0" dirty="0">
                <a:solidFill>
                  <a:srgbClr val="FFFFFF"/>
                </a:solidFill>
                <a:latin typeface="Arial"/>
              </a:rPr>
              <a:t>Cloud Readiness Accelerator</a:t>
            </a:r>
          </a:p>
        </p:txBody>
      </p:sp>
      <p:sp>
        <p:nvSpPr>
          <p:cNvPr id="6" name="TextBox 5"/>
          <p:cNvSpPr txBox="1"/>
          <p:nvPr/>
        </p:nvSpPr>
        <p:spPr>
          <a:xfrm>
            <a:off x="502920" y="2400300"/>
            <a:ext cx="5903219" cy="313932"/>
          </a:xfrm>
          <a:prstGeom prst="rect">
            <a:avLst/>
          </a:prstGeom>
          <a:noFill/>
        </p:spPr>
        <p:txBody>
          <a:bodyPr wrap="none" lIns="27432" tIns="18288" rIns="27432" bIns="18288">
            <a:spAutoFit/>
          </a:bodyPr>
          <a:lstStyle/>
          <a:p>
            <a:r>
              <a:rPr sz="1800" b="0" dirty="0">
                <a:solidFill>
                  <a:srgbClr val="FFFFFF"/>
                </a:solidFill>
                <a:latin typeface="Arial"/>
              </a:rPr>
              <a:t>Reusable Enterprise Multi-Cloud Assessment Framework</a:t>
            </a:r>
          </a:p>
        </p:txBody>
      </p:sp>
      <p:sp>
        <p:nvSpPr>
          <p:cNvPr id="8" name="TextBox 7"/>
          <p:cNvSpPr txBox="1"/>
          <p:nvPr/>
        </p:nvSpPr>
        <p:spPr>
          <a:xfrm>
            <a:off x="502920" y="4026063"/>
            <a:ext cx="2770632" cy="313932"/>
          </a:xfrm>
          <a:prstGeom prst="rect">
            <a:avLst/>
          </a:prstGeom>
          <a:noFill/>
        </p:spPr>
        <p:txBody>
          <a:bodyPr wrap="square" lIns="27432" tIns="18288" rIns="27432" bIns="18288">
            <a:spAutoFit/>
          </a:bodyPr>
          <a:lstStyle/>
          <a:p>
            <a:r>
              <a:rPr sz="900" b="0" dirty="0">
                <a:solidFill>
                  <a:srgbClr val="FFFFFF"/>
                </a:solidFill>
                <a:latin typeface="Arial"/>
              </a:rPr>
              <a:t>Upendra Kumar
Delivery Architect</a:t>
            </a:r>
          </a:p>
        </p:txBody>
      </p:sp>
      <p:sp>
        <p:nvSpPr>
          <p:cNvPr id="9" name="TextBox 8"/>
          <p:cNvSpPr txBox="1"/>
          <p:nvPr/>
        </p:nvSpPr>
        <p:spPr>
          <a:xfrm>
            <a:off x="7980218" y="5320145"/>
            <a:ext cx="2581102" cy="652486"/>
          </a:xfrm>
          <a:prstGeom prst="rect">
            <a:avLst/>
          </a:prstGeom>
          <a:noFill/>
        </p:spPr>
        <p:txBody>
          <a:bodyPr wrap="square" lIns="27432" tIns="18288" rIns="27432" bIns="18288">
            <a:spAutoFit/>
          </a:bodyPr>
          <a:lstStyle/>
          <a:p>
            <a:pPr algn="r"/>
            <a:r>
              <a:rPr sz="2000" b="1" dirty="0">
                <a:solidFill>
                  <a:srgbClr val="FFFFFF"/>
                </a:solidFill>
                <a:latin typeface="Arial"/>
              </a:rPr>
              <a:t>Customer First.
Cloud First.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Executive Summary</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A repeatable, provider-neutral delivery framework for cloud readiness assessment and migration planning</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E11424"/>
                </a:solidFill>
                <a:latin typeface="Arial"/>
              </a:rPr>
              <a:t>60%</a:t>
            </a:r>
          </a:p>
          <a:p>
            <a:pPr algn="ctr"/>
            <a:r>
              <a:rPr sz="750" dirty="0">
                <a:solidFill>
                  <a:srgbClr val="5F5F5F"/>
                </a:solidFill>
                <a:latin typeface="Arial"/>
              </a:rPr>
              <a:t>Faster delivery</a:t>
            </a:r>
          </a:p>
        </p:txBody>
      </p:sp>
      <p:sp>
        <p:nvSpPr>
          <p:cNvPr id="6" name="Rounded Rectangle 5"/>
          <p:cNvSpPr/>
          <p:nvPr/>
        </p:nvSpPr>
        <p:spPr>
          <a:xfrm>
            <a:off x="26517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24+</a:t>
            </a:r>
          </a:p>
          <a:p>
            <a:pPr algn="ctr"/>
            <a:r>
              <a:rPr sz="750">
                <a:solidFill>
                  <a:srgbClr val="5F5F5F"/>
                </a:solidFill>
                <a:latin typeface="Arial"/>
              </a:rPr>
              <a:t>Reusable assets</a:t>
            </a:r>
          </a:p>
        </p:txBody>
      </p:sp>
      <p:sp>
        <p:nvSpPr>
          <p:cNvPr id="7" name="Rounded Rectangle 6"/>
          <p:cNvSpPr/>
          <p:nvPr/>
        </p:nvSpPr>
        <p:spPr>
          <a:xfrm>
            <a:off x="47091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009AAE"/>
                </a:solidFill>
                <a:latin typeface="Arial"/>
              </a:rPr>
              <a:t>3</a:t>
            </a:r>
          </a:p>
          <a:p>
            <a:pPr algn="ctr"/>
            <a:r>
              <a:rPr sz="750" dirty="0">
                <a:solidFill>
                  <a:srgbClr val="5F5F5F"/>
                </a:solidFill>
                <a:latin typeface="Arial"/>
              </a:rPr>
              <a:t>Cloud platforms</a:t>
            </a:r>
          </a:p>
        </p:txBody>
      </p:sp>
      <p:sp>
        <p:nvSpPr>
          <p:cNvPr id="8" name="Rounded Rectangle 7"/>
          <p:cNvSpPr/>
          <p:nvPr/>
        </p:nvSpPr>
        <p:spPr>
          <a:xfrm>
            <a:off x="67665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0062AE"/>
                </a:solidFill>
                <a:latin typeface="Arial"/>
              </a:rPr>
              <a:t>4</a:t>
            </a:r>
          </a:p>
          <a:p>
            <a:pPr algn="ctr"/>
            <a:r>
              <a:rPr sz="750" dirty="0">
                <a:solidFill>
                  <a:srgbClr val="5F5F5F"/>
                </a:solidFill>
                <a:latin typeface="Arial"/>
              </a:rPr>
              <a:t>Assessment phases</a:t>
            </a:r>
          </a:p>
        </p:txBody>
      </p:sp>
      <p:sp>
        <p:nvSpPr>
          <p:cNvPr id="9" name="Rounded Rectangle 8"/>
          <p:cNvSpPr/>
          <p:nvPr/>
        </p:nvSpPr>
        <p:spPr>
          <a:xfrm>
            <a:off x="88239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179467"/>
                </a:solidFill>
                <a:latin typeface="Arial"/>
              </a:rPr>
              <a:t>100%</a:t>
            </a:r>
          </a:p>
          <a:p>
            <a:pPr algn="ctr"/>
            <a:r>
              <a:rPr sz="750" dirty="0">
                <a:solidFill>
                  <a:srgbClr val="5F5F5F"/>
                </a:solidFill>
                <a:latin typeface="Arial"/>
              </a:rPr>
              <a:t>Provider neutral</a:t>
            </a:r>
          </a:p>
        </p:txBody>
      </p:sp>
      <p:sp>
        <p:nvSpPr>
          <p:cNvPr id="10" name="Rounded Rectangle 9"/>
          <p:cNvSpPr/>
          <p:nvPr/>
        </p:nvSpPr>
        <p:spPr>
          <a:xfrm>
            <a:off x="594360" y="2423160"/>
            <a:ext cx="2880360" cy="105156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dirty="0">
                <a:solidFill>
                  <a:srgbClr val="5C2684"/>
                </a:solidFill>
                <a:latin typeface="Arial"/>
              </a:rPr>
              <a:t>Delivery advantage</a:t>
            </a:r>
          </a:p>
          <a:p>
            <a:pPr>
              <a:spcBef>
                <a:spcPts val="400"/>
              </a:spcBef>
            </a:pPr>
            <a:r>
              <a:rPr sz="900" dirty="0">
                <a:solidFill>
                  <a:srgbClr val="2D2D2D"/>
                </a:solidFill>
                <a:latin typeface="Arial"/>
              </a:rPr>
              <a:t>Standardized methodology, templates, and scoring reduce setup effort and improve assessment consistency.</a:t>
            </a:r>
          </a:p>
        </p:txBody>
      </p:sp>
      <p:sp>
        <p:nvSpPr>
          <p:cNvPr id="11" name="Rounded Rectangle 10"/>
          <p:cNvSpPr/>
          <p:nvPr/>
        </p:nvSpPr>
        <p:spPr>
          <a:xfrm>
            <a:off x="3794760" y="2423160"/>
            <a:ext cx="2880360" cy="105156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dirty="0">
                <a:solidFill>
                  <a:srgbClr val="5C2684"/>
                </a:solidFill>
                <a:latin typeface="Arial"/>
              </a:rPr>
              <a:t>Commercial clarity</a:t>
            </a:r>
          </a:p>
          <a:p>
            <a:pPr>
              <a:spcBef>
                <a:spcPts val="400"/>
              </a:spcBef>
            </a:pPr>
            <a:r>
              <a:rPr sz="900" dirty="0">
                <a:solidFill>
                  <a:srgbClr val="2D2D2D"/>
                </a:solidFill>
                <a:latin typeface="Arial"/>
              </a:rPr>
              <a:t>Multi-cloud comparison, TCO modeling, and readiness scoring support fact-based decisions.</a:t>
            </a:r>
          </a:p>
        </p:txBody>
      </p:sp>
      <p:sp>
        <p:nvSpPr>
          <p:cNvPr id="12" name="Rounded Rectangle 11"/>
          <p:cNvSpPr/>
          <p:nvPr/>
        </p:nvSpPr>
        <p:spPr>
          <a:xfrm>
            <a:off x="6995160" y="2423160"/>
            <a:ext cx="2880360" cy="105156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Practice scalability</a:t>
            </a:r>
          </a:p>
          <a:p>
            <a:pPr>
              <a:spcBef>
                <a:spcPts val="400"/>
              </a:spcBef>
            </a:pPr>
            <a:r>
              <a:rPr sz="900">
                <a:solidFill>
                  <a:srgbClr val="2D2D2D"/>
                </a:solidFill>
                <a:latin typeface="Arial"/>
              </a:rPr>
              <a:t>Reusable assets help multiple teams run consistent assessments without reinventing the approach.</a:t>
            </a:r>
          </a:p>
        </p:txBody>
      </p:sp>
      <p:sp>
        <p:nvSpPr>
          <p:cNvPr id="13" name="TextBox 12"/>
          <p:cNvSpPr txBox="1"/>
          <p:nvPr/>
        </p:nvSpPr>
        <p:spPr>
          <a:xfrm>
            <a:off x="0" y="3886200"/>
            <a:ext cx="12192000" cy="896670"/>
          </a:xfrm>
          <a:prstGeom prst="rect">
            <a:avLst/>
          </a:prstGeom>
          <a:noFill/>
        </p:spPr>
        <p:txBody>
          <a:bodyPr wrap="square" lIns="45720" tIns="18288" rIns="45720" bIns="18288">
            <a:spAutoFit/>
          </a:bodyPr>
          <a:lstStyle/>
          <a:p>
            <a:pPr>
              <a:spcAft>
                <a:spcPts val="0"/>
              </a:spcAft>
            </a:pPr>
            <a:r>
              <a:rPr sz="1300" b="1" dirty="0">
                <a:solidFill>
                  <a:srgbClr val="5C2684"/>
                </a:solidFill>
                <a:latin typeface="Arial"/>
              </a:rPr>
              <a:t>• </a:t>
            </a:r>
            <a:r>
              <a:rPr sz="1400" dirty="0">
                <a:solidFill>
                  <a:srgbClr val="2D2D2D"/>
                </a:solidFill>
                <a:latin typeface="Arial"/>
              </a:rPr>
              <a:t>Framework standardizes how Rackspace evaluates enterprise estates, compares cloud options, and converts discovery into actionable migration </a:t>
            </a:r>
            <a:r>
              <a:rPr lang="en-IN" sz="1400" dirty="0">
                <a:solidFill>
                  <a:srgbClr val="2D2D2D"/>
                </a:solidFill>
                <a:latin typeface="Arial"/>
              </a:rPr>
              <a:t>  </a:t>
            </a:r>
            <a:r>
              <a:rPr sz="1400" dirty="0">
                <a:solidFill>
                  <a:srgbClr val="2D2D2D"/>
                </a:solidFill>
                <a:latin typeface="Arial"/>
              </a:rPr>
              <a:t>roadmaps.</a:t>
            </a:r>
          </a:p>
          <a:p>
            <a:pPr>
              <a:spcAft>
                <a:spcPts val="0"/>
              </a:spcAft>
            </a:pPr>
            <a:r>
              <a:rPr sz="1400" b="1" dirty="0">
                <a:solidFill>
                  <a:srgbClr val="5C2684"/>
                </a:solidFill>
                <a:latin typeface="Arial"/>
              </a:rPr>
              <a:t>• </a:t>
            </a:r>
            <a:r>
              <a:rPr sz="1400" dirty="0">
                <a:solidFill>
                  <a:srgbClr val="2D2D2D"/>
                </a:solidFill>
                <a:latin typeface="Arial"/>
              </a:rPr>
              <a:t>It is designed for client-ready delivery, not internal-only analysis.</a:t>
            </a:r>
          </a:p>
          <a:p>
            <a:pPr>
              <a:spcAft>
                <a:spcPts val="0"/>
              </a:spcAft>
            </a:pPr>
            <a:r>
              <a:rPr sz="1400" b="1" dirty="0">
                <a:solidFill>
                  <a:srgbClr val="5C2684"/>
                </a:solidFill>
                <a:latin typeface="Arial"/>
              </a:rPr>
              <a:t>• </a:t>
            </a:r>
            <a:r>
              <a:rPr sz="1400" dirty="0">
                <a:solidFill>
                  <a:srgbClr val="2D2D2D"/>
                </a:solidFill>
                <a:latin typeface="Arial"/>
              </a:rPr>
              <a:t>DMG Media proof point demonstrates production use at meaningful enterprise scale.</a:t>
            </a:r>
          </a:p>
        </p:txBody>
      </p:sp>
      <p:sp>
        <p:nvSpPr>
          <p:cNvPr id="14" name="Rounded Rectangle 13"/>
          <p:cNvSpPr/>
          <p:nvPr/>
        </p:nvSpPr>
        <p:spPr>
          <a:xfrm>
            <a:off x="329185" y="5349240"/>
            <a:ext cx="11488742" cy="758952"/>
          </a:xfrm>
          <a:prstGeom prst="roundRect">
            <a:avLst/>
          </a:prstGeom>
          <a:solidFill>
            <a:srgbClr val="F5FAFB"/>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2000" b="1" dirty="0">
                <a:solidFill>
                  <a:srgbClr val="5C2684"/>
                </a:solidFill>
                <a:latin typeface="Arial"/>
              </a:rPr>
              <a:t>Executive outcome: a structured, evidence-led path from discovery to migration planning.</a:t>
            </a:r>
          </a:p>
        </p:txBody>
      </p:sp>
      <p:sp>
        <p:nvSpPr>
          <p:cNvPr id="15" name="TextBox 14"/>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6" name="TextBox 15"/>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2</a:t>
            </a:r>
          </a:p>
        </p:txBody>
      </p:sp>
      <p:pic>
        <p:nvPicPr>
          <p:cNvPr id="17" name="Picture 16"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Why This Framework Was Created</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Traditional cloud readiness assessments often start from scratch and lose time before value is visible</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417320"/>
            <a:ext cx="4572000" cy="2057400"/>
          </a:xfrm>
          <a:prstGeom prst="rect">
            <a:avLst/>
          </a:prstGeom>
          <a:noFill/>
        </p:spPr>
        <p:txBody>
          <a:bodyPr wrap="none" lIns="45720" tIns="18288" rIns="45720" bIns="18288">
            <a:spAutoFit/>
          </a:bodyPr>
          <a:lstStyle/>
          <a:p>
            <a:pPr>
              <a:spcAft>
                <a:spcPts val="0"/>
              </a:spcAft>
            </a:pPr>
            <a:r>
              <a:rPr sz="1300" b="1">
                <a:solidFill>
                  <a:srgbClr val="5C2684"/>
                </a:solidFill>
                <a:latin typeface="Arial"/>
              </a:rPr>
              <a:t>• </a:t>
            </a:r>
            <a:r>
              <a:rPr sz="1300">
                <a:solidFill>
                  <a:srgbClr val="2D2D2D"/>
                </a:solidFill>
                <a:latin typeface="Arial"/>
              </a:rPr>
              <a:t>Manual discovery creates 8–12 week assessment timelines.</a:t>
            </a:r>
          </a:p>
          <a:p>
            <a:pPr>
              <a:spcAft>
                <a:spcPts val="0"/>
              </a:spcAft>
            </a:pPr>
            <a:r>
              <a:rPr sz="1300" b="1">
                <a:solidFill>
                  <a:srgbClr val="5C2684"/>
                </a:solidFill>
                <a:latin typeface="Arial"/>
              </a:rPr>
              <a:t>• </a:t>
            </a:r>
            <a:r>
              <a:rPr sz="1300">
                <a:solidFill>
                  <a:srgbClr val="2D2D2D"/>
                </a:solidFill>
                <a:latin typeface="Arial"/>
              </a:rPr>
              <a:t>Each engagement rebuilds templates, scoring, and analysis from scratch.</a:t>
            </a:r>
          </a:p>
          <a:p>
            <a:pPr>
              <a:spcAft>
                <a:spcPts val="0"/>
              </a:spcAft>
            </a:pPr>
            <a:r>
              <a:rPr sz="1300" b="1">
                <a:solidFill>
                  <a:srgbClr val="5C2684"/>
                </a:solidFill>
                <a:latin typeface="Arial"/>
              </a:rPr>
              <a:t>• </a:t>
            </a:r>
            <a:r>
              <a:rPr sz="1300">
                <a:solidFill>
                  <a:srgbClr val="2D2D2D"/>
                </a:solidFill>
                <a:latin typeface="Arial"/>
              </a:rPr>
              <a:t>Provider-specific tools can bias recommendations toward one cloud.</a:t>
            </a:r>
          </a:p>
          <a:p>
            <a:pPr>
              <a:spcAft>
                <a:spcPts val="0"/>
              </a:spcAft>
            </a:pPr>
            <a:r>
              <a:rPr sz="1300" b="1">
                <a:solidFill>
                  <a:srgbClr val="5C2684"/>
                </a:solidFill>
                <a:latin typeface="Arial"/>
              </a:rPr>
              <a:t>• </a:t>
            </a:r>
            <a:r>
              <a:rPr sz="1300">
                <a:solidFill>
                  <a:srgbClr val="2D2D2D"/>
                </a:solidFill>
                <a:latin typeface="Arial"/>
              </a:rPr>
              <a:t>No industrialized approach limits delivery scale and repeatability.</a:t>
            </a:r>
          </a:p>
        </p:txBody>
      </p:sp>
      <p:sp>
        <p:nvSpPr>
          <p:cNvPr id="6" name="TextBox 5"/>
          <p:cNvSpPr txBox="1"/>
          <p:nvPr/>
        </p:nvSpPr>
        <p:spPr>
          <a:xfrm>
            <a:off x="6220694" y="1289860"/>
            <a:ext cx="4754880" cy="228600"/>
          </a:xfrm>
          <a:prstGeom prst="rect">
            <a:avLst/>
          </a:prstGeom>
          <a:noFill/>
        </p:spPr>
        <p:txBody>
          <a:bodyPr wrap="none" lIns="27432" tIns="18288" rIns="27432" bIns="18288">
            <a:spAutoFit/>
          </a:bodyPr>
          <a:lstStyle/>
          <a:p>
            <a:pPr algn="ctr"/>
            <a:r>
              <a:rPr sz="1200" b="1">
                <a:solidFill>
                  <a:srgbClr val="2D2D2D"/>
                </a:solidFill>
                <a:latin typeface="Arial"/>
              </a:rPr>
              <a:t>Impact score of traditional CRA pain points</a:t>
            </a:r>
          </a:p>
        </p:txBody>
      </p:sp>
      <p:sp>
        <p:nvSpPr>
          <p:cNvPr id="7" name="Rectangle 6"/>
          <p:cNvSpPr/>
          <p:nvPr/>
        </p:nvSpPr>
        <p:spPr>
          <a:xfrm>
            <a:off x="6540734" y="2048811"/>
            <a:ext cx="442569" cy="1572768"/>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5014" y="1847643"/>
            <a:ext cx="534009" cy="146304"/>
          </a:xfrm>
          <a:prstGeom prst="rect">
            <a:avLst/>
          </a:prstGeom>
          <a:noFill/>
        </p:spPr>
        <p:txBody>
          <a:bodyPr wrap="none" lIns="27432" tIns="18288" rIns="27432" bIns="18288">
            <a:spAutoFit/>
          </a:bodyPr>
          <a:lstStyle/>
          <a:p>
            <a:pPr algn="ctr"/>
            <a:r>
              <a:rPr sz="750" b="0">
                <a:solidFill>
                  <a:srgbClr val="5F5F5F"/>
                </a:solidFill>
                <a:latin typeface="Arial"/>
              </a:rPr>
              <a:t>8</a:t>
            </a:r>
          </a:p>
        </p:txBody>
      </p:sp>
      <p:sp>
        <p:nvSpPr>
          <p:cNvPr id="9" name="TextBox 8"/>
          <p:cNvSpPr txBox="1"/>
          <p:nvPr/>
        </p:nvSpPr>
        <p:spPr>
          <a:xfrm>
            <a:off x="6339566"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Long
timelines</a:t>
            </a:r>
          </a:p>
        </p:txBody>
      </p:sp>
      <p:sp>
        <p:nvSpPr>
          <p:cNvPr id="10" name="Rectangle 9"/>
          <p:cNvSpPr/>
          <p:nvPr/>
        </p:nvSpPr>
        <p:spPr>
          <a:xfrm>
            <a:off x="7345406" y="2442003"/>
            <a:ext cx="442569" cy="1179575"/>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99686" y="2240835"/>
            <a:ext cx="534009" cy="146304"/>
          </a:xfrm>
          <a:prstGeom prst="rect">
            <a:avLst/>
          </a:prstGeom>
          <a:noFill/>
        </p:spPr>
        <p:txBody>
          <a:bodyPr wrap="none" lIns="27432" tIns="18288" rIns="27432" bIns="18288">
            <a:spAutoFit/>
          </a:bodyPr>
          <a:lstStyle/>
          <a:p>
            <a:pPr algn="ctr"/>
            <a:r>
              <a:rPr sz="750" b="0">
                <a:solidFill>
                  <a:srgbClr val="5F5F5F"/>
                </a:solidFill>
                <a:latin typeface="Arial"/>
              </a:rPr>
              <a:t>6</a:t>
            </a:r>
          </a:p>
        </p:txBody>
      </p:sp>
      <p:sp>
        <p:nvSpPr>
          <p:cNvPr id="12" name="TextBox 11"/>
          <p:cNvSpPr txBox="1"/>
          <p:nvPr/>
        </p:nvSpPr>
        <p:spPr>
          <a:xfrm>
            <a:off x="7144238"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Provider
bias</a:t>
            </a:r>
          </a:p>
        </p:txBody>
      </p:sp>
      <p:sp>
        <p:nvSpPr>
          <p:cNvPr id="13" name="Rectangle 12"/>
          <p:cNvSpPr/>
          <p:nvPr/>
        </p:nvSpPr>
        <p:spPr>
          <a:xfrm>
            <a:off x="8150077" y="2245407"/>
            <a:ext cx="442569" cy="1376172"/>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4357" y="2044239"/>
            <a:ext cx="534009" cy="146304"/>
          </a:xfrm>
          <a:prstGeom prst="rect">
            <a:avLst/>
          </a:prstGeom>
          <a:noFill/>
        </p:spPr>
        <p:txBody>
          <a:bodyPr wrap="none" lIns="27432" tIns="18288" rIns="27432" bIns="18288">
            <a:spAutoFit/>
          </a:bodyPr>
          <a:lstStyle/>
          <a:p>
            <a:pPr algn="ctr"/>
            <a:r>
              <a:rPr sz="750" b="0">
                <a:solidFill>
                  <a:srgbClr val="5F5F5F"/>
                </a:solidFill>
                <a:latin typeface="Arial"/>
              </a:rPr>
              <a:t>7</a:t>
            </a:r>
          </a:p>
        </p:txBody>
      </p:sp>
      <p:sp>
        <p:nvSpPr>
          <p:cNvPr id="15" name="TextBox 14"/>
          <p:cNvSpPr txBox="1"/>
          <p:nvPr/>
        </p:nvSpPr>
        <p:spPr>
          <a:xfrm>
            <a:off x="7948910"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No
templates</a:t>
            </a:r>
          </a:p>
        </p:txBody>
      </p:sp>
      <p:sp>
        <p:nvSpPr>
          <p:cNvPr id="16" name="Rectangle 15"/>
          <p:cNvSpPr/>
          <p:nvPr/>
        </p:nvSpPr>
        <p:spPr>
          <a:xfrm>
            <a:off x="8954750" y="1852215"/>
            <a:ext cx="442569" cy="1769364"/>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09030" y="1651047"/>
            <a:ext cx="534009" cy="146304"/>
          </a:xfrm>
          <a:prstGeom prst="rect">
            <a:avLst/>
          </a:prstGeom>
          <a:noFill/>
        </p:spPr>
        <p:txBody>
          <a:bodyPr wrap="none" lIns="27432" tIns="18288" rIns="27432" bIns="18288">
            <a:spAutoFit/>
          </a:bodyPr>
          <a:lstStyle/>
          <a:p>
            <a:pPr algn="ctr"/>
            <a:r>
              <a:rPr sz="750" b="0">
                <a:solidFill>
                  <a:srgbClr val="5F5F5F"/>
                </a:solidFill>
                <a:latin typeface="Arial"/>
              </a:rPr>
              <a:t>9</a:t>
            </a:r>
          </a:p>
        </p:txBody>
      </p:sp>
      <p:sp>
        <p:nvSpPr>
          <p:cNvPr id="18" name="TextBox 17"/>
          <p:cNvSpPr txBox="1"/>
          <p:nvPr/>
        </p:nvSpPr>
        <p:spPr>
          <a:xfrm>
            <a:off x="8753582"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Manual
analysis</a:t>
            </a:r>
          </a:p>
        </p:txBody>
      </p:sp>
      <p:sp>
        <p:nvSpPr>
          <p:cNvPr id="19" name="Rectangle 18"/>
          <p:cNvSpPr/>
          <p:nvPr/>
        </p:nvSpPr>
        <p:spPr>
          <a:xfrm>
            <a:off x="9759422" y="2048811"/>
            <a:ext cx="442569" cy="1572768"/>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13702" y="1847643"/>
            <a:ext cx="534009" cy="146304"/>
          </a:xfrm>
          <a:prstGeom prst="rect">
            <a:avLst/>
          </a:prstGeom>
          <a:noFill/>
        </p:spPr>
        <p:txBody>
          <a:bodyPr wrap="none" lIns="27432" tIns="18288" rIns="27432" bIns="18288">
            <a:spAutoFit/>
          </a:bodyPr>
          <a:lstStyle/>
          <a:p>
            <a:pPr algn="ctr"/>
            <a:r>
              <a:rPr sz="750" b="0">
                <a:solidFill>
                  <a:srgbClr val="5F5F5F"/>
                </a:solidFill>
                <a:latin typeface="Arial"/>
              </a:rPr>
              <a:t>8</a:t>
            </a:r>
          </a:p>
        </p:txBody>
      </p:sp>
      <p:sp>
        <p:nvSpPr>
          <p:cNvPr id="21" name="TextBox 20"/>
          <p:cNvSpPr txBox="1"/>
          <p:nvPr/>
        </p:nvSpPr>
        <p:spPr>
          <a:xfrm>
            <a:off x="9558254"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Inconsistent
method</a:t>
            </a:r>
          </a:p>
        </p:txBody>
      </p:sp>
      <p:sp>
        <p:nvSpPr>
          <p:cNvPr id="22" name="Rectangle 21"/>
          <p:cNvSpPr/>
          <p:nvPr/>
        </p:nvSpPr>
        <p:spPr>
          <a:xfrm>
            <a:off x="6495014" y="3621579"/>
            <a:ext cx="4114800" cy="9144"/>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1520" y="4709160"/>
            <a:ext cx="9692640" cy="621792"/>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50" b="1">
                <a:solidFill>
                  <a:srgbClr val="E11424"/>
                </a:solidFill>
                <a:latin typeface="Arial"/>
              </a:rPr>
              <a:t>Assessment quality improves when methodology, scoring, templates, and reporting are standardized before the engagement starts.</a:t>
            </a:r>
          </a:p>
        </p:txBody>
      </p:sp>
      <p:sp>
        <p:nvSpPr>
          <p:cNvPr id="24" name="TextBox 23"/>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25" name="TextBox 24"/>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3</a:t>
            </a:r>
          </a:p>
        </p:txBody>
      </p:sp>
      <p:pic>
        <p:nvPicPr>
          <p:cNvPr id="26" name="Picture 25"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What the Cloud Readiness Accelerator Provides</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A reusable delivery model for consistent, multi-cloud assessment outcomes</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2331720" cy="114300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Standardized methodology</a:t>
            </a:r>
          </a:p>
          <a:p>
            <a:pPr>
              <a:spcBef>
                <a:spcPts val="400"/>
              </a:spcBef>
            </a:pPr>
            <a:r>
              <a:rPr sz="900">
                <a:solidFill>
                  <a:srgbClr val="2D2D2D"/>
                </a:solidFill>
                <a:latin typeface="Arial"/>
              </a:rPr>
              <a:t>Consistent assessment approach across engagements.</a:t>
            </a:r>
          </a:p>
        </p:txBody>
      </p:sp>
      <p:sp>
        <p:nvSpPr>
          <p:cNvPr id="6" name="Rounded Rectangle 5"/>
          <p:cNvSpPr/>
          <p:nvPr/>
        </p:nvSpPr>
        <p:spPr>
          <a:xfrm>
            <a:off x="3108960" y="1234440"/>
            <a:ext cx="2331720" cy="114300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Multi-cloud scoring</a:t>
            </a:r>
          </a:p>
          <a:p>
            <a:pPr>
              <a:spcBef>
                <a:spcPts val="400"/>
              </a:spcBef>
            </a:pPr>
            <a:r>
              <a:rPr sz="900">
                <a:solidFill>
                  <a:srgbClr val="2D2D2D"/>
                </a:solidFill>
                <a:latin typeface="Arial"/>
              </a:rPr>
              <a:t>Objective comparison of Azure, AWS, and GCP.</a:t>
            </a:r>
          </a:p>
        </p:txBody>
      </p:sp>
      <p:sp>
        <p:nvSpPr>
          <p:cNvPr id="7" name="Rounded Rectangle 6"/>
          <p:cNvSpPr/>
          <p:nvPr/>
        </p:nvSpPr>
        <p:spPr>
          <a:xfrm>
            <a:off x="5715000" y="1234440"/>
            <a:ext cx="2331720" cy="114300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Reusable templates</a:t>
            </a:r>
          </a:p>
          <a:p>
            <a:pPr>
              <a:spcBef>
                <a:spcPts val="400"/>
              </a:spcBef>
            </a:pPr>
            <a:r>
              <a:rPr sz="900">
                <a:solidFill>
                  <a:srgbClr val="2D2D2D"/>
                </a:solidFill>
                <a:latin typeface="Arial"/>
              </a:rPr>
              <a:t>Pre-built deliverables reduce time-to-value.</a:t>
            </a:r>
          </a:p>
        </p:txBody>
      </p:sp>
      <p:sp>
        <p:nvSpPr>
          <p:cNvPr id="8" name="Rounded Rectangle 7"/>
          <p:cNvSpPr/>
          <p:nvPr/>
        </p:nvSpPr>
        <p:spPr>
          <a:xfrm>
            <a:off x="8321040" y="1234440"/>
            <a:ext cx="2331720" cy="114300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Production-ready assets</a:t>
            </a:r>
          </a:p>
          <a:p>
            <a:pPr>
              <a:spcBef>
                <a:spcPts val="400"/>
              </a:spcBef>
            </a:pPr>
            <a:r>
              <a:rPr sz="900">
                <a:solidFill>
                  <a:srgbClr val="2D2D2D"/>
                </a:solidFill>
                <a:latin typeface="Arial"/>
              </a:rPr>
              <a:t>Built from real enterprise assessment delivery.</a:t>
            </a:r>
          </a:p>
        </p:txBody>
      </p:sp>
      <p:sp>
        <p:nvSpPr>
          <p:cNvPr id="9" name="Rounded Rectangle 8"/>
          <p:cNvSpPr/>
          <p:nvPr/>
        </p:nvSpPr>
        <p:spPr>
          <a:xfrm>
            <a:off x="96012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24+</a:t>
            </a:r>
          </a:p>
          <a:p>
            <a:pPr algn="ctr"/>
            <a:r>
              <a:rPr sz="750">
                <a:solidFill>
                  <a:srgbClr val="5F5F5F"/>
                </a:solidFill>
                <a:latin typeface="Arial"/>
              </a:rPr>
              <a:t>templates</a:t>
            </a:r>
          </a:p>
        </p:txBody>
      </p:sp>
      <p:sp>
        <p:nvSpPr>
          <p:cNvPr id="10" name="Rounded Rectangle 9"/>
          <p:cNvSpPr/>
          <p:nvPr/>
        </p:nvSpPr>
        <p:spPr>
          <a:xfrm>
            <a:off x="333756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3</a:t>
            </a:r>
          </a:p>
          <a:p>
            <a:pPr algn="ctr"/>
            <a:r>
              <a:rPr sz="750">
                <a:solidFill>
                  <a:srgbClr val="5F5F5F"/>
                </a:solidFill>
                <a:latin typeface="Arial"/>
              </a:rPr>
              <a:t>platforms</a:t>
            </a:r>
          </a:p>
        </p:txBody>
      </p:sp>
      <p:sp>
        <p:nvSpPr>
          <p:cNvPr id="11" name="Rounded Rectangle 10"/>
          <p:cNvSpPr/>
          <p:nvPr/>
        </p:nvSpPr>
        <p:spPr>
          <a:xfrm>
            <a:off x="571500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4</a:t>
            </a:r>
          </a:p>
          <a:p>
            <a:pPr algn="ctr"/>
            <a:r>
              <a:rPr sz="750">
                <a:solidFill>
                  <a:srgbClr val="5F5F5F"/>
                </a:solidFill>
                <a:latin typeface="Arial"/>
              </a:rPr>
              <a:t>phases</a:t>
            </a:r>
          </a:p>
        </p:txBody>
      </p:sp>
      <p:sp>
        <p:nvSpPr>
          <p:cNvPr id="12" name="Rounded Rectangle 11"/>
          <p:cNvSpPr/>
          <p:nvPr/>
        </p:nvSpPr>
        <p:spPr>
          <a:xfrm>
            <a:off x="809244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5</a:t>
            </a:r>
          </a:p>
          <a:p>
            <a:pPr algn="ctr"/>
            <a:r>
              <a:rPr sz="750">
                <a:solidFill>
                  <a:srgbClr val="5F5F5F"/>
                </a:solidFill>
                <a:latin typeface="Arial"/>
              </a:rPr>
              <a:t>readiness dimensions</a:t>
            </a:r>
          </a:p>
        </p:txBody>
      </p:sp>
      <p:sp>
        <p:nvSpPr>
          <p:cNvPr id="13" name="TextBox 12"/>
          <p:cNvSpPr txBox="1"/>
          <p:nvPr/>
        </p:nvSpPr>
        <p:spPr>
          <a:xfrm>
            <a:off x="685800" y="3977639"/>
            <a:ext cx="9875520" cy="118872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Covers technical fit, cost analysis, migration readiness, and business alignment.</a:t>
            </a:r>
          </a:p>
          <a:p>
            <a:pPr>
              <a:spcAft>
                <a:spcPts val="0"/>
              </a:spcAft>
            </a:pPr>
            <a:r>
              <a:rPr sz="1250" b="1">
                <a:solidFill>
                  <a:srgbClr val="5C2684"/>
                </a:solidFill>
                <a:latin typeface="Arial"/>
              </a:rPr>
              <a:t>• </a:t>
            </a:r>
            <a:r>
              <a:rPr sz="1250">
                <a:solidFill>
                  <a:srgbClr val="2D2D2D"/>
                </a:solidFill>
                <a:latin typeface="Arial"/>
              </a:rPr>
              <a:t>Uses weighted criteria tailored to client priorities across Technical, Operations, Security, Business, and People readiness.</a:t>
            </a:r>
          </a:p>
          <a:p>
            <a:pPr>
              <a:spcAft>
                <a:spcPts val="0"/>
              </a:spcAft>
            </a:pPr>
            <a:r>
              <a:rPr sz="1250" b="1">
                <a:solidFill>
                  <a:srgbClr val="5C2684"/>
                </a:solidFill>
                <a:latin typeface="Arial"/>
              </a:rPr>
              <a:t>• </a:t>
            </a:r>
            <a:r>
              <a:rPr sz="1250">
                <a:solidFill>
                  <a:srgbClr val="2D2D2D"/>
                </a:solidFill>
                <a:latin typeface="Arial"/>
              </a:rPr>
              <a:t>Supports discovery questionnaires, application profiling, dependency mapping, TCO modeling, and executive reporting.</a:t>
            </a:r>
          </a:p>
        </p:txBody>
      </p:sp>
      <p:sp>
        <p:nvSpPr>
          <p:cNvPr id="14" name="TextBox 13"/>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5" name="TextBox 14"/>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4</a:t>
            </a:r>
          </a:p>
        </p:txBody>
      </p:sp>
      <p:pic>
        <p:nvPicPr>
          <p:cNvPr id="16" name="Picture 15"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Four-Phase Assessment Model</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Discovery moves into analysis, evaluation, and migration planning without losing delivery discipline</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2331720" cy="123444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1. Discovery</a:t>
            </a:r>
          </a:p>
          <a:p>
            <a:pPr>
              <a:spcBef>
                <a:spcPts val="400"/>
              </a:spcBef>
            </a:pPr>
            <a:r>
              <a:rPr sz="900">
                <a:solidFill>
                  <a:srgbClr val="2D2D2D"/>
                </a:solidFill>
                <a:latin typeface="Arial"/>
              </a:rPr>
              <a:t>Tooling, server profiling, dependency mapping, and application workshops.</a:t>
            </a:r>
          </a:p>
        </p:txBody>
      </p:sp>
      <p:sp>
        <p:nvSpPr>
          <p:cNvPr id="6" name="TextBox 5"/>
          <p:cNvSpPr txBox="1"/>
          <p:nvPr/>
        </p:nvSpPr>
        <p:spPr>
          <a:xfrm>
            <a:off x="2834639" y="1691640"/>
            <a:ext cx="320040" cy="320040"/>
          </a:xfrm>
          <a:prstGeom prst="rect">
            <a:avLst/>
          </a:prstGeom>
          <a:noFill/>
        </p:spPr>
        <p:txBody>
          <a:bodyPr wrap="none" lIns="27432" tIns="18288" rIns="27432" bIns="18288">
            <a:spAutoFit/>
          </a:bodyPr>
          <a:lstStyle/>
          <a:p>
            <a:pPr algn="ctr"/>
            <a:r>
              <a:rPr sz="2000" b="1">
                <a:solidFill>
                  <a:srgbClr val="5C2684"/>
                </a:solidFill>
                <a:latin typeface="Arial"/>
              </a:rPr>
              <a:t>→</a:t>
            </a:r>
          </a:p>
        </p:txBody>
      </p:sp>
      <p:sp>
        <p:nvSpPr>
          <p:cNvPr id="7" name="Rounded Rectangle 6"/>
          <p:cNvSpPr/>
          <p:nvPr/>
        </p:nvSpPr>
        <p:spPr>
          <a:xfrm>
            <a:off x="3108960" y="1234440"/>
            <a:ext cx="2331720" cy="123444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2. Analysis</a:t>
            </a:r>
          </a:p>
          <a:p>
            <a:pPr>
              <a:spcBef>
                <a:spcPts val="400"/>
              </a:spcBef>
            </a:pPr>
            <a:r>
              <a:rPr sz="900">
                <a:solidFill>
                  <a:srgbClr val="2D2D2D"/>
                </a:solidFill>
                <a:latin typeface="Arial"/>
              </a:rPr>
              <a:t>TCO modeling, technical assessment, readiness scoring, and gap identification.</a:t>
            </a:r>
          </a:p>
        </p:txBody>
      </p:sp>
      <p:sp>
        <p:nvSpPr>
          <p:cNvPr id="8" name="TextBox 7"/>
          <p:cNvSpPr txBox="1"/>
          <p:nvPr/>
        </p:nvSpPr>
        <p:spPr>
          <a:xfrm>
            <a:off x="5440680" y="1691640"/>
            <a:ext cx="320040" cy="320040"/>
          </a:xfrm>
          <a:prstGeom prst="rect">
            <a:avLst/>
          </a:prstGeom>
          <a:noFill/>
        </p:spPr>
        <p:txBody>
          <a:bodyPr wrap="none" lIns="27432" tIns="18288" rIns="27432" bIns="18288">
            <a:spAutoFit/>
          </a:bodyPr>
          <a:lstStyle/>
          <a:p>
            <a:pPr algn="ctr"/>
            <a:r>
              <a:rPr sz="2000" b="1">
                <a:solidFill>
                  <a:srgbClr val="5C2684"/>
                </a:solidFill>
                <a:latin typeface="Arial"/>
              </a:rPr>
              <a:t>→</a:t>
            </a:r>
          </a:p>
        </p:txBody>
      </p:sp>
      <p:sp>
        <p:nvSpPr>
          <p:cNvPr id="9" name="Rounded Rectangle 8"/>
          <p:cNvSpPr/>
          <p:nvPr/>
        </p:nvSpPr>
        <p:spPr>
          <a:xfrm>
            <a:off x="5715000" y="1234440"/>
            <a:ext cx="2331720" cy="123444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3. Evaluation</a:t>
            </a:r>
          </a:p>
          <a:p>
            <a:pPr>
              <a:spcBef>
                <a:spcPts val="400"/>
              </a:spcBef>
            </a:pPr>
            <a:r>
              <a:rPr sz="900">
                <a:solidFill>
                  <a:srgbClr val="2D2D2D"/>
                </a:solidFill>
                <a:latin typeface="Arial"/>
              </a:rPr>
              <a:t>Multi-cloud comparison, weighted scoring, and business-fit analysis.</a:t>
            </a:r>
          </a:p>
        </p:txBody>
      </p:sp>
      <p:sp>
        <p:nvSpPr>
          <p:cNvPr id="10" name="TextBox 9"/>
          <p:cNvSpPr txBox="1"/>
          <p:nvPr/>
        </p:nvSpPr>
        <p:spPr>
          <a:xfrm>
            <a:off x="8046720" y="1691640"/>
            <a:ext cx="320040" cy="320040"/>
          </a:xfrm>
          <a:prstGeom prst="rect">
            <a:avLst/>
          </a:prstGeom>
          <a:noFill/>
        </p:spPr>
        <p:txBody>
          <a:bodyPr wrap="none" lIns="27432" tIns="18288" rIns="27432" bIns="18288">
            <a:spAutoFit/>
          </a:bodyPr>
          <a:lstStyle/>
          <a:p>
            <a:pPr algn="ctr"/>
            <a:r>
              <a:rPr sz="2000" b="1">
                <a:solidFill>
                  <a:srgbClr val="5C2684"/>
                </a:solidFill>
                <a:latin typeface="Arial"/>
              </a:rPr>
              <a:t>→</a:t>
            </a:r>
          </a:p>
        </p:txBody>
      </p:sp>
      <p:sp>
        <p:nvSpPr>
          <p:cNvPr id="11" name="Rounded Rectangle 10"/>
          <p:cNvSpPr/>
          <p:nvPr/>
        </p:nvSpPr>
        <p:spPr>
          <a:xfrm>
            <a:off x="8321040" y="1234440"/>
            <a:ext cx="2331720" cy="123444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4. Planning</a:t>
            </a:r>
          </a:p>
          <a:p>
            <a:pPr>
              <a:spcBef>
                <a:spcPts val="400"/>
              </a:spcBef>
            </a:pPr>
            <a:r>
              <a:rPr sz="900">
                <a:solidFill>
                  <a:srgbClr val="2D2D2D"/>
                </a:solidFill>
                <a:latin typeface="Arial"/>
              </a:rPr>
              <a:t>Migration runbooks, wave plans, governance design, and next steps.</a:t>
            </a:r>
          </a:p>
        </p:txBody>
      </p:sp>
      <p:sp>
        <p:nvSpPr>
          <p:cNvPr id="12" name="Rounded Rectangle 11"/>
          <p:cNvSpPr/>
          <p:nvPr/>
        </p:nvSpPr>
        <p:spPr>
          <a:xfrm>
            <a:off x="822960" y="3246120"/>
            <a:ext cx="2880360" cy="914400"/>
          </a:xfrm>
          <a:prstGeom prst="roundRect">
            <a:avLst/>
          </a:prstGeom>
          <a:solidFill>
            <a:srgbClr val="FAFAFC"/>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Engagement control</a:t>
            </a:r>
          </a:p>
          <a:p>
            <a:pPr>
              <a:spcBef>
                <a:spcPts val="400"/>
              </a:spcBef>
            </a:pPr>
            <a:r>
              <a:rPr sz="900">
                <a:solidFill>
                  <a:srgbClr val="2D2D2D"/>
                </a:solidFill>
                <a:latin typeface="Arial"/>
              </a:rPr>
              <a:t>Standard phases and clear responsibilities.</a:t>
            </a:r>
          </a:p>
        </p:txBody>
      </p:sp>
      <p:sp>
        <p:nvSpPr>
          <p:cNvPr id="13" name="Rounded Rectangle 12"/>
          <p:cNvSpPr/>
          <p:nvPr/>
        </p:nvSpPr>
        <p:spPr>
          <a:xfrm>
            <a:off x="4069080" y="3246120"/>
            <a:ext cx="2880360" cy="914400"/>
          </a:xfrm>
          <a:prstGeom prst="roundRect">
            <a:avLst/>
          </a:prstGeom>
          <a:solidFill>
            <a:srgbClr val="FAFAFC"/>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Client confidence</a:t>
            </a:r>
          </a:p>
          <a:p>
            <a:pPr>
              <a:spcBef>
                <a:spcPts val="400"/>
              </a:spcBef>
            </a:pPr>
            <a:r>
              <a:rPr sz="900">
                <a:solidFill>
                  <a:srgbClr val="2D2D2D"/>
                </a:solidFill>
                <a:latin typeface="Arial"/>
              </a:rPr>
              <a:t>Evidence-based outputs tied to business outcomes.</a:t>
            </a:r>
          </a:p>
        </p:txBody>
      </p:sp>
      <p:sp>
        <p:nvSpPr>
          <p:cNvPr id="14" name="Rounded Rectangle 13"/>
          <p:cNvSpPr/>
          <p:nvPr/>
        </p:nvSpPr>
        <p:spPr>
          <a:xfrm>
            <a:off x="7315200" y="3246120"/>
            <a:ext cx="2880360" cy="914400"/>
          </a:xfrm>
          <a:prstGeom prst="roundRect">
            <a:avLst/>
          </a:prstGeom>
          <a:solidFill>
            <a:srgbClr val="FAFAFC"/>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Delivery readiness</a:t>
            </a:r>
          </a:p>
          <a:p>
            <a:pPr>
              <a:spcBef>
                <a:spcPts val="400"/>
              </a:spcBef>
            </a:pPr>
            <a:r>
              <a:rPr sz="900">
                <a:solidFill>
                  <a:srgbClr val="2D2D2D"/>
                </a:solidFill>
                <a:latin typeface="Arial"/>
              </a:rPr>
              <a:t>Roadmap, waves, governance, and runbooks ready for execution.</a:t>
            </a:r>
          </a:p>
        </p:txBody>
      </p:sp>
      <p:sp>
        <p:nvSpPr>
          <p:cNvPr id="15" name="Rounded Rectangle 14"/>
          <p:cNvSpPr/>
          <p:nvPr/>
        </p:nvSpPr>
        <p:spPr>
          <a:xfrm>
            <a:off x="822960" y="4892040"/>
            <a:ext cx="9509760" cy="475488"/>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The model avoids a tool-only assessment by connecting discovery data to commercial, technical, operational, and migration decisions.</a:t>
            </a:r>
          </a:p>
        </p:txBody>
      </p:sp>
      <p:sp>
        <p:nvSpPr>
          <p:cNvPr id="16" name="TextBox 15"/>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7" name="TextBox 16"/>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5</a:t>
            </a:r>
          </a:p>
        </p:txBody>
      </p:sp>
      <p:pic>
        <p:nvPicPr>
          <p:cNvPr id="18" name="Picture 17"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Multi-Dimensional Readiness and Scoring Model</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Recommendations become defensible when technical, commercial, security, and operating model factors are scored together</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25880"/>
            <a:ext cx="2697480" cy="86868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Technical</a:t>
            </a:r>
          </a:p>
          <a:p>
            <a:pPr>
              <a:spcBef>
                <a:spcPts val="400"/>
              </a:spcBef>
            </a:pPr>
            <a:r>
              <a:rPr sz="850">
                <a:solidFill>
                  <a:srgbClr val="2D2D2D"/>
                </a:solidFill>
                <a:latin typeface="Arial"/>
              </a:rPr>
              <a:t>Platform fit, app constraints, performance, dependencies</a:t>
            </a:r>
          </a:p>
        </p:txBody>
      </p:sp>
      <p:sp>
        <p:nvSpPr>
          <p:cNvPr id="6" name="Rounded Rectangle 5"/>
          <p:cNvSpPr/>
          <p:nvPr/>
        </p:nvSpPr>
        <p:spPr>
          <a:xfrm>
            <a:off x="3886200" y="1325880"/>
            <a:ext cx="2697480" cy="868680"/>
          </a:xfrm>
          <a:prstGeom prst="roundRect">
            <a:avLst/>
          </a:prstGeom>
          <a:solidFill>
            <a:srgbClr val="F4F1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Operations</a:t>
            </a:r>
          </a:p>
          <a:p>
            <a:pPr>
              <a:spcBef>
                <a:spcPts val="400"/>
              </a:spcBef>
            </a:pPr>
            <a:r>
              <a:rPr sz="850">
                <a:solidFill>
                  <a:srgbClr val="2D2D2D"/>
                </a:solidFill>
                <a:latin typeface="Arial"/>
              </a:rPr>
              <a:t>Run model, monitoring, automation, ITSM</a:t>
            </a:r>
          </a:p>
        </p:txBody>
      </p:sp>
      <p:sp>
        <p:nvSpPr>
          <p:cNvPr id="7" name="Rounded Rectangle 6"/>
          <p:cNvSpPr/>
          <p:nvPr/>
        </p:nvSpPr>
        <p:spPr>
          <a:xfrm>
            <a:off x="7086600" y="1325880"/>
            <a:ext cx="2697480" cy="868680"/>
          </a:xfrm>
          <a:prstGeom prst="roundRect">
            <a:avLst/>
          </a:prstGeom>
          <a:solidFill>
            <a:srgbClr val="F4F1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Security</a:t>
            </a:r>
          </a:p>
          <a:p>
            <a:pPr>
              <a:spcBef>
                <a:spcPts val="400"/>
              </a:spcBef>
            </a:pPr>
            <a:r>
              <a:rPr sz="850">
                <a:solidFill>
                  <a:srgbClr val="2D2D2D"/>
                </a:solidFill>
                <a:latin typeface="Arial"/>
              </a:rPr>
              <a:t>Identity, network controls, data protection, risk</a:t>
            </a:r>
          </a:p>
        </p:txBody>
      </p:sp>
      <p:sp>
        <p:nvSpPr>
          <p:cNvPr id="8" name="Rounded Rectangle 7"/>
          <p:cNvSpPr/>
          <p:nvPr/>
        </p:nvSpPr>
        <p:spPr>
          <a:xfrm>
            <a:off x="2286000" y="2743200"/>
            <a:ext cx="2697480" cy="86868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Business</a:t>
            </a:r>
          </a:p>
          <a:p>
            <a:pPr>
              <a:spcBef>
                <a:spcPts val="400"/>
              </a:spcBef>
            </a:pPr>
            <a:r>
              <a:rPr sz="850">
                <a:solidFill>
                  <a:srgbClr val="2D2D2D"/>
                </a:solidFill>
                <a:latin typeface="Arial"/>
              </a:rPr>
              <a:t>Criticality, value, constraints, timeline</a:t>
            </a:r>
          </a:p>
        </p:txBody>
      </p:sp>
      <p:sp>
        <p:nvSpPr>
          <p:cNvPr id="9" name="Rounded Rectangle 8"/>
          <p:cNvSpPr/>
          <p:nvPr/>
        </p:nvSpPr>
        <p:spPr>
          <a:xfrm>
            <a:off x="5486400" y="2743200"/>
            <a:ext cx="2697480" cy="868680"/>
          </a:xfrm>
          <a:prstGeom prst="roundRect">
            <a:avLst/>
          </a:prstGeom>
          <a:solidFill>
            <a:srgbClr val="F1F9FA"/>
          </a:solidFill>
          <a:ln w="16510">
            <a:solidFill>
              <a:srgbClr val="ECB11F"/>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People</a:t>
            </a:r>
          </a:p>
          <a:p>
            <a:pPr>
              <a:spcBef>
                <a:spcPts val="400"/>
              </a:spcBef>
            </a:pPr>
            <a:r>
              <a:rPr sz="850">
                <a:solidFill>
                  <a:srgbClr val="2D2D2D"/>
                </a:solidFill>
                <a:latin typeface="Arial"/>
              </a:rPr>
              <a:t>Skills, adoption, change readiness</a:t>
            </a:r>
          </a:p>
        </p:txBody>
      </p:sp>
      <p:sp>
        <p:nvSpPr>
          <p:cNvPr id="10" name="TextBox 9"/>
          <p:cNvSpPr txBox="1"/>
          <p:nvPr/>
        </p:nvSpPr>
        <p:spPr>
          <a:xfrm>
            <a:off x="914400" y="4343400"/>
            <a:ext cx="9326880" cy="96012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Client priorities drive weighting. Cost, speed, security, resilience, and innovation can be weighted differently by engagement.</a:t>
            </a:r>
          </a:p>
          <a:p>
            <a:pPr>
              <a:spcAft>
                <a:spcPts val="0"/>
              </a:spcAft>
            </a:pPr>
            <a:r>
              <a:rPr sz="1250" b="1">
                <a:solidFill>
                  <a:srgbClr val="5C2684"/>
                </a:solidFill>
                <a:latin typeface="Arial"/>
              </a:rPr>
              <a:t>• </a:t>
            </a:r>
            <a:r>
              <a:rPr sz="1250">
                <a:solidFill>
                  <a:srgbClr val="2D2D2D"/>
                </a:solidFill>
                <a:latin typeface="Arial"/>
              </a:rPr>
              <a:t>Scoring creates a repeatable recommendation basis across Azure, AWS, and GCP.</a:t>
            </a:r>
          </a:p>
          <a:p>
            <a:pPr>
              <a:spcAft>
                <a:spcPts val="0"/>
              </a:spcAft>
            </a:pPr>
            <a:r>
              <a:rPr sz="1250" b="1">
                <a:solidFill>
                  <a:srgbClr val="5C2684"/>
                </a:solidFill>
                <a:latin typeface="Arial"/>
              </a:rPr>
              <a:t>• </a:t>
            </a:r>
            <a:r>
              <a:rPr sz="1250">
                <a:solidFill>
                  <a:srgbClr val="2D2D2D"/>
                </a:solidFill>
                <a:latin typeface="Arial"/>
              </a:rPr>
              <a:t>A strong recommendation should survive executive, technical, and commercial scrutiny.</a:t>
            </a:r>
          </a:p>
        </p:txBody>
      </p:sp>
      <p:sp>
        <p:nvSpPr>
          <p:cNvPr id="11" name="Rounded Rectangle 10"/>
          <p:cNvSpPr/>
          <p:nvPr/>
        </p:nvSpPr>
        <p:spPr>
          <a:xfrm>
            <a:off x="914400" y="5532120"/>
            <a:ext cx="9326880" cy="420624"/>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 good CRA recommendation is not a cloud preference. It is a defensible decision model.</a:t>
            </a:r>
          </a:p>
        </p:txBody>
      </p:sp>
      <p:sp>
        <p:nvSpPr>
          <p:cNvPr id="12" name="TextBox 11"/>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3" name="TextBox 12"/>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6</a:t>
            </a:r>
          </a:p>
        </p:txBody>
      </p:sp>
      <p:pic>
        <p:nvPicPr>
          <p:cNvPr id="14" name="Picture 13"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Reusable Asset Library</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Template reuse shortens delivery while making quality and evidence consistent</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2971800" cy="96012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Discovery</a:t>
            </a:r>
          </a:p>
          <a:p>
            <a:pPr>
              <a:spcBef>
                <a:spcPts val="400"/>
              </a:spcBef>
            </a:pPr>
            <a:r>
              <a:rPr sz="850">
                <a:solidFill>
                  <a:srgbClr val="2D2D2D"/>
                </a:solidFill>
                <a:latin typeface="Arial"/>
              </a:rPr>
              <a:t>Inventory templates, profiling questionnaires, dependency tools, scripts</a:t>
            </a:r>
          </a:p>
        </p:txBody>
      </p:sp>
      <p:sp>
        <p:nvSpPr>
          <p:cNvPr id="6" name="Rounded Rectangle 5"/>
          <p:cNvSpPr/>
          <p:nvPr/>
        </p:nvSpPr>
        <p:spPr>
          <a:xfrm>
            <a:off x="3840480" y="1234440"/>
            <a:ext cx="2971800" cy="96012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Assessment</a:t>
            </a:r>
          </a:p>
          <a:p>
            <a:pPr>
              <a:spcBef>
                <a:spcPts val="400"/>
              </a:spcBef>
            </a:pPr>
            <a:r>
              <a:rPr sz="850">
                <a:solidFill>
                  <a:srgbClr val="2D2D2D"/>
                </a:solidFill>
                <a:latin typeface="Arial"/>
              </a:rPr>
              <a:t>Scoring models, readiness checklists, cloud affinity calculators</a:t>
            </a:r>
          </a:p>
        </p:txBody>
      </p:sp>
      <p:sp>
        <p:nvSpPr>
          <p:cNvPr id="7" name="Rounded Rectangle 6"/>
          <p:cNvSpPr/>
          <p:nvPr/>
        </p:nvSpPr>
        <p:spPr>
          <a:xfrm>
            <a:off x="7178040" y="1234440"/>
            <a:ext cx="2971800" cy="960120"/>
          </a:xfrm>
          <a:prstGeom prst="roundRect">
            <a:avLst/>
          </a:prstGeom>
          <a:solidFill>
            <a:srgbClr val="F4F1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TCO</a:t>
            </a:r>
          </a:p>
          <a:p>
            <a:pPr>
              <a:spcBef>
                <a:spcPts val="400"/>
              </a:spcBef>
            </a:pPr>
            <a:r>
              <a:rPr sz="850">
                <a:solidFill>
                  <a:srgbClr val="2D2D2D"/>
                </a:solidFill>
                <a:latin typeface="Arial"/>
              </a:rPr>
              <a:t>Live/API pricing, BYOL modeling, regional cost comparison, optimization</a:t>
            </a:r>
          </a:p>
        </p:txBody>
      </p:sp>
      <p:sp>
        <p:nvSpPr>
          <p:cNvPr id="8" name="Rounded Rectangle 7"/>
          <p:cNvSpPr/>
          <p:nvPr/>
        </p:nvSpPr>
        <p:spPr>
          <a:xfrm>
            <a:off x="502920" y="2651760"/>
            <a:ext cx="2971800" cy="96012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Planning</a:t>
            </a:r>
          </a:p>
          <a:p>
            <a:pPr>
              <a:spcBef>
                <a:spcPts val="400"/>
              </a:spcBef>
            </a:pPr>
            <a:r>
              <a:rPr sz="850">
                <a:solidFill>
                  <a:srgbClr val="2D2D2D"/>
                </a:solidFill>
                <a:latin typeface="Arial"/>
              </a:rPr>
              <a:t>Migration waves, project plans, governance frameworks, landing zone blueprints</a:t>
            </a:r>
          </a:p>
        </p:txBody>
      </p:sp>
      <p:sp>
        <p:nvSpPr>
          <p:cNvPr id="9" name="Rounded Rectangle 8"/>
          <p:cNvSpPr/>
          <p:nvPr/>
        </p:nvSpPr>
        <p:spPr>
          <a:xfrm>
            <a:off x="3840480" y="2651760"/>
            <a:ext cx="2971800" cy="960120"/>
          </a:xfrm>
          <a:prstGeom prst="roundRect">
            <a:avLst/>
          </a:prstGeom>
          <a:solidFill>
            <a:srgbClr val="F4F1FA"/>
          </a:solidFill>
          <a:ln w="16510">
            <a:solidFill>
              <a:srgbClr val="ECB11F"/>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Engagement</a:t>
            </a:r>
          </a:p>
          <a:p>
            <a:pPr>
              <a:spcBef>
                <a:spcPts val="400"/>
              </a:spcBef>
            </a:pPr>
            <a:r>
              <a:rPr sz="850">
                <a:solidFill>
                  <a:srgbClr val="2D2D2D"/>
                </a:solidFill>
                <a:latin typeface="Arial"/>
              </a:rPr>
              <a:t>Workshop decks, interview guides, hyperscaler scorecards, negotiation materials</a:t>
            </a:r>
          </a:p>
        </p:txBody>
      </p:sp>
      <p:sp>
        <p:nvSpPr>
          <p:cNvPr id="10" name="Rounded Rectangle 9"/>
          <p:cNvSpPr/>
          <p:nvPr/>
        </p:nvSpPr>
        <p:spPr>
          <a:xfrm>
            <a:off x="914400" y="4800600"/>
            <a:ext cx="9509760" cy="685800"/>
          </a:xfrm>
          <a:prstGeom prst="roundRect">
            <a:avLst/>
          </a:prstGeom>
          <a:solidFill>
            <a:srgbClr val="FAFAFC"/>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Reusable does not mean generic. The framework keeps the client-specific inputs, assumptions, and decisions traceable while standardizing the delivery mechanics.</a:t>
            </a:r>
          </a:p>
        </p:txBody>
      </p:sp>
      <p:sp>
        <p:nvSpPr>
          <p:cNvPr id="11" name="TextBox 10"/>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2" name="TextBox 11"/>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7</a:t>
            </a:r>
          </a:p>
        </p:txBody>
      </p:sp>
      <p:pic>
        <p:nvPicPr>
          <p:cNvPr id="13" name="Picture 12"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Key Differentiators</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accelerator is designed to produce recommendations that can survive executive, technical, and commercial scrutiny</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100%</a:t>
            </a:r>
          </a:p>
          <a:p>
            <a:pPr algn="ctr"/>
            <a:r>
              <a:rPr sz="750">
                <a:solidFill>
                  <a:srgbClr val="5F5F5F"/>
                </a:solidFill>
                <a:latin typeface="Arial"/>
              </a:rPr>
              <a:t>provider neutral</a:t>
            </a:r>
          </a:p>
        </p:txBody>
      </p:sp>
      <p:sp>
        <p:nvSpPr>
          <p:cNvPr id="6" name="Rounded Rectangle 5"/>
          <p:cNvSpPr/>
          <p:nvPr/>
        </p:nvSpPr>
        <p:spPr>
          <a:xfrm>
            <a:off x="2560320" y="1234440"/>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5</a:t>
            </a:r>
          </a:p>
          <a:p>
            <a:pPr algn="ctr"/>
            <a:r>
              <a:rPr sz="750">
                <a:solidFill>
                  <a:srgbClr val="5F5F5F"/>
                </a:solidFill>
                <a:latin typeface="Arial"/>
              </a:rPr>
              <a:t>readiness dimensions</a:t>
            </a:r>
          </a:p>
        </p:txBody>
      </p:sp>
      <p:sp>
        <p:nvSpPr>
          <p:cNvPr id="8" name="Rounded Rectangle 7"/>
          <p:cNvSpPr/>
          <p:nvPr/>
        </p:nvSpPr>
        <p:spPr>
          <a:xfrm>
            <a:off x="5040284" y="1243584"/>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179467"/>
                </a:solidFill>
                <a:latin typeface="Arial"/>
              </a:rPr>
              <a:t>24+</a:t>
            </a:r>
          </a:p>
          <a:p>
            <a:pPr algn="ctr"/>
            <a:r>
              <a:rPr sz="750" dirty="0">
                <a:solidFill>
                  <a:srgbClr val="5F5F5F"/>
                </a:solidFill>
                <a:latin typeface="Arial"/>
              </a:rPr>
              <a:t>reusable assets</a:t>
            </a:r>
          </a:p>
        </p:txBody>
      </p:sp>
      <p:sp>
        <p:nvSpPr>
          <p:cNvPr id="9" name="Rounded Rectangle 8"/>
          <p:cNvSpPr/>
          <p:nvPr/>
        </p:nvSpPr>
        <p:spPr>
          <a:xfrm>
            <a:off x="7520248" y="1271016"/>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CB11F"/>
                </a:solidFill>
                <a:latin typeface="Arial"/>
              </a:rPr>
              <a:t>60%</a:t>
            </a:r>
          </a:p>
          <a:p>
            <a:pPr algn="ctr"/>
            <a:r>
              <a:rPr sz="750">
                <a:solidFill>
                  <a:srgbClr val="5F5F5F"/>
                </a:solidFill>
                <a:latin typeface="Arial"/>
              </a:rPr>
              <a:t>time reduction</a:t>
            </a:r>
          </a:p>
        </p:txBody>
      </p:sp>
      <p:sp>
        <p:nvSpPr>
          <p:cNvPr id="10" name="Rounded Rectangle 9"/>
          <p:cNvSpPr/>
          <p:nvPr/>
        </p:nvSpPr>
        <p:spPr>
          <a:xfrm>
            <a:off x="685800" y="2423160"/>
            <a:ext cx="4526280" cy="91440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Provider-neutral evaluation</a:t>
            </a:r>
          </a:p>
          <a:p>
            <a:pPr>
              <a:spcBef>
                <a:spcPts val="400"/>
              </a:spcBef>
            </a:pPr>
            <a:r>
              <a:rPr sz="880">
                <a:solidFill>
                  <a:srgbClr val="2D2D2D"/>
                </a:solidFill>
                <a:latin typeface="Arial"/>
              </a:rPr>
              <a:t>Standardized scoring avoids single-platform bias and keeps recommendations objective.</a:t>
            </a:r>
          </a:p>
        </p:txBody>
      </p:sp>
      <p:sp>
        <p:nvSpPr>
          <p:cNvPr id="11" name="Rounded Rectangle 10"/>
          <p:cNvSpPr/>
          <p:nvPr/>
        </p:nvSpPr>
        <p:spPr>
          <a:xfrm>
            <a:off x="5669280" y="2423160"/>
            <a:ext cx="4526280" cy="91440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Licensing-aware TCO</a:t>
            </a:r>
          </a:p>
          <a:p>
            <a:pPr>
              <a:spcBef>
                <a:spcPts val="400"/>
              </a:spcBef>
            </a:pPr>
            <a:r>
              <a:rPr sz="880">
                <a:solidFill>
                  <a:srgbClr val="2D2D2D"/>
                </a:solidFill>
                <a:latin typeface="Arial"/>
              </a:rPr>
              <a:t>BYOL, Software Assurance, regional pricing, and optimization scenarios are modeled explicitly.</a:t>
            </a:r>
          </a:p>
        </p:txBody>
      </p:sp>
      <p:sp>
        <p:nvSpPr>
          <p:cNvPr id="12" name="Rounded Rectangle 11"/>
          <p:cNvSpPr/>
          <p:nvPr/>
        </p:nvSpPr>
        <p:spPr>
          <a:xfrm>
            <a:off x="685800" y="3657600"/>
            <a:ext cx="4526280" cy="914400"/>
          </a:xfrm>
          <a:prstGeom prst="roundRect">
            <a:avLst/>
          </a:prstGeom>
          <a:solidFill>
            <a:srgbClr val="F4F1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Governance-first design</a:t>
            </a:r>
          </a:p>
          <a:p>
            <a:pPr>
              <a:spcBef>
                <a:spcPts val="400"/>
              </a:spcBef>
            </a:pPr>
            <a:r>
              <a:rPr sz="880">
                <a:solidFill>
                  <a:srgbClr val="2D2D2D"/>
                </a:solidFill>
                <a:latin typeface="Arial"/>
              </a:rPr>
              <a:t>Landing zones, FinOps, security controls, and operating model considerations start early.</a:t>
            </a:r>
          </a:p>
        </p:txBody>
      </p:sp>
      <p:sp>
        <p:nvSpPr>
          <p:cNvPr id="13" name="Rounded Rectangle 12"/>
          <p:cNvSpPr/>
          <p:nvPr/>
        </p:nvSpPr>
        <p:spPr>
          <a:xfrm>
            <a:off x="5669280" y="3657600"/>
            <a:ext cx="4526280" cy="91440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Repeatable delivery model</a:t>
            </a:r>
          </a:p>
          <a:p>
            <a:pPr>
              <a:spcBef>
                <a:spcPts val="400"/>
              </a:spcBef>
            </a:pPr>
            <a:r>
              <a:rPr sz="880">
                <a:solidFill>
                  <a:srgbClr val="2D2D2D"/>
                </a:solidFill>
                <a:latin typeface="Arial"/>
              </a:rPr>
              <a:t>Templates, scoring, and reporting are reusable across client engagements and teams.</a:t>
            </a:r>
          </a:p>
        </p:txBody>
      </p:sp>
      <p:sp>
        <p:nvSpPr>
          <p:cNvPr id="14" name="Rounded Rectangle 13"/>
          <p:cNvSpPr/>
          <p:nvPr/>
        </p:nvSpPr>
        <p:spPr>
          <a:xfrm>
            <a:off x="914400" y="5349240"/>
            <a:ext cx="9326880" cy="438912"/>
          </a:xfrm>
          <a:prstGeom prst="roundRect">
            <a:avLst/>
          </a:prstGeom>
          <a:solidFill>
            <a:srgbClr val="FAFAFC"/>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E11424"/>
                </a:solidFill>
                <a:latin typeface="Arial"/>
              </a:rPr>
              <a:t>The value is not just speed. It is a defensible, consistent recommendation that supports executive, technical, and commercial routing.</a:t>
            </a:r>
          </a:p>
        </p:txBody>
      </p:sp>
      <p:sp>
        <p:nvSpPr>
          <p:cNvPr id="15" name="TextBox 14"/>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6" name="TextBox 15"/>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8</a:t>
            </a:r>
          </a:p>
        </p:txBody>
      </p:sp>
      <p:pic>
        <p:nvPicPr>
          <p:cNvPr id="17" name="Picture 16"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Proven in Production: DMG Media Case Study</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framework has been applied to a large enterprise estate with real migration and hyperscaler decision requirements</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3,038</a:t>
            </a:r>
          </a:p>
          <a:p>
            <a:pPr algn="ctr"/>
            <a:r>
              <a:rPr sz="750">
                <a:solidFill>
                  <a:srgbClr val="5F5F5F"/>
                </a:solidFill>
                <a:latin typeface="Arial"/>
              </a:rPr>
              <a:t>servers assessed</a:t>
            </a:r>
          </a:p>
        </p:txBody>
      </p:sp>
      <p:sp>
        <p:nvSpPr>
          <p:cNvPr id="6" name="Rounded Rectangle 5"/>
          <p:cNvSpPr/>
          <p:nvPr/>
        </p:nvSpPr>
        <p:spPr>
          <a:xfrm>
            <a:off x="25603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39</a:t>
            </a:r>
          </a:p>
          <a:p>
            <a:pPr algn="ctr"/>
            <a:r>
              <a:rPr sz="750">
                <a:solidFill>
                  <a:srgbClr val="5F5F5F"/>
                </a:solidFill>
                <a:latin typeface="Arial"/>
              </a:rPr>
              <a:t>applications profiled</a:t>
            </a:r>
          </a:p>
        </p:txBody>
      </p:sp>
      <p:sp>
        <p:nvSpPr>
          <p:cNvPr id="7" name="Rounded Rectangle 6"/>
          <p:cNvSpPr/>
          <p:nvPr/>
        </p:nvSpPr>
        <p:spPr>
          <a:xfrm>
            <a:off x="46177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88</a:t>
            </a:r>
          </a:p>
          <a:p>
            <a:pPr algn="ctr"/>
            <a:r>
              <a:rPr sz="750">
                <a:solidFill>
                  <a:srgbClr val="5F5F5F"/>
                </a:solidFill>
                <a:latin typeface="Arial"/>
              </a:rPr>
              <a:t>databases evaluated</a:t>
            </a:r>
          </a:p>
        </p:txBody>
      </p:sp>
      <p:sp>
        <p:nvSpPr>
          <p:cNvPr id="8" name="Rounded Rectangle 7"/>
          <p:cNvSpPr/>
          <p:nvPr/>
        </p:nvSpPr>
        <p:spPr>
          <a:xfrm>
            <a:off x="66751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11</a:t>
            </a:r>
          </a:p>
          <a:p>
            <a:pPr algn="ctr"/>
            <a:r>
              <a:rPr sz="750">
                <a:solidFill>
                  <a:srgbClr val="5F5F5F"/>
                </a:solidFill>
                <a:latin typeface="Arial"/>
              </a:rPr>
              <a:t>weeks duration</a:t>
            </a:r>
          </a:p>
        </p:txBody>
      </p:sp>
      <p:sp>
        <p:nvSpPr>
          <p:cNvPr id="9" name="Rounded Rectangle 8"/>
          <p:cNvSpPr/>
          <p:nvPr/>
        </p:nvSpPr>
        <p:spPr>
          <a:xfrm>
            <a:off x="87325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CB11F"/>
                </a:solidFill>
                <a:latin typeface="Arial"/>
              </a:rPr>
              <a:t>3</a:t>
            </a:r>
          </a:p>
          <a:p>
            <a:pPr algn="ctr"/>
            <a:r>
              <a:rPr sz="750">
                <a:solidFill>
                  <a:srgbClr val="5F5F5F"/>
                </a:solidFill>
                <a:latin typeface="Arial"/>
              </a:rPr>
              <a:t>datacenters</a:t>
            </a:r>
          </a:p>
        </p:txBody>
      </p:sp>
      <p:sp>
        <p:nvSpPr>
          <p:cNvPr id="10" name="TextBox 9"/>
          <p:cNvSpPr txBox="1"/>
          <p:nvPr/>
        </p:nvSpPr>
        <p:spPr>
          <a:xfrm>
            <a:off x="822960" y="2331720"/>
            <a:ext cx="4297680" cy="228600"/>
          </a:xfrm>
          <a:prstGeom prst="rect">
            <a:avLst/>
          </a:prstGeom>
          <a:noFill/>
        </p:spPr>
        <p:txBody>
          <a:bodyPr wrap="none" lIns="27432" tIns="18288" rIns="27432" bIns="18288">
            <a:spAutoFit/>
          </a:bodyPr>
          <a:lstStyle/>
          <a:p>
            <a:pPr algn="ctr"/>
            <a:r>
              <a:rPr sz="1200" b="1">
                <a:solidFill>
                  <a:srgbClr val="2D2D2D"/>
                </a:solidFill>
                <a:latin typeface="Arial"/>
              </a:rPr>
              <a:t>DMG estate assessment scope</a:t>
            </a:r>
          </a:p>
        </p:txBody>
      </p:sp>
      <p:sp>
        <p:nvSpPr>
          <p:cNvPr id="11" name="Rectangle 10"/>
          <p:cNvSpPr/>
          <p:nvPr/>
        </p:nvSpPr>
        <p:spPr>
          <a:xfrm>
            <a:off x="1143000" y="2697479"/>
            <a:ext cx="490347" cy="1691640"/>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496311"/>
            <a:ext cx="581787" cy="146304"/>
          </a:xfrm>
          <a:prstGeom prst="rect">
            <a:avLst/>
          </a:prstGeom>
          <a:noFill/>
        </p:spPr>
        <p:txBody>
          <a:bodyPr wrap="none" lIns="27432" tIns="18288" rIns="27432" bIns="18288">
            <a:spAutoFit/>
          </a:bodyPr>
          <a:lstStyle/>
          <a:p>
            <a:pPr algn="ctr"/>
            <a:r>
              <a:rPr sz="750" b="0">
                <a:solidFill>
                  <a:srgbClr val="5F5F5F"/>
                </a:solidFill>
                <a:latin typeface="Arial"/>
              </a:rPr>
              <a:t>3038</a:t>
            </a:r>
          </a:p>
        </p:txBody>
      </p:sp>
      <p:sp>
        <p:nvSpPr>
          <p:cNvPr id="13" name="TextBox 12"/>
          <p:cNvSpPr txBox="1"/>
          <p:nvPr/>
        </p:nvSpPr>
        <p:spPr>
          <a:xfrm>
            <a:off x="94183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Servers</a:t>
            </a:r>
          </a:p>
        </p:txBody>
      </p:sp>
      <p:sp>
        <p:nvSpPr>
          <p:cNvPr id="14" name="Rectangle 13"/>
          <p:cNvSpPr/>
          <p:nvPr/>
        </p:nvSpPr>
        <p:spPr>
          <a:xfrm>
            <a:off x="2034540" y="4367403"/>
            <a:ext cx="490347" cy="21716"/>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88820" y="4166235"/>
            <a:ext cx="581787" cy="146304"/>
          </a:xfrm>
          <a:prstGeom prst="rect">
            <a:avLst/>
          </a:prstGeom>
          <a:noFill/>
        </p:spPr>
        <p:txBody>
          <a:bodyPr wrap="none" lIns="27432" tIns="18288" rIns="27432" bIns="18288">
            <a:spAutoFit/>
          </a:bodyPr>
          <a:lstStyle/>
          <a:p>
            <a:pPr algn="ctr"/>
            <a:r>
              <a:rPr sz="750" b="0">
                <a:solidFill>
                  <a:srgbClr val="5F5F5F"/>
                </a:solidFill>
                <a:latin typeface="Arial"/>
              </a:rPr>
              <a:t>39</a:t>
            </a:r>
          </a:p>
        </p:txBody>
      </p:sp>
      <p:sp>
        <p:nvSpPr>
          <p:cNvPr id="16" name="TextBox 15"/>
          <p:cNvSpPr txBox="1"/>
          <p:nvPr/>
        </p:nvSpPr>
        <p:spPr>
          <a:xfrm>
            <a:off x="183337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Apps</a:t>
            </a:r>
          </a:p>
        </p:txBody>
      </p:sp>
      <p:sp>
        <p:nvSpPr>
          <p:cNvPr id="17" name="Rectangle 16"/>
          <p:cNvSpPr/>
          <p:nvPr/>
        </p:nvSpPr>
        <p:spPr>
          <a:xfrm>
            <a:off x="2926080" y="4340119"/>
            <a:ext cx="490347" cy="49000"/>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80360" y="4138951"/>
            <a:ext cx="581787" cy="146304"/>
          </a:xfrm>
          <a:prstGeom prst="rect">
            <a:avLst/>
          </a:prstGeom>
          <a:noFill/>
        </p:spPr>
        <p:txBody>
          <a:bodyPr wrap="none" lIns="27432" tIns="18288" rIns="27432" bIns="18288">
            <a:spAutoFit/>
          </a:bodyPr>
          <a:lstStyle/>
          <a:p>
            <a:pPr algn="ctr"/>
            <a:r>
              <a:rPr sz="750" b="0">
                <a:solidFill>
                  <a:srgbClr val="5F5F5F"/>
                </a:solidFill>
                <a:latin typeface="Arial"/>
              </a:rPr>
              <a:t>88</a:t>
            </a:r>
          </a:p>
        </p:txBody>
      </p:sp>
      <p:sp>
        <p:nvSpPr>
          <p:cNvPr id="19" name="TextBox 18"/>
          <p:cNvSpPr txBox="1"/>
          <p:nvPr/>
        </p:nvSpPr>
        <p:spPr>
          <a:xfrm>
            <a:off x="272491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DBs</a:t>
            </a:r>
          </a:p>
        </p:txBody>
      </p:sp>
      <p:sp>
        <p:nvSpPr>
          <p:cNvPr id="20" name="Rectangle 19"/>
          <p:cNvSpPr/>
          <p:nvPr/>
        </p:nvSpPr>
        <p:spPr>
          <a:xfrm>
            <a:off x="3817620" y="4382994"/>
            <a:ext cx="490347" cy="6125"/>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71900" y="4181826"/>
            <a:ext cx="581787" cy="146304"/>
          </a:xfrm>
          <a:prstGeom prst="rect">
            <a:avLst/>
          </a:prstGeom>
          <a:noFill/>
        </p:spPr>
        <p:txBody>
          <a:bodyPr wrap="none" lIns="27432" tIns="18288" rIns="27432" bIns="18288">
            <a:spAutoFit/>
          </a:bodyPr>
          <a:lstStyle/>
          <a:p>
            <a:pPr algn="ctr"/>
            <a:r>
              <a:rPr sz="750" b="0">
                <a:solidFill>
                  <a:srgbClr val="5F5F5F"/>
                </a:solidFill>
                <a:latin typeface="Arial"/>
              </a:rPr>
              <a:t>11</a:t>
            </a:r>
          </a:p>
        </p:txBody>
      </p:sp>
      <p:sp>
        <p:nvSpPr>
          <p:cNvPr id="22" name="TextBox 21"/>
          <p:cNvSpPr txBox="1"/>
          <p:nvPr/>
        </p:nvSpPr>
        <p:spPr>
          <a:xfrm>
            <a:off x="361645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Weeks</a:t>
            </a:r>
          </a:p>
        </p:txBody>
      </p:sp>
      <p:sp>
        <p:nvSpPr>
          <p:cNvPr id="23" name="Rectangle 22"/>
          <p:cNvSpPr/>
          <p:nvPr/>
        </p:nvSpPr>
        <p:spPr>
          <a:xfrm>
            <a:off x="1097280" y="4389120"/>
            <a:ext cx="3657600" cy="9144"/>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32120" y="2487168"/>
            <a:ext cx="4937760" cy="1965960"/>
          </a:xfrm>
          <a:prstGeom prst="rect">
            <a:avLst/>
          </a:prstGeom>
          <a:noFill/>
        </p:spPr>
        <p:txBody>
          <a:bodyPr wrap="none" lIns="45720" tIns="18288" rIns="45720" bIns="18288">
            <a:spAutoFit/>
          </a:bodyPr>
          <a:lstStyle/>
          <a:p>
            <a:pPr>
              <a:spcAft>
                <a:spcPts val="0"/>
              </a:spcAft>
            </a:pPr>
            <a:r>
              <a:rPr sz="1150" b="1">
                <a:solidFill>
                  <a:srgbClr val="5C2684"/>
                </a:solidFill>
                <a:latin typeface="Arial"/>
              </a:rPr>
              <a:t>• </a:t>
            </a:r>
            <a:r>
              <a:rPr sz="1150">
                <a:solidFill>
                  <a:srgbClr val="2D2D2D"/>
                </a:solidFill>
                <a:latin typeface="Arial"/>
              </a:rPr>
              <a:t>Assessed Reading, Slough, and Sydney estate across infrastructure, applications, and databases.</a:t>
            </a:r>
          </a:p>
          <a:p>
            <a:pPr>
              <a:spcAft>
                <a:spcPts val="0"/>
              </a:spcAft>
            </a:pPr>
            <a:r>
              <a:rPr sz="1150" b="1">
                <a:solidFill>
                  <a:srgbClr val="5C2684"/>
                </a:solidFill>
                <a:latin typeface="Arial"/>
              </a:rPr>
              <a:t>• </a:t>
            </a:r>
            <a:r>
              <a:rPr sz="1150">
                <a:solidFill>
                  <a:srgbClr val="2D2D2D"/>
                </a:solidFill>
                <a:latin typeface="Arial"/>
              </a:rPr>
              <a:t>Ran application profiling workshops for Mail Online, Metro, and other DMG brands.</a:t>
            </a:r>
          </a:p>
          <a:p>
            <a:pPr>
              <a:spcAft>
                <a:spcPts val="0"/>
              </a:spcAft>
            </a:pPr>
            <a:r>
              <a:rPr sz="1150" b="1">
                <a:solidFill>
                  <a:srgbClr val="5C2684"/>
                </a:solidFill>
                <a:latin typeface="Arial"/>
              </a:rPr>
              <a:t>• </a:t>
            </a:r>
            <a:r>
              <a:rPr sz="1150">
                <a:solidFill>
                  <a:srgbClr val="2D2D2D"/>
                </a:solidFill>
                <a:latin typeface="Arial"/>
              </a:rPr>
              <a:t>Delivered Azure, AWS, and GCP comparison using weighted scoring tied to DMG business drivers.</a:t>
            </a:r>
          </a:p>
          <a:p>
            <a:pPr>
              <a:spcAft>
                <a:spcPts val="0"/>
              </a:spcAft>
            </a:pPr>
            <a:r>
              <a:rPr sz="1150" b="1">
                <a:solidFill>
                  <a:srgbClr val="5C2684"/>
                </a:solidFill>
                <a:latin typeface="Arial"/>
              </a:rPr>
              <a:t>• </a:t>
            </a:r>
            <a:r>
              <a:rPr sz="1150">
                <a:solidFill>
                  <a:srgbClr val="2D2D2D"/>
                </a:solidFill>
                <a:latin typeface="Arial"/>
              </a:rPr>
              <a:t>Recommendation was based on application fit, existing skills, migration risk, and commercial position.</a:t>
            </a:r>
          </a:p>
        </p:txBody>
      </p:sp>
      <p:sp>
        <p:nvSpPr>
          <p:cNvPr id="25" name="Rounded Rectangle 24"/>
          <p:cNvSpPr/>
          <p:nvPr/>
        </p:nvSpPr>
        <p:spPr>
          <a:xfrm>
            <a:off x="5532120" y="4800600"/>
            <a:ext cx="4937760" cy="676656"/>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Evidence point: the framework supports enterprise-scale analysis, executive recommendation, and repeatable delivery governance.</a:t>
            </a:r>
          </a:p>
        </p:txBody>
      </p:sp>
      <p:sp>
        <p:nvSpPr>
          <p:cNvPr id="26" name="TextBox 25"/>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27" name="TextBox 26"/>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9</a:t>
            </a:r>
          </a:p>
        </p:txBody>
      </p:sp>
      <p:pic>
        <p:nvPicPr>
          <p:cNvPr id="28" name="Picture 27"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Strategic Value Delivered to Rackspace</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accelerator creates a repeatable delivery capability, not just another assessment deck</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60%</a:t>
            </a:r>
          </a:p>
          <a:p>
            <a:pPr algn="ctr"/>
            <a:r>
              <a:rPr sz="750">
                <a:solidFill>
                  <a:srgbClr val="5F5F5F"/>
                </a:solidFill>
                <a:latin typeface="Arial"/>
              </a:rPr>
              <a:t>faster delivery</a:t>
            </a:r>
          </a:p>
        </p:txBody>
      </p:sp>
      <p:sp>
        <p:nvSpPr>
          <p:cNvPr id="6" name="Rounded Rectangle 5"/>
          <p:cNvSpPr/>
          <p:nvPr/>
        </p:nvSpPr>
        <p:spPr>
          <a:xfrm>
            <a:off x="34290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100%</a:t>
            </a:r>
          </a:p>
          <a:p>
            <a:pPr algn="ctr"/>
            <a:r>
              <a:rPr sz="750">
                <a:solidFill>
                  <a:srgbClr val="5F5F5F"/>
                </a:solidFill>
                <a:latin typeface="Arial"/>
              </a:rPr>
              <a:t>consistency</a:t>
            </a:r>
          </a:p>
        </p:txBody>
      </p:sp>
      <p:sp>
        <p:nvSpPr>
          <p:cNvPr id="7" name="Rounded Rectangle 6"/>
          <p:cNvSpPr/>
          <p:nvPr/>
        </p:nvSpPr>
        <p:spPr>
          <a:xfrm>
            <a:off x="59436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3x</a:t>
            </a:r>
          </a:p>
          <a:p>
            <a:pPr algn="ctr"/>
            <a:r>
              <a:rPr sz="750">
                <a:solidFill>
                  <a:srgbClr val="5F5F5F"/>
                </a:solidFill>
                <a:latin typeface="Arial"/>
              </a:rPr>
              <a:t>scalability</a:t>
            </a:r>
          </a:p>
        </p:txBody>
      </p:sp>
      <p:sp>
        <p:nvSpPr>
          <p:cNvPr id="8" name="Rounded Rectangle 7"/>
          <p:cNvSpPr/>
          <p:nvPr/>
        </p:nvSpPr>
        <p:spPr>
          <a:xfrm>
            <a:off x="84582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1</a:t>
            </a:r>
          </a:p>
          <a:p>
            <a:pPr algn="ctr"/>
            <a:r>
              <a:rPr sz="750">
                <a:solidFill>
                  <a:srgbClr val="5F5F5F"/>
                </a:solidFill>
                <a:latin typeface="Arial"/>
              </a:rPr>
              <a:t>common delivery model</a:t>
            </a:r>
          </a:p>
        </p:txBody>
      </p:sp>
      <p:sp>
        <p:nvSpPr>
          <p:cNvPr id="9" name="Rounded Rectangle 8"/>
          <p:cNvSpPr/>
          <p:nvPr/>
        </p:nvSpPr>
        <p:spPr>
          <a:xfrm>
            <a:off x="822960" y="2697480"/>
            <a:ext cx="2971800" cy="105156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Delivery speed</a:t>
            </a:r>
          </a:p>
          <a:p>
            <a:pPr>
              <a:spcBef>
                <a:spcPts val="400"/>
              </a:spcBef>
            </a:pPr>
            <a:r>
              <a:rPr sz="900">
                <a:solidFill>
                  <a:srgbClr val="2D2D2D"/>
                </a:solidFill>
                <a:latin typeface="Arial"/>
              </a:rPr>
              <a:t>Pre-built templates and methodology reduce repeated setup and analysis effort.</a:t>
            </a:r>
          </a:p>
        </p:txBody>
      </p:sp>
      <p:sp>
        <p:nvSpPr>
          <p:cNvPr id="10" name="Rounded Rectangle 9"/>
          <p:cNvSpPr/>
          <p:nvPr/>
        </p:nvSpPr>
        <p:spPr>
          <a:xfrm>
            <a:off x="4251960" y="2697480"/>
            <a:ext cx="2971800" cy="105156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Client confidence</a:t>
            </a:r>
          </a:p>
          <a:p>
            <a:pPr>
              <a:spcBef>
                <a:spcPts val="400"/>
              </a:spcBef>
            </a:pPr>
            <a:r>
              <a:rPr sz="900">
                <a:solidFill>
                  <a:srgbClr val="2D2D2D"/>
                </a:solidFill>
                <a:latin typeface="Arial"/>
              </a:rPr>
              <a:t>Consistent evidence base improves recommendation quality and executive communication.</a:t>
            </a:r>
          </a:p>
        </p:txBody>
      </p:sp>
      <p:sp>
        <p:nvSpPr>
          <p:cNvPr id="11" name="Rounded Rectangle 10"/>
          <p:cNvSpPr/>
          <p:nvPr/>
        </p:nvSpPr>
        <p:spPr>
          <a:xfrm>
            <a:off x="7680960" y="2697480"/>
            <a:ext cx="2971800" cy="105156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Scale and efficiency</a:t>
            </a:r>
          </a:p>
          <a:p>
            <a:pPr>
              <a:spcBef>
                <a:spcPts val="400"/>
              </a:spcBef>
            </a:pPr>
            <a:r>
              <a:rPr sz="900">
                <a:solidFill>
                  <a:srgbClr val="2D2D2D"/>
                </a:solidFill>
                <a:latin typeface="Arial"/>
              </a:rPr>
              <a:t>Multiple delivery teams can execute the same high-quality assessment model.</a:t>
            </a:r>
          </a:p>
        </p:txBody>
      </p:sp>
      <p:sp>
        <p:nvSpPr>
          <p:cNvPr id="12" name="Rounded Rectangle 11"/>
          <p:cNvSpPr/>
          <p:nvPr/>
        </p:nvSpPr>
        <p:spPr>
          <a:xfrm>
            <a:off x="914400" y="4892040"/>
            <a:ext cx="9418320" cy="50292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This is a delivery accelerator and a market-differentiating capability.</a:t>
            </a:r>
          </a:p>
        </p:txBody>
      </p:sp>
      <p:sp>
        <p:nvSpPr>
          <p:cNvPr id="13" name="TextBox 12"/>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4" name="TextBox 13"/>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10</a:t>
            </a:r>
          </a:p>
        </p:txBody>
      </p:sp>
      <p:pic>
        <p:nvPicPr>
          <p:cNvPr id="15" name="Picture 14"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How This Framework Can Be Reused</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same delivery pattern can flex by industry, estate scale, cloud maturity, and geography</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280160"/>
            <a:ext cx="4572000" cy="100584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industry vertical</a:t>
            </a:r>
          </a:p>
          <a:p>
            <a:pPr>
              <a:spcBef>
                <a:spcPts val="400"/>
              </a:spcBef>
            </a:pPr>
            <a:r>
              <a:rPr sz="950">
                <a:solidFill>
                  <a:srgbClr val="2D2D2D"/>
                </a:solidFill>
                <a:latin typeface="Arial"/>
              </a:rPr>
              <a:t>Retail, media, financial services, healthcare, manufacturing</a:t>
            </a:r>
          </a:p>
        </p:txBody>
      </p:sp>
      <p:sp>
        <p:nvSpPr>
          <p:cNvPr id="6" name="Rounded Rectangle 5"/>
          <p:cNvSpPr/>
          <p:nvPr/>
        </p:nvSpPr>
        <p:spPr>
          <a:xfrm>
            <a:off x="5806440" y="1280160"/>
            <a:ext cx="4572000" cy="100584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estate size</a:t>
            </a:r>
          </a:p>
          <a:p>
            <a:pPr>
              <a:spcBef>
                <a:spcPts val="400"/>
              </a:spcBef>
            </a:pPr>
            <a:r>
              <a:rPr sz="950">
                <a:solidFill>
                  <a:srgbClr val="2D2D2D"/>
                </a:solidFill>
                <a:latin typeface="Arial"/>
              </a:rPr>
              <a:t>100 to 10,000+ servers with scalable methodology</a:t>
            </a:r>
          </a:p>
        </p:txBody>
      </p:sp>
      <p:sp>
        <p:nvSpPr>
          <p:cNvPr id="7" name="Rounded Rectangle 6"/>
          <p:cNvSpPr/>
          <p:nvPr/>
        </p:nvSpPr>
        <p:spPr>
          <a:xfrm>
            <a:off x="685800" y="2606039"/>
            <a:ext cx="4572000" cy="1005840"/>
          </a:xfrm>
          <a:prstGeom prst="roundRect">
            <a:avLst/>
          </a:prstGeom>
          <a:solidFill>
            <a:srgbClr val="F4F1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cloud maturity</a:t>
            </a:r>
          </a:p>
          <a:p>
            <a:pPr>
              <a:spcBef>
                <a:spcPts val="400"/>
              </a:spcBef>
            </a:pPr>
            <a:r>
              <a:rPr sz="950">
                <a:solidFill>
                  <a:srgbClr val="2D2D2D"/>
                </a:solidFill>
                <a:latin typeface="Arial"/>
              </a:rPr>
              <a:t>Greenfield, hybrid, or multi-cloud transformation scenarios</a:t>
            </a:r>
          </a:p>
        </p:txBody>
      </p:sp>
      <p:sp>
        <p:nvSpPr>
          <p:cNvPr id="8" name="Rounded Rectangle 7"/>
          <p:cNvSpPr/>
          <p:nvPr/>
        </p:nvSpPr>
        <p:spPr>
          <a:xfrm>
            <a:off x="5806440" y="2606039"/>
            <a:ext cx="4572000" cy="100584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geographic region</a:t>
            </a:r>
          </a:p>
          <a:p>
            <a:pPr>
              <a:spcBef>
                <a:spcPts val="400"/>
              </a:spcBef>
            </a:pPr>
            <a:r>
              <a:rPr sz="950">
                <a:solidFill>
                  <a:srgbClr val="2D2D2D"/>
                </a:solidFill>
                <a:latin typeface="Arial"/>
              </a:rPr>
              <a:t>Regional pricing and compliance requirements supported</a:t>
            </a:r>
          </a:p>
        </p:txBody>
      </p:sp>
      <p:sp>
        <p:nvSpPr>
          <p:cNvPr id="9" name="TextBox 8"/>
          <p:cNvSpPr txBox="1"/>
          <p:nvPr/>
        </p:nvSpPr>
        <p:spPr>
          <a:xfrm>
            <a:off x="868680" y="4251960"/>
            <a:ext cx="9601200" cy="100584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Scoring weights can be adjusted based on client priorities: cost, resilience, security, innovation, speed, or risk.</a:t>
            </a:r>
          </a:p>
          <a:p>
            <a:pPr>
              <a:spcAft>
                <a:spcPts val="0"/>
              </a:spcAft>
            </a:pPr>
            <a:r>
              <a:rPr sz="1250" b="1">
                <a:solidFill>
                  <a:srgbClr val="5C2684"/>
                </a:solidFill>
                <a:latin typeface="Arial"/>
              </a:rPr>
              <a:t>• </a:t>
            </a:r>
            <a:r>
              <a:rPr sz="1250">
                <a:solidFill>
                  <a:srgbClr val="2D2D2D"/>
                </a:solidFill>
                <a:latin typeface="Arial"/>
              </a:rPr>
              <a:t>Regional adaptability supports localized pricing, compliance drivers, and country-specific constraints.</a:t>
            </a:r>
          </a:p>
          <a:p>
            <a:pPr>
              <a:spcAft>
                <a:spcPts val="0"/>
              </a:spcAft>
            </a:pPr>
            <a:r>
              <a:rPr sz="1250" b="1">
                <a:solidFill>
                  <a:srgbClr val="5C2684"/>
                </a:solidFill>
                <a:latin typeface="Arial"/>
              </a:rPr>
              <a:t>• </a:t>
            </a:r>
            <a:r>
              <a:rPr sz="1250">
                <a:solidFill>
                  <a:srgbClr val="2D2D2D"/>
                </a:solidFill>
                <a:latin typeface="Arial"/>
              </a:rPr>
              <a:t>Reusable does not mean one-size-fits-all. The model standardizes the process while adapting the decision criteria.</a:t>
            </a:r>
          </a:p>
        </p:txBody>
      </p:sp>
      <p:sp>
        <p:nvSpPr>
          <p:cNvPr id="10" name="TextBox 9"/>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1" name="TextBox 10"/>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11</a:t>
            </a:r>
          </a:p>
        </p:txBody>
      </p:sp>
      <p:pic>
        <p:nvPicPr>
          <p:cNvPr id="12" name="Picture 11"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Leadership, Ownership, and Practice Adoption</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framework creates reusable intellectual property and a scalable practice asset</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6868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24+</a:t>
            </a:r>
          </a:p>
          <a:p>
            <a:pPr algn="ctr"/>
            <a:r>
              <a:rPr sz="750">
                <a:solidFill>
                  <a:srgbClr val="5F5F5F"/>
                </a:solidFill>
                <a:latin typeface="Arial"/>
              </a:rPr>
              <a:t>deliverables created</a:t>
            </a:r>
          </a:p>
        </p:txBody>
      </p:sp>
      <p:sp>
        <p:nvSpPr>
          <p:cNvPr id="6" name="Rounded Rectangle 5"/>
          <p:cNvSpPr/>
          <p:nvPr/>
        </p:nvSpPr>
        <p:spPr>
          <a:xfrm>
            <a:off x="333756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GitHub</a:t>
            </a:r>
          </a:p>
          <a:p>
            <a:pPr algn="ctr"/>
            <a:r>
              <a:rPr sz="750">
                <a:solidFill>
                  <a:srgbClr val="5F5F5F"/>
                </a:solidFill>
                <a:latin typeface="Arial"/>
              </a:rPr>
              <a:t>published framework</a:t>
            </a:r>
          </a:p>
        </p:txBody>
      </p:sp>
      <p:sp>
        <p:nvSpPr>
          <p:cNvPr id="7" name="Rounded Rectangle 6"/>
          <p:cNvSpPr/>
          <p:nvPr/>
        </p:nvSpPr>
        <p:spPr>
          <a:xfrm>
            <a:off x="580644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Multi-team</a:t>
            </a:r>
          </a:p>
          <a:p>
            <a:pPr algn="ctr"/>
            <a:r>
              <a:rPr sz="750">
                <a:solidFill>
                  <a:srgbClr val="5F5F5F"/>
                </a:solidFill>
                <a:latin typeface="Arial"/>
              </a:rPr>
              <a:t>adoption model</a:t>
            </a:r>
          </a:p>
        </p:txBody>
      </p:sp>
      <p:sp>
        <p:nvSpPr>
          <p:cNvPr id="8" name="Rounded Rectangle 7"/>
          <p:cNvSpPr/>
          <p:nvPr/>
        </p:nvSpPr>
        <p:spPr>
          <a:xfrm>
            <a:off x="827532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Reusable</a:t>
            </a:r>
          </a:p>
          <a:p>
            <a:pPr algn="ctr"/>
            <a:r>
              <a:rPr sz="750">
                <a:solidFill>
                  <a:srgbClr val="5F5F5F"/>
                </a:solidFill>
                <a:latin typeface="Arial"/>
              </a:rPr>
              <a:t>practice asset</a:t>
            </a:r>
          </a:p>
        </p:txBody>
      </p:sp>
      <p:sp>
        <p:nvSpPr>
          <p:cNvPr id="9" name="TextBox 8"/>
          <p:cNvSpPr txBox="1"/>
          <p:nvPr/>
        </p:nvSpPr>
        <p:spPr>
          <a:xfrm>
            <a:off x="868680" y="2514600"/>
            <a:ext cx="9784080" cy="141732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Created framework architecture covering methodology design, template creation, scoring logic, and delivery workflows.</a:t>
            </a:r>
          </a:p>
          <a:p>
            <a:pPr>
              <a:spcAft>
                <a:spcPts val="0"/>
              </a:spcAft>
            </a:pPr>
            <a:r>
              <a:rPr sz="1250" b="1">
                <a:solidFill>
                  <a:srgbClr val="5C2684"/>
                </a:solidFill>
                <a:latin typeface="Arial"/>
              </a:rPr>
              <a:t>• </a:t>
            </a:r>
            <a:r>
              <a:rPr sz="1250">
                <a:solidFill>
                  <a:srgbClr val="2D2D2D"/>
                </a:solidFill>
                <a:latin typeface="Arial"/>
              </a:rPr>
              <a:t>Published framework to GitHub for version control, knowledge sharing, and repeatable practice adoption.</a:t>
            </a:r>
          </a:p>
          <a:p>
            <a:pPr>
              <a:spcAft>
                <a:spcPts val="0"/>
              </a:spcAft>
            </a:pPr>
            <a:r>
              <a:rPr sz="1250" b="1">
                <a:solidFill>
                  <a:srgbClr val="5C2684"/>
                </a:solidFill>
                <a:latin typeface="Arial"/>
              </a:rPr>
              <a:t>• </a:t>
            </a:r>
            <a:r>
              <a:rPr sz="1250">
                <a:solidFill>
                  <a:srgbClr val="2D2D2D"/>
                </a:solidFill>
                <a:latin typeface="Arial"/>
              </a:rPr>
              <a:t>Established a provider-neutral model where the market often relies on vendor-specific tooling.</a:t>
            </a:r>
          </a:p>
          <a:p>
            <a:pPr>
              <a:spcAft>
                <a:spcPts val="0"/>
              </a:spcAft>
            </a:pPr>
            <a:r>
              <a:rPr sz="1250" b="1">
                <a:solidFill>
                  <a:srgbClr val="5C2684"/>
                </a:solidFill>
                <a:latin typeface="Arial"/>
              </a:rPr>
              <a:t>• </a:t>
            </a:r>
            <a:r>
              <a:rPr sz="1250">
                <a:solidFill>
                  <a:srgbClr val="2D2D2D"/>
                </a:solidFill>
                <a:latin typeface="Arial"/>
              </a:rPr>
              <a:t>Enabled training, governance, and consistent client-facing delivery across multiple teams.</a:t>
            </a:r>
          </a:p>
        </p:txBody>
      </p:sp>
      <p:sp>
        <p:nvSpPr>
          <p:cNvPr id="10" name="Rounded Rectangle 9"/>
          <p:cNvSpPr/>
          <p:nvPr/>
        </p:nvSpPr>
        <p:spPr>
          <a:xfrm>
            <a:off x="868680" y="4709160"/>
            <a:ext cx="9784080" cy="68580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Recommended governance model: maintain the framework as a versioned practice asset with owners, release notes, review cadence, and approved client-facing templates.</a:t>
            </a:r>
          </a:p>
        </p:txBody>
      </p:sp>
      <p:sp>
        <p:nvSpPr>
          <p:cNvPr id="11" name="TextBox 10"/>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2" name="TextBox 11"/>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12</a:t>
            </a:r>
          </a:p>
        </p:txBody>
      </p:sp>
      <p:pic>
        <p:nvPicPr>
          <p:cNvPr id="13" name="Picture 12"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Recommended Adoption Path</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Move from reusable asset to standard operating model through controlled enablement</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11480" y="1234440"/>
            <a:ext cx="1874519" cy="105156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1. Approve baseline</a:t>
            </a:r>
          </a:p>
          <a:p>
            <a:pPr>
              <a:spcBef>
                <a:spcPts val="400"/>
              </a:spcBef>
            </a:pPr>
            <a:r>
              <a:rPr sz="830">
                <a:solidFill>
                  <a:srgbClr val="2D2D2D"/>
                </a:solidFill>
                <a:latin typeface="Arial"/>
              </a:rPr>
              <a:t>Agree framework scope, core templates, and quality bar.</a:t>
            </a:r>
          </a:p>
        </p:txBody>
      </p:sp>
      <p:sp>
        <p:nvSpPr>
          <p:cNvPr id="6" name="Rounded Rectangle 5"/>
          <p:cNvSpPr/>
          <p:nvPr/>
        </p:nvSpPr>
        <p:spPr>
          <a:xfrm>
            <a:off x="2542032" y="1234440"/>
            <a:ext cx="1874519" cy="105156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2. Package assets</a:t>
            </a:r>
          </a:p>
          <a:p>
            <a:pPr>
              <a:spcBef>
                <a:spcPts val="400"/>
              </a:spcBef>
            </a:pPr>
            <a:r>
              <a:rPr sz="830">
                <a:solidFill>
                  <a:srgbClr val="2D2D2D"/>
                </a:solidFill>
                <a:latin typeface="Arial"/>
              </a:rPr>
              <a:t>Centralize templates, scoring models, and guidance.</a:t>
            </a:r>
          </a:p>
        </p:txBody>
      </p:sp>
      <p:sp>
        <p:nvSpPr>
          <p:cNvPr id="7" name="Rounded Rectangle 6"/>
          <p:cNvSpPr/>
          <p:nvPr/>
        </p:nvSpPr>
        <p:spPr>
          <a:xfrm>
            <a:off x="4672584" y="1234440"/>
            <a:ext cx="1874519" cy="105156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3. Train teams</a:t>
            </a:r>
          </a:p>
          <a:p>
            <a:pPr>
              <a:spcBef>
                <a:spcPts val="400"/>
              </a:spcBef>
            </a:pPr>
            <a:r>
              <a:rPr sz="830">
                <a:solidFill>
                  <a:srgbClr val="2D2D2D"/>
                </a:solidFill>
                <a:latin typeface="Arial"/>
              </a:rPr>
              <a:t>Enable architects and PMs through examples and playbooks.</a:t>
            </a:r>
          </a:p>
        </p:txBody>
      </p:sp>
      <p:sp>
        <p:nvSpPr>
          <p:cNvPr id="8" name="Rounded Rectangle 7"/>
          <p:cNvSpPr/>
          <p:nvPr/>
        </p:nvSpPr>
        <p:spPr>
          <a:xfrm>
            <a:off x="6803136" y="1234440"/>
            <a:ext cx="1874519" cy="105156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4. Pilot engagements</a:t>
            </a:r>
          </a:p>
          <a:p>
            <a:pPr>
              <a:spcBef>
                <a:spcPts val="400"/>
              </a:spcBef>
            </a:pPr>
            <a:r>
              <a:rPr sz="830">
                <a:solidFill>
                  <a:srgbClr val="2D2D2D"/>
                </a:solidFill>
                <a:latin typeface="Arial"/>
              </a:rPr>
              <a:t>Apply to selected opportunities and capture lessons learned.</a:t>
            </a:r>
          </a:p>
        </p:txBody>
      </p:sp>
      <p:sp>
        <p:nvSpPr>
          <p:cNvPr id="9" name="Rounded Rectangle 8"/>
          <p:cNvSpPr/>
          <p:nvPr/>
        </p:nvSpPr>
        <p:spPr>
          <a:xfrm>
            <a:off x="8933688" y="1234440"/>
            <a:ext cx="1874519" cy="1051560"/>
          </a:xfrm>
          <a:prstGeom prst="roundRect">
            <a:avLst/>
          </a:prstGeom>
          <a:solidFill>
            <a:srgbClr val="F4F1FA"/>
          </a:solidFill>
          <a:ln w="16510">
            <a:solidFill>
              <a:srgbClr val="ECB11F"/>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5. Standardize</a:t>
            </a:r>
          </a:p>
          <a:p>
            <a:pPr>
              <a:spcBef>
                <a:spcPts val="400"/>
              </a:spcBef>
            </a:pPr>
            <a:r>
              <a:rPr sz="830">
                <a:solidFill>
                  <a:srgbClr val="2D2D2D"/>
                </a:solidFill>
                <a:latin typeface="Arial"/>
              </a:rPr>
              <a:t>Make the framework part of CRA delivery governance.</a:t>
            </a:r>
          </a:p>
        </p:txBody>
      </p:sp>
      <p:sp>
        <p:nvSpPr>
          <p:cNvPr id="10" name="Rounded Rectangle 9"/>
          <p:cNvSpPr/>
          <p:nvPr/>
        </p:nvSpPr>
        <p:spPr>
          <a:xfrm>
            <a:off x="685800" y="3337560"/>
            <a:ext cx="2971800" cy="1005840"/>
          </a:xfrm>
          <a:prstGeom prst="roundRect">
            <a:avLst/>
          </a:prstGeom>
          <a:solidFill>
            <a:srgbClr val="FAFAFC"/>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Quality gate</a:t>
            </a:r>
          </a:p>
          <a:p>
            <a:pPr>
              <a:spcBef>
                <a:spcPts val="400"/>
              </a:spcBef>
            </a:pPr>
            <a:r>
              <a:rPr sz="880">
                <a:solidFill>
                  <a:srgbClr val="2D2D2D"/>
                </a:solidFill>
                <a:latin typeface="Arial"/>
              </a:rPr>
              <a:t>Each engagement should have an evidence map, TCO assumptions, and recommendation logic.</a:t>
            </a:r>
          </a:p>
        </p:txBody>
      </p:sp>
      <p:sp>
        <p:nvSpPr>
          <p:cNvPr id="11" name="Rounded Rectangle 10"/>
          <p:cNvSpPr/>
          <p:nvPr/>
        </p:nvSpPr>
        <p:spPr>
          <a:xfrm>
            <a:off x="4023360" y="3337560"/>
            <a:ext cx="2971800" cy="1005840"/>
          </a:xfrm>
          <a:prstGeom prst="roundRect">
            <a:avLst/>
          </a:prstGeom>
          <a:solidFill>
            <a:srgbClr val="FAFAFC"/>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Commercial gate</a:t>
            </a:r>
          </a:p>
          <a:p>
            <a:pPr>
              <a:spcBef>
                <a:spcPts val="400"/>
              </a:spcBef>
            </a:pPr>
            <a:r>
              <a:rPr sz="880">
                <a:solidFill>
                  <a:srgbClr val="2D2D2D"/>
                </a:solidFill>
                <a:latin typeface="Arial"/>
              </a:rPr>
              <a:t>Validate assumptions, discounts, licensing levers, and hyperscaler comparison.</a:t>
            </a:r>
          </a:p>
        </p:txBody>
      </p:sp>
      <p:sp>
        <p:nvSpPr>
          <p:cNvPr id="12" name="Rounded Rectangle 11"/>
          <p:cNvSpPr/>
          <p:nvPr/>
        </p:nvSpPr>
        <p:spPr>
          <a:xfrm>
            <a:off x="7360920" y="3337560"/>
            <a:ext cx="2971800" cy="1005840"/>
          </a:xfrm>
          <a:prstGeom prst="roundRect">
            <a:avLst/>
          </a:prstGeom>
          <a:solidFill>
            <a:srgbClr val="FAFAFC"/>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Delivery gate</a:t>
            </a:r>
          </a:p>
          <a:p>
            <a:pPr>
              <a:spcBef>
                <a:spcPts val="400"/>
              </a:spcBef>
            </a:pPr>
            <a:r>
              <a:rPr sz="880">
                <a:solidFill>
                  <a:srgbClr val="2D2D2D"/>
                </a:solidFill>
                <a:latin typeface="Arial"/>
              </a:rPr>
              <a:t>Confirm outputs are ready for roadmap, runbooks, waves, owners, and next steps.</a:t>
            </a:r>
          </a:p>
        </p:txBody>
      </p:sp>
      <p:sp>
        <p:nvSpPr>
          <p:cNvPr id="13" name="TextBox 12"/>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4" name="TextBox 13"/>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13</a:t>
            </a:r>
          </a:p>
        </p:txBody>
      </p:sp>
      <p:pic>
        <p:nvPicPr>
          <p:cNvPr id="15" name="Picture 14" descr="image.png"/>
          <p:cNvPicPr>
            <a:picLocks noChangeAspect="1"/>
          </p:cNvPicPr>
          <p:nvPr/>
        </p:nvPicPr>
        <p:blipFill>
          <a:blip r:embed="rId3"/>
          <a:stretch>
            <a:fillRect/>
          </a:stretch>
        </p:blipFill>
        <p:spPr>
          <a:xfrm>
            <a:off x="182880" y="6598077"/>
            <a:ext cx="1463040" cy="1867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4389120" y="0"/>
            <a:ext cx="6217920" cy="3681663"/>
          </a:xfrm>
          <a:prstGeom prst="rect">
            <a:avLst/>
          </a:prstGeom>
        </p:spPr>
      </p:pic>
      <p:pic>
        <p:nvPicPr>
          <p:cNvPr id="4" name="Picture 3" descr="image.png"/>
          <p:cNvPicPr>
            <a:picLocks noChangeAspect="1"/>
          </p:cNvPicPr>
          <p:nvPr/>
        </p:nvPicPr>
        <p:blipFill>
          <a:blip r:embed="rId4"/>
          <a:stretch>
            <a:fillRect/>
          </a:stretch>
        </p:blipFill>
        <p:spPr>
          <a:xfrm>
            <a:off x="320040" y="6126480"/>
            <a:ext cx="1051560" cy="325984"/>
          </a:xfrm>
          <a:prstGeom prst="rect">
            <a:avLst/>
          </a:prstGeom>
        </p:spPr>
      </p:pic>
      <p:sp>
        <p:nvSpPr>
          <p:cNvPr id="5" name="TextBox 4"/>
          <p:cNvSpPr txBox="1"/>
          <p:nvPr/>
        </p:nvSpPr>
        <p:spPr>
          <a:xfrm>
            <a:off x="502920" y="868680"/>
            <a:ext cx="4114800" cy="548640"/>
          </a:xfrm>
          <a:prstGeom prst="rect">
            <a:avLst/>
          </a:prstGeom>
          <a:noFill/>
        </p:spPr>
        <p:txBody>
          <a:bodyPr wrap="none" lIns="27432" tIns="18288" rIns="27432" bIns="18288">
            <a:spAutoFit/>
          </a:bodyPr>
          <a:lstStyle/>
          <a:p>
            <a:r>
              <a:rPr sz="2800" b="0">
                <a:solidFill>
                  <a:srgbClr val="FFFFFF"/>
                </a:solidFill>
                <a:latin typeface="Arial"/>
              </a:rPr>
              <a:t>Thank you</a:t>
            </a:r>
          </a:p>
        </p:txBody>
      </p:sp>
      <p:sp>
        <p:nvSpPr>
          <p:cNvPr id="6" name="TextBox 5"/>
          <p:cNvSpPr txBox="1"/>
          <p:nvPr/>
        </p:nvSpPr>
        <p:spPr>
          <a:xfrm>
            <a:off x="530352" y="1828800"/>
            <a:ext cx="3840480" cy="320040"/>
          </a:xfrm>
          <a:prstGeom prst="rect">
            <a:avLst/>
          </a:prstGeom>
          <a:noFill/>
        </p:spPr>
        <p:txBody>
          <a:bodyPr wrap="none" lIns="27432" tIns="18288" rIns="27432" bIns="18288">
            <a:spAutoFit/>
          </a:bodyPr>
          <a:lstStyle/>
          <a:p>
            <a:r>
              <a:rPr sz="1200" b="0">
                <a:solidFill>
                  <a:srgbClr val="FFFFFF"/>
                </a:solidFill>
                <a:latin typeface="Arial"/>
              </a:rPr>
              <a:t>Cloud Readiness Accelerator</a:t>
            </a:r>
          </a:p>
        </p:txBody>
      </p:sp>
      <p:sp>
        <p:nvSpPr>
          <p:cNvPr id="7" name="TextBox 6"/>
          <p:cNvSpPr txBox="1"/>
          <p:nvPr/>
        </p:nvSpPr>
        <p:spPr>
          <a:xfrm>
            <a:off x="530352" y="2148840"/>
            <a:ext cx="4754880" cy="256032"/>
          </a:xfrm>
          <a:prstGeom prst="rect">
            <a:avLst/>
          </a:prstGeom>
          <a:noFill/>
        </p:spPr>
        <p:txBody>
          <a:bodyPr wrap="none" lIns="27432" tIns="18288" rIns="27432" bIns="18288">
            <a:spAutoFit/>
          </a:bodyPr>
          <a:lstStyle/>
          <a:p>
            <a:r>
              <a:rPr sz="869" b="0">
                <a:solidFill>
                  <a:srgbClr val="DCDCDC"/>
                </a:solidFill>
                <a:latin typeface="Arial"/>
              </a:rPr>
              <a:t>Reusable Enterprise Multi-Cloud Assessment Framework</a:t>
            </a:r>
          </a:p>
        </p:txBody>
      </p:sp>
      <p:sp>
        <p:nvSpPr>
          <p:cNvPr id="8" name="Rounded Rectangle 7"/>
          <p:cNvSpPr/>
          <p:nvPr/>
        </p:nvSpPr>
        <p:spPr>
          <a:xfrm>
            <a:off x="548640" y="3246120"/>
            <a:ext cx="2423160" cy="749808"/>
          </a:xfrm>
          <a:prstGeom prst="roundRect">
            <a:avLst/>
          </a:prstGeom>
          <a:solidFill>
            <a:srgbClr val="FFFFFF"/>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919" b="1">
                <a:solidFill>
                  <a:srgbClr val="5C2684"/>
                </a:solidFill>
                <a:latin typeface="Arial"/>
              </a:rPr>
              <a:t>Framework Repository</a:t>
            </a:r>
          </a:p>
          <a:p>
            <a:pPr>
              <a:spcBef>
                <a:spcPts val="400"/>
              </a:spcBef>
            </a:pPr>
            <a:r>
              <a:rPr sz="680">
                <a:solidFill>
                  <a:srgbClr val="2D2D2D"/>
                </a:solidFill>
                <a:latin typeface="Arial"/>
              </a:rPr>
              <a:t>github.com/upendra-29003/Cloud-Readiness-Accelerator</a:t>
            </a:r>
          </a:p>
        </p:txBody>
      </p:sp>
      <p:sp>
        <p:nvSpPr>
          <p:cNvPr id="9" name="Rounded Rectangle 8"/>
          <p:cNvSpPr/>
          <p:nvPr/>
        </p:nvSpPr>
        <p:spPr>
          <a:xfrm>
            <a:off x="3429000" y="3246120"/>
            <a:ext cx="2423160" cy="749808"/>
          </a:xfrm>
          <a:prstGeom prst="roundRect">
            <a:avLst/>
          </a:prstGeom>
          <a:solidFill>
            <a:srgbClr val="FFFFFF"/>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919" b="1">
                <a:solidFill>
                  <a:srgbClr val="5C2684"/>
                </a:solidFill>
                <a:latin typeface="Arial"/>
              </a:rPr>
              <a:t>Contact</a:t>
            </a:r>
          </a:p>
          <a:p>
            <a:pPr>
              <a:spcBef>
                <a:spcPts val="400"/>
              </a:spcBef>
            </a:pPr>
            <a:r>
              <a:rPr sz="680">
                <a:solidFill>
                  <a:srgbClr val="2D2D2D"/>
                </a:solidFill>
                <a:latin typeface="Arial"/>
              </a:rPr>
              <a:t>Upendra Kumar, Professional Services Delivery Architect</a:t>
            </a:r>
          </a:p>
        </p:txBody>
      </p:sp>
      <p:sp>
        <p:nvSpPr>
          <p:cNvPr id="10" name="Rounded Rectangle 9"/>
          <p:cNvSpPr/>
          <p:nvPr/>
        </p:nvSpPr>
        <p:spPr>
          <a:xfrm>
            <a:off x="6309359" y="3246120"/>
            <a:ext cx="2423160" cy="749808"/>
          </a:xfrm>
          <a:prstGeom prst="roundRect">
            <a:avLst/>
          </a:prstGeom>
          <a:solidFill>
            <a:srgbClr val="FFFFFF"/>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919" b="1">
                <a:solidFill>
                  <a:srgbClr val="5C2684"/>
                </a:solidFill>
                <a:latin typeface="Arial"/>
              </a:rPr>
              <a:t>Practice</a:t>
            </a:r>
          </a:p>
          <a:p>
            <a:pPr>
              <a:spcBef>
                <a:spcPts val="400"/>
              </a:spcBef>
            </a:pPr>
            <a:r>
              <a:rPr sz="680">
                <a:solidFill>
                  <a:srgbClr val="2D2D2D"/>
                </a:solidFill>
                <a:latin typeface="Arial"/>
              </a:rPr>
              <a:t>Multi-Cloud Assessment &amp; Migration</a:t>
            </a:r>
          </a:p>
        </p:txBody>
      </p:sp>
      <p:sp>
        <p:nvSpPr>
          <p:cNvPr id="11" name="TextBox 10"/>
          <p:cNvSpPr txBox="1"/>
          <p:nvPr/>
        </p:nvSpPr>
        <p:spPr>
          <a:xfrm>
            <a:off x="548640" y="4937760"/>
            <a:ext cx="6309360" cy="548640"/>
          </a:xfrm>
          <a:prstGeom prst="rect">
            <a:avLst/>
          </a:prstGeom>
          <a:noFill/>
        </p:spPr>
        <p:txBody>
          <a:bodyPr wrap="none" lIns="27432" tIns="18288" rIns="27432" bIns="18288">
            <a:spAutoFit/>
          </a:bodyPr>
          <a:lstStyle/>
          <a:p>
            <a:r>
              <a:rPr sz="950" b="0">
                <a:solidFill>
                  <a:srgbClr val="FFFFFF"/>
                </a:solidFill>
                <a:latin typeface="Arial"/>
              </a:rPr>
              <a:t>Framework is ready for practice-wide adoption with reusable templates, documented methodology, and governance-ready delivery structure.</a:t>
            </a:r>
          </a:p>
        </p:txBody>
      </p:sp>
      <p:sp>
        <p:nvSpPr>
          <p:cNvPr id="12" name="TextBox 11"/>
          <p:cNvSpPr txBox="1"/>
          <p:nvPr/>
        </p:nvSpPr>
        <p:spPr>
          <a:xfrm>
            <a:off x="9372600" y="5806440"/>
            <a:ext cx="1188720" cy="411480"/>
          </a:xfrm>
          <a:prstGeom prst="rect">
            <a:avLst/>
          </a:prstGeom>
          <a:noFill/>
        </p:spPr>
        <p:txBody>
          <a:bodyPr wrap="none" lIns="27432" tIns="18288" rIns="27432" bIns="18288">
            <a:spAutoFit/>
          </a:bodyPr>
          <a:lstStyle/>
          <a:p>
            <a:pPr algn="r"/>
            <a:r>
              <a:rPr sz="850" b="1">
                <a:solidFill>
                  <a:srgbClr val="FFFFFF"/>
                </a:solidFill>
                <a:latin typeface="Arial"/>
              </a:rPr>
              <a:t>Customer First.
Cloud First.</a:t>
            </a:r>
          </a:p>
        </p:txBody>
      </p:sp>
    </p:spTree>
  </p:cSld>
  <p:clrMapOvr>
    <a:masterClrMapping/>
  </p:clrMapOvr>
</p:sld>
</file>

<file path=ppt/theme/theme1.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E635C2F985974BBE3352C31BC8AA9A" ma:contentTypeVersion="25" ma:contentTypeDescription="Create a new document." ma:contentTypeScope="" ma:versionID="26b046c95ade1aec96e195209e90c433">
  <xsd:schema xmlns:xsd="http://www.w3.org/2001/XMLSchema" xmlns:xs="http://www.w3.org/2001/XMLSchema" xmlns:p="http://schemas.microsoft.com/office/2006/metadata/properties" xmlns:ns2="f109a73b-17cb-4832-a9a9-365d35444d2b" xmlns:ns3="8837f82f-b140-48ff-8dc8-b79a3284d887" targetNamespace="http://schemas.microsoft.com/office/2006/metadata/properties" ma:root="true" ma:fieldsID="e0a05359a7c614a2dac603ba76419e8d" ns2:_="" ns3:_="">
    <xsd:import namespace="f109a73b-17cb-4832-a9a9-365d35444d2b"/>
    <xsd:import namespace="8837f82f-b140-48ff-8dc8-b79a3284d887"/>
    <xsd:element name="properties">
      <xsd:complexType>
        <xsd:sequence>
          <xsd:element name="documentManagement">
            <xsd:complexType>
              <xsd:all>
                <xsd:element ref="ns2:Notes0"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9a73b-17cb-4832-a9a9-365d35444d2b" elementFormDefault="qualified">
    <xsd:import namespace="http://schemas.microsoft.com/office/2006/documentManagement/types"/>
    <xsd:import namespace="http://schemas.microsoft.com/office/infopath/2007/PartnerControls"/>
    <xsd:element name="Notes0" ma:index="2" nillable="true" ma:displayName="Notes" ma:internalName="Notes0" ma:readOnly="false">
      <xsd:simpleType>
        <xsd:restriction base="dms:Note">
          <xsd:maxLength value="255"/>
        </xsd:restriction>
      </xsd:simpleType>
    </xsd:element>
    <xsd:element name="MediaServiceMetadata" ma:index="6" nillable="true" ma:displayName="MediaServiceMetadata" ma:hidden="true" ma:internalName="MediaServiceMetadata" ma:readOnly="true">
      <xsd:simpleType>
        <xsd:restriction base="dms:Note"/>
      </xsd:simpleType>
    </xsd:element>
    <xsd:element name="MediaServiceFastMetadata" ma:index="7"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hidden="true" ma:internalName="MediaServiceAutoTags" ma:readOnly="true">
      <xsd:simpleType>
        <xsd:restriction base="dms:Text"/>
      </xsd:simpleType>
    </xsd:element>
    <xsd:element name="MediaServiceOCR" ma:index="11" nillable="true" ma:displayName="MediaServiceOCR" ma:hidden="true" ma:internalName="MediaServiceOCR"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hidden="true"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hidden="true" ma:internalName="MediaServiceKeyPoints" ma:readOnly="true">
      <xsd:simpleType>
        <xsd:restriction base="dms:Note"/>
      </xsd:simpleType>
    </xsd:element>
    <xsd:element name="MediaLengthInSeconds" ma:index="19" nillable="true" ma:displayName="Length (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37f82f-b140-48ff-8dc8-b79a3284d887" elementFormDefault="qualified">
    <xsd:import namespace="http://schemas.microsoft.com/office/2006/documentManagement/types"/>
    <xsd:import namespace="http://schemas.microsoft.com/office/infopath/2007/PartnerControls"/>
    <xsd:element name="SharedWithUsers" ma:index="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hidden="true" ma:internalName="SharedWithDetails" ma:readOnly="true">
      <xsd:simpleType>
        <xsd:restriction base="dms:Note"/>
      </xsd:simpleType>
    </xsd:element>
    <xsd:element name="TaxCatchAll" ma:index="24" nillable="true" ma:displayName="Taxonomy Catch All Column" ma:hidden="true" ma:list="{1056ef75-36ba-45c4-a822-6a4ed75eddf7}" ma:internalName="TaxCatchAll" ma:showField="CatchAllData" ma:web="8837f82f-b140-48ff-8dc8-b79a3284d8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s0 xmlns="f109a73b-17cb-4832-a9a9-365d35444d2b" xsi:nil="true"/>
    <TaxCatchAll xmlns="8837f82f-b140-48ff-8dc8-b79a3284d887" xsi:nil="true"/>
    <lcf76f155ced4ddcb4097134ff3c332f xmlns="f109a73b-17cb-4832-a9a9-365d35444d2b">
      <Terms xmlns="http://schemas.microsoft.com/office/infopath/2007/PartnerControls"/>
    </lcf76f155ced4ddcb4097134ff3c332f>
    <_Flow_SignoffStatus xmlns="f109a73b-17cb-4832-a9a9-365d35444d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FFCF9C-521E-42CE-B805-C010EDCD66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09a73b-17cb-4832-a9a9-365d35444d2b"/>
    <ds:schemaRef ds:uri="8837f82f-b140-48ff-8dc8-b79a3284d8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9F961D-86E7-463C-B09D-E3314B2C6EB5}">
  <ds:schemaRefs>
    <ds:schemaRef ds:uri="http://purl.org/dc/elements/1.1/"/>
    <ds:schemaRef ds:uri="http://schemas.microsoft.com/office/2006/documentManagement/types"/>
    <ds:schemaRef ds:uri="http://schemas.microsoft.com/office/2006/metadata/properties"/>
    <ds:schemaRef ds:uri="http://schemas.openxmlformats.org/package/2006/metadata/core-properties"/>
    <ds:schemaRef ds:uri="f109a73b-17cb-4832-a9a9-365d35444d2b"/>
    <ds:schemaRef ds:uri="http://purl.org/dc/terms/"/>
    <ds:schemaRef ds:uri="http://schemas.microsoft.com/office/infopath/2007/PartnerControls"/>
    <ds:schemaRef ds:uri="http://www.w3.org/XML/1998/namespace"/>
    <ds:schemaRef ds:uri="8837f82f-b140-48ff-8dc8-b79a3284d887"/>
    <ds:schemaRef ds:uri="http://purl.org/dc/dcmitype/"/>
  </ds:schemaRefs>
</ds:datastoreItem>
</file>

<file path=customXml/itemProps3.xml><?xml version="1.0" encoding="utf-8"?>
<ds:datastoreItem xmlns:ds="http://schemas.openxmlformats.org/officeDocument/2006/customXml" ds:itemID="{8FAAEEFA-AAF2-4C9B-A431-2549B0747BF4}">
  <ds:schemaRefs>
    <ds:schemaRef ds:uri="http://schemas.microsoft.com/sharepoint/v3/contenttype/forms"/>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emplate>Content Slides</Template>
  <TotalTime>1168</TotalTime>
  <Words>5978</Words>
  <Application>Microsoft Office PowerPoint</Application>
  <PresentationFormat>Widescreen</PresentationFormat>
  <Paragraphs>480</Paragraphs>
  <Slides>14</Slides>
  <Notes>14</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14</vt:i4>
      </vt:variant>
    </vt:vector>
  </HeadingPairs>
  <TitlesOfParts>
    <vt:vector size="19" baseType="lpstr">
      <vt:lpstr>Arial</vt:lpstr>
      <vt:lpstr>Calibri</vt:lpstr>
      <vt:lpstr>Content Slides</vt:lpstr>
      <vt:lpstr>1_Content Slides</vt:lpstr>
      <vt:lpstr>1_Titles and Breakers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Rackspace Technology template</dc:title>
  <dc:subject/>
  <dc:creator>Upendra Kumar</dc:creator>
  <cp:keywords/>
  <dc:description/>
  <cp:lastModifiedBy>Upendra Kumar</cp:lastModifiedBy>
  <cp:revision>34</cp:revision>
  <dcterms:created xsi:type="dcterms:W3CDTF">2022-08-11T21:20:29Z</dcterms:created>
  <dcterms:modified xsi:type="dcterms:W3CDTF">2026-04-30T06:22:59Z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0x010100DFE635C2F985974BBE3352C31BC8AA9A</vt:lpwstr>
  </property>
</Properties>
</file>