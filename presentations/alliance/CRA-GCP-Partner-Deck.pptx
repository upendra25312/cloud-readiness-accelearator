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How Rackspace CRA aligns to Google Cloud's migration methodology and PSO programme requirements</a:t>
            </a:r>
          </a:p>
        </p:txBody>
      </p:sp>
      <p:sp>
        <p:nvSpPr>
          <p:cNvPr id="3" name="Text Placeholder 2"/>
          <p:cNvSpPr>
            <a:spLocks noGrp="1"/>
          </p:cNvSpPr>
          <p:nvPr>
            <p:ph type="body" idx="13" sz="quarter"/>
          </p:nvPr>
        </p:nvSpPr>
        <p:spPr/>
        <p:txBody>
          <a:bodyPr wrap="square"/>
          <a:lstStyle/>
          <a:p>
            <a:r>
              <a:rPr sz="1400">
                <a:solidFill>
                  <a:srgbClr val="FFCCCC"/>
                </a:solidFill>
              </a:rPr>
              <a:t>Rackspace x Google Cloud — Migration Partner  |  [Date]</a:t>
            </a:r>
          </a:p>
        </p:txBody>
      </p:sp>
      <p:sp>
        <p:nvSpPr>
          <p:cNvPr id="4" name="Title 3"/>
          <p:cNvSpPr>
            <a:spLocks noGrp="1"/>
          </p:cNvSpPr>
          <p:nvPr>
            <p:ph type="title"/>
          </p:nvPr>
        </p:nvSpPr>
        <p:spPr/>
        <p:txBody>
          <a:bodyPr wrap="square"/>
          <a:lstStyle/>
          <a:p>
            <a:r>
              <a:rPr sz="3600" b="1">
                <a:solidFill>
                  <a:srgbClr val="FFFFFF"/>
                </a:solidFill>
              </a:rPr>
              <a:t>Cloud Readiness Accelerator</a:t>
            </a:r>
          </a:p>
        </p:txBody>
      </p:sp>
      <p:pic>
        <p:nvPicPr>
          <p:cNvPr id="5" name="Picture 4" descr="rackspace-logo-white.png"/>
          <p:cNvPicPr>
            <a:picLocks noChangeAspect="1"/>
          </p:cNvPicPr>
          <p:nvPr/>
        </p:nvPicPr>
        <p:blipFill>
          <a:blip r:embed="rId2"/>
          <a:stretch>
            <a:fillRect/>
          </a:stretch>
        </p:blipFill>
        <p:spPr>
          <a:xfrm>
            <a:off x="19446240" y="228600"/>
            <a:ext cx="4572000" cy="58365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THE GAP: Mid-market customers interested in GCP often complete Google Migration Center assessments but cannot translate output into a board-ready investment decision.</a:t>
            </a:r>
          </a:p>
          <a:p>
            <a:pPr>
              <a:spcAft>
                <a:spcPts val="300"/>
              </a:spcAft>
            </a:pPr>
            <a:r>
              <a:rPr sz="1400"/>
              <a:t/>
            </a:r>
          </a:p>
          <a:p>
            <a:pPr>
              <a:spcAft>
                <a:spcPts val="300"/>
              </a:spcAft>
            </a:pPr>
            <a:r>
              <a:rPr sz="1400"/>
              <a:t>WHAT CRA PROVIDES: A 16-week structured assessment producing the GCAF Assess and Plan stage deliverables at a rigour level supporting GCP PSO engagement qualification and migration credit eligibility.</a:t>
            </a:r>
          </a:p>
          <a:p>
            <a:pPr>
              <a:spcAft>
                <a:spcPts val="300"/>
              </a:spcAft>
            </a:pPr>
            <a:r>
              <a:rPr sz="1400"/>
              <a:t/>
            </a:r>
          </a:p>
          <a:p>
            <a:pPr>
              <a:spcAft>
                <a:spcPts val="300"/>
              </a:spcAft>
            </a:pPr>
            <a:r>
              <a:rPr sz="1400"/>
              <a:t>THE GCP ACTIVATION: Every CRA engagement with a GCP recommendation generates a PSO-qualified opportunity. Rackspace pre-registers in Google Partner Advantage at Phase 1 kickoff.</a:t>
            </a:r>
          </a:p>
          <a:p>
            <a:pPr>
              <a:spcAft>
                <a:spcPts val="300"/>
              </a:spcAft>
            </a:pPr>
            <a:r>
              <a:rPr sz="1400"/>
              <a:t/>
            </a:r>
          </a:p>
          <a:p>
            <a:pPr>
              <a:spcAft>
                <a:spcPts val="300"/>
              </a:spcAft>
            </a:pPr>
            <a:r>
              <a:rPr sz="1400"/>
              <a:t>"CRA delivers the GCAF Assess and Plan stages. GCP PSO and RAMP can begin at Phase 4 close — no additional discovery required."</a:t>
            </a:r>
          </a:p>
        </p:txBody>
      </p:sp>
      <p:sp>
        <p:nvSpPr>
          <p:cNvPr id="3" name="Title 2"/>
          <p:cNvSpPr>
            <a:spLocks noGrp="1"/>
          </p:cNvSpPr>
          <p:nvPr>
            <p:ph type="title"/>
          </p:nvPr>
        </p:nvSpPr>
        <p:spPr/>
        <p:txBody>
          <a:bodyPr wrap="square"/>
          <a:lstStyle/>
          <a:p>
            <a:r>
              <a:rPr sz="2400" b="1"/>
              <a:t>CRA-qualified assessments are the front-end of GCP PSO migration engagements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CRA phases map directly to Google Cloud Adoption Framework stages</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697626">
                <a:tc>
                  <a:txBody>
                    <a:bodyPr/>
                    <a:lstStyle/>
                    <a:p>
                      <a:r>
                        <a:rPr b="1" sz="1200">
                          <a:solidFill>
                            <a:srgbClr val="FFFFFF"/>
                          </a:solidFill>
                        </a:rPr>
                        <a:t>GCAF Stage</a:t>
                      </a:r>
                    </a:p>
                  </a:txBody>
                  <a:tcPr>
                    <a:solidFill>
                      <a:srgbClr val="E31C3D"/>
                    </a:solidFill>
                  </a:tcPr>
                </a:tc>
                <a:tc>
                  <a:txBody>
                    <a:bodyPr/>
                    <a:lstStyle/>
                    <a:p>
                      <a:r>
                        <a:rPr b="1" sz="1200">
                          <a:solidFill>
                            <a:srgbClr val="FFFFFF"/>
                          </a:solidFill>
                        </a:rPr>
                        <a:t>CRA Phase</a:t>
                      </a:r>
                    </a:p>
                  </a:txBody>
                  <a:tcPr>
                    <a:solidFill>
                      <a:srgbClr val="E31C3D"/>
                    </a:solidFill>
                  </a:tcPr>
                </a:tc>
                <a:tc>
                  <a:txBody>
                    <a:bodyPr/>
                    <a:lstStyle/>
                    <a:p>
                      <a:r>
                        <a:rPr b="1" sz="1200">
                          <a:solidFill>
                            <a:srgbClr val="FFFFFF"/>
                          </a:solidFill>
                        </a:rPr>
                        <a:t>CRA Deliverables</a:t>
                      </a:r>
                    </a:p>
                  </a:txBody>
                  <a:tcPr>
                    <a:solidFill>
                      <a:srgbClr val="E31C3D"/>
                    </a:solidFill>
                  </a:tcPr>
                </a:tc>
              </a:tr>
              <a:tr h="697626">
                <a:tc>
                  <a:txBody>
                    <a:bodyPr/>
                    <a:lstStyle/>
                    <a:p>
                      <a:r>
                        <a:rPr sz="1100"/>
                        <a:t>Assess (evaluate workloads, identify cloud fit, baseline TCO)</a:t>
                      </a:r>
                    </a:p>
                  </a:txBody>
                  <a:tcPr>
                    <a:solidFill>
                      <a:srgbClr val="F2F2F2"/>
                    </a:solidFill>
                  </a:tcPr>
                </a:tc>
                <a:tc>
                  <a:txBody>
                    <a:bodyPr/>
                    <a:lstStyle/>
                    <a:p>
                      <a:r>
                        <a:rPr sz="1100"/>
                        <a:t>Phase 1 Discovery + Phase 2 Analysis</a:t>
                      </a:r>
                    </a:p>
                  </a:txBody>
                  <a:tcPr>
                    <a:solidFill>
                      <a:srgbClr val="F2F2F2"/>
                    </a:solidFill>
                  </a:tcPr>
                </a:tc>
                <a:tc>
                  <a:txBody>
                    <a:bodyPr/>
                    <a:lstStyle/>
                    <a:p>
                      <a:r>
                        <a:rPr sz="1100"/>
                        <a:t>Application inventory · infrastructure profiling · 5-dimension readiness scores · dependency map · GCP cloud fit assessment</a:t>
                      </a:r>
                    </a:p>
                  </a:txBody>
                  <a:tcPr>
                    <a:solidFill>
                      <a:srgbClr val="F2F2F2"/>
                    </a:solidFill>
                  </a:tcPr>
                </a:tc>
              </a:tr>
              <a:tr h="697626">
                <a:tc>
                  <a:txBody>
                    <a:bodyPr/>
                    <a:lstStyle/>
                    <a:p>
                      <a:r>
                        <a:rPr sz="1100"/>
                        <a:t>Plan (design target architecture, build migration business case, define wave plan)</a:t>
                      </a:r>
                    </a:p>
                  </a:txBody>
                  <a:tcPr>
                    <a:solidFill>
                      <a:srgbClr val="FFFFFF"/>
                    </a:solidFill>
                  </a:tcPr>
                </a:tc>
                <a:tc>
                  <a:txBody>
                    <a:bodyPr/>
                    <a:lstStyle/>
                    <a:p>
                      <a:r>
                        <a:rPr sz="1100"/>
                        <a:t>Phase 3 Evaluation + Phase 4 Planning</a:t>
                      </a:r>
                    </a:p>
                  </a:txBody>
                  <a:tcPr>
                    <a:solidFill>
                      <a:srgbClr val="FFFFFF"/>
                    </a:solidFill>
                  </a:tcPr>
                </a:tc>
                <a:tc>
                  <a:txBody>
                    <a:bodyPr/>
                    <a:lstStyle/>
                    <a:p>
                      <a:r>
                        <a:rPr sz="1100"/>
                        <a:t>GCP TCO model · hyperscaler recommendation · migration wave plan · landing zone design guidance · governance model</a:t>
                      </a:r>
                    </a:p>
                  </a:txBody>
                  <a:tcPr>
                    <a:solidFill>
                      <a:srgbClr val="FFFFFF"/>
                    </a:solidFill>
                  </a:tcPr>
                </a:tc>
              </a:tr>
              <a:tr h="697626">
                <a:tc>
                  <a:txBody>
                    <a:bodyPr/>
                    <a:lstStyle/>
                    <a:p>
                      <a:r>
                        <a:rPr sz="1100"/>
                        <a:t>Deploy (landing zone build, foundation infrastructure, initial wave)</a:t>
                      </a:r>
                    </a:p>
                  </a:txBody>
                  <a:tcPr>
                    <a:solidFill>
                      <a:srgbClr val="F2F2F2"/>
                    </a:solidFill>
                  </a:tcPr>
                </a:tc>
                <a:tc>
                  <a:txBody>
                    <a:bodyPr/>
                    <a:lstStyle/>
                    <a:p>
                      <a:r>
                        <a:rPr sz="1100"/>
                        <a:t>Post-CRA (Part 2 engagement)</a:t>
                      </a:r>
                    </a:p>
                  </a:txBody>
                  <a:tcPr>
                    <a:solidFill>
                      <a:srgbClr val="F2F2F2"/>
                    </a:solidFill>
                  </a:tcPr>
                </a:tc>
                <a:tc>
                  <a:txBody>
                    <a:bodyPr/>
                    <a:lstStyle/>
                    <a:p>
                      <a:r>
                        <a:rPr sz="1100"/>
                        <a:t>CRA provides deployment specifications · landing zone build is separate Part 2 workstream</a:t>
                      </a:r>
                    </a:p>
                  </a:txBody>
                  <a:tcPr>
                    <a:solidFill>
                      <a:srgbClr val="F2F2F2"/>
                    </a:solidFill>
                  </a:tcPr>
                </a:tc>
              </a:tr>
              <a:tr h="697630">
                <a:tc>
                  <a:txBody>
                    <a:bodyPr/>
                    <a:lstStyle/>
                    <a:p>
                      <a:r>
                        <a:rPr sz="1100"/>
                        <a:t>Optimise (cost optimisation, SRE, FinOps)</a:t>
                      </a:r>
                    </a:p>
                  </a:txBody>
                  <a:tcPr>
                    <a:solidFill>
                      <a:srgbClr val="FFFFFF"/>
                    </a:solidFill>
                  </a:tcPr>
                </a:tc>
                <a:tc>
                  <a:txBody>
                    <a:bodyPr/>
                    <a:lstStyle/>
                    <a:p>
                      <a:r>
                        <a:rPr sz="1100"/>
                        <a:t>Post-CRA (ongoing)</a:t>
                      </a:r>
                    </a:p>
                  </a:txBody>
                  <a:tcPr>
                    <a:solidFill>
                      <a:srgbClr val="FFFFFF"/>
                    </a:solidFill>
                  </a:tcPr>
                </a:tc>
                <a:tc>
                  <a:txBody>
                    <a:bodyPr/>
                    <a:lstStyle/>
                    <a:p>
                      <a:r>
                        <a:rPr sz="1100"/>
                        <a:t>CRA TCO model provides cost optimisation baseline</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Migration Center accepts RVTools VMware export directly.</a:t>
            </a:r>
          </a:p>
          <a:p>
            <a:pPr>
              <a:spcAft>
                <a:spcPts val="300"/>
              </a:spcAft>
            </a:pPr>
            <a:r>
              <a:rPr sz="1400"/>
              <a:t>If Azure Migrate is the primary discovery tool, the same RVTools export populates Migration Center — no additional agent deployment required.</a:t>
            </a:r>
          </a:p>
          <a:p>
            <a:pPr>
              <a:spcAft>
                <a:spcPts val="300"/>
              </a:spcAft>
            </a:pPr>
            <a:r>
              <a:rPr sz="1400"/>
              <a:t/>
            </a:r>
          </a:p>
          <a:p>
            <a:pPr>
              <a:spcAft>
                <a:spcPts val="300"/>
              </a:spcAft>
            </a:pPr>
            <a:r>
              <a:rPr sz="1400"/>
              <a:t>CRA INTEGRATION WORKFLOW:</a:t>
            </a:r>
          </a:p>
          <a:p>
            <a:pPr>
              <a:spcAft>
                <a:spcPts val="300"/>
              </a:spcAft>
            </a:pPr>
            <a:r>
              <a:rPr sz="1400"/>
              <a:t>  Phase 1 Wk 1: Deploy GCP Migration Center collector or VM Manager agent</a:t>
            </a:r>
          </a:p>
          <a:p>
            <a:pPr>
              <a:spcAft>
                <a:spcPts val="300"/>
              </a:spcAft>
            </a:pPr>
            <a:r>
              <a:rPr sz="1400"/>
              <a:t>  Phase 1 Wks 1–7: Collect 14+ days of utilisation data</a:t>
            </a:r>
          </a:p>
          <a:p>
            <a:pPr>
              <a:spcAft>
                <a:spcPts val="300"/>
              </a:spcAft>
            </a:pPr>
            <a:r>
              <a:rPr sz="1400"/>
              <a:t>  Phase 3 Wk 11: Run Migration Center GCP right-sizing analysis</a:t>
            </a:r>
          </a:p>
          <a:p>
            <a:pPr>
              <a:spcAft>
                <a:spcPts val="300"/>
              </a:spcAft>
            </a:pPr>
            <a:r>
              <a:rPr sz="1400"/>
              <a:t>  Phase 3 Wks 12–13: Cross-validate against gcp-evaluation.xlsx · resolve discrepancies</a:t>
            </a:r>
          </a:p>
          <a:p>
            <a:pPr>
              <a:spcAft>
                <a:spcPts val="300"/>
              </a:spcAft>
            </a:pPr>
            <a:r>
              <a:rPr sz="1400"/>
              <a:t/>
            </a:r>
          </a:p>
          <a:p>
            <a:pPr>
              <a:spcAft>
                <a:spcPts val="300"/>
              </a:spcAft>
            </a:pPr>
            <a:r>
              <a:rPr sz="1400"/>
              <a:t>Cross-validate because: Migration Center applies standard GCP pricing and default right-sizing assumptions. CRA manual model applies customer-specific Oracle workload costs, specific instance families, and customer-committed CUD levels.</a:t>
            </a:r>
          </a:p>
        </p:txBody>
      </p:sp>
      <p:sp>
        <p:nvSpPr>
          <p:cNvPr id="3" name="Title 2"/>
          <p:cNvSpPr>
            <a:spLocks noGrp="1"/>
          </p:cNvSpPr>
          <p:nvPr>
            <p:ph type="title"/>
          </p:nvPr>
        </p:nvSpPr>
        <p:spPr/>
        <p:txBody>
          <a:bodyPr wrap="square"/>
          <a:lstStyle/>
          <a:p>
            <a:r>
              <a:rPr sz="2400" b="1"/>
              <a:t>CRA Phase 1 uses Google Migration Center — natively</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How CRA models GCP pricing — two options, per region</a:t>
            </a:r>
          </a:p>
        </p:txBody>
      </p:sp>
      <p:sp>
        <p:nvSpPr>
          <p:cNvPr id="4" name="Text Placeholder 3"/>
          <p:cNvSpPr>
            <a:spLocks noGrp="1"/>
          </p:cNvSpPr>
          <p:nvPr>
            <p:ph type="body" idx="13" sz="quarter"/>
          </p:nvPr>
        </p:nvSpPr>
        <p:spPr/>
        <p:txBody>
          <a:bodyPr wrap="square"/>
          <a:lstStyle/>
          <a:p>
            <a:r>
              <a:rPr sz="1300">
                <a:solidFill>
                  <a:srgbClr val="333333"/>
                </a:solidFill>
              </a:rPr>
              <a:t>Key instance families: n2-standard (general) · n2-highmem (memory-optimised, Oracle) · c3-standard (latest gen) · m3-ultramem (SAP HANA, high-memory Oracle). GCP CUDs are resource-based (CPU/RAM) — more flexibility than AWS RI, less than AWS Savings Plans.</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4290060"/>
                <a:gridCol w="4290060"/>
                <a:gridCol w="4290060"/>
                <a:gridCol w="4290060"/>
              </a:tblGrid>
              <a:tr h="1162711">
                <a:tc>
                  <a:txBody>
                    <a:bodyPr/>
                    <a:lstStyle/>
                    <a:p>
                      <a:r>
                        <a:rPr b="1" sz="1200">
                          <a:solidFill>
                            <a:srgbClr val="FFFFFF"/>
                          </a:solidFill>
                        </a:rPr>
                        <a:t>Pricing Model</a:t>
                      </a:r>
                    </a:p>
                  </a:txBody>
                  <a:tcPr>
                    <a:solidFill>
                      <a:srgbClr val="E31C3D"/>
                    </a:solidFill>
                  </a:tcPr>
                </a:tc>
                <a:tc>
                  <a:txBody>
                    <a:bodyPr/>
                    <a:lstStyle/>
                    <a:p>
                      <a:r>
                        <a:rPr b="1" sz="1200">
                          <a:solidFill>
                            <a:srgbClr val="FFFFFF"/>
                          </a:solidFill>
                        </a:rPr>
                        <a:t>GCP Name</a:t>
                      </a:r>
                    </a:p>
                  </a:txBody>
                  <a:tcPr>
                    <a:solidFill>
                      <a:srgbClr val="E31C3D"/>
                    </a:solidFill>
                  </a:tcPr>
                </a:tc>
                <a:tc>
                  <a:txBody>
                    <a:bodyPr/>
                    <a:lstStyle/>
                    <a:p>
                      <a:r>
                        <a:rPr b="1" sz="1200">
                          <a:solidFill>
                            <a:srgbClr val="FFFFFF"/>
                          </a:solidFill>
                        </a:rPr>
                        <a:t>CRA Tab</a:t>
                      </a:r>
                    </a:p>
                  </a:txBody>
                  <a:tcPr>
                    <a:solidFill>
                      <a:srgbClr val="E31C3D"/>
                    </a:solidFill>
                  </a:tcPr>
                </a:tc>
                <a:tc>
                  <a:txBody>
                    <a:bodyPr/>
                    <a:lstStyle/>
                    <a:p>
                      <a:r>
                        <a:rPr b="1" sz="1200">
                          <a:solidFill>
                            <a:srgbClr val="FFFFFF"/>
                          </a:solidFill>
                        </a:rPr>
                        <a:t>Typical Saving</a:t>
                      </a:r>
                    </a:p>
                  </a:txBody>
                  <a:tcPr>
                    <a:solidFill>
                      <a:srgbClr val="E31C3D"/>
                    </a:solidFill>
                  </a:tcPr>
                </a:tc>
              </a:tr>
              <a:tr h="1162711">
                <a:tc>
                  <a:txBody>
                    <a:bodyPr/>
                    <a:lstStyle/>
                    <a:p>
                      <a:r>
                        <a:rPr sz="1100"/>
                        <a:t>On-Demand</a:t>
                      </a:r>
                    </a:p>
                  </a:txBody>
                  <a:tcPr>
                    <a:solidFill>
                      <a:srgbClr val="F2F2F2"/>
                    </a:solidFill>
                  </a:tcPr>
                </a:tc>
                <a:tc>
                  <a:txBody>
                    <a:bodyPr/>
                    <a:lstStyle/>
                    <a:p>
                      <a:r>
                        <a:rPr sz="1100"/>
                        <a:t>Pay-as-you-go</a:t>
                      </a:r>
                    </a:p>
                  </a:txBody>
                  <a:tcPr>
                    <a:solidFill>
                      <a:srgbClr val="F2F2F2"/>
                    </a:solidFill>
                  </a:tcPr>
                </a:tc>
                <a:tc>
                  <a:txBody>
                    <a:bodyPr/>
                    <a:lstStyle/>
                    <a:p>
                      <a:r>
                        <a:rPr sz="1100"/>
                        <a:t>GCP-OnDemand</a:t>
                      </a:r>
                    </a:p>
                  </a:txBody>
                  <a:tcPr>
                    <a:solidFill>
                      <a:srgbClr val="F2F2F2"/>
                    </a:solidFill>
                  </a:tcPr>
                </a:tc>
                <a:tc>
                  <a:txBody>
                    <a:bodyPr/>
                    <a:lstStyle/>
                    <a:p>
                      <a:r>
                        <a:rPr sz="1100"/>
                        <a:t>Baseline — worst case cost</a:t>
                      </a:r>
                    </a:p>
                  </a:txBody>
                  <a:tcPr>
                    <a:solidFill>
                      <a:srgbClr val="F2F2F2"/>
                    </a:solidFill>
                  </a:tcPr>
                </a:tc>
              </a:tr>
              <a:tr h="1162712">
                <a:tc>
                  <a:txBody>
                    <a:bodyPr/>
                    <a:lstStyle/>
                    <a:p>
                      <a:r>
                        <a:rPr sz="1100"/>
                        <a:t>Committed Use Discounts (3yr)</a:t>
                      </a:r>
                    </a:p>
                  </a:txBody>
                  <a:tcPr>
                    <a:solidFill>
                      <a:srgbClr val="FFFFFF"/>
                    </a:solidFill>
                  </a:tcPr>
                </a:tc>
                <a:tc>
                  <a:txBody>
                    <a:bodyPr/>
                    <a:lstStyle/>
                    <a:p>
                      <a:r>
                        <a:rPr sz="1100"/>
                        <a:t>3-year CUD</a:t>
                      </a:r>
                    </a:p>
                  </a:txBody>
                  <a:tcPr>
                    <a:solidFill>
                      <a:srgbClr val="FFFFFF"/>
                    </a:solidFill>
                  </a:tcPr>
                </a:tc>
                <a:tc>
                  <a:txBody>
                    <a:bodyPr/>
                    <a:lstStyle/>
                    <a:p>
                      <a:r>
                        <a:rPr sz="1100"/>
                        <a:t>GCP-CUD-3yr</a:t>
                      </a:r>
                    </a:p>
                  </a:txBody>
                  <a:tcPr>
                    <a:solidFill>
                      <a:srgbClr val="FFFFFF"/>
                    </a:solidFill>
                  </a:tcPr>
                </a:tc>
                <a:tc>
                  <a:txBody>
                    <a:bodyPr/>
                    <a:lstStyle/>
                    <a:p>
                      <a:r>
                        <a:rPr sz="1100"/>
                        <a:t>Typically 37–55% saving vs On-Demand</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OSS LICENCE RISK IDENTIFIED IN CRA PHASE 2 — GCP managed alternatives:</a:t>
            </a:r>
          </a:p>
          <a:p>
            <a:pPr>
              <a:spcAft>
                <a:spcPts val="300"/>
              </a:spcAft>
            </a:pPr>
            <a:r>
              <a:rPr sz="1400"/>
              <a:t>  Redis OSS (post v7.4 — SSPL): Memorystore for Redis / Valkey — fully managed, Redis-compatible</a:t>
            </a:r>
          </a:p>
          <a:p>
            <a:pPr>
              <a:spcAft>
                <a:spcPts val="300"/>
              </a:spcAft>
            </a:pPr>
            <a:r>
              <a:rPr sz="1400"/>
              <a:t>  Elasticsearch (post 7.10 — SSPL): Elastic on GCP Marketplace or Vector Search — native Elastic partnership</a:t>
            </a:r>
          </a:p>
          <a:p>
            <a:pPr>
              <a:spcAft>
                <a:spcPts val="300"/>
              </a:spcAft>
            </a:pPr>
            <a:r>
              <a:rPr sz="1400"/>
              <a:t>  HashiCorp Vault (BSL): Secret Manager / Berglas — GCP-native, no licence concerns</a:t>
            </a:r>
          </a:p>
          <a:p>
            <a:pPr>
              <a:spcAft>
                <a:spcPts val="300"/>
              </a:spcAft>
            </a:pPr>
            <a:r>
              <a:rPr sz="1400"/>
              <a:t>  MongoDB (SSPL): Cloud Firestore / MongoDB Atlas on GCP Marketplace</a:t>
            </a:r>
          </a:p>
          <a:p>
            <a:pPr>
              <a:spcAft>
                <a:spcPts val="300"/>
              </a:spcAft>
            </a:pPr>
            <a:r>
              <a:rPr sz="1400"/>
              <a:t>  Kafka: Pub/Sub + Dataflow — GCP's natural Kafka alternative, no licence risk</a:t>
            </a:r>
          </a:p>
          <a:p>
            <a:pPr>
              <a:spcAft>
                <a:spcPts val="300"/>
              </a:spcAft>
            </a:pPr>
            <a:r>
              <a:rPr sz="1400"/>
              <a:t/>
            </a:r>
          </a:p>
          <a:p>
            <a:pPr>
              <a:spcAft>
                <a:spcPts val="300"/>
              </a:spcAft>
            </a:pPr>
            <a:r>
              <a:rPr sz="1400"/>
              <a:t>CONTAINERS: For 'Cloud Friendly' (Replatform) workloads, CRA Phase 3 models containerisation on GKE.</a:t>
            </a:r>
          </a:p>
          <a:p>
            <a:pPr>
              <a:spcAft>
                <a:spcPts val="300"/>
              </a:spcAft>
            </a:pPr>
            <a:r>
              <a:rPr sz="1400"/>
              <a:t>GKE is often the most capable managed Kubernetes service — a legitimate GCP advantage.</a:t>
            </a:r>
          </a:p>
        </p:txBody>
      </p:sp>
      <p:sp>
        <p:nvSpPr>
          <p:cNvPr id="3" name="Title 2"/>
          <p:cNvSpPr>
            <a:spLocks noGrp="1"/>
          </p:cNvSpPr>
          <p:nvPr>
            <p:ph type="title"/>
          </p:nvPr>
        </p:nvSpPr>
        <p:spPr/>
        <p:txBody>
          <a:bodyPr wrap="square"/>
          <a:lstStyle/>
          <a:p>
            <a:r>
              <a:rPr sz="2400" b="1"/>
              <a:t>GCP's open-source strength — and how CRA surfaces it</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CRA Phase 2 captures data platform and analytics workloads with extra criteria: data volume/frequency, current analytics stack (Spark/Hadoop/ETL), ML models in production, real-time vs batch requirements.</a:t>
            </a:r>
          </a:p>
          <a:p>
            <a:pPr>
              <a:spcAft>
                <a:spcPts val="300"/>
              </a:spcAft>
            </a:pPr>
            <a:r>
              <a:rPr sz="1400"/>
              <a:t/>
            </a:r>
          </a:p>
          <a:p>
            <a:pPr>
              <a:spcAft>
                <a:spcPts val="300"/>
              </a:spcAft>
            </a:pPr>
            <a:r>
              <a:rPr sz="1400"/>
              <a:t>WHERE GCP HAS A STRUCTURAL ADVANTAGE IN CRA TCO:</a:t>
            </a:r>
          </a:p>
          <a:p>
            <a:pPr>
              <a:spcAft>
                <a:spcPts val="300"/>
              </a:spcAft>
            </a:pPr>
            <a:r>
              <a:rPr sz="1400"/>
              <a:t>  Apache Spark / Hadoop → Dataproc (fully managed, auto-scaling) vs EC2 Spark vs Azure HDInsight</a:t>
            </a:r>
          </a:p>
          <a:p>
            <a:pPr>
              <a:spcAft>
                <a:spcPts val="300"/>
              </a:spcAft>
            </a:pPr>
            <a:r>
              <a:rPr sz="1400"/>
              <a:t>  Data warehouse (Teradata, Oracle DW) → BigQuery (serverless, no infrastructure cost) vs Azure Synapse vs Redshift</a:t>
            </a:r>
          </a:p>
          <a:p>
            <a:pPr>
              <a:spcAft>
                <a:spcPts val="300"/>
              </a:spcAft>
            </a:pPr>
            <a:r>
              <a:rPr sz="1400"/>
              <a:t>  AI/ML training and inference → Vertex AI (integrated MLOps, TPU access)</a:t>
            </a:r>
          </a:p>
          <a:p>
            <a:pPr>
              <a:spcAft>
                <a:spcPts val="300"/>
              </a:spcAft>
            </a:pPr>
            <a:r>
              <a:rPr sz="1400"/>
              <a:t>  Real-time event streaming → Pub/Sub + Dataflow (Kafka alternative)</a:t>
            </a:r>
          </a:p>
          <a:p>
            <a:pPr>
              <a:spcAft>
                <a:spcPts val="300"/>
              </a:spcAft>
            </a:pPr>
            <a:r>
              <a:rPr sz="1400"/>
              <a:t/>
            </a:r>
          </a:p>
          <a:p>
            <a:pPr>
              <a:spcAft>
                <a:spcPts val="300"/>
              </a:spcAft>
            </a:pPr>
            <a:r>
              <a:rPr sz="1400"/>
              <a:t>CRA action: Data platform workloads flagged in Phase 2 → modelled with GCP managed service alternatives in Phase 3.</a:t>
            </a:r>
          </a:p>
          <a:p>
            <a:pPr>
              <a:spcAft>
                <a:spcPts val="300"/>
              </a:spcAft>
            </a:pPr>
            <a:r>
              <a:rPr sz="1400"/>
              <a:t>For customers with significant data workloads, this comparison often shows a strong GCP cost advantage.</a:t>
            </a:r>
          </a:p>
        </p:txBody>
      </p:sp>
      <p:sp>
        <p:nvSpPr>
          <p:cNvPr id="3" name="Title 2"/>
          <p:cNvSpPr>
            <a:spLocks noGrp="1"/>
          </p:cNvSpPr>
          <p:nvPr>
            <p:ph type="title"/>
          </p:nvPr>
        </p:nvSpPr>
        <p:spPr/>
        <p:txBody>
          <a:bodyPr wrap="square"/>
          <a:lstStyle/>
          <a:p>
            <a:r>
              <a:rPr sz="2400" b="1"/>
              <a:t>GCP surfaces its advantage for data, analytics, and AI/ML workloads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THE CHALLENGE: Many mid-market enterprises default to Azure through inertia. A GCP recommendation from Google is dismissed as sales pressure.</a:t>
            </a:r>
          </a:p>
          <a:p>
            <a:pPr>
              <a:spcAft>
                <a:spcPts val="300"/>
              </a:spcAft>
            </a:pPr>
            <a:r>
              <a:rPr sz="1400"/>
              <a:t/>
            </a:r>
          </a:p>
          <a:p>
            <a:pPr>
              <a:spcAft>
                <a:spcPts val="300"/>
              </a:spcAft>
            </a:pPr>
            <a:r>
              <a:rPr sz="1400"/>
              <a:t>WHAT THE CRA PROCESS PROVIDES:</a:t>
            </a:r>
          </a:p>
          <a:p>
            <a:pPr>
              <a:spcAft>
                <a:spcPts val="300"/>
              </a:spcAft>
            </a:pPr>
            <a:r>
              <a:rPr sz="1400"/>
              <a:t>  Customer agrees evaluation criteria and weights before any scoring begins</a:t>
            </a:r>
          </a:p>
          <a:p>
            <a:pPr>
              <a:spcAft>
                <a:spcPts val="300"/>
              </a:spcAft>
            </a:pPr>
            <a:r>
              <a:rPr sz="1400"/>
              <a:t>  All three clouds scored with equal depth — Azure and AWS get the same rigour</a:t>
            </a:r>
          </a:p>
          <a:p>
            <a:pPr>
              <a:spcAft>
                <a:spcPts val="300"/>
              </a:spcAft>
            </a:pPr>
            <a:r>
              <a:rPr sz="1400"/>
              <a:t>  GCP wins where GCP is genuinely the best fit: containerisation, data analytics, OSS workloads, AI/ML</a:t>
            </a:r>
          </a:p>
          <a:p>
            <a:pPr>
              <a:spcAft>
                <a:spcPts val="300"/>
              </a:spcAft>
            </a:pPr>
            <a:r>
              <a:rPr sz="1400"/>
              <a:t>  The recommendation follows the evidence — it is not pre-determined</a:t>
            </a:r>
          </a:p>
          <a:p>
            <a:pPr>
              <a:spcAft>
                <a:spcPts val="300"/>
              </a:spcAft>
            </a:pPr>
            <a:r>
              <a:rPr sz="1400"/>
              <a:t>  All three hyperscaler SEs are in the room at the Phase 3 playback</a:t>
            </a:r>
          </a:p>
          <a:p>
            <a:pPr>
              <a:spcAft>
                <a:spcPts val="300"/>
              </a:spcAft>
            </a:pPr>
            <a:r>
              <a:rPr sz="1400"/>
              <a:t/>
            </a:r>
          </a:p>
          <a:p>
            <a:pPr>
              <a:spcAft>
                <a:spcPts val="300"/>
              </a:spcAft>
            </a:pPr>
            <a:r>
              <a:rPr sz="1400"/>
              <a:t>'Rackspace ran a 16-week independent assessment. They evaluated Azure, AWS, and GCP. The data shows GCP is the right answer for our containerisation and analytics workloads.'</a:t>
            </a:r>
          </a:p>
          <a:p>
            <a:pPr>
              <a:spcAft>
                <a:spcPts val="300"/>
              </a:spcAft>
            </a:pPr>
            <a:r>
              <a:rPr sz="1400"/>
              <a:t>This is a different conversation than any Google sales rep can have.</a:t>
            </a:r>
          </a:p>
        </p:txBody>
      </p:sp>
      <p:sp>
        <p:nvSpPr>
          <p:cNvPr id="3" name="Title 2"/>
          <p:cNvSpPr>
            <a:spLocks noGrp="1"/>
          </p:cNvSpPr>
          <p:nvPr>
            <p:ph type="title"/>
          </p:nvPr>
        </p:nvSpPr>
        <p:spPr/>
        <p:txBody>
          <a:bodyPr wrap="square"/>
          <a:lstStyle/>
          <a:p>
            <a:r>
              <a:rPr sz="2400" b="1"/>
              <a:t>A CRA-delivered GCP recommendation is unassailable</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Three paths to a Rackspace CRA / GCP co-sell activation</a:t>
            </a:r>
          </a:p>
        </p:txBody>
      </p:sp>
      <p:sp>
        <p:nvSpPr>
          <p:cNvPr id="4" name="Text Placeholder 3"/>
          <p:cNvSpPr>
            <a:spLocks noGrp="1"/>
          </p:cNvSpPr>
          <p:nvPr>
            <p:ph type="body" idx="13" sz="quarter"/>
          </p:nvPr>
        </p:nvSpPr>
        <p:spPr/>
        <p:txBody>
          <a:bodyPr wrap="square"/>
          <a:lstStyle/>
          <a:p>
            <a:r>
              <a:rPr sz="1300">
                <a:solidFill>
                  <a:srgbClr val="333333"/>
                </a:solidFill>
              </a:rPr>
              <a:t>"Schedule a 30-minute session between Rackspace Alliance Architecture and Google Cloud PSE to confirm CRA methodology against GCAF and PSO programme requirements."</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Path</a:t>
                      </a:r>
                    </a:p>
                  </a:txBody>
                  <a:tcPr>
                    <a:solidFill>
                      <a:srgbClr val="E31C3D"/>
                    </a:solidFill>
                  </a:tcPr>
                </a:tc>
                <a:tc>
                  <a:txBody>
                    <a:bodyPr/>
                    <a:lstStyle/>
                    <a:p>
                      <a:r>
                        <a:rPr b="1" sz="1200">
                          <a:solidFill>
                            <a:srgbClr val="FFFFFF"/>
                          </a:solidFill>
                        </a:rPr>
                        <a:t>Trigger</a:t>
                      </a:r>
                    </a:p>
                  </a:txBody>
                  <a:tcPr>
                    <a:solidFill>
                      <a:srgbClr val="E31C3D"/>
                    </a:solidFill>
                  </a:tcPr>
                </a:tc>
                <a:tc>
                  <a:txBody>
                    <a:bodyPr/>
                    <a:lstStyle/>
                    <a:p>
                      <a:r>
                        <a:rPr b="1" sz="1200">
                          <a:solidFill>
                            <a:srgbClr val="FFFFFF"/>
                          </a:solidFill>
                        </a:rPr>
                        <a:t>First Action</a:t>
                      </a:r>
                    </a:p>
                  </a:txBody>
                  <a:tcPr>
                    <a:solidFill>
                      <a:srgbClr val="E31C3D"/>
                    </a:solidFill>
                  </a:tcPr>
                </a:tc>
              </a:tr>
              <a:tr h="872033">
                <a:tc>
                  <a:txBody>
                    <a:bodyPr/>
                    <a:lstStyle/>
                    <a:p>
                      <a:r>
                        <a:rPr sz="1100"/>
                        <a:t>1. Migration Center Assessment Upgrade</a:t>
                      </a:r>
                    </a:p>
                  </a:txBody>
                  <a:tcPr>
                    <a:solidFill>
                      <a:srgbClr val="F2F2F2"/>
                    </a:solidFill>
                  </a:tcPr>
                </a:tc>
                <a:tc>
                  <a:txBody>
                    <a:bodyPr/>
                    <a:lstStyle/>
                    <a:p>
                      <a:r>
                        <a:rPr sz="1100"/>
                        <a:t>Customer has used GCP Migration Center · needs formal board-ready multi-cloud business case</a:t>
                      </a:r>
                    </a:p>
                  </a:txBody>
                  <a:tcPr>
                    <a:solidFill>
                      <a:srgbClr val="F2F2F2"/>
                    </a:solidFill>
                  </a:tcPr>
                </a:tc>
                <a:tc>
                  <a:txBody>
                    <a:bodyPr/>
                    <a:lstStyle/>
                    <a:p>
                      <a:r>
                        <a:rPr sz="1100"/>
                        <a:t>Rackspace CRA takes Migration Center data and builds complete GCAF Assess + Plan deliverables</a:t>
                      </a:r>
                    </a:p>
                  </a:txBody>
                  <a:tcPr>
                    <a:solidFill>
                      <a:srgbClr val="F2F2F2"/>
                    </a:solidFill>
                  </a:tcPr>
                </a:tc>
              </a:tr>
              <a:tr h="872033">
                <a:tc>
                  <a:txBody>
                    <a:bodyPr/>
                    <a:lstStyle/>
                    <a:p>
                      <a:r>
                        <a:rPr sz="1100"/>
                        <a:t>2. GCP Pipeline Identification</a:t>
                      </a:r>
                    </a:p>
                  </a:txBody>
                  <a:tcPr>
                    <a:solidFill>
                      <a:srgbClr val="FFFFFF"/>
                    </a:solidFill>
                  </a:tcPr>
                </a:tc>
                <a:tc>
                  <a:txBody>
                    <a:bodyPr/>
                    <a:lstStyle/>
                    <a:p>
                      <a:r>
                        <a:rPr sz="1100"/>
                        <a:t>GCP PDM identifies accounts with data, analytics, or containerisation workloads where GCP has advantage</a:t>
                      </a:r>
                    </a:p>
                  </a:txBody>
                  <a:tcPr>
                    <a:solidFill>
                      <a:srgbClr val="FFFFFF"/>
                    </a:solidFill>
                  </a:tcPr>
                </a:tc>
                <a:tc>
                  <a:txBody>
                    <a:bodyPr/>
                    <a:lstStyle/>
                    <a:p>
                      <a:r>
                        <a:rPr sz="1100"/>
                        <a:t>Refer to Rackspace Pre-Sales for CRA scoping call · CRA ensures TCO models BigQuery, Dataproc, GKE</a:t>
                      </a:r>
                    </a:p>
                  </a:txBody>
                  <a:tcPr>
                    <a:solidFill>
                      <a:srgbClr val="FFFFFF"/>
                    </a:solidFill>
                  </a:tcPr>
                </a:tc>
              </a:tr>
              <a:tr h="872035">
                <a:tc>
                  <a:txBody>
                    <a:bodyPr/>
                    <a:lstStyle/>
                    <a:p>
                      <a:r>
                        <a:rPr sz="1100"/>
                        <a:t>3. Joint Pipeline Review</a:t>
                      </a:r>
                    </a:p>
                  </a:txBody>
                  <a:tcPr>
                    <a:solidFill>
                      <a:srgbClr val="F2F2F2"/>
                    </a:solidFill>
                  </a:tcPr>
                </a:tc>
                <a:tc>
                  <a:txBody>
                    <a:bodyPr/>
                    <a:lstStyle/>
                    <a:p>
                      <a:r>
                        <a:rPr sz="1100"/>
                        <a:t>Monthly joint review: Rackspace Alliance Manager + GCP PDM</a:t>
                      </a:r>
                    </a:p>
                  </a:txBody>
                  <a:tcPr>
                    <a:solidFill>
                      <a:srgbClr val="F2F2F2"/>
                    </a:solidFill>
                  </a:tcPr>
                </a:tc>
                <a:tc>
                  <a:txBody>
                    <a:bodyPr/>
                    <a:lstStyle/>
                    <a:p>
                      <a:r>
                        <a:rPr sz="1100"/>
                        <a:t>Identify accounts where CRA accelerates partner programme registration</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