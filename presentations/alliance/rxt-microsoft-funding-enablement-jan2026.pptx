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06" r:id="rId5"/>
  </p:sldMasterIdLst>
  <p:notesMasterIdLst>
    <p:notesMasterId r:id="rId26"/>
  </p:notesMasterIdLst>
  <p:sldIdLst>
    <p:sldId id="2147483599" r:id="rId6"/>
    <p:sldId id="259" r:id="rId7"/>
    <p:sldId id="2147483646" r:id="rId8"/>
    <p:sldId id="390" r:id="rId9"/>
    <p:sldId id="2147483645" r:id="rId10"/>
    <p:sldId id="278" r:id="rId11"/>
    <p:sldId id="2147483639" r:id="rId12"/>
    <p:sldId id="262" r:id="rId13"/>
    <p:sldId id="257" r:id="rId14"/>
    <p:sldId id="372" r:id="rId15"/>
    <p:sldId id="2147483629" r:id="rId16"/>
    <p:sldId id="2147483617" r:id="rId17"/>
    <p:sldId id="2147483627" r:id="rId18"/>
    <p:sldId id="2147483632" r:id="rId19"/>
    <p:sldId id="2147483633" r:id="rId20"/>
    <p:sldId id="310" r:id="rId21"/>
    <p:sldId id="256" r:id="rId22"/>
    <p:sldId id="314" r:id="rId23"/>
    <p:sldId id="2147483642" r:id="rId24"/>
    <p:sldId id="214748364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AE9F8"/>
    <a:srgbClr val="EBDDFF"/>
    <a:srgbClr val="DFC9FF"/>
    <a:srgbClr val="DFF1CB"/>
    <a:srgbClr val="FFFFCC"/>
    <a:srgbClr val="EB0000"/>
    <a:srgbClr val="0078D3"/>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41CAB8-0930-137B-B7A4-3E73F239E513}" v="1" dt="2026-03-12T16:11:18.3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1" autoAdjust="0"/>
    <p:restoredTop sz="95915" autoAdjust="0"/>
  </p:normalViewPr>
  <p:slideViewPr>
    <p:cSldViewPr snapToGrid="0">
      <p:cViewPr varScale="1">
        <p:scale>
          <a:sx n="92" d="100"/>
          <a:sy n="92" d="100"/>
        </p:scale>
        <p:origin x="160" y="60"/>
      </p:cViewPr>
      <p:guideLst/>
    </p:cSldViewPr>
  </p:slideViewPr>
  <p:notesTextViewPr>
    <p:cViewPr>
      <p:scale>
        <a:sx n="50" d="100"/>
        <a:sy n="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5E5F0D-DFA5-410A-B668-564FD0E62077}"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4CBEC724-6D7C-4CE9-929A-35F7E85AC7E8}">
      <dgm:prSet/>
      <dgm:spPr/>
      <dgm:t>
        <a:bodyPr/>
        <a:lstStyle/>
        <a:p>
          <a:r>
            <a:rPr lang="en-US"/>
            <a:t>Azure Accelerate: AI Apps, Agents and Developer Pre-Sales (Assessment &amp; PoV)  </a:t>
          </a:r>
        </a:p>
      </dgm:t>
    </dgm:pt>
    <dgm:pt modelId="{6C6F98DB-B3F4-4CFC-9DE2-EF63A7971D26}" type="parTrans" cxnId="{5444F23B-0066-4D99-9A4E-2ABDA784ECFB}">
      <dgm:prSet/>
      <dgm:spPr/>
      <dgm:t>
        <a:bodyPr/>
        <a:lstStyle/>
        <a:p>
          <a:endParaRPr lang="en-US"/>
        </a:p>
      </dgm:t>
    </dgm:pt>
    <dgm:pt modelId="{028755E5-F622-477E-B092-2BA84973B69D}" type="sibTrans" cxnId="{5444F23B-0066-4D99-9A4E-2ABDA784ECFB}">
      <dgm:prSet/>
      <dgm:spPr/>
      <dgm:t>
        <a:bodyPr/>
        <a:lstStyle/>
        <a:p>
          <a:endParaRPr lang="en-US"/>
        </a:p>
      </dgm:t>
    </dgm:pt>
    <dgm:pt modelId="{C6D5297D-15A1-431E-B8CD-7AE68605F66C}">
      <dgm:prSet/>
      <dgm:spPr/>
      <dgm:t>
        <a:bodyPr/>
        <a:lstStyle/>
        <a:p>
          <a:r>
            <a:rPr lang="en-US"/>
            <a:t>Azure Accelerate: Data Platform Pre-Sales (Assessment and PoV)</a:t>
          </a:r>
        </a:p>
      </dgm:t>
    </dgm:pt>
    <dgm:pt modelId="{716E0DC9-BDD0-4C34-8121-53B257790D97}" type="parTrans" cxnId="{43A9EDCF-FD39-48B2-A4F3-10884BE4E033}">
      <dgm:prSet/>
      <dgm:spPr/>
      <dgm:t>
        <a:bodyPr/>
        <a:lstStyle/>
        <a:p>
          <a:endParaRPr lang="en-US"/>
        </a:p>
      </dgm:t>
    </dgm:pt>
    <dgm:pt modelId="{441800AE-083D-45E2-B109-E1CBE091F7B8}" type="sibTrans" cxnId="{43A9EDCF-FD39-48B2-A4F3-10884BE4E033}">
      <dgm:prSet/>
      <dgm:spPr/>
      <dgm:t>
        <a:bodyPr/>
        <a:lstStyle/>
        <a:p>
          <a:endParaRPr lang="en-US"/>
        </a:p>
      </dgm:t>
    </dgm:pt>
    <dgm:pt modelId="{53D622C6-A4B5-437C-B067-626F0A01BE08}">
      <dgm:prSet/>
      <dgm:spPr/>
      <dgm:t>
        <a:bodyPr/>
        <a:lstStyle/>
        <a:p>
          <a:r>
            <a:rPr lang="it-IT"/>
            <a:t>Azure Accelerate: Core Migrate &amp; Modernize Pre-Sales</a:t>
          </a:r>
          <a:endParaRPr lang="en-US"/>
        </a:p>
      </dgm:t>
    </dgm:pt>
    <dgm:pt modelId="{CE3AAB8B-1CD5-41D6-AB21-811AA7786384}" type="parTrans" cxnId="{91640180-122C-4F18-8534-AAF6CFC8E651}">
      <dgm:prSet/>
      <dgm:spPr/>
      <dgm:t>
        <a:bodyPr/>
        <a:lstStyle/>
        <a:p>
          <a:endParaRPr lang="en-US"/>
        </a:p>
      </dgm:t>
    </dgm:pt>
    <dgm:pt modelId="{E265A474-4522-4CA2-8F56-A1B0B18C1743}" type="sibTrans" cxnId="{91640180-122C-4F18-8534-AAF6CFC8E651}">
      <dgm:prSet/>
      <dgm:spPr/>
      <dgm:t>
        <a:bodyPr/>
        <a:lstStyle/>
        <a:p>
          <a:endParaRPr lang="en-US"/>
        </a:p>
      </dgm:t>
    </dgm:pt>
    <dgm:pt modelId="{463580A6-1D26-4377-8C3C-F48DDFEE3E28}" type="pres">
      <dgm:prSet presAssocID="{6A5E5F0D-DFA5-410A-B668-564FD0E62077}" presName="vert0" presStyleCnt="0">
        <dgm:presLayoutVars>
          <dgm:dir/>
          <dgm:animOne val="branch"/>
          <dgm:animLvl val="lvl"/>
        </dgm:presLayoutVars>
      </dgm:prSet>
      <dgm:spPr/>
    </dgm:pt>
    <dgm:pt modelId="{718BC060-EB42-4FDD-8133-9796B977C39B}" type="pres">
      <dgm:prSet presAssocID="{4CBEC724-6D7C-4CE9-929A-35F7E85AC7E8}" presName="thickLine" presStyleLbl="alignNode1" presStyleIdx="0" presStyleCnt="3"/>
      <dgm:spPr/>
    </dgm:pt>
    <dgm:pt modelId="{73776A00-96FE-4324-942C-77A4912E88AC}" type="pres">
      <dgm:prSet presAssocID="{4CBEC724-6D7C-4CE9-929A-35F7E85AC7E8}" presName="horz1" presStyleCnt="0"/>
      <dgm:spPr/>
    </dgm:pt>
    <dgm:pt modelId="{8CBC966F-C8B4-4DD4-85BE-0684B49C29E4}" type="pres">
      <dgm:prSet presAssocID="{4CBEC724-6D7C-4CE9-929A-35F7E85AC7E8}" presName="tx1" presStyleLbl="revTx" presStyleIdx="0" presStyleCnt="3"/>
      <dgm:spPr/>
    </dgm:pt>
    <dgm:pt modelId="{98E15FC0-93F9-45A0-A9D2-BF96E3AC453B}" type="pres">
      <dgm:prSet presAssocID="{4CBEC724-6D7C-4CE9-929A-35F7E85AC7E8}" presName="vert1" presStyleCnt="0"/>
      <dgm:spPr/>
    </dgm:pt>
    <dgm:pt modelId="{1814189E-5081-4EFF-AB6B-6293E5BBE06A}" type="pres">
      <dgm:prSet presAssocID="{C6D5297D-15A1-431E-B8CD-7AE68605F66C}" presName="thickLine" presStyleLbl="alignNode1" presStyleIdx="1" presStyleCnt="3"/>
      <dgm:spPr/>
    </dgm:pt>
    <dgm:pt modelId="{B2E23E6E-DBA7-4066-8FAA-D5A00662F454}" type="pres">
      <dgm:prSet presAssocID="{C6D5297D-15A1-431E-B8CD-7AE68605F66C}" presName="horz1" presStyleCnt="0"/>
      <dgm:spPr/>
    </dgm:pt>
    <dgm:pt modelId="{E83FD4C6-2BCD-40FA-98FD-F64B6819C55B}" type="pres">
      <dgm:prSet presAssocID="{C6D5297D-15A1-431E-B8CD-7AE68605F66C}" presName="tx1" presStyleLbl="revTx" presStyleIdx="1" presStyleCnt="3"/>
      <dgm:spPr/>
    </dgm:pt>
    <dgm:pt modelId="{50DF6181-9688-4424-8452-595FB61C3563}" type="pres">
      <dgm:prSet presAssocID="{C6D5297D-15A1-431E-B8CD-7AE68605F66C}" presName="vert1" presStyleCnt="0"/>
      <dgm:spPr/>
    </dgm:pt>
    <dgm:pt modelId="{66D18E4D-49C8-48CE-9987-3FC20A8971F9}" type="pres">
      <dgm:prSet presAssocID="{53D622C6-A4B5-437C-B067-626F0A01BE08}" presName="thickLine" presStyleLbl="alignNode1" presStyleIdx="2" presStyleCnt="3"/>
      <dgm:spPr/>
    </dgm:pt>
    <dgm:pt modelId="{CB4CDB43-965B-4965-88D3-701CC68FBD80}" type="pres">
      <dgm:prSet presAssocID="{53D622C6-A4B5-437C-B067-626F0A01BE08}" presName="horz1" presStyleCnt="0"/>
      <dgm:spPr/>
    </dgm:pt>
    <dgm:pt modelId="{E83E3E10-5762-4678-BC97-4B94F19F7A10}" type="pres">
      <dgm:prSet presAssocID="{53D622C6-A4B5-437C-B067-626F0A01BE08}" presName="tx1" presStyleLbl="revTx" presStyleIdx="2" presStyleCnt="3"/>
      <dgm:spPr/>
    </dgm:pt>
    <dgm:pt modelId="{48CFA1DD-2F00-479C-9659-B72DF7FF1C07}" type="pres">
      <dgm:prSet presAssocID="{53D622C6-A4B5-437C-B067-626F0A01BE08}" presName="vert1" presStyleCnt="0"/>
      <dgm:spPr/>
    </dgm:pt>
  </dgm:ptLst>
  <dgm:cxnLst>
    <dgm:cxn modelId="{5444F23B-0066-4D99-9A4E-2ABDA784ECFB}" srcId="{6A5E5F0D-DFA5-410A-B668-564FD0E62077}" destId="{4CBEC724-6D7C-4CE9-929A-35F7E85AC7E8}" srcOrd="0" destOrd="0" parTransId="{6C6F98DB-B3F4-4CFC-9DE2-EF63A7971D26}" sibTransId="{028755E5-F622-477E-B092-2BA84973B69D}"/>
    <dgm:cxn modelId="{9C54E75B-D3A2-4EC6-BF2F-6C3A4FBD3D41}" type="presOf" srcId="{C6D5297D-15A1-431E-B8CD-7AE68605F66C}" destId="{E83FD4C6-2BCD-40FA-98FD-F64B6819C55B}" srcOrd="0" destOrd="0" presId="urn:microsoft.com/office/officeart/2008/layout/LinedList"/>
    <dgm:cxn modelId="{91640180-122C-4F18-8534-AAF6CFC8E651}" srcId="{6A5E5F0D-DFA5-410A-B668-564FD0E62077}" destId="{53D622C6-A4B5-437C-B067-626F0A01BE08}" srcOrd="2" destOrd="0" parTransId="{CE3AAB8B-1CD5-41D6-AB21-811AA7786384}" sibTransId="{E265A474-4522-4CA2-8F56-A1B0B18C1743}"/>
    <dgm:cxn modelId="{025FB685-81CB-46F5-933E-EC344E648AAE}" type="presOf" srcId="{53D622C6-A4B5-437C-B067-626F0A01BE08}" destId="{E83E3E10-5762-4678-BC97-4B94F19F7A10}" srcOrd="0" destOrd="0" presId="urn:microsoft.com/office/officeart/2008/layout/LinedList"/>
    <dgm:cxn modelId="{A893AFA5-B316-4A72-8FD8-40DDE4C20BE3}" type="presOf" srcId="{4CBEC724-6D7C-4CE9-929A-35F7E85AC7E8}" destId="{8CBC966F-C8B4-4DD4-85BE-0684B49C29E4}" srcOrd="0" destOrd="0" presId="urn:microsoft.com/office/officeart/2008/layout/LinedList"/>
    <dgm:cxn modelId="{43A9EDCF-FD39-48B2-A4F3-10884BE4E033}" srcId="{6A5E5F0D-DFA5-410A-B668-564FD0E62077}" destId="{C6D5297D-15A1-431E-B8CD-7AE68605F66C}" srcOrd="1" destOrd="0" parTransId="{716E0DC9-BDD0-4C34-8121-53B257790D97}" sibTransId="{441800AE-083D-45E2-B109-E1CBE091F7B8}"/>
    <dgm:cxn modelId="{36BA8AD4-FC21-429E-8495-F4CD83375807}" type="presOf" srcId="{6A5E5F0D-DFA5-410A-B668-564FD0E62077}" destId="{463580A6-1D26-4377-8C3C-F48DDFEE3E28}" srcOrd="0" destOrd="0" presId="urn:microsoft.com/office/officeart/2008/layout/LinedList"/>
    <dgm:cxn modelId="{66FC8E71-DEB1-44D2-8FC2-358394FDAA35}" type="presParOf" srcId="{463580A6-1D26-4377-8C3C-F48DDFEE3E28}" destId="{718BC060-EB42-4FDD-8133-9796B977C39B}" srcOrd="0" destOrd="0" presId="urn:microsoft.com/office/officeart/2008/layout/LinedList"/>
    <dgm:cxn modelId="{7E8D7F52-E9F8-4F6D-A327-9B8C9DB20EC0}" type="presParOf" srcId="{463580A6-1D26-4377-8C3C-F48DDFEE3E28}" destId="{73776A00-96FE-4324-942C-77A4912E88AC}" srcOrd="1" destOrd="0" presId="urn:microsoft.com/office/officeart/2008/layout/LinedList"/>
    <dgm:cxn modelId="{E82B000D-4470-4980-842F-87A35D5BD324}" type="presParOf" srcId="{73776A00-96FE-4324-942C-77A4912E88AC}" destId="{8CBC966F-C8B4-4DD4-85BE-0684B49C29E4}" srcOrd="0" destOrd="0" presId="urn:microsoft.com/office/officeart/2008/layout/LinedList"/>
    <dgm:cxn modelId="{FA9B6B2D-C35F-4B65-BC48-54CE932DAC4D}" type="presParOf" srcId="{73776A00-96FE-4324-942C-77A4912E88AC}" destId="{98E15FC0-93F9-45A0-A9D2-BF96E3AC453B}" srcOrd="1" destOrd="0" presId="urn:microsoft.com/office/officeart/2008/layout/LinedList"/>
    <dgm:cxn modelId="{59A1C217-CA82-4191-A4DE-FEB35F36D246}" type="presParOf" srcId="{463580A6-1D26-4377-8C3C-F48DDFEE3E28}" destId="{1814189E-5081-4EFF-AB6B-6293E5BBE06A}" srcOrd="2" destOrd="0" presId="urn:microsoft.com/office/officeart/2008/layout/LinedList"/>
    <dgm:cxn modelId="{010F784F-B4B9-4067-AE2F-828C21CBD980}" type="presParOf" srcId="{463580A6-1D26-4377-8C3C-F48DDFEE3E28}" destId="{B2E23E6E-DBA7-4066-8FAA-D5A00662F454}" srcOrd="3" destOrd="0" presId="urn:microsoft.com/office/officeart/2008/layout/LinedList"/>
    <dgm:cxn modelId="{AC792E1C-2AE6-4E7A-AD08-AAE943335F46}" type="presParOf" srcId="{B2E23E6E-DBA7-4066-8FAA-D5A00662F454}" destId="{E83FD4C6-2BCD-40FA-98FD-F64B6819C55B}" srcOrd="0" destOrd="0" presId="urn:microsoft.com/office/officeart/2008/layout/LinedList"/>
    <dgm:cxn modelId="{04D57CC5-B9DC-4D60-8E4C-F1C0D74C3A42}" type="presParOf" srcId="{B2E23E6E-DBA7-4066-8FAA-D5A00662F454}" destId="{50DF6181-9688-4424-8452-595FB61C3563}" srcOrd="1" destOrd="0" presId="urn:microsoft.com/office/officeart/2008/layout/LinedList"/>
    <dgm:cxn modelId="{CA3045BB-226D-44D2-9DAF-452AF7494232}" type="presParOf" srcId="{463580A6-1D26-4377-8C3C-F48DDFEE3E28}" destId="{66D18E4D-49C8-48CE-9987-3FC20A8971F9}" srcOrd="4" destOrd="0" presId="urn:microsoft.com/office/officeart/2008/layout/LinedList"/>
    <dgm:cxn modelId="{D91A837C-EE8C-43B9-997E-800FD265B05F}" type="presParOf" srcId="{463580A6-1D26-4377-8C3C-F48DDFEE3E28}" destId="{CB4CDB43-965B-4965-88D3-701CC68FBD80}" srcOrd="5" destOrd="0" presId="urn:microsoft.com/office/officeart/2008/layout/LinedList"/>
    <dgm:cxn modelId="{ADEC1DC6-99C3-4673-9D9C-9C00A73065FC}" type="presParOf" srcId="{CB4CDB43-965B-4965-88D3-701CC68FBD80}" destId="{E83E3E10-5762-4678-BC97-4B94F19F7A10}" srcOrd="0" destOrd="0" presId="urn:microsoft.com/office/officeart/2008/layout/LinedList"/>
    <dgm:cxn modelId="{9190044A-4E0D-4C3B-90CF-C16AA180B240}" type="presParOf" srcId="{CB4CDB43-965B-4965-88D3-701CC68FBD80}" destId="{48CFA1DD-2F00-479C-9659-B72DF7FF1C0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5E5F0D-DFA5-410A-B668-564FD0E62077}" type="doc">
      <dgm:prSet loTypeId="urn:microsoft.com/office/officeart/2008/layout/LinedList" loCatId="list" qsTypeId="urn:microsoft.com/office/officeart/2005/8/quickstyle/simple1" qsCatId="simple" csTypeId="urn:microsoft.com/office/officeart/2005/8/colors/accent0_2" csCatId="mainScheme" phldr="1"/>
      <dgm:spPr/>
      <dgm:t>
        <a:bodyPr/>
        <a:lstStyle/>
        <a:p>
          <a:endParaRPr lang="en-US"/>
        </a:p>
      </dgm:t>
    </dgm:pt>
    <dgm:pt modelId="{4CBEC724-6D7C-4CE9-929A-35F7E85AC7E8}">
      <dgm:prSet custT="1"/>
      <dgm:spPr>
        <a:xfrm>
          <a:off x="0" y="2124"/>
          <a:ext cx="10515600" cy="1449029"/>
        </a:xfrm>
        <a:prstGeom prst="rect">
          <a:avLst/>
        </a:prstGeom>
      </dgm:spPr>
      <dgm:t>
        <a:bodyPr/>
        <a:lstStyle/>
        <a:p>
          <a:pPr>
            <a:buNone/>
          </a:pPr>
          <a:r>
            <a:rPr lang="it-IT" sz="3600" dirty="0">
              <a:solidFill>
                <a:srgbClr val="000000">
                  <a:hueOff val="0"/>
                  <a:satOff val="0"/>
                  <a:lumOff val="0"/>
                  <a:alphaOff val="0"/>
                </a:srgbClr>
              </a:solidFill>
              <a:latin typeface="Aptos" panose="02110004020202020204"/>
              <a:ea typeface="+mn-ea"/>
              <a:cs typeface="+mn-cs"/>
            </a:rPr>
            <a:t>Azure Accelerate: Core Migrate &amp; Modernize</a:t>
          </a:r>
          <a:endParaRPr lang="en-US" sz="3600" dirty="0">
            <a:latin typeface="Aptos" panose="02110004020202020204"/>
            <a:ea typeface="+mn-ea"/>
            <a:cs typeface="+mn-cs"/>
          </a:endParaRPr>
        </a:p>
      </dgm:t>
    </dgm:pt>
    <dgm:pt modelId="{6C6F98DB-B3F4-4CFC-9DE2-EF63A7971D26}" type="parTrans" cxnId="{5444F23B-0066-4D99-9A4E-2ABDA784ECFB}">
      <dgm:prSet/>
      <dgm:spPr/>
      <dgm:t>
        <a:bodyPr/>
        <a:lstStyle/>
        <a:p>
          <a:endParaRPr lang="en-US"/>
        </a:p>
      </dgm:t>
    </dgm:pt>
    <dgm:pt modelId="{028755E5-F622-477E-B092-2BA84973B69D}" type="sibTrans" cxnId="{5444F23B-0066-4D99-9A4E-2ABDA784ECFB}">
      <dgm:prSet/>
      <dgm:spPr/>
      <dgm:t>
        <a:bodyPr/>
        <a:lstStyle/>
        <a:p>
          <a:endParaRPr lang="en-US"/>
        </a:p>
      </dgm:t>
    </dgm:pt>
    <dgm:pt modelId="{C6D5297D-15A1-431E-B8CD-7AE68605F66C}">
      <dgm:prSet custT="1"/>
      <dgm:spPr>
        <a:xfrm>
          <a:off x="0" y="1451154"/>
          <a:ext cx="10515600" cy="1449029"/>
        </a:xfrm>
        <a:prstGeom prst="rect">
          <a:avLst/>
        </a:prstGeom>
      </dgm:spPr>
      <dgm:t>
        <a:bodyPr/>
        <a:lstStyle/>
        <a:p>
          <a:pPr marL="0" lvl="0" indent="0" algn="l" defTabSz="1600200">
            <a:lnSpc>
              <a:spcPct val="90000"/>
            </a:lnSpc>
            <a:spcBef>
              <a:spcPct val="0"/>
            </a:spcBef>
            <a:spcAft>
              <a:spcPct val="35000"/>
            </a:spcAft>
            <a:buNone/>
          </a:pPr>
          <a:r>
            <a:rPr lang="en-US" sz="3600" kern="1200" dirty="0">
              <a:solidFill>
                <a:srgbClr val="000000">
                  <a:hueOff val="0"/>
                  <a:satOff val="0"/>
                  <a:lumOff val="0"/>
                  <a:alphaOff val="0"/>
                </a:srgbClr>
              </a:solidFill>
              <a:latin typeface="Aptos" panose="02110004020202020204"/>
              <a:ea typeface="+mn-ea"/>
              <a:cs typeface="+mn-cs"/>
            </a:rPr>
            <a:t>Azure Accelerate: Data Platform</a:t>
          </a:r>
        </a:p>
      </dgm:t>
    </dgm:pt>
    <dgm:pt modelId="{716E0DC9-BDD0-4C34-8121-53B257790D97}" type="parTrans" cxnId="{43A9EDCF-FD39-48B2-A4F3-10884BE4E033}">
      <dgm:prSet/>
      <dgm:spPr/>
      <dgm:t>
        <a:bodyPr/>
        <a:lstStyle/>
        <a:p>
          <a:endParaRPr lang="en-US"/>
        </a:p>
      </dgm:t>
    </dgm:pt>
    <dgm:pt modelId="{441800AE-083D-45E2-B109-E1CBE091F7B8}" type="sibTrans" cxnId="{43A9EDCF-FD39-48B2-A4F3-10884BE4E033}">
      <dgm:prSet/>
      <dgm:spPr/>
      <dgm:t>
        <a:bodyPr/>
        <a:lstStyle/>
        <a:p>
          <a:endParaRPr lang="en-US"/>
        </a:p>
      </dgm:t>
    </dgm:pt>
    <dgm:pt modelId="{5F23AAFD-1274-476B-AACC-84CB3D748753}">
      <dgm:prSet custT="1"/>
      <dgm:spPr>
        <a:xfrm>
          <a:off x="0" y="2124"/>
          <a:ext cx="10515600" cy="1449029"/>
        </a:xfrm>
      </dgm:spPr>
      <dgm:t>
        <a:bodyPr/>
        <a:lstStyle/>
        <a:p>
          <a:pPr marL="0" lvl="0" indent="0" algn="l" defTabSz="1600200">
            <a:lnSpc>
              <a:spcPct val="90000"/>
            </a:lnSpc>
            <a:spcBef>
              <a:spcPct val="0"/>
            </a:spcBef>
            <a:spcAft>
              <a:spcPct val="35000"/>
            </a:spcAft>
          </a:pPr>
          <a:r>
            <a:rPr lang="en-US" sz="3600" kern="1200">
              <a:latin typeface="Aptos" panose="02110004020202020204"/>
              <a:ea typeface="+mn-ea"/>
              <a:cs typeface="+mn-cs"/>
            </a:rPr>
            <a:t>Azure Accelerate: AI Apps, Agents and Developer</a:t>
          </a:r>
          <a:endParaRPr lang="en-US" sz="3600" kern="1200" dirty="0">
            <a:solidFill>
              <a:srgbClr val="000000">
                <a:hueOff val="0"/>
                <a:satOff val="0"/>
                <a:lumOff val="0"/>
                <a:alphaOff val="0"/>
              </a:srgbClr>
            </a:solidFill>
            <a:latin typeface="Aptos" panose="02110004020202020204"/>
            <a:ea typeface="+mn-ea"/>
            <a:cs typeface="+mn-cs"/>
          </a:endParaRPr>
        </a:p>
      </dgm:t>
    </dgm:pt>
    <dgm:pt modelId="{E3BA056D-DC59-40BE-B097-1DE8E19E7A63}" type="parTrans" cxnId="{90FB5C04-9E8F-4AB2-A12A-09F04BDF65BC}">
      <dgm:prSet/>
      <dgm:spPr/>
      <dgm:t>
        <a:bodyPr/>
        <a:lstStyle/>
        <a:p>
          <a:endParaRPr lang="en-US"/>
        </a:p>
      </dgm:t>
    </dgm:pt>
    <dgm:pt modelId="{89E6CEA1-FE79-49BC-9A55-4FA1ADFD9456}" type="sibTrans" cxnId="{90FB5C04-9E8F-4AB2-A12A-09F04BDF65BC}">
      <dgm:prSet/>
      <dgm:spPr/>
      <dgm:t>
        <a:bodyPr/>
        <a:lstStyle/>
        <a:p>
          <a:endParaRPr lang="en-US"/>
        </a:p>
      </dgm:t>
    </dgm:pt>
    <dgm:pt modelId="{463580A6-1D26-4377-8C3C-F48DDFEE3E28}" type="pres">
      <dgm:prSet presAssocID="{6A5E5F0D-DFA5-410A-B668-564FD0E62077}" presName="vert0" presStyleCnt="0">
        <dgm:presLayoutVars>
          <dgm:dir/>
          <dgm:animOne val="branch"/>
          <dgm:animLvl val="lvl"/>
        </dgm:presLayoutVars>
      </dgm:prSet>
      <dgm:spPr/>
    </dgm:pt>
    <dgm:pt modelId="{718BC060-EB42-4FDD-8133-9796B977C39B}" type="pres">
      <dgm:prSet presAssocID="{4CBEC724-6D7C-4CE9-929A-35F7E85AC7E8}" presName="thickLine" presStyleLbl="alignNode1" presStyleIdx="0" presStyleCnt="3"/>
      <dgm:spPr>
        <a:xfrm>
          <a:off x="0" y="2124"/>
          <a:ext cx="10515600" cy="0"/>
        </a:xfrm>
        <a:prstGeom prst="line">
          <a:avLst/>
        </a:prstGeom>
      </dgm:spPr>
    </dgm:pt>
    <dgm:pt modelId="{73776A00-96FE-4324-942C-77A4912E88AC}" type="pres">
      <dgm:prSet presAssocID="{4CBEC724-6D7C-4CE9-929A-35F7E85AC7E8}" presName="horz1" presStyleCnt="0"/>
      <dgm:spPr/>
    </dgm:pt>
    <dgm:pt modelId="{8CBC966F-C8B4-4DD4-85BE-0684B49C29E4}" type="pres">
      <dgm:prSet presAssocID="{4CBEC724-6D7C-4CE9-929A-35F7E85AC7E8}" presName="tx1" presStyleLbl="revTx" presStyleIdx="0" presStyleCnt="3"/>
      <dgm:spPr/>
    </dgm:pt>
    <dgm:pt modelId="{98E15FC0-93F9-45A0-A9D2-BF96E3AC453B}" type="pres">
      <dgm:prSet presAssocID="{4CBEC724-6D7C-4CE9-929A-35F7E85AC7E8}" presName="vert1" presStyleCnt="0"/>
      <dgm:spPr/>
    </dgm:pt>
    <dgm:pt modelId="{1814189E-5081-4EFF-AB6B-6293E5BBE06A}" type="pres">
      <dgm:prSet presAssocID="{C6D5297D-15A1-431E-B8CD-7AE68605F66C}" presName="thickLine" presStyleLbl="alignNode1" presStyleIdx="1" presStyleCnt="3"/>
      <dgm:spPr>
        <a:xfrm>
          <a:off x="0" y="1451154"/>
          <a:ext cx="10515600" cy="0"/>
        </a:xfrm>
        <a:prstGeom prst="line">
          <a:avLst/>
        </a:prstGeom>
      </dgm:spPr>
    </dgm:pt>
    <dgm:pt modelId="{B2E23E6E-DBA7-4066-8FAA-D5A00662F454}" type="pres">
      <dgm:prSet presAssocID="{C6D5297D-15A1-431E-B8CD-7AE68605F66C}" presName="horz1" presStyleCnt="0"/>
      <dgm:spPr/>
    </dgm:pt>
    <dgm:pt modelId="{E83FD4C6-2BCD-40FA-98FD-F64B6819C55B}" type="pres">
      <dgm:prSet presAssocID="{C6D5297D-15A1-431E-B8CD-7AE68605F66C}" presName="tx1" presStyleLbl="revTx" presStyleIdx="1" presStyleCnt="3"/>
      <dgm:spPr/>
    </dgm:pt>
    <dgm:pt modelId="{50DF6181-9688-4424-8452-595FB61C3563}" type="pres">
      <dgm:prSet presAssocID="{C6D5297D-15A1-431E-B8CD-7AE68605F66C}" presName="vert1" presStyleCnt="0"/>
      <dgm:spPr/>
    </dgm:pt>
    <dgm:pt modelId="{D7D12F3D-24B5-4A0B-B552-358332891ADC}" type="pres">
      <dgm:prSet presAssocID="{5F23AAFD-1274-476B-AACC-84CB3D748753}" presName="thickLine" presStyleLbl="alignNode1" presStyleIdx="2" presStyleCnt="3"/>
      <dgm:spPr/>
    </dgm:pt>
    <dgm:pt modelId="{01B712D6-2826-4434-9A0B-E63C46AFA64C}" type="pres">
      <dgm:prSet presAssocID="{5F23AAFD-1274-476B-AACC-84CB3D748753}" presName="horz1" presStyleCnt="0"/>
      <dgm:spPr/>
    </dgm:pt>
    <dgm:pt modelId="{A1F42BF9-5FDF-4601-9424-49A6BBC0FA33}" type="pres">
      <dgm:prSet presAssocID="{5F23AAFD-1274-476B-AACC-84CB3D748753}" presName="tx1" presStyleLbl="revTx" presStyleIdx="2" presStyleCnt="3"/>
      <dgm:spPr>
        <a:prstGeom prst="rect">
          <a:avLst/>
        </a:prstGeom>
      </dgm:spPr>
    </dgm:pt>
    <dgm:pt modelId="{29F6A6B7-9C28-4A36-8933-9E43BC4FEAAA}" type="pres">
      <dgm:prSet presAssocID="{5F23AAFD-1274-476B-AACC-84CB3D748753}" presName="vert1" presStyleCnt="0"/>
      <dgm:spPr/>
    </dgm:pt>
  </dgm:ptLst>
  <dgm:cxnLst>
    <dgm:cxn modelId="{90FB5C04-9E8F-4AB2-A12A-09F04BDF65BC}" srcId="{6A5E5F0D-DFA5-410A-B668-564FD0E62077}" destId="{5F23AAFD-1274-476B-AACC-84CB3D748753}" srcOrd="2" destOrd="0" parTransId="{E3BA056D-DC59-40BE-B097-1DE8E19E7A63}" sibTransId="{89E6CEA1-FE79-49BC-9A55-4FA1ADFD9456}"/>
    <dgm:cxn modelId="{5444F23B-0066-4D99-9A4E-2ABDA784ECFB}" srcId="{6A5E5F0D-DFA5-410A-B668-564FD0E62077}" destId="{4CBEC724-6D7C-4CE9-929A-35F7E85AC7E8}" srcOrd="0" destOrd="0" parTransId="{6C6F98DB-B3F4-4CFC-9DE2-EF63A7971D26}" sibTransId="{028755E5-F622-477E-B092-2BA84973B69D}"/>
    <dgm:cxn modelId="{9C54E75B-D3A2-4EC6-BF2F-6C3A4FBD3D41}" type="presOf" srcId="{C6D5297D-15A1-431E-B8CD-7AE68605F66C}" destId="{E83FD4C6-2BCD-40FA-98FD-F64B6819C55B}" srcOrd="0" destOrd="0" presId="urn:microsoft.com/office/officeart/2008/layout/LinedList"/>
    <dgm:cxn modelId="{40FAC944-0ABF-43A6-A4D2-F2FCB9E1F0C6}" type="presOf" srcId="{5F23AAFD-1274-476B-AACC-84CB3D748753}" destId="{A1F42BF9-5FDF-4601-9424-49A6BBC0FA33}" srcOrd="0" destOrd="0" presId="urn:microsoft.com/office/officeart/2008/layout/LinedList"/>
    <dgm:cxn modelId="{A893AFA5-B316-4A72-8FD8-40DDE4C20BE3}" type="presOf" srcId="{4CBEC724-6D7C-4CE9-929A-35F7E85AC7E8}" destId="{8CBC966F-C8B4-4DD4-85BE-0684B49C29E4}" srcOrd="0" destOrd="0" presId="urn:microsoft.com/office/officeart/2008/layout/LinedList"/>
    <dgm:cxn modelId="{43A9EDCF-FD39-48B2-A4F3-10884BE4E033}" srcId="{6A5E5F0D-DFA5-410A-B668-564FD0E62077}" destId="{C6D5297D-15A1-431E-B8CD-7AE68605F66C}" srcOrd="1" destOrd="0" parTransId="{716E0DC9-BDD0-4C34-8121-53B257790D97}" sibTransId="{441800AE-083D-45E2-B109-E1CBE091F7B8}"/>
    <dgm:cxn modelId="{36BA8AD4-FC21-429E-8495-F4CD83375807}" type="presOf" srcId="{6A5E5F0D-DFA5-410A-B668-564FD0E62077}" destId="{463580A6-1D26-4377-8C3C-F48DDFEE3E28}" srcOrd="0" destOrd="0" presId="urn:microsoft.com/office/officeart/2008/layout/LinedList"/>
    <dgm:cxn modelId="{66FC8E71-DEB1-44D2-8FC2-358394FDAA35}" type="presParOf" srcId="{463580A6-1D26-4377-8C3C-F48DDFEE3E28}" destId="{718BC060-EB42-4FDD-8133-9796B977C39B}" srcOrd="0" destOrd="0" presId="urn:microsoft.com/office/officeart/2008/layout/LinedList"/>
    <dgm:cxn modelId="{7E8D7F52-E9F8-4F6D-A327-9B8C9DB20EC0}" type="presParOf" srcId="{463580A6-1D26-4377-8C3C-F48DDFEE3E28}" destId="{73776A00-96FE-4324-942C-77A4912E88AC}" srcOrd="1" destOrd="0" presId="urn:microsoft.com/office/officeart/2008/layout/LinedList"/>
    <dgm:cxn modelId="{E82B000D-4470-4980-842F-87A35D5BD324}" type="presParOf" srcId="{73776A00-96FE-4324-942C-77A4912E88AC}" destId="{8CBC966F-C8B4-4DD4-85BE-0684B49C29E4}" srcOrd="0" destOrd="0" presId="urn:microsoft.com/office/officeart/2008/layout/LinedList"/>
    <dgm:cxn modelId="{FA9B6B2D-C35F-4B65-BC48-54CE932DAC4D}" type="presParOf" srcId="{73776A00-96FE-4324-942C-77A4912E88AC}" destId="{98E15FC0-93F9-45A0-A9D2-BF96E3AC453B}" srcOrd="1" destOrd="0" presId="urn:microsoft.com/office/officeart/2008/layout/LinedList"/>
    <dgm:cxn modelId="{59A1C217-CA82-4191-A4DE-FEB35F36D246}" type="presParOf" srcId="{463580A6-1D26-4377-8C3C-F48DDFEE3E28}" destId="{1814189E-5081-4EFF-AB6B-6293E5BBE06A}" srcOrd="2" destOrd="0" presId="urn:microsoft.com/office/officeart/2008/layout/LinedList"/>
    <dgm:cxn modelId="{010F784F-B4B9-4067-AE2F-828C21CBD980}" type="presParOf" srcId="{463580A6-1D26-4377-8C3C-F48DDFEE3E28}" destId="{B2E23E6E-DBA7-4066-8FAA-D5A00662F454}" srcOrd="3" destOrd="0" presId="urn:microsoft.com/office/officeart/2008/layout/LinedList"/>
    <dgm:cxn modelId="{AC792E1C-2AE6-4E7A-AD08-AAE943335F46}" type="presParOf" srcId="{B2E23E6E-DBA7-4066-8FAA-D5A00662F454}" destId="{E83FD4C6-2BCD-40FA-98FD-F64B6819C55B}" srcOrd="0" destOrd="0" presId="urn:microsoft.com/office/officeart/2008/layout/LinedList"/>
    <dgm:cxn modelId="{04D57CC5-B9DC-4D60-8E4C-F1C0D74C3A42}" type="presParOf" srcId="{B2E23E6E-DBA7-4066-8FAA-D5A00662F454}" destId="{50DF6181-9688-4424-8452-595FB61C3563}" srcOrd="1" destOrd="0" presId="urn:microsoft.com/office/officeart/2008/layout/LinedList"/>
    <dgm:cxn modelId="{FB91691C-0AF2-4F0B-AB41-D927AF981F9B}" type="presParOf" srcId="{463580A6-1D26-4377-8C3C-F48DDFEE3E28}" destId="{D7D12F3D-24B5-4A0B-B552-358332891ADC}" srcOrd="4" destOrd="0" presId="urn:microsoft.com/office/officeart/2008/layout/LinedList"/>
    <dgm:cxn modelId="{69C0A1D4-EBBD-4986-896D-0C29C641152E}" type="presParOf" srcId="{463580A6-1D26-4377-8C3C-F48DDFEE3E28}" destId="{01B712D6-2826-4434-9A0B-E63C46AFA64C}" srcOrd="5" destOrd="0" presId="urn:microsoft.com/office/officeart/2008/layout/LinedList"/>
    <dgm:cxn modelId="{1841592D-E47F-483B-BBF5-A5F34485D02E}" type="presParOf" srcId="{01B712D6-2826-4434-9A0B-E63C46AFA64C}" destId="{A1F42BF9-5FDF-4601-9424-49A6BBC0FA33}" srcOrd="0" destOrd="0" presId="urn:microsoft.com/office/officeart/2008/layout/LinedList"/>
    <dgm:cxn modelId="{9B1BE41F-9D3C-4BE1-90E9-7B55027AD997}" type="presParOf" srcId="{01B712D6-2826-4434-9A0B-E63C46AFA64C}" destId="{29F6A6B7-9C28-4A36-8933-9E43BC4FEAAA}" srcOrd="1"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F4F878-4DA2-4141-A916-B0CDB1AC5108}"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9C226C09-543F-4AAB-A5DD-1B9147F31EED}">
      <dgm:prSet phldrT="[Text]"/>
      <dgm:spPr>
        <a:solidFill>
          <a:srgbClr val="C00000"/>
        </a:solidFill>
      </dgm:spPr>
      <dgm:t>
        <a:bodyPr/>
        <a:lstStyle/>
        <a:p>
          <a:r>
            <a:rPr lang="en-US"/>
            <a:t>Core Migrate &amp; Modernize Pre-Sales (Assessment and POV) </a:t>
          </a:r>
        </a:p>
      </dgm:t>
    </dgm:pt>
    <dgm:pt modelId="{204BCFD5-BCB4-40C0-8678-D86A4191C1C7}" type="parTrans" cxnId="{CF4BCC75-4E06-47CA-A2C5-79C7D432E01C}">
      <dgm:prSet/>
      <dgm:spPr/>
      <dgm:t>
        <a:bodyPr/>
        <a:lstStyle/>
        <a:p>
          <a:endParaRPr lang="en-US"/>
        </a:p>
      </dgm:t>
    </dgm:pt>
    <dgm:pt modelId="{DC6A9504-3B1D-4D4B-8B97-3A780E9E2A13}" type="sibTrans" cxnId="{CF4BCC75-4E06-47CA-A2C5-79C7D432E01C}">
      <dgm:prSet/>
      <dgm:spPr>
        <a:solidFill>
          <a:schemeClr val="tx1"/>
        </a:solidFill>
      </dgm:spPr>
      <dgm:t>
        <a:bodyPr/>
        <a:lstStyle/>
        <a:p>
          <a:endParaRPr lang="en-US"/>
        </a:p>
      </dgm:t>
    </dgm:pt>
    <dgm:pt modelId="{279EF356-4B2C-4176-840F-97031156CF6E}">
      <dgm:prSet phldrT="[Text]"/>
      <dgm:spPr>
        <a:solidFill>
          <a:schemeClr val="tx2"/>
        </a:solidFill>
      </dgm:spPr>
      <dgm:t>
        <a:bodyPr/>
        <a:lstStyle/>
        <a:p>
          <a:r>
            <a:rPr lang="en-US"/>
            <a:t>Core Migrate &amp; Modernize</a:t>
          </a:r>
        </a:p>
      </dgm:t>
    </dgm:pt>
    <dgm:pt modelId="{EDD1783D-23F8-40FA-A7D5-926475DC8023}" type="parTrans" cxnId="{755802DA-2797-4B16-B934-44B77705060B}">
      <dgm:prSet/>
      <dgm:spPr/>
      <dgm:t>
        <a:bodyPr/>
        <a:lstStyle/>
        <a:p>
          <a:endParaRPr lang="en-US"/>
        </a:p>
      </dgm:t>
    </dgm:pt>
    <dgm:pt modelId="{9D016693-B0B4-41D2-BBB1-0E9CAADBC1A8}" type="sibTrans" cxnId="{755802DA-2797-4B16-B934-44B77705060B}">
      <dgm:prSet/>
      <dgm:spPr/>
      <dgm:t>
        <a:bodyPr/>
        <a:lstStyle/>
        <a:p>
          <a:endParaRPr lang="en-US"/>
        </a:p>
      </dgm:t>
    </dgm:pt>
    <dgm:pt modelId="{2D6EA357-72B8-4507-AB05-EBEC7135BC7C}" type="pres">
      <dgm:prSet presAssocID="{CEF4F878-4DA2-4141-A916-B0CDB1AC5108}" presName="Name0" presStyleCnt="0">
        <dgm:presLayoutVars>
          <dgm:dir/>
          <dgm:resizeHandles val="exact"/>
        </dgm:presLayoutVars>
      </dgm:prSet>
      <dgm:spPr/>
    </dgm:pt>
    <dgm:pt modelId="{9CAA7BFC-FF44-4868-BCB7-FC4A18230475}" type="pres">
      <dgm:prSet presAssocID="{9C226C09-543F-4AAB-A5DD-1B9147F31EED}" presName="node" presStyleLbl="node1" presStyleIdx="0" presStyleCnt="2">
        <dgm:presLayoutVars>
          <dgm:bulletEnabled val="1"/>
        </dgm:presLayoutVars>
      </dgm:prSet>
      <dgm:spPr/>
    </dgm:pt>
    <dgm:pt modelId="{E62E6636-1EA7-4907-90A3-74B4C34A43F0}" type="pres">
      <dgm:prSet presAssocID="{DC6A9504-3B1D-4D4B-8B97-3A780E9E2A13}" presName="sibTrans" presStyleLbl="sibTrans2D1" presStyleIdx="0" presStyleCnt="1"/>
      <dgm:spPr/>
    </dgm:pt>
    <dgm:pt modelId="{17AE0656-ADD5-4361-B349-6DD9D127C4BE}" type="pres">
      <dgm:prSet presAssocID="{DC6A9504-3B1D-4D4B-8B97-3A780E9E2A13}" presName="connectorText" presStyleLbl="sibTrans2D1" presStyleIdx="0" presStyleCnt="1"/>
      <dgm:spPr/>
    </dgm:pt>
    <dgm:pt modelId="{4CD41805-ED22-483E-AFFE-88112A80C869}" type="pres">
      <dgm:prSet presAssocID="{279EF356-4B2C-4176-840F-97031156CF6E}" presName="node" presStyleLbl="node1" presStyleIdx="1" presStyleCnt="2" custLinFactNeighborY="1668">
        <dgm:presLayoutVars>
          <dgm:bulletEnabled val="1"/>
        </dgm:presLayoutVars>
      </dgm:prSet>
      <dgm:spPr/>
    </dgm:pt>
  </dgm:ptLst>
  <dgm:cxnLst>
    <dgm:cxn modelId="{BBF05B00-2AD7-4D31-B672-8A1E2A904C6B}" type="presOf" srcId="{DC6A9504-3B1D-4D4B-8B97-3A780E9E2A13}" destId="{17AE0656-ADD5-4361-B349-6DD9D127C4BE}" srcOrd="1" destOrd="0" presId="urn:microsoft.com/office/officeart/2005/8/layout/process1"/>
    <dgm:cxn modelId="{F64A7609-C321-4106-A014-F5D5171D566D}" type="presOf" srcId="{279EF356-4B2C-4176-840F-97031156CF6E}" destId="{4CD41805-ED22-483E-AFFE-88112A80C869}" srcOrd="0" destOrd="0" presId="urn:microsoft.com/office/officeart/2005/8/layout/process1"/>
    <dgm:cxn modelId="{5170D810-9191-4564-A81F-2D54093F5A27}" type="presOf" srcId="{DC6A9504-3B1D-4D4B-8B97-3A780E9E2A13}" destId="{E62E6636-1EA7-4907-90A3-74B4C34A43F0}" srcOrd="0" destOrd="0" presId="urn:microsoft.com/office/officeart/2005/8/layout/process1"/>
    <dgm:cxn modelId="{CF4BCC75-4E06-47CA-A2C5-79C7D432E01C}" srcId="{CEF4F878-4DA2-4141-A916-B0CDB1AC5108}" destId="{9C226C09-543F-4AAB-A5DD-1B9147F31EED}" srcOrd="0" destOrd="0" parTransId="{204BCFD5-BCB4-40C0-8678-D86A4191C1C7}" sibTransId="{DC6A9504-3B1D-4D4B-8B97-3A780E9E2A13}"/>
    <dgm:cxn modelId="{FD10808F-557B-4064-A8C4-88E794D23711}" type="presOf" srcId="{CEF4F878-4DA2-4141-A916-B0CDB1AC5108}" destId="{2D6EA357-72B8-4507-AB05-EBEC7135BC7C}" srcOrd="0" destOrd="0" presId="urn:microsoft.com/office/officeart/2005/8/layout/process1"/>
    <dgm:cxn modelId="{755802DA-2797-4B16-B934-44B77705060B}" srcId="{CEF4F878-4DA2-4141-A916-B0CDB1AC5108}" destId="{279EF356-4B2C-4176-840F-97031156CF6E}" srcOrd="1" destOrd="0" parTransId="{EDD1783D-23F8-40FA-A7D5-926475DC8023}" sibTransId="{9D016693-B0B4-41D2-BBB1-0E9CAADBC1A8}"/>
    <dgm:cxn modelId="{A9C835E9-F775-4200-9C87-276A011964BA}" type="presOf" srcId="{9C226C09-543F-4AAB-A5DD-1B9147F31EED}" destId="{9CAA7BFC-FF44-4868-BCB7-FC4A18230475}" srcOrd="0" destOrd="0" presId="urn:microsoft.com/office/officeart/2005/8/layout/process1"/>
    <dgm:cxn modelId="{86068011-160A-431D-843E-DC83CB6BE992}" type="presParOf" srcId="{2D6EA357-72B8-4507-AB05-EBEC7135BC7C}" destId="{9CAA7BFC-FF44-4868-BCB7-FC4A18230475}" srcOrd="0" destOrd="0" presId="urn:microsoft.com/office/officeart/2005/8/layout/process1"/>
    <dgm:cxn modelId="{CB111A8F-CEF2-4323-B912-BB6C22527ABB}" type="presParOf" srcId="{2D6EA357-72B8-4507-AB05-EBEC7135BC7C}" destId="{E62E6636-1EA7-4907-90A3-74B4C34A43F0}" srcOrd="1" destOrd="0" presId="urn:microsoft.com/office/officeart/2005/8/layout/process1"/>
    <dgm:cxn modelId="{10E50464-B599-452E-9C22-F66C3A5A9E4D}" type="presParOf" srcId="{E62E6636-1EA7-4907-90A3-74B4C34A43F0}" destId="{17AE0656-ADD5-4361-B349-6DD9D127C4BE}" srcOrd="0" destOrd="0" presId="urn:microsoft.com/office/officeart/2005/8/layout/process1"/>
    <dgm:cxn modelId="{785DA35B-D9B1-4320-887A-697FDFC66F69}" type="presParOf" srcId="{2D6EA357-72B8-4507-AB05-EBEC7135BC7C}" destId="{4CD41805-ED22-483E-AFFE-88112A80C869}"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EF4F878-4DA2-4141-A916-B0CDB1AC5108}" type="doc">
      <dgm:prSet loTypeId="urn:microsoft.com/office/officeart/2005/8/layout/process1" loCatId="process" qsTypeId="urn:microsoft.com/office/officeart/2005/8/quickstyle/simple1" qsCatId="simple" csTypeId="urn:microsoft.com/office/officeart/2005/8/colors/accent1_2" csCatId="accent1" phldr="1"/>
      <dgm:spPr/>
    </dgm:pt>
    <dgm:pt modelId="{9C226C09-543F-4AAB-A5DD-1B9147F31EED}">
      <dgm:prSet phldrT="[Text]"/>
      <dgm:spPr>
        <a:solidFill>
          <a:srgbClr val="C00000"/>
        </a:solidFill>
      </dgm:spPr>
      <dgm:t>
        <a:bodyPr/>
        <a:lstStyle/>
        <a:p>
          <a:r>
            <a:rPr lang="en-US" dirty="0"/>
            <a:t>Data Platform Pre-Sales (Assessment and POV)</a:t>
          </a:r>
        </a:p>
      </dgm:t>
    </dgm:pt>
    <dgm:pt modelId="{204BCFD5-BCB4-40C0-8678-D86A4191C1C7}" type="parTrans" cxnId="{CF4BCC75-4E06-47CA-A2C5-79C7D432E01C}">
      <dgm:prSet/>
      <dgm:spPr/>
      <dgm:t>
        <a:bodyPr/>
        <a:lstStyle/>
        <a:p>
          <a:endParaRPr lang="en-US"/>
        </a:p>
      </dgm:t>
    </dgm:pt>
    <dgm:pt modelId="{DC6A9504-3B1D-4D4B-8B97-3A780E9E2A13}" type="sibTrans" cxnId="{CF4BCC75-4E06-47CA-A2C5-79C7D432E01C}">
      <dgm:prSet/>
      <dgm:spPr>
        <a:solidFill>
          <a:schemeClr val="tx1"/>
        </a:solidFill>
      </dgm:spPr>
      <dgm:t>
        <a:bodyPr/>
        <a:lstStyle/>
        <a:p>
          <a:endParaRPr lang="en-US"/>
        </a:p>
      </dgm:t>
    </dgm:pt>
    <dgm:pt modelId="{279EF356-4B2C-4176-840F-97031156CF6E}">
      <dgm:prSet phldrT="[Text]"/>
      <dgm:spPr>
        <a:solidFill>
          <a:srgbClr val="FF0000"/>
        </a:solidFill>
      </dgm:spPr>
      <dgm:t>
        <a:bodyPr/>
        <a:lstStyle/>
        <a:p>
          <a:r>
            <a:rPr lang="en-US"/>
            <a:t>Data Platform</a:t>
          </a:r>
        </a:p>
      </dgm:t>
    </dgm:pt>
    <dgm:pt modelId="{EDD1783D-23F8-40FA-A7D5-926475DC8023}" type="parTrans" cxnId="{755802DA-2797-4B16-B934-44B77705060B}">
      <dgm:prSet/>
      <dgm:spPr/>
      <dgm:t>
        <a:bodyPr/>
        <a:lstStyle/>
        <a:p>
          <a:endParaRPr lang="en-US"/>
        </a:p>
      </dgm:t>
    </dgm:pt>
    <dgm:pt modelId="{9D016693-B0B4-41D2-BBB1-0E9CAADBC1A8}" type="sibTrans" cxnId="{755802DA-2797-4B16-B934-44B77705060B}">
      <dgm:prSet/>
      <dgm:spPr/>
      <dgm:t>
        <a:bodyPr/>
        <a:lstStyle/>
        <a:p>
          <a:endParaRPr lang="en-US"/>
        </a:p>
      </dgm:t>
    </dgm:pt>
    <dgm:pt modelId="{2D6EA357-72B8-4507-AB05-EBEC7135BC7C}" type="pres">
      <dgm:prSet presAssocID="{CEF4F878-4DA2-4141-A916-B0CDB1AC5108}" presName="Name0" presStyleCnt="0">
        <dgm:presLayoutVars>
          <dgm:dir/>
          <dgm:resizeHandles val="exact"/>
        </dgm:presLayoutVars>
      </dgm:prSet>
      <dgm:spPr/>
    </dgm:pt>
    <dgm:pt modelId="{9CAA7BFC-FF44-4868-BCB7-FC4A18230475}" type="pres">
      <dgm:prSet presAssocID="{9C226C09-543F-4AAB-A5DD-1B9147F31EED}" presName="node" presStyleLbl="node1" presStyleIdx="0" presStyleCnt="2">
        <dgm:presLayoutVars>
          <dgm:bulletEnabled val="1"/>
        </dgm:presLayoutVars>
      </dgm:prSet>
      <dgm:spPr/>
    </dgm:pt>
    <dgm:pt modelId="{E62E6636-1EA7-4907-90A3-74B4C34A43F0}" type="pres">
      <dgm:prSet presAssocID="{DC6A9504-3B1D-4D4B-8B97-3A780E9E2A13}" presName="sibTrans" presStyleLbl="sibTrans2D1" presStyleIdx="0" presStyleCnt="1"/>
      <dgm:spPr/>
    </dgm:pt>
    <dgm:pt modelId="{17AE0656-ADD5-4361-B349-6DD9D127C4BE}" type="pres">
      <dgm:prSet presAssocID="{DC6A9504-3B1D-4D4B-8B97-3A780E9E2A13}" presName="connectorText" presStyleLbl="sibTrans2D1" presStyleIdx="0" presStyleCnt="1"/>
      <dgm:spPr/>
    </dgm:pt>
    <dgm:pt modelId="{4CD41805-ED22-483E-AFFE-88112A80C869}" type="pres">
      <dgm:prSet presAssocID="{279EF356-4B2C-4176-840F-97031156CF6E}" presName="node" presStyleLbl="node1" presStyleIdx="1" presStyleCnt="2">
        <dgm:presLayoutVars>
          <dgm:bulletEnabled val="1"/>
        </dgm:presLayoutVars>
      </dgm:prSet>
      <dgm:spPr/>
    </dgm:pt>
  </dgm:ptLst>
  <dgm:cxnLst>
    <dgm:cxn modelId="{BBF05B00-2AD7-4D31-B672-8A1E2A904C6B}" type="presOf" srcId="{DC6A9504-3B1D-4D4B-8B97-3A780E9E2A13}" destId="{17AE0656-ADD5-4361-B349-6DD9D127C4BE}" srcOrd="1" destOrd="0" presId="urn:microsoft.com/office/officeart/2005/8/layout/process1"/>
    <dgm:cxn modelId="{F64A7609-C321-4106-A014-F5D5171D566D}" type="presOf" srcId="{279EF356-4B2C-4176-840F-97031156CF6E}" destId="{4CD41805-ED22-483E-AFFE-88112A80C869}" srcOrd="0" destOrd="0" presId="urn:microsoft.com/office/officeart/2005/8/layout/process1"/>
    <dgm:cxn modelId="{5170D810-9191-4564-A81F-2D54093F5A27}" type="presOf" srcId="{DC6A9504-3B1D-4D4B-8B97-3A780E9E2A13}" destId="{E62E6636-1EA7-4907-90A3-74B4C34A43F0}" srcOrd="0" destOrd="0" presId="urn:microsoft.com/office/officeart/2005/8/layout/process1"/>
    <dgm:cxn modelId="{CF4BCC75-4E06-47CA-A2C5-79C7D432E01C}" srcId="{CEF4F878-4DA2-4141-A916-B0CDB1AC5108}" destId="{9C226C09-543F-4AAB-A5DD-1B9147F31EED}" srcOrd="0" destOrd="0" parTransId="{204BCFD5-BCB4-40C0-8678-D86A4191C1C7}" sibTransId="{DC6A9504-3B1D-4D4B-8B97-3A780E9E2A13}"/>
    <dgm:cxn modelId="{FD10808F-557B-4064-A8C4-88E794D23711}" type="presOf" srcId="{CEF4F878-4DA2-4141-A916-B0CDB1AC5108}" destId="{2D6EA357-72B8-4507-AB05-EBEC7135BC7C}" srcOrd="0" destOrd="0" presId="urn:microsoft.com/office/officeart/2005/8/layout/process1"/>
    <dgm:cxn modelId="{755802DA-2797-4B16-B934-44B77705060B}" srcId="{CEF4F878-4DA2-4141-A916-B0CDB1AC5108}" destId="{279EF356-4B2C-4176-840F-97031156CF6E}" srcOrd="1" destOrd="0" parTransId="{EDD1783D-23F8-40FA-A7D5-926475DC8023}" sibTransId="{9D016693-B0B4-41D2-BBB1-0E9CAADBC1A8}"/>
    <dgm:cxn modelId="{A9C835E9-F775-4200-9C87-276A011964BA}" type="presOf" srcId="{9C226C09-543F-4AAB-A5DD-1B9147F31EED}" destId="{9CAA7BFC-FF44-4868-BCB7-FC4A18230475}" srcOrd="0" destOrd="0" presId="urn:microsoft.com/office/officeart/2005/8/layout/process1"/>
    <dgm:cxn modelId="{86068011-160A-431D-843E-DC83CB6BE992}" type="presParOf" srcId="{2D6EA357-72B8-4507-AB05-EBEC7135BC7C}" destId="{9CAA7BFC-FF44-4868-BCB7-FC4A18230475}" srcOrd="0" destOrd="0" presId="urn:microsoft.com/office/officeart/2005/8/layout/process1"/>
    <dgm:cxn modelId="{CB111A8F-CEF2-4323-B912-BB6C22527ABB}" type="presParOf" srcId="{2D6EA357-72B8-4507-AB05-EBEC7135BC7C}" destId="{E62E6636-1EA7-4907-90A3-74B4C34A43F0}" srcOrd="1" destOrd="0" presId="urn:microsoft.com/office/officeart/2005/8/layout/process1"/>
    <dgm:cxn modelId="{10E50464-B599-452E-9C22-F66C3A5A9E4D}" type="presParOf" srcId="{E62E6636-1EA7-4907-90A3-74B4C34A43F0}" destId="{17AE0656-ADD5-4361-B349-6DD9D127C4BE}" srcOrd="0" destOrd="0" presId="urn:microsoft.com/office/officeart/2005/8/layout/process1"/>
    <dgm:cxn modelId="{785DA35B-D9B1-4320-887A-697FDFC66F69}" type="presParOf" srcId="{2D6EA357-72B8-4507-AB05-EBEC7135BC7C}" destId="{4CD41805-ED22-483E-AFFE-88112A80C869}" srcOrd="2"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EF4F878-4DA2-4141-A916-B0CDB1AC5108}"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9C226C09-543F-4AAB-A5DD-1B9147F31EED}">
      <dgm:prSet phldrT="[Text]"/>
      <dgm:spPr>
        <a:solidFill>
          <a:srgbClr val="C00000"/>
        </a:solidFill>
      </dgm:spPr>
      <dgm:t>
        <a:bodyPr/>
        <a:lstStyle/>
        <a:p>
          <a:r>
            <a:rPr lang="en-US"/>
            <a:t>AI Apps, Agents and Developer Pre-Sales (Assessment and POV)</a:t>
          </a:r>
        </a:p>
      </dgm:t>
    </dgm:pt>
    <dgm:pt modelId="{204BCFD5-BCB4-40C0-8678-D86A4191C1C7}" type="parTrans" cxnId="{CF4BCC75-4E06-47CA-A2C5-79C7D432E01C}">
      <dgm:prSet/>
      <dgm:spPr/>
      <dgm:t>
        <a:bodyPr/>
        <a:lstStyle/>
        <a:p>
          <a:endParaRPr lang="en-US"/>
        </a:p>
      </dgm:t>
    </dgm:pt>
    <dgm:pt modelId="{DC6A9504-3B1D-4D4B-8B97-3A780E9E2A13}" type="sibTrans" cxnId="{CF4BCC75-4E06-47CA-A2C5-79C7D432E01C}">
      <dgm:prSet/>
      <dgm:spPr>
        <a:solidFill>
          <a:schemeClr val="tx1"/>
        </a:solidFill>
      </dgm:spPr>
      <dgm:t>
        <a:bodyPr/>
        <a:lstStyle/>
        <a:p>
          <a:endParaRPr lang="en-US"/>
        </a:p>
      </dgm:t>
    </dgm:pt>
    <dgm:pt modelId="{279EF356-4B2C-4176-840F-97031156CF6E}">
      <dgm:prSet phldrT="[Text]"/>
      <dgm:spPr>
        <a:solidFill>
          <a:srgbClr val="FF0000"/>
        </a:solidFill>
      </dgm:spPr>
      <dgm:t>
        <a:bodyPr/>
        <a:lstStyle/>
        <a:p>
          <a:r>
            <a:rPr lang="en-US"/>
            <a:t>AI Apps, Agents and Developer</a:t>
          </a:r>
        </a:p>
      </dgm:t>
    </dgm:pt>
    <dgm:pt modelId="{EDD1783D-23F8-40FA-A7D5-926475DC8023}" type="parTrans" cxnId="{755802DA-2797-4B16-B934-44B77705060B}">
      <dgm:prSet/>
      <dgm:spPr/>
      <dgm:t>
        <a:bodyPr/>
        <a:lstStyle/>
        <a:p>
          <a:endParaRPr lang="en-US"/>
        </a:p>
      </dgm:t>
    </dgm:pt>
    <dgm:pt modelId="{9D016693-B0B4-41D2-BBB1-0E9CAADBC1A8}" type="sibTrans" cxnId="{755802DA-2797-4B16-B934-44B77705060B}">
      <dgm:prSet/>
      <dgm:spPr/>
      <dgm:t>
        <a:bodyPr/>
        <a:lstStyle/>
        <a:p>
          <a:endParaRPr lang="en-US"/>
        </a:p>
      </dgm:t>
    </dgm:pt>
    <dgm:pt modelId="{2D6EA357-72B8-4507-AB05-EBEC7135BC7C}" type="pres">
      <dgm:prSet presAssocID="{CEF4F878-4DA2-4141-A916-B0CDB1AC5108}" presName="Name0" presStyleCnt="0">
        <dgm:presLayoutVars>
          <dgm:dir/>
          <dgm:resizeHandles val="exact"/>
        </dgm:presLayoutVars>
      </dgm:prSet>
      <dgm:spPr/>
    </dgm:pt>
    <dgm:pt modelId="{9CAA7BFC-FF44-4868-BCB7-FC4A18230475}" type="pres">
      <dgm:prSet presAssocID="{9C226C09-543F-4AAB-A5DD-1B9147F31EED}" presName="node" presStyleLbl="node1" presStyleIdx="0" presStyleCnt="2">
        <dgm:presLayoutVars>
          <dgm:bulletEnabled val="1"/>
        </dgm:presLayoutVars>
      </dgm:prSet>
      <dgm:spPr/>
    </dgm:pt>
    <dgm:pt modelId="{E62E6636-1EA7-4907-90A3-74B4C34A43F0}" type="pres">
      <dgm:prSet presAssocID="{DC6A9504-3B1D-4D4B-8B97-3A780E9E2A13}" presName="sibTrans" presStyleLbl="sibTrans2D1" presStyleIdx="0" presStyleCnt="1"/>
      <dgm:spPr/>
    </dgm:pt>
    <dgm:pt modelId="{17AE0656-ADD5-4361-B349-6DD9D127C4BE}" type="pres">
      <dgm:prSet presAssocID="{DC6A9504-3B1D-4D4B-8B97-3A780E9E2A13}" presName="connectorText" presStyleLbl="sibTrans2D1" presStyleIdx="0" presStyleCnt="1"/>
      <dgm:spPr/>
    </dgm:pt>
    <dgm:pt modelId="{4CD41805-ED22-483E-AFFE-88112A80C869}" type="pres">
      <dgm:prSet presAssocID="{279EF356-4B2C-4176-840F-97031156CF6E}" presName="node" presStyleLbl="node1" presStyleIdx="1" presStyleCnt="2">
        <dgm:presLayoutVars>
          <dgm:bulletEnabled val="1"/>
        </dgm:presLayoutVars>
      </dgm:prSet>
      <dgm:spPr/>
    </dgm:pt>
  </dgm:ptLst>
  <dgm:cxnLst>
    <dgm:cxn modelId="{BBF05B00-2AD7-4D31-B672-8A1E2A904C6B}" type="presOf" srcId="{DC6A9504-3B1D-4D4B-8B97-3A780E9E2A13}" destId="{17AE0656-ADD5-4361-B349-6DD9D127C4BE}" srcOrd="1" destOrd="0" presId="urn:microsoft.com/office/officeart/2005/8/layout/process1"/>
    <dgm:cxn modelId="{F64A7609-C321-4106-A014-F5D5171D566D}" type="presOf" srcId="{279EF356-4B2C-4176-840F-97031156CF6E}" destId="{4CD41805-ED22-483E-AFFE-88112A80C869}" srcOrd="0" destOrd="0" presId="urn:microsoft.com/office/officeart/2005/8/layout/process1"/>
    <dgm:cxn modelId="{5170D810-9191-4564-A81F-2D54093F5A27}" type="presOf" srcId="{DC6A9504-3B1D-4D4B-8B97-3A780E9E2A13}" destId="{E62E6636-1EA7-4907-90A3-74B4C34A43F0}" srcOrd="0" destOrd="0" presId="urn:microsoft.com/office/officeart/2005/8/layout/process1"/>
    <dgm:cxn modelId="{CF4BCC75-4E06-47CA-A2C5-79C7D432E01C}" srcId="{CEF4F878-4DA2-4141-A916-B0CDB1AC5108}" destId="{9C226C09-543F-4AAB-A5DD-1B9147F31EED}" srcOrd="0" destOrd="0" parTransId="{204BCFD5-BCB4-40C0-8678-D86A4191C1C7}" sibTransId="{DC6A9504-3B1D-4D4B-8B97-3A780E9E2A13}"/>
    <dgm:cxn modelId="{FD10808F-557B-4064-A8C4-88E794D23711}" type="presOf" srcId="{CEF4F878-4DA2-4141-A916-B0CDB1AC5108}" destId="{2D6EA357-72B8-4507-AB05-EBEC7135BC7C}" srcOrd="0" destOrd="0" presId="urn:microsoft.com/office/officeart/2005/8/layout/process1"/>
    <dgm:cxn modelId="{755802DA-2797-4B16-B934-44B77705060B}" srcId="{CEF4F878-4DA2-4141-A916-B0CDB1AC5108}" destId="{279EF356-4B2C-4176-840F-97031156CF6E}" srcOrd="1" destOrd="0" parTransId="{EDD1783D-23F8-40FA-A7D5-926475DC8023}" sibTransId="{9D016693-B0B4-41D2-BBB1-0E9CAADBC1A8}"/>
    <dgm:cxn modelId="{A9C835E9-F775-4200-9C87-276A011964BA}" type="presOf" srcId="{9C226C09-543F-4AAB-A5DD-1B9147F31EED}" destId="{9CAA7BFC-FF44-4868-BCB7-FC4A18230475}" srcOrd="0" destOrd="0" presId="urn:microsoft.com/office/officeart/2005/8/layout/process1"/>
    <dgm:cxn modelId="{86068011-160A-431D-843E-DC83CB6BE992}" type="presParOf" srcId="{2D6EA357-72B8-4507-AB05-EBEC7135BC7C}" destId="{9CAA7BFC-FF44-4868-BCB7-FC4A18230475}" srcOrd="0" destOrd="0" presId="urn:microsoft.com/office/officeart/2005/8/layout/process1"/>
    <dgm:cxn modelId="{CB111A8F-CEF2-4323-B912-BB6C22527ABB}" type="presParOf" srcId="{2D6EA357-72B8-4507-AB05-EBEC7135BC7C}" destId="{E62E6636-1EA7-4907-90A3-74B4C34A43F0}" srcOrd="1" destOrd="0" presId="urn:microsoft.com/office/officeart/2005/8/layout/process1"/>
    <dgm:cxn modelId="{10E50464-B599-452E-9C22-F66C3A5A9E4D}" type="presParOf" srcId="{E62E6636-1EA7-4907-90A3-74B4C34A43F0}" destId="{17AE0656-ADD5-4361-B349-6DD9D127C4BE}" srcOrd="0" destOrd="0" presId="urn:microsoft.com/office/officeart/2005/8/layout/process1"/>
    <dgm:cxn modelId="{785DA35B-D9B1-4320-887A-697FDFC66F69}" type="presParOf" srcId="{2D6EA357-72B8-4507-AB05-EBEC7135BC7C}" destId="{4CD41805-ED22-483E-AFFE-88112A80C869}" srcOrd="2"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8BC060-EB42-4FDD-8133-9796B977C39B}">
      <dsp:nvSpPr>
        <dsp:cNvPr id="0" name=""/>
        <dsp:cNvSpPr/>
      </dsp:nvSpPr>
      <dsp:spPr>
        <a:xfrm>
          <a:off x="0" y="4882"/>
          <a:ext cx="100000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BC966F-C8B4-4DD4-85BE-0684B49C29E4}">
      <dsp:nvSpPr>
        <dsp:cNvPr id="0" name=""/>
        <dsp:cNvSpPr/>
      </dsp:nvSpPr>
      <dsp:spPr>
        <a:xfrm>
          <a:off x="0" y="4882"/>
          <a:ext cx="10000000" cy="3330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6220" tIns="236220" rIns="236220" bIns="236220" numCol="1" spcCol="1270" anchor="t" anchorCtr="0">
          <a:noAutofit/>
        </a:bodyPr>
        <a:lstStyle/>
        <a:p>
          <a:pPr marL="0" lvl="0" indent="0" algn="l" defTabSz="2755900">
            <a:lnSpc>
              <a:spcPct val="90000"/>
            </a:lnSpc>
            <a:spcBef>
              <a:spcPct val="0"/>
            </a:spcBef>
            <a:spcAft>
              <a:spcPct val="35000"/>
            </a:spcAft>
            <a:buNone/>
          </a:pPr>
          <a:r>
            <a:rPr lang="en-US" sz="6200" kern="1200"/>
            <a:t>Azure Accelerate: AI Apps, Agents and Developer Pre-Sales (Assessment &amp; PoV)  </a:t>
          </a:r>
        </a:p>
      </dsp:txBody>
      <dsp:txXfrm>
        <a:off x="0" y="4882"/>
        <a:ext cx="10000000" cy="3330078"/>
      </dsp:txXfrm>
    </dsp:sp>
    <dsp:sp modelId="{1814189E-5081-4EFF-AB6B-6293E5BBE06A}">
      <dsp:nvSpPr>
        <dsp:cNvPr id="0" name=""/>
        <dsp:cNvSpPr/>
      </dsp:nvSpPr>
      <dsp:spPr>
        <a:xfrm>
          <a:off x="0" y="3334960"/>
          <a:ext cx="100000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3FD4C6-2BCD-40FA-98FD-F64B6819C55B}">
      <dsp:nvSpPr>
        <dsp:cNvPr id="0" name=""/>
        <dsp:cNvSpPr/>
      </dsp:nvSpPr>
      <dsp:spPr>
        <a:xfrm>
          <a:off x="0" y="3334960"/>
          <a:ext cx="10000000" cy="3330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6220" tIns="236220" rIns="236220" bIns="236220" numCol="1" spcCol="1270" anchor="t" anchorCtr="0">
          <a:noAutofit/>
        </a:bodyPr>
        <a:lstStyle/>
        <a:p>
          <a:pPr marL="0" lvl="0" indent="0" algn="l" defTabSz="2755900">
            <a:lnSpc>
              <a:spcPct val="90000"/>
            </a:lnSpc>
            <a:spcBef>
              <a:spcPct val="0"/>
            </a:spcBef>
            <a:spcAft>
              <a:spcPct val="35000"/>
            </a:spcAft>
            <a:buNone/>
          </a:pPr>
          <a:r>
            <a:rPr lang="en-US" sz="6200" kern="1200"/>
            <a:t>Azure Accelerate: Data Platform Pre-Sales (Assessment and PoV)</a:t>
          </a:r>
        </a:p>
      </dsp:txBody>
      <dsp:txXfrm>
        <a:off x="0" y="3334960"/>
        <a:ext cx="10000000" cy="3330078"/>
      </dsp:txXfrm>
    </dsp:sp>
    <dsp:sp modelId="{66D18E4D-49C8-48CE-9987-3FC20A8971F9}">
      <dsp:nvSpPr>
        <dsp:cNvPr id="0" name=""/>
        <dsp:cNvSpPr/>
      </dsp:nvSpPr>
      <dsp:spPr>
        <a:xfrm>
          <a:off x="0" y="6665039"/>
          <a:ext cx="100000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3E3E10-5762-4678-BC97-4B94F19F7A10}">
      <dsp:nvSpPr>
        <dsp:cNvPr id="0" name=""/>
        <dsp:cNvSpPr/>
      </dsp:nvSpPr>
      <dsp:spPr>
        <a:xfrm>
          <a:off x="0" y="6665039"/>
          <a:ext cx="10000000" cy="3330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6220" tIns="236220" rIns="236220" bIns="236220" numCol="1" spcCol="1270" anchor="t" anchorCtr="0">
          <a:noAutofit/>
        </a:bodyPr>
        <a:lstStyle/>
        <a:p>
          <a:pPr marL="0" lvl="0" indent="0" algn="l" defTabSz="2755900">
            <a:lnSpc>
              <a:spcPct val="90000"/>
            </a:lnSpc>
            <a:spcBef>
              <a:spcPct val="0"/>
            </a:spcBef>
            <a:spcAft>
              <a:spcPct val="35000"/>
            </a:spcAft>
            <a:buNone/>
          </a:pPr>
          <a:r>
            <a:rPr lang="it-IT" sz="6200" kern="1200"/>
            <a:t>Azure Accelerate: Core Migrate &amp; Modernize Pre-Sales</a:t>
          </a:r>
          <a:endParaRPr lang="en-US" sz="6200" kern="1200"/>
        </a:p>
      </dsp:txBody>
      <dsp:txXfrm>
        <a:off x="0" y="6665039"/>
        <a:ext cx="10000000" cy="33300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8BC060-EB42-4FDD-8133-9796B977C39B}">
      <dsp:nvSpPr>
        <dsp:cNvPr id="0" name=""/>
        <dsp:cNvSpPr/>
      </dsp:nvSpPr>
      <dsp:spPr>
        <a:xfrm>
          <a:off x="0" y="2124"/>
          <a:ext cx="10515600" cy="0"/>
        </a:xfrm>
        <a:prstGeom prst="lin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BC966F-C8B4-4DD4-85BE-0684B49C29E4}">
      <dsp:nvSpPr>
        <dsp:cNvPr id="0" name=""/>
        <dsp:cNvSpPr/>
      </dsp:nvSpPr>
      <dsp:spPr>
        <a:xfrm>
          <a:off x="0" y="212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it-IT" sz="3600" kern="1200" dirty="0">
              <a:solidFill>
                <a:srgbClr val="000000">
                  <a:hueOff val="0"/>
                  <a:satOff val="0"/>
                  <a:lumOff val="0"/>
                  <a:alphaOff val="0"/>
                </a:srgbClr>
              </a:solidFill>
              <a:latin typeface="Aptos" panose="02110004020202020204"/>
              <a:ea typeface="+mn-ea"/>
              <a:cs typeface="+mn-cs"/>
            </a:rPr>
            <a:t>Azure Accelerate: Core Migrate &amp; Modernize</a:t>
          </a:r>
          <a:endParaRPr lang="en-US" sz="3600" kern="1200" dirty="0">
            <a:latin typeface="Aptos" panose="02110004020202020204"/>
            <a:ea typeface="+mn-ea"/>
            <a:cs typeface="+mn-cs"/>
          </a:endParaRPr>
        </a:p>
      </dsp:txBody>
      <dsp:txXfrm>
        <a:off x="0" y="2124"/>
        <a:ext cx="10515600" cy="1449029"/>
      </dsp:txXfrm>
    </dsp:sp>
    <dsp:sp modelId="{1814189E-5081-4EFF-AB6B-6293E5BBE06A}">
      <dsp:nvSpPr>
        <dsp:cNvPr id="0" name=""/>
        <dsp:cNvSpPr/>
      </dsp:nvSpPr>
      <dsp:spPr>
        <a:xfrm>
          <a:off x="0" y="1451154"/>
          <a:ext cx="10515600" cy="0"/>
        </a:xfrm>
        <a:prstGeom prst="lin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3FD4C6-2BCD-40FA-98FD-F64B6819C55B}">
      <dsp:nvSpPr>
        <dsp:cNvPr id="0" name=""/>
        <dsp:cNvSpPr/>
      </dsp:nvSpPr>
      <dsp:spPr>
        <a:xfrm>
          <a:off x="0" y="1451154"/>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solidFill>
                <a:srgbClr val="000000">
                  <a:hueOff val="0"/>
                  <a:satOff val="0"/>
                  <a:lumOff val="0"/>
                  <a:alphaOff val="0"/>
                </a:srgbClr>
              </a:solidFill>
              <a:latin typeface="Aptos" panose="02110004020202020204"/>
              <a:ea typeface="+mn-ea"/>
              <a:cs typeface="+mn-cs"/>
            </a:rPr>
            <a:t>Azure Accelerate: Data Platform</a:t>
          </a:r>
        </a:p>
      </dsp:txBody>
      <dsp:txXfrm>
        <a:off x="0" y="1451154"/>
        <a:ext cx="10515600" cy="1449029"/>
      </dsp:txXfrm>
    </dsp:sp>
    <dsp:sp modelId="{D7D12F3D-24B5-4A0B-B552-358332891ADC}">
      <dsp:nvSpPr>
        <dsp:cNvPr id="0" name=""/>
        <dsp:cNvSpPr/>
      </dsp:nvSpPr>
      <dsp:spPr>
        <a:xfrm>
          <a:off x="0" y="2900183"/>
          <a:ext cx="10515600" cy="0"/>
        </a:xfrm>
        <a:prstGeom prst="line">
          <a:avLst/>
        </a:prstGeom>
        <a:solidFill>
          <a:schemeClr val="lt1">
            <a:hueOff val="0"/>
            <a:satOff val="0"/>
            <a:lumOff val="0"/>
            <a:alphaOff val="0"/>
          </a:schemeClr>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F42BF9-5FDF-4601-9424-49A6BBC0FA33}">
      <dsp:nvSpPr>
        <dsp:cNvPr id="0" name=""/>
        <dsp:cNvSpPr/>
      </dsp:nvSpPr>
      <dsp:spPr>
        <a:xfrm>
          <a:off x="0" y="2900183"/>
          <a:ext cx="10515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a:latin typeface="Aptos" panose="02110004020202020204"/>
              <a:ea typeface="+mn-ea"/>
              <a:cs typeface="+mn-cs"/>
            </a:rPr>
            <a:t>Azure Accelerate: AI Apps, Agents and Developer</a:t>
          </a:r>
          <a:endParaRPr lang="en-US" sz="3600" kern="1200" dirty="0">
            <a:solidFill>
              <a:srgbClr val="000000">
                <a:hueOff val="0"/>
                <a:satOff val="0"/>
                <a:lumOff val="0"/>
                <a:alphaOff val="0"/>
              </a:srgbClr>
            </a:solidFill>
            <a:latin typeface="Aptos" panose="02110004020202020204"/>
            <a:ea typeface="+mn-ea"/>
            <a:cs typeface="+mn-cs"/>
          </a:endParaRPr>
        </a:p>
      </dsp:txBody>
      <dsp:txXfrm>
        <a:off x="0" y="2900183"/>
        <a:ext cx="10515600" cy="14490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A7BFC-FF44-4868-BCB7-FC4A18230475}">
      <dsp:nvSpPr>
        <dsp:cNvPr id="0" name=""/>
        <dsp:cNvSpPr/>
      </dsp:nvSpPr>
      <dsp:spPr>
        <a:xfrm>
          <a:off x="1002" y="461840"/>
          <a:ext cx="2137387" cy="1402660"/>
        </a:xfrm>
        <a:prstGeom prst="roundRect">
          <a:avLst>
            <a:gd name="adj" fmla="val 1000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Core Migrate &amp; Modernize Pre-Sales (Assessment and POV) </a:t>
          </a:r>
        </a:p>
      </dsp:txBody>
      <dsp:txXfrm>
        <a:off x="42085" y="502923"/>
        <a:ext cx="2055221" cy="1320494"/>
      </dsp:txXfrm>
    </dsp:sp>
    <dsp:sp modelId="{E62E6636-1EA7-4907-90A3-74B4C34A43F0}">
      <dsp:nvSpPr>
        <dsp:cNvPr id="0" name=""/>
        <dsp:cNvSpPr/>
      </dsp:nvSpPr>
      <dsp:spPr>
        <a:xfrm rot="26878">
          <a:off x="2352121" y="909932"/>
          <a:ext cx="453139" cy="530072"/>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352123" y="1015415"/>
        <a:ext cx="317197" cy="318044"/>
      </dsp:txXfrm>
    </dsp:sp>
    <dsp:sp modelId="{4CD41805-ED22-483E-AFFE-88112A80C869}">
      <dsp:nvSpPr>
        <dsp:cNvPr id="0" name=""/>
        <dsp:cNvSpPr/>
      </dsp:nvSpPr>
      <dsp:spPr>
        <a:xfrm>
          <a:off x="2993344" y="485236"/>
          <a:ext cx="2137387" cy="1402660"/>
        </a:xfrm>
        <a:prstGeom prst="roundRect">
          <a:avLst>
            <a:gd name="adj" fmla="val 10000"/>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Core Migrate &amp; Modernize</a:t>
          </a:r>
        </a:p>
      </dsp:txBody>
      <dsp:txXfrm>
        <a:off x="3034427" y="526319"/>
        <a:ext cx="2055221" cy="13204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A7BFC-FF44-4868-BCB7-FC4A18230475}">
      <dsp:nvSpPr>
        <dsp:cNvPr id="0" name=""/>
        <dsp:cNvSpPr/>
      </dsp:nvSpPr>
      <dsp:spPr>
        <a:xfrm>
          <a:off x="1002" y="425583"/>
          <a:ext cx="2137387" cy="1282432"/>
        </a:xfrm>
        <a:prstGeom prst="roundRect">
          <a:avLst>
            <a:gd name="adj" fmla="val 1000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Data Platform Pre-Sales (Assessment and POV)</a:t>
          </a:r>
        </a:p>
      </dsp:txBody>
      <dsp:txXfrm>
        <a:off x="38563" y="463144"/>
        <a:ext cx="2062265" cy="1207310"/>
      </dsp:txXfrm>
    </dsp:sp>
    <dsp:sp modelId="{E62E6636-1EA7-4907-90A3-74B4C34A43F0}">
      <dsp:nvSpPr>
        <dsp:cNvPr id="0" name=""/>
        <dsp:cNvSpPr/>
      </dsp:nvSpPr>
      <dsp:spPr>
        <a:xfrm>
          <a:off x="2352128" y="801763"/>
          <a:ext cx="453126" cy="530072"/>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2352128" y="907777"/>
        <a:ext cx="317188" cy="318044"/>
      </dsp:txXfrm>
    </dsp:sp>
    <dsp:sp modelId="{4CD41805-ED22-483E-AFFE-88112A80C869}">
      <dsp:nvSpPr>
        <dsp:cNvPr id="0" name=""/>
        <dsp:cNvSpPr/>
      </dsp:nvSpPr>
      <dsp:spPr>
        <a:xfrm>
          <a:off x="2993344" y="425583"/>
          <a:ext cx="2137387" cy="1282432"/>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Data Platform</a:t>
          </a:r>
        </a:p>
      </dsp:txBody>
      <dsp:txXfrm>
        <a:off x="3030905" y="463144"/>
        <a:ext cx="2062265" cy="1207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A7BFC-FF44-4868-BCB7-FC4A18230475}">
      <dsp:nvSpPr>
        <dsp:cNvPr id="0" name=""/>
        <dsp:cNvSpPr/>
      </dsp:nvSpPr>
      <dsp:spPr>
        <a:xfrm>
          <a:off x="1002" y="365469"/>
          <a:ext cx="2137387" cy="1402660"/>
        </a:xfrm>
        <a:prstGeom prst="roundRect">
          <a:avLst>
            <a:gd name="adj" fmla="val 1000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AI Apps, Agents and Developer Pre-Sales (Assessment and POV)</a:t>
          </a:r>
        </a:p>
      </dsp:txBody>
      <dsp:txXfrm>
        <a:off x="42085" y="406552"/>
        <a:ext cx="2055221" cy="1320494"/>
      </dsp:txXfrm>
    </dsp:sp>
    <dsp:sp modelId="{E62E6636-1EA7-4907-90A3-74B4C34A43F0}">
      <dsp:nvSpPr>
        <dsp:cNvPr id="0" name=""/>
        <dsp:cNvSpPr/>
      </dsp:nvSpPr>
      <dsp:spPr>
        <a:xfrm>
          <a:off x="2352128" y="801763"/>
          <a:ext cx="453126" cy="530072"/>
        </a:xfrm>
        <a:prstGeom prst="rightArrow">
          <a:avLst>
            <a:gd name="adj1" fmla="val 60000"/>
            <a:gd name="adj2" fmla="val 50000"/>
          </a:avLst>
        </a:prstGeom>
        <a:solidFill>
          <a:schemeClr val="tx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352128" y="907777"/>
        <a:ext cx="317188" cy="318044"/>
      </dsp:txXfrm>
    </dsp:sp>
    <dsp:sp modelId="{4CD41805-ED22-483E-AFFE-88112A80C869}">
      <dsp:nvSpPr>
        <dsp:cNvPr id="0" name=""/>
        <dsp:cNvSpPr/>
      </dsp:nvSpPr>
      <dsp:spPr>
        <a:xfrm>
          <a:off x="2993344" y="365469"/>
          <a:ext cx="2137387" cy="1402660"/>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AI Apps, Agents and Developer</a:t>
          </a:r>
        </a:p>
      </dsp:txBody>
      <dsp:txXfrm>
        <a:off x="3034427" y="406552"/>
        <a:ext cx="2055221" cy="132049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68F19D-00D5-4C4D-A48E-11AFE737EFAA}" type="datetimeFigureOut">
              <a:rPr lang="en-US" smtClean="0"/>
              <a:t>4/26/2026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2026D-152F-3543-8A03-B739DA7ABE4C}" type="slidenum">
              <a:rPr lang="en-US" smtClean="0"/>
              <a:t>‹#›</a:t>
            </a:fld>
            <a:endParaRPr lang="en-US"/>
          </a:p>
        </p:txBody>
      </p:sp>
    </p:spTree>
    <p:extLst>
      <p:ext uri="{BB962C8B-B14F-4D97-AF65-F5344CB8AC3E}">
        <p14:creationId xmlns:p14="http://schemas.microsoft.com/office/powerpoint/2010/main" val="4076794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2026D-152F-3543-8A03-B739DA7ABE4C}" type="slidenum">
              <a:rPr lang="en-US" smtClean="0"/>
              <a:t>2</a:t>
            </a:fld>
            <a:endParaRPr lang="en-US"/>
          </a:p>
        </p:txBody>
      </p:sp>
    </p:spTree>
    <p:extLst>
      <p:ext uri="{BB962C8B-B14F-4D97-AF65-F5344CB8AC3E}">
        <p14:creationId xmlns:p14="http://schemas.microsoft.com/office/powerpoint/2010/main" val="1643841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42ECA-940D-A9D6-9D38-868F21397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13084-B685-0FDB-730A-84A7EA4CCA0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2608CA-E6E4-9996-ACAA-2321ACA738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E0D09B-4EF5-7411-7104-BB8DFAAB7363}"/>
              </a:ext>
            </a:extLst>
          </p:cNvPr>
          <p:cNvSpPr>
            <a:spLocks noGrp="1"/>
          </p:cNvSpPr>
          <p:nvPr>
            <p:ph type="sldNum" sz="quarter" idx="5"/>
          </p:nvPr>
        </p:nvSpPr>
        <p:spPr/>
        <p:txBody>
          <a:bodyPr/>
          <a:lstStyle/>
          <a:p>
            <a:fld id="{2DEB2F2D-BC1E-4757-84BC-1E2A8AE68B1A}" type="slidenum">
              <a:rPr lang="en-US" smtClean="0"/>
              <a:t>3</a:t>
            </a:fld>
            <a:endParaRPr lang="en-US"/>
          </a:p>
        </p:txBody>
      </p:sp>
    </p:spTree>
    <p:extLst>
      <p:ext uri="{BB962C8B-B14F-4D97-AF65-F5344CB8AC3E}">
        <p14:creationId xmlns:p14="http://schemas.microsoft.com/office/powerpoint/2010/main" val="1255185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2026D-152F-3543-8A03-B739DA7ABE4C}" type="slidenum">
              <a:rPr lang="en-US" smtClean="0"/>
              <a:t>4</a:t>
            </a:fld>
            <a:endParaRPr lang="en-US"/>
          </a:p>
        </p:txBody>
      </p:sp>
    </p:spTree>
    <p:extLst>
      <p:ext uri="{BB962C8B-B14F-4D97-AF65-F5344CB8AC3E}">
        <p14:creationId xmlns:p14="http://schemas.microsoft.com/office/powerpoint/2010/main" val="92216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2026D-152F-3543-8A03-B739DA7ABE4C}" type="slidenum">
              <a:rPr lang="en-US" smtClean="0"/>
              <a:t>6</a:t>
            </a:fld>
            <a:endParaRPr lang="en-US"/>
          </a:p>
        </p:txBody>
      </p:sp>
    </p:spTree>
    <p:extLst>
      <p:ext uri="{BB962C8B-B14F-4D97-AF65-F5344CB8AC3E}">
        <p14:creationId xmlns:p14="http://schemas.microsoft.com/office/powerpoint/2010/main" val="247831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2026D-152F-3543-8A03-B739DA7ABE4C}" type="slidenum">
              <a:rPr lang="en-US" smtClean="0"/>
              <a:t>8</a:t>
            </a:fld>
            <a:endParaRPr lang="en-US"/>
          </a:p>
        </p:txBody>
      </p:sp>
    </p:spTree>
    <p:extLst>
      <p:ext uri="{BB962C8B-B14F-4D97-AF65-F5344CB8AC3E}">
        <p14:creationId xmlns:p14="http://schemas.microsoft.com/office/powerpoint/2010/main" val="3920253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4360F-1812-0AD7-6C97-8FEC92125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091BB-BF83-003B-7AC4-4E3B8D12FA4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B80C788-2608-F3A9-9172-C4F74F05CC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1401A3-B33B-D7BF-24E6-F7D4A6F9E1D9}"/>
              </a:ext>
            </a:extLst>
          </p:cNvPr>
          <p:cNvSpPr>
            <a:spLocks noGrp="1"/>
          </p:cNvSpPr>
          <p:nvPr>
            <p:ph type="sldNum" sz="quarter" idx="5"/>
          </p:nvPr>
        </p:nvSpPr>
        <p:spPr/>
        <p:txBody>
          <a:bodyPr/>
          <a:lstStyle/>
          <a:p>
            <a:fld id="{2DEB2F2D-BC1E-4757-84BC-1E2A8AE68B1A}" type="slidenum">
              <a:rPr lang="en-US" smtClean="0"/>
              <a:t>10</a:t>
            </a:fld>
            <a:endParaRPr lang="en-US"/>
          </a:p>
        </p:txBody>
      </p:sp>
    </p:spTree>
    <p:extLst>
      <p:ext uri="{BB962C8B-B14F-4D97-AF65-F5344CB8AC3E}">
        <p14:creationId xmlns:p14="http://schemas.microsoft.com/office/powerpoint/2010/main" val="902201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9E45C-EBFF-8CBC-899C-8A053CCB4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642F8-B6E2-4780-91A4-10C08131A89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81935C-AF4E-9DDB-1CD3-B860E83675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067F3-6B41-99AE-4B14-DE32B69247BB}"/>
              </a:ext>
            </a:extLst>
          </p:cNvPr>
          <p:cNvSpPr>
            <a:spLocks noGrp="1"/>
          </p:cNvSpPr>
          <p:nvPr>
            <p:ph type="sldNum" sz="quarter" idx="5"/>
          </p:nvPr>
        </p:nvSpPr>
        <p:spPr/>
        <p:txBody>
          <a:bodyPr/>
          <a:lstStyle/>
          <a:p>
            <a:fld id="{2DEB2F2D-BC1E-4757-84BC-1E2A8AE68B1A}" type="slidenum">
              <a:rPr lang="en-US" smtClean="0"/>
              <a:t>11</a:t>
            </a:fld>
            <a:endParaRPr lang="en-US"/>
          </a:p>
        </p:txBody>
      </p:sp>
    </p:spTree>
    <p:extLst>
      <p:ext uri="{BB962C8B-B14F-4D97-AF65-F5344CB8AC3E}">
        <p14:creationId xmlns:p14="http://schemas.microsoft.com/office/powerpoint/2010/main" val="2169648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4FF71-EECE-1964-2938-79A3FFBFC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724FD-D4C4-FD41-2289-CD59CB32B11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14E35E-BA16-C332-76D1-1413F04ABC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8CAAAD-B327-A8B7-8748-F85288BAB367}"/>
              </a:ext>
            </a:extLst>
          </p:cNvPr>
          <p:cNvSpPr>
            <a:spLocks noGrp="1"/>
          </p:cNvSpPr>
          <p:nvPr>
            <p:ph type="sldNum" sz="quarter" idx="5"/>
          </p:nvPr>
        </p:nvSpPr>
        <p:spPr/>
        <p:txBody>
          <a:bodyPr/>
          <a:lstStyle/>
          <a:p>
            <a:fld id="{2DEB2F2D-BC1E-4757-84BC-1E2A8AE68B1A}" type="slidenum">
              <a:rPr lang="en-US" smtClean="0"/>
              <a:t>12</a:t>
            </a:fld>
            <a:endParaRPr lang="en-US"/>
          </a:p>
        </p:txBody>
      </p:sp>
    </p:spTree>
    <p:extLst>
      <p:ext uri="{BB962C8B-B14F-4D97-AF65-F5344CB8AC3E}">
        <p14:creationId xmlns:p14="http://schemas.microsoft.com/office/powerpoint/2010/main" val="854731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2026D-152F-3543-8A03-B739DA7ABE4C}" type="slidenum">
              <a:rPr lang="en-US" smtClean="0"/>
              <a:t>16</a:t>
            </a:fld>
            <a:endParaRPr lang="en-US"/>
          </a:p>
        </p:txBody>
      </p:sp>
    </p:spTree>
    <p:extLst>
      <p:ext uri="{BB962C8B-B14F-4D97-AF65-F5344CB8AC3E}">
        <p14:creationId xmlns:p14="http://schemas.microsoft.com/office/powerpoint/2010/main" val="14337555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2026D-152F-3543-8A03-B739DA7ABE4C}" type="slidenum">
              <a:rPr lang="en-US" smtClean="0"/>
              <a:t>17</a:t>
            </a:fld>
            <a:endParaRPr lang="en-US"/>
          </a:p>
        </p:txBody>
      </p:sp>
    </p:spTree>
    <p:extLst>
      <p:ext uri="{BB962C8B-B14F-4D97-AF65-F5344CB8AC3E}">
        <p14:creationId xmlns:p14="http://schemas.microsoft.com/office/powerpoint/2010/main" val="1303111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2026D-152F-3543-8A03-B739DA7ABE4C}" type="slidenum">
              <a:rPr lang="en-US" smtClean="0"/>
              <a:t>18</a:t>
            </a:fld>
            <a:endParaRPr lang="en-US"/>
          </a:p>
        </p:txBody>
      </p:sp>
    </p:spTree>
    <p:extLst>
      <p:ext uri="{BB962C8B-B14F-4D97-AF65-F5344CB8AC3E}">
        <p14:creationId xmlns:p14="http://schemas.microsoft.com/office/powerpoint/2010/main" val="2706006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08F3E-B452-BD03-45BA-18894640A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14C1CC-09B0-7D9D-699E-F75624325C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87C80D7-268B-B0B4-9D08-03D0F1DCCE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AA38FA-AEE9-2966-A339-B83F526D679D}"/>
              </a:ext>
            </a:extLst>
          </p:cNvPr>
          <p:cNvSpPr>
            <a:spLocks noGrp="1"/>
          </p:cNvSpPr>
          <p:nvPr>
            <p:ph type="sldNum" sz="quarter" idx="5"/>
          </p:nvPr>
        </p:nvSpPr>
        <p:spPr/>
        <p:txBody>
          <a:bodyPr/>
          <a:lstStyle/>
          <a:p>
            <a:fld id="{EB32026D-152F-3543-8A03-B739DA7ABE4C}" type="slidenum">
              <a:rPr lang="en-US" smtClean="0"/>
              <a:t>20</a:t>
            </a:fld>
            <a:endParaRPr lang="en-US"/>
          </a:p>
        </p:txBody>
      </p:sp>
    </p:spTree>
    <p:extLst>
      <p:ext uri="{BB962C8B-B14F-4D97-AF65-F5344CB8AC3E}">
        <p14:creationId xmlns:p14="http://schemas.microsoft.com/office/powerpoint/2010/main" val="905587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25.svg"/></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84752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F423D1DF-B037-07F7-FCB9-160FB511AEC4}"/>
              </a:ext>
            </a:extLst>
          </p:cNvPr>
          <p:cNvGrpSpPr/>
          <p:nvPr userDrawn="1"/>
        </p:nvGrpSpPr>
        <p:grpSpPr>
          <a:xfrm>
            <a:off x="348870" y="6308875"/>
            <a:ext cx="2522079" cy="295576"/>
            <a:chOff x="327905" y="6378908"/>
            <a:chExt cx="3237850" cy="379461"/>
          </a:xfrm>
        </p:grpSpPr>
        <p:pic>
          <p:nvPicPr>
            <p:cNvPr id="18" name="Graphic 17">
              <a:extLst>
                <a:ext uri="{FF2B5EF4-FFF2-40B4-BE49-F238E27FC236}">
                  <a16:creationId xmlns:a16="http://schemas.microsoft.com/office/drawing/2014/main" id="{DB3360BE-5F0E-71B0-FC4F-1358971D21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grpSp>
          <p:nvGrpSpPr>
            <p:cNvPr id="19" name="Group 18">
              <a:extLst>
                <a:ext uri="{FF2B5EF4-FFF2-40B4-BE49-F238E27FC236}">
                  <a16:creationId xmlns:a16="http://schemas.microsoft.com/office/drawing/2014/main" id="{C5DD27D7-70F5-C168-B400-315A62AAF736}"/>
                </a:ext>
              </a:extLst>
            </p:cNvPr>
            <p:cNvGrpSpPr/>
            <p:nvPr userDrawn="1"/>
          </p:nvGrpSpPr>
          <p:grpSpPr>
            <a:xfrm>
              <a:off x="1824210" y="6378908"/>
              <a:ext cx="1741545" cy="354329"/>
              <a:chOff x="1824210" y="6378908"/>
              <a:chExt cx="1741545" cy="354329"/>
            </a:xfrm>
          </p:grpSpPr>
          <p:pic>
            <p:nvPicPr>
              <p:cNvPr id="20" name="Graphic 19">
                <a:extLst>
                  <a:ext uri="{FF2B5EF4-FFF2-40B4-BE49-F238E27FC236}">
                    <a16:creationId xmlns:a16="http://schemas.microsoft.com/office/drawing/2014/main" id="{E0A3F92C-B708-1D76-0373-9E770F5B53D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39416" y="6404039"/>
                <a:ext cx="1426339" cy="304069"/>
              </a:xfrm>
              <a:prstGeom prst="rect">
                <a:avLst/>
              </a:prstGeom>
            </p:spPr>
          </p:pic>
          <p:cxnSp>
            <p:nvCxnSpPr>
              <p:cNvPr id="21" name="Straight Connector 20">
                <a:extLst>
                  <a:ext uri="{FF2B5EF4-FFF2-40B4-BE49-F238E27FC236}">
                    <a16:creationId xmlns:a16="http://schemas.microsoft.com/office/drawing/2014/main" id="{712E43EC-73DA-ADF4-F6C9-24F0575944DA}"/>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405989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778697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18" name="Group 17">
            <a:extLst>
              <a:ext uri="{FF2B5EF4-FFF2-40B4-BE49-F238E27FC236}">
                <a16:creationId xmlns:a16="http://schemas.microsoft.com/office/drawing/2014/main" id="{EBA1F7D5-4083-C92A-429C-63EB009C6ABF}"/>
              </a:ext>
            </a:extLst>
          </p:cNvPr>
          <p:cNvGrpSpPr/>
          <p:nvPr userDrawn="1"/>
        </p:nvGrpSpPr>
        <p:grpSpPr>
          <a:xfrm>
            <a:off x="348870" y="6308875"/>
            <a:ext cx="2522079" cy="295576"/>
            <a:chOff x="327905" y="6378908"/>
            <a:chExt cx="3237850" cy="379461"/>
          </a:xfrm>
        </p:grpSpPr>
        <p:pic>
          <p:nvPicPr>
            <p:cNvPr id="19" name="Graphic 18">
              <a:extLst>
                <a:ext uri="{FF2B5EF4-FFF2-40B4-BE49-F238E27FC236}">
                  <a16:creationId xmlns:a16="http://schemas.microsoft.com/office/drawing/2014/main" id="{D6996DB2-D2E3-4D61-977B-5BE99F59F8C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20" name="Group 19">
              <a:extLst>
                <a:ext uri="{FF2B5EF4-FFF2-40B4-BE49-F238E27FC236}">
                  <a16:creationId xmlns:a16="http://schemas.microsoft.com/office/drawing/2014/main" id="{928E6E01-AD3D-12D2-7165-C170CCB43B22}"/>
                </a:ext>
              </a:extLst>
            </p:cNvPr>
            <p:cNvGrpSpPr/>
            <p:nvPr userDrawn="1"/>
          </p:nvGrpSpPr>
          <p:grpSpPr>
            <a:xfrm>
              <a:off x="1824210" y="6378908"/>
              <a:ext cx="1741545" cy="354329"/>
              <a:chOff x="1824210" y="6378908"/>
              <a:chExt cx="1741545" cy="354329"/>
            </a:xfrm>
          </p:grpSpPr>
          <p:pic>
            <p:nvPicPr>
              <p:cNvPr id="21" name="Graphic 20">
                <a:extLst>
                  <a:ext uri="{FF2B5EF4-FFF2-40B4-BE49-F238E27FC236}">
                    <a16:creationId xmlns:a16="http://schemas.microsoft.com/office/drawing/2014/main" id="{E22460AF-5D88-E1EA-6DC5-96F18BD6383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22" name="Straight Connector 21">
                <a:extLst>
                  <a:ext uri="{FF2B5EF4-FFF2-40B4-BE49-F238E27FC236}">
                    <a16:creationId xmlns:a16="http://schemas.microsoft.com/office/drawing/2014/main" id="{11857318-0144-8AA0-9993-B5148FF45C5F}"/>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89546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17" name="Group 16">
            <a:extLst>
              <a:ext uri="{FF2B5EF4-FFF2-40B4-BE49-F238E27FC236}">
                <a16:creationId xmlns:a16="http://schemas.microsoft.com/office/drawing/2014/main" id="{67880F25-1CBB-F2C6-77D6-9BF3F6462340}"/>
              </a:ext>
            </a:extLst>
          </p:cNvPr>
          <p:cNvGrpSpPr/>
          <p:nvPr userDrawn="1"/>
        </p:nvGrpSpPr>
        <p:grpSpPr>
          <a:xfrm>
            <a:off x="348870" y="6308875"/>
            <a:ext cx="2522079" cy="295576"/>
            <a:chOff x="327905" y="6378908"/>
            <a:chExt cx="3237850" cy="379461"/>
          </a:xfrm>
        </p:grpSpPr>
        <p:pic>
          <p:nvPicPr>
            <p:cNvPr id="18" name="Graphic 17">
              <a:extLst>
                <a:ext uri="{FF2B5EF4-FFF2-40B4-BE49-F238E27FC236}">
                  <a16:creationId xmlns:a16="http://schemas.microsoft.com/office/drawing/2014/main" id="{1DAB9212-B08C-ABB5-82A8-4128CB2D281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19" name="Group 18">
              <a:extLst>
                <a:ext uri="{FF2B5EF4-FFF2-40B4-BE49-F238E27FC236}">
                  <a16:creationId xmlns:a16="http://schemas.microsoft.com/office/drawing/2014/main" id="{E3A6EB80-3C7F-387C-C353-FD96763D34DA}"/>
                </a:ext>
              </a:extLst>
            </p:cNvPr>
            <p:cNvGrpSpPr/>
            <p:nvPr userDrawn="1"/>
          </p:nvGrpSpPr>
          <p:grpSpPr>
            <a:xfrm>
              <a:off x="1824210" y="6378908"/>
              <a:ext cx="1741545" cy="354329"/>
              <a:chOff x="1824210" y="6378908"/>
              <a:chExt cx="1741545" cy="354329"/>
            </a:xfrm>
          </p:grpSpPr>
          <p:pic>
            <p:nvPicPr>
              <p:cNvPr id="20" name="Graphic 19">
                <a:extLst>
                  <a:ext uri="{FF2B5EF4-FFF2-40B4-BE49-F238E27FC236}">
                    <a16:creationId xmlns:a16="http://schemas.microsoft.com/office/drawing/2014/main" id="{3168DDAA-AE10-CCDE-438F-EED5B0249638}"/>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21" name="Straight Connector 20">
                <a:extLst>
                  <a:ext uri="{FF2B5EF4-FFF2-40B4-BE49-F238E27FC236}">
                    <a16:creationId xmlns:a16="http://schemas.microsoft.com/office/drawing/2014/main" id="{5DCC0272-9BED-8EDF-0264-4F69F29828F3}"/>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237658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14" name="Group 13">
            <a:extLst>
              <a:ext uri="{FF2B5EF4-FFF2-40B4-BE49-F238E27FC236}">
                <a16:creationId xmlns:a16="http://schemas.microsoft.com/office/drawing/2014/main" id="{EB0957DF-F3CC-62BD-0693-9423F09377F7}"/>
              </a:ext>
            </a:extLst>
          </p:cNvPr>
          <p:cNvGrpSpPr/>
          <p:nvPr userDrawn="1"/>
        </p:nvGrpSpPr>
        <p:grpSpPr>
          <a:xfrm>
            <a:off x="348870" y="6308875"/>
            <a:ext cx="2522079" cy="295576"/>
            <a:chOff x="327905" y="6378908"/>
            <a:chExt cx="3237850" cy="379461"/>
          </a:xfrm>
        </p:grpSpPr>
        <p:pic>
          <p:nvPicPr>
            <p:cNvPr id="15" name="Graphic 14">
              <a:extLst>
                <a:ext uri="{FF2B5EF4-FFF2-40B4-BE49-F238E27FC236}">
                  <a16:creationId xmlns:a16="http://schemas.microsoft.com/office/drawing/2014/main" id="{7D484554-7FFF-A09B-ECAE-CD379F2C12D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grpSp>
          <p:nvGrpSpPr>
            <p:cNvPr id="16" name="Group 15">
              <a:extLst>
                <a:ext uri="{FF2B5EF4-FFF2-40B4-BE49-F238E27FC236}">
                  <a16:creationId xmlns:a16="http://schemas.microsoft.com/office/drawing/2014/main" id="{228C9873-89AE-0A2F-D096-6B2E1F1C16F2}"/>
                </a:ext>
              </a:extLst>
            </p:cNvPr>
            <p:cNvGrpSpPr/>
            <p:nvPr userDrawn="1"/>
          </p:nvGrpSpPr>
          <p:grpSpPr>
            <a:xfrm>
              <a:off x="1824210" y="6378908"/>
              <a:ext cx="1741545" cy="354329"/>
              <a:chOff x="1824210" y="6378908"/>
              <a:chExt cx="1741545" cy="354329"/>
            </a:xfrm>
          </p:grpSpPr>
          <p:pic>
            <p:nvPicPr>
              <p:cNvPr id="17" name="Graphic 16">
                <a:extLst>
                  <a:ext uri="{FF2B5EF4-FFF2-40B4-BE49-F238E27FC236}">
                    <a16:creationId xmlns:a16="http://schemas.microsoft.com/office/drawing/2014/main" id="{89F4E049-9E2F-1740-E960-5A4D8FD244F9}"/>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39416" y="6404039"/>
                <a:ext cx="1426339" cy="304069"/>
              </a:xfrm>
              <a:prstGeom prst="rect">
                <a:avLst/>
              </a:prstGeom>
            </p:spPr>
          </p:pic>
          <p:cxnSp>
            <p:nvCxnSpPr>
              <p:cNvPr id="18" name="Straight Connector 17">
                <a:extLst>
                  <a:ext uri="{FF2B5EF4-FFF2-40B4-BE49-F238E27FC236}">
                    <a16:creationId xmlns:a16="http://schemas.microsoft.com/office/drawing/2014/main" id="{D268D377-1D99-26F2-108E-57802E9AA827}"/>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141270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90957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968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393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73002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10" name="Group 9">
            <a:extLst>
              <a:ext uri="{FF2B5EF4-FFF2-40B4-BE49-F238E27FC236}">
                <a16:creationId xmlns:a16="http://schemas.microsoft.com/office/drawing/2014/main" id="{48D28D23-AFDC-2FEE-B0B9-2D0BA72B68E8}"/>
              </a:ext>
            </a:extLst>
          </p:cNvPr>
          <p:cNvGrpSpPr/>
          <p:nvPr userDrawn="1"/>
        </p:nvGrpSpPr>
        <p:grpSpPr>
          <a:xfrm>
            <a:off x="348870" y="6308875"/>
            <a:ext cx="2522079" cy="295576"/>
            <a:chOff x="327905" y="6378908"/>
            <a:chExt cx="3237850" cy="379461"/>
          </a:xfrm>
        </p:grpSpPr>
        <p:pic>
          <p:nvPicPr>
            <p:cNvPr id="15" name="Graphic 14">
              <a:extLst>
                <a:ext uri="{FF2B5EF4-FFF2-40B4-BE49-F238E27FC236}">
                  <a16:creationId xmlns:a16="http://schemas.microsoft.com/office/drawing/2014/main" id="{AE6A5F95-77A9-D7B3-B67D-2775D9F0E7A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grpSp>
          <p:nvGrpSpPr>
            <p:cNvPr id="16" name="Group 15">
              <a:extLst>
                <a:ext uri="{FF2B5EF4-FFF2-40B4-BE49-F238E27FC236}">
                  <a16:creationId xmlns:a16="http://schemas.microsoft.com/office/drawing/2014/main" id="{D80216C1-2C1A-9C9E-DF9D-F9F2542778C0}"/>
                </a:ext>
              </a:extLst>
            </p:cNvPr>
            <p:cNvGrpSpPr/>
            <p:nvPr userDrawn="1"/>
          </p:nvGrpSpPr>
          <p:grpSpPr>
            <a:xfrm>
              <a:off x="1824210" y="6378908"/>
              <a:ext cx="1741545" cy="354329"/>
              <a:chOff x="1824210" y="6378908"/>
              <a:chExt cx="1741545" cy="354329"/>
            </a:xfrm>
          </p:grpSpPr>
          <p:pic>
            <p:nvPicPr>
              <p:cNvPr id="17" name="Graphic 16">
                <a:extLst>
                  <a:ext uri="{FF2B5EF4-FFF2-40B4-BE49-F238E27FC236}">
                    <a16:creationId xmlns:a16="http://schemas.microsoft.com/office/drawing/2014/main" id="{50B96E65-949A-2340-1167-6B1E1EEC38D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39416" y="6404039"/>
                <a:ext cx="1426339" cy="304069"/>
              </a:xfrm>
              <a:prstGeom prst="rect">
                <a:avLst/>
              </a:prstGeom>
            </p:spPr>
          </p:pic>
          <p:cxnSp>
            <p:nvCxnSpPr>
              <p:cNvPr id="18" name="Straight Connector 17">
                <a:extLst>
                  <a:ext uri="{FF2B5EF4-FFF2-40B4-BE49-F238E27FC236}">
                    <a16:creationId xmlns:a16="http://schemas.microsoft.com/office/drawing/2014/main" id="{B9A0C577-2FB0-A566-84B7-FF12E2981CD3}"/>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2813530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grpSp>
        <p:nvGrpSpPr>
          <p:cNvPr id="13" name="Group 12">
            <a:extLst>
              <a:ext uri="{FF2B5EF4-FFF2-40B4-BE49-F238E27FC236}">
                <a16:creationId xmlns:a16="http://schemas.microsoft.com/office/drawing/2014/main" id="{FF946E7E-6192-0679-FF10-D74129AFF75E}"/>
              </a:ext>
            </a:extLst>
          </p:cNvPr>
          <p:cNvGrpSpPr/>
          <p:nvPr userDrawn="1"/>
        </p:nvGrpSpPr>
        <p:grpSpPr>
          <a:xfrm>
            <a:off x="348870" y="6308875"/>
            <a:ext cx="2522079" cy="295576"/>
            <a:chOff x="327905" y="6378908"/>
            <a:chExt cx="3237850" cy="379461"/>
          </a:xfrm>
        </p:grpSpPr>
        <p:pic>
          <p:nvPicPr>
            <p:cNvPr id="14" name="Graphic 13">
              <a:extLst>
                <a:ext uri="{FF2B5EF4-FFF2-40B4-BE49-F238E27FC236}">
                  <a16:creationId xmlns:a16="http://schemas.microsoft.com/office/drawing/2014/main" id="{9B3CCB0B-CB24-2201-C114-BF1E67D477A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grpSp>
          <p:nvGrpSpPr>
            <p:cNvPr id="15" name="Group 14">
              <a:extLst>
                <a:ext uri="{FF2B5EF4-FFF2-40B4-BE49-F238E27FC236}">
                  <a16:creationId xmlns:a16="http://schemas.microsoft.com/office/drawing/2014/main" id="{DEE91192-A056-AD33-941E-4D72DAC4343C}"/>
                </a:ext>
              </a:extLst>
            </p:cNvPr>
            <p:cNvGrpSpPr/>
            <p:nvPr userDrawn="1"/>
          </p:nvGrpSpPr>
          <p:grpSpPr>
            <a:xfrm>
              <a:off x="1824210" y="6378908"/>
              <a:ext cx="1741545" cy="354329"/>
              <a:chOff x="1824210" y="6378908"/>
              <a:chExt cx="1741545" cy="354329"/>
            </a:xfrm>
          </p:grpSpPr>
          <p:pic>
            <p:nvPicPr>
              <p:cNvPr id="16" name="Graphic 15">
                <a:extLst>
                  <a:ext uri="{FF2B5EF4-FFF2-40B4-BE49-F238E27FC236}">
                    <a16:creationId xmlns:a16="http://schemas.microsoft.com/office/drawing/2014/main" id="{81594833-AEA8-3639-9C70-00E12A1ADEA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39416" y="6404039"/>
                <a:ext cx="1426339" cy="304069"/>
              </a:xfrm>
              <a:prstGeom prst="rect">
                <a:avLst/>
              </a:prstGeom>
            </p:spPr>
          </p:pic>
          <p:cxnSp>
            <p:nvCxnSpPr>
              <p:cNvPr id="17" name="Straight Connector 16">
                <a:extLst>
                  <a:ext uri="{FF2B5EF4-FFF2-40B4-BE49-F238E27FC236}">
                    <a16:creationId xmlns:a16="http://schemas.microsoft.com/office/drawing/2014/main" id="{0E0E533F-6AEB-3C29-936A-B4B4F332A837}"/>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681601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10" name="Group 9">
            <a:extLst>
              <a:ext uri="{FF2B5EF4-FFF2-40B4-BE49-F238E27FC236}">
                <a16:creationId xmlns:a16="http://schemas.microsoft.com/office/drawing/2014/main" id="{72E01613-E63A-43AC-65D3-2C027A514024}"/>
              </a:ext>
            </a:extLst>
          </p:cNvPr>
          <p:cNvGrpSpPr/>
          <p:nvPr userDrawn="1"/>
        </p:nvGrpSpPr>
        <p:grpSpPr>
          <a:xfrm>
            <a:off x="348870" y="6308875"/>
            <a:ext cx="2522079" cy="295576"/>
            <a:chOff x="327905" y="6378908"/>
            <a:chExt cx="3237850" cy="379461"/>
          </a:xfrm>
        </p:grpSpPr>
        <p:pic>
          <p:nvPicPr>
            <p:cNvPr id="15" name="Graphic 14">
              <a:extLst>
                <a:ext uri="{FF2B5EF4-FFF2-40B4-BE49-F238E27FC236}">
                  <a16:creationId xmlns:a16="http://schemas.microsoft.com/office/drawing/2014/main" id="{CCE9CB67-5950-0637-C9EA-F3119ED899C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grpSp>
          <p:nvGrpSpPr>
            <p:cNvPr id="16" name="Group 15">
              <a:extLst>
                <a:ext uri="{FF2B5EF4-FFF2-40B4-BE49-F238E27FC236}">
                  <a16:creationId xmlns:a16="http://schemas.microsoft.com/office/drawing/2014/main" id="{DC9E72C4-8FB2-001F-BA76-88AC7FFDFD5E}"/>
                </a:ext>
              </a:extLst>
            </p:cNvPr>
            <p:cNvGrpSpPr/>
            <p:nvPr userDrawn="1"/>
          </p:nvGrpSpPr>
          <p:grpSpPr>
            <a:xfrm>
              <a:off x="1824210" y="6378908"/>
              <a:ext cx="1741545" cy="354329"/>
              <a:chOff x="1824210" y="6378908"/>
              <a:chExt cx="1741545" cy="354329"/>
            </a:xfrm>
          </p:grpSpPr>
          <p:pic>
            <p:nvPicPr>
              <p:cNvPr id="17" name="Graphic 16">
                <a:extLst>
                  <a:ext uri="{FF2B5EF4-FFF2-40B4-BE49-F238E27FC236}">
                    <a16:creationId xmlns:a16="http://schemas.microsoft.com/office/drawing/2014/main" id="{FBD11EFF-9048-78B0-0BE3-A240CDE9D6F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39416" y="6404039"/>
                <a:ext cx="1426339" cy="304069"/>
              </a:xfrm>
              <a:prstGeom prst="rect">
                <a:avLst/>
              </a:prstGeom>
            </p:spPr>
          </p:pic>
          <p:cxnSp>
            <p:nvCxnSpPr>
              <p:cNvPr id="18" name="Straight Connector 17">
                <a:extLst>
                  <a:ext uri="{FF2B5EF4-FFF2-40B4-BE49-F238E27FC236}">
                    <a16:creationId xmlns:a16="http://schemas.microsoft.com/office/drawing/2014/main" id="{D4DDCADC-995D-13E9-2CEF-EBF6BC885F06}"/>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8647356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grpSp>
        <p:nvGrpSpPr>
          <p:cNvPr id="13" name="Group 12">
            <a:extLst>
              <a:ext uri="{FF2B5EF4-FFF2-40B4-BE49-F238E27FC236}">
                <a16:creationId xmlns:a16="http://schemas.microsoft.com/office/drawing/2014/main" id="{06F0CAE3-DD77-F285-A819-C061DA8F2F3A}"/>
              </a:ext>
            </a:extLst>
          </p:cNvPr>
          <p:cNvGrpSpPr/>
          <p:nvPr userDrawn="1"/>
        </p:nvGrpSpPr>
        <p:grpSpPr>
          <a:xfrm>
            <a:off x="348870" y="6308875"/>
            <a:ext cx="2522079" cy="295576"/>
            <a:chOff x="327905" y="6378908"/>
            <a:chExt cx="3237850" cy="379461"/>
          </a:xfrm>
        </p:grpSpPr>
        <p:pic>
          <p:nvPicPr>
            <p:cNvPr id="14" name="Graphic 13">
              <a:extLst>
                <a:ext uri="{FF2B5EF4-FFF2-40B4-BE49-F238E27FC236}">
                  <a16:creationId xmlns:a16="http://schemas.microsoft.com/office/drawing/2014/main" id="{FAE07729-9E5C-9D1F-95A7-2EB9ECBCB7C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grpSp>
          <p:nvGrpSpPr>
            <p:cNvPr id="15" name="Group 14">
              <a:extLst>
                <a:ext uri="{FF2B5EF4-FFF2-40B4-BE49-F238E27FC236}">
                  <a16:creationId xmlns:a16="http://schemas.microsoft.com/office/drawing/2014/main" id="{275DE7D0-CC21-400E-6BB9-601D310F7FD1}"/>
                </a:ext>
              </a:extLst>
            </p:cNvPr>
            <p:cNvGrpSpPr/>
            <p:nvPr userDrawn="1"/>
          </p:nvGrpSpPr>
          <p:grpSpPr>
            <a:xfrm>
              <a:off x="1824210" y="6378908"/>
              <a:ext cx="1741545" cy="354329"/>
              <a:chOff x="1824210" y="6378908"/>
              <a:chExt cx="1741545" cy="354329"/>
            </a:xfrm>
          </p:grpSpPr>
          <p:pic>
            <p:nvPicPr>
              <p:cNvPr id="16" name="Graphic 15">
                <a:extLst>
                  <a:ext uri="{FF2B5EF4-FFF2-40B4-BE49-F238E27FC236}">
                    <a16:creationId xmlns:a16="http://schemas.microsoft.com/office/drawing/2014/main" id="{8E78ED4F-F0B1-739F-7E27-2315232C2CB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39416" y="6404039"/>
                <a:ext cx="1426339" cy="304069"/>
              </a:xfrm>
              <a:prstGeom prst="rect">
                <a:avLst/>
              </a:prstGeom>
            </p:spPr>
          </p:pic>
          <p:cxnSp>
            <p:nvCxnSpPr>
              <p:cNvPr id="17" name="Straight Connector 16">
                <a:extLst>
                  <a:ext uri="{FF2B5EF4-FFF2-40B4-BE49-F238E27FC236}">
                    <a16:creationId xmlns:a16="http://schemas.microsoft.com/office/drawing/2014/main" id="{9B130B85-90DE-94C7-33C4-637BAADB96F5}"/>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506816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grpSp>
        <p:nvGrpSpPr>
          <p:cNvPr id="14" name="Group 13">
            <a:extLst>
              <a:ext uri="{FF2B5EF4-FFF2-40B4-BE49-F238E27FC236}">
                <a16:creationId xmlns:a16="http://schemas.microsoft.com/office/drawing/2014/main" id="{A62F0493-2653-2A5E-416B-47A608A2A2E6}"/>
              </a:ext>
            </a:extLst>
          </p:cNvPr>
          <p:cNvGrpSpPr/>
          <p:nvPr userDrawn="1"/>
        </p:nvGrpSpPr>
        <p:grpSpPr>
          <a:xfrm>
            <a:off x="348870" y="6308875"/>
            <a:ext cx="2522079" cy="295576"/>
            <a:chOff x="327905" y="6378908"/>
            <a:chExt cx="3237850" cy="379461"/>
          </a:xfrm>
        </p:grpSpPr>
        <p:pic>
          <p:nvPicPr>
            <p:cNvPr id="15" name="Graphic 14">
              <a:extLst>
                <a:ext uri="{FF2B5EF4-FFF2-40B4-BE49-F238E27FC236}">
                  <a16:creationId xmlns:a16="http://schemas.microsoft.com/office/drawing/2014/main" id="{68E76310-EC55-B33B-5621-90C193B061A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grpSp>
          <p:nvGrpSpPr>
            <p:cNvPr id="16" name="Group 15">
              <a:extLst>
                <a:ext uri="{FF2B5EF4-FFF2-40B4-BE49-F238E27FC236}">
                  <a16:creationId xmlns:a16="http://schemas.microsoft.com/office/drawing/2014/main" id="{0B149EC8-E40B-9BB7-387E-2D0E3AC25686}"/>
                </a:ext>
              </a:extLst>
            </p:cNvPr>
            <p:cNvGrpSpPr/>
            <p:nvPr userDrawn="1"/>
          </p:nvGrpSpPr>
          <p:grpSpPr>
            <a:xfrm>
              <a:off x="1824210" y="6378908"/>
              <a:ext cx="1741545" cy="354329"/>
              <a:chOff x="1824210" y="6378908"/>
              <a:chExt cx="1741545" cy="354329"/>
            </a:xfrm>
          </p:grpSpPr>
          <p:pic>
            <p:nvPicPr>
              <p:cNvPr id="17" name="Graphic 16">
                <a:extLst>
                  <a:ext uri="{FF2B5EF4-FFF2-40B4-BE49-F238E27FC236}">
                    <a16:creationId xmlns:a16="http://schemas.microsoft.com/office/drawing/2014/main" id="{E1E0C5A5-22B2-DAA0-AD9D-82E5B68D2915}"/>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39416" y="6404039"/>
                <a:ext cx="1426339" cy="304069"/>
              </a:xfrm>
              <a:prstGeom prst="rect">
                <a:avLst/>
              </a:prstGeom>
            </p:spPr>
          </p:pic>
          <p:cxnSp>
            <p:nvCxnSpPr>
              <p:cNvPr id="18" name="Straight Connector 17">
                <a:extLst>
                  <a:ext uri="{FF2B5EF4-FFF2-40B4-BE49-F238E27FC236}">
                    <a16:creationId xmlns:a16="http://schemas.microsoft.com/office/drawing/2014/main" id="{A02115C2-F5C4-4774-3FB4-4731F8BDF56E}"/>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5536853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US"/>
              <a:t>Click to edit Master title style</a:t>
            </a:r>
          </a:p>
        </p:txBody>
      </p:sp>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grpSp>
        <p:nvGrpSpPr>
          <p:cNvPr id="14" name="Group 13">
            <a:extLst>
              <a:ext uri="{FF2B5EF4-FFF2-40B4-BE49-F238E27FC236}">
                <a16:creationId xmlns:a16="http://schemas.microsoft.com/office/drawing/2014/main" id="{9E7CBF25-B268-1F94-4E1D-507CD4B2B1F9}"/>
              </a:ext>
            </a:extLst>
          </p:cNvPr>
          <p:cNvGrpSpPr/>
          <p:nvPr userDrawn="1"/>
        </p:nvGrpSpPr>
        <p:grpSpPr>
          <a:xfrm>
            <a:off x="348870" y="6308875"/>
            <a:ext cx="2522079" cy="295576"/>
            <a:chOff x="327905" y="6378908"/>
            <a:chExt cx="3237850" cy="379461"/>
          </a:xfrm>
        </p:grpSpPr>
        <p:pic>
          <p:nvPicPr>
            <p:cNvPr id="15" name="Graphic 14">
              <a:extLst>
                <a:ext uri="{FF2B5EF4-FFF2-40B4-BE49-F238E27FC236}">
                  <a16:creationId xmlns:a16="http://schemas.microsoft.com/office/drawing/2014/main" id="{1572C7F1-697D-0684-4098-4A88D9AF1FA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grpSp>
          <p:nvGrpSpPr>
            <p:cNvPr id="16" name="Group 15">
              <a:extLst>
                <a:ext uri="{FF2B5EF4-FFF2-40B4-BE49-F238E27FC236}">
                  <a16:creationId xmlns:a16="http://schemas.microsoft.com/office/drawing/2014/main" id="{EDFF7910-DDDB-850E-F051-A9A682DB6397}"/>
                </a:ext>
              </a:extLst>
            </p:cNvPr>
            <p:cNvGrpSpPr/>
            <p:nvPr userDrawn="1"/>
          </p:nvGrpSpPr>
          <p:grpSpPr>
            <a:xfrm>
              <a:off x="1824210" y="6378908"/>
              <a:ext cx="1741545" cy="354329"/>
              <a:chOff x="1824210" y="6378908"/>
              <a:chExt cx="1741545" cy="354329"/>
            </a:xfrm>
          </p:grpSpPr>
          <p:pic>
            <p:nvPicPr>
              <p:cNvPr id="17" name="Graphic 16">
                <a:extLst>
                  <a:ext uri="{FF2B5EF4-FFF2-40B4-BE49-F238E27FC236}">
                    <a16:creationId xmlns:a16="http://schemas.microsoft.com/office/drawing/2014/main" id="{38DC930C-CE67-B05D-7B79-DE0B94C34A14}"/>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39416" y="6404039"/>
                <a:ext cx="1426339" cy="304069"/>
              </a:xfrm>
              <a:prstGeom prst="rect">
                <a:avLst/>
              </a:prstGeom>
            </p:spPr>
          </p:pic>
          <p:cxnSp>
            <p:nvCxnSpPr>
              <p:cNvPr id="18" name="Straight Connector 17">
                <a:extLst>
                  <a:ext uri="{FF2B5EF4-FFF2-40B4-BE49-F238E27FC236}">
                    <a16:creationId xmlns:a16="http://schemas.microsoft.com/office/drawing/2014/main" id="{B0B3E92A-E5E5-FBBB-0D3A-81091AA74EFF}"/>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8153806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11" name="Picture 10">
            <a:extLst>
              <a:ext uri="{FF2B5EF4-FFF2-40B4-BE49-F238E27FC236}">
                <a16:creationId xmlns:a16="http://schemas.microsoft.com/office/drawing/2014/main" id="{5E16C2E5-5280-C8BB-F3FB-3990D505EA63}"/>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5400000">
            <a:off x="-1218288" y="2401215"/>
            <a:ext cx="5675071" cy="3238499"/>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19" name="Group 18">
            <a:extLst>
              <a:ext uri="{FF2B5EF4-FFF2-40B4-BE49-F238E27FC236}">
                <a16:creationId xmlns:a16="http://schemas.microsoft.com/office/drawing/2014/main" id="{6BDD17DF-254C-F87C-7263-36F3697379E5}"/>
              </a:ext>
            </a:extLst>
          </p:cNvPr>
          <p:cNvGrpSpPr/>
          <p:nvPr userDrawn="1"/>
        </p:nvGrpSpPr>
        <p:grpSpPr>
          <a:xfrm>
            <a:off x="348870" y="6308875"/>
            <a:ext cx="2522079" cy="295576"/>
            <a:chOff x="327905" y="6378908"/>
            <a:chExt cx="3237850" cy="379461"/>
          </a:xfrm>
        </p:grpSpPr>
        <p:pic>
          <p:nvPicPr>
            <p:cNvPr id="20" name="Graphic 19">
              <a:extLst>
                <a:ext uri="{FF2B5EF4-FFF2-40B4-BE49-F238E27FC236}">
                  <a16:creationId xmlns:a16="http://schemas.microsoft.com/office/drawing/2014/main" id="{4AEDCEA1-DC25-043A-F1D0-689CA84D936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21" name="Group 20">
              <a:extLst>
                <a:ext uri="{FF2B5EF4-FFF2-40B4-BE49-F238E27FC236}">
                  <a16:creationId xmlns:a16="http://schemas.microsoft.com/office/drawing/2014/main" id="{EFBE36B6-D44F-4949-25C5-AA83605F25C4}"/>
                </a:ext>
              </a:extLst>
            </p:cNvPr>
            <p:cNvGrpSpPr/>
            <p:nvPr userDrawn="1"/>
          </p:nvGrpSpPr>
          <p:grpSpPr>
            <a:xfrm>
              <a:off x="1824210" y="6378908"/>
              <a:ext cx="1741545" cy="354329"/>
              <a:chOff x="1824210" y="6378908"/>
              <a:chExt cx="1741545" cy="354329"/>
            </a:xfrm>
          </p:grpSpPr>
          <p:pic>
            <p:nvPicPr>
              <p:cNvPr id="22" name="Graphic 21">
                <a:extLst>
                  <a:ext uri="{FF2B5EF4-FFF2-40B4-BE49-F238E27FC236}">
                    <a16:creationId xmlns:a16="http://schemas.microsoft.com/office/drawing/2014/main" id="{AF6ADDAD-D2FE-DE5A-576A-F4F6E6F4E9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23" name="Straight Connector 22">
                <a:extLst>
                  <a:ext uri="{FF2B5EF4-FFF2-40B4-BE49-F238E27FC236}">
                    <a16:creationId xmlns:a16="http://schemas.microsoft.com/office/drawing/2014/main" id="{2FA2EC68-761C-29CC-C6D6-E35A346AEA60}"/>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894426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Picture 2" descr="A red circle with a black center&#10;&#10;Description automatically generated with low confidence">
            <a:extLst>
              <a:ext uri="{FF2B5EF4-FFF2-40B4-BE49-F238E27FC236}">
                <a16:creationId xmlns:a16="http://schemas.microsoft.com/office/drawing/2014/main" id="{386D26A2-02C3-7D58-B648-720D1207ABA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4746172"/>
            <a:ext cx="3222523" cy="2111828"/>
          </a:xfrm>
          <a:prstGeom prst="rect">
            <a:avLst/>
          </a:prstGeom>
        </p:spPr>
      </p:pic>
      <p:grpSp>
        <p:nvGrpSpPr>
          <p:cNvPr id="15" name="Group 14">
            <a:extLst>
              <a:ext uri="{FF2B5EF4-FFF2-40B4-BE49-F238E27FC236}">
                <a16:creationId xmlns:a16="http://schemas.microsoft.com/office/drawing/2014/main" id="{18E7E83B-982F-BC3F-0758-B05A710258BF}"/>
              </a:ext>
            </a:extLst>
          </p:cNvPr>
          <p:cNvGrpSpPr/>
          <p:nvPr userDrawn="1"/>
        </p:nvGrpSpPr>
        <p:grpSpPr>
          <a:xfrm>
            <a:off x="348870" y="6308875"/>
            <a:ext cx="2522079" cy="295576"/>
            <a:chOff x="327905" y="6378908"/>
            <a:chExt cx="3237850" cy="379461"/>
          </a:xfrm>
        </p:grpSpPr>
        <p:pic>
          <p:nvPicPr>
            <p:cNvPr id="16" name="Graphic 15">
              <a:extLst>
                <a:ext uri="{FF2B5EF4-FFF2-40B4-BE49-F238E27FC236}">
                  <a16:creationId xmlns:a16="http://schemas.microsoft.com/office/drawing/2014/main" id="{A3CB4BAB-637E-365D-EC5F-0C0173AC128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17" name="Group 16">
              <a:extLst>
                <a:ext uri="{FF2B5EF4-FFF2-40B4-BE49-F238E27FC236}">
                  <a16:creationId xmlns:a16="http://schemas.microsoft.com/office/drawing/2014/main" id="{74DB7D2C-F7F3-A692-DCB2-0C4D9BAD6184}"/>
                </a:ext>
              </a:extLst>
            </p:cNvPr>
            <p:cNvGrpSpPr/>
            <p:nvPr userDrawn="1"/>
          </p:nvGrpSpPr>
          <p:grpSpPr>
            <a:xfrm>
              <a:off x="1824210" y="6378908"/>
              <a:ext cx="1741545" cy="354329"/>
              <a:chOff x="1824210" y="6378908"/>
              <a:chExt cx="1741545" cy="354329"/>
            </a:xfrm>
          </p:grpSpPr>
          <p:pic>
            <p:nvPicPr>
              <p:cNvPr id="18" name="Graphic 17">
                <a:extLst>
                  <a:ext uri="{FF2B5EF4-FFF2-40B4-BE49-F238E27FC236}">
                    <a16:creationId xmlns:a16="http://schemas.microsoft.com/office/drawing/2014/main" id="{CF3A5F64-DD38-765B-3642-25272BCD90F2}"/>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19" name="Straight Connector 18">
                <a:extLst>
                  <a:ext uri="{FF2B5EF4-FFF2-40B4-BE49-F238E27FC236}">
                    <a16:creationId xmlns:a16="http://schemas.microsoft.com/office/drawing/2014/main" id="{641B5A96-220B-563D-AE28-6BF55380211E}"/>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7540386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3" name="Picture 2" descr="A red circle with a black center&#10;&#10;Description automatically generated with low confidence">
            <a:extLst>
              <a:ext uri="{FF2B5EF4-FFF2-40B4-BE49-F238E27FC236}">
                <a16:creationId xmlns:a16="http://schemas.microsoft.com/office/drawing/2014/main" id="{386D26A2-02C3-7D58-B648-720D1207ABA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3238500" y="1760548"/>
            <a:ext cx="7778407" cy="5097452"/>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US"/>
              <a:t>Click to edit Master title style</a:t>
            </a:r>
          </a:p>
        </p:txBody>
      </p:sp>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grpSp>
        <p:nvGrpSpPr>
          <p:cNvPr id="14" name="Group 13">
            <a:extLst>
              <a:ext uri="{FF2B5EF4-FFF2-40B4-BE49-F238E27FC236}">
                <a16:creationId xmlns:a16="http://schemas.microsoft.com/office/drawing/2014/main" id="{0B9B7693-B0A1-BC6D-1D22-FA5981F4C831}"/>
              </a:ext>
            </a:extLst>
          </p:cNvPr>
          <p:cNvGrpSpPr/>
          <p:nvPr userDrawn="1"/>
        </p:nvGrpSpPr>
        <p:grpSpPr>
          <a:xfrm>
            <a:off x="348870" y="6308875"/>
            <a:ext cx="2522079" cy="295576"/>
            <a:chOff x="327905" y="6378908"/>
            <a:chExt cx="3237850" cy="379461"/>
          </a:xfrm>
        </p:grpSpPr>
        <p:pic>
          <p:nvPicPr>
            <p:cNvPr id="15" name="Graphic 14">
              <a:extLst>
                <a:ext uri="{FF2B5EF4-FFF2-40B4-BE49-F238E27FC236}">
                  <a16:creationId xmlns:a16="http://schemas.microsoft.com/office/drawing/2014/main" id="{977F61A7-8EBC-05B9-DEAD-ECF50E500CD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16" name="Group 15">
              <a:extLst>
                <a:ext uri="{FF2B5EF4-FFF2-40B4-BE49-F238E27FC236}">
                  <a16:creationId xmlns:a16="http://schemas.microsoft.com/office/drawing/2014/main" id="{924D1779-2471-7D84-AD75-9808E08DAC9E}"/>
                </a:ext>
              </a:extLst>
            </p:cNvPr>
            <p:cNvGrpSpPr/>
            <p:nvPr userDrawn="1"/>
          </p:nvGrpSpPr>
          <p:grpSpPr>
            <a:xfrm>
              <a:off x="1824210" y="6378908"/>
              <a:ext cx="1741545" cy="354329"/>
              <a:chOff x="1824210" y="6378908"/>
              <a:chExt cx="1741545" cy="354329"/>
            </a:xfrm>
          </p:grpSpPr>
          <p:pic>
            <p:nvPicPr>
              <p:cNvPr id="17" name="Graphic 16">
                <a:extLst>
                  <a:ext uri="{FF2B5EF4-FFF2-40B4-BE49-F238E27FC236}">
                    <a16:creationId xmlns:a16="http://schemas.microsoft.com/office/drawing/2014/main" id="{F381DDA3-099B-80DE-C035-3AD18CCDA92B}"/>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18" name="Straight Connector 17">
                <a:extLst>
                  <a:ext uri="{FF2B5EF4-FFF2-40B4-BE49-F238E27FC236}">
                    <a16:creationId xmlns:a16="http://schemas.microsoft.com/office/drawing/2014/main" id="{1DA74E2E-2210-6B7A-718F-01355C31E992}"/>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3731357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8A5EF6-9BB4-9A0F-3441-636A0132C3F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5400000">
            <a:off x="-1087910" y="2531592"/>
            <a:ext cx="6589412" cy="2063407"/>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grpSp>
        <p:nvGrpSpPr>
          <p:cNvPr id="22" name="Group 21">
            <a:extLst>
              <a:ext uri="{FF2B5EF4-FFF2-40B4-BE49-F238E27FC236}">
                <a16:creationId xmlns:a16="http://schemas.microsoft.com/office/drawing/2014/main" id="{E8D607C1-F2F4-88B7-3B89-6531A517C387}"/>
              </a:ext>
            </a:extLst>
          </p:cNvPr>
          <p:cNvGrpSpPr/>
          <p:nvPr userDrawn="1"/>
        </p:nvGrpSpPr>
        <p:grpSpPr>
          <a:xfrm>
            <a:off x="348870" y="6308875"/>
            <a:ext cx="2522079" cy="295576"/>
            <a:chOff x="327905" y="6378908"/>
            <a:chExt cx="3237850" cy="379461"/>
          </a:xfrm>
        </p:grpSpPr>
        <p:pic>
          <p:nvPicPr>
            <p:cNvPr id="23" name="Graphic 22">
              <a:extLst>
                <a:ext uri="{FF2B5EF4-FFF2-40B4-BE49-F238E27FC236}">
                  <a16:creationId xmlns:a16="http://schemas.microsoft.com/office/drawing/2014/main" id="{AFB92803-607E-3D00-2221-A0B72F5E473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24" name="Group 23">
              <a:extLst>
                <a:ext uri="{FF2B5EF4-FFF2-40B4-BE49-F238E27FC236}">
                  <a16:creationId xmlns:a16="http://schemas.microsoft.com/office/drawing/2014/main" id="{9E0DD0A1-D7B3-EDF9-22FA-C438F46D3917}"/>
                </a:ext>
              </a:extLst>
            </p:cNvPr>
            <p:cNvGrpSpPr/>
            <p:nvPr userDrawn="1"/>
          </p:nvGrpSpPr>
          <p:grpSpPr>
            <a:xfrm>
              <a:off x="1824210" y="6378908"/>
              <a:ext cx="1741545" cy="354329"/>
              <a:chOff x="1824210" y="6378908"/>
              <a:chExt cx="1741545" cy="354329"/>
            </a:xfrm>
          </p:grpSpPr>
          <p:pic>
            <p:nvPicPr>
              <p:cNvPr id="25" name="Graphic 24">
                <a:extLst>
                  <a:ext uri="{FF2B5EF4-FFF2-40B4-BE49-F238E27FC236}">
                    <a16:creationId xmlns:a16="http://schemas.microsoft.com/office/drawing/2014/main" id="{16985F0B-7A5B-520F-F80A-443D861B935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26" name="Straight Connector 25">
                <a:extLst>
                  <a:ext uri="{FF2B5EF4-FFF2-40B4-BE49-F238E27FC236}">
                    <a16:creationId xmlns:a16="http://schemas.microsoft.com/office/drawing/2014/main" id="{BD4C4BD1-2A17-91D3-EBE5-2AF8ABDBA334}"/>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7740794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757213" y="0"/>
            <a:ext cx="10434787" cy="3429000"/>
          </a:xfrm>
          <a:prstGeom prst="rect">
            <a:avLst/>
          </a:prstGeom>
        </p:spPr>
      </p:pic>
      <p:grpSp>
        <p:nvGrpSpPr>
          <p:cNvPr id="10" name="Group 9">
            <a:extLst>
              <a:ext uri="{FF2B5EF4-FFF2-40B4-BE49-F238E27FC236}">
                <a16:creationId xmlns:a16="http://schemas.microsoft.com/office/drawing/2014/main" id="{DC687729-0568-A3E6-7CBA-BD0A158D1C9F}"/>
              </a:ext>
            </a:extLst>
          </p:cNvPr>
          <p:cNvGrpSpPr/>
          <p:nvPr userDrawn="1"/>
        </p:nvGrpSpPr>
        <p:grpSpPr>
          <a:xfrm>
            <a:off x="348870" y="6308875"/>
            <a:ext cx="2522079" cy="295576"/>
            <a:chOff x="327905" y="6378908"/>
            <a:chExt cx="3237850" cy="379461"/>
          </a:xfrm>
        </p:grpSpPr>
        <p:pic>
          <p:nvPicPr>
            <p:cNvPr id="11" name="Graphic 10">
              <a:extLst>
                <a:ext uri="{FF2B5EF4-FFF2-40B4-BE49-F238E27FC236}">
                  <a16:creationId xmlns:a16="http://schemas.microsoft.com/office/drawing/2014/main" id="{753F096E-1E29-D956-CB15-38E0A9F1B2E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12" name="Group 11">
              <a:extLst>
                <a:ext uri="{FF2B5EF4-FFF2-40B4-BE49-F238E27FC236}">
                  <a16:creationId xmlns:a16="http://schemas.microsoft.com/office/drawing/2014/main" id="{0D4754A6-0118-5AC1-D108-228747E251A2}"/>
                </a:ext>
              </a:extLst>
            </p:cNvPr>
            <p:cNvGrpSpPr/>
            <p:nvPr userDrawn="1"/>
          </p:nvGrpSpPr>
          <p:grpSpPr>
            <a:xfrm>
              <a:off x="1824210" y="6378908"/>
              <a:ext cx="1741545" cy="354329"/>
              <a:chOff x="1824210" y="6378908"/>
              <a:chExt cx="1741545" cy="354329"/>
            </a:xfrm>
          </p:grpSpPr>
          <p:pic>
            <p:nvPicPr>
              <p:cNvPr id="13" name="Graphic 12">
                <a:extLst>
                  <a:ext uri="{FF2B5EF4-FFF2-40B4-BE49-F238E27FC236}">
                    <a16:creationId xmlns:a16="http://schemas.microsoft.com/office/drawing/2014/main" id="{D3382BCD-AC51-DF28-8675-0A60C4861BC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14" name="Straight Connector 13">
                <a:extLst>
                  <a:ext uri="{FF2B5EF4-FFF2-40B4-BE49-F238E27FC236}">
                    <a16:creationId xmlns:a16="http://schemas.microsoft.com/office/drawing/2014/main" id="{656EE297-7A3A-76E0-56E7-17449A656219}"/>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6897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757213" y="0"/>
            <a:ext cx="10434787" cy="3429000"/>
          </a:xfrm>
          <a:prstGeom prst="rect">
            <a:avLst/>
          </a:prstGeom>
        </p:spPr>
      </p:pic>
      <p:grpSp>
        <p:nvGrpSpPr>
          <p:cNvPr id="10" name="Group 9">
            <a:extLst>
              <a:ext uri="{FF2B5EF4-FFF2-40B4-BE49-F238E27FC236}">
                <a16:creationId xmlns:a16="http://schemas.microsoft.com/office/drawing/2014/main" id="{A67445E8-DB14-9249-297E-FEF675C9CF21}"/>
              </a:ext>
            </a:extLst>
          </p:cNvPr>
          <p:cNvGrpSpPr/>
          <p:nvPr userDrawn="1"/>
        </p:nvGrpSpPr>
        <p:grpSpPr>
          <a:xfrm>
            <a:off x="348870" y="6308875"/>
            <a:ext cx="2522079" cy="295576"/>
            <a:chOff x="327905" y="6378908"/>
            <a:chExt cx="3237850" cy="379461"/>
          </a:xfrm>
        </p:grpSpPr>
        <p:pic>
          <p:nvPicPr>
            <p:cNvPr id="11" name="Graphic 10">
              <a:extLst>
                <a:ext uri="{FF2B5EF4-FFF2-40B4-BE49-F238E27FC236}">
                  <a16:creationId xmlns:a16="http://schemas.microsoft.com/office/drawing/2014/main" id="{8DBE2D10-A9B8-EF5F-60B8-647A99C6E7D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12" name="Group 11">
              <a:extLst>
                <a:ext uri="{FF2B5EF4-FFF2-40B4-BE49-F238E27FC236}">
                  <a16:creationId xmlns:a16="http://schemas.microsoft.com/office/drawing/2014/main" id="{0EEF0F01-4187-65B7-ED18-680900A9D8B3}"/>
                </a:ext>
              </a:extLst>
            </p:cNvPr>
            <p:cNvGrpSpPr/>
            <p:nvPr userDrawn="1"/>
          </p:nvGrpSpPr>
          <p:grpSpPr>
            <a:xfrm>
              <a:off x="1824210" y="6378908"/>
              <a:ext cx="1741545" cy="354329"/>
              <a:chOff x="1824210" y="6378908"/>
              <a:chExt cx="1741545" cy="354329"/>
            </a:xfrm>
          </p:grpSpPr>
          <p:pic>
            <p:nvPicPr>
              <p:cNvPr id="13" name="Graphic 12">
                <a:extLst>
                  <a:ext uri="{FF2B5EF4-FFF2-40B4-BE49-F238E27FC236}">
                    <a16:creationId xmlns:a16="http://schemas.microsoft.com/office/drawing/2014/main" id="{55E8C145-8BAB-BFD3-C798-F398A12A46B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14" name="Straight Connector 13">
                <a:extLst>
                  <a:ext uri="{FF2B5EF4-FFF2-40B4-BE49-F238E27FC236}">
                    <a16:creationId xmlns:a16="http://schemas.microsoft.com/office/drawing/2014/main" id="{3D29AE82-D565-2F5C-A2FC-6394D491F606}"/>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905820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5" name="Picture 4">
            <a:extLst>
              <a:ext uri="{FF2B5EF4-FFF2-40B4-BE49-F238E27FC236}">
                <a16:creationId xmlns:a16="http://schemas.microsoft.com/office/drawing/2014/main" id="{16E5296F-575D-351F-C288-BD7CBF5DB64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211"/>
          <a:stretch/>
        </p:blipFill>
        <p:spPr>
          <a:xfrm>
            <a:off x="2640429" y="0"/>
            <a:ext cx="9551571" cy="1905001"/>
          </a:xfrm>
          <a:prstGeom prst="rect">
            <a:avLst/>
          </a:prstGeom>
        </p:spPr>
      </p:pic>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11" name="Group 10">
            <a:extLst>
              <a:ext uri="{FF2B5EF4-FFF2-40B4-BE49-F238E27FC236}">
                <a16:creationId xmlns:a16="http://schemas.microsoft.com/office/drawing/2014/main" id="{E5C4D522-1325-EB1B-62C4-B7DE1DC30E20}"/>
              </a:ext>
            </a:extLst>
          </p:cNvPr>
          <p:cNvGrpSpPr/>
          <p:nvPr userDrawn="1"/>
        </p:nvGrpSpPr>
        <p:grpSpPr>
          <a:xfrm>
            <a:off x="348870" y="6308875"/>
            <a:ext cx="2522079" cy="295576"/>
            <a:chOff x="327905" y="6378908"/>
            <a:chExt cx="3237850" cy="379461"/>
          </a:xfrm>
        </p:grpSpPr>
        <p:pic>
          <p:nvPicPr>
            <p:cNvPr id="12" name="Graphic 11">
              <a:extLst>
                <a:ext uri="{FF2B5EF4-FFF2-40B4-BE49-F238E27FC236}">
                  <a16:creationId xmlns:a16="http://schemas.microsoft.com/office/drawing/2014/main" id="{B222C403-AA51-D2F2-CE41-45C78EA1FE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13" name="Group 12">
              <a:extLst>
                <a:ext uri="{FF2B5EF4-FFF2-40B4-BE49-F238E27FC236}">
                  <a16:creationId xmlns:a16="http://schemas.microsoft.com/office/drawing/2014/main" id="{B2F3243C-C72A-368D-4BE2-2C523A2E536C}"/>
                </a:ext>
              </a:extLst>
            </p:cNvPr>
            <p:cNvGrpSpPr/>
            <p:nvPr userDrawn="1"/>
          </p:nvGrpSpPr>
          <p:grpSpPr>
            <a:xfrm>
              <a:off x="1824210" y="6378908"/>
              <a:ext cx="1741545" cy="354329"/>
              <a:chOff x="1824210" y="6378908"/>
              <a:chExt cx="1741545" cy="354329"/>
            </a:xfrm>
          </p:grpSpPr>
          <p:pic>
            <p:nvPicPr>
              <p:cNvPr id="14" name="Graphic 13">
                <a:extLst>
                  <a:ext uri="{FF2B5EF4-FFF2-40B4-BE49-F238E27FC236}">
                    <a16:creationId xmlns:a16="http://schemas.microsoft.com/office/drawing/2014/main" id="{C7564E2B-F14B-1A37-A4B2-91E88E538B2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15" name="Straight Connector 14">
                <a:extLst>
                  <a:ext uri="{FF2B5EF4-FFF2-40B4-BE49-F238E27FC236}">
                    <a16:creationId xmlns:a16="http://schemas.microsoft.com/office/drawing/2014/main" id="{71E7665D-EF64-F112-8A4B-39B1CA033793}"/>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6580301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5" name="Picture 4">
            <a:extLst>
              <a:ext uri="{FF2B5EF4-FFF2-40B4-BE49-F238E27FC236}">
                <a16:creationId xmlns:a16="http://schemas.microsoft.com/office/drawing/2014/main" id="{16E5296F-575D-351F-C288-BD7CBF5DB64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211"/>
          <a:stretch/>
        </p:blipFill>
        <p:spPr>
          <a:xfrm>
            <a:off x="2640429" y="0"/>
            <a:ext cx="9551571" cy="1905001"/>
          </a:xfrm>
          <a:prstGeom prst="rect">
            <a:avLst/>
          </a:prstGeom>
        </p:spPr>
      </p:pic>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10" name="Group 9">
            <a:extLst>
              <a:ext uri="{FF2B5EF4-FFF2-40B4-BE49-F238E27FC236}">
                <a16:creationId xmlns:a16="http://schemas.microsoft.com/office/drawing/2014/main" id="{81040DA5-E3B8-D888-D2F4-AAEC19383A51}"/>
              </a:ext>
            </a:extLst>
          </p:cNvPr>
          <p:cNvGrpSpPr/>
          <p:nvPr userDrawn="1"/>
        </p:nvGrpSpPr>
        <p:grpSpPr>
          <a:xfrm>
            <a:off x="348870" y="6308875"/>
            <a:ext cx="2522079" cy="295576"/>
            <a:chOff x="327905" y="6378908"/>
            <a:chExt cx="3237850" cy="379461"/>
          </a:xfrm>
        </p:grpSpPr>
        <p:pic>
          <p:nvPicPr>
            <p:cNvPr id="11" name="Graphic 10">
              <a:extLst>
                <a:ext uri="{FF2B5EF4-FFF2-40B4-BE49-F238E27FC236}">
                  <a16:creationId xmlns:a16="http://schemas.microsoft.com/office/drawing/2014/main" id="{04304E9A-2374-A593-F56F-B3D58BA159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12" name="Group 11">
              <a:extLst>
                <a:ext uri="{FF2B5EF4-FFF2-40B4-BE49-F238E27FC236}">
                  <a16:creationId xmlns:a16="http://schemas.microsoft.com/office/drawing/2014/main" id="{EAEFE9A7-1EFC-15AB-21DB-1065BA47164E}"/>
                </a:ext>
              </a:extLst>
            </p:cNvPr>
            <p:cNvGrpSpPr/>
            <p:nvPr userDrawn="1"/>
          </p:nvGrpSpPr>
          <p:grpSpPr>
            <a:xfrm>
              <a:off x="1824210" y="6378908"/>
              <a:ext cx="1741545" cy="354329"/>
              <a:chOff x="1824210" y="6378908"/>
              <a:chExt cx="1741545" cy="354329"/>
            </a:xfrm>
          </p:grpSpPr>
          <p:pic>
            <p:nvPicPr>
              <p:cNvPr id="13" name="Graphic 12">
                <a:extLst>
                  <a:ext uri="{FF2B5EF4-FFF2-40B4-BE49-F238E27FC236}">
                    <a16:creationId xmlns:a16="http://schemas.microsoft.com/office/drawing/2014/main" id="{BA029ECA-52C9-EDF6-D20B-E22EDCF4A78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14" name="Straight Connector 13">
                <a:extLst>
                  <a:ext uri="{FF2B5EF4-FFF2-40B4-BE49-F238E27FC236}">
                    <a16:creationId xmlns:a16="http://schemas.microsoft.com/office/drawing/2014/main" id="{522BF2E3-149C-0CFB-A9B2-A713BA4A2E3E}"/>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1464730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C7709C-6E68-58AC-4376-9C7ADE260AF3}"/>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16200000" flipH="1">
            <a:off x="-2263002" y="2531593"/>
            <a:ext cx="6589412" cy="2063407"/>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grpSp>
        <p:nvGrpSpPr>
          <p:cNvPr id="19" name="Group 18">
            <a:extLst>
              <a:ext uri="{FF2B5EF4-FFF2-40B4-BE49-F238E27FC236}">
                <a16:creationId xmlns:a16="http://schemas.microsoft.com/office/drawing/2014/main" id="{42223E05-2001-B4A0-739A-EAED48C5D6ED}"/>
              </a:ext>
            </a:extLst>
          </p:cNvPr>
          <p:cNvGrpSpPr/>
          <p:nvPr userDrawn="1"/>
        </p:nvGrpSpPr>
        <p:grpSpPr>
          <a:xfrm>
            <a:off x="348870" y="6308875"/>
            <a:ext cx="2522079" cy="295576"/>
            <a:chOff x="327905" y="6378908"/>
            <a:chExt cx="3237850" cy="379461"/>
          </a:xfrm>
        </p:grpSpPr>
        <p:pic>
          <p:nvPicPr>
            <p:cNvPr id="20" name="Graphic 19">
              <a:extLst>
                <a:ext uri="{FF2B5EF4-FFF2-40B4-BE49-F238E27FC236}">
                  <a16:creationId xmlns:a16="http://schemas.microsoft.com/office/drawing/2014/main" id="{70BEF70F-B53A-6153-174B-0F6D2DF8377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21" name="Group 20">
              <a:extLst>
                <a:ext uri="{FF2B5EF4-FFF2-40B4-BE49-F238E27FC236}">
                  <a16:creationId xmlns:a16="http://schemas.microsoft.com/office/drawing/2014/main" id="{5B3C649B-1579-E7F0-D9B8-F1314492ACB5}"/>
                </a:ext>
              </a:extLst>
            </p:cNvPr>
            <p:cNvGrpSpPr/>
            <p:nvPr userDrawn="1"/>
          </p:nvGrpSpPr>
          <p:grpSpPr>
            <a:xfrm>
              <a:off x="1824210" y="6378908"/>
              <a:ext cx="1741545" cy="354329"/>
              <a:chOff x="1824210" y="6378908"/>
              <a:chExt cx="1741545" cy="354329"/>
            </a:xfrm>
          </p:grpSpPr>
          <p:pic>
            <p:nvPicPr>
              <p:cNvPr id="22" name="Graphic 21">
                <a:extLst>
                  <a:ext uri="{FF2B5EF4-FFF2-40B4-BE49-F238E27FC236}">
                    <a16:creationId xmlns:a16="http://schemas.microsoft.com/office/drawing/2014/main" id="{A13F4B3B-011B-92CA-09C6-CD25BACC594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23" name="Straight Connector 22">
                <a:extLst>
                  <a:ext uri="{FF2B5EF4-FFF2-40B4-BE49-F238E27FC236}">
                    <a16:creationId xmlns:a16="http://schemas.microsoft.com/office/drawing/2014/main" id="{7E966533-DACC-8C2D-D2C9-68FE794302E6}"/>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9759896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C7709C-6E68-58AC-4376-9C7ADE260AF3}"/>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16200000" flipH="1">
            <a:off x="-2263002" y="2531593"/>
            <a:ext cx="6589412" cy="2063407"/>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grpSp>
        <p:nvGrpSpPr>
          <p:cNvPr id="10" name="Group 9">
            <a:extLst>
              <a:ext uri="{FF2B5EF4-FFF2-40B4-BE49-F238E27FC236}">
                <a16:creationId xmlns:a16="http://schemas.microsoft.com/office/drawing/2014/main" id="{A6F453E3-A086-E0E1-6848-5E412484F505}"/>
              </a:ext>
            </a:extLst>
          </p:cNvPr>
          <p:cNvGrpSpPr/>
          <p:nvPr userDrawn="1"/>
        </p:nvGrpSpPr>
        <p:grpSpPr>
          <a:xfrm>
            <a:off x="348870" y="6308875"/>
            <a:ext cx="2522079" cy="295576"/>
            <a:chOff x="327905" y="6378908"/>
            <a:chExt cx="3237850" cy="379461"/>
          </a:xfrm>
        </p:grpSpPr>
        <p:pic>
          <p:nvPicPr>
            <p:cNvPr id="15" name="Graphic 14">
              <a:extLst>
                <a:ext uri="{FF2B5EF4-FFF2-40B4-BE49-F238E27FC236}">
                  <a16:creationId xmlns:a16="http://schemas.microsoft.com/office/drawing/2014/main" id="{B5A1AF76-7B25-E013-5792-5777CCF2070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16" name="Group 15">
              <a:extLst>
                <a:ext uri="{FF2B5EF4-FFF2-40B4-BE49-F238E27FC236}">
                  <a16:creationId xmlns:a16="http://schemas.microsoft.com/office/drawing/2014/main" id="{8B532BF8-C4E5-08AC-3662-D93CE0B4D19D}"/>
                </a:ext>
              </a:extLst>
            </p:cNvPr>
            <p:cNvGrpSpPr/>
            <p:nvPr userDrawn="1"/>
          </p:nvGrpSpPr>
          <p:grpSpPr>
            <a:xfrm>
              <a:off x="1824210" y="6378908"/>
              <a:ext cx="1741545" cy="354329"/>
              <a:chOff x="1824210" y="6378908"/>
              <a:chExt cx="1741545" cy="354329"/>
            </a:xfrm>
          </p:grpSpPr>
          <p:pic>
            <p:nvPicPr>
              <p:cNvPr id="17" name="Graphic 16">
                <a:extLst>
                  <a:ext uri="{FF2B5EF4-FFF2-40B4-BE49-F238E27FC236}">
                    <a16:creationId xmlns:a16="http://schemas.microsoft.com/office/drawing/2014/main" id="{CD782BFB-E87A-2DAF-1477-ACE6C3D6B53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18" name="Straight Connector 17">
                <a:extLst>
                  <a:ext uri="{FF2B5EF4-FFF2-40B4-BE49-F238E27FC236}">
                    <a16:creationId xmlns:a16="http://schemas.microsoft.com/office/drawing/2014/main" id="{4BF46A19-DC63-9EE9-0EAC-77FC7CD3940A}"/>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7825996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2" name="Picture 1">
            <a:extLst>
              <a:ext uri="{FF2B5EF4-FFF2-40B4-BE49-F238E27FC236}">
                <a16:creationId xmlns:a16="http://schemas.microsoft.com/office/drawing/2014/main" id="{253AD589-455E-BE38-EEFC-2CBBC3F6015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16200000" flipH="1" flipV="1">
            <a:off x="7865591" y="2531594"/>
            <a:ext cx="6589412" cy="2063407"/>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grpSp>
        <p:nvGrpSpPr>
          <p:cNvPr id="15" name="Group 14">
            <a:extLst>
              <a:ext uri="{FF2B5EF4-FFF2-40B4-BE49-F238E27FC236}">
                <a16:creationId xmlns:a16="http://schemas.microsoft.com/office/drawing/2014/main" id="{F61D3370-982D-A49E-D02B-28C5978BF615}"/>
              </a:ext>
            </a:extLst>
          </p:cNvPr>
          <p:cNvGrpSpPr/>
          <p:nvPr userDrawn="1"/>
        </p:nvGrpSpPr>
        <p:grpSpPr>
          <a:xfrm>
            <a:off x="348870" y="6308875"/>
            <a:ext cx="2522079" cy="295576"/>
            <a:chOff x="327905" y="6378908"/>
            <a:chExt cx="3237850" cy="379461"/>
          </a:xfrm>
        </p:grpSpPr>
        <p:pic>
          <p:nvPicPr>
            <p:cNvPr id="16" name="Graphic 15">
              <a:extLst>
                <a:ext uri="{FF2B5EF4-FFF2-40B4-BE49-F238E27FC236}">
                  <a16:creationId xmlns:a16="http://schemas.microsoft.com/office/drawing/2014/main" id="{23C04718-CB89-009E-0145-8473C35036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17" name="Group 16">
              <a:extLst>
                <a:ext uri="{FF2B5EF4-FFF2-40B4-BE49-F238E27FC236}">
                  <a16:creationId xmlns:a16="http://schemas.microsoft.com/office/drawing/2014/main" id="{3DE077D9-4F34-A44D-4A28-2D7359BE530D}"/>
                </a:ext>
              </a:extLst>
            </p:cNvPr>
            <p:cNvGrpSpPr/>
            <p:nvPr userDrawn="1"/>
          </p:nvGrpSpPr>
          <p:grpSpPr>
            <a:xfrm>
              <a:off x="1824210" y="6378908"/>
              <a:ext cx="1741545" cy="354329"/>
              <a:chOff x="1824210" y="6378908"/>
              <a:chExt cx="1741545" cy="354329"/>
            </a:xfrm>
          </p:grpSpPr>
          <p:pic>
            <p:nvPicPr>
              <p:cNvPr id="18" name="Graphic 17">
                <a:extLst>
                  <a:ext uri="{FF2B5EF4-FFF2-40B4-BE49-F238E27FC236}">
                    <a16:creationId xmlns:a16="http://schemas.microsoft.com/office/drawing/2014/main" id="{AA052461-4FD4-C768-A35C-7881F071FB6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19" name="Straight Connector 18">
                <a:extLst>
                  <a:ext uri="{FF2B5EF4-FFF2-40B4-BE49-F238E27FC236}">
                    <a16:creationId xmlns:a16="http://schemas.microsoft.com/office/drawing/2014/main" id="{79870529-DF2D-2C59-0ECE-29C45723338C}"/>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7040703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9A060A-55C9-23EF-848A-9333C2D87995}"/>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59794" y="1"/>
            <a:ext cx="13751794"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grpSp>
        <p:nvGrpSpPr>
          <p:cNvPr id="15" name="Group 14">
            <a:extLst>
              <a:ext uri="{FF2B5EF4-FFF2-40B4-BE49-F238E27FC236}">
                <a16:creationId xmlns:a16="http://schemas.microsoft.com/office/drawing/2014/main" id="{BA66D304-16AF-B405-08FB-12014F439E2A}"/>
              </a:ext>
            </a:extLst>
          </p:cNvPr>
          <p:cNvGrpSpPr/>
          <p:nvPr userDrawn="1"/>
        </p:nvGrpSpPr>
        <p:grpSpPr>
          <a:xfrm>
            <a:off x="348870" y="6308875"/>
            <a:ext cx="2522079" cy="295576"/>
            <a:chOff x="327905" y="6378908"/>
            <a:chExt cx="3237850" cy="379461"/>
          </a:xfrm>
        </p:grpSpPr>
        <p:pic>
          <p:nvPicPr>
            <p:cNvPr id="16" name="Graphic 15">
              <a:extLst>
                <a:ext uri="{FF2B5EF4-FFF2-40B4-BE49-F238E27FC236}">
                  <a16:creationId xmlns:a16="http://schemas.microsoft.com/office/drawing/2014/main" id="{9EAC2411-A2FC-5558-A304-A836E9283A4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17" name="Group 16">
              <a:extLst>
                <a:ext uri="{FF2B5EF4-FFF2-40B4-BE49-F238E27FC236}">
                  <a16:creationId xmlns:a16="http://schemas.microsoft.com/office/drawing/2014/main" id="{205EBB07-7499-8EC9-3080-29EFF37724B2}"/>
                </a:ext>
              </a:extLst>
            </p:cNvPr>
            <p:cNvGrpSpPr/>
            <p:nvPr userDrawn="1"/>
          </p:nvGrpSpPr>
          <p:grpSpPr>
            <a:xfrm>
              <a:off x="1824210" y="6378908"/>
              <a:ext cx="1741545" cy="354329"/>
              <a:chOff x="1824210" y="6378908"/>
              <a:chExt cx="1741545" cy="354329"/>
            </a:xfrm>
          </p:grpSpPr>
          <p:pic>
            <p:nvPicPr>
              <p:cNvPr id="18" name="Graphic 17">
                <a:extLst>
                  <a:ext uri="{FF2B5EF4-FFF2-40B4-BE49-F238E27FC236}">
                    <a16:creationId xmlns:a16="http://schemas.microsoft.com/office/drawing/2014/main" id="{53D8223C-BAF1-14D2-C981-D7029DEE5220}"/>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19" name="Straight Connector 18">
                <a:extLst>
                  <a:ext uri="{FF2B5EF4-FFF2-40B4-BE49-F238E27FC236}">
                    <a16:creationId xmlns:a16="http://schemas.microsoft.com/office/drawing/2014/main" id="{FB168D54-F246-100E-51D1-B3C9B17F3385}"/>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3271300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167015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only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3D2D8AF-452C-D94D-A560-DAD6A962E17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kumimoji="0" lang="en-CA" sz="1000" b="0" i="0" u="none" strike="noStrike" kern="1200" cap="none" spc="0" normalizeH="0" baseline="0" noProof="0" smtClean="0">
                <a:ln>
                  <a:noFill/>
                </a:ln>
                <a:solidFill>
                  <a:srgbClr val="000000"/>
                </a:solidFill>
                <a:effectLst/>
                <a:uLnTx/>
                <a:uFillTx/>
                <a:latin typeface="Segoe UI"/>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CA" sz="1000" b="0" i="0" u="none" strike="noStrike" kern="1200" cap="none" spc="0" normalizeH="0" baseline="0" noProof="0">
              <a:ln>
                <a:noFill/>
              </a:ln>
              <a:solidFill>
                <a:srgbClr val="000000"/>
              </a:solidFill>
              <a:effectLst/>
              <a:uLnTx/>
              <a:uFillTx/>
              <a:latin typeface="Segoe UI"/>
              <a:ea typeface="+mn-ea"/>
              <a:cs typeface="Arial" pitchFamily="34" charset="0"/>
            </a:endParaRPr>
          </a:p>
        </p:txBody>
      </p:sp>
      <p:sp>
        <p:nvSpPr>
          <p:cNvPr id="8" name="Titre 1">
            <a:extLst>
              <a:ext uri="{FF2B5EF4-FFF2-40B4-BE49-F238E27FC236}">
                <a16:creationId xmlns:a16="http://schemas.microsoft.com/office/drawing/2014/main" id="{561C906F-FE73-EC4B-9D46-7CD1B4F04428}"/>
              </a:ext>
            </a:extLst>
          </p:cNvPr>
          <p:cNvSpPr>
            <a:spLocks noGrp="1"/>
          </p:cNvSpPr>
          <p:nvPr>
            <p:ph type="title" hasCustomPrompt="1"/>
          </p:nvPr>
        </p:nvSpPr>
        <p:spPr>
          <a:xfrm>
            <a:off x="765737" y="684000"/>
            <a:ext cx="10676438" cy="531097"/>
          </a:xfrm>
        </p:spPr>
        <p:txBody>
          <a:bodyPr>
            <a:noAutofit/>
          </a:bodyPr>
          <a:lstStyle>
            <a:lvl1pPr>
              <a:defRPr sz="2800">
                <a:solidFill>
                  <a:schemeClr val="tx1"/>
                </a:solidFill>
              </a:defRPr>
            </a:lvl1pPr>
          </a:lstStyle>
          <a:p>
            <a:r>
              <a:rPr lang="en-CA"/>
              <a:t>Title only slide</a:t>
            </a:r>
          </a:p>
        </p:txBody>
      </p:sp>
    </p:spTree>
    <p:extLst>
      <p:ext uri="{BB962C8B-B14F-4D97-AF65-F5344CB8AC3E}">
        <p14:creationId xmlns:p14="http://schemas.microsoft.com/office/powerpoint/2010/main" val="37796996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ingle Column - Simple">
  <p:cSld name="1_Single Column - Simple">
    <p:spTree>
      <p:nvGrpSpPr>
        <p:cNvPr id="1" name="Shape 34"/>
        <p:cNvGrpSpPr/>
        <p:nvPr/>
      </p:nvGrpSpPr>
      <p:grpSpPr>
        <a:xfrm>
          <a:off x="0" y="0"/>
          <a:ext cx="0" cy="0"/>
          <a:chOff x="0" y="0"/>
          <a:chExt cx="0" cy="0"/>
        </a:xfrm>
      </p:grpSpPr>
      <p:sp>
        <p:nvSpPr>
          <p:cNvPr id="35" name="Google Shape;35;p5"/>
          <p:cNvSpPr/>
          <p:nvPr/>
        </p:nvSpPr>
        <p:spPr>
          <a:xfrm rot="10800000">
            <a:off x="3082413" y="0"/>
            <a:ext cx="280220" cy="6858000"/>
          </a:xfrm>
          <a:prstGeom prst="rect">
            <a:avLst/>
          </a:prstGeom>
          <a:solidFill>
            <a:srgbClr val="1C1C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Arial"/>
              <a:ea typeface="Arial"/>
              <a:cs typeface="Arial"/>
              <a:sym typeface="Arial"/>
            </a:endParaRPr>
          </a:p>
        </p:txBody>
      </p:sp>
      <p:sp>
        <p:nvSpPr>
          <p:cNvPr id="37" name="Google Shape;37;p5"/>
          <p:cNvSpPr txBox="1">
            <a:spLocks noGrp="1"/>
          </p:cNvSpPr>
          <p:nvPr>
            <p:ph type="body" idx="1"/>
          </p:nvPr>
        </p:nvSpPr>
        <p:spPr>
          <a:xfrm>
            <a:off x="361950" y="876300"/>
            <a:ext cx="11468100" cy="5206785"/>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solidFill>
                  <a:schemeClr val="lt1"/>
                </a:solidFill>
              </a:defRPr>
            </a:lvl1pPr>
            <a:lvl2pPr marL="914400" lvl="1" indent="-342900" algn="l">
              <a:lnSpc>
                <a:spcPct val="100000"/>
              </a:lnSpc>
              <a:spcBef>
                <a:spcPts val="1500"/>
              </a:spcBef>
              <a:spcAft>
                <a:spcPts val="0"/>
              </a:spcAft>
              <a:buSzPts val="1800"/>
              <a:buChar char="•"/>
              <a:defRPr>
                <a:solidFill>
                  <a:schemeClr val="lt1"/>
                </a:solidFill>
              </a:defRPr>
            </a:lvl2pPr>
            <a:lvl3pPr marL="1371600" lvl="2" indent="-342900" algn="l">
              <a:lnSpc>
                <a:spcPct val="100000"/>
              </a:lnSpc>
              <a:spcBef>
                <a:spcPts val="1500"/>
              </a:spcBef>
              <a:spcAft>
                <a:spcPts val="0"/>
              </a:spcAft>
              <a:buSzPts val="1800"/>
              <a:buChar char="•"/>
              <a:defRPr>
                <a:solidFill>
                  <a:schemeClr val="lt1"/>
                </a:solidFill>
              </a:defRPr>
            </a:lvl3pPr>
            <a:lvl4pPr marL="1828800" lvl="3" indent="-342900" algn="l">
              <a:lnSpc>
                <a:spcPct val="100000"/>
              </a:lnSpc>
              <a:spcBef>
                <a:spcPts val="1500"/>
              </a:spcBef>
              <a:spcAft>
                <a:spcPts val="0"/>
              </a:spcAft>
              <a:buSzPts val="1800"/>
              <a:buChar char="•"/>
              <a:defRPr>
                <a:solidFill>
                  <a:schemeClr val="lt1"/>
                </a:solidFill>
              </a:defRPr>
            </a:lvl4pPr>
            <a:lvl5pPr marL="2286000" lvl="4" indent="-342900" algn="l">
              <a:lnSpc>
                <a:spcPct val="100000"/>
              </a:lnSpc>
              <a:spcBef>
                <a:spcPts val="1500"/>
              </a:spcBef>
              <a:spcAft>
                <a:spcPts val="0"/>
              </a:spcAft>
              <a:buSzPts val="1800"/>
              <a:buChar char="•"/>
              <a:defRPr>
                <a:solidFill>
                  <a:schemeClr val="lt1"/>
                </a:solidFill>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5"/>
          <p:cNvSpPr txBox="1">
            <a:spLocks noGrp="1"/>
          </p:cNvSpPr>
          <p:nvPr>
            <p:ph type="title"/>
          </p:nvPr>
        </p:nvSpPr>
        <p:spPr>
          <a:xfrm>
            <a:off x="334496" y="268589"/>
            <a:ext cx="11495554" cy="607712"/>
          </a:xfrm>
          <a:prstGeom prst="rect">
            <a:avLst/>
          </a:prstGeom>
          <a:noFill/>
          <a:ln>
            <a:noFill/>
          </a:ln>
        </p:spPr>
        <p:txBody>
          <a:bodyPr spcFirstLastPara="1" wrap="square" lIns="0" tIns="0" rIns="0" bIns="0" anchor="t" anchorCtr="0">
            <a:noAutofit/>
          </a:bodyPr>
          <a:lstStyle>
            <a:lvl1pPr lvl="0" algn="l">
              <a:lnSpc>
                <a:spcPct val="110000"/>
              </a:lnSpc>
              <a:spcBef>
                <a:spcPts val="0"/>
              </a:spcBef>
              <a:spcAft>
                <a:spcPts val="0"/>
              </a:spcAft>
              <a:buClr>
                <a:schemeClr val="lt1"/>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7760653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48892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3682F-6EC0-4798-8B94-914881B169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B3D891-9CAD-479F-A98F-F2DA9A629C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C74083-27B7-4707-9A9F-8F446ADD7777}"/>
              </a:ext>
            </a:extLst>
          </p:cNvPr>
          <p:cNvSpPr>
            <a:spLocks noGrp="1"/>
          </p:cNvSpPr>
          <p:nvPr>
            <p:ph type="dt" sz="half" idx="10"/>
          </p:nvPr>
        </p:nvSpPr>
        <p:spPr/>
        <p:txBody>
          <a:bodyPr/>
          <a:lstStyle/>
          <a:p>
            <a:fld id="{4FE8F126-5A75-45C0-BA0A-5EC8430630BA}" type="datetimeFigureOut">
              <a:rPr lang="en-US" smtClean="0"/>
              <a:t>4/26/2026</a:t>
            </a:fld>
            <a:endParaRPr lang="en-US"/>
          </a:p>
        </p:txBody>
      </p:sp>
      <p:sp>
        <p:nvSpPr>
          <p:cNvPr id="5" name="Footer Placeholder 4">
            <a:extLst>
              <a:ext uri="{FF2B5EF4-FFF2-40B4-BE49-F238E27FC236}">
                <a16:creationId xmlns:a16="http://schemas.microsoft.com/office/drawing/2014/main" id="{B89B71AD-2914-427A-96DF-C12BA0A31A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EE2130-16C3-4D70-880B-48B32001791B}"/>
              </a:ext>
            </a:extLst>
          </p:cNvPr>
          <p:cNvSpPr>
            <a:spLocks noGrp="1"/>
          </p:cNvSpPr>
          <p:nvPr>
            <p:ph type="sldNum" sz="quarter" idx="12"/>
          </p:nvPr>
        </p:nvSpPr>
        <p:spPr/>
        <p:txBody>
          <a:bodyPr/>
          <a:lstStyle/>
          <a:p>
            <a:fld id="{EA4E59D7-9845-43B5-8985-2450A6DD7C2F}" type="slidenum">
              <a:rPr lang="en-US" smtClean="0"/>
              <a:t>‹#›</a:t>
            </a:fld>
            <a:endParaRPr lang="en-US"/>
          </a:p>
        </p:txBody>
      </p:sp>
    </p:spTree>
    <p:extLst>
      <p:ext uri="{BB962C8B-B14F-4D97-AF65-F5344CB8AC3E}">
        <p14:creationId xmlns:p14="http://schemas.microsoft.com/office/powerpoint/2010/main" val="23212200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7454900" cy="627380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091679" y="1113883"/>
            <a:ext cx="5100321"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109142" y="3429000"/>
            <a:ext cx="5084359" cy="307777"/>
          </a:xfrm>
          <a:prstGeom prst="rect">
            <a:avLst/>
          </a:prstGeom>
        </p:spPr>
        <p:txBody>
          <a:bodyPr vert="horz" wrap="square" lIns="0" tIns="0" rIns="0" bIns="0" rtlCol="0" anchor="t">
            <a:spAutoFit/>
          </a:bodyPr>
          <a:lstStyle>
            <a:lvl1pPr marL="0" indent="0">
              <a:buNone/>
              <a:defRPr lang="en-US" sz="2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grpSp>
        <p:nvGrpSpPr>
          <p:cNvPr id="15" name="Group 14">
            <a:extLst>
              <a:ext uri="{FF2B5EF4-FFF2-40B4-BE49-F238E27FC236}">
                <a16:creationId xmlns:a16="http://schemas.microsoft.com/office/drawing/2014/main" id="{6FE46621-82BD-E914-454B-FBBDE1477FC4}"/>
              </a:ext>
            </a:extLst>
          </p:cNvPr>
          <p:cNvGrpSpPr/>
          <p:nvPr userDrawn="1"/>
        </p:nvGrpSpPr>
        <p:grpSpPr>
          <a:xfrm>
            <a:off x="348870" y="6308875"/>
            <a:ext cx="2522079" cy="295576"/>
            <a:chOff x="327905" y="6378908"/>
            <a:chExt cx="3237850" cy="379461"/>
          </a:xfrm>
        </p:grpSpPr>
        <p:pic>
          <p:nvPicPr>
            <p:cNvPr id="16" name="Graphic 15">
              <a:extLst>
                <a:ext uri="{FF2B5EF4-FFF2-40B4-BE49-F238E27FC236}">
                  <a16:creationId xmlns:a16="http://schemas.microsoft.com/office/drawing/2014/main" id="{F56591DA-AA3E-F4DC-F6D2-89944C8507A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17" name="Group 16">
              <a:extLst>
                <a:ext uri="{FF2B5EF4-FFF2-40B4-BE49-F238E27FC236}">
                  <a16:creationId xmlns:a16="http://schemas.microsoft.com/office/drawing/2014/main" id="{D40823B6-96FB-C300-8DAE-005B815EAC59}"/>
                </a:ext>
              </a:extLst>
            </p:cNvPr>
            <p:cNvGrpSpPr/>
            <p:nvPr userDrawn="1"/>
          </p:nvGrpSpPr>
          <p:grpSpPr>
            <a:xfrm>
              <a:off x="1824210" y="6378908"/>
              <a:ext cx="1741545" cy="354329"/>
              <a:chOff x="1824210" y="6378908"/>
              <a:chExt cx="1741545" cy="354329"/>
            </a:xfrm>
          </p:grpSpPr>
          <p:pic>
            <p:nvPicPr>
              <p:cNvPr id="18" name="Graphic 17">
                <a:extLst>
                  <a:ext uri="{FF2B5EF4-FFF2-40B4-BE49-F238E27FC236}">
                    <a16:creationId xmlns:a16="http://schemas.microsoft.com/office/drawing/2014/main" id="{44AD2D5C-FB6D-02EA-C693-D205A26D7E7B}"/>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19" name="Straight Connector 18">
                <a:extLst>
                  <a:ext uri="{FF2B5EF4-FFF2-40B4-BE49-F238E27FC236}">
                    <a16:creationId xmlns:a16="http://schemas.microsoft.com/office/drawing/2014/main" id="{051FE2C4-AA21-DDFA-62C0-6E36EC9B87CD}"/>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7663057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75036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chemeClr val="tx1"/>
        </a:solidFill>
        <a:effectLst/>
      </p:bgPr>
    </p:bg>
    <p:spTree>
      <p:nvGrpSpPr>
        <p:cNvPr id="1" name=""/>
        <p:cNvGrpSpPr/>
        <p:nvPr/>
      </p:nvGrpSpPr>
      <p:grpSpPr>
        <a:xfrm>
          <a:off x="0" y="0"/>
          <a:ext cx="0" cy="0"/>
          <a:chOff x="0" y="0"/>
          <a:chExt cx="0" cy="0"/>
        </a:xfrm>
      </p:grpSpPr>
      <p:pic>
        <p:nvPicPr>
          <p:cNvPr id="3" name="Picture 2" descr="A red circle with a black center&#10;&#10;Description automatically generated with low confidence">
            <a:extLst>
              <a:ext uri="{FF2B5EF4-FFF2-40B4-BE49-F238E27FC236}">
                <a16:creationId xmlns:a16="http://schemas.microsoft.com/office/drawing/2014/main" id="{9133BE2E-0957-EB26-1AC2-662D9C767754}"/>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7248" t="29323" r="1460" b="4823"/>
          <a:stretch/>
        </p:blipFill>
        <p:spPr>
          <a:xfrm>
            <a:off x="1175093" y="0"/>
            <a:ext cx="11016907" cy="6857999"/>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436844" y="311905"/>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454307" y="2484528"/>
            <a:ext cx="4437855" cy="800219"/>
          </a:xfrm>
          <a:prstGeom prst="rect">
            <a:avLst/>
          </a:prstGeom>
        </p:spPr>
        <p:txBody>
          <a:bodyPr vert="horz" wrap="square" lIns="0" tIns="0" rIns="0" bIns="0" rtlCol="0" anchor="t">
            <a:spAutoFit/>
          </a:bodyPr>
          <a:lstStyle>
            <a:lvl1pPr marL="0" indent="0">
              <a:buNone/>
              <a:defRPr lang="en-US" sz="2600" dirty="0">
                <a:ln>
                  <a:noFill/>
                </a:ln>
                <a:solidFill>
                  <a:schemeClr val="bg1"/>
                </a:solidFill>
              </a:defRPr>
            </a:lvl1pPr>
          </a:lstStyle>
          <a:p>
            <a:pPr lvl="0"/>
            <a:r>
              <a:rPr lang="en-US"/>
              <a:t>All titles/subtitles are sentence case</a:t>
            </a:r>
          </a:p>
        </p:txBody>
      </p:sp>
      <p:sp>
        <p:nvSpPr>
          <p:cNvPr id="11" name="Graphic 2">
            <a:extLst>
              <a:ext uri="{FF2B5EF4-FFF2-40B4-BE49-F238E27FC236}">
                <a16:creationId xmlns:a16="http://schemas.microsoft.com/office/drawing/2014/main" id="{237DB247-FFE8-0A9F-ECA5-A1F629361D0F}"/>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grpSp>
        <p:nvGrpSpPr>
          <p:cNvPr id="16" name="Group 15">
            <a:extLst>
              <a:ext uri="{FF2B5EF4-FFF2-40B4-BE49-F238E27FC236}">
                <a16:creationId xmlns:a16="http://schemas.microsoft.com/office/drawing/2014/main" id="{853A9A24-6911-4C01-422F-963E834B0EC6}"/>
              </a:ext>
            </a:extLst>
          </p:cNvPr>
          <p:cNvGrpSpPr/>
          <p:nvPr userDrawn="1"/>
        </p:nvGrpSpPr>
        <p:grpSpPr>
          <a:xfrm>
            <a:off x="348870" y="6308875"/>
            <a:ext cx="2522079" cy="295576"/>
            <a:chOff x="327905" y="6378908"/>
            <a:chExt cx="3237850" cy="379461"/>
          </a:xfrm>
        </p:grpSpPr>
        <p:pic>
          <p:nvPicPr>
            <p:cNvPr id="17" name="Graphic 16">
              <a:extLst>
                <a:ext uri="{FF2B5EF4-FFF2-40B4-BE49-F238E27FC236}">
                  <a16:creationId xmlns:a16="http://schemas.microsoft.com/office/drawing/2014/main" id="{E2EE54DA-5C38-2047-E538-B758D116710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grpSp>
          <p:nvGrpSpPr>
            <p:cNvPr id="18" name="Group 17">
              <a:extLst>
                <a:ext uri="{FF2B5EF4-FFF2-40B4-BE49-F238E27FC236}">
                  <a16:creationId xmlns:a16="http://schemas.microsoft.com/office/drawing/2014/main" id="{7EDDB457-866D-59E6-A7B3-CE2EE49E94F5}"/>
                </a:ext>
              </a:extLst>
            </p:cNvPr>
            <p:cNvGrpSpPr/>
            <p:nvPr userDrawn="1"/>
          </p:nvGrpSpPr>
          <p:grpSpPr>
            <a:xfrm>
              <a:off x="1824210" y="6378908"/>
              <a:ext cx="1741545" cy="354329"/>
              <a:chOff x="1824210" y="6378908"/>
              <a:chExt cx="1741545" cy="354329"/>
            </a:xfrm>
          </p:grpSpPr>
          <p:pic>
            <p:nvPicPr>
              <p:cNvPr id="19" name="Graphic 18">
                <a:extLst>
                  <a:ext uri="{FF2B5EF4-FFF2-40B4-BE49-F238E27FC236}">
                    <a16:creationId xmlns:a16="http://schemas.microsoft.com/office/drawing/2014/main" id="{433F2AAF-2D37-AC11-E008-1E645B7080D4}"/>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39416" y="6404039"/>
                <a:ext cx="1426339" cy="304069"/>
              </a:xfrm>
              <a:prstGeom prst="rect">
                <a:avLst/>
              </a:prstGeom>
            </p:spPr>
          </p:pic>
          <p:cxnSp>
            <p:nvCxnSpPr>
              <p:cNvPr id="20" name="Straight Connector 19">
                <a:extLst>
                  <a:ext uri="{FF2B5EF4-FFF2-40B4-BE49-F238E27FC236}">
                    <a16:creationId xmlns:a16="http://schemas.microsoft.com/office/drawing/2014/main" id="{96ACFCF1-AC97-6D6C-AE02-AAF20657B956}"/>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1100304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pic>
        <p:nvPicPr>
          <p:cNvPr id="12" name="Graphic 11">
            <a:extLst>
              <a:ext uri="{FF2B5EF4-FFF2-40B4-BE49-F238E27FC236}">
                <a16:creationId xmlns:a16="http://schemas.microsoft.com/office/drawing/2014/main" id="{56D6CE03-A357-4F48-9540-C70336DEB7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035800" y="0"/>
            <a:ext cx="5156200" cy="6858000"/>
          </a:xfrm>
          <a:prstGeom prst="rect">
            <a:avLst/>
          </a:prstGeom>
        </p:spPr>
      </p:pic>
      <p:sp>
        <p:nvSpPr>
          <p:cNvPr id="7" name="Title 1">
            <a:extLst>
              <a:ext uri="{FF2B5EF4-FFF2-40B4-BE49-F238E27FC236}">
                <a16:creationId xmlns:a16="http://schemas.microsoft.com/office/drawing/2014/main" id="{5FAF0DBB-E02D-B147-B4A6-7F79832F3052}"/>
              </a:ext>
            </a:extLst>
          </p:cNvPr>
          <p:cNvSpPr>
            <a:spLocks noGrp="1"/>
          </p:cNvSpPr>
          <p:nvPr>
            <p:ph type="ctrTitle" hasCustomPrompt="1"/>
          </p:nvPr>
        </p:nvSpPr>
        <p:spPr>
          <a:xfrm>
            <a:off x="323545" y="238299"/>
            <a:ext cx="7141464" cy="2198935"/>
          </a:xfrm>
          <a:prstGeom prst="rect">
            <a:avLst/>
          </a:prstGeom>
        </p:spPr>
        <p:txBody>
          <a:bodyPr lIns="0" tIns="0" rIns="0" bIns="0" anchor="b" anchorCtr="0">
            <a:spAutoFit/>
          </a:bodyPr>
          <a:lstStyle>
            <a:lvl1pPr algn="l" fontAlgn="b">
              <a:lnSpc>
                <a:spcPct val="112000"/>
              </a:lnSpc>
              <a:defRPr sz="4500">
                <a:solidFill>
                  <a:schemeClr val="tx2"/>
                </a:solidFill>
              </a:defRPr>
            </a:lvl1pPr>
          </a:lstStyle>
          <a:p>
            <a:r>
              <a:rPr lang="en-US"/>
              <a:t>Title with</a:t>
            </a:r>
            <a:br>
              <a:rPr lang="en-US"/>
            </a:br>
            <a:r>
              <a:rPr lang="en-US"/>
              <a:t>multiple lines</a:t>
            </a:r>
            <a:br>
              <a:rPr lang="en-US"/>
            </a:br>
            <a:r>
              <a:rPr lang="en-US"/>
              <a:t>here</a:t>
            </a:r>
          </a:p>
        </p:txBody>
      </p:sp>
      <p:sp>
        <p:nvSpPr>
          <p:cNvPr id="8" name="Subtitle 2">
            <a:extLst>
              <a:ext uri="{FF2B5EF4-FFF2-40B4-BE49-F238E27FC236}">
                <a16:creationId xmlns:a16="http://schemas.microsoft.com/office/drawing/2014/main" id="{EBF8E17E-50A5-2844-8F3E-CC055D9F84C1}"/>
              </a:ext>
            </a:extLst>
          </p:cNvPr>
          <p:cNvSpPr>
            <a:spLocks noGrp="1"/>
          </p:cNvSpPr>
          <p:nvPr>
            <p:ph type="subTitle" idx="1" hasCustomPrompt="1"/>
          </p:nvPr>
        </p:nvSpPr>
        <p:spPr>
          <a:xfrm>
            <a:off x="338658" y="2513255"/>
            <a:ext cx="7141464" cy="400110"/>
          </a:xfrm>
          <a:prstGeom prst="rect">
            <a:avLst/>
          </a:prstGeom>
        </p:spPr>
        <p:txBody>
          <a:bodyPr lIns="0" tIns="0" rIns="0" bIns="0" anchor="t">
            <a:spAutoFit/>
          </a:bodyPr>
          <a:lstStyle>
            <a:lvl1pPr marL="0" indent="0" algn="l">
              <a:buNone/>
              <a:defRPr sz="2600">
                <a:ln>
                  <a:noFill/>
                </a:l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48870" y="4901789"/>
            <a:ext cx="5686425" cy="461665"/>
          </a:xfrm>
          <a:prstGeom prst="rect">
            <a:avLst/>
          </a:prstGeom>
        </p:spPr>
        <p:txBody>
          <a:bodyPr lIns="0" tIns="0" rIns="0" bIns="0">
            <a:spAutoFit/>
          </a:bodyPr>
          <a:lstStyle>
            <a:lvl1pPr marL="0" indent="0">
              <a:spcBef>
                <a:spcPts val="0"/>
              </a:spcBef>
              <a:buNone/>
              <a:defRPr/>
            </a:lvl1pPr>
          </a:lstStyle>
          <a:p>
            <a:pPr lvl="0"/>
            <a:r>
              <a:rPr lang="en-US"/>
              <a:t>Name goes here</a:t>
            </a:r>
            <a:br>
              <a:rPr lang="en-US"/>
            </a:br>
            <a:r>
              <a:rPr lang="en-US"/>
              <a:t>Position goes here</a:t>
            </a:r>
          </a:p>
        </p:txBody>
      </p:sp>
    </p:spTree>
    <p:extLst>
      <p:ext uri="{BB962C8B-B14F-4D97-AF65-F5344CB8AC3E}">
        <p14:creationId xmlns:p14="http://schemas.microsoft.com/office/powerpoint/2010/main" val="33922052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3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238500" y="361951"/>
            <a:ext cx="5580063" cy="2242568"/>
          </a:xfr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255963" y="2677068"/>
            <a:ext cx="5562600" cy="813594"/>
          </a:xfrm>
        </p:spPr>
        <p:txBody>
          <a:bodyPr vert="horz" lIns="0" tIns="0" rIns="0" bIns="0" rtlCol="0" anchor="t">
            <a:noAutofit/>
          </a:bodyPr>
          <a:lstStyle>
            <a:lvl1pPr marL="0" indent="0">
              <a:buNone/>
              <a:defRPr lang="en-US" sz="2000" dirty="0">
                <a:ln>
                  <a:noFill/>
                </a:ln>
                <a:solidFill>
                  <a:schemeClr val="bg1"/>
                </a:solidFill>
              </a:defRPr>
            </a:lvl1pPr>
          </a:lstStyle>
          <a:p>
            <a:pPr lvl="0"/>
            <a:r>
              <a:rPr lang="en-US"/>
              <a:t>All titles/subtitles are sentence case</a:t>
            </a:r>
          </a:p>
        </p:txBody>
      </p:sp>
      <p:grpSp>
        <p:nvGrpSpPr>
          <p:cNvPr id="125" name="Group 124">
            <a:extLst>
              <a:ext uri="{FF2B5EF4-FFF2-40B4-BE49-F238E27FC236}">
                <a16:creationId xmlns:a16="http://schemas.microsoft.com/office/drawing/2014/main" id="{57043624-C5ED-48F9-9ADE-01955852D633}"/>
              </a:ext>
            </a:extLst>
          </p:cNvPr>
          <p:cNvGrpSpPr/>
          <p:nvPr userDrawn="1"/>
        </p:nvGrpSpPr>
        <p:grpSpPr>
          <a:xfrm>
            <a:off x="-55562" y="1292226"/>
            <a:ext cx="2135188" cy="2219325"/>
            <a:chOff x="-55562" y="1292226"/>
            <a:chExt cx="2135188" cy="2219325"/>
          </a:xfrm>
        </p:grpSpPr>
        <p:sp>
          <p:nvSpPr>
            <p:cNvPr id="126" name="Line 19">
              <a:extLst>
                <a:ext uri="{FF2B5EF4-FFF2-40B4-BE49-F238E27FC236}">
                  <a16:creationId xmlns:a16="http://schemas.microsoft.com/office/drawing/2014/main" id="{CDAA4465-A13C-4BA4-A430-41143CF05FF7}"/>
                </a:ext>
              </a:extLst>
            </p:cNvPr>
            <p:cNvSpPr>
              <a:spLocks noChangeShapeType="1"/>
            </p:cNvSpPr>
            <p:nvPr userDrawn="1"/>
          </p:nvSpPr>
          <p:spPr bwMode="auto">
            <a:xfrm flipH="1">
              <a:off x="157163" y="3141663"/>
              <a:ext cx="214313" cy="369888"/>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7" name="Line 20">
              <a:extLst>
                <a:ext uri="{FF2B5EF4-FFF2-40B4-BE49-F238E27FC236}">
                  <a16:creationId xmlns:a16="http://schemas.microsoft.com/office/drawing/2014/main" id="{700DBC5B-C430-4E35-BF2E-1506FCFBCE28}"/>
                </a:ext>
              </a:extLst>
            </p:cNvPr>
            <p:cNvSpPr>
              <a:spLocks noChangeShapeType="1"/>
            </p:cNvSpPr>
            <p:nvPr userDrawn="1"/>
          </p:nvSpPr>
          <p:spPr bwMode="auto">
            <a:xfrm>
              <a:off x="157163" y="1292226"/>
              <a:ext cx="214313" cy="369888"/>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8" name="Line 21">
              <a:extLst>
                <a:ext uri="{FF2B5EF4-FFF2-40B4-BE49-F238E27FC236}">
                  <a16:creationId xmlns:a16="http://schemas.microsoft.com/office/drawing/2014/main" id="{3551BFB1-7107-474F-8368-3D13C48B95D2}"/>
                </a:ext>
              </a:extLst>
            </p:cNvPr>
            <p:cNvSpPr>
              <a:spLocks noChangeShapeType="1"/>
            </p:cNvSpPr>
            <p:nvPr userDrawn="1"/>
          </p:nvSpPr>
          <p:spPr bwMode="auto">
            <a:xfrm flipH="1">
              <a:off x="371475" y="2401888"/>
              <a:ext cx="85248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 name="Line 22">
              <a:extLst>
                <a:ext uri="{FF2B5EF4-FFF2-40B4-BE49-F238E27FC236}">
                  <a16:creationId xmlns:a16="http://schemas.microsoft.com/office/drawing/2014/main" id="{8AFD68F6-1283-49AB-9A5C-29920EDE5B30}"/>
                </a:ext>
              </a:extLst>
            </p:cNvPr>
            <p:cNvSpPr>
              <a:spLocks noChangeShapeType="1"/>
            </p:cNvSpPr>
            <p:nvPr userDrawn="1"/>
          </p:nvSpPr>
          <p:spPr bwMode="auto">
            <a:xfrm flipH="1" flipV="1">
              <a:off x="585788" y="2032001"/>
              <a:ext cx="427038" cy="739775"/>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 name="Line 23">
              <a:extLst>
                <a:ext uri="{FF2B5EF4-FFF2-40B4-BE49-F238E27FC236}">
                  <a16:creationId xmlns:a16="http://schemas.microsoft.com/office/drawing/2014/main" id="{ECAF9728-8DEF-45EA-9AFF-7FE9EC3CDB95}"/>
                </a:ext>
              </a:extLst>
            </p:cNvPr>
            <p:cNvSpPr>
              <a:spLocks noChangeShapeType="1"/>
            </p:cNvSpPr>
            <p:nvPr userDrawn="1"/>
          </p:nvSpPr>
          <p:spPr bwMode="auto">
            <a:xfrm>
              <a:off x="1652588" y="2401888"/>
              <a:ext cx="4270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 name="Line 24">
              <a:extLst>
                <a:ext uri="{FF2B5EF4-FFF2-40B4-BE49-F238E27FC236}">
                  <a16:creationId xmlns:a16="http://schemas.microsoft.com/office/drawing/2014/main" id="{B2D82F8C-3F9F-4178-9D54-64FC4338A650}"/>
                </a:ext>
              </a:extLst>
            </p:cNvPr>
            <p:cNvSpPr>
              <a:spLocks noChangeShapeType="1"/>
            </p:cNvSpPr>
            <p:nvPr userDrawn="1"/>
          </p:nvSpPr>
          <p:spPr bwMode="auto">
            <a:xfrm flipH="1">
              <a:off x="585788" y="2032001"/>
              <a:ext cx="427038" cy="739775"/>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 name="Freeform 25">
              <a:extLst>
                <a:ext uri="{FF2B5EF4-FFF2-40B4-BE49-F238E27FC236}">
                  <a16:creationId xmlns:a16="http://schemas.microsoft.com/office/drawing/2014/main" id="{485BAC16-9A05-483D-B55B-FCB4F59916C0}"/>
                </a:ext>
              </a:extLst>
            </p:cNvPr>
            <p:cNvSpPr>
              <a:spLocks/>
            </p:cNvSpPr>
            <p:nvPr userDrawn="1"/>
          </p:nvSpPr>
          <p:spPr bwMode="auto">
            <a:xfrm>
              <a:off x="157163" y="2771776"/>
              <a:ext cx="642938" cy="369888"/>
            </a:xfrm>
            <a:custGeom>
              <a:avLst/>
              <a:gdLst>
                <a:gd name="T0" fmla="*/ 0 w 405"/>
                <a:gd name="T1" fmla="*/ 0 h 233"/>
                <a:gd name="T2" fmla="*/ 270 w 405"/>
                <a:gd name="T3" fmla="*/ 0 h 233"/>
                <a:gd name="T4" fmla="*/ 270 w 405"/>
                <a:gd name="T5" fmla="*/ 0 h 233"/>
                <a:gd name="T6" fmla="*/ 405 w 405"/>
                <a:gd name="T7" fmla="*/ 233 h 233"/>
              </a:gdLst>
              <a:ahLst/>
              <a:cxnLst>
                <a:cxn ang="0">
                  <a:pos x="T0" y="T1"/>
                </a:cxn>
                <a:cxn ang="0">
                  <a:pos x="T2" y="T3"/>
                </a:cxn>
                <a:cxn ang="0">
                  <a:pos x="T4" y="T5"/>
                </a:cxn>
                <a:cxn ang="0">
                  <a:pos x="T6" y="T7"/>
                </a:cxn>
              </a:cxnLst>
              <a:rect l="0" t="0" r="r" b="b"/>
              <a:pathLst>
                <a:path w="405" h="233">
                  <a:moveTo>
                    <a:pt x="0" y="0"/>
                  </a:moveTo>
                  <a:lnTo>
                    <a:pt x="270" y="0"/>
                  </a:lnTo>
                  <a:lnTo>
                    <a:pt x="270" y="0"/>
                  </a:lnTo>
                  <a:lnTo>
                    <a:pt x="405" y="233"/>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 name="Freeform 26">
              <a:extLst>
                <a:ext uri="{FF2B5EF4-FFF2-40B4-BE49-F238E27FC236}">
                  <a16:creationId xmlns:a16="http://schemas.microsoft.com/office/drawing/2014/main" id="{DD43DF60-C80E-4D9A-9853-EAB389A4E670}"/>
                </a:ext>
              </a:extLst>
            </p:cNvPr>
            <p:cNvSpPr>
              <a:spLocks/>
            </p:cNvSpPr>
            <p:nvPr userDrawn="1"/>
          </p:nvSpPr>
          <p:spPr bwMode="auto">
            <a:xfrm>
              <a:off x="157163" y="1662113"/>
              <a:ext cx="642938" cy="369888"/>
            </a:xfrm>
            <a:custGeom>
              <a:avLst/>
              <a:gdLst>
                <a:gd name="T0" fmla="*/ 405 w 405"/>
                <a:gd name="T1" fmla="*/ 0 h 233"/>
                <a:gd name="T2" fmla="*/ 270 w 405"/>
                <a:gd name="T3" fmla="*/ 233 h 233"/>
                <a:gd name="T4" fmla="*/ 270 w 405"/>
                <a:gd name="T5" fmla="*/ 233 h 233"/>
                <a:gd name="T6" fmla="*/ 0 w 405"/>
                <a:gd name="T7" fmla="*/ 233 h 233"/>
              </a:gdLst>
              <a:ahLst/>
              <a:cxnLst>
                <a:cxn ang="0">
                  <a:pos x="T0" y="T1"/>
                </a:cxn>
                <a:cxn ang="0">
                  <a:pos x="T2" y="T3"/>
                </a:cxn>
                <a:cxn ang="0">
                  <a:pos x="T4" y="T5"/>
                </a:cxn>
                <a:cxn ang="0">
                  <a:pos x="T6" y="T7"/>
                </a:cxn>
              </a:cxnLst>
              <a:rect l="0" t="0" r="r" b="b"/>
              <a:pathLst>
                <a:path w="405" h="233">
                  <a:moveTo>
                    <a:pt x="405" y="0"/>
                  </a:moveTo>
                  <a:lnTo>
                    <a:pt x="270" y="233"/>
                  </a:lnTo>
                  <a:lnTo>
                    <a:pt x="270" y="233"/>
                  </a:lnTo>
                  <a:lnTo>
                    <a:pt x="0" y="233"/>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4" name="Freeform 27">
              <a:extLst>
                <a:ext uri="{FF2B5EF4-FFF2-40B4-BE49-F238E27FC236}">
                  <a16:creationId xmlns:a16="http://schemas.microsoft.com/office/drawing/2014/main" id="{73A15C50-597C-4527-AF8E-081B74F427F9}"/>
                </a:ext>
              </a:extLst>
            </p:cNvPr>
            <p:cNvSpPr>
              <a:spLocks/>
            </p:cNvSpPr>
            <p:nvPr userDrawn="1"/>
          </p:nvSpPr>
          <p:spPr bwMode="auto">
            <a:xfrm>
              <a:off x="1223963" y="2032001"/>
              <a:ext cx="214313" cy="739775"/>
            </a:xfrm>
            <a:custGeom>
              <a:avLst/>
              <a:gdLst>
                <a:gd name="T0" fmla="*/ 135 w 135"/>
                <a:gd name="T1" fmla="*/ 0 h 466"/>
                <a:gd name="T2" fmla="*/ 2 w 135"/>
                <a:gd name="T3" fmla="*/ 233 h 466"/>
                <a:gd name="T4" fmla="*/ 0 w 135"/>
                <a:gd name="T5" fmla="*/ 233 h 466"/>
                <a:gd name="T6" fmla="*/ 135 w 135"/>
                <a:gd name="T7" fmla="*/ 466 h 466"/>
              </a:gdLst>
              <a:ahLst/>
              <a:cxnLst>
                <a:cxn ang="0">
                  <a:pos x="T0" y="T1"/>
                </a:cxn>
                <a:cxn ang="0">
                  <a:pos x="T2" y="T3"/>
                </a:cxn>
                <a:cxn ang="0">
                  <a:pos x="T4" y="T5"/>
                </a:cxn>
                <a:cxn ang="0">
                  <a:pos x="T6" y="T7"/>
                </a:cxn>
              </a:cxnLst>
              <a:rect l="0" t="0" r="r" b="b"/>
              <a:pathLst>
                <a:path w="135" h="466">
                  <a:moveTo>
                    <a:pt x="135" y="0"/>
                  </a:moveTo>
                  <a:lnTo>
                    <a:pt x="2" y="233"/>
                  </a:lnTo>
                  <a:lnTo>
                    <a:pt x="0" y="233"/>
                  </a:lnTo>
                  <a:lnTo>
                    <a:pt x="135" y="466"/>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5" name="Freeform 28">
              <a:extLst>
                <a:ext uri="{FF2B5EF4-FFF2-40B4-BE49-F238E27FC236}">
                  <a16:creationId xmlns:a16="http://schemas.microsoft.com/office/drawing/2014/main" id="{1C0BE69A-1318-4883-A12C-3461520D97F0}"/>
                </a:ext>
              </a:extLst>
            </p:cNvPr>
            <p:cNvSpPr>
              <a:spLocks/>
            </p:cNvSpPr>
            <p:nvPr userDrawn="1"/>
          </p:nvSpPr>
          <p:spPr bwMode="auto">
            <a:xfrm>
              <a:off x="157163" y="1662113"/>
              <a:ext cx="1495425" cy="1479550"/>
            </a:xfrm>
            <a:custGeom>
              <a:avLst/>
              <a:gdLst>
                <a:gd name="T0" fmla="*/ 443 w 517"/>
                <a:gd name="T1" fmla="*/ 128 h 512"/>
                <a:gd name="T2" fmla="*/ 296 w 517"/>
                <a:gd name="T3" fmla="*/ 128 h 512"/>
                <a:gd name="T4" fmla="*/ 222 w 517"/>
                <a:gd name="T5" fmla="*/ 0 h 512"/>
                <a:gd name="T6" fmla="*/ 222 w 517"/>
                <a:gd name="T7" fmla="*/ 0 h 512"/>
                <a:gd name="T8" fmla="*/ 74 w 517"/>
                <a:gd name="T9" fmla="*/ 0 h 512"/>
                <a:gd name="T10" fmla="*/ 0 w 517"/>
                <a:gd name="T11" fmla="*/ 128 h 512"/>
                <a:gd name="T12" fmla="*/ 74 w 517"/>
                <a:gd name="T13" fmla="*/ 256 h 512"/>
                <a:gd name="T14" fmla="*/ 0 w 517"/>
                <a:gd name="T15" fmla="*/ 384 h 512"/>
                <a:gd name="T16" fmla="*/ 74 w 517"/>
                <a:gd name="T17" fmla="*/ 512 h 512"/>
                <a:gd name="T18" fmla="*/ 222 w 517"/>
                <a:gd name="T19" fmla="*/ 512 h 512"/>
                <a:gd name="T20" fmla="*/ 222 w 517"/>
                <a:gd name="T21" fmla="*/ 512 h 512"/>
                <a:gd name="T22" fmla="*/ 296 w 517"/>
                <a:gd name="T23" fmla="*/ 384 h 512"/>
                <a:gd name="T24" fmla="*/ 443 w 517"/>
                <a:gd name="T25" fmla="*/ 384 h 512"/>
                <a:gd name="T26" fmla="*/ 443 w 517"/>
                <a:gd name="T27" fmla="*/ 384 h 512"/>
                <a:gd name="T28" fmla="*/ 517 w 517"/>
                <a:gd name="T29" fmla="*/ 256 h 512"/>
                <a:gd name="T30" fmla="*/ 443 w 517"/>
                <a:gd name="T31"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7" h="512">
                  <a:moveTo>
                    <a:pt x="443" y="128"/>
                  </a:moveTo>
                  <a:cubicBezTo>
                    <a:pt x="296" y="128"/>
                    <a:pt x="296" y="128"/>
                    <a:pt x="296" y="128"/>
                  </a:cubicBezTo>
                  <a:cubicBezTo>
                    <a:pt x="222" y="0"/>
                    <a:pt x="222" y="0"/>
                    <a:pt x="222" y="0"/>
                  </a:cubicBezTo>
                  <a:cubicBezTo>
                    <a:pt x="222" y="0"/>
                    <a:pt x="222" y="0"/>
                    <a:pt x="222" y="0"/>
                  </a:cubicBezTo>
                  <a:cubicBezTo>
                    <a:pt x="74" y="0"/>
                    <a:pt x="74" y="0"/>
                    <a:pt x="74" y="0"/>
                  </a:cubicBezTo>
                  <a:cubicBezTo>
                    <a:pt x="74" y="0"/>
                    <a:pt x="0" y="128"/>
                    <a:pt x="0" y="128"/>
                  </a:cubicBezTo>
                  <a:cubicBezTo>
                    <a:pt x="74" y="256"/>
                    <a:pt x="74" y="256"/>
                    <a:pt x="74" y="256"/>
                  </a:cubicBezTo>
                  <a:cubicBezTo>
                    <a:pt x="74" y="256"/>
                    <a:pt x="0" y="384"/>
                    <a:pt x="0" y="384"/>
                  </a:cubicBezTo>
                  <a:cubicBezTo>
                    <a:pt x="74" y="512"/>
                    <a:pt x="74" y="512"/>
                    <a:pt x="74" y="512"/>
                  </a:cubicBezTo>
                  <a:cubicBezTo>
                    <a:pt x="222" y="512"/>
                    <a:pt x="222" y="512"/>
                    <a:pt x="222" y="512"/>
                  </a:cubicBezTo>
                  <a:cubicBezTo>
                    <a:pt x="222" y="512"/>
                    <a:pt x="222" y="512"/>
                    <a:pt x="222" y="512"/>
                  </a:cubicBezTo>
                  <a:cubicBezTo>
                    <a:pt x="296" y="384"/>
                    <a:pt x="296" y="384"/>
                    <a:pt x="296" y="384"/>
                  </a:cubicBezTo>
                  <a:cubicBezTo>
                    <a:pt x="443" y="384"/>
                    <a:pt x="443" y="384"/>
                    <a:pt x="443" y="384"/>
                  </a:cubicBezTo>
                  <a:cubicBezTo>
                    <a:pt x="443" y="384"/>
                    <a:pt x="443" y="384"/>
                    <a:pt x="443" y="384"/>
                  </a:cubicBezTo>
                  <a:cubicBezTo>
                    <a:pt x="517" y="256"/>
                    <a:pt x="517" y="256"/>
                    <a:pt x="517" y="256"/>
                  </a:cubicBezTo>
                  <a:cubicBezTo>
                    <a:pt x="443" y="128"/>
                    <a:pt x="443" y="128"/>
                    <a:pt x="443" y="128"/>
                  </a:cubicBezTo>
                  <a:close/>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6" name="Freeform 29">
              <a:extLst>
                <a:ext uri="{FF2B5EF4-FFF2-40B4-BE49-F238E27FC236}">
                  <a16:creationId xmlns:a16="http://schemas.microsoft.com/office/drawing/2014/main" id="{5156584A-0854-4908-BF37-AFEE0DC93556}"/>
                </a:ext>
              </a:extLst>
            </p:cNvPr>
            <p:cNvSpPr>
              <a:spLocks/>
            </p:cNvSpPr>
            <p:nvPr userDrawn="1"/>
          </p:nvSpPr>
          <p:spPr bwMode="auto">
            <a:xfrm>
              <a:off x="-55562" y="1292226"/>
              <a:ext cx="2135188" cy="2219325"/>
            </a:xfrm>
            <a:custGeom>
              <a:avLst/>
              <a:gdLst>
                <a:gd name="T0" fmla="*/ 539 w 1345"/>
                <a:gd name="T1" fmla="*/ 1165 h 1398"/>
                <a:gd name="T2" fmla="*/ 806 w 1345"/>
                <a:gd name="T3" fmla="*/ 1165 h 1398"/>
                <a:gd name="T4" fmla="*/ 941 w 1345"/>
                <a:gd name="T5" fmla="*/ 932 h 1398"/>
                <a:gd name="T6" fmla="*/ 941 w 1345"/>
                <a:gd name="T7" fmla="*/ 932 h 1398"/>
                <a:gd name="T8" fmla="*/ 1210 w 1345"/>
                <a:gd name="T9" fmla="*/ 932 h 1398"/>
                <a:gd name="T10" fmla="*/ 1345 w 1345"/>
                <a:gd name="T11" fmla="*/ 699 h 1398"/>
                <a:gd name="T12" fmla="*/ 1210 w 1345"/>
                <a:gd name="T13" fmla="*/ 466 h 1398"/>
                <a:gd name="T14" fmla="*/ 941 w 1345"/>
                <a:gd name="T15" fmla="*/ 466 h 1398"/>
                <a:gd name="T16" fmla="*/ 941 w 1345"/>
                <a:gd name="T17" fmla="*/ 466 h 1398"/>
                <a:gd name="T18" fmla="*/ 806 w 1345"/>
                <a:gd name="T19" fmla="*/ 233 h 1398"/>
                <a:gd name="T20" fmla="*/ 539 w 1345"/>
                <a:gd name="T21" fmla="*/ 233 h 1398"/>
                <a:gd name="T22" fmla="*/ 539 w 1345"/>
                <a:gd name="T23" fmla="*/ 233 h 1398"/>
                <a:gd name="T24" fmla="*/ 404 w 1345"/>
                <a:gd name="T25" fmla="*/ 0 h 1398"/>
                <a:gd name="T26" fmla="*/ 134 w 1345"/>
                <a:gd name="T27" fmla="*/ 0 h 1398"/>
                <a:gd name="T28" fmla="*/ 0 w 1345"/>
                <a:gd name="T29" fmla="*/ 233 h 1398"/>
                <a:gd name="T30" fmla="*/ 134 w 1345"/>
                <a:gd name="T31" fmla="*/ 466 h 1398"/>
                <a:gd name="T32" fmla="*/ 134 w 1345"/>
                <a:gd name="T33" fmla="*/ 466 h 1398"/>
                <a:gd name="T34" fmla="*/ 0 w 1345"/>
                <a:gd name="T35" fmla="*/ 699 h 1398"/>
                <a:gd name="T36" fmla="*/ 134 w 1345"/>
                <a:gd name="T37" fmla="*/ 932 h 1398"/>
                <a:gd name="T38" fmla="*/ 134 w 1345"/>
                <a:gd name="T39" fmla="*/ 932 h 1398"/>
                <a:gd name="T40" fmla="*/ 0 w 1345"/>
                <a:gd name="T41" fmla="*/ 1165 h 1398"/>
                <a:gd name="T42" fmla="*/ 134 w 1345"/>
                <a:gd name="T43" fmla="*/ 1398 h 1398"/>
                <a:gd name="T44" fmla="*/ 404 w 1345"/>
                <a:gd name="T45" fmla="*/ 1398 h 1398"/>
                <a:gd name="T46" fmla="*/ 539 w 1345"/>
                <a:gd name="T47" fmla="*/ 1165 h 1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45" h="1398">
                  <a:moveTo>
                    <a:pt x="539" y="1165"/>
                  </a:moveTo>
                  <a:lnTo>
                    <a:pt x="806" y="1165"/>
                  </a:lnTo>
                  <a:lnTo>
                    <a:pt x="941" y="932"/>
                  </a:lnTo>
                  <a:lnTo>
                    <a:pt x="941" y="932"/>
                  </a:lnTo>
                  <a:lnTo>
                    <a:pt x="1210" y="932"/>
                  </a:lnTo>
                  <a:lnTo>
                    <a:pt x="1345" y="699"/>
                  </a:lnTo>
                  <a:lnTo>
                    <a:pt x="1210" y="466"/>
                  </a:lnTo>
                  <a:lnTo>
                    <a:pt x="941" y="466"/>
                  </a:lnTo>
                  <a:lnTo>
                    <a:pt x="941" y="466"/>
                  </a:lnTo>
                  <a:lnTo>
                    <a:pt x="806" y="233"/>
                  </a:lnTo>
                  <a:lnTo>
                    <a:pt x="539" y="233"/>
                  </a:lnTo>
                  <a:lnTo>
                    <a:pt x="539" y="233"/>
                  </a:lnTo>
                  <a:lnTo>
                    <a:pt x="404" y="0"/>
                  </a:lnTo>
                  <a:lnTo>
                    <a:pt x="134" y="0"/>
                  </a:lnTo>
                  <a:lnTo>
                    <a:pt x="0" y="233"/>
                  </a:lnTo>
                  <a:lnTo>
                    <a:pt x="134" y="466"/>
                  </a:lnTo>
                  <a:lnTo>
                    <a:pt x="134" y="466"/>
                  </a:lnTo>
                  <a:lnTo>
                    <a:pt x="0" y="699"/>
                  </a:lnTo>
                  <a:lnTo>
                    <a:pt x="134" y="932"/>
                  </a:lnTo>
                  <a:lnTo>
                    <a:pt x="134" y="932"/>
                  </a:lnTo>
                  <a:lnTo>
                    <a:pt x="0" y="1165"/>
                  </a:lnTo>
                  <a:lnTo>
                    <a:pt x="134" y="1398"/>
                  </a:lnTo>
                  <a:lnTo>
                    <a:pt x="404" y="1398"/>
                  </a:lnTo>
                  <a:lnTo>
                    <a:pt x="539" y="1165"/>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8" name="Freeform 5">
            <a:extLst>
              <a:ext uri="{FF2B5EF4-FFF2-40B4-BE49-F238E27FC236}">
                <a16:creationId xmlns:a16="http://schemas.microsoft.com/office/drawing/2014/main" id="{B64693C3-8BAA-4883-B826-957F98CB33E2}"/>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7" name="Group 16">
            <a:extLst>
              <a:ext uri="{FF2B5EF4-FFF2-40B4-BE49-F238E27FC236}">
                <a16:creationId xmlns:a16="http://schemas.microsoft.com/office/drawing/2014/main" id="{4A423A29-1AF4-4385-8873-B13821B4CFE7}"/>
              </a:ext>
            </a:extLst>
          </p:cNvPr>
          <p:cNvGrpSpPr/>
          <p:nvPr userDrawn="1"/>
        </p:nvGrpSpPr>
        <p:grpSpPr>
          <a:xfrm>
            <a:off x="10241279" y="5808617"/>
            <a:ext cx="1455289" cy="742043"/>
            <a:chOff x="6551613" y="3198813"/>
            <a:chExt cx="5856287" cy="2986087"/>
          </a:xfrm>
          <a:solidFill>
            <a:schemeClr val="bg1"/>
          </a:solidFill>
        </p:grpSpPr>
        <p:sp>
          <p:nvSpPr>
            <p:cNvPr id="19" name="Freeform 5">
              <a:extLst>
                <a:ext uri="{FF2B5EF4-FFF2-40B4-BE49-F238E27FC236}">
                  <a16:creationId xmlns:a16="http://schemas.microsoft.com/office/drawing/2014/main" id="{A456280B-202D-467C-B5DB-B2C988AE1ACB}"/>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6">
              <a:extLst>
                <a:ext uri="{FF2B5EF4-FFF2-40B4-BE49-F238E27FC236}">
                  <a16:creationId xmlns:a16="http://schemas.microsoft.com/office/drawing/2014/main" id="{CE47C109-5A71-4BB6-81AE-3530E18B1272}"/>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7">
              <a:extLst>
                <a:ext uri="{FF2B5EF4-FFF2-40B4-BE49-F238E27FC236}">
                  <a16:creationId xmlns:a16="http://schemas.microsoft.com/office/drawing/2014/main" id="{29F620DB-7384-421A-95A8-0D5A9F49FD50}"/>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a:extLst>
                <a:ext uri="{FF2B5EF4-FFF2-40B4-BE49-F238E27FC236}">
                  <a16:creationId xmlns:a16="http://schemas.microsoft.com/office/drawing/2014/main" id="{9A1CB4F4-0FF4-4810-A541-A26C109E636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a:extLst>
                <a:ext uri="{FF2B5EF4-FFF2-40B4-BE49-F238E27FC236}">
                  <a16:creationId xmlns:a16="http://schemas.microsoft.com/office/drawing/2014/main" id="{EFE5775E-A422-4F16-9078-6D9AF9CDB89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0">
              <a:extLst>
                <a:ext uri="{FF2B5EF4-FFF2-40B4-BE49-F238E27FC236}">
                  <a16:creationId xmlns:a16="http://schemas.microsoft.com/office/drawing/2014/main" id="{3769A019-261A-4BD2-833D-8A9C2AA3E03C}"/>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1">
              <a:extLst>
                <a:ext uri="{FF2B5EF4-FFF2-40B4-BE49-F238E27FC236}">
                  <a16:creationId xmlns:a16="http://schemas.microsoft.com/office/drawing/2014/main" id="{CB530E28-ADC0-4EAE-8FDE-7F18A1A915E5}"/>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2">
              <a:extLst>
                <a:ext uri="{FF2B5EF4-FFF2-40B4-BE49-F238E27FC236}">
                  <a16:creationId xmlns:a16="http://schemas.microsoft.com/office/drawing/2014/main" id="{18FD99E4-FBD8-44C2-A732-E345E7356489}"/>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3">
              <a:extLst>
                <a:ext uri="{FF2B5EF4-FFF2-40B4-BE49-F238E27FC236}">
                  <a16:creationId xmlns:a16="http://schemas.microsoft.com/office/drawing/2014/main" id="{BA8A43E1-5496-4394-8B16-E070D43926B5}"/>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4">
              <a:extLst>
                <a:ext uri="{FF2B5EF4-FFF2-40B4-BE49-F238E27FC236}">
                  <a16:creationId xmlns:a16="http://schemas.microsoft.com/office/drawing/2014/main" id="{376D7B15-E268-4C27-99FE-E0842C117975}"/>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5">
              <a:extLst>
                <a:ext uri="{FF2B5EF4-FFF2-40B4-BE49-F238E27FC236}">
                  <a16:creationId xmlns:a16="http://schemas.microsoft.com/office/drawing/2014/main" id="{7AE51CF6-CB4D-481D-BE15-A5C2B1CDCF03}"/>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6">
              <a:extLst>
                <a:ext uri="{FF2B5EF4-FFF2-40B4-BE49-F238E27FC236}">
                  <a16:creationId xmlns:a16="http://schemas.microsoft.com/office/drawing/2014/main" id="{3B201AF5-0B1E-4879-ABAB-C98680D843A1}"/>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7">
              <a:extLst>
                <a:ext uri="{FF2B5EF4-FFF2-40B4-BE49-F238E27FC236}">
                  <a16:creationId xmlns:a16="http://schemas.microsoft.com/office/drawing/2014/main" id="{D5F4692F-0C46-43F0-87E5-FF04037D2D5F}"/>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8">
              <a:extLst>
                <a:ext uri="{FF2B5EF4-FFF2-40B4-BE49-F238E27FC236}">
                  <a16:creationId xmlns:a16="http://schemas.microsoft.com/office/drawing/2014/main" id="{503786F9-9227-4818-BC99-FEEBC83DED5E}"/>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3A1067A-C34F-4536-BCE1-F79DEC12D7B8}"/>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A4235AD1-D089-4799-89A9-7FB8DD0B5B6C}"/>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1">
              <a:extLst>
                <a:ext uri="{FF2B5EF4-FFF2-40B4-BE49-F238E27FC236}">
                  <a16:creationId xmlns:a16="http://schemas.microsoft.com/office/drawing/2014/main" id="{BB290D36-8955-4356-84AA-D23BE80AF482}"/>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335229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r>
              <a:rPr lang="en-US"/>
              <a:t>Privileged and Confidential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2189062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a:xfrm>
            <a:off x="588263" y="457202"/>
            <a:ext cx="11018520" cy="523220"/>
          </a:xfrm>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2382241192"/>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44" y="1189178"/>
            <a:ext cx="11653523" cy="1913601"/>
          </a:xfrm>
        </p:spPr>
        <p:txBody>
          <a:bodyPr>
            <a:spAutoFit/>
          </a:bodyPr>
          <a:lstStyle>
            <a:lvl1pPr>
              <a:defRPr sz="3298">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
        <p:nvSpPr>
          <p:cNvPr id="5" name="Slide Number Placeholder 5"/>
          <p:cNvSpPr>
            <a:spLocks noGrp="1"/>
          </p:cNvSpPr>
          <p:nvPr>
            <p:ph type="sldNum" sz="quarter" idx="4"/>
          </p:nvPr>
        </p:nvSpPr>
        <p:spPr>
          <a:xfrm>
            <a:off x="9449814" y="6493777"/>
            <a:ext cx="2742188" cy="364224"/>
          </a:xfrm>
          <a:prstGeom prst="rect">
            <a:avLst/>
          </a:prstGeom>
        </p:spPr>
        <p:txBody>
          <a:bodyPr vert="horz" lIns="182880" tIns="45720" rIns="182880" bIns="45720" rtlCol="0" anchor="ctr"/>
          <a:lstStyle>
            <a:lvl1pPr algn="r">
              <a:defRPr sz="825">
                <a:solidFill>
                  <a:schemeClr val="tx1">
                    <a:tint val="75000"/>
                  </a:schemeClr>
                </a:solidFill>
              </a:defRPr>
            </a:lvl1pPr>
          </a:lstStyle>
          <a:p>
            <a:pPr defTabSz="769170">
              <a:defRPr/>
            </a:pPr>
            <a:r>
              <a:rPr lang="en-US" dirty="0">
                <a:solidFill>
                  <a:srgbClr val="505050">
                    <a:tint val="75000"/>
                  </a:srgbClr>
                </a:solidFill>
              </a:rPr>
              <a:t>C+E Marketing Group – Partner Team Microsoft Confidential</a:t>
            </a:r>
          </a:p>
        </p:txBody>
      </p:sp>
    </p:spTree>
    <p:extLst>
      <p:ext uri="{BB962C8B-B14F-4D97-AF65-F5344CB8AC3E}">
        <p14:creationId xmlns:p14="http://schemas.microsoft.com/office/powerpoint/2010/main" val="94221195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Case Study (Simple)">
    <p:spTree>
      <p:nvGrpSpPr>
        <p:cNvPr id="1" name=""/>
        <p:cNvGrpSpPr/>
        <p:nvPr/>
      </p:nvGrpSpPr>
      <p:grpSpPr>
        <a:xfrm>
          <a:off x="0" y="0"/>
          <a:ext cx="0" cy="0"/>
          <a:chOff x="0" y="0"/>
          <a:chExt cx="0" cy="0"/>
        </a:xfrm>
      </p:grpSpPr>
      <p:sp>
        <p:nvSpPr>
          <p:cNvPr id="16" name="Graphic 14">
            <a:extLst>
              <a:ext uri="{FF2B5EF4-FFF2-40B4-BE49-F238E27FC236}">
                <a16:creationId xmlns:a16="http://schemas.microsoft.com/office/drawing/2014/main" id="{31BC69A3-536C-2D0C-142C-8FDD21253020}"/>
              </a:ext>
            </a:extLst>
          </p:cNvPr>
          <p:cNvSpPr>
            <a:spLocks noChangeAspect="1"/>
          </p:cNvSpPr>
          <p:nvPr/>
        </p:nvSpPr>
        <p:spPr>
          <a:xfrm>
            <a:off x="0" y="0"/>
            <a:ext cx="12188952" cy="402234"/>
          </a:xfrm>
          <a:custGeom>
            <a:avLst/>
            <a:gdLst>
              <a:gd name="connsiteX0" fmla="*/ 0 w 9144000"/>
              <a:gd name="connsiteY0" fmla="*/ 0 h 301751"/>
              <a:gd name="connsiteX1" fmla="*/ 0 w 9144000"/>
              <a:gd name="connsiteY1" fmla="*/ 301752 h 301751"/>
              <a:gd name="connsiteX2" fmla="*/ 246888 w 9144000"/>
              <a:gd name="connsiteY2" fmla="*/ 301752 h 301751"/>
              <a:gd name="connsiteX3" fmla="*/ 246888 w 9144000"/>
              <a:gd name="connsiteY3" fmla="*/ 200025 h 301751"/>
              <a:gd name="connsiteX4" fmla="*/ 1961388 w 9144000"/>
              <a:gd name="connsiteY4" fmla="*/ 200025 h 301751"/>
              <a:gd name="connsiteX5" fmla="*/ 1961388 w 9144000"/>
              <a:gd name="connsiteY5" fmla="*/ 301752 h 301751"/>
              <a:gd name="connsiteX6" fmla="*/ 9144000 w 9144000"/>
              <a:gd name="connsiteY6" fmla="*/ 301752 h 301751"/>
              <a:gd name="connsiteX7" fmla="*/ 9144000 w 9144000"/>
              <a:gd name="connsiteY7" fmla="*/ 0 h 301751"/>
              <a:gd name="connsiteX8" fmla="*/ 0 w 9144000"/>
              <a:gd name="connsiteY8" fmla="*/ 0 h 301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301751">
                <a:moveTo>
                  <a:pt x="0" y="0"/>
                </a:moveTo>
                <a:lnTo>
                  <a:pt x="0" y="301752"/>
                </a:lnTo>
                <a:lnTo>
                  <a:pt x="246888" y="301752"/>
                </a:lnTo>
                <a:lnTo>
                  <a:pt x="246888" y="200025"/>
                </a:lnTo>
                <a:lnTo>
                  <a:pt x="1961388" y="200025"/>
                </a:lnTo>
                <a:lnTo>
                  <a:pt x="1961388" y="301752"/>
                </a:lnTo>
                <a:lnTo>
                  <a:pt x="9144000" y="301752"/>
                </a:lnTo>
                <a:lnTo>
                  <a:pt x="9144000" y="0"/>
                </a:lnTo>
                <a:lnTo>
                  <a:pt x="0" y="0"/>
                </a:lnTo>
                <a:close/>
              </a:path>
            </a:pathLst>
          </a:custGeom>
          <a:solidFill>
            <a:srgbClr val="000000"/>
          </a:solidFill>
          <a:ln w="9525" cap="flat">
            <a:noFill/>
            <a:prstDash val="solid"/>
            <a:miter/>
          </a:ln>
        </p:spPr>
        <p:txBody>
          <a:bodyPr rtlCol="0" anchor="ctr"/>
          <a:lstStyle/>
          <a:p>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2" name="Picture Placeholder 4">
            <a:extLst>
              <a:ext uri="{FF2B5EF4-FFF2-40B4-BE49-F238E27FC236}">
                <a16:creationId xmlns:a16="http://schemas.microsoft.com/office/drawing/2014/main" id="{44F6144F-F7E3-713E-C39B-FC58AD921A7A}"/>
              </a:ext>
            </a:extLst>
          </p:cNvPr>
          <p:cNvSpPr>
            <a:spLocks noGrp="1"/>
          </p:cNvSpPr>
          <p:nvPr>
            <p:ph type="pic" sz="quarter" idx="18" hasCustomPrompt="1"/>
          </p:nvPr>
        </p:nvSpPr>
        <p:spPr>
          <a:xfrm>
            <a:off x="6095999" y="661604"/>
            <a:ext cx="5715000" cy="5715000"/>
          </a:xfrm>
          <a:prstGeom prst="rect">
            <a:avLst/>
          </a:prstGeom>
        </p:spPr>
        <p:txBody>
          <a:bodyPr wrap="none" lIns="0">
            <a:noAutofit/>
          </a:bodyPr>
          <a:lstStyle>
            <a:lvl1pPr marL="0" marR="0" indent="0" algn="l" defTabSz="914400" rtl="0" eaLnBrk="1" fontAlgn="t" latinLnBrk="0" hangingPunct="1">
              <a:lnSpc>
                <a:spcPct val="100000"/>
              </a:lnSpc>
              <a:spcBef>
                <a:spcPts val="0"/>
              </a:spcBef>
              <a:spcAft>
                <a:spcPts val="700"/>
              </a:spcAft>
              <a:buClr>
                <a:srgbClr val="EB0000"/>
              </a:buClr>
              <a:buSzTx/>
              <a:buFontTx/>
              <a:buNone/>
              <a:tabLst/>
              <a:defRPr/>
            </a:lvl1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lang="en-US"/>
              <a:t>Image Size: 6.25” x 6.25”</a:t>
            </a:r>
          </a:p>
        </p:txBody>
      </p:sp>
      <p:pic>
        <p:nvPicPr>
          <p:cNvPr id="7" name="Picture 6">
            <a:extLst>
              <a:ext uri="{FF2B5EF4-FFF2-40B4-BE49-F238E27FC236}">
                <a16:creationId xmlns:a16="http://schemas.microsoft.com/office/drawing/2014/main" id="{758F475F-ADEE-91CC-57FE-E81485CB48F7}"/>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b="65065"/>
          <a:stretch/>
        </p:blipFill>
        <p:spPr>
          <a:xfrm>
            <a:off x="3611699" y="0"/>
            <a:ext cx="8580301" cy="402463"/>
          </a:xfrm>
          <a:prstGeom prst="rect">
            <a:avLst/>
          </a:prstGeom>
        </p:spPr>
      </p:pic>
    </p:spTree>
    <p:extLst>
      <p:ext uri="{BB962C8B-B14F-4D97-AF65-F5344CB8AC3E}">
        <p14:creationId xmlns:p14="http://schemas.microsoft.com/office/powerpoint/2010/main" val="23926207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Title Slide 2">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1011652"/>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pic>
        <p:nvPicPr>
          <p:cNvPr id="4" name="Graphic 3">
            <a:extLst>
              <a:ext uri="{FF2B5EF4-FFF2-40B4-BE49-F238E27FC236}">
                <a16:creationId xmlns:a16="http://schemas.microsoft.com/office/drawing/2014/main" id="{B85447F4-6C50-074E-7074-020C7C42791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23154"/>
          <a:stretch/>
        </p:blipFill>
        <p:spPr>
          <a:xfrm>
            <a:off x="9579525" y="5931568"/>
            <a:ext cx="2283862" cy="790937"/>
          </a:xfrm>
          <a:prstGeom prst="rect">
            <a:avLst/>
          </a:prstGeom>
        </p:spPr>
      </p:pic>
      <p:pic>
        <p:nvPicPr>
          <p:cNvPr id="7" name="Picture 6">
            <a:extLst>
              <a:ext uri="{FF2B5EF4-FFF2-40B4-BE49-F238E27FC236}">
                <a16:creationId xmlns:a16="http://schemas.microsoft.com/office/drawing/2014/main" id="{0D841907-6AAB-16F4-5B77-EF60E8C93A26}"/>
              </a:ext>
            </a:extLst>
          </p:cNvPr>
          <p:cNvPicPr>
            <a:picLocks noChangeAspect="1"/>
          </p:cNvPicPr>
          <p:nvPr userDrawn="1"/>
        </p:nvPicPr>
        <p:blipFill rotWithShape="1">
          <a:blip r:embed="rId4"/>
          <a:srcRect l="11093" t="20455" r="31671" b="10161"/>
          <a:stretch/>
        </p:blipFill>
        <p:spPr>
          <a:xfrm rot="5400000" flipH="1">
            <a:off x="5215811" y="-572150"/>
            <a:ext cx="6404040" cy="7548339"/>
          </a:xfrm>
          <a:prstGeom prst="rect">
            <a:avLst/>
          </a:prstGeom>
        </p:spPr>
      </p:pic>
    </p:spTree>
    <p:extLst>
      <p:ext uri="{BB962C8B-B14F-4D97-AF65-F5344CB8AC3E}">
        <p14:creationId xmlns:p14="http://schemas.microsoft.com/office/powerpoint/2010/main" val="16811685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Footer Placeholder 4">
            <a:extLst>
              <a:ext uri="{FF2B5EF4-FFF2-40B4-BE49-F238E27FC236}">
                <a16:creationId xmlns:a16="http://schemas.microsoft.com/office/drawing/2014/main" id="{E1BFAA93-8FF1-898F-E930-65AE3B8F36E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4" name="Picture 3">
            <a:extLst>
              <a:ext uri="{FF2B5EF4-FFF2-40B4-BE49-F238E27FC236}">
                <a16:creationId xmlns:a16="http://schemas.microsoft.com/office/drawing/2014/main" id="{AB56E075-3F62-581E-9B08-62388F69F3DA}"/>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10803860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335D6B04-0ACA-8728-3DD5-04C9A5BB607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31373062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2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US"/>
              <a:t>Click to edit Master title style</a:t>
            </a:r>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80DA2ED6-91C1-7564-6272-E32C0F95174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6" name="Picture 5">
            <a:extLst>
              <a:ext uri="{FF2B5EF4-FFF2-40B4-BE49-F238E27FC236}">
                <a16:creationId xmlns:a16="http://schemas.microsoft.com/office/drawing/2014/main" id="{A3E41C2A-DB4C-9424-21E2-823C495A9D1E}"/>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10723355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US"/>
              <a:t>Click to edit Master title style</a:t>
            </a:r>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4A565A49-9302-AE14-1C9D-891C8107C95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4" name="Picture 3">
            <a:extLst>
              <a:ext uri="{FF2B5EF4-FFF2-40B4-BE49-F238E27FC236}">
                <a16:creationId xmlns:a16="http://schemas.microsoft.com/office/drawing/2014/main" id="{06658CDF-92C5-165B-303F-69EBCB78B6C9}"/>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303301902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a:t>Subtitle or callout if needed, all titles and subtitles are sentence case </a:t>
            </a:r>
          </a:p>
        </p:txBody>
      </p:sp>
      <p:sp>
        <p:nvSpPr>
          <p:cNvPr id="2" name="Footer Placeholder 4">
            <a:extLst>
              <a:ext uri="{FF2B5EF4-FFF2-40B4-BE49-F238E27FC236}">
                <a16:creationId xmlns:a16="http://schemas.microsoft.com/office/drawing/2014/main" id="{179F2825-8504-2B72-D975-0EFC3DCF520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13121645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4" name="Footer Placeholder 4">
            <a:extLst>
              <a:ext uri="{FF2B5EF4-FFF2-40B4-BE49-F238E27FC236}">
                <a16:creationId xmlns:a16="http://schemas.microsoft.com/office/drawing/2014/main" id="{67431E4B-580B-F1B3-F777-5D6535CDC40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6" name="Picture 5">
            <a:extLst>
              <a:ext uri="{FF2B5EF4-FFF2-40B4-BE49-F238E27FC236}">
                <a16:creationId xmlns:a16="http://schemas.microsoft.com/office/drawing/2014/main" id="{E9582C24-CF42-D0EA-683B-79B2AF3B7F60}"/>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9060251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5" name="Footer Placeholder 4">
            <a:extLst>
              <a:ext uri="{FF2B5EF4-FFF2-40B4-BE49-F238E27FC236}">
                <a16:creationId xmlns:a16="http://schemas.microsoft.com/office/drawing/2014/main" id="{EBA1BFEF-E4B8-1147-2D4C-E82AD4800ED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6" name="Picture 5">
            <a:extLst>
              <a:ext uri="{FF2B5EF4-FFF2-40B4-BE49-F238E27FC236}">
                <a16:creationId xmlns:a16="http://schemas.microsoft.com/office/drawing/2014/main" id="{F8C7789E-8AF7-49D4-3284-D6D4F9FFFB18}"/>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35989378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FAF10A09-19FC-5794-9DC1-57DAD1E5F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3" name="Picture 2">
            <a:extLst>
              <a:ext uri="{FF2B5EF4-FFF2-40B4-BE49-F238E27FC236}">
                <a16:creationId xmlns:a16="http://schemas.microsoft.com/office/drawing/2014/main" id="{78BD88EE-DD50-77AE-462D-33694F4848FE}"/>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190657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US"/>
              <a:t>Click to edit Master title style</a:t>
            </a:r>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14ECD1B2-69B5-1F9F-57D6-41A0E66416A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305071427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3068C0F0-6A27-DA32-3621-DB227B4FDDA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12714707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4">
            <a:extLst>
              <a:ext uri="{FF2B5EF4-FFF2-40B4-BE49-F238E27FC236}">
                <a16:creationId xmlns:a16="http://schemas.microsoft.com/office/drawing/2014/main" id="{7752B7EB-A27E-91FA-CD63-5ED42527E9C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268768424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AC854D94-76E7-18EE-F6DC-1D6DB4AEEC5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239482384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Footer Placeholder 4">
            <a:extLst>
              <a:ext uri="{FF2B5EF4-FFF2-40B4-BE49-F238E27FC236}">
                <a16:creationId xmlns:a16="http://schemas.microsoft.com/office/drawing/2014/main" id="{0FA8239E-1E1E-FB06-3E44-33E4EAA50AE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4" name="Picture 3">
            <a:extLst>
              <a:ext uri="{FF2B5EF4-FFF2-40B4-BE49-F238E27FC236}">
                <a16:creationId xmlns:a16="http://schemas.microsoft.com/office/drawing/2014/main" id="{97089294-D880-93B3-DE64-13E09DA57ADA}"/>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190488987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8FDFDBF0-B906-309A-D8DC-390B7F63E87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pic>
        <p:nvPicPr>
          <p:cNvPr id="3" name="Picture 2">
            <a:extLst>
              <a:ext uri="{FF2B5EF4-FFF2-40B4-BE49-F238E27FC236}">
                <a16:creationId xmlns:a16="http://schemas.microsoft.com/office/drawing/2014/main" id="{F69ECB87-2D96-A3DA-E53B-BC19C411D910}"/>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20060954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10EC36AF-155E-24FC-013E-FEFDA38E1B7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3" name="Picture 2">
            <a:extLst>
              <a:ext uri="{FF2B5EF4-FFF2-40B4-BE49-F238E27FC236}">
                <a16:creationId xmlns:a16="http://schemas.microsoft.com/office/drawing/2014/main" id="{02338060-FF94-7E44-31B4-0593636E37EC}"/>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126147808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E3DF0A55-5D38-0288-8741-17E23CC4079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pic>
        <p:nvPicPr>
          <p:cNvPr id="3" name="Picture 2">
            <a:extLst>
              <a:ext uri="{FF2B5EF4-FFF2-40B4-BE49-F238E27FC236}">
                <a16:creationId xmlns:a16="http://schemas.microsoft.com/office/drawing/2014/main" id="{DD2B8251-2F4F-E1ED-4491-8CECB9175DA6}"/>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99611286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D5E1DB21-177D-A718-5733-B77FA45C638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pic>
        <p:nvPicPr>
          <p:cNvPr id="3" name="Picture 2">
            <a:extLst>
              <a:ext uri="{FF2B5EF4-FFF2-40B4-BE49-F238E27FC236}">
                <a16:creationId xmlns:a16="http://schemas.microsoft.com/office/drawing/2014/main" id="{41F79DC7-A65B-7658-EAF8-150F33004186}"/>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262287088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US"/>
              <a:t>Click to edit Master title style</a:t>
            </a:r>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6CB48A70-7E78-791A-DA68-6C12E5D313D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pic>
        <p:nvPicPr>
          <p:cNvPr id="3" name="Graphic 2">
            <a:extLst>
              <a:ext uri="{FF2B5EF4-FFF2-40B4-BE49-F238E27FC236}">
                <a16:creationId xmlns:a16="http://schemas.microsoft.com/office/drawing/2014/main" id="{E48CCC79-960C-B754-15EB-E981609FF95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48870" y="6293280"/>
            <a:ext cx="1111028" cy="344419"/>
          </a:xfrm>
          <a:prstGeom prst="rect">
            <a:avLst/>
          </a:prstGeom>
        </p:spPr>
      </p:pic>
      <p:pic>
        <p:nvPicPr>
          <p:cNvPr id="4" name="Graphic 3">
            <a:extLst>
              <a:ext uri="{FF2B5EF4-FFF2-40B4-BE49-F238E27FC236}">
                <a16:creationId xmlns:a16="http://schemas.microsoft.com/office/drawing/2014/main" id="{B9A0A158-5A18-E83F-875B-B084A77D77D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59921" y="6332606"/>
            <a:ext cx="1111028" cy="236851"/>
          </a:xfrm>
          <a:prstGeom prst="rect">
            <a:avLst/>
          </a:prstGeom>
        </p:spPr>
      </p:pic>
    </p:spTree>
    <p:extLst>
      <p:ext uri="{BB962C8B-B14F-4D97-AF65-F5344CB8AC3E}">
        <p14:creationId xmlns:p14="http://schemas.microsoft.com/office/powerpoint/2010/main" val="349160505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1B737E9-56F9-DBAC-BEA6-9C15C70F98FC}"/>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14" name="Picture 13">
            <a:extLst>
              <a:ext uri="{FF2B5EF4-FFF2-40B4-BE49-F238E27FC236}">
                <a16:creationId xmlns:a16="http://schemas.microsoft.com/office/drawing/2014/main" id="{103C48EB-752D-6449-B6F5-781530F499C4}"/>
              </a:ext>
            </a:extLst>
          </p:cNvPr>
          <p:cNvPicPr>
            <a:picLocks noChangeAspect="1"/>
          </p:cNvPicPr>
          <p:nvPr userDrawn="1"/>
        </p:nvPicPr>
        <p:blipFill rotWithShape="1">
          <a:blip r:embed="rId2">
            <a:alphaModFix/>
            <a:extLst>
              <a:ext uri="{28A0092B-C50C-407E-A947-70E740481C1C}">
                <a14:useLocalDpi xmlns:a14="http://schemas.microsoft.com/office/drawing/2010/main"/>
              </a:ext>
            </a:extLst>
          </a:blip>
          <a:srcRect l="33753"/>
          <a:stretch/>
        </p:blipFill>
        <p:spPr>
          <a:xfrm rot="10800000">
            <a:off x="-1" y="5326068"/>
            <a:ext cx="3238489" cy="1531932"/>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8" name="Straight Connector 7">
            <a:extLst>
              <a:ext uri="{FF2B5EF4-FFF2-40B4-BE49-F238E27FC236}">
                <a16:creationId xmlns:a16="http://schemas.microsoft.com/office/drawing/2014/main" id="{C412CC93-D33A-16BA-53D9-36DC7CBFCD17}"/>
              </a:ext>
            </a:extLst>
          </p:cNvPr>
          <p:cNvCxnSpPr/>
          <p:nvPr userDrawn="1"/>
        </p:nvCxnSpPr>
        <p:spPr>
          <a:xfrm>
            <a:off x="3238500" y="0"/>
            <a:ext cx="0" cy="685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C1018282-31A9-6550-2D1E-E51E1752145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6" name="Graphic 5">
            <a:extLst>
              <a:ext uri="{FF2B5EF4-FFF2-40B4-BE49-F238E27FC236}">
                <a16:creationId xmlns:a16="http://schemas.microsoft.com/office/drawing/2014/main" id="{871971FC-D5A3-091A-FCCB-BAF82AD5C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11" name="Graphic 10">
            <a:extLst>
              <a:ext uri="{FF2B5EF4-FFF2-40B4-BE49-F238E27FC236}">
                <a16:creationId xmlns:a16="http://schemas.microsoft.com/office/drawing/2014/main" id="{2F795368-C4C0-A309-747D-CFB446E0EE35}"/>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Tree>
    <p:extLst>
      <p:ext uri="{BB962C8B-B14F-4D97-AF65-F5344CB8AC3E}">
        <p14:creationId xmlns:p14="http://schemas.microsoft.com/office/powerpoint/2010/main" val="338472921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Picture 2" descr="A red circle with a black center&#10;&#10;Description automatically generated with low confidence">
            <a:extLst>
              <a:ext uri="{FF2B5EF4-FFF2-40B4-BE49-F238E27FC236}">
                <a16:creationId xmlns:a16="http://schemas.microsoft.com/office/drawing/2014/main" id="{386D26A2-02C3-7D58-B648-720D1207ABA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4746172"/>
            <a:ext cx="3222523" cy="2111828"/>
          </a:xfrm>
          <a:prstGeom prst="rect">
            <a:avLst/>
          </a:prstGeom>
        </p:spPr>
      </p:pic>
      <p:sp>
        <p:nvSpPr>
          <p:cNvPr id="8" name="Footer Placeholder 4">
            <a:extLst>
              <a:ext uri="{FF2B5EF4-FFF2-40B4-BE49-F238E27FC236}">
                <a16:creationId xmlns:a16="http://schemas.microsoft.com/office/drawing/2014/main" id="{E01CF279-EE23-6F24-6CA9-34113BDA8B2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10" name="Graphic 9">
            <a:extLst>
              <a:ext uri="{FF2B5EF4-FFF2-40B4-BE49-F238E27FC236}">
                <a16:creationId xmlns:a16="http://schemas.microsoft.com/office/drawing/2014/main" id="{C95404FA-59FF-C942-21BE-734819451BD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11" name="Graphic 10">
            <a:extLst>
              <a:ext uri="{FF2B5EF4-FFF2-40B4-BE49-F238E27FC236}">
                <a16:creationId xmlns:a16="http://schemas.microsoft.com/office/drawing/2014/main" id="{6CC95517-225B-3461-6F6D-98824B0DF34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Tree>
    <p:extLst>
      <p:ext uri="{BB962C8B-B14F-4D97-AF65-F5344CB8AC3E}">
        <p14:creationId xmlns:p14="http://schemas.microsoft.com/office/powerpoint/2010/main" val="390461750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3" name="Picture 2" descr="A red circle with a black center&#10;&#10;Description automatically generated with low confidence">
            <a:extLst>
              <a:ext uri="{FF2B5EF4-FFF2-40B4-BE49-F238E27FC236}">
                <a16:creationId xmlns:a16="http://schemas.microsoft.com/office/drawing/2014/main" id="{386D26A2-02C3-7D58-B648-720D1207ABA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3238500" y="1760548"/>
            <a:ext cx="7778407" cy="5097452"/>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4" name="Footer Placeholder 4">
            <a:extLst>
              <a:ext uri="{FF2B5EF4-FFF2-40B4-BE49-F238E27FC236}">
                <a16:creationId xmlns:a16="http://schemas.microsoft.com/office/drawing/2014/main" id="{FDB7937D-82E4-1D77-34CC-CCA1807DA1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pic>
        <p:nvPicPr>
          <p:cNvPr id="6" name="Picture 5">
            <a:extLst>
              <a:ext uri="{FF2B5EF4-FFF2-40B4-BE49-F238E27FC236}">
                <a16:creationId xmlns:a16="http://schemas.microsoft.com/office/drawing/2014/main" id="{9C81DA03-E754-C722-3E49-C62449AD164B}"/>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20633023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8A5EF6-9BB4-9A0F-3441-636A0132C3F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5400000">
            <a:off x="-1087910" y="2531592"/>
            <a:ext cx="6589412" cy="2063407"/>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25FF22D5-0B68-C209-BD45-088272CC972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4" name="Graphic 3">
            <a:extLst>
              <a:ext uri="{FF2B5EF4-FFF2-40B4-BE49-F238E27FC236}">
                <a16:creationId xmlns:a16="http://schemas.microsoft.com/office/drawing/2014/main" id="{CC4C8027-E5F4-31CB-3EBC-DBCDFEF4584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
        <p:nvSpPr>
          <p:cNvPr id="7" name="Footer Placeholder 4">
            <a:extLst>
              <a:ext uri="{FF2B5EF4-FFF2-40B4-BE49-F238E27FC236}">
                <a16:creationId xmlns:a16="http://schemas.microsoft.com/office/drawing/2014/main" id="{2A7A57CD-1B47-29F4-3F7A-5E79E3D3DAB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spTree>
    <p:extLst>
      <p:ext uri="{BB962C8B-B14F-4D97-AF65-F5344CB8AC3E}">
        <p14:creationId xmlns:p14="http://schemas.microsoft.com/office/powerpoint/2010/main" val="265550962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757213" y="0"/>
            <a:ext cx="10434787" cy="3429000"/>
          </a:xfrm>
          <a:prstGeom prst="rect">
            <a:avLst/>
          </a:prstGeom>
        </p:spPr>
      </p:pic>
      <p:sp>
        <p:nvSpPr>
          <p:cNvPr id="3" name="Footer Placeholder 4">
            <a:extLst>
              <a:ext uri="{FF2B5EF4-FFF2-40B4-BE49-F238E27FC236}">
                <a16:creationId xmlns:a16="http://schemas.microsoft.com/office/drawing/2014/main" id="{8DB3F30E-35FE-AD43-0854-FC38B72B852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4" name="Picture 3">
            <a:extLst>
              <a:ext uri="{FF2B5EF4-FFF2-40B4-BE49-F238E27FC236}">
                <a16:creationId xmlns:a16="http://schemas.microsoft.com/office/drawing/2014/main" id="{D7D522CB-18A8-6648-5741-4C61F4581A9B}"/>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209674915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757213" y="0"/>
            <a:ext cx="10434787" cy="3429000"/>
          </a:xfrm>
          <a:prstGeom prst="rect">
            <a:avLst/>
          </a:prstGeom>
        </p:spPr>
      </p:pic>
      <p:sp>
        <p:nvSpPr>
          <p:cNvPr id="3" name="Footer Placeholder 4">
            <a:extLst>
              <a:ext uri="{FF2B5EF4-FFF2-40B4-BE49-F238E27FC236}">
                <a16:creationId xmlns:a16="http://schemas.microsoft.com/office/drawing/2014/main" id="{509E74B6-55EB-79F5-F582-F41E2F54A8A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4" name="Picture 3">
            <a:extLst>
              <a:ext uri="{FF2B5EF4-FFF2-40B4-BE49-F238E27FC236}">
                <a16:creationId xmlns:a16="http://schemas.microsoft.com/office/drawing/2014/main" id="{C0C0CA00-5C2D-1293-72EB-A3A373CC65EA}"/>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126444964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5" name="Picture 4">
            <a:extLst>
              <a:ext uri="{FF2B5EF4-FFF2-40B4-BE49-F238E27FC236}">
                <a16:creationId xmlns:a16="http://schemas.microsoft.com/office/drawing/2014/main" id="{16E5296F-575D-351F-C288-BD7CBF5DB64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211"/>
          <a:stretch/>
        </p:blipFill>
        <p:spPr>
          <a:xfrm>
            <a:off x="2640429" y="0"/>
            <a:ext cx="9551571" cy="1905001"/>
          </a:xfrm>
          <a:prstGeom prst="rect">
            <a:avLst/>
          </a:prstGeom>
        </p:spPr>
      </p:pic>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Footer Placeholder 4">
            <a:extLst>
              <a:ext uri="{FF2B5EF4-FFF2-40B4-BE49-F238E27FC236}">
                <a16:creationId xmlns:a16="http://schemas.microsoft.com/office/drawing/2014/main" id="{FB70A30A-763B-5DFF-E527-31D3B21EF97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4" name="Picture 3">
            <a:extLst>
              <a:ext uri="{FF2B5EF4-FFF2-40B4-BE49-F238E27FC236}">
                <a16:creationId xmlns:a16="http://schemas.microsoft.com/office/drawing/2014/main" id="{3DB5B159-2376-1930-715A-D753A39CBC6C}"/>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48110605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5" name="Picture 4">
            <a:extLst>
              <a:ext uri="{FF2B5EF4-FFF2-40B4-BE49-F238E27FC236}">
                <a16:creationId xmlns:a16="http://schemas.microsoft.com/office/drawing/2014/main" id="{16E5296F-575D-351F-C288-BD7CBF5DB64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211"/>
          <a:stretch/>
        </p:blipFill>
        <p:spPr>
          <a:xfrm>
            <a:off x="2640429" y="0"/>
            <a:ext cx="9551571" cy="1905001"/>
          </a:xfrm>
          <a:prstGeom prst="rect">
            <a:avLst/>
          </a:prstGeom>
        </p:spPr>
      </p:pic>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Footer Placeholder 4">
            <a:extLst>
              <a:ext uri="{FF2B5EF4-FFF2-40B4-BE49-F238E27FC236}">
                <a16:creationId xmlns:a16="http://schemas.microsoft.com/office/drawing/2014/main" id="{E23881C6-27C6-BA70-902E-B4B866DA775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4" name="Picture 3">
            <a:extLst>
              <a:ext uri="{FF2B5EF4-FFF2-40B4-BE49-F238E27FC236}">
                <a16:creationId xmlns:a16="http://schemas.microsoft.com/office/drawing/2014/main" id="{283F9155-96D8-4BE4-6D91-8BD1CE9FF96B}"/>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156791274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C7709C-6E68-58AC-4376-9C7ADE260AF3}"/>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16200000" flipH="1">
            <a:off x="-2263002" y="2531593"/>
            <a:ext cx="6589412" cy="2063407"/>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8" name="Footer Placeholder 4">
            <a:extLst>
              <a:ext uri="{FF2B5EF4-FFF2-40B4-BE49-F238E27FC236}">
                <a16:creationId xmlns:a16="http://schemas.microsoft.com/office/drawing/2014/main" id="{2BC3575E-8F82-C653-C451-76362B9EE70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pic>
        <p:nvPicPr>
          <p:cNvPr id="10" name="Graphic 9">
            <a:extLst>
              <a:ext uri="{FF2B5EF4-FFF2-40B4-BE49-F238E27FC236}">
                <a16:creationId xmlns:a16="http://schemas.microsoft.com/office/drawing/2014/main" id="{81C82B59-4CDE-2A23-C5AE-E4072716686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11" name="Graphic 10">
            <a:extLst>
              <a:ext uri="{FF2B5EF4-FFF2-40B4-BE49-F238E27FC236}">
                <a16:creationId xmlns:a16="http://schemas.microsoft.com/office/drawing/2014/main" id="{A2A370F6-B2C1-6034-A9C1-E822ABCB35E2}"/>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Tree>
    <p:extLst>
      <p:ext uri="{BB962C8B-B14F-4D97-AF65-F5344CB8AC3E}">
        <p14:creationId xmlns:p14="http://schemas.microsoft.com/office/powerpoint/2010/main" val="142960385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C7709C-6E68-58AC-4376-9C7ADE260AF3}"/>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16200000" flipH="1">
            <a:off x="-2263002" y="2531593"/>
            <a:ext cx="6589412" cy="2063407"/>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7" name="Footer Placeholder 4">
            <a:extLst>
              <a:ext uri="{FF2B5EF4-FFF2-40B4-BE49-F238E27FC236}">
                <a16:creationId xmlns:a16="http://schemas.microsoft.com/office/drawing/2014/main" id="{1F2A367D-8E08-43EB-23CC-A45EAEADE72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pic>
        <p:nvPicPr>
          <p:cNvPr id="8" name="Graphic 7">
            <a:extLst>
              <a:ext uri="{FF2B5EF4-FFF2-40B4-BE49-F238E27FC236}">
                <a16:creationId xmlns:a16="http://schemas.microsoft.com/office/drawing/2014/main" id="{9EF6F8F0-6E10-73C2-E501-0FBD448A5E0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9" name="Graphic 8">
            <a:extLst>
              <a:ext uri="{FF2B5EF4-FFF2-40B4-BE49-F238E27FC236}">
                <a16:creationId xmlns:a16="http://schemas.microsoft.com/office/drawing/2014/main" id="{64E0AB1E-D4B2-476B-F9E5-81201118ED30}"/>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Tree>
    <p:extLst>
      <p:ext uri="{BB962C8B-B14F-4D97-AF65-F5344CB8AC3E}">
        <p14:creationId xmlns:p14="http://schemas.microsoft.com/office/powerpoint/2010/main" val="27874246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2" name="Picture 1">
            <a:extLst>
              <a:ext uri="{FF2B5EF4-FFF2-40B4-BE49-F238E27FC236}">
                <a16:creationId xmlns:a16="http://schemas.microsoft.com/office/drawing/2014/main" id="{253AD589-455E-BE38-EEFC-2CBBC3F6015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16200000" flipH="1" flipV="1">
            <a:off x="7865591" y="2531594"/>
            <a:ext cx="6589412" cy="2063407"/>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35425BE4-DCF6-69FD-AEE3-255D2C1DC39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sp>
        <p:nvSpPr>
          <p:cNvPr id="8" name="Footer Placeholder 4">
            <a:extLst>
              <a:ext uri="{FF2B5EF4-FFF2-40B4-BE49-F238E27FC236}">
                <a16:creationId xmlns:a16="http://schemas.microsoft.com/office/drawing/2014/main" id="{C8BB7CE0-7A57-B3E7-6A2C-54AB3F39793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pic>
        <p:nvPicPr>
          <p:cNvPr id="11" name="Graphic 10">
            <a:extLst>
              <a:ext uri="{FF2B5EF4-FFF2-40B4-BE49-F238E27FC236}">
                <a16:creationId xmlns:a16="http://schemas.microsoft.com/office/drawing/2014/main" id="{F1E5A2F7-6C96-3EEF-FB48-1EEC8D52A5B2}"/>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Tree>
    <p:extLst>
      <p:ext uri="{BB962C8B-B14F-4D97-AF65-F5344CB8AC3E}">
        <p14:creationId xmlns:p14="http://schemas.microsoft.com/office/powerpoint/2010/main" val="334564843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9A060A-55C9-23EF-848A-9333C2D87995}"/>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59794" y="1"/>
            <a:ext cx="13751794"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11" name="Footer Placeholder 4">
            <a:extLst>
              <a:ext uri="{FF2B5EF4-FFF2-40B4-BE49-F238E27FC236}">
                <a16:creationId xmlns:a16="http://schemas.microsoft.com/office/drawing/2014/main" id="{2422B7C3-E846-3A41-60FA-4611D2273C26}"/>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pic>
        <p:nvPicPr>
          <p:cNvPr id="14" name="Graphic 13">
            <a:extLst>
              <a:ext uri="{FF2B5EF4-FFF2-40B4-BE49-F238E27FC236}">
                <a16:creationId xmlns:a16="http://schemas.microsoft.com/office/drawing/2014/main" id="{D1AD09D5-D989-C7DF-ABD1-CE06D8838DE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20" name="Graphic 19">
            <a:extLst>
              <a:ext uri="{FF2B5EF4-FFF2-40B4-BE49-F238E27FC236}">
                <a16:creationId xmlns:a16="http://schemas.microsoft.com/office/drawing/2014/main" id="{1012D76C-5A21-33E7-60A2-9B5C3CB171A8}"/>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Tree>
    <p:extLst>
      <p:ext uri="{BB962C8B-B14F-4D97-AF65-F5344CB8AC3E}">
        <p14:creationId xmlns:p14="http://schemas.microsoft.com/office/powerpoint/2010/main" val="335387263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255E2F4A-CA69-1AAF-454D-AEB9FE307C4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384575896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le only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3D2D8AF-452C-D94D-A560-DAD6A962E17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b="0" i="0" kern="1200" noProof="0" dirty="0" smtClean="0">
                <a:solidFill>
                  <a:schemeClr val="tx1"/>
                </a:solidFill>
                <a:latin typeface="Arial" panose="020B0604020202020204" pitchFamily="34" charset="0"/>
                <a:ea typeface="+mn-ea"/>
                <a:cs typeface="Arial" pitchFamily="34" charset="0"/>
              </a:defRPr>
            </a:lvl1pPr>
          </a:lstStyle>
          <a:p>
            <a:pPr>
              <a:defRPr/>
            </a:pPr>
            <a:fld id="{525A3C56-E491-49B2-93F3-63532DF516BC}" type="slidenum">
              <a:rPr lang="en-CA">
                <a:solidFill>
                  <a:srgbClr val="000000"/>
                </a:solidFill>
              </a:rPr>
              <a:pPr>
                <a:defRPr/>
              </a:pPr>
              <a:t>‹#›</a:t>
            </a:fld>
            <a:endParaRPr lang="en-CA">
              <a:solidFill>
                <a:srgbClr val="000000"/>
              </a:solidFill>
            </a:endParaRPr>
          </a:p>
        </p:txBody>
      </p:sp>
      <p:sp>
        <p:nvSpPr>
          <p:cNvPr id="8" name="Titre 1">
            <a:extLst>
              <a:ext uri="{FF2B5EF4-FFF2-40B4-BE49-F238E27FC236}">
                <a16:creationId xmlns:a16="http://schemas.microsoft.com/office/drawing/2014/main" id="{561C906F-FE73-EC4B-9D46-7CD1B4F04428}"/>
              </a:ext>
            </a:extLst>
          </p:cNvPr>
          <p:cNvSpPr>
            <a:spLocks noGrp="1"/>
          </p:cNvSpPr>
          <p:nvPr>
            <p:ph type="title" hasCustomPrompt="1"/>
          </p:nvPr>
        </p:nvSpPr>
        <p:spPr>
          <a:xfrm>
            <a:off x="765737" y="684000"/>
            <a:ext cx="10676438" cy="531097"/>
          </a:xfrm>
        </p:spPr>
        <p:txBody>
          <a:bodyPr>
            <a:noAutofit/>
          </a:bodyPr>
          <a:lstStyle>
            <a:lvl1pPr>
              <a:defRPr sz="2800">
                <a:solidFill>
                  <a:schemeClr val="tx1"/>
                </a:solidFill>
              </a:defRPr>
            </a:lvl1pPr>
          </a:lstStyle>
          <a:p>
            <a:r>
              <a:rPr lang="en-CA"/>
              <a:t>Title only slide</a:t>
            </a:r>
          </a:p>
        </p:txBody>
      </p:sp>
      <p:sp>
        <p:nvSpPr>
          <p:cNvPr id="2" name="Footer Placeholder 4">
            <a:extLst>
              <a:ext uri="{FF2B5EF4-FFF2-40B4-BE49-F238E27FC236}">
                <a16:creationId xmlns:a16="http://schemas.microsoft.com/office/drawing/2014/main" id="{952A5A30-7B77-19BB-6634-A061663AA1B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207318261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ingle Column - Simple">
  <p:cSld name="Single Column - Simple">
    <p:spTree>
      <p:nvGrpSpPr>
        <p:cNvPr id="1" name="Shape 34"/>
        <p:cNvGrpSpPr/>
        <p:nvPr/>
      </p:nvGrpSpPr>
      <p:grpSpPr>
        <a:xfrm>
          <a:off x="0" y="0"/>
          <a:ext cx="0" cy="0"/>
          <a:chOff x="0" y="0"/>
          <a:chExt cx="0" cy="0"/>
        </a:xfrm>
      </p:grpSpPr>
      <p:sp>
        <p:nvSpPr>
          <p:cNvPr id="35" name="Google Shape;35;p5"/>
          <p:cNvSpPr/>
          <p:nvPr/>
        </p:nvSpPr>
        <p:spPr>
          <a:xfrm rot="10800000">
            <a:off x="3082413" y="0"/>
            <a:ext cx="280220" cy="6858000"/>
          </a:xfrm>
          <a:prstGeom prst="rect">
            <a:avLst/>
          </a:prstGeom>
          <a:solidFill>
            <a:srgbClr val="1C1C1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a:solidFill>
                <a:schemeClr val="lt1"/>
              </a:solidFill>
              <a:latin typeface="Arial"/>
              <a:ea typeface="Arial"/>
              <a:cs typeface="Arial"/>
              <a:sym typeface="Arial"/>
            </a:endParaRPr>
          </a:p>
        </p:txBody>
      </p:sp>
      <p:sp>
        <p:nvSpPr>
          <p:cNvPr id="37" name="Google Shape;37;p5"/>
          <p:cNvSpPr txBox="1">
            <a:spLocks noGrp="1"/>
          </p:cNvSpPr>
          <p:nvPr>
            <p:ph type="body" idx="1"/>
          </p:nvPr>
        </p:nvSpPr>
        <p:spPr>
          <a:xfrm>
            <a:off x="361950" y="876300"/>
            <a:ext cx="11468100" cy="5206785"/>
          </a:xfrm>
          <a:prstGeom prst="rect">
            <a:avLst/>
          </a:prstGeom>
          <a:noFill/>
          <a:ln>
            <a:noFill/>
          </a:ln>
        </p:spPr>
        <p:txBody>
          <a:bodyPr spcFirstLastPara="1" wrap="square" lIns="0" tIns="0" rIns="0" bIns="0" anchor="t" anchorCtr="0">
            <a:noAutofit/>
          </a:bodyPr>
          <a:lstStyle>
            <a:lvl1pPr marL="457200" lvl="0" indent="-342900" algn="l">
              <a:lnSpc>
                <a:spcPct val="100000"/>
              </a:lnSpc>
              <a:spcBef>
                <a:spcPts val="0"/>
              </a:spcBef>
              <a:spcAft>
                <a:spcPts val="0"/>
              </a:spcAft>
              <a:buSzPts val="1800"/>
              <a:buChar char="•"/>
              <a:defRPr>
                <a:solidFill>
                  <a:schemeClr val="lt1"/>
                </a:solidFill>
              </a:defRPr>
            </a:lvl1pPr>
            <a:lvl2pPr marL="914400" lvl="1" indent="-342900" algn="l">
              <a:lnSpc>
                <a:spcPct val="100000"/>
              </a:lnSpc>
              <a:spcBef>
                <a:spcPts val="1500"/>
              </a:spcBef>
              <a:spcAft>
                <a:spcPts val="0"/>
              </a:spcAft>
              <a:buSzPts val="1800"/>
              <a:buChar char="•"/>
              <a:defRPr>
                <a:solidFill>
                  <a:schemeClr val="lt1"/>
                </a:solidFill>
              </a:defRPr>
            </a:lvl2pPr>
            <a:lvl3pPr marL="1371600" lvl="2" indent="-342900" algn="l">
              <a:lnSpc>
                <a:spcPct val="100000"/>
              </a:lnSpc>
              <a:spcBef>
                <a:spcPts val="1500"/>
              </a:spcBef>
              <a:spcAft>
                <a:spcPts val="0"/>
              </a:spcAft>
              <a:buSzPts val="1800"/>
              <a:buChar char="•"/>
              <a:defRPr>
                <a:solidFill>
                  <a:schemeClr val="lt1"/>
                </a:solidFill>
              </a:defRPr>
            </a:lvl3pPr>
            <a:lvl4pPr marL="1828800" lvl="3" indent="-342900" algn="l">
              <a:lnSpc>
                <a:spcPct val="100000"/>
              </a:lnSpc>
              <a:spcBef>
                <a:spcPts val="1500"/>
              </a:spcBef>
              <a:spcAft>
                <a:spcPts val="0"/>
              </a:spcAft>
              <a:buSzPts val="1800"/>
              <a:buChar char="•"/>
              <a:defRPr>
                <a:solidFill>
                  <a:schemeClr val="lt1"/>
                </a:solidFill>
              </a:defRPr>
            </a:lvl4pPr>
            <a:lvl5pPr marL="2286000" lvl="4" indent="-342900" algn="l">
              <a:lnSpc>
                <a:spcPct val="100000"/>
              </a:lnSpc>
              <a:spcBef>
                <a:spcPts val="1500"/>
              </a:spcBef>
              <a:spcAft>
                <a:spcPts val="0"/>
              </a:spcAft>
              <a:buSzPts val="1800"/>
              <a:buChar char="•"/>
              <a:defRPr>
                <a:solidFill>
                  <a:schemeClr val="lt1"/>
                </a:solidFill>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5"/>
          <p:cNvSpPr txBox="1">
            <a:spLocks noGrp="1"/>
          </p:cNvSpPr>
          <p:nvPr>
            <p:ph type="title"/>
          </p:nvPr>
        </p:nvSpPr>
        <p:spPr>
          <a:xfrm>
            <a:off x="334496" y="268589"/>
            <a:ext cx="11495554" cy="607712"/>
          </a:xfrm>
          <a:prstGeom prst="rect">
            <a:avLst/>
          </a:prstGeom>
          <a:noFill/>
          <a:ln>
            <a:noFill/>
          </a:ln>
        </p:spPr>
        <p:txBody>
          <a:bodyPr spcFirstLastPara="1" wrap="square" lIns="0" tIns="0" rIns="0" bIns="0" anchor="t" anchorCtr="0">
            <a:noAutofit/>
          </a:bodyPr>
          <a:lstStyle>
            <a:lvl1pPr lvl="0" algn="l">
              <a:lnSpc>
                <a:spcPct val="110000"/>
              </a:lnSpc>
              <a:spcBef>
                <a:spcPts val="0"/>
              </a:spcBef>
              <a:spcAft>
                <a:spcPts val="0"/>
              </a:spcAft>
              <a:buClr>
                <a:schemeClr val="lt1"/>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Footer Placeholder 4">
            <a:extLst>
              <a:ext uri="{FF2B5EF4-FFF2-40B4-BE49-F238E27FC236}">
                <a16:creationId xmlns:a16="http://schemas.microsoft.com/office/drawing/2014/main" id="{85CDAC05-1C6F-73A8-435A-1A16065DEEA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390382837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4">
            <a:extLst>
              <a:ext uri="{FF2B5EF4-FFF2-40B4-BE49-F238E27FC236}">
                <a16:creationId xmlns:a16="http://schemas.microsoft.com/office/drawing/2014/main" id="{659F89E3-A1A7-273D-4439-8B2D5FC9A6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418769282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2_title, blank">
    <p:spTree>
      <p:nvGrpSpPr>
        <p:cNvPr id="1" name=""/>
        <p:cNvGrpSpPr/>
        <p:nvPr/>
      </p:nvGrpSpPr>
      <p:grpSpPr>
        <a:xfrm>
          <a:off x="0" y="0"/>
          <a:ext cx="0" cy="0"/>
          <a:chOff x="0" y="0"/>
          <a:chExt cx="0" cy="0"/>
        </a:xfrm>
      </p:grpSpPr>
      <p:sp>
        <p:nvSpPr>
          <p:cNvPr id="2" name="Title"/>
          <p:cNvSpPr>
            <a:spLocks noGrp="1"/>
          </p:cNvSpPr>
          <p:nvPr>
            <p:ph type="title"/>
          </p:nvPr>
        </p:nvSpPr>
        <p:spPr>
          <a:xfrm>
            <a:off x="293905" y="317045"/>
            <a:ext cx="11593207" cy="519084"/>
          </a:xfrm>
          <a:noFill/>
          <a:ln>
            <a:noFill/>
          </a:ln>
        </p:spPr>
        <p:txBody>
          <a:bodyPr spcFirstLastPara="1" vert="horz" wrap="square" lIns="0" tIns="0" rIns="0" bIns="0" anchor="b" anchorCtr="0">
            <a:noAutofit/>
          </a:bodyPr>
          <a:lstStyle>
            <a:lvl1pPr>
              <a:defRPr lang="en-US" sz="3200">
                <a:solidFill>
                  <a:schemeClr val="bg1">
                    <a:lumMod val="50000"/>
                  </a:schemeClr>
                </a:solidFill>
                <a:latin typeface="+mn-lt"/>
                <a:cs typeface="Futura Medium" panose="020B0602020204020303" pitchFamily="34" charset="-79"/>
              </a:defRPr>
            </a:lvl1pPr>
          </a:lstStyle>
          <a:p>
            <a:pPr lvl="0"/>
            <a:r>
              <a:rPr lang="en-US"/>
              <a:t>Click to edit Master title style</a:t>
            </a:r>
          </a:p>
        </p:txBody>
      </p:sp>
      <p:sp>
        <p:nvSpPr>
          <p:cNvPr id="4" name="Google Shape;262;p40">
            <a:extLst>
              <a:ext uri="{FF2B5EF4-FFF2-40B4-BE49-F238E27FC236}">
                <a16:creationId xmlns:a16="http://schemas.microsoft.com/office/drawing/2014/main" id="{29E40D67-3C84-374C-A24F-3B48C3ED2C25}"/>
              </a:ext>
            </a:extLst>
          </p:cNvPr>
          <p:cNvSpPr txBox="1">
            <a:spLocks noGrp="1"/>
          </p:cNvSpPr>
          <p:nvPr>
            <p:ph type="sldNum" idx="12"/>
          </p:nvPr>
        </p:nvSpPr>
        <p:spPr>
          <a:xfrm>
            <a:off x="11344194" y="6449865"/>
            <a:ext cx="731700" cy="525000"/>
          </a:xfrm>
          <a:prstGeom prst="rect">
            <a:avLst/>
          </a:prstGeom>
          <a:noFill/>
          <a:ln>
            <a:noFill/>
          </a:ln>
        </p:spPr>
        <p:txBody>
          <a:bodyPr spcFirstLastPara="1" wrap="square" lIns="91425" tIns="73150" rIns="0" bIns="45700" anchor="t" anchorCtr="0">
            <a:noAutofit/>
          </a:bodyPr>
          <a:lstStyle>
            <a:lvl1pPr marL="0" marR="0" lvl="0" indent="0" algn="r">
              <a:spcBef>
                <a:spcPts val="0"/>
              </a:spcBef>
              <a:spcAft>
                <a:spcPts val="0"/>
              </a:spcAft>
              <a:buClr>
                <a:schemeClr val="dk1"/>
              </a:buClr>
              <a:buSzPts val="1300"/>
              <a:buFont typeface="Arial"/>
              <a:buNone/>
              <a:defRPr sz="800" b="0"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1300"/>
              <a:buFont typeface="Arial"/>
              <a:buNone/>
              <a:defRPr sz="13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
        <p:nvSpPr>
          <p:cNvPr id="5" name="Footer Placeholder 4">
            <a:extLst>
              <a:ext uri="{FF2B5EF4-FFF2-40B4-BE49-F238E27FC236}">
                <a16:creationId xmlns:a16="http://schemas.microsoft.com/office/drawing/2014/main" id="{88A92ABB-4595-F5DE-0937-A5FFDFB72BC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35329111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3682F-6EC0-4798-8B94-914881B169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B3D891-9CAD-479F-A98F-F2DA9A629C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C74083-27B7-4707-9A9F-8F446ADD7777}"/>
              </a:ext>
            </a:extLst>
          </p:cNvPr>
          <p:cNvSpPr>
            <a:spLocks noGrp="1"/>
          </p:cNvSpPr>
          <p:nvPr>
            <p:ph type="dt" sz="half" idx="10"/>
          </p:nvPr>
        </p:nvSpPr>
        <p:spPr/>
        <p:txBody>
          <a:bodyPr/>
          <a:lstStyle/>
          <a:p>
            <a:fld id="{4FE8F126-5A75-45C0-BA0A-5EC8430630BA}" type="datetimeFigureOut">
              <a:rPr lang="en-US" smtClean="0"/>
              <a:t>4/26/2026</a:t>
            </a:fld>
            <a:endParaRPr lang="en-US"/>
          </a:p>
        </p:txBody>
      </p:sp>
      <p:sp>
        <p:nvSpPr>
          <p:cNvPr id="6" name="Slide Number Placeholder 5">
            <a:extLst>
              <a:ext uri="{FF2B5EF4-FFF2-40B4-BE49-F238E27FC236}">
                <a16:creationId xmlns:a16="http://schemas.microsoft.com/office/drawing/2014/main" id="{48EE2130-16C3-4D70-880B-48B32001791B}"/>
              </a:ext>
            </a:extLst>
          </p:cNvPr>
          <p:cNvSpPr>
            <a:spLocks noGrp="1"/>
          </p:cNvSpPr>
          <p:nvPr>
            <p:ph type="sldNum" sz="quarter" idx="12"/>
          </p:nvPr>
        </p:nvSpPr>
        <p:spPr/>
        <p:txBody>
          <a:bodyPr/>
          <a:lstStyle/>
          <a:p>
            <a:fld id="{EA4E59D7-9845-43B5-8985-2450A6DD7C2F}" type="slidenum">
              <a:rPr lang="en-US" smtClean="0"/>
              <a:t>‹#›</a:t>
            </a:fld>
            <a:endParaRPr lang="en-US"/>
          </a:p>
        </p:txBody>
      </p:sp>
      <p:sp>
        <p:nvSpPr>
          <p:cNvPr id="7" name="Footer Placeholder 4">
            <a:extLst>
              <a:ext uri="{FF2B5EF4-FFF2-40B4-BE49-F238E27FC236}">
                <a16:creationId xmlns:a16="http://schemas.microsoft.com/office/drawing/2014/main" id="{A066E20D-B460-AC48-B633-3B79A7408AB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404934995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7E970EE2-6194-CDCF-87FC-2AF057FA7ED6}"/>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3" name="Picture 2">
            <a:extLst>
              <a:ext uri="{FF2B5EF4-FFF2-40B4-BE49-F238E27FC236}">
                <a16:creationId xmlns:a16="http://schemas.microsoft.com/office/drawing/2014/main" id="{DC38D527-05E5-C989-C869-A3BCA6AF9F04}"/>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390197373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56D6CE03-A357-4F48-9540-C70336DEB7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035800" y="0"/>
            <a:ext cx="5156200" cy="6858000"/>
          </a:xfrm>
          <a:prstGeom prst="rect">
            <a:avLst/>
          </a:prstGeom>
        </p:spPr>
      </p:pic>
      <p:sp>
        <p:nvSpPr>
          <p:cNvPr id="7" name="Title 1">
            <a:extLst>
              <a:ext uri="{FF2B5EF4-FFF2-40B4-BE49-F238E27FC236}">
                <a16:creationId xmlns:a16="http://schemas.microsoft.com/office/drawing/2014/main" id="{5FAF0DBB-E02D-B147-B4A6-7F79832F3052}"/>
              </a:ext>
            </a:extLst>
          </p:cNvPr>
          <p:cNvSpPr>
            <a:spLocks noGrp="1"/>
          </p:cNvSpPr>
          <p:nvPr>
            <p:ph type="ctrTitle" hasCustomPrompt="1"/>
          </p:nvPr>
        </p:nvSpPr>
        <p:spPr>
          <a:xfrm>
            <a:off x="323545" y="238299"/>
            <a:ext cx="7141464" cy="2198935"/>
          </a:xfrm>
          <a:prstGeom prst="rect">
            <a:avLst/>
          </a:prstGeom>
        </p:spPr>
        <p:txBody>
          <a:bodyPr lIns="0" tIns="0" rIns="0" bIns="0" anchor="b" anchorCtr="0">
            <a:spAutoFit/>
          </a:bodyPr>
          <a:lstStyle>
            <a:lvl1pPr algn="l" fontAlgn="b">
              <a:lnSpc>
                <a:spcPct val="112000"/>
              </a:lnSpc>
              <a:defRPr sz="4500">
                <a:solidFill>
                  <a:schemeClr val="tx2"/>
                </a:solidFill>
              </a:defRPr>
            </a:lvl1pPr>
          </a:lstStyle>
          <a:p>
            <a:r>
              <a:rPr lang="en-US"/>
              <a:t>Title with</a:t>
            </a:r>
            <a:br>
              <a:rPr lang="en-US"/>
            </a:br>
            <a:r>
              <a:rPr lang="en-US"/>
              <a:t>multiple lines</a:t>
            </a:r>
            <a:br>
              <a:rPr lang="en-US"/>
            </a:br>
            <a:r>
              <a:rPr lang="en-US"/>
              <a:t>here</a:t>
            </a:r>
          </a:p>
        </p:txBody>
      </p:sp>
      <p:sp>
        <p:nvSpPr>
          <p:cNvPr id="8" name="Subtitle 2">
            <a:extLst>
              <a:ext uri="{FF2B5EF4-FFF2-40B4-BE49-F238E27FC236}">
                <a16:creationId xmlns:a16="http://schemas.microsoft.com/office/drawing/2014/main" id="{EBF8E17E-50A5-2844-8F3E-CC055D9F84C1}"/>
              </a:ext>
            </a:extLst>
          </p:cNvPr>
          <p:cNvSpPr>
            <a:spLocks noGrp="1"/>
          </p:cNvSpPr>
          <p:nvPr>
            <p:ph type="subTitle" idx="1" hasCustomPrompt="1"/>
          </p:nvPr>
        </p:nvSpPr>
        <p:spPr>
          <a:xfrm>
            <a:off x="338658" y="2513255"/>
            <a:ext cx="7141464" cy="400110"/>
          </a:xfrm>
          <a:prstGeom prst="rect">
            <a:avLst/>
          </a:prstGeom>
        </p:spPr>
        <p:txBody>
          <a:bodyPr lIns="0" tIns="0" rIns="0" bIns="0" anchor="t">
            <a:spAutoFit/>
          </a:bodyPr>
          <a:lstStyle>
            <a:lvl1pPr marL="0" indent="0" algn="l">
              <a:buNone/>
              <a:defRPr sz="2600">
                <a:ln>
                  <a:noFill/>
                </a:l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48870" y="4901789"/>
            <a:ext cx="5686425" cy="461665"/>
          </a:xfrm>
          <a:prstGeom prst="rect">
            <a:avLst/>
          </a:prstGeom>
        </p:spPr>
        <p:txBody>
          <a:bodyPr lIns="0" tIns="0" rIns="0" bIns="0">
            <a:spAutoFit/>
          </a:bodyPr>
          <a:lstStyle>
            <a:lvl1pPr marL="0" indent="0">
              <a:spcBef>
                <a:spcPts val="0"/>
              </a:spcBef>
              <a:buNone/>
              <a:defRPr/>
            </a:lvl1pPr>
          </a:lstStyle>
          <a:p>
            <a:pPr lvl="0"/>
            <a:r>
              <a:rPr lang="en-US"/>
              <a:t>Name goes here</a:t>
            </a:r>
            <a:br>
              <a:rPr lang="en-US"/>
            </a:br>
            <a:r>
              <a:rPr lang="en-US"/>
              <a:t>Position goes here</a:t>
            </a:r>
          </a:p>
        </p:txBody>
      </p:sp>
      <p:pic>
        <p:nvPicPr>
          <p:cNvPr id="5" name="Picture 4">
            <a:extLst>
              <a:ext uri="{FF2B5EF4-FFF2-40B4-BE49-F238E27FC236}">
                <a16:creationId xmlns:a16="http://schemas.microsoft.com/office/drawing/2014/main" id="{68EF0D83-C042-0BEF-719D-0E157A6D3F99}"/>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94216084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3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238500" y="361951"/>
            <a:ext cx="5580063" cy="2242568"/>
          </a:xfr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255963" y="2677068"/>
            <a:ext cx="5562600" cy="813594"/>
          </a:xfrm>
        </p:spPr>
        <p:txBody>
          <a:bodyPr vert="horz" lIns="0" tIns="0" rIns="0" bIns="0" rtlCol="0" anchor="t">
            <a:noAutofit/>
          </a:bodyPr>
          <a:lstStyle>
            <a:lvl1pPr marL="0" indent="0">
              <a:buNone/>
              <a:defRPr lang="en-US" sz="2000" dirty="0">
                <a:ln>
                  <a:noFill/>
                </a:ln>
                <a:solidFill>
                  <a:schemeClr val="bg1"/>
                </a:solidFill>
              </a:defRPr>
            </a:lvl1pPr>
          </a:lstStyle>
          <a:p>
            <a:pPr lvl="0"/>
            <a:r>
              <a:rPr lang="en-US"/>
              <a:t>All titles/subtitles are sentence case</a:t>
            </a:r>
          </a:p>
        </p:txBody>
      </p:sp>
      <p:grpSp>
        <p:nvGrpSpPr>
          <p:cNvPr id="125" name="Group 124">
            <a:extLst>
              <a:ext uri="{FF2B5EF4-FFF2-40B4-BE49-F238E27FC236}">
                <a16:creationId xmlns:a16="http://schemas.microsoft.com/office/drawing/2014/main" id="{57043624-C5ED-48F9-9ADE-01955852D633}"/>
              </a:ext>
            </a:extLst>
          </p:cNvPr>
          <p:cNvGrpSpPr/>
          <p:nvPr userDrawn="1"/>
        </p:nvGrpSpPr>
        <p:grpSpPr>
          <a:xfrm>
            <a:off x="-55562" y="1292226"/>
            <a:ext cx="2135188" cy="2219325"/>
            <a:chOff x="-55562" y="1292226"/>
            <a:chExt cx="2135188" cy="2219325"/>
          </a:xfrm>
        </p:grpSpPr>
        <p:sp>
          <p:nvSpPr>
            <p:cNvPr id="126" name="Line 19">
              <a:extLst>
                <a:ext uri="{FF2B5EF4-FFF2-40B4-BE49-F238E27FC236}">
                  <a16:creationId xmlns:a16="http://schemas.microsoft.com/office/drawing/2014/main" id="{CDAA4465-A13C-4BA4-A430-41143CF05FF7}"/>
                </a:ext>
              </a:extLst>
            </p:cNvPr>
            <p:cNvSpPr>
              <a:spLocks noChangeShapeType="1"/>
            </p:cNvSpPr>
            <p:nvPr userDrawn="1"/>
          </p:nvSpPr>
          <p:spPr bwMode="auto">
            <a:xfrm flipH="1">
              <a:off x="157163" y="3141663"/>
              <a:ext cx="214313" cy="369888"/>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7" name="Line 20">
              <a:extLst>
                <a:ext uri="{FF2B5EF4-FFF2-40B4-BE49-F238E27FC236}">
                  <a16:creationId xmlns:a16="http://schemas.microsoft.com/office/drawing/2014/main" id="{700DBC5B-C430-4E35-BF2E-1506FCFBCE28}"/>
                </a:ext>
              </a:extLst>
            </p:cNvPr>
            <p:cNvSpPr>
              <a:spLocks noChangeShapeType="1"/>
            </p:cNvSpPr>
            <p:nvPr userDrawn="1"/>
          </p:nvSpPr>
          <p:spPr bwMode="auto">
            <a:xfrm>
              <a:off x="157163" y="1292226"/>
              <a:ext cx="214313" cy="369888"/>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8" name="Line 21">
              <a:extLst>
                <a:ext uri="{FF2B5EF4-FFF2-40B4-BE49-F238E27FC236}">
                  <a16:creationId xmlns:a16="http://schemas.microsoft.com/office/drawing/2014/main" id="{3551BFB1-7107-474F-8368-3D13C48B95D2}"/>
                </a:ext>
              </a:extLst>
            </p:cNvPr>
            <p:cNvSpPr>
              <a:spLocks noChangeShapeType="1"/>
            </p:cNvSpPr>
            <p:nvPr userDrawn="1"/>
          </p:nvSpPr>
          <p:spPr bwMode="auto">
            <a:xfrm flipH="1">
              <a:off x="371475" y="2401888"/>
              <a:ext cx="85248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 name="Line 22">
              <a:extLst>
                <a:ext uri="{FF2B5EF4-FFF2-40B4-BE49-F238E27FC236}">
                  <a16:creationId xmlns:a16="http://schemas.microsoft.com/office/drawing/2014/main" id="{8AFD68F6-1283-49AB-9A5C-29920EDE5B30}"/>
                </a:ext>
              </a:extLst>
            </p:cNvPr>
            <p:cNvSpPr>
              <a:spLocks noChangeShapeType="1"/>
            </p:cNvSpPr>
            <p:nvPr userDrawn="1"/>
          </p:nvSpPr>
          <p:spPr bwMode="auto">
            <a:xfrm flipH="1" flipV="1">
              <a:off x="585788" y="2032001"/>
              <a:ext cx="427038" cy="739775"/>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 name="Line 23">
              <a:extLst>
                <a:ext uri="{FF2B5EF4-FFF2-40B4-BE49-F238E27FC236}">
                  <a16:creationId xmlns:a16="http://schemas.microsoft.com/office/drawing/2014/main" id="{ECAF9728-8DEF-45EA-9AFF-7FE9EC3CDB95}"/>
                </a:ext>
              </a:extLst>
            </p:cNvPr>
            <p:cNvSpPr>
              <a:spLocks noChangeShapeType="1"/>
            </p:cNvSpPr>
            <p:nvPr userDrawn="1"/>
          </p:nvSpPr>
          <p:spPr bwMode="auto">
            <a:xfrm>
              <a:off x="1652588" y="2401888"/>
              <a:ext cx="427038" cy="0"/>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 name="Line 24">
              <a:extLst>
                <a:ext uri="{FF2B5EF4-FFF2-40B4-BE49-F238E27FC236}">
                  <a16:creationId xmlns:a16="http://schemas.microsoft.com/office/drawing/2014/main" id="{B2D82F8C-3F9F-4178-9D54-64FC4338A650}"/>
                </a:ext>
              </a:extLst>
            </p:cNvPr>
            <p:cNvSpPr>
              <a:spLocks noChangeShapeType="1"/>
            </p:cNvSpPr>
            <p:nvPr userDrawn="1"/>
          </p:nvSpPr>
          <p:spPr bwMode="auto">
            <a:xfrm flipH="1">
              <a:off x="585788" y="2032001"/>
              <a:ext cx="427038" cy="739775"/>
            </a:xfrm>
            <a:prstGeom prst="line">
              <a:avLst/>
            </a:prstGeom>
            <a:noFill/>
            <a:ln w="31750" cap="flat">
              <a:solidFill>
                <a:srgbClr val="9E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 name="Freeform 25">
              <a:extLst>
                <a:ext uri="{FF2B5EF4-FFF2-40B4-BE49-F238E27FC236}">
                  <a16:creationId xmlns:a16="http://schemas.microsoft.com/office/drawing/2014/main" id="{485BAC16-9A05-483D-B55B-FCB4F59916C0}"/>
                </a:ext>
              </a:extLst>
            </p:cNvPr>
            <p:cNvSpPr>
              <a:spLocks/>
            </p:cNvSpPr>
            <p:nvPr userDrawn="1"/>
          </p:nvSpPr>
          <p:spPr bwMode="auto">
            <a:xfrm>
              <a:off x="157163" y="2771776"/>
              <a:ext cx="642938" cy="369888"/>
            </a:xfrm>
            <a:custGeom>
              <a:avLst/>
              <a:gdLst>
                <a:gd name="T0" fmla="*/ 0 w 405"/>
                <a:gd name="T1" fmla="*/ 0 h 233"/>
                <a:gd name="T2" fmla="*/ 270 w 405"/>
                <a:gd name="T3" fmla="*/ 0 h 233"/>
                <a:gd name="T4" fmla="*/ 270 w 405"/>
                <a:gd name="T5" fmla="*/ 0 h 233"/>
                <a:gd name="T6" fmla="*/ 405 w 405"/>
                <a:gd name="T7" fmla="*/ 233 h 233"/>
              </a:gdLst>
              <a:ahLst/>
              <a:cxnLst>
                <a:cxn ang="0">
                  <a:pos x="T0" y="T1"/>
                </a:cxn>
                <a:cxn ang="0">
                  <a:pos x="T2" y="T3"/>
                </a:cxn>
                <a:cxn ang="0">
                  <a:pos x="T4" y="T5"/>
                </a:cxn>
                <a:cxn ang="0">
                  <a:pos x="T6" y="T7"/>
                </a:cxn>
              </a:cxnLst>
              <a:rect l="0" t="0" r="r" b="b"/>
              <a:pathLst>
                <a:path w="405" h="233">
                  <a:moveTo>
                    <a:pt x="0" y="0"/>
                  </a:moveTo>
                  <a:lnTo>
                    <a:pt x="270" y="0"/>
                  </a:lnTo>
                  <a:lnTo>
                    <a:pt x="270" y="0"/>
                  </a:lnTo>
                  <a:lnTo>
                    <a:pt x="405" y="233"/>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 name="Freeform 26">
              <a:extLst>
                <a:ext uri="{FF2B5EF4-FFF2-40B4-BE49-F238E27FC236}">
                  <a16:creationId xmlns:a16="http://schemas.microsoft.com/office/drawing/2014/main" id="{DD43DF60-C80E-4D9A-9853-EAB389A4E670}"/>
                </a:ext>
              </a:extLst>
            </p:cNvPr>
            <p:cNvSpPr>
              <a:spLocks/>
            </p:cNvSpPr>
            <p:nvPr userDrawn="1"/>
          </p:nvSpPr>
          <p:spPr bwMode="auto">
            <a:xfrm>
              <a:off x="157163" y="1662113"/>
              <a:ext cx="642938" cy="369888"/>
            </a:xfrm>
            <a:custGeom>
              <a:avLst/>
              <a:gdLst>
                <a:gd name="T0" fmla="*/ 405 w 405"/>
                <a:gd name="T1" fmla="*/ 0 h 233"/>
                <a:gd name="T2" fmla="*/ 270 w 405"/>
                <a:gd name="T3" fmla="*/ 233 h 233"/>
                <a:gd name="T4" fmla="*/ 270 w 405"/>
                <a:gd name="T5" fmla="*/ 233 h 233"/>
                <a:gd name="T6" fmla="*/ 0 w 405"/>
                <a:gd name="T7" fmla="*/ 233 h 233"/>
              </a:gdLst>
              <a:ahLst/>
              <a:cxnLst>
                <a:cxn ang="0">
                  <a:pos x="T0" y="T1"/>
                </a:cxn>
                <a:cxn ang="0">
                  <a:pos x="T2" y="T3"/>
                </a:cxn>
                <a:cxn ang="0">
                  <a:pos x="T4" y="T5"/>
                </a:cxn>
                <a:cxn ang="0">
                  <a:pos x="T6" y="T7"/>
                </a:cxn>
              </a:cxnLst>
              <a:rect l="0" t="0" r="r" b="b"/>
              <a:pathLst>
                <a:path w="405" h="233">
                  <a:moveTo>
                    <a:pt x="405" y="0"/>
                  </a:moveTo>
                  <a:lnTo>
                    <a:pt x="270" y="233"/>
                  </a:lnTo>
                  <a:lnTo>
                    <a:pt x="270" y="233"/>
                  </a:lnTo>
                  <a:lnTo>
                    <a:pt x="0" y="233"/>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4" name="Freeform 27">
              <a:extLst>
                <a:ext uri="{FF2B5EF4-FFF2-40B4-BE49-F238E27FC236}">
                  <a16:creationId xmlns:a16="http://schemas.microsoft.com/office/drawing/2014/main" id="{73A15C50-597C-4527-AF8E-081B74F427F9}"/>
                </a:ext>
              </a:extLst>
            </p:cNvPr>
            <p:cNvSpPr>
              <a:spLocks/>
            </p:cNvSpPr>
            <p:nvPr userDrawn="1"/>
          </p:nvSpPr>
          <p:spPr bwMode="auto">
            <a:xfrm>
              <a:off x="1223963" y="2032001"/>
              <a:ext cx="214313" cy="739775"/>
            </a:xfrm>
            <a:custGeom>
              <a:avLst/>
              <a:gdLst>
                <a:gd name="T0" fmla="*/ 135 w 135"/>
                <a:gd name="T1" fmla="*/ 0 h 466"/>
                <a:gd name="T2" fmla="*/ 2 w 135"/>
                <a:gd name="T3" fmla="*/ 233 h 466"/>
                <a:gd name="T4" fmla="*/ 0 w 135"/>
                <a:gd name="T5" fmla="*/ 233 h 466"/>
                <a:gd name="T6" fmla="*/ 135 w 135"/>
                <a:gd name="T7" fmla="*/ 466 h 466"/>
              </a:gdLst>
              <a:ahLst/>
              <a:cxnLst>
                <a:cxn ang="0">
                  <a:pos x="T0" y="T1"/>
                </a:cxn>
                <a:cxn ang="0">
                  <a:pos x="T2" y="T3"/>
                </a:cxn>
                <a:cxn ang="0">
                  <a:pos x="T4" y="T5"/>
                </a:cxn>
                <a:cxn ang="0">
                  <a:pos x="T6" y="T7"/>
                </a:cxn>
              </a:cxnLst>
              <a:rect l="0" t="0" r="r" b="b"/>
              <a:pathLst>
                <a:path w="135" h="466">
                  <a:moveTo>
                    <a:pt x="135" y="0"/>
                  </a:moveTo>
                  <a:lnTo>
                    <a:pt x="2" y="233"/>
                  </a:lnTo>
                  <a:lnTo>
                    <a:pt x="0" y="233"/>
                  </a:lnTo>
                  <a:lnTo>
                    <a:pt x="135" y="466"/>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5" name="Freeform 28">
              <a:extLst>
                <a:ext uri="{FF2B5EF4-FFF2-40B4-BE49-F238E27FC236}">
                  <a16:creationId xmlns:a16="http://schemas.microsoft.com/office/drawing/2014/main" id="{1C0BE69A-1318-4883-A12C-3461520D97F0}"/>
                </a:ext>
              </a:extLst>
            </p:cNvPr>
            <p:cNvSpPr>
              <a:spLocks/>
            </p:cNvSpPr>
            <p:nvPr userDrawn="1"/>
          </p:nvSpPr>
          <p:spPr bwMode="auto">
            <a:xfrm>
              <a:off x="157163" y="1662113"/>
              <a:ext cx="1495425" cy="1479550"/>
            </a:xfrm>
            <a:custGeom>
              <a:avLst/>
              <a:gdLst>
                <a:gd name="T0" fmla="*/ 443 w 517"/>
                <a:gd name="T1" fmla="*/ 128 h 512"/>
                <a:gd name="T2" fmla="*/ 296 w 517"/>
                <a:gd name="T3" fmla="*/ 128 h 512"/>
                <a:gd name="T4" fmla="*/ 222 w 517"/>
                <a:gd name="T5" fmla="*/ 0 h 512"/>
                <a:gd name="T6" fmla="*/ 222 w 517"/>
                <a:gd name="T7" fmla="*/ 0 h 512"/>
                <a:gd name="T8" fmla="*/ 74 w 517"/>
                <a:gd name="T9" fmla="*/ 0 h 512"/>
                <a:gd name="T10" fmla="*/ 0 w 517"/>
                <a:gd name="T11" fmla="*/ 128 h 512"/>
                <a:gd name="T12" fmla="*/ 74 w 517"/>
                <a:gd name="T13" fmla="*/ 256 h 512"/>
                <a:gd name="T14" fmla="*/ 0 w 517"/>
                <a:gd name="T15" fmla="*/ 384 h 512"/>
                <a:gd name="T16" fmla="*/ 74 w 517"/>
                <a:gd name="T17" fmla="*/ 512 h 512"/>
                <a:gd name="T18" fmla="*/ 222 w 517"/>
                <a:gd name="T19" fmla="*/ 512 h 512"/>
                <a:gd name="T20" fmla="*/ 222 w 517"/>
                <a:gd name="T21" fmla="*/ 512 h 512"/>
                <a:gd name="T22" fmla="*/ 296 w 517"/>
                <a:gd name="T23" fmla="*/ 384 h 512"/>
                <a:gd name="T24" fmla="*/ 443 w 517"/>
                <a:gd name="T25" fmla="*/ 384 h 512"/>
                <a:gd name="T26" fmla="*/ 443 w 517"/>
                <a:gd name="T27" fmla="*/ 384 h 512"/>
                <a:gd name="T28" fmla="*/ 517 w 517"/>
                <a:gd name="T29" fmla="*/ 256 h 512"/>
                <a:gd name="T30" fmla="*/ 443 w 517"/>
                <a:gd name="T31" fmla="*/ 12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7" h="512">
                  <a:moveTo>
                    <a:pt x="443" y="128"/>
                  </a:moveTo>
                  <a:cubicBezTo>
                    <a:pt x="296" y="128"/>
                    <a:pt x="296" y="128"/>
                    <a:pt x="296" y="128"/>
                  </a:cubicBezTo>
                  <a:cubicBezTo>
                    <a:pt x="222" y="0"/>
                    <a:pt x="222" y="0"/>
                    <a:pt x="222" y="0"/>
                  </a:cubicBezTo>
                  <a:cubicBezTo>
                    <a:pt x="222" y="0"/>
                    <a:pt x="222" y="0"/>
                    <a:pt x="222" y="0"/>
                  </a:cubicBezTo>
                  <a:cubicBezTo>
                    <a:pt x="74" y="0"/>
                    <a:pt x="74" y="0"/>
                    <a:pt x="74" y="0"/>
                  </a:cubicBezTo>
                  <a:cubicBezTo>
                    <a:pt x="74" y="0"/>
                    <a:pt x="0" y="128"/>
                    <a:pt x="0" y="128"/>
                  </a:cubicBezTo>
                  <a:cubicBezTo>
                    <a:pt x="74" y="256"/>
                    <a:pt x="74" y="256"/>
                    <a:pt x="74" y="256"/>
                  </a:cubicBezTo>
                  <a:cubicBezTo>
                    <a:pt x="74" y="256"/>
                    <a:pt x="0" y="384"/>
                    <a:pt x="0" y="384"/>
                  </a:cubicBezTo>
                  <a:cubicBezTo>
                    <a:pt x="74" y="512"/>
                    <a:pt x="74" y="512"/>
                    <a:pt x="74" y="512"/>
                  </a:cubicBezTo>
                  <a:cubicBezTo>
                    <a:pt x="222" y="512"/>
                    <a:pt x="222" y="512"/>
                    <a:pt x="222" y="512"/>
                  </a:cubicBezTo>
                  <a:cubicBezTo>
                    <a:pt x="222" y="512"/>
                    <a:pt x="222" y="512"/>
                    <a:pt x="222" y="512"/>
                  </a:cubicBezTo>
                  <a:cubicBezTo>
                    <a:pt x="296" y="384"/>
                    <a:pt x="296" y="384"/>
                    <a:pt x="296" y="384"/>
                  </a:cubicBezTo>
                  <a:cubicBezTo>
                    <a:pt x="443" y="384"/>
                    <a:pt x="443" y="384"/>
                    <a:pt x="443" y="384"/>
                  </a:cubicBezTo>
                  <a:cubicBezTo>
                    <a:pt x="443" y="384"/>
                    <a:pt x="443" y="384"/>
                    <a:pt x="443" y="384"/>
                  </a:cubicBezTo>
                  <a:cubicBezTo>
                    <a:pt x="517" y="256"/>
                    <a:pt x="517" y="256"/>
                    <a:pt x="517" y="256"/>
                  </a:cubicBezTo>
                  <a:cubicBezTo>
                    <a:pt x="443" y="128"/>
                    <a:pt x="443" y="128"/>
                    <a:pt x="443" y="128"/>
                  </a:cubicBezTo>
                  <a:close/>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6" name="Freeform 29">
              <a:extLst>
                <a:ext uri="{FF2B5EF4-FFF2-40B4-BE49-F238E27FC236}">
                  <a16:creationId xmlns:a16="http://schemas.microsoft.com/office/drawing/2014/main" id="{5156584A-0854-4908-BF37-AFEE0DC93556}"/>
                </a:ext>
              </a:extLst>
            </p:cNvPr>
            <p:cNvSpPr>
              <a:spLocks/>
            </p:cNvSpPr>
            <p:nvPr userDrawn="1"/>
          </p:nvSpPr>
          <p:spPr bwMode="auto">
            <a:xfrm>
              <a:off x="-55562" y="1292226"/>
              <a:ext cx="2135188" cy="2219325"/>
            </a:xfrm>
            <a:custGeom>
              <a:avLst/>
              <a:gdLst>
                <a:gd name="T0" fmla="*/ 539 w 1345"/>
                <a:gd name="T1" fmla="*/ 1165 h 1398"/>
                <a:gd name="T2" fmla="*/ 806 w 1345"/>
                <a:gd name="T3" fmla="*/ 1165 h 1398"/>
                <a:gd name="T4" fmla="*/ 941 w 1345"/>
                <a:gd name="T5" fmla="*/ 932 h 1398"/>
                <a:gd name="T6" fmla="*/ 941 w 1345"/>
                <a:gd name="T7" fmla="*/ 932 h 1398"/>
                <a:gd name="T8" fmla="*/ 1210 w 1345"/>
                <a:gd name="T9" fmla="*/ 932 h 1398"/>
                <a:gd name="T10" fmla="*/ 1345 w 1345"/>
                <a:gd name="T11" fmla="*/ 699 h 1398"/>
                <a:gd name="T12" fmla="*/ 1210 w 1345"/>
                <a:gd name="T13" fmla="*/ 466 h 1398"/>
                <a:gd name="T14" fmla="*/ 941 w 1345"/>
                <a:gd name="T15" fmla="*/ 466 h 1398"/>
                <a:gd name="T16" fmla="*/ 941 w 1345"/>
                <a:gd name="T17" fmla="*/ 466 h 1398"/>
                <a:gd name="T18" fmla="*/ 806 w 1345"/>
                <a:gd name="T19" fmla="*/ 233 h 1398"/>
                <a:gd name="T20" fmla="*/ 539 w 1345"/>
                <a:gd name="T21" fmla="*/ 233 h 1398"/>
                <a:gd name="T22" fmla="*/ 539 w 1345"/>
                <a:gd name="T23" fmla="*/ 233 h 1398"/>
                <a:gd name="T24" fmla="*/ 404 w 1345"/>
                <a:gd name="T25" fmla="*/ 0 h 1398"/>
                <a:gd name="T26" fmla="*/ 134 w 1345"/>
                <a:gd name="T27" fmla="*/ 0 h 1398"/>
                <a:gd name="T28" fmla="*/ 0 w 1345"/>
                <a:gd name="T29" fmla="*/ 233 h 1398"/>
                <a:gd name="T30" fmla="*/ 134 w 1345"/>
                <a:gd name="T31" fmla="*/ 466 h 1398"/>
                <a:gd name="T32" fmla="*/ 134 w 1345"/>
                <a:gd name="T33" fmla="*/ 466 h 1398"/>
                <a:gd name="T34" fmla="*/ 0 w 1345"/>
                <a:gd name="T35" fmla="*/ 699 h 1398"/>
                <a:gd name="T36" fmla="*/ 134 w 1345"/>
                <a:gd name="T37" fmla="*/ 932 h 1398"/>
                <a:gd name="T38" fmla="*/ 134 w 1345"/>
                <a:gd name="T39" fmla="*/ 932 h 1398"/>
                <a:gd name="T40" fmla="*/ 0 w 1345"/>
                <a:gd name="T41" fmla="*/ 1165 h 1398"/>
                <a:gd name="T42" fmla="*/ 134 w 1345"/>
                <a:gd name="T43" fmla="*/ 1398 h 1398"/>
                <a:gd name="T44" fmla="*/ 404 w 1345"/>
                <a:gd name="T45" fmla="*/ 1398 h 1398"/>
                <a:gd name="T46" fmla="*/ 539 w 1345"/>
                <a:gd name="T47" fmla="*/ 1165 h 1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45" h="1398">
                  <a:moveTo>
                    <a:pt x="539" y="1165"/>
                  </a:moveTo>
                  <a:lnTo>
                    <a:pt x="806" y="1165"/>
                  </a:lnTo>
                  <a:lnTo>
                    <a:pt x="941" y="932"/>
                  </a:lnTo>
                  <a:lnTo>
                    <a:pt x="941" y="932"/>
                  </a:lnTo>
                  <a:lnTo>
                    <a:pt x="1210" y="932"/>
                  </a:lnTo>
                  <a:lnTo>
                    <a:pt x="1345" y="699"/>
                  </a:lnTo>
                  <a:lnTo>
                    <a:pt x="1210" y="466"/>
                  </a:lnTo>
                  <a:lnTo>
                    <a:pt x="941" y="466"/>
                  </a:lnTo>
                  <a:lnTo>
                    <a:pt x="941" y="466"/>
                  </a:lnTo>
                  <a:lnTo>
                    <a:pt x="806" y="233"/>
                  </a:lnTo>
                  <a:lnTo>
                    <a:pt x="539" y="233"/>
                  </a:lnTo>
                  <a:lnTo>
                    <a:pt x="539" y="233"/>
                  </a:lnTo>
                  <a:lnTo>
                    <a:pt x="404" y="0"/>
                  </a:lnTo>
                  <a:lnTo>
                    <a:pt x="134" y="0"/>
                  </a:lnTo>
                  <a:lnTo>
                    <a:pt x="0" y="233"/>
                  </a:lnTo>
                  <a:lnTo>
                    <a:pt x="134" y="466"/>
                  </a:lnTo>
                  <a:lnTo>
                    <a:pt x="134" y="466"/>
                  </a:lnTo>
                  <a:lnTo>
                    <a:pt x="0" y="699"/>
                  </a:lnTo>
                  <a:lnTo>
                    <a:pt x="134" y="932"/>
                  </a:lnTo>
                  <a:lnTo>
                    <a:pt x="134" y="932"/>
                  </a:lnTo>
                  <a:lnTo>
                    <a:pt x="0" y="1165"/>
                  </a:lnTo>
                  <a:lnTo>
                    <a:pt x="134" y="1398"/>
                  </a:lnTo>
                  <a:lnTo>
                    <a:pt x="404" y="1398"/>
                  </a:lnTo>
                  <a:lnTo>
                    <a:pt x="539" y="1165"/>
                  </a:lnTo>
                </a:path>
              </a:pathLst>
            </a:custGeom>
            <a:noFill/>
            <a:ln w="31750" cap="flat">
              <a:solidFill>
                <a:srgbClr val="9E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7" name="Group 16">
            <a:extLst>
              <a:ext uri="{FF2B5EF4-FFF2-40B4-BE49-F238E27FC236}">
                <a16:creationId xmlns:a16="http://schemas.microsoft.com/office/drawing/2014/main" id="{4A423A29-1AF4-4385-8873-B13821B4CFE7}"/>
              </a:ext>
            </a:extLst>
          </p:cNvPr>
          <p:cNvGrpSpPr/>
          <p:nvPr userDrawn="1"/>
        </p:nvGrpSpPr>
        <p:grpSpPr>
          <a:xfrm>
            <a:off x="10241279" y="5808617"/>
            <a:ext cx="1455289" cy="742043"/>
            <a:chOff x="6551613" y="3198813"/>
            <a:chExt cx="5856287" cy="2986087"/>
          </a:xfrm>
          <a:solidFill>
            <a:schemeClr val="bg1"/>
          </a:solidFill>
        </p:grpSpPr>
        <p:sp>
          <p:nvSpPr>
            <p:cNvPr id="19" name="Freeform 5">
              <a:extLst>
                <a:ext uri="{FF2B5EF4-FFF2-40B4-BE49-F238E27FC236}">
                  <a16:creationId xmlns:a16="http://schemas.microsoft.com/office/drawing/2014/main" id="{A456280B-202D-467C-B5DB-B2C988AE1ACB}"/>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6">
              <a:extLst>
                <a:ext uri="{FF2B5EF4-FFF2-40B4-BE49-F238E27FC236}">
                  <a16:creationId xmlns:a16="http://schemas.microsoft.com/office/drawing/2014/main" id="{CE47C109-5A71-4BB6-81AE-3530E18B1272}"/>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7">
              <a:extLst>
                <a:ext uri="{FF2B5EF4-FFF2-40B4-BE49-F238E27FC236}">
                  <a16:creationId xmlns:a16="http://schemas.microsoft.com/office/drawing/2014/main" id="{29F620DB-7384-421A-95A8-0D5A9F49FD50}"/>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a:extLst>
                <a:ext uri="{FF2B5EF4-FFF2-40B4-BE49-F238E27FC236}">
                  <a16:creationId xmlns:a16="http://schemas.microsoft.com/office/drawing/2014/main" id="{9A1CB4F4-0FF4-4810-A541-A26C109E636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a:extLst>
                <a:ext uri="{FF2B5EF4-FFF2-40B4-BE49-F238E27FC236}">
                  <a16:creationId xmlns:a16="http://schemas.microsoft.com/office/drawing/2014/main" id="{EFE5775E-A422-4F16-9078-6D9AF9CDB89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0">
              <a:extLst>
                <a:ext uri="{FF2B5EF4-FFF2-40B4-BE49-F238E27FC236}">
                  <a16:creationId xmlns:a16="http://schemas.microsoft.com/office/drawing/2014/main" id="{3769A019-261A-4BD2-833D-8A9C2AA3E03C}"/>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1">
              <a:extLst>
                <a:ext uri="{FF2B5EF4-FFF2-40B4-BE49-F238E27FC236}">
                  <a16:creationId xmlns:a16="http://schemas.microsoft.com/office/drawing/2014/main" id="{CB530E28-ADC0-4EAE-8FDE-7F18A1A915E5}"/>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2">
              <a:extLst>
                <a:ext uri="{FF2B5EF4-FFF2-40B4-BE49-F238E27FC236}">
                  <a16:creationId xmlns:a16="http://schemas.microsoft.com/office/drawing/2014/main" id="{18FD99E4-FBD8-44C2-A732-E345E7356489}"/>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3">
              <a:extLst>
                <a:ext uri="{FF2B5EF4-FFF2-40B4-BE49-F238E27FC236}">
                  <a16:creationId xmlns:a16="http://schemas.microsoft.com/office/drawing/2014/main" id="{BA8A43E1-5496-4394-8B16-E070D43926B5}"/>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4">
              <a:extLst>
                <a:ext uri="{FF2B5EF4-FFF2-40B4-BE49-F238E27FC236}">
                  <a16:creationId xmlns:a16="http://schemas.microsoft.com/office/drawing/2014/main" id="{376D7B15-E268-4C27-99FE-E0842C117975}"/>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5">
              <a:extLst>
                <a:ext uri="{FF2B5EF4-FFF2-40B4-BE49-F238E27FC236}">
                  <a16:creationId xmlns:a16="http://schemas.microsoft.com/office/drawing/2014/main" id="{7AE51CF6-CB4D-481D-BE15-A5C2B1CDCF03}"/>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6">
              <a:extLst>
                <a:ext uri="{FF2B5EF4-FFF2-40B4-BE49-F238E27FC236}">
                  <a16:creationId xmlns:a16="http://schemas.microsoft.com/office/drawing/2014/main" id="{3B201AF5-0B1E-4879-ABAB-C98680D843A1}"/>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7">
              <a:extLst>
                <a:ext uri="{FF2B5EF4-FFF2-40B4-BE49-F238E27FC236}">
                  <a16:creationId xmlns:a16="http://schemas.microsoft.com/office/drawing/2014/main" id="{D5F4692F-0C46-43F0-87E5-FF04037D2D5F}"/>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8">
              <a:extLst>
                <a:ext uri="{FF2B5EF4-FFF2-40B4-BE49-F238E27FC236}">
                  <a16:creationId xmlns:a16="http://schemas.microsoft.com/office/drawing/2014/main" id="{503786F9-9227-4818-BC99-FEEBC83DED5E}"/>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3A1067A-C34F-4536-BCE1-F79DEC12D7B8}"/>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A4235AD1-D089-4799-89A9-7FB8DD0B5B6C}"/>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1">
              <a:extLst>
                <a:ext uri="{FF2B5EF4-FFF2-40B4-BE49-F238E27FC236}">
                  <a16:creationId xmlns:a16="http://schemas.microsoft.com/office/drawing/2014/main" id="{BB290D36-8955-4356-84AA-D23BE80AF482}"/>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pic>
        <p:nvPicPr>
          <p:cNvPr id="2" name="Graphic 1">
            <a:extLst>
              <a:ext uri="{FF2B5EF4-FFF2-40B4-BE49-F238E27FC236}">
                <a16:creationId xmlns:a16="http://schemas.microsoft.com/office/drawing/2014/main" id="{46B18B28-1617-2927-6769-E50362F4824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48870" y="6293280"/>
            <a:ext cx="1111028" cy="344419"/>
          </a:xfrm>
          <a:prstGeom prst="rect">
            <a:avLst/>
          </a:prstGeom>
        </p:spPr>
      </p:pic>
      <p:pic>
        <p:nvPicPr>
          <p:cNvPr id="3" name="Graphic 2">
            <a:extLst>
              <a:ext uri="{FF2B5EF4-FFF2-40B4-BE49-F238E27FC236}">
                <a16:creationId xmlns:a16="http://schemas.microsoft.com/office/drawing/2014/main" id="{DD7D9F9C-188F-C420-62B6-605AF9FEF02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59921" y="6332606"/>
            <a:ext cx="1111028" cy="236851"/>
          </a:xfrm>
          <a:prstGeom prst="rect">
            <a:avLst/>
          </a:prstGeom>
        </p:spPr>
      </p:pic>
    </p:spTree>
    <p:extLst>
      <p:ext uri="{BB962C8B-B14F-4D97-AF65-F5344CB8AC3E}">
        <p14:creationId xmlns:p14="http://schemas.microsoft.com/office/powerpoint/2010/main" val="187554592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5" name="Footer Placeholder 4">
            <a:extLst>
              <a:ext uri="{FF2B5EF4-FFF2-40B4-BE49-F238E27FC236}">
                <a16:creationId xmlns:a16="http://schemas.microsoft.com/office/drawing/2014/main" id="{76920F52-D5BC-BE5E-8F9B-5C22E3B9F53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7" name="Picture 6">
            <a:extLst>
              <a:ext uri="{FF2B5EF4-FFF2-40B4-BE49-F238E27FC236}">
                <a16:creationId xmlns:a16="http://schemas.microsoft.com/office/drawing/2014/main" id="{BC7BB8AD-1C05-9FAB-2139-25DA0FF288F5}"/>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290356308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6176772"/>
          </a:xfrm>
        </p:spPr>
        <p:txBody>
          <a:bodyPr vert="horz" lIns="182880" tIns="0" rIns="0" bIns="0" rtlCol="0">
            <a:noAutofit/>
          </a:bodyPr>
          <a:lstStyle>
            <a:lvl1pPr marL="142875" marR="0" indent="-142875"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1pPr>
            <a:lvl2pPr marL="428625" marR="0" indent="-145257"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2pPr>
            <a:lvl3pPr marL="714375" marR="0" indent="-147638"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3pPr>
            <a:lvl4pPr marL="1000125" marR="0" indent="-150019"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4pPr>
            <a:lvl5pPr marL="1285875" marR="0" indent="-152400" algn="l" defTabSz="914400" rtl="0" eaLnBrk="1" fontAlgn="auto" latinLnBrk="0" hangingPunct="1">
              <a:lnSpc>
                <a:spcPct val="100000"/>
              </a:lnSpc>
              <a:spcBef>
                <a:spcPts val="0"/>
              </a:spcBef>
              <a:spcAft>
                <a:spcPts val="1500"/>
              </a:spcAft>
              <a:buClr>
                <a:srgbClr val="EB0000"/>
              </a:buClr>
              <a:buSzTx/>
              <a:buFont typeface="Arial"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40245"/>
          </a:xfrm>
        </p:spPr>
        <p:txBody>
          <a:bodyPr lIns="0" tIns="0" rIns="0">
            <a:no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lstStyle>
            <a:lvl1pPr>
              <a:defRPr>
                <a:solidFill>
                  <a:schemeClr val="bg1"/>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4C6D526C-2BA4-F427-BE91-CF075AE96F4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12" name="Graphic 11">
            <a:extLst>
              <a:ext uri="{FF2B5EF4-FFF2-40B4-BE49-F238E27FC236}">
                <a16:creationId xmlns:a16="http://schemas.microsoft.com/office/drawing/2014/main" id="{238577B0-B66B-9645-8029-9CD90182043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48870" y="6293280"/>
            <a:ext cx="1111028" cy="344419"/>
          </a:xfrm>
          <a:prstGeom prst="rect">
            <a:avLst/>
          </a:prstGeom>
        </p:spPr>
      </p:pic>
      <p:pic>
        <p:nvPicPr>
          <p:cNvPr id="13" name="Graphic 12">
            <a:extLst>
              <a:ext uri="{FF2B5EF4-FFF2-40B4-BE49-F238E27FC236}">
                <a16:creationId xmlns:a16="http://schemas.microsoft.com/office/drawing/2014/main" id="{DEDC428A-242C-D334-ACCA-09E4CD4238B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59921" y="6332606"/>
            <a:ext cx="1111028" cy="236851"/>
          </a:xfrm>
          <a:prstGeom prst="rect">
            <a:avLst/>
          </a:prstGeom>
        </p:spPr>
      </p:pic>
    </p:spTree>
    <p:extLst>
      <p:ext uri="{BB962C8B-B14F-4D97-AF65-F5344CB8AC3E}">
        <p14:creationId xmlns:p14="http://schemas.microsoft.com/office/powerpoint/2010/main" val="418999011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a:xfrm>
            <a:off x="588263" y="457202"/>
            <a:ext cx="11018520" cy="523220"/>
          </a:xfrm>
        </p:spPr>
        <p:txBody>
          <a:bodyPr/>
          <a:lstStyle>
            <a:lvl1pPr>
              <a:defRPr sz="3400"/>
            </a:lvl1pPr>
          </a:lstStyle>
          <a:p>
            <a:r>
              <a:rPr lang="en-US"/>
              <a:t>Click to edit Master title style</a:t>
            </a:r>
          </a:p>
        </p:txBody>
      </p:sp>
      <p:sp>
        <p:nvSpPr>
          <p:cNvPr id="3" name="Footer Placeholder 4">
            <a:extLst>
              <a:ext uri="{FF2B5EF4-FFF2-40B4-BE49-F238E27FC236}">
                <a16:creationId xmlns:a16="http://schemas.microsoft.com/office/drawing/2014/main" id="{E2095E32-8E8F-A564-7ECF-3D5248CF21C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2154577027"/>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44" y="1189178"/>
            <a:ext cx="11653523" cy="1913601"/>
          </a:xfrm>
        </p:spPr>
        <p:txBody>
          <a:bodyPr>
            <a:spAutoFit/>
          </a:bodyPr>
          <a:lstStyle>
            <a:lvl1pPr>
              <a:defRPr sz="3298">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F5AD4A5-2922-7F56-356A-D2C24B31F00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3" name="Picture 2">
            <a:extLst>
              <a:ext uri="{FF2B5EF4-FFF2-40B4-BE49-F238E27FC236}">
                <a16:creationId xmlns:a16="http://schemas.microsoft.com/office/drawing/2014/main" id="{DA1AF490-51E7-3342-26B6-D4E6F7AEE088}"/>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3339766038"/>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C1C9F-290D-FDC9-C5C9-53D89596F1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60D83A-9EED-4D61-6330-754E4A865E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470E48-24BF-B310-9E2C-A7FA2AC01277}"/>
              </a:ext>
            </a:extLst>
          </p:cNvPr>
          <p:cNvSpPr>
            <a:spLocks noGrp="1"/>
          </p:cNvSpPr>
          <p:nvPr>
            <p:ph type="dt" sz="half" idx="10"/>
          </p:nvPr>
        </p:nvSpPr>
        <p:spPr/>
        <p:txBody>
          <a:bodyPr/>
          <a:lstStyle/>
          <a:p>
            <a:fld id="{C7638A4F-7A97-4A3E-8ED5-F59F9AA0568E}" type="datetimeFigureOut">
              <a:rPr lang="en-US" smtClean="0"/>
              <a:t>4/26/2026</a:t>
            </a:fld>
            <a:endParaRPr lang="en-US"/>
          </a:p>
        </p:txBody>
      </p:sp>
      <p:sp>
        <p:nvSpPr>
          <p:cNvPr id="6" name="Slide Number Placeholder 5">
            <a:extLst>
              <a:ext uri="{FF2B5EF4-FFF2-40B4-BE49-F238E27FC236}">
                <a16:creationId xmlns:a16="http://schemas.microsoft.com/office/drawing/2014/main" id="{E128C367-D1F7-AEBC-0E31-34167D55D76E}"/>
              </a:ext>
            </a:extLst>
          </p:cNvPr>
          <p:cNvSpPr>
            <a:spLocks noGrp="1"/>
          </p:cNvSpPr>
          <p:nvPr>
            <p:ph type="sldNum" sz="quarter" idx="12"/>
          </p:nvPr>
        </p:nvSpPr>
        <p:spPr/>
        <p:txBody>
          <a:bodyPr/>
          <a:lstStyle/>
          <a:p>
            <a:fld id="{35C85280-209B-43BF-95A5-5AD77DB8A88D}" type="slidenum">
              <a:rPr lang="en-US" smtClean="0"/>
              <a:t>‹#›</a:t>
            </a:fld>
            <a:endParaRPr lang="en-US"/>
          </a:p>
        </p:txBody>
      </p:sp>
      <p:sp>
        <p:nvSpPr>
          <p:cNvPr id="7" name="Footer Placeholder 4">
            <a:extLst>
              <a:ext uri="{FF2B5EF4-FFF2-40B4-BE49-F238E27FC236}">
                <a16:creationId xmlns:a16="http://schemas.microsoft.com/office/drawing/2014/main" id="{DA9AF2E4-8089-6F78-5FB5-499B53F5FC4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172363468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4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US"/>
              <a:t>Click to edit Master title style</a:t>
            </a:r>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801CDC0E-4F46-46F9-4016-B0F49CC019C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4" name="Picture 3">
            <a:extLst>
              <a:ext uri="{FF2B5EF4-FFF2-40B4-BE49-F238E27FC236}">
                <a16:creationId xmlns:a16="http://schemas.microsoft.com/office/drawing/2014/main" id="{6505D28E-8FF9-E85B-8418-3181B5924E1C}"/>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149431344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Footer Placeholder 4">
            <a:extLst>
              <a:ext uri="{FF2B5EF4-FFF2-40B4-BE49-F238E27FC236}">
                <a16:creationId xmlns:a16="http://schemas.microsoft.com/office/drawing/2014/main" id="{E1BFAA93-8FF1-898F-E930-65AE3B8F36E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4" name="Picture 3">
            <a:extLst>
              <a:ext uri="{FF2B5EF4-FFF2-40B4-BE49-F238E27FC236}">
                <a16:creationId xmlns:a16="http://schemas.microsoft.com/office/drawing/2014/main" id="{AB56E075-3F62-581E-9B08-62388F69F3DA}"/>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146084818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1_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5" name="Footer Placeholder 4">
            <a:extLst>
              <a:ext uri="{FF2B5EF4-FFF2-40B4-BE49-F238E27FC236}">
                <a16:creationId xmlns:a16="http://schemas.microsoft.com/office/drawing/2014/main" id="{DCE17AC0-2BC4-AB44-D22A-4A56C12E0CA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6" name="Picture 5">
            <a:extLst>
              <a:ext uri="{FF2B5EF4-FFF2-40B4-BE49-F238E27FC236}">
                <a16:creationId xmlns:a16="http://schemas.microsoft.com/office/drawing/2014/main" id="{8B771AA4-32E3-0B90-23D2-DB61E8B5B24B}"/>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19149434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Blank">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FCC18A46-6B8B-537C-26C1-D72ED9D3F3E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3" name="Picture 2">
            <a:extLst>
              <a:ext uri="{FF2B5EF4-FFF2-40B4-BE49-F238E27FC236}">
                <a16:creationId xmlns:a16="http://schemas.microsoft.com/office/drawing/2014/main" id="{556E6ED8-9E86-42B0-6E5D-7FF0B1170CDB}"/>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64462509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26121ABA-6812-46EA-AB89-A86B41BBE5A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3" name="Picture 2">
            <a:extLst>
              <a:ext uri="{FF2B5EF4-FFF2-40B4-BE49-F238E27FC236}">
                <a16:creationId xmlns:a16="http://schemas.microsoft.com/office/drawing/2014/main" id="{9D3F8199-C706-63CD-0834-6683E8F7944B}"/>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117452629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874E3FBC-7B50-E3AF-03B5-57BF048A6B1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3" name="Picture 2">
            <a:extLst>
              <a:ext uri="{FF2B5EF4-FFF2-40B4-BE49-F238E27FC236}">
                <a16:creationId xmlns:a16="http://schemas.microsoft.com/office/drawing/2014/main" id="{B0C8D21F-C3B1-BA8D-0D86-4CC3BCBF7C52}"/>
              </a:ext>
            </a:extLst>
          </p:cNvPr>
          <p:cNvPicPr>
            <a:picLocks noChangeAspect="1"/>
          </p:cNvPicPr>
          <p:nvPr userDrawn="1"/>
        </p:nvPicPr>
        <p:blipFill>
          <a:blip r:embed="rId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255956826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US"/>
              <a:t>Click to edit Master title style</a:t>
            </a:r>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A73E0ABC-D293-01F8-6B2C-9F4F13A54AB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48870" y="6293280"/>
            <a:ext cx="1111028" cy="344419"/>
          </a:xfrm>
          <a:prstGeom prst="rect">
            <a:avLst/>
          </a:prstGeom>
        </p:spPr>
      </p:pic>
      <p:pic>
        <p:nvPicPr>
          <p:cNvPr id="3" name="Graphic 2">
            <a:extLst>
              <a:ext uri="{FF2B5EF4-FFF2-40B4-BE49-F238E27FC236}">
                <a16:creationId xmlns:a16="http://schemas.microsoft.com/office/drawing/2014/main" id="{3F5652A4-C55D-41A3-8872-C70173945C4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59921" y="6332606"/>
            <a:ext cx="1111028" cy="236851"/>
          </a:xfrm>
          <a:prstGeom prst="rect">
            <a:avLst/>
          </a:prstGeom>
        </p:spPr>
      </p:pic>
      <p:sp>
        <p:nvSpPr>
          <p:cNvPr id="4" name="Footer Placeholder 4">
            <a:extLst>
              <a:ext uri="{FF2B5EF4-FFF2-40B4-BE49-F238E27FC236}">
                <a16:creationId xmlns:a16="http://schemas.microsoft.com/office/drawing/2014/main" id="{6E5CFE8A-9AE0-3B46-E07F-0DAD8110699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spTree>
    <p:extLst>
      <p:ext uri="{BB962C8B-B14F-4D97-AF65-F5344CB8AC3E}">
        <p14:creationId xmlns:p14="http://schemas.microsoft.com/office/powerpoint/2010/main" val="209179678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5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11" name="Picture 10">
            <a:extLst>
              <a:ext uri="{FF2B5EF4-FFF2-40B4-BE49-F238E27FC236}">
                <a16:creationId xmlns:a16="http://schemas.microsoft.com/office/drawing/2014/main" id="{5E16C2E5-5280-C8BB-F3FB-3990D505EA63}"/>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5400000">
            <a:off x="-1218288" y="2401215"/>
            <a:ext cx="5675071" cy="3238499"/>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B7E0BD4F-A305-C71A-C466-490F3CAFC17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4" name="Graphic 3">
            <a:extLst>
              <a:ext uri="{FF2B5EF4-FFF2-40B4-BE49-F238E27FC236}">
                <a16:creationId xmlns:a16="http://schemas.microsoft.com/office/drawing/2014/main" id="{018A15C0-8E3F-CAD5-5DB3-61A171841FD0}"/>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
        <p:nvSpPr>
          <p:cNvPr id="6" name="Footer Placeholder 4">
            <a:extLst>
              <a:ext uri="{FF2B5EF4-FFF2-40B4-BE49-F238E27FC236}">
                <a16:creationId xmlns:a16="http://schemas.microsoft.com/office/drawing/2014/main" id="{91D7E7BE-6E72-C319-9EEC-D46811460616}"/>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241175431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4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Picture 2" descr="A red circle with a black center&#10;&#10;Description automatically generated with low confidence">
            <a:extLst>
              <a:ext uri="{FF2B5EF4-FFF2-40B4-BE49-F238E27FC236}">
                <a16:creationId xmlns:a16="http://schemas.microsoft.com/office/drawing/2014/main" id="{386D26A2-02C3-7D58-B648-720D1207ABA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4746172"/>
            <a:ext cx="3222523" cy="2111828"/>
          </a:xfrm>
          <a:prstGeom prst="rect">
            <a:avLst/>
          </a:prstGeom>
        </p:spPr>
      </p:pic>
      <p:pic>
        <p:nvPicPr>
          <p:cNvPr id="4" name="Graphic 3">
            <a:extLst>
              <a:ext uri="{FF2B5EF4-FFF2-40B4-BE49-F238E27FC236}">
                <a16:creationId xmlns:a16="http://schemas.microsoft.com/office/drawing/2014/main" id="{9C8E82B7-6ACE-9A24-B1D9-D89E7EC573F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6" name="Graphic 5">
            <a:extLst>
              <a:ext uri="{FF2B5EF4-FFF2-40B4-BE49-F238E27FC236}">
                <a16:creationId xmlns:a16="http://schemas.microsoft.com/office/drawing/2014/main" id="{98402E87-1271-5257-BEEE-413B85497ADB}"/>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
        <p:nvSpPr>
          <p:cNvPr id="8" name="Footer Placeholder 4">
            <a:extLst>
              <a:ext uri="{FF2B5EF4-FFF2-40B4-BE49-F238E27FC236}">
                <a16:creationId xmlns:a16="http://schemas.microsoft.com/office/drawing/2014/main" id="{8C522F49-BC7D-495A-55E1-E98448C96B1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87453764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C7709C-6E68-58AC-4376-9C7ADE260AF3}"/>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16200000" flipH="1">
            <a:off x="-2263002" y="2531593"/>
            <a:ext cx="6589412" cy="2063407"/>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467DFE56-A2F8-93F4-6B5F-89F4B6FDC34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4" name="Graphic 3">
            <a:extLst>
              <a:ext uri="{FF2B5EF4-FFF2-40B4-BE49-F238E27FC236}">
                <a16:creationId xmlns:a16="http://schemas.microsoft.com/office/drawing/2014/main" id="{21591633-3F99-9254-7810-4BAC8284863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
        <p:nvSpPr>
          <p:cNvPr id="8" name="Footer Placeholder 4">
            <a:extLst>
              <a:ext uri="{FF2B5EF4-FFF2-40B4-BE49-F238E27FC236}">
                <a16:creationId xmlns:a16="http://schemas.microsoft.com/office/drawing/2014/main" id="{3CEE2F93-A30B-ABDB-2001-24B1811E0A0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spTree>
    <p:extLst>
      <p:ext uri="{BB962C8B-B14F-4D97-AF65-F5344CB8AC3E}">
        <p14:creationId xmlns:p14="http://schemas.microsoft.com/office/powerpoint/2010/main" val="382405459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 CLEAN">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C7709C-6E68-58AC-4376-9C7ADE260AF3}"/>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16200000" flipH="1">
            <a:off x="-2263002" y="2531593"/>
            <a:ext cx="6589412" cy="2063407"/>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22CA2FC-70C5-2C7E-4ABF-1CC7D34C39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4" name="Graphic 3">
            <a:extLst>
              <a:ext uri="{FF2B5EF4-FFF2-40B4-BE49-F238E27FC236}">
                <a16:creationId xmlns:a16="http://schemas.microsoft.com/office/drawing/2014/main" id="{014FC18A-95F2-1412-1CA3-592D4463BE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
        <p:nvSpPr>
          <p:cNvPr id="7" name="Footer Placeholder 4">
            <a:extLst>
              <a:ext uri="{FF2B5EF4-FFF2-40B4-BE49-F238E27FC236}">
                <a16:creationId xmlns:a16="http://schemas.microsoft.com/office/drawing/2014/main" id="{1CAB58D4-F813-E753-0470-0015237D44E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spTree>
    <p:extLst>
      <p:ext uri="{BB962C8B-B14F-4D97-AF65-F5344CB8AC3E}">
        <p14:creationId xmlns:p14="http://schemas.microsoft.com/office/powerpoint/2010/main" val="411641306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2">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2" name="Picture 1">
            <a:extLst>
              <a:ext uri="{FF2B5EF4-FFF2-40B4-BE49-F238E27FC236}">
                <a16:creationId xmlns:a16="http://schemas.microsoft.com/office/drawing/2014/main" id="{253AD589-455E-BE38-EEFC-2CBBC3F6015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16200000" flipH="1" flipV="1">
            <a:off x="7865591" y="2531594"/>
            <a:ext cx="6589412" cy="2063407"/>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234EDAD1-9FE5-52A0-5CCC-B311F7F5A23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317344"/>
            <a:ext cx="1111028" cy="344419"/>
          </a:xfrm>
          <a:prstGeom prst="rect">
            <a:avLst/>
          </a:prstGeom>
        </p:spPr>
      </p:pic>
      <p:pic>
        <p:nvPicPr>
          <p:cNvPr id="10" name="Graphic 9">
            <a:extLst>
              <a:ext uri="{FF2B5EF4-FFF2-40B4-BE49-F238E27FC236}">
                <a16:creationId xmlns:a16="http://schemas.microsoft.com/office/drawing/2014/main" id="{D86757A4-F786-A906-8195-B9E34449C9E2}"/>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56670"/>
            <a:ext cx="1111028" cy="236851"/>
          </a:xfrm>
          <a:prstGeom prst="rect">
            <a:avLst/>
          </a:prstGeom>
        </p:spPr>
      </p:pic>
      <p:sp>
        <p:nvSpPr>
          <p:cNvPr id="11" name="Footer Placeholder 4">
            <a:extLst>
              <a:ext uri="{FF2B5EF4-FFF2-40B4-BE49-F238E27FC236}">
                <a16:creationId xmlns:a16="http://schemas.microsoft.com/office/drawing/2014/main" id="{D16456C1-82F0-0CA1-4544-6294B3F45A5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spTree>
    <p:extLst>
      <p:ext uri="{BB962C8B-B14F-4D97-AF65-F5344CB8AC3E}">
        <p14:creationId xmlns:p14="http://schemas.microsoft.com/office/powerpoint/2010/main" val="209242413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9A060A-55C9-23EF-848A-9333C2D87995}"/>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559794" y="1"/>
            <a:ext cx="13751794"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C71E6269-14E4-C2CB-A987-BA160D1C7BC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4" name="Graphic 3">
            <a:extLst>
              <a:ext uri="{FF2B5EF4-FFF2-40B4-BE49-F238E27FC236}">
                <a16:creationId xmlns:a16="http://schemas.microsoft.com/office/drawing/2014/main" id="{AE172C5A-8757-1A0D-E203-FB79FE269785}"/>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
        <p:nvSpPr>
          <p:cNvPr id="8" name="Footer Placeholder 4">
            <a:extLst>
              <a:ext uri="{FF2B5EF4-FFF2-40B4-BE49-F238E27FC236}">
                <a16:creationId xmlns:a16="http://schemas.microsoft.com/office/drawing/2014/main" id="{E43C9C9A-436C-885D-7C12-96A14409A27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spTree>
    <p:extLst>
      <p:ext uri="{BB962C8B-B14F-4D97-AF65-F5344CB8AC3E}">
        <p14:creationId xmlns:p14="http://schemas.microsoft.com/office/powerpoint/2010/main" val="377069548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1_Title only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3D2D8AF-452C-D94D-A560-DAD6A962E173}"/>
              </a:ext>
            </a:extLst>
          </p:cNvPr>
          <p:cNvSpPr>
            <a:spLocks noGrp="1"/>
          </p:cNvSpPr>
          <p:nvPr>
            <p:ph type="sldNum" sz="quarter" idx="4"/>
          </p:nvPr>
        </p:nvSpPr>
        <p:spPr>
          <a:xfrm>
            <a:off x="11163034" y="6264308"/>
            <a:ext cx="261660" cy="169200"/>
          </a:xfrm>
          <a:prstGeom prst="rect">
            <a:avLst/>
          </a:prstGeom>
        </p:spPr>
        <p:txBody>
          <a:bodyPr wrap="square" lIns="0" tIns="0" rIns="0" bIns="0" anchor="ctr" anchorCtr="0">
            <a:noAutofit/>
          </a:bodyPr>
          <a:lstStyle>
            <a:lvl1pPr algn="r">
              <a:defRPr lang="en-GB" sz="1000" kern="1200" noProof="0" dirty="0" smtClean="0">
                <a:solidFill>
                  <a:schemeClr val="tx1"/>
                </a:solidFill>
                <a:latin typeface="+mn-lt"/>
                <a:ea typeface="+mn-ea"/>
                <a:cs typeface="Arial"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kumimoji="0" lang="en-CA" sz="1000" b="0" i="0" u="none" strike="noStrike" kern="1200" cap="none" spc="0" normalizeH="0" baseline="0" noProof="0" smtClean="0">
                <a:ln>
                  <a:noFill/>
                </a:ln>
                <a:solidFill>
                  <a:srgbClr val="000000"/>
                </a:solidFill>
                <a:effectLst/>
                <a:uLnTx/>
                <a:uFillTx/>
                <a:latin typeface="Segoe UI"/>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CA" sz="1000" b="0" i="0" u="none" strike="noStrike" kern="1200" cap="none" spc="0" normalizeH="0" baseline="0" noProof="0">
              <a:ln>
                <a:noFill/>
              </a:ln>
              <a:solidFill>
                <a:srgbClr val="000000"/>
              </a:solidFill>
              <a:effectLst/>
              <a:uLnTx/>
              <a:uFillTx/>
              <a:latin typeface="Segoe UI"/>
              <a:ea typeface="+mn-ea"/>
              <a:cs typeface="Arial" pitchFamily="34" charset="0"/>
            </a:endParaRPr>
          </a:p>
        </p:txBody>
      </p:sp>
      <p:sp>
        <p:nvSpPr>
          <p:cNvPr id="8" name="Titre 1">
            <a:extLst>
              <a:ext uri="{FF2B5EF4-FFF2-40B4-BE49-F238E27FC236}">
                <a16:creationId xmlns:a16="http://schemas.microsoft.com/office/drawing/2014/main" id="{561C906F-FE73-EC4B-9D46-7CD1B4F04428}"/>
              </a:ext>
            </a:extLst>
          </p:cNvPr>
          <p:cNvSpPr>
            <a:spLocks noGrp="1"/>
          </p:cNvSpPr>
          <p:nvPr>
            <p:ph type="title" hasCustomPrompt="1"/>
          </p:nvPr>
        </p:nvSpPr>
        <p:spPr>
          <a:xfrm>
            <a:off x="765737" y="684000"/>
            <a:ext cx="10676438" cy="531097"/>
          </a:xfrm>
        </p:spPr>
        <p:txBody>
          <a:bodyPr>
            <a:noAutofit/>
          </a:bodyPr>
          <a:lstStyle>
            <a:lvl1pPr>
              <a:defRPr sz="2800">
                <a:solidFill>
                  <a:schemeClr val="tx1"/>
                </a:solidFill>
              </a:defRPr>
            </a:lvl1pPr>
          </a:lstStyle>
          <a:p>
            <a:r>
              <a:rPr lang="en-CA"/>
              <a:t>Title only slide</a:t>
            </a:r>
          </a:p>
        </p:txBody>
      </p:sp>
      <p:sp>
        <p:nvSpPr>
          <p:cNvPr id="2" name="Footer Placeholder 4">
            <a:extLst>
              <a:ext uri="{FF2B5EF4-FFF2-40B4-BE49-F238E27FC236}">
                <a16:creationId xmlns:a16="http://schemas.microsoft.com/office/drawing/2014/main" id="{CAEB88DB-B8C7-016A-DA32-2201C41FED8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280670091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3" name="Picture 2" descr="A red circle with a black center&#10;&#10;Description automatically generated with low confidence">
            <a:extLst>
              <a:ext uri="{FF2B5EF4-FFF2-40B4-BE49-F238E27FC236}">
                <a16:creationId xmlns:a16="http://schemas.microsoft.com/office/drawing/2014/main" id="{9133BE2E-0957-EB26-1AC2-662D9C767754}"/>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7248" t="29323" r="1460" b="4823"/>
          <a:stretch/>
        </p:blipFill>
        <p:spPr>
          <a:xfrm>
            <a:off x="1175093" y="0"/>
            <a:ext cx="11016907" cy="6857999"/>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436844" y="311905"/>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454307" y="2484528"/>
            <a:ext cx="4437855" cy="800219"/>
          </a:xfrm>
          <a:prstGeom prst="rect">
            <a:avLst/>
          </a:prstGeom>
        </p:spPr>
        <p:txBody>
          <a:bodyPr vert="horz" wrap="square" lIns="0" tIns="0" rIns="0" bIns="0" rtlCol="0" anchor="t">
            <a:spAutoFit/>
          </a:bodyPr>
          <a:lstStyle>
            <a:lvl1pPr marL="0" indent="0">
              <a:buNone/>
              <a:defRPr lang="en-US" sz="2600" dirty="0">
                <a:ln>
                  <a:noFill/>
                </a:ln>
                <a:solidFill>
                  <a:schemeClr val="bg1"/>
                </a:solidFill>
              </a:defRPr>
            </a:lvl1pPr>
          </a:lstStyle>
          <a:p>
            <a:pPr lvl="0"/>
            <a:r>
              <a:rPr lang="en-US"/>
              <a:t>All titles/subtitles are sentence case</a:t>
            </a:r>
          </a:p>
        </p:txBody>
      </p:sp>
      <p:sp>
        <p:nvSpPr>
          <p:cNvPr id="11" name="Graphic 2">
            <a:extLst>
              <a:ext uri="{FF2B5EF4-FFF2-40B4-BE49-F238E27FC236}">
                <a16:creationId xmlns:a16="http://schemas.microsoft.com/office/drawing/2014/main" id="{237DB247-FFE8-0A9F-ECA5-A1F629361D0F}"/>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pic>
        <p:nvPicPr>
          <p:cNvPr id="2" name="Graphic 1">
            <a:extLst>
              <a:ext uri="{FF2B5EF4-FFF2-40B4-BE49-F238E27FC236}">
                <a16:creationId xmlns:a16="http://schemas.microsoft.com/office/drawing/2014/main" id="{2426C27C-D82E-494E-3A59-32FBA7AB9F9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4" name="Graphic 3">
            <a:extLst>
              <a:ext uri="{FF2B5EF4-FFF2-40B4-BE49-F238E27FC236}">
                <a16:creationId xmlns:a16="http://schemas.microsoft.com/office/drawing/2014/main" id="{4642C6E1-759B-08D4-177F-F66FD1FBF8F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Tree>
    <p:extLst>
      <p:ext uri="{BB962C8B-B14F-4D97-AF65-F5344CB8AC3E}">
        <p14:creationId xmlns:p14="http://schemas.microsoft.com/office/powerpoint/2010/main" val="113788565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userDrawn="1">
  <p:cSld name="1_Title Slide 3">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pic>
        <p:nvPicPr>
          <p:cNvPr id="12" name="Graphic 11">
            <a:extLst>
              <a:ext uri="{FF2B5EF4-FFF2-40B4-BE49-F238E27FC236}">
                <a16:creationId xmlns:a16="http://schemas.microsoft.com/office/drawing/2014/main" id="{56D6CE03-A357-4F48-9540-C70336DEB7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035800" y="0"/>
            <a:ext cx="5156200" cy="6858000"/>
          </a:xfrm>
          <a:prstGeom prst="rect">
            <a:avLst/>
          </a:prstGeom>
        </p:spPr>
      </p:pic>
      <p:sp>
        <p:nvSpPr>
          <p:cNvPr id="7" name="Title 1">
            <a:extLst>
              <a:ext uri="{FF2B5EF4-FFF2-40B4-BE49-F238E27FC236}">
                <a16:creationId xmlns:a16="http://schemas.microsoft.com/office/drawing/2014/main" id="{5FAF0DBB-E02D-B147-B4A6-7F79832F3052}"/>
              </a:ext>
            </a:extLst>
          </p:cNvPr>
          <p:cNvSpPr>
            <a:spLocks noGrp="1"/>
          </p:cNvSpPr>
          <p:nvPr>
            <p:ph type="ctrTitle" hasCustomPrompt="1"/>
          </p:nvPr>
        </p:nvSpPr>
        <p:spPr>
          <a:xfrm>
            <a:off x="323545" y="238299"/>
            <a:ext cx="7141464" cy="2198935"/>
          </a:xfrm>
          <a:prstGeom prst="rect">
            <a:avLst/>
          </a:prstGeom>
        </p:spPr>
        <p:txBody>
          <a:bodyPr lIns="0" tIns="0" rIns="0" bIns="0" anchor="b" anchorCtr="0">
            <a:spAutoFit/>
          </a:bodyPr>
          <a:lstStyle>
            <a:lvl1pPr algn="l" fontAlgn="b">
              <a:lnSpc>
                <a:spcPct val="112000"/>
              </a:lnSpc>
              <a:defRPr sz="4500">
                <a:solidFill>
                  <a:schemeClr val="tx2"/>
                </a:solidFill>
              </a:defRPr>
            </a:lvl1pPr>
          </a:lstStyle>
          <a:p>
            <a:r>
              <a:rPr lang="en-US"/>
              <a:t>Title with</a:t>
            </a:r>
            <a:br>
              <a:rPr lang="en-US"/>
            </a:br>
            <a:r>
              <a:rPr lang="en-US"/>
              <a:t>multiple lines</a:t>
            </a:r>
            <a:br>
              <a:rPr lang="en-US"/>
            </a:br>
            <a:r>
              <a:rPr lang="en-US"/>
              <a:t>here</a:t>
            </a:r>
          </a:p>
        </p:txBody>
      </p:sp>
      <p:sp>
        <p:nvSpPr>
          <p:cNvPr id="8" name="Subtitle 2">
            <a:extLst>
              <a:ext uri="{FF2B5EF4-FFF2-40B4-BE49-F238E27FC236}">
                <a16:creationId xmlns:a16="http://schemas.microsoft.com/office/drawing/2014/main" id="{EBF8E17E-50A5-2844-8F3E-CC055D9F84C1}"/>
              </a:ext>
            </a:extLst>
          </p:cNvPr>
          <p:cNvSpPr>
            <a:spLocks noGrp="1"/>
          </p:cNvSpPr>
          <p:nvPr>
            <p:ph type="subTitle" idx="1" hasCustomPrompt="1"/>
          </p:nvPr>
        </p:nvSpPr>
        <p:spPr>
          <a:xfrm>
            <a:off x="338658" y="2513255"/>
            <a:ext cx="7141464" cy="400110"/>
          </a:xfrm>
          <a:prstGeom prst="rect">
            <a:avLst/>
          </a:prstGeom>
        </p:spPr>
        <p:txBody>
          <a:bodyPr lIns="0" tIns="0" rIns="0" bIns="0" anchor="t">
            <a:spAutoFit/>
          </a:bodyPr>
          <a:lstStyle>
            <a:lvl1pPr marL="0" indent="0" algn="l">
              <a:buNone/>
              <a:defRPr sz="2600">
                <a:ln>
                  <a:noFill/>
                </a:ln>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48870" y="4901789"/>
            <a:ext cx="5686425" cy="461665"/>
          </a:xfrm>
          <a:prstGeom prst="rect">
            <a:avLst/>
          </a:prstGeom>
        </p:spPr>
        <p:txBody>
          <a:bodyPr lIns="0" tIns="0" rIns="0" bIns="0">
            <a:spAutoFit/>
          </a:bodyPr>
          <a:lstStyle>
            <a:lvl1pPr marL="0" indent="0">
              <a:spcBef>
                <a:spcPts val="0"/>
              </a:spcBef>
              <a:buNone/>
              <a:defRPr/>
            </a:lvl1pPr>
          </a:lstStyle>
          <a:p>
            <a:pPr lvl="0"/>
            <a:r>
              <a:rPr lang="en-US"/>
              <a:t>Name goes here</a:t>
            </a:r>
            <a:br>
              <a:rPr lang="en-US"/>
            </a:br>
            <a:r>
              <a:rPr lang="en-US"/>
              <a:t>Position goes here</a:t>
            </a:r>
          </a:p>
        </p:txBody>
      </p:sp>
    </p:spTree>
    <p:extLst>
      <p:ext uri="{BB962C8B-B14F-4D97-AF65-F5344CB8AC3E}">
        <p14:creationId xmlns:p14="http://schemas.microsoft.com/office/powerpoint/2010/main" val="72163289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1_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2" name="Footer Placeholder 4">
            <a:extLst>
              <a:ext uri="{FF2B5EF4-FFF2-40B4-BE49-F238E27FC236}">
                <a16:creationId xmlns:a16="http://schemas.microsoft.com/office/drawing/2014/main" id="{8F3A1981-AF62-427C-0FC9-878209C3D89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spTree>
    <p:extLst>
      <p:ext uri="{BB962C8B-B14F-4D97-AF65-F5344CB8AC3E}">
        <p14:creationId xmlns:p14="http://schemas.microsoft.com/office/powerpoint/2010/main" val="208735438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Breaker 1">
    <p:spTree>
      <p:nvGrpSpPr>
        <p:cNvPr id="1" name=""/>
        <p:cNvGrpSpPr/>
        <p:nvPr/>
      </p:nvGrpSpPr>
      <p:grpSpPr>
        <a:xfrm>
          <a:off x="0" y="0"/>
          <a:ext cx="0" cy="0"/>
          <a:chOff x="0" y="0"/>
          <a:chExt cx="0" cy="0"/>
        </a:xfrm>
      </p:grpSpPr>
      <p:sp>
        <p:nvSpPr>
          <p:cNvPr id="3" name="Graphic 38">
            <a:extLst>
              <a:ext uri="{FF2B5EF4-FFF2-40B4-BE49-F238E27FC236}">
                <a16:creationId xmlns:a16="http://schemas.microsoft.com/office/drawing/2014/main" id="{C662EE66-F04F-DDBF-B557-3646A2F8DCDA}"/>
              </a:ext>
            </a:extLst>
          </p:cNvPr>
          <p:cNvSpPr/>
          <p:nvPr userDrawn="1"/>
        </p:nvSpPr>
        <p:spPr>
          <a:xfrm>
            <a:off x="6542396" y="0"/>
            <a:ext cx="5650595" cy="6865396"/>
          </a:xfrm>
          <a:custGeom>
            <a:avLst/>
            <a:gdLst>
              <a:gd name="connsiteX0" fmla="*/ 3716599 w 4089400"/>
              <a:gd name="connsiteY0" fmla="*/ 0 h 5143500"/>
              <a:gd name="connsiteX1" fmla="*/ 3477987 w 4089400"/>
              <a:gd name="connsiteY1" fmla="*/ 0 h 5143500"/>
              <a:gd name="connsiteX2" fmla="*/ 0 w 4089400"/>
              <a:gd name="connsiteY2" fmla="*/ 5143500 h 5143500"/>
              <a:gd name="connsiteX3" fmla="*/ 561104 w 4089400"/>
              <a:gd name="connsiteY3" fmla="*/ 5143500 h 5143500"/>
              <a:gd name="connsiteX4" fmla="*/ 611413 w 4089400"/>
              <a:gd name="connsiteY4" fmla="*/ 5143500 h 5143500"/>
              <a:gd name="connsiteX5" fmla="*/ 4089400 w 4089400"/>
              <a:gd name="connsiteY5" fmla="*/ 5143500 h 5143500"/>
              <a:gd name="connsiteX6" fmla="*/ 4089400 w 4089400"/>
              <a:gd name="connsiteY6" fmla="*/ 0 h 5143500"/>
              <a:gd name="connsiteX7" fmla="*/ 3716599 w 4089400"/>
              <a:gd name="connsiteY7" fmla="*/ 0 h 5143500"/>
              <a:gd name="connsiteX0" fmla="*/ 3818110 w 4190911"/>
              <a:gd name="connsiteY0" fmla="*/ 0 h 5143500"/>
              <a:gd name="connsiteX1" fmla="*/ 3579498 w 4190911"/>
              <a:gd name="connsiteY1" fmla="*/ 0 h 5143500"/>
              <a:gd name="connsiteX2" fmla="*/ 0 w 4190911"/>
              <a:gd name="connsiteY2" fmla="*/ 5143500 h 5143500"/>
              <a:gd name="connsiteX3" fmla="*/ 662615 w 4190911"/>
              <a:gd name="connsiteY3" fmla="*/ 5143500 h 5143500"/>
              <a:gd name="connsiteX4" fmla="*/ 712924 w 4190911"/>
              <a:gd name="connsiteY4" fmla="*/ 5143500 h 5143500"/>
              <a:gd name="connsiteX5" fmla="*/ 4190911 w 4190911"/>
              <a:gd name="connsiteY5" fmla="*/ 5143500 h 5143500"/>
              <a:gd name="connsiteX6" fmla="*/ 4190911 w 4190911"/>
              <a:gd name="connsiteY6" fmla="*/ 0 h 5143500"/>
              <a:gd name="connsiteX7" fmla="*/ 3818110 w 4190911"/>
              <a:gd name="connsiteY7" fmla="*/ 0 h 5143500"/>
              <a:gd name="connsiteX0" fmla="*/ 3824454 w 4197255"/>
              <a:gd name="connsiteY0" fmla="*/ 0 h 5149844"/>
              <a:gd name="connsiteX1" fmla="*/ 3585842 w 4197255"/>
              <a:gd name="connsiteY1" fmla="*/ 0 h 5149844"/>
              <a:gd name="connsiteX2" fmla="*/ 0 w 4197255"/>
              <a:gd name="connsiteY2" fmla="*/ 5149844 h 5149844"/>
              <a:gd name="connsiteX3" fmla="*/ 668959 w 4197255"/>
              <a:gd name="connsiteY3" fmla="*/ 5143500 h 5149844"/>
              <a:gd name="connsiteX4" fmla="*/ 719268 w 4197255"/>
              <a:gd name="connsiteY4" fmla="*/ 5143500 h 5149844"/>
              <a:gd name="connsiteX5" fmla="*/ 4197255 w 4197255"/>
              <a:gd name="connsiteY5" fmla="*/ 5143500 h 5149844"/>
              <a:gd name="connsiteX6" fmla="*/ 4197255 w 4197255"/>
              <a:gd name="connsiteY6" fmla="*/ 0 h 5149844"/>
              <a:gd name="connsiteX7" fmla="*/ 3824454 w 4197255"/>
              <a:gd name="connsiteY7" fmla="*/ 0 h 5149844"/>
              <a:gd name="connsiteX0" fmla="*/ 3837143 w 4209944"/>
              <a:gd name="connsiteY0" fmla="*/ 0 h 5143500"/>
              <a:gd name="connsiteX1" fmla="*/ 3598531 w 4209944"/>
              <a:gd name="connsiteY1" fmla="*/ 0 h 5143500"/>
              <a:gd name="connsiteX2" fmla="*/ 0 w 4209944"/>
              <a:gd name="connsiteY2" fmla="*/ 5143499 h 5143500"/>
              <a:gd name="connsiteX3" fmla="*/ 681648 w 4209944"/>
              <a:gd name="connsiteY3" fmla="*/ 5143500 h 5143500"/>
              <a:gd name="connsiteX4" fmla="*/ 731957 w 4209944"/>
              <a:gd name="connsiteY4" fmla="*/ 5143500 h 5143500"/>
              <a:gd name="connsiteX5" fmla="*/ 4209944 w 4209944"/>
              <a:gd name="connsiteY5" fmla="*/ 5143500 h 5143500"/>
              <a:gd name="connsiteX6" fmla="*/ 4209944 w 4209944"/>
              <a:gd name="connsiteY6" fmla="*/ 0 h 5143500"/>
              <a:gd name="connsiteX7" fmla="*/ 3837143 w 4209944"/>
              <a:gd name="connsiteY7" fmla="*/ 0 h 5143500"/>
              <a:gd name="connsiteX0" fmla="*/ 3866650 w 4239451"/>
              <a:gd name="connsiteY0" fmla="*/ 0 h 5150876"/>
              <a:gd name="connsiteX1" fmla="*/ 3628038 w 4239451"/>
              <a:gd name="connsiteY1" fmla="*/ 0 h 5150876"/>
              <a:gd name="connsiteX2" fmla="*/ 0 w 4239451"/>
              <a:gd name="connsiteY2" fmla="*/ 5150876 h 5150876"/>
              <a:gd name="connsiteX3" fmla="*/ 711155 w 4239451"/>
              <a:gd name="connsiteY3" fmla="*/ 5143500 h 5150876"/>
              <a:gd name="connsiteX4" fmla="*/ 761464 w 4239451"/>
              <a:gd name="connsiteY4" fmla="*/ 5143500 h 5150876"/>
              <a:gd name="connsiteX5" fmla="*/ 4239451 w 4239451"/>
              <a:gd name="connsiteY5" fmla="*/ 5143500 h 5150876"/>
              <a:gd name="connsiteX6" fmla="*/ 4239451 w 4239451"/>
              <a:gd name="connsiteY6" fmla="*/ 0 h 5150876"/>
              <a:gd name="connsiteX7" fmla="*/ 3866650 w 4239451"/>
              <a:gd name="connsiteY7" fmla="*/ 0 h 5150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39451" h="5150876">
                <a:moveTo>
                  <a:pt x="3866650" y="0"/>
                </a:moveTo>
                <a:lnTo>
                  <a:pt x="3628038" y="0"/>
                </a:lnTo>
                <a:lnTo>
                  <a:pt x="0" y="5150876"/>
                </a:lnTo>
                <a:lnTo>
                  <a:pt x="711155" y="5143500"/>
                </a:lnTo>
                <a:lnTo>
                  <a:pt x="761464" y="5143500"/>
                </a:lnTo>
                <a:lnTo>
                  <a:pt x="4239451" y="5143500"/>
                </a:lnTo>
                <a:lnTo>
                  <a:pt x="4239451" y="0"/>
                </a:lnTo>
                <a:lnTo>
                  <a:pt x="3866650" y="0"/>
                </a:lnTo>
                <a:close/>
              </a:path>
            </a:pathLst>
          </a:custGeom>
          <a:gradFill flip="none" rotWithShape="1">
            <a:gsLst>
              <a:gs pos="20000">
                <a:schemeClr val="bg1"/>
              </a:gs>
              <a:gs pos="98000">
                <a:schemeClr val="bg1">
                  <a:lumMod val="75000"/>
                </a:schemeClr>
              </a:gs>
            </a:gsLst>
            <a:path path="circle">
              <a:fillToRect l="100000" t="100000"/>
            </a:path>
            <a:tileRect r="-100000" b="-100000"/>
          </a:gradFill>
          <a:ln w="0" cap="flat">
            <a:noFill/>
            <a:prstDash val="solid"/>
            <a:miter/>
          </a:ln>
        </p:spPr>
        <p:txBody>
          <a:bodyPr rtlCol="0" anchor="ctr"/>
          <a:lstStyle/>
          <a:p>
            <a:pPr lvl="0"/>
            <a:endParaRPr lang="en-US"/>
          </a:p>
        </p:txBody>
      </p:sp>
      <p:sp>
        <p:nvSpPr>
          <p:cNvPr id="6" name="Right Triangle 5">
            <a:extLst>
              <a:ext uri="{FF2B5EF4-FFF2-40B4-BE49-F238E27FC236}">
                <a16:creationId xmlns:a16="http://schemas.microsoft.com/office/drawing/2014/main" id="{A8F2F1BA-A2A1-57D8-833C-ACAB9870828A}"/>
              </a:ext>
            </a:extLst>
          </p:cNvPr>
          <p:cNvSpPr/>
          <p:nvPr userDrawn="1"/>
        </p:nvSpPr>
        <p:spPr>
          <a:xfrm rot="5400000">
            <a:off x="-659760" y="659757"/>
            <a:ext cx="4421529" cy="3102015"/>
          </a:xfrm>
          <a:prstGeom prst="rtTriangle">
            <a:avLst/>
          </a:prstGeom>
          <a:gradFill>
            <a:gsLst>
              <a:gs pos="0">
                <a:schemeClr val="accent2"/>
              </a:gs>
              <a:gs pos="70000">
                <a:schemeClr val="bg2">
                  <a:shade val="100000"/>
                  <a:satMod val="115000"/>
                </a:schemeClr>
              </a:gs>
            </a:gsLst>
            <a:lin ang="14400000" scaled="0"/>
          </a:gradFill>
          <a:ln w="0" cap="flat">
            <a:noFill/>
            <a:prstDash val="solid"/>
            <a:miter/>
          </a:ln>
        </p:spPr>
        <p:txBody>
          <a:bodyPr rtlCol="0" anchor="ctr"/>
          <a:lstStyle/>
          <a:p>
            <a:pPr lvl="0"/>
            <a:endParaRPr lang="en-US" err="1">
              <a:solidFill>
                <a:schemeClr val="tx1"/>
              </a:solidFill>
              <a:latin typeface="Arial" panose="020B0604020202020204" pitchFamily="34" charset="0"/>
            </a:endParaRPr>
          </a:p>
        </p:txBody>
      </p:sp>
      <p:sp>
        <p:nvSpPr>
          <p:cNvPr id="7" name="Text Placeholder 11">
            <a:extLst>
              <a:ext uri="{FF2B5EF4-FFF2-40B4-BE49-F238E27FC236}">
                <a16:creationId xmlns:a16="http://schemas.microsoft.com/office/drawing/2014/main" id="{0F573464-252E-52B8-46B1-4B38E584E584}"/>
              </a:ext>
            </a:extLst>
          </p:cNvPr>
          <p:cNvSpPr>
            <a:spLocks noGrp="1"/>
          </p:cNvSpPr>
          <p:nvPr>
            <p:ph type="body" sz="quarter" idx="16"/>
          </p:nvPr>
        </p:nvSpPr>
        <p:spPr>
          <a:xfrm>
            <a:off x="2617337" y="1550396"/>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tx1"/>
                </a:solidFill>
                <a:latin typeface="Fira Sans" panose="020B0503050000020004" pitchFamily="34" charset="0"/>
                <a:ea typeface="+mj-ea"/>
                <a:cs typeface="+mj-cs"/>
              </a:defRPr>
            </a:lvl1pPr>
            <a:lvl2pPr marL="114300" indent="0">
              <a:buNone/>
              <a:defRPr lang="en-US" smtClean="0"/>
            </a:lvl2pPr>
            <a:lvl3pPr>
              <a:defRPr lang="en-US" smtClean="0"/>
            </a:lvl3pPr>
            <a:lvl4pPr>
              <a:defRPr lang="en-US" smtClean="0"/>
            </a:lvl4pPr>
            <a:lvl5pPr>
              <a:defRPr lang="en-US"/>
            </a:lvl5pPr>
          </a:lstStyle>
          <a:p>
            <a:pPr lvl="0"/>
            <a:r>
              <a:rPr lang="en-US"/>
              <a:t>Click to edit Master text styles</a:t>
            </a:r>
          </a:p>
        </p:txBody>
      </p:sp>
      <p:sp>
        <p:nvSpPr>
          <p:cNvPr id="8" name="Text Placeholder 8">
            <a:extLst>
              <a:ext uri="{FF2B5EF4-FFF2-40B4-BE49-F238E27FC236}">
                <a16:creationId xmlns:a16="http://schemas.microsoft.com/office/drawing/2014/main" id="{17159CAB-C1BD-F8A1-D9C7-3299432A1239}"/>
              </a:ext>
            </a:extLst>
          </p:cNvPr>
          <p:cNvSpPr>
            <a:spLocks noGrp="1"/>
          </p:cNvSpPr>
          <p:nvPr>
            <p:ph type="body" sz="quarter" idx="18"/>
          </p:nvPr>
        </p:nvSpPr>
        <p:spPr>
          <a:xfrm>
            <a:off x="2634800" y="3723019"/>
            <a:ext cx="4437855" cy="800219"/>
          </a:xfrm>
          <a:prstGeom prst="rect">
            <a:avLst/>
          </a:prstGeom>
        </p:spPr>
        <p:txBody>
          <a:bodyPr vert="horz" wrap="square" lIns="0" tIns="0" rIns="0" bIns="0" rtlCol="0" anchor="t">
            <a:spAutoFit/>
          </a:bodyPr>
          <a:lstStyle>
            <a:lvl1pPr marL="0" indent="0">
              <a:buNone/>
              <a:defRPr lang="en-US" sz="2600" dirty="0">
                <a:ln>
                  <a:noFill/>
                </a:ln>
                <a:solidFill>
                  <a:schemeClr val="tx1"/>
                </a:solidFill>
                <a:latin typeface="Fira Sans" panose="020B0503050000020004" pitchFamily="34" charset="0"/>
              </a:defRPr>
            </a:lvl1pPr>
          </a:lstStyle>
          <a:p>
            <a:pPr lvl="0"/>
            <a:r>
              <a:rPr lang="en-US"/>
              <a:t>Click to edit Master text styles</a:t>
            </a:r>
          </a:p>
        </p:txBody>
      </p:sp>
      <p:pic>
        <p:nvPicPr>
          <p:cNvPr id="10" name="Graphic 30">
            <a:extLst>
              <a:ext uri="{FF2B5EF4-FFF2-40B4-BE49-F238E27FC236}">
                <a16:creationId xmlns:a16="http://schemas.microsoft.com/office/drawing/2014/main" id="{6FA03D62-D4C4-8C59-35B2-6FFCFD766F25}"/>
              </a:ext>
            </a:extLst>
          </p:cNvPr>
          <p:cNvPicPr>
            <a:picLocks noChangeAspect="1" noChangeArrowheads="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auto">
          <a:xfrm>
            <a:off x="498802" y="5745685"/>
            <a:ext cx="1972080" cy="61134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pic>
      <p:sp>
        <p:nvSpPr>
          <p:cNvPr id="13" name="Freeform 12">
            <a:extLst>
              <a:ext uri="{FF2B5EF4-FFF2-40B4-BE49-F238E27FC236}">
                <a16:creationId xmlns:a16="http://schemas.microsoft.com/office/drawing/2014/main" id="{BB9D0BFC-9DC3-7F5E-4D83-59331E501AA8}"/>
              </a:ext>
            </a:extLst>
          </p:cNvPr>
          <p:cNvSpPr/>
          <p:nvPr userDrawn="1"/>
        </p:nvSpPr>
        <p:spPr>
          <a:xfrm>
            <a:off x="6096000" y="553935"/>
            <a:ext cx="4915173" cy="6312017"/>
          </a:xfrm>
          <a:custGeom>
            <a:avLst/>
            <a:gdLst>
              <a:gd name="connsiteX0" fmla="*/ 4640716 w 4915173"/>
              <a:gd name="connsiteY0" fmla="*/ 0 h 6312017"/>
              <a:gd name="connsiteX1" fmla="*/ 4915173 w 4915173"/>
              <a:gd name="connsiteY1" fmla="*/ 720712 h 6312017"/>
              <a:gd name="connsiteX2" fmla="*/ 4412423 w 4915173"/>
              <a:gd name="connsiteY2" fmla="*/ 720712 h 6312017"/>
              <a:gd name="connsiteX3" fmla="*/ 3033602 w 4915173"/>
              <a:gd name="connsiteY3" fmla="*/ 2690576 h 6312017"/>
              <a:gd name="connsiteX4" fmla="*/ 2829340 w 4915173"/>
              <a:gd name="connsiteY4" fmla="*/ 2982353 h 6312017"/>
              <a:gd name="connsiteX5" fmla="*/ 1777465 w 4915173"/>
              <a:gd name="connsiteY5" fmla="*/ 4485205 h 6312017"/>
              <a:gd name="connsiteX6" fmla="*/ 1573202 w 4915173"/>
              <a:gd name="connsiteY6" fmla="*/ 4776982 h 6312017"/>
              <a:gd name="connsiteX7" fmla="*/ 498753 w 4915173"/>
              <a:gd name="connsiteY7" fmla="*/ 6312017 h 6312017"/>
              <a:gd name="connsiteX8" fmla="*/ 0 w 4915173"/>
              <a:gd name="connsiteY8" fmla="*/ 6312017 h 6312017"/>
              <a:gd name="connsiteX9" fmla="*/ 538612 w 4915173"/>
              <a:gd name="connsiteY9" fmla="*/ 5542502 h 6312017"/>
              <a:gd name="connsiteX10" fmla="*/ 820869 w 4915173"/>
              <a:gd name="connsiteY10" fmla="*/ 5139232 h 6312017"/>
              <a:gd name="connsiteX11" fmla="*/ 1074458 w 4915173"/>
              <a:gd name="connsiteY11" fmla="*/ 4776982 h 6312017"/>
              <a:gd name="connsiteX12" fmla="*/ 1278719 w 4915173"/>
              <a:gd name="connsiteY12" fmla="*/ 4485205 h 6312017"/>
              <a:gd name="connsiteX13" fmla="*/ 1804868 w 4915173"/>
              <a:gd name="connsiteY13" fmla="*/ 3733358 h 6312017"/>
              <a:gd name="connsiteX14" fmla="*/ 2087125 w 4915173"/>
              <a:gd name="connsiteY14" fmla="*/ 3330087 h 6312017"/>
              <a:gd name="connsiteX15" fmla="*/ 2330595 w 4915173"/>
              <a:gd name="connsiteY15" fmla="*/ 2982353 h 6312017"/>
              <a:gd name="connsiteX16" fmla="*/ 2534857 w 4915173"/>
              <a:gd name="connsiteY16" fmla="*/ 2690576 h 6312017"/>
              <a:gd name="connsiteX17" fmla="*/ 3068594 w 4915173"/>
              <a:gd name="connsiteY17" fmla="*/ 1928211 h 6312017"/>
              <a:gd name="connsiteX18" fmla="*/ 3350851 w 4915173"/>
              <a:gd name="connsiteY18" fmla="*/ 1524940 h 6312017"/>
              <a:gd name="connsiteX19" fmla="*/ 3913678 w 4915173"/>
              <a:gd name="connsiteY19" fmla="*/ 720923 h 6312017"/>
              <a:gd name="connsiteX20" fmla="*/ 3402285 w 4915173"/>
              <a:gd name="connsiteY20" fmla="*/ 720923 h 6312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15173" h="6312017">
                <a:moveTo>
                  <a:pt x="4640716" y="0"/>
                </a:moveTo>
                <a:lnTo>
                  <a:pt x="4915173" y="720712"/>
                </a:lnTo>
                <a:lnTo>
                  <a:pt x="4412423" y="720712"/>
                </a:lnTo>
                <a:lnTo>
                  <a:pt x="3033602" y="2690576"/>
                </a:lnTo>
                <a:lnTo>
                  <a:pt x="2829340" y="2982353"/>
                </a:lnTo>
                <a:lnTo>
                  <a:pt x="1777465" y="4485205"/>
                </a:lnTo>
                <a:lnTo>
                  <a:pt x="1573202" y="4776982"/>
                </a:lnTo>
                <a:lnTo>
                  <a:pt x="498753" y="6312017"/>
                </a:lnTo>
                <a:lnTo>
                  <a:pt x="0" y="6312017"/>
                </a:lnTo>
                <a:lnTo>
                  <a:pt x="538612" y="5542502"/>
                </a:lnTo>
                <a:lnTo>
                  <a:pt x="820869" y="5139232"/>
                </a:lnTo>
                <a:lnTo>
                  <a:pt x="1074458" y="4776982"/>
                </a:lnTo>
                <a:lnTo>
                  <a:pt x="1278719" y="4485205"/>
                </a:lnTo>
                <a:lnTo>
                  <a:pt x="1804868" y="3733358"/>
                </a:lnTo>
                <a:lnTo>
                  <a:pt x="2087125" y="3330087"/>
                </a:lnTo>
                <a:lnTo>
                  <a:pt x="2330595" y="2982353"/>
                </a:lnTo>
                <a:lnTo>
                  <a:pt x="2534857" y="2690576"/>
                </a:lnTo>
                <a:lnTo>
                  <a:pt x="3068594" y="1928211"/>
                </a:lnTo>
                <a:lnTo>
                  <a:pt x="3350851" y="1524940"/>
                </a:lnTo>
                <a:lnTo>
                  <a:pt x="3913678" y="720923"/>
                </a:lnTo>
                <a:lnTo>
                  <a:pt x="3402285" y="720923"/>
                </a:lnTo>
                <a:close/>
              </a:path>
            </a:pathLst>
          </a:custGeom>
          <a:gradFill flip="none" rotWithShape="1">
            <a:gsLst>
              <a:gs pos="24000">
                <a:schemeClr val="bg1"/>
              </a:gs>
              <a:gs pos="99000">
                <a:schemeClr val="tx2">
                  <a:lumMod val="10000"/>
                  <a:lumOff val="90000"/>
                </a:schemeClr>
              </a:gs>
            </a:gsLst>
            <a:lin ang="18900000" scaled="1"/>
            <a:tileRect/>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p>
        </p:txBody>
      </p:sp>
      <p:pic>
        <p:nvPicPr>
          <p:cNvPr id="14" name="Graphic 13">
            <a:extLst>
              <a:ext uri="{FF2B5EF4-FFF2-40B4-BE49-F238E27FC236}">
                <a16:creationId xmlns:a16="http://schemas.microsoft.com/office/drawing/2014/main" id="{EA094C48-75B4-0D84-7000-2F81978B32B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301468" y="1696424"/>
            <a:ext cx="1453535" cy="867146"/>
          </a:xfrm>
          <a:prstGeom prst="rect">
            <a:avLst/>
          </a:prstGeom>
        </p:spPr>
      </p:pic>
    </p:spTree>
    <p:extLst>
      <p:ext uri="{BB962C8B-B14F-4D97-AF65-F5344CB8AC3E}">
        <p14:creationId xmlns:p14="http://schemas.microsoft.com/office/powerpoint/2010/main" val="392330596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userDrawn="1">
  <p:cSld name="6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7454900" cy="627380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091679" y="1113883"/>
            <a:ext cx="5100321"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109142" y="3429000"/>
            <a:ext cx="5084359" cy="307777"/>
          </a:xfrm>
          <a:prstGeom prst="rect">
            <a:avLst/>
          </a:prstGeom>
        </p:spPr>
        <p:txBody>
          <a:bodyPr vert="horz" wrap="square" lIns="0" tIns="0" rIns="0" bIns="0" rtlCol="0" anchor="t">
            <a:spAutoFit/>
          </a:bodyPr>
          <a:lstStyle>
            <a:lvl1pPr marL="0" indent="0">
              <a:buNone/>
              <a:defRPr lang="en-US" sz="2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pic>
        <p:nvPicPr>
          <p:cNvPr id="2" name="Graphic 1">
            <a:extLst>
              <a:ext uri="{FF2B5EF4-FFF2-40B4-BE49-F238E27FC236}">
                <a16:creationId xmlns:a16="http://schemas.microsoft.com/office/drawing/2014/main" id="{540E5718-24C3-57DF-21E6-3B134453789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5" name="Graphic 4">
            <a:extLst>
              <a:ext uri="{FF2B5EF4-FFF2-40B4-BE49-F238E27FC236}">
                <a16:creationId xmlns:a16="http://schemas.microsoft.com/office/drawing/2014/main" id="{B5D90D21-390E-9220-E42B-2BB248A5442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Tree>
    <p:extLst>
      <p:ext uri="{BB962C8B-B14F-4D97-AF65-F5344CB8AC3E}">
        <p14:creationId xmlns:p14="http://schemas.microsoft.com/office/powerpoint/2010/main" val="144307093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2_Half Image Slide">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tx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98919"/>
          </a:xfrm>
        </p:spPr>
        <p:txBody>
          <a:bodyPr>
            <a:spAutoFit/>
          </a:bodyPr>
          <a:lstStyle>
            <a:lvl1pPr>
              <a:defRPr>
                <a:ln w="9525">
                  <a:noFill/>
                </a:ln>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700" b="0" i="0" u="none" strike="noStrike" kern="1200" cap="none" spc="0" normalizeH="0" baseline="0" noProof="0">
              <a:ln>
                <a:noFill/>
              </a:ln>
              <a:solidFill>
                <a:srgbClr val="FFFFFF"/>
              </a:solidFill>
              <a:effectLst/>
              <a:uLnTx/>
              <a:uFillTx/>
              <a:latin typeface="Arial"/>
              <a:ea typeface="+mn-ea"/>
              <a:cs typeface="+mn-cs"/>
            </a:endParaRPr>
          </a:p>
        </p:txBody>
      </p:sp>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a:off x="10121900" y="1460500"/>
            <a:ext cx="2070100" cy="5397500"/>
          </a:xfrm>
          <a:prstGeom prst="rect">
            <a:avLst/>
          </a:prstGeom>
        </p:spPr>
      </p:pic>
      <p:sp>
        <p:nvSpPr>
          <p:cNvPr id="4" name="Footer Placeholder 4">
            <a:extLst>
              <a:ext uri="{FF2B5EF4-FFF2-40B4-BE49-F238E27FC236}">
                <a16:creationId xmlns:a16="http://schemas.microsoft.com/office/drawing/2014/main" id="{FC13A6F5-274D-15B1-9FC9-6127372D84B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pic>
        <p:nvPicPr>
          <p:cNvPr id="8" name="Picture 7">
            <a:extLst>
              <a:ext uri="{FF2B5EF4-FFF2-40B4-BE49-F238E27FC236}">
                <a16:creationId xmlns:a16="http://schemas.microsoft.com/office/drawing/2014/main" id="{BE50EB52-76DB-B023-D109-A117C4C76FF1}"/>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624045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4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0"/>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29348"/>
          </a:xfrm>
        </p:spPr>
        <p:txBody>
          <a:bodyPr/>
          <a:lstStyle>
            <a:lvl1pPr>
              <a:lnSpc>
                <a:spcPct val="90000"/>
              </a:lnSpc>
              <a:defRPr/>
            </a:lvl1pPr>
          </a:lstStyle>
          <a:p>
            <a:r>
              <a:rPr lang="en-US"/>
              <a:t>Click to edit Master title style</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Footer Placeholder 4">
            <a:extLst>
              <a:ext uri="{FF2B5EF4-FFF2-40B4-BE49-F238E27FC236}">
                <a16:creationId xmlns:a16="http://schemas.microsoft.com/office/drawing/2014/main" id="{C55C61CC-3496-F6D2-50A9-51797C58AFE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4" name="Picture 3">
            <a:extLst>
              <a:ext uri="{FF2B5EF4-FFF2-40B4-BE49-F238E27FC236}">
                <a16:creationId xmlns:a16="http://schemas.microsoft.com/office/drawing/2014/main" id="{3A7BEB46-4A2F-E3E2-BB53-C675EFEA696D}"/>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213054098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5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Footer Placeholder 4">
            <a:extLst>
              <a:ext uri="{FF2B5EF4-FFF2-40B4-BE49-F238E27FC236}">
                <a16:creationId xmlns:a16="http://schemas.microsoft.com/office/drawing/2014/main" id="{D77AC0E9-7AF7-EF13-4F84-43E462D328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4" name="Picture 3">
            <a:extLst>
              <a:ext uri="{FF2B5EF4-FFF2-40B4-BE49-F238E27FC236}">
                <a16:creationId xmlns:a16="http://schemas.microsoft.com/office/drawing/2014/main" id="{14D0718C-04D9-0C53-2DBF-9642A42B34E8}"/>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246570675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6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3" name="Picture 2" descr="A red circle with a black center&#10;&#10;Description automatically generated with low confidence">
            <a:extLst>
              <a:ext uri="{FF2B5EF4-FFF2-40B4-BE49-F238E27FC236}">
                <a16:creationId xmlns:a16="http://schemas.microsoft.com/office/drawing/2014/main" id="{386D26A2-02C3-7D58-B648-720D1207ABA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3238500" y="1760548"/>
            <a:ext cx="7778407" cy="5097452"/>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US"/>
              <a:t>Click to edit Master title style</a:t>
            </a:r>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6" name="Footer Placeholder 4">
            <a:extLst>
              <a:ext uri="{FF2B5EF4-FFF2-40B4-BE49-F238E27FC236}">
                <a16:creationId xmlns:a16="http://schemas.microsoft.com/office/drawing/2014/main" id="{55EFC9CF-E498-03AA-C4C1-EE27FE4E9E0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pic>
        <p:nvPicPr>
          <p:cNvPr id="7" name="Picture 6">
            <a:extLst>
              <a:ext uri="{FF2B5EF4-FFF2-40B4-BE49-F238E27FC236}">
                <a16:creationId xmlns:a16="http://schemas.microsoft.com/office/drawing/2014/main" id="{04BE1821-E2F6-1FA3-F14F-D724C8B3B40B}"/>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93931655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2_Half Image Slide 2">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2" name="Picture 1">
            <a:extLst>
              <a:ext uri="{FF2B5EF4-FFF2-40B4-BE49-F238E27FC236}">
                <a16:creationId xmlns:a16="http://schemas.microsoft.com/office/drawing/2014/main" id="{253AD589-455E-BE38-EEFC-2CBBC3F60159}"/>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16200000" flipH="1" flipV="1">
            <a:off x="7865591" y="2531594"/>
            <a:ext cx="6589412" cy="2063407"/>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17B35788-207E-8AA6-15D2-9CEA19EFA77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8870" y="6293280"/>
            <a:ext cx="1111028" cy="344419"/>
          </a:xfrm>
          <a:prstGeom prst="rect">
            <a:avLst/>
          </a:prstGeom>
        </p:spPr>
      </p:pic>
      <p:pic>
        <p:nvPicPr>
          <p:cNvPr id="4" name="Graphic 3">
            <a:extLst>
              <a:ext uri="{FF2B5EF4-FFF2-40B4-BE49-F238E27FC236}">
                <a16:creationId xmlns:a16="http://schemas.microsoft.com/office/drawing/2014/main" id="{44C67C0E-9461-A9A9-C174-F6246D4EE2F4}"/>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59921" y="6332606"/>
            <a:ext cx="1111028" cy="236851"/>
          </a:xfrm>
          <a:prstGeom prst="rect">
            <a:avLst/>
          </a:prstGeom>
        </p:spPr>
      </p:pic>
      <p:sp>
        <p:nvSpPr>
          <p:cNvPr id="8" name="Footer Placeholder 4">
            <a:extLst>
              <a:ext uri="{FF2B5EF4-FFF2-40B4-BE49-F238E27FC236}">
                <a16:creationId xmlns:a16="http://schemas.microsoft.com/office/drawing/2014/main" id="{739A5834-1785-DEF8-9861-A9D25CD87C1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spTree>
    <p:extLst>
      <p:ext uri="{BB962C8B-B14F-4D97-AF65-F5344CB8AC3E}">
        <p14:creationId xmlns:p14="http://schemas.microsoft.com/office/powerpoint/2010/main" val="92990757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userDrawn="1">
  <p:cSld name="3_Half Image Slide">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tx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98919"/>
          </a:xfrm>
        </p:spPr>
        <p:txBody>
          <a:bodyPr>
            <a:spAutoFit/>
          </a:bodyPr>
          <a:lstStyle>
            <a:lvl1pPr>
              <a:defRPr>
                <a:ln w="9525">
                  <a:noFill/>
                </a:ln>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a:off x="10121900" y="1460500"/>
            <a:ext cx="2070100" cy="5397500"/>
          </a:xfrm>
          <a:prstGeom prst="rect">
            <a:avLst/>
          </a:prstGeom>
        </p:spPr>
      </p:pic>
      <p:sp>
        <p:nvSpPr>
          <p:cNvPr id="8" name="Footer Placeholder 4">
            <a:extLst>
              <a:ext uri="{FF2B5EF4-FFF2-40B4-BE49-F238E27FC236}">
                <a16:creationId xmlns:a16="http://schemas.microsoft.com/office/drawing/2014/main" id="{939B70BC-A752-CC42-EDF6-471E95A8A67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r>
              <a:rPr lang="en-US"/>
              <a:t>© Rackspace Technology 2024 </a:t>
            </a:r>
          </a:p>
        </p:txBody>
      </p:sp>
      <p:pic>
        <p:nvPicPr>
          <p:cNvPr id="10" name="Picture 9">
            <a:extLst>
              <a:ext uri="{FF2B5EF4-FFF2-40B4-BE49-F238E27FC236}">
                <a16:creationId xmlns:a16="http://schemas.microsoft.com/office/drawing/2014/main" id="{106B056E-03D4-48F5-1164-07B1B99E37FB}"/>
              </a:ext>
            </a:extLst>
          </p:cNvPr>
          <p:cNvPicPr>
            <a:picLocks noChangeAspect="1"/>
          </p:cNvPicPr>
          <p:nvPr userDrawn="1"/>
        </p:nvPicPr>
        <p:blipFill>
          <a:blip r:embed="rId3"/>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3791080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4C2E3-BFD9-3D49-8879-D78AC107D5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996814-C248-6634-21D7-00E1C43052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471ACE-9AAE-3A10-4130-B46E84C9DB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8ECB42-422B-0720-B639-0CB445FEBB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16FA04-F9BE-8C12-37AF-E7000D5704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F9C2CB-5113-C55C-FD7A-F7DF4BFAD67E}"/>
              </a:ext>
            </a:extLst>
          </p:cNvPr>
          <p:cNvSpPr>
            <a:spLocks noGrp="1"/>
          </p:cNvSpPr>
          <p:nvPr>
            <p:ph type="dt" sz="half" idx="10"/>
          </p:nvPr>
        </p:nvSpPr>
        <p:spPr/>
        <p:txBody>
          <a:bodyPr/>
          <a:lstStyle/>
          <a:p>
            <a:fld id="{E51B686F-F0B5-408D-8B3A-89903F74E549}" type="datetimeFigureOut">
              <a:rPr lang="en-US" smtClean="0"/>
              <a:t>4/26/2026</a:t>
            </a:fld>
            <a:endParaRPr lang="en-US"/>
          </a:p>
        </p:txBody>
      </p:sp>
      <p:sp>
        <p:nvSpPr>
          <p:cNvPr id="8" name="Footer Placeholder 7">
            <a:extLst>
              <a:ext uri="{FF2B5EF4-FFF2-40B4-BE49-F238E27FC236}">
                <a16:creationId xmlns:a16="http://schemas.microsoft.com/office/drawing/2014/main" id="{3AD255A3-5551-9C98-4EDF-46754AACA5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DD823A-E297-EDBE-ECFB-2BCD88174D4C}"/>
              </a:ext>
            </a:extLst>
          </p:cNvPr>
          <p:cNvSpPr>
            <a:spLocks noGrp="1"/>
          </p:cNvSpPr>
          <p:nvPr>
            <p:ph type="sldNum" sz="quarter" idx="12"/>
          </p:nvPr>
        </p:nvSpPr>
        <p:spPr/>
        <p:txBody>
          <a:bodyPr/>
          <a:lstStyle/>
          <a:p>
            <a:fld id="{1F125C38-B227-45D1-82FF-D5D20661F75C}" type="slidenum">
              <a:rPr lang="en-US" smtClean="0"/>
              <a:t>‹#›</a:t>
            </a:fld>
            <a:endParaRPr lang="en-US"/>
          </a:p>
        </p:txBody>
      </p:sp>
    </p:spTree>
    <p:extLst>
      <p:ext uri="{BB962C8B-B14F-4D97-AF65-F5344CB8AC3E}">
        <p14:creationId xmlns:p14="http://schemas.microsoft.com/office/powerpoint/2010/main" val="11334350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3.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70.xml"/><Relationship Id="rId21" Type="http://schemas.openxmlformats.org/officeDocument/2006/relationships/slideLayout" Target="../slideLayouts/slideLayout65.xml"/><Relationship Id="rId42" Type="http://schemas.openxmlformats.org/officeDocument/2006/relationships/slideLayout" Target="../slideLayouts/slideLayout86.xml"/><Relationship Id="rId47" Type="http://schemas.openxmlformats.org/officeDocument/2006/relationships/slideLayout" Target="../slideLayouts/slideLayout91.xml"/><Relationship Id="rId63" Type="http://schemas.openxmlformats.org/officeDocument/2006/relationships/slideLayout" Target="../slideLayouts/slideLayout107.xml"/><Relationship Id="rId68" Type="http://schemas.openxmlformats.org/officeDocument/2006/relationships/slideLayout" Target="../slideLayouts/slideLayout112.xml"/><Relationship Id="rId7" Type="http://schemas.openxmlformats.org/officeDocument/2006/relationships/slideLayout" Target="../slideLayouts/slideLayout51.xml"/><Relationship Id="rId71" Type="http://schemas.openxmlformats.org/officeDocument/2006/relationships/image" Target="../media/image1.png"/><Relationship Id="rId2" Type="http://schemas.openxmlformats.org/officeDocument/2006/relationships/slideLayout" Target="../slideLayouts/slideLayout46.xml"/><Relationship Id="rId16" Type="http://schemas.openxmlformats.org/officeDocument/2006/relationships/slideLayout" Target="../slideLayouts/slideLayout60.xml"/><Relationship Id="rId29" Type="http://schemas.openxmlformats.org/officeDocument/2006/relationships/slideLayout" Target="../slideLayouts/slideLayout73.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slideLayout" Target="../slideLayouts/slideLayout76.xml"/><Relationship Id="rId37" Type="http://schemas.openxmlformats.org/officeDocument/2006/relationships/slideLayout" Target="../slideLayouts/slideLayout81.xml"/><Relationship Id="rId40" Type="http://schemas.openxmlformats.org/officeDocument/2006/relationships/slideLayout" Target="../slideLayouts/slideLayout84.xml"/><Relationship Id="rId45" Type="http://schemas.openxmlformats.org/officeDocument/2006/relationships/slideLayout" Target="../slideLayouts/slideLayout89.xml"/><Relationship Id="rId53" Type="http://schemas.openxmlformats.org/officeDocument/2006/relationships/slideLayout" Target="../slideLayouts/slideLayout97.xml"/><Relationship Id="rId58" Type="http://schemas.openxmlformats.org/officeDocument/2006/relationships/slideLayout" Target="../slideLayouts/slideLayout102.xml"/><Relationship Id="rId66" Type="http://schemas.openxmlformats.org/officeDocument/2006/relationships/slideLayout" Target="../slideLayouts/slideLayout110.xml"/><Relationship Id="rId5" Type="http://schemas.openxmlformats.org/officeDocument/2006/relationships/slideLayout" Target="../slideLayouts/slideLayout49.xml"/><Relationship Id="rId61" Type="http://schemas.openxmlformats.org/officeDocument/2006/relationships/slideLayout" Target="../slideLayouts/slideLayout105.xml"/><Relationship Id="rId19" Type="http://schemas.openxmlformats.org/officeDocument/2006/relationships/slideLayout" Target="../slideLayouts/slideLayout6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35" Type="http://schemas.openxmlformats.org/officeDocument/2006/relationships/slideLayout" Target="../slideLayouts/slideLayout79.xml"/><Relationship Id="rId43" Type="http://schemas.openxmlformats.org/officeDocument/2006/relationships/slideLayout" Target="../slideLayouts/slideLayout87.xml"/><Relationship Id="rId48" Type="http://schemas.openxmlformats.org/officeDocument/2006/relationships/slideLayout" Target="../slideLayouts/slideLayout92.xml"/><Relationship Id="rId56" Type="http://schemas.openxmlformats.org/officeDocument/2006/relationships/slideLayout" Target="../slideLayouts/slideLayout100.xml"/><Relationship Id="rId64" Type="http://schemas.openxmlformats.org/officeDocument/2006/relationships/slideLayout" Target="../slideLayouts/slideLayout108.xml"/><Relationship Id="rId69" Type="http://schemas.openxmlformats.org/officeDocument/2006/relationships/slideLayout" Target="../slideLayouts/slideLayout113.xml"/><Relationship Id="rId8" Type="http://schemas.openxmlformats.org/officeDocument/2006/relationships/slideLayout" Target="../slideLayouts/slideLayout52.xml"/><Relationship Id="rId51" Type="http://schemas.openxmlformats.org/officeDocument/2006/relationships/slideLayout" Target="../slideLayouts/slideLayout95.xml"/><Relationship Id="rId72" Type="http://schemas.openxmlformats.org/officeDocument/2006/relationships/image" Target="../media/image23.png"/><Relationship Id="rId3" Type="http://schemas.openxmlformats.org/officeDocument/2006/relationships/slideLayout" Target="../slideLayouts/slideLayout47.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slideLayout" Target="../slideLayouts/slideLayout77.xml"/><Relationship Id="rId38" Type="http://schemas.openxmlformats.org/officeDocument/2006/relationships/slideLayout" Target="../slideLayouts/slideLayout82.xml"/><Relationship Id="rId46" Type="http://schemas.openxmlformats.org/officeDocument/2006/relationships/slideLayout" Target="../slideLayouts/slideLayout90.xml"/><Relationship Id="rId59" Type="http://schemas.openxmlformats.org/officeDocument/2006/relationships/slideLayout" Target="../slideLayouts/slideLayout103.xml"/><Relationship Id="rId67" Type="http://schemas.openxmlformats.org/officeDocument/2006/relationships/slideLayout" Target="../slideLayouts/slideLayout111.xml"/><Relationship Id="rId20" Type="http://schemas.openxmlformats.org/officeDocument/2006/relationships/slideLayout" Target="../slideLayouts/slideLayout64.xml"/><Relationship Id="rId41" Type="http://schemas.openxmlformats.org/officeDocument/2006/relationships/slideLayout" Target="../slideLayouts/slideLayout85.xml"/><Relationship Id="rId54" Type="http://schemas.openxmlformats.org/officeDocument/2006/relationships/slideLayout" Target="../slideLayouts/slideLayout98.xml"/><Relationship Id="rId62" Type="http://schemas.openxmlformats.org/officeDocument/2006/relationships/slideLayout" Target="../slideLayouts/slideLayout106.xml"/><Relationship Id="rId70" Type="http://schemas.openxmlformats.org/officeDocument/2006/relationships/theme" Target="../theme/theme2.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36" Type="http://schemas.openxmlformats.org/officeDocument/2006/relationships/slideLayout" Target="../slideLayouts/slideLayout80.xml"/><Relationship Id="rId49" Type="http://schemas.openxmlformats.org/officeDocument/2006/relationships/slideLayout" Target="../slideLayouts/slideLayout93.xml"/><Relationship Id="rId57" Type="http://schemas.openxmlformats.org/officeDocument/2006/relationships/slideLayout" Target="../slideLayouts/slideLayout101.xml"/><Relationship Id="rId10" Type="http://schemas.openxmlformats.org/officeDocument/2006/relationships/slideLayout" Target="../slideLayouts/slideLayout54.xml"/><Relationship Id="rId31" Type="http://schemas.openxmlformats.org/officeDocument/2006/relationships/slideLayout" Target="../slideLayouts/slideLayout75.xml"/><Relationship Id="rId44" Type="http://schemas.openxmlformats.org/officeDocument/2006/relationships/slideLayout" Target="../slideLayouts/slideLayout88.xml"/><Relationship Id="rId52" Type="http://schemas.openxmlformats.org/officeDocument/2006/relationships/slideLayout" Target="../slideLayouts/slideLayout96.xml"/><Relationship Id="rId60" Type="http://schemas.openxmlformats.org/officeDocument/2006/relationships/slideLayout" Target="../slideLayouts/slideLayout104.xml"/><Relationship Id="rId65" Type="http://schemas.openxmlformats.org/officeDocument/2006/relationships/slideLayout" Target="../slideLayouts/slideLayout109.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3" Type="http://schemas.openxmlformats.org/officeDocument/2006/relationships/slideLayout" Target="../slideLayouts/slideLayout57.xml"/><Relationship Id="rId18" Type="http://schemas.openxmlformats.org/officeDocument/2006/relationships/slideLayout" Target="../slideLayouts/slideLayout62.xml"/><Relationship Id="rId39" Type="http://schemas.openxmlformats.org/officeDocument/2006/relationships/slideLayout" Target="../slideLayouts/slideLayout83.xml"/><Relationship Id="rId34" Type="http://schemas.openxmlformats.org/officeDocument/2006/relationships/slideLayout" Target="../slideLayouts/slideLayout78.xml"/><Relationship Id="rId50" Type="http://schemas.openxmlformats.org/officeDocument/2006/relationships/slideLayout" Target="../slideLayouts/slideLayout94.xml"/><Relationship Id="rId55" Type="http://schemas.openxmlformats.org/officeDocument/2006/relationships/slideLayout" Target="../slideLayouts/slideLayout9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0" y="-5255"/>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46">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84043"/>
          </a:xfrm>
          <a:prstGeom prst="rect">
            <a:avLst/>
          </a:prstGeom>
          <a:ln w="12700">
            <a:noFill/>
          </a:ln>
        </p:spPr>
        <p:txBody>
          <a:bodyPr vert="horz" wrap="square" lIns="0" tIns="0" rIns="0" bIns="0" rtlCol="0" anchor="t" anchorCtr="0">
            <a:spAutoFit/>
          </a:bodyPr>
          <a:lstStyle/>
          <a:p>
            <a:r>
              <a:rPr lang="en-US"/>
              <a:t>Click to edit Master title style</a:t>
            </a:r>
          </a:p>
        </p:txBody>
      </p:sp>
      <p:grpSp>
        <p:nvGrpSpPr>
          <p:cNvPr id="14" name="Group 13">
            <a:extLst>
              <a:ext uri="{FF2B5EF4-FFF2-40B4-BE49-F238E27FC236}">
                <a16:creationId xmlns:a16="http://schemas.microsoft.com/office/drawing/2014/main" id="{22DE5C9A-966A-A0E3-E0BB-AC7F7AC07DA5}"/>
              </a:ext>
            </a:extLst>
          </p:cNvPr>
          <p:cNvGrpSpPr/>
          <p:nvPr userDrawn="1"/>
        </p:nvGrpSpPr>
        <p:grpSpPr>
          <a:xfrm>
            <a:off x="348870" y="6308875"/>
            <a:ext cx="2522079" cy="295576"/>
            <a:chOff x="327905" y="6378908"/>
            <a:chExt cx="3237850" cy="379461"/>
          </a:xfrm>
        </p:grpSpPr>
        <p:pic>
          <p:nvPicPr>
            <p:cNvPr id="20" name="Graphic 19">
              <a:extLst>
                <a:ext uri="{FF2B5EF4-FFF2-40B4-BE49-F238E27FC236}">
                  <a16:creationId xmlns:a16="http://schemas.microsoft.com/office/drawing/2014/main" id="{A0A43F82-49DB-32C0-CB1F-F78B146A34D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7"/>
                </a:ext>
              </a:extLst>
            </a:blip>
            <a:stretch>
              <a:fillRect/>
            </a:stretch>
          </p:blipFill>
          <p:spPr>
            <a:xfrm>
              <a:off x="327905" y="6404039"/>
              <a:ext cx="1143000" cy="354330"/>
            </a:xfrm>
            <a:prstGeom prst="rect">
              <a:avLst/>
            </a:prstGeom>
          </p:spPr>
        </p:pic>
        <p:grpSp>
          <p:nvGrpSpPr>
            <p:cNvPr id="21" name="Group 20">
              <a:extLst>
                <a:ext uri="{FF2B5EF4-FFF2-40B4-BE49-F238E27FC236}">
                  <a16:creationId xmlns:a16="http://schemas.microsoft.com/office/drawing/2014/main" id="{CB87FE6A-2B5C-CCEC-FB32-FA0BC50AF864}"/>
                </a:ext>
              </a:extLst>
            </p:cNvPr>
            <p:cNvGrpSpPr/>
            <p:nvPr userDrawn="1"/>
          </p:nvGrpSpPr>
          <p:grpSpPr>
            <a:xfrm>
              <a:off x="1824210" y="6378908"/>
              <a:ext cx="1741545" cy="354329"/>
              <a:chOff x="1824210" y="6378908"/>
              <a:chExt cx="1741545" cy="354329"/>
            </a:xfrm>
          </p:grpSpPr>
          <p:pic>
            <p:nvPicPr>
              <p:cNvPr id="22" name="Graphic 21">
                <a:extLst>
                  <a:ext uri="{FF2B5EF4-FFF2-40B4-BE49-F238E27FC236}">
                    <a16:creationId xmlns:a16="http://schemas.microsoft.com/office/drawing/2014/main" id="{51182E13-F81C-96C7-A681-CD0EE74AFE2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2139416" y="6404039"/>
                <a:ext cx="1426339" cy="304069"/>
              </a:xfrm>
              <a:prstGeom prst="rect">
                <a:avLst/>
              </a:prstGeom>
            </p:spPr>
          </p:pic>
          <p:cxnSp>
            <p:nvCxnSpPr>
              <p:cNvPr id="23" name="Straight Connector 22">
                <a:extLst>
                  <a:ext uri="{FF2B5EF4-FFF2-40B4-BE49-F238E27FC236}">
                    <a16:creationId xmlns:a16="http://schemas.microsoft.com/office/drawing/2014/main" id="{826A09FB-B115-1D89-0701-A79E56B58BC3}"/>
                  </a:ext>
                </a:extLst>
              </p:cNvPr>
              <p:cNvCxnSpPr/>
              <p:nvPr userDrawn="1"/>
            </p:nvCxnSpPr>
            <p:spPr>
              <a:xfrm>
                <a:off x="1824210" y="6378908"/>
                <a:ext cx="0" cy="354329"/>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84997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5" r:id="rId44"/>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0" y="-5255"/>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71">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84043"/>
          </a:xfrm>
          <a:prstGeom prst="rect">
            <a:avLst/>
          </a:prstGeom>
          <a:ln w="12700">
            <a:noFill/>
          </a:ln>
        </p:spPr>
        <p:txBody>
          <a:bodyPr vert="horz" wrap="square" lIns="0" tIns="0" rIns="0" bIns="0" rtlCol="0" anchor="t" anchorCtr="0">
            <a:spAutoFit/>
          </a:bodyPr>
          <a:lstStyle/>
          <a:p>
            <a:r>
              <a:rPr lang="en-US"/>
              <a:t>Click to edit Master title style</a:t>
            </a:r>
          </a:p>
        </p:txBody>
      </p:sp>
      <p:sp>
        <p:nvSpPr>
          <p:cNvPr id="7" name="Footer Placeholder 4">
            <a:extLst>
              <a:ext uri="{FF2B5EF4-FFF2-40B4-BE49-F238E27FC236}">
                <a16:creationId xmlns:a16="http://schemas.microsoft.com/office/drawing/2014/main" id="{4E63E82F-5F0A-C321-8382-124C19D6529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r>
              <a:rPr lang="en-US"/>
              <a:t>© Rackspace Technology 2024 </a:t>
            </a:r>
          </a:p>
        </p:txBody>
      </p:sp>
      <p:pic>
        <p:nvPicPr>
          <p:cNvPr id="8" name="Picture 7">
            <a:extLst>
              <a:ext uri="{FF2B5EF4-FFF2-40B4-BE49-F238E27FC236}">
                <a16:creationId xmlns:a16="http://schemas.microsoft.com/office/drawing/2014/main" id="{DAFD58CB-FA8D-5CF2-062D-F749D74EC07D}"/>
              </a:ext>
            </a:extLst>
          </p:cNvPr>
          <p:cNvPicPr>
            <a:picLocks noChangeAspect="1"/>
          </p:cNvPicPr>
          <p:nvPr userDrawn="1"/>
        </p:nvPicPr>
        <p:blipFill>
          <a:blip r:embed="rId72"/>
          <a:stretch>
            <a:fillRect/>
          </a:stretch>
        </p:blipFill>
        <p:spPr>
          <a:xfrm>
            <a:off x="348870" y="6291166"/>
            <a:ext cx="2518903" cy="344584"/>
          </a:xfrm>
          <a:prstGeom prst="rect">
            <a:avLst/>
          </a:prstGeom>
        </p:spPr>
      </p:pic>
    </p:spTree>
    <p:extLst>
      <p:ext uri="{BB962C8B-B14F-4D97-AF65-F5344CB8AC3E}">
        <p14:creationId xmlns:p14="http://schemas.microsoft.com/office/powerpoint/2010/main" val="198505662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 id="2147483735" r:id="rId29"/>
    <p:sldLayoutId id="2147483736" r:id="rId30"/>
    <p:sldLayoutId id="2147483737" r:id="rId31"/>
    <p:sldLayoutId id="2147483738" r:id="rId32"/>
    <p:sldLayoutId id="2147483739" r:id="rId33"/>
    <p:sldLayoutId id="2147483740" r:id="rId34"/>
    <p:sldLayoutId id="2147483741" r:id="rId35"/>
    <p:sldLayoutId id="2147483742" r:id="rId36"/>
    <p:sldLayoutId id="2147483743" r:id="rId37"/>
    <p:sldLayoutId id="2147483744" r:id="rId38"/>
    <p:sldLayoutId id="2147483745" r:id="rId39"/>
    <p:sldLayoutId id="2147483746" r:id="rId40"/>
    <p:sldLayoutId id="2147483747" r:id="rId41"/>
    <p:sldLayoutId id="2147483748" r:id="rId42"/>
    <p:sldLayoutId id="2147483749" r:id="rId43"/>
    <p:sldLayoutId id="2147483750" r:id="rId44"/>
    <p:sldLayoutId id="2147483751" r:id="rId45"/>
    <p:sldLayoutId id="2147483752" r:id="rId46"/>
    <p:sldLayoutId id="2147483753" r:id="rId47"/>
    <p:sldLayoutId id="2147483754" r:id="rId48"/>
    <p:sldLayoutId id="2147483755" r:id="rId49"/>
    <p:sldLayoutId id="2147483756" r:id="rId50"/>
    <p:sldLayoutId id="2147483757" r:id="rId51"/>
    <p:sldLayoutId id="2147483758" r:id="rId52"/>
    <p:sldLayoutId id="2147483759" r:id="rId53"/>
    <p:sldLayoutId id="2147483760" r:id="rId54"/>
    <p:sldLayoutId id="2147483761" r:id="rId55"/>
    <p:sldLayoutId id="2147483762" r:id="rId56"/>
    <p:sldLayoutId id="2147483764" r:id="rId57"/>
    <p:sldLayoutId id="2147483765" r:id="rId58"/>
    <p:sldLayoutId id="2147483766" r:id="rId59"/>
    <p:sldLayoutId id="2147483767" r:id="rId60"/>
    <p:sldLayoutId id="2147483768" r:id="rId61"/>
    <p:sldLayoutId id="2147483770" r:id="rId62"/>
    <p:sldLayoutId id="2147483771" r:id="rId63"/>
    <p:sldLayoutId id="2147483772" r:id="rId64"/>
    <p:sldLayoutId id="2147483773" r:id="rId65"/>
    <p:sldLayoutId id="2147483774" r:id="rId66"/>
    <p:sldLayoutId id="2147483775" r:id="rId67"/>
    <p:sldLayoutId id="2147483776" r:id="rId68"/>
    <p:sldLayoutId id="2147483777" r:id="rId69"/>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113.xml"/><Relationship Id="rId4" Type="http://schemas.openxmlformats.org/officeDocument/2006/relationships/hyperlink" Target="https://deeplinks.mindtickle.com/gR1xttGYEUb" TargetMode="Externa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79.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49.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49.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3.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2.png"/><Relationship Id="rId2" Type="http://schemas.openxmlformats.org/officeDocument/2006/relationships/notesSlide" Target="../notesSlides/notesSlide4.xml"/><Relationship Id="rId16" Type="http://schemas.openxmlformats.org/officeDocument/2006/relationships/image" Target="../media/image51.png"/><Relationship Id="rId1" Type="http://schemas.openxmlformats.org/officeDocument/2006/relationships/slideLayout" Target="../slideLayouts/slideLayout79.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50.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3.xml"/></Relationships>
</file>

<file path=ppt/slides/_rels/slide11.xml.rels><?xml version="1.0" encoding="UTF-8" standalone="yes"?>
<Relationships xmlns="http://schemas.openxmlformats.org/package/2006/relationships"><Relationship Id="rId3" Type="http://schemas.openxmlformats.org/officeDocument/2006/relationships/hyperlink" Target="https://azure.microsoft.com/en-us/products/azure-migrate" TargetMode="External"/><Relationship Id="rId2" Type="http://schemas.openxmlformats.org/officeDocument/2006/relationships/notesSlide" Target="../notesSlides/notesSlide7.xml"/><Relationship Id="rId1" Type="http://schemas.openxmlformats.org/officeDocument/2006/relationships/slideLayout" Target="../slideLayouts/slideLayout113.xml"/><Relationship Id="rId6" Type="http://schemas.openxmlformats.org/officeDocument/2006/relationships/hyperlink" Target="https://learn.microsoft.com/en-us/azure/architecture/framework/" TargetMode="External"/><Relationship Id="rId5" Type="http://schemas.openxmlformats.org/officeDocument/2006/relationships/hyperlink" Target="https://learn.microsoft.com/en-us/azure/cloud-adoption-framework/" TargetMode="External"/><Relationship Id="rId4" Type="http://schemas.openxmlformats.org/officeDocument/2006/relationships/hyperlink" Target="https://aka.ms/AzureAccelerateDrMigrate"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3.xml"/></Relationships>
</file>

<file path=ppt/slides/_rels/slide13.xml.rels><?xml version="1.0" encoding="UTF-8" standalone="yes"?>
<Relationships xmlns="http://schemas.openxmlformats.org/package/2006/relationships"><Relationship Id="rId3" Type="http://schemas.openxmlformats.org/officeDocument/2006/relationships/hyperlink" Target="https://aka.ms/AzureAccelerateDrMigrate" TargetMode="External"/><Relationship Id="rId2" Type="http://schemas.openxmlformats.org/officeDocument/2006/relationships/hyperlink" Target="https://azure.microsoft.com/en-us/products/azure-migrate" TargetMode="External"/><Relationship Id="rId1" Type="http://schemas.openxmlformats.org/officeDocument/2006/relationships/slideLayout" Target="../slideLayouts/slideLayout49.xml"/><Relationship Id="rId5" Type="http://schemas.openxmlformats.org/officeDocument/2006/relationships/hyperlink" Target="https://learn.microsoft.com/en-us/azure/architecture/framework/" TargetMode="External"/><Relationship Id="rId4" Type="http://schemas.openxmlformats.org/officeDocument/2006/relationships/hyperlink" Target="https://learn.microsoft.com/en-us/azure/cloud-adoption-framework/"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aka.ms/AzureAccelerateDrMigrate" TargetMode="External"/><Relationship Id="rId2" Type="http://schemas.openxmlformats.org/officeDocument/2006/relationships/hyperlink" Target="https://azure.microsoft.com/en-us/products/azure-migrate" TargetMode="External"/><Relationship Id="rId1" Type="http://schemas.openxmlformats.org/officeDocument/2006/relationships/slideLayout" Target="../slideLayouts/slideLayout49.xml"/><Relationship Id="rId5" Type="http://schemas.openxmlformats.org/officeDocument/2006/relationships/hyperlink" Target="https://learn.microsoft.com/en-us/azure/architecture/framework/" TargetMode="External"/><Relationship Id="rId4" Type="http://schemas.openxmlformats.org/officeDocument/2006/relationships/hyperlink" Target="https://learn.microsoft.com/en-us/azure/cloud-adoption-framework/"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aka.ms/AzureAccelerateDrMigrate" TargetMode="External"/><Relationship Id="rId2" Type="http://schemas.openxmlformats.org/officeDocument/2006/relationships/hyperlink" Target="https://azure.microsoft.com/en-us/products/azure-migrate" TargetMode="External"/><Relationship Id="rId1" Type="http://schemas.openxmlformats.org/officeDocument/2006/relationships/slideLayout" Target="../slideLayouts/slideLayout49.xml"/><Relationship Id="rId5" Type="http://schemas.openxmlformats.org/officeDocument/2006/relationships/hyperlink" Target="https://learn.microsoft.com/en-us/azure/architecture/framework/" TargetMode="External"/><Relationship Id="rId4" Type="http://schemas.openxmlformats.org/officeDocument/2006/relationships/hyperlink" Target="https://learn.microsoft.com/en-us/azure/cloud-adoption-framework/"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3.xml"/></Relationships>
</file>

<file path=ppt/slides/_rels/slide18.xml.rels><?xml version="1.0" encoding="UTF-8" standalone="yes"?>
<Relationships xmlns="http://schemas.openxmlformats.org/package/2006/relationships"><Relationship Id="rId8" Type="http://schemas.openxmlformats.org/officeDocument/2006/relationships/diagramData" Target="../diagrams/data4.xml"/><Relationship Id="rId13" Type="http://schemas.openxmlformats.org/officeDocument/2006/relationships/diagramData" Target="../diagrams/data5.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17" Type="http://schemas.microsoft.com/office/2007/relationships/diagramDrawing" Target="../diagrams/drawing5.xml"/><Relationship Id="rId2" Type="http://schemas.openxmlformats.org/officeDocument/2006/relationships/notesSlide" Target="../notesSlides/notesSlide11.xml"/><Relationship Id="rId16" Type="http://schemas.openxmlformats.org/officeDocument/2006/relationships/diagramColors" Target="../diagrams/colors5.xml"/><Relationship Id="rId1" Type="http://schemas.openxmlformats.org/officeDocument/2006/relationships/slideLayout" Target="../slideLayouts/slideLayout113.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5" Type="http://schemas.openxmlformats.org/officeDocument/2006/relationships/diagramQuickStyle" Target="../diagrams/quickStyle5.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 Id="rId1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2" Type="http://schemas.openxmlformats.org/officeDocument/2006/relationships/hyperlink" Target="https://forms.office.com/r/1X7Fr9Jm4C" TargetMode="Externa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58.xml"/><Relationship Id="rId4" Type="http://schemas.openxmlformats.org/officeDocument/2006/relationships/hyperlink" Target="https://forms.office.com/r/1X7Fr9Jm4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F325E-62E7-9DCF-7656-AEB33C397980}"/>
              </a:ext>
            </a:extLst>
          </p:cNvPr>
          <p:cNvSpPr>
            <a:spLocks noGrp="1"/>
          </p:cNvSpPr>
          <p:nvPr>
            <p:ph type="ctrTitle"/>
          </p:nvPr>
        </p:nvSpPr>
        <p:spPr>
          <a:xfrm>
            <a:off x="323545" y="1013896"/>
            <a:ext cx="7141464" cy="1423338"/>
          </a:xfrm>
        </p:spPr>
        <p:txBody>
          <a:bodyPr/>
          <a:lstStyle/>
          <a:p>
            <a:r>
              <a:rPr lang="en-US" dirty="0"/>
              <a:t>Microsoft Funding Interactive Enablement</a:t>
            </a:r>
          </a:p>
        </p:txBody>
      </p:sp>
      <p:sp>
        <p:nvSpPr>
          <p:cNvPr id="3" name="Subtitle 2">
            <a:extLst>
              <a:ext uri="{FF2B5EF4-FFF2-40B4-BE49-F238E27FC236}">
                <a16:creationId xmlns:a16="http://schemas.microsoft.com/office/drawing/2014/main" id="{8923C784-D42F-F336-88E7-11AF33810714}"/>
              </a:ext>
            </a:extLst>
          </p:cNvPr>
          <p:cNvSpPr>
            <a:spLocks noGrp="1"/>
          </p:cNvSpPr>
          <p:nvPr>
            <p:ph type="subTitle" idx="1"/>
          </p:nvPr>
        </p:nvSpPr>
        <p:spPr>
          <a:xfrm>
            <a:off x="338658" y="2513255"/>
            <a:ext cx="7141464" cy="705321"/>
          </a:xfrm>
        </p:spPr>
        <p:txBody>
          <a:bodyPr/>
          <a:lstStyle/>
          <a:p>
            <a:r>
              <a:rPr lang="en-US" dirty="0"/>
              <a:t>Sellers + SAs PODs (US &amp; Canada)</a:t>
            </a:r>
          </a:p>
          <a:p>
            <a:r>
              <a:rPr lang="en-US" sz="1400" i="1" dirty="0"/>
              <a:t>January 2026</a:t>
            </a:r>
          </a:p>
        </p:txBody>
      </p:sp>
      <p:sp>
        <p:nvSpPr>
          <p:cNvPr id="4" name="Text Placeholder 3">
            <a:extLst>
              <a:ext uri="{FF2B5EF4-FFF2-40B4-BE49-F238E27FC236}">
                <a16:creationId xmlns:a16="http://schemas.microsoft.com/office/drawing/2014/main" id="{398E971A-ED26-532A-D5A2-50F80902328F}"/>
              </a:ext>
            </a:extLst>
          </p:cNvPr>
          <p:cNvSpPr>
            <a:spLocks noGrp="1"/>
          </p:cNvSpPr>
          <p:nvPr>
            <p:ph type="body" sz="quarter" idx="10"/>
          </p:nvPr>
        </p:nvSpPr>
        <p:spPr>
          <a:xfrm>
            <a:off x="348870" y="4901789"/>
            <a:ext cx="5686425" cy="643766"/>
          </a:xfrm>
        </p:spPr>
        <p:txBody>
          <a:bodyPr/>
          <a:lstStyle/>
          <a:p>
            <a:r>
              <a:rPr lang="en-US" dirty="0"/>
              <a:t>Alex Gheyouche</a:t>
            </a:r>
          </a:p>
          <a:p>
            <a:r>
              <a:rPr lang="en-US" dirty="0"/>
              <a:t>Microsoft Partner Sales Manager, North America</a:t>
            </a:r>
          </a:p>
        </p:txBody>
      </p:sp>
    </p:spTree>
    <p:extLst>
      <p:ext uri="{BB962C8B-B14F-4D97-AF65-F5344CB8AC3E}">
        <p14:creationId xmlns:p14="http://schemas.microsoft.com/office/powerpoint/2010/main" val="3048546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E475A-B7BF-F768-4500-83D478AE3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A9F33-098E-54AE-225A-FE1C5E7B0523}"/>
              </a:ext>
            </a:extLst>
          </p:cNvPr>
          <p:cNvSpPr>
            <a:spLocks noGrp="1"/>
          </p:cNvSpPr>
          <p:nvPr>
            <p:ph type="ctrTitle"/>
          </p:nvPr>
        </p:nvSpPr>
        <p:spPr>
          <a:xfrm>
            <a:off x="323545" y="261787"/>
            <a:ext cx="7141464" cy="403059"/>
          </a:xfrm>
        </p:spPr>
        <p:txBody>
          <a:bodyPr/>
          <a:lstStyle/>
          <a:p>
            <a:r>
              <a:rPr lang="en-US" sz="2800" b="1" dirty="0"/>
              <a:t>AGENDA</a:t>
            </a:r>
          </a:p>
        </p:txBody>
      </p:sp>
      <p:graphicFrame>
        <p:nvGraphicFramePr>
          <p:cNvPr id="5" name="Table 4">
            <a:extLst>
              <a:ext uri="{FF2B5EF4-FFF2-40B4-BE49-F238E27FC236}">
                <a16:creationId xmlns:a16="http://schemas.microsoft.com/office/drawing/2014/main" id="{0AF82505-A62E-82EC-48D4-9556B11DA0B6}"/>
              </a:ext>
            </a:extLst>
          </p:cNvPr>
          <p:cNvGraphicFramePr>
            <a:graphicFrameLocks noGrp="1"/>
          </p:cNvGraphicFramePr>
          <p:nvPr>
            <p:extLst>
              <p:ext uri="{D42A27DB-BD31-4B8C-83A1-F6EECF244321}">
                <p14:modId xmlns:p14="http://schemas.microsoft.com/office/powerpoint/2010/main" val="3482990420"/>
              </p:ext>
            </p:extLst>
          </p:nvPr>
        </p:nvGraphicFramePr>
        <p:xfrm>
          <a:off x="734759" y="1488575"/>
          <a:ext cx="5494803" cy="4041059"/>
        </p:xfrm>
        <a:graphic>
          <a:graphicData uri="http://schemas.openxmlformats.org/drawingml/2006/table">
            <a:tbl>
              <a:tblPr>
                <a:tableStyleId>{5C22544A-7EE6-4342-B048-85BDC9FD1C3A}</a:tableStyleId>
              </a:tblPr>
              <a:tblGrid>
                <a:gridCol w="5494803">
                  <a:extLst>
                    <a:ext uri="{9D8B030D-6E8A-4147-A177-3AD203B41FA5}">
                      <a16:colId xmlns:a16="http://schemas.microsoft.com/office/drawing/2014/main" val="3832668396"/>
                    </a:ext>
                  </a:extLst>
                </a:gridCol>
              </a:tblGrid>
              <a:tr h="511278">
                <a:tc>
                  <a:txBody>
                    <a:bodyPr/>
                    <a:lstStyle/>
                    <a:p>
                      <a:pPr lvl="0">
                        <a:buNone/>
                      </a:pPr>
                      <a:r>
                        <a:rPr lang="en-US" sz="1800" b="0" i="0" u="none" strike="noStrike" noProof="0" dirty="0">
                          <a:latin typeface="+mn-lt"/>
                        </a:rPr>
                        <a:t>Microsoft Referrals in SFDC</a:t>
                      </a:r>
                      <a:endParaRPr lang="en-US" sz="1800" dirty="0">
                        <a:latin typeface="+mn-lt"/>
                      </a:endParaRP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8900445"/>
                  </a:ext>
                </a:extLst>
              </a:tr>
              <a:tr h="5014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noProof="0" dirty="0">
                          <a:solidFill>
                            <a:srgbClr val="000000"/>
                          </a:solidFill>
                          <a:latin typeface="+mn-lt"/>
                        </a:rPr>
                        <a:t>Available Funding | Azure</a:t>
                      </a: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7798364"/>
                  </a:ext>
                </a:extLst>
              </a:tr>
              <a:tr h="5014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noProof="0" dirty="0">
                          <a:latin typeface="+mn-lt"/>
                        </a:rPr>
                        <a:t>Partner nominated vs ECIF Funding </a:t>
                      </a:r>
                      <a:endParaRPr lang="en-US" sz="1800" dirty="0">
                        <a:latin typeface="+mn-lt"/>
                      </a:endParaRP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6307506"/>
                  </a:ext>
                </a:extLst>
              </a:tr>
              <a:tr h="501445">
                <a:tc>
                  <a:txBody>
                    <a:bodyPr/>
                    <a:lstStyle/>
                    <a:p>
                      <a:pPr marL="0" marR="0" lvl="0" indent="0" algn="l" rtl="0" eaLnBrk="1" fontAlgn="auto" latinLnBrk="0" hangingPunct="1">
                        <a:lnSpc>
                          <a:spcPct val="100000"/>
                        </a:lnSpc>
                        <a:spcBef>
                          <a:spcPts val="0"/>
                        </a:spcBef>
                        <a:spcAft>
                          <a:spcPts val="0"/>
                        </a:spcAft>
                        <a:buClrTx/>
                        <a:buSzTx/>
                        <a:buFontTx/>
                        <a:buNone/>
                      </a:pPr>
                      <a:r>
                        <a:rPr lang="en-US" sz="1800" dirty="0">
                          <a:latin typeface="+mn-lt"/>
                        </a:rPr>
                        <a:t>New Alliance-led Funding Process</a:t>
                      </a: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98609"/>
                  </a:ext>
                </a:extLst>
              </a:tr>
              <a:tr h="501445">
                <a:tc>
                  <a:txBody>
                    <a:bodyPr/>
                    <a:lstStyle/>
                    <a:p>
                      <a:pPr marL="0" marR="0" lvl="0" indent="0" algn="l" rtl="0" eaLnBrk="1" fontAlgn="auto" latinLnBrk="0" hangingPunct="1">
                        <a:lnSpc>
                          <a:spcPct val="100000"/>
                        </a:lnSpc>
                        <a:spcBef>
                          <a:spcPts val="0"/>
                        </a:spcBef>
                        <a:spcAft>
                          <a:spcPts val="0"/>
                        </a:spcAft>
                        <a:buClrTx/>
                        <a:buSzTx/>
                        <a:buFontTx/>
                        <a:buNone/>
                      </a:pPr>
                      <a:r>
                        <a:rPr lang="en-US" sz="1800" dirty="0">
                          <a:latin typeface="+mn-lt"/>
                        </a:rPr>
                        <a:t>Proof of Execution Owners and Roles</a:t>
                      </a: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4471744"/>
                  </a:ext>
                </a:extLst>
              </a:tr>
              <a:tr h="521109">
                <a:tc>
                  <a:txBody>
                    <a:bodyPr/>
                    <a:lstStyle/>
                    <a:p>
                      <a:pPr marL="0" marR="0" lvl="0" indent="0" algn="l" rtl="0" eaLnBrk="1" fontAlgn="auto" latinLnBrk="0" hangingPunct="1">
                        <a:lnSpc>
                          <a:spcPct val="100000"/>
                        </a:lnSpc>
                        <a:spcBef>
                          <a:spcPts val="0"/>
                        </a:spcBef>
                        <a:spcAft>
                          <a:spcPts val="0"/>
                        </a:spcAft>
                        <a:buClrTx/>
                        <a:buSzTx/>
                        <a:buFontTx/>
                        <a:buNone/>
                      </a:pPr>
                      <a:r>
                        <a:rPr lang="en-US" sz="1800" b="0" i="0" u="none" strike="noStrike" noProof="0" dirty="0">
                          <a:solidFill>
                            <a:srgbClr val="000000"/>
                          </a:solidFill>
                          <a:latin typeface="+mn-lt"/>
                        </a:rPr>
                        <a:t>Program Nuances</a:t>
                      </a: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0089420"/>
                  </a:ext>
                </a:extLst>
              </a:tr>
              <a:tr h="501446">
                <a:tc>
                  <a:txBody>
                    <a:bodyPr/>
                    <a:lstStyle/>
                    <a:p>
                      <a:pPr marL="0" marR="0" lvl="0" indent="0" algn="l">
                        <a:lnSpc>
                          <a:spcPct val="100000"/>
                        </a:lnSpc>
                        <a:spcBef>
                          <a:spcPts val="0"/>
                        </a:spcBef>
                        <a:spcAft>
                          <a:spcPts val="0"/>
                        </a:spcAft>
                        <a:buNone/>
                      </a:pPr>
                      <a:r>
                        <a:rPr lang="en-US" sz="1800" b="0" i="0" u="none" strike="noStrike" noProof="0" dirty="0">
                          <a:solidFill>
                            <a:srgbClr val="000000"/>
                          </a:solidFill>
                          <a:latin typeface="+mn-lt"/>
                        </a:rPr>
                        <a:t>SoW in Action</a:t>
                      </a: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54788"/>
                  </a:ext>
                </a:extLst>
              </a:tr>
              <a:tr h="5014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n-NO" sz="1800" b="0" i="0" u="none" strike="noStrike" noProof="0" dirty="0">
                          <a:solidFill>
                            <a:srgbClr val="000000"/>
                          </a:solidFill>
                          <a:latin typeface="+mn-lt"/>
                        </a:rPr>
                        <a:t>Microsoft AZURE Funding Intake Form</a:t>
                      </a:r>
                      <a:endParaRPr lang="en-US" sz="1800" b="0" i="0" u="none" strike="noStrike" noProof="0" dirty="0">
                        <a:solidFill>
                          <a:srgbClr val="000000"/>
                        </a:solidFill>
                        <a:latin typeface="+mn-lt"/>
                      </a:endParaRPr>
                    </a:p>
                  </a:txBody>
                  <a:tcPr anchor="ctr">
                    <a:lnL w="12700" cmpd="sng">
                      <a:noFill/>
                    </a:lnL>
                    <a:lnR w="12700" cmpd="sng">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511491"/>
                  </a:ext>
                </a:extLst>
              </a:tr>
            </a:tbl>
          </a:graphicData>
        </a:graphic>
      </p:graphicFrame>
    </p:spTree>
    <p:extLst>
      <p:ext uri="{BB962C8B-B14F-4D97-AF65-F5344CB8AC3E}">
        <p14:creationId xmlns:p14="http://schemas.microsoft.com/office/powerpoint/2010/main" val="3076265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D1064-917C-4FF1-0304-3226E83CEAB4}"/>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248065D8-C298-A580-36E2-CD3B72AE330E}"/>
              </a:ext>
            </a:extLst>
          </p:cNvPr>
          <p:cNvSpPr txBox="1">
            <a:spLocks/>
          </p:cNvSpPr>
          <p:nvPr/>
        </p:nvSpPr>
        <p:spPr>
          <a:xfrm>
            <a:off x="178916" y="58635"/>
            <a:ext cx="11568700" cy="1325563"/>
          </a:xfrm>
        </p:spPr>
        <p:txBody>
          <a:bodyPr lIns="91440" tIns="45720" rIns="91440" bIns="45720" anchor="t"/>
          <a:lst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a:lstStyle>
          <a:p>
            <a:r>
              <a:rPr lang="en-US" sz="3100" b="1" dirty="0">
                <a:solidFill>
                  <a:schemeClr val="bg1"/>
                </a:solidFill>
                <a:ea typeface="+mj-lt"/>
                <a:cs typeface="+mj-lt"/>
              </a:rPr>
              <a:t>Microsoft Referrals in SFDC </a:t>
            </a:r>
          </a:p>
          <a:p>
            <a:r>
              <a:rPr lang="en-US" sz="2400" b="1" i="1" dirty="0">
                <a:solidFill>
                  <a:schemeClr val="bg1">
                    <a:lumMod val="65000"/>
                  </a:schemeClr>
                </a:solidFill>
                <a:ea typeface="+mj-lt"/>
                <a:cs typeface="+mj-lt"/>
              </a:rPr>
              <a:t>MindTickle Training Video </a:t>
            </a:r>
            <a:endParaRPr lang="en-US" sz="2400" b="1" i="1" dirty="0">
              <a:solidFill>
                <a:schemeClr val="bg1">
                  <a:lumMod val="65000"/>
                </a:schemeClr>
              </a:solidFill>
            </a:endParaRPr>
          </a:p>
        </p:txBody>
      </p:sp>
      <p:pic>
        <p:nvPicPr>
          <p:cNvPr id="8" name="Picture 7">
            <a:extLst>
              <a:ext uri="{FF2B5EF4-FFF2-40B4-BE49-F238E27FC236}">
                <a16:creationId xmlns:a16="http://schemas.microsoft.com/office/drawing/2014/main" id="{5C44C3C1-9B02-F601-CC3C-8A740F46B617}"/>
              </a:ext>
            </a:extLst>
          </p:cNvPr>
          <p:cNvPicPr>
            <a:picLocks noChangeAspect="1"/>
          </p:cNvPicPr>
          <p:nvPr/>
        </p:nvPicPr>
        <p:blipFill>
          <a:blip r:embed="rId3"/>
          <a:stretch>
            <a:fillRect/>
          </a:stretch>
        </p:blipFill>
        <p:spPr>
          <a:xfrm>
            <a:off x="683491" y="1217015"/>
            <a:ext cx="10825018" cy="4715222"/>
          </a:xfrm>
          <a:prstGeom prst="rect">
            <a:avLst/>
          </a:prstGeom>
          <a:ln>
            <a:solidFill>
              <a:schemeClr val="tx2"/>
            </a:solidFill>
          </a:ln>
        </p:spPr>
      </p:pic>
      <p:sp>
        <p:nvSpPr>
          <p:cNvPr id="9" name="Rectangle: Rounded Corners 8">
            <a:extLst>
              <a:ext uri="{FF2B5EF4-FFF2-40B4-BE49-F238E27FC236}">
                <a16:creationId xmlns:a16="http://schemas.microsoft.com/office/drawing/2014/main" id="{876F9A92-005D-89D4-2656-403FDEC26F7D}"/>
              </a:ext>
            </a:extLst>
          </p:cNvPr>
          <p:cNvSpPr/>
          <p:nvPr/>
        </p:nvSpPr>
        <p:spPr>
          <a:xfrm>
            <a:off x="3736643" y="6172673"/>
            <a:ext cx="7771866" cy="552379"/>
          </a:xfrm>
          <a:prstGeom prst="roundRect">
            <a:avLst/>
          </a:prstGeom>
          <a:solidFill>
            <a:srgbClr val="FFFFCC"/>
          </a:solidFill>
          <a:ln w="19050">
            <a:solidFill>
              <a:srgbClr val="EB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00FF"/>
                </a:solidFill>
                <a:hlinkClick r:id="rId4">
                  <a:extLst>
                    <a:ext uri="{A12FA001-AC4F-418D-AE19-62706E023703}">
                      <ahyp:hlinkClr xmlns:ahyp="http://schemas.microsoft.com/office/drawing/2018/hyperlinkcolor" val="tx"/>
                    </a:ext>
                  </a:extLst>
                </a:hlinkClick>
              </a:rPr>
              <a:t>Salesforce Microsoft Referrals MindTickle Training</a:t>
            </a:r>
            <a:endParaRPr lang="en-US" sz="2400" dirty="0">
              <a:solidFill>
                <a:srgbClr val="0000FF"/>
              </a:solidFill>
            </a:endParaRPr>
          </a:p>
        </p:txBody>
      </p:sp>
    </p:spTree>
    <p:extLst>
      <p:ext uri="{BB962C8B-B14F-4D97-AF65-F5344CB8AC3E}">
        <p14:creationId xmlns:p14="http://schemas.microsoft.com/office/powerpoint/2010/main" val="317101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56357-35AE-A943-8485-7214B8A410D7}"/>
            </a:ext>
          </a:extLst>
        </p:cNvPr>
        <p:cNvGrpSpPr/>
        <p:nvPr/>
      </p:nvGrpSpPr>
      <p:grpSpPr>
        <a:xfrm>
          <a:off x="0" y="0"/>
          <a:ext cx="0" cy="0"/>
          <a:chOff x="0" y="0"/>
          <a:chExt cx="0" cy="0"/>
        </a:xfrm>
      </p:grpSpPr>
      <p:graphicFrame>
        <p:nvGraphicFramePr>
          <p:cNvPr id="7" name="Content Placeholder 4">
            <a:extLst>
              <a:ext uri="{FF2B5EF4-FFF2-40B4-BE49-F238E27FC236}">
                <a16:creationId xmlns:a16="http://schemas.microsoft.com/office/drawing/2014/main" id="{8618DDDC-4D09-77CB-E67D-266D12CAA314}"/>
              </a:ext>
            </a:extLst>
          </p:cNvPr>
          <p:cNvGraphicFramePr>
            <a:graphicFrameLocks noGrp="1"/>
          </p:cNvGraphicFramePr>
          <p:nvPr>
            <p:ph idx="1"/>
          </p:nvPr>
        </p:nvGraphicFramePr>
        <p:xfrm>
          <a:off x="0" y="0"/>
          <a:ext cx="0" cy="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 name="Content Placeholder 4">
            <a:extLst>
              <a:ext uri="{FF2B5EF4-FFF2-40B4-BE49-F238E27FC236}">
                <a16:creationId xmlns:a16="http://schemas.microsoft.com/office/drawing/2014/main" id="{24409B9B-7E52-8C5A-6657-25F3D37E6F8C}"/>
              </a:ext>
            </a:extLst>
          </p:cNvPr>
          <p:cNvGraphicFramePr>
            <a:graphicFrameLocks noGrp="1"/>
          </p:cNvGraphicFramePr>
          <p:nvPr/>
        </p:nvGraphicFramePr>
        <p:xfrm>
          <a:off x="838200" y="1690688"/>
          <a:ext cx="10515600" cy="435133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9" name="Title 1">
            <a:extLst>
              <a:ext uri="{FF2B5EF4-FFF2-40B4-BE49-F238E27FC236}">
                <a16:creationId xmlns:a16="http://schemas.microsoft.com/office/drawing/2014/main" id="{5DA032AC-4F3D-2523-530C-274F1DC3CE92}"/>
              </a:ext>
            </a:extLst>
          </p:cNvPr>
          <p:cNvSpPr>
            <a:spLocks noGrp="1"/>
          </p:cNvSpPr>
          <p:nvPr>
            <p:ph type="title"/>
          </p:nvPr>
        </p:nvSpPr>
        <p:spPr>
          <a:xfrm>
            <a:off x="334496" y="268589"/>
            <a:ext cx="11495554" cy="484043"/>
          </a:xfrm>
        </p:spPr>
        <p:txBody>
          <a:bodyPr/>
          <a:lstStyle/>
          <a:p>
            <a:r>
              <a:rPr lang="en-US" b="1" dirty="0"/>
              <a:t>Azure Funding (</a:t>
            </a:r>
            <a:r>
              <a:rPr lang="en-US" b="1" u="sng" dirty="0"/>
              <a:t>Pre</a:t>
            </a:r>
            <a:r>
              <a:rPr lang="en-US" b="1" dirty="0"/>
              <a:t>-Sales + </a:t>
            </a:r>
            <a:r>
              <a:rPr lang="en-US" b="1" u="sng" dirty="0"/>
              <a:t>Post</a:t>
            </a:r>
            <a:r>
              <a:rPr lang="en-US" b="1" dirty="0"/>
              <a:t>-Sales)</a:t>
            </a:r>
          </a:p>
        </p:txBody>
      </p:sp>
    </p:spTree>
    <p:extLst>
      <p:ext uri="{BB962C8B-B14F-4D97-AF65-F5344CB8AC3E}">
        <p14:creationId xmlns:p14="http://schemas.microsoft.com/office/powerpoint/2010/main" val="3384510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24642-CF19-4CD6-51A9-4E32BB82C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9F05BB-2B7C-F710-5538-4C5F8AE414B5}"/>
              </a:ext>
            </a:extLst>
          </p:cNvPr>
          <p:cNvSpPr>
            <a:spLocks noGrp="1"/>
          </p:cNvSpPr>
          <p:nvPr>
            <p:ph type="title"/>
          </p:nvPr>
        </p:nvSpPr>
        <p:spPr>
          <a:xfrm>
            <a:off x="334496" y="268589"/>
            <a:ext cx="11495554" cy="484043"/>
          </a:xfrm>
        </p:spPr>
        <p:txBody>
          <a:bodyPr/>
          <a:lstStyle/>
          <a:p>
            <a:r>
              <a:rPr lang="en-US" b="1" dirty="0"/>
              <a:t>Azure Accelerate: Supported Activities by Phase</a:t>
            </a:r>
          </a:p>
        </p:txBody>
      </p:sp>
      <p:sp>
        <p:nvSpPr>
          <p:cNvPr id="3" name="Slide Number Placeholder 2">
            <a:extLst>
              <a:ext uri="{FF2B5EF4-FFF2-40B4-BE49-F238E27FC236}">
                <a16:creationId xmlns:a16="http://schemas.microsoft.com/office/drawing/2014/main" id="{D12AC890-3EB0-98E7-8FF6-4459B2AB112E}"/>
              </a:ext>
            </a:extLst>
          </p:cNvPr>
          <p:cNvSpPr>
            <a:spLocks noGrp="1"/>
          </p:cNvSpPr>
          <p:nvPr>
            <p:ph type="sldNum" sz="quarter" idx="4"/>
          </p:nvPr>
        </p:nvSpPr>
        <p:spPr/>
        <p:txBody>
          <a:bodyPr/>
          <a:lstStyle/>
          <a:p>
            <a:fld id="{762E77F0-FB5B-4E8E-9BC9-34F14560A017}" type="slidenum">
              <a:rPr lang="en-US" smtClean="0"/>
              <a:pPr/>
              <a:t>5</a:t>
            </a:fld>
            <a:endParaRPr lang="en-US"/>
          </a:p>
        </p:txBody>
      </p:sp>
      <p:grpSp>
        <p:nvGrpSpPr>
          <p:cNvPr id="4" name="object 10">
            <a:extLst>
              <a:ext uri="{FF2B5EF4-FFF2-40B4-BE49-F238E27FC236}">
                <a16:creationId xmlns:a16="http://schemas.microsoft.com/office/drawing/2014/main" id="{B487C8C2-A491-94E7-2715-DD2CE5A0CE1C}"/>
              </a:ext>
            </a:extLst>
          </p:cNvPr>
          <p:cNvGrpSpPr/>
          <p:nvPr/>
        </p:nvGrpSpPr>
        <p:grpSpPr>
          <a:xfrm>
            <a:off x="432816" y="2409387"/>
            <a:ext cx="5571490" cy="604520"/>
            <a:chOff x="432816" y="1504226"/>
            <a:chExt cx="5571490" cy="604520"/>
          </a:xfrm>
        </p:grpSpPr>
        <p:pic>
          <p:nvPicPr>
            <p:cNvPr id="5" name="object 11">
              <a:extLst>
                <a:ext uri="{FF2B5EF4-FFF2-40B4-BE49-F238E27FC236}">
                  <a16:creationId xmlns:a16="http://schemas.microsoft.com/office/drawing/2014/main" id="{B6AA8C16-5A56-4295-D30C-D7745D4B576F}"/>
                </a:ext>
              </a:extLst>
            </p:cNvPr>
            <p:cNvPicPr/>
            <p:nvPr/>
          </p:nvPicPr>
          <p:blipFill>
            <a:blip r:embed="rId2" cstate="print"/>
            <a:stretch>
              <a:fillRect/>
            </a:stretch>
          </p:blipFill>
          <p:spPr>
            <a:xfrm>
              <a:off x="432816" y="1504226"/>
              <a:ext cx="5570982" cy="544791"/>
            </a:xfrm>
            <a:prstGeom prst="rect">
              <a:avLst/>
            </a:prstGeom>
          </p:spPr>
        </p:pic>
        <p:pic>
          <p:nvPicPr>
            <p:cNvPr id="6" name="object 12">
              <a:extLst>
                <a:ext uri="{FF2B5EF4-FFF2-40B4-BE49-F238E27FC236}">
                  <a16:creationId xmlns:a16="http://schemas.microsoft.com/office/drawing/2014/main" id="{56C87ECC-204D-74A8-E4F0-F62BCDF37267}"/>
                </a:ext>
              </a:extLst>
            </p:cNvPr>
            <p:cNvPicPr/>
            <p:nvPr/>
          </p:nvPicPr>
          <p:blipFill>
            <a:blip r:embed="rId3" cstate="print"/>
            <a:stretch>
              <a:fillRect/>
            </a:stretch>
          </p:blipFill>
          <p:spPr>
            <a:xfrm>
              <a:off x="2808732" y="1505648"/>
              <a:ext cx="817613" cy="602678"/>
            </a:xfrm>
            <a:prstGeom prst="rect">
              <a:avLst/>
            </a:prstGeom>
          </p:spPr>
        </p:pic>
        <p:pic>
          <p:nvPicPr>
            <p:cNvPr id="7" name="object 13">
              <a:extLst>
                <a:ext uri="{FF2B5EF4-FFF2-40B4-BE49-F238E27FC236}">
                  <a16:creationId xmlns:a16="http://schemas.microsoft.com/office/drawing/2014/main" id="{98E427F7-62A4-1AE3-A501-A6DA76552B2A}"/>
                </a:ext>
              </a:extLst>
            </p:cNvPr>
            <p:cNvPicPr/>
            <p:nvPr/>
          </p:nvPicPr>
          <p:blipFill>
            <a:blip r:embed="rId4" cstate="print"/>
            <a:stretch>
              <a:fillRect/>
            </a:stretch>
          </p:blipFill>
          <p:spPr>
            <a:xfrm>
              <a:off x="496824" y="1568958"/>
              <a:ext cx="5394960" cy="367918"/>
            </a:xfrm>
            <a:prstGeom prst="rect">
              <a:avLst/>
            </a:prstGeom>
            <a:solidFill>
              <a:schemeClr val="bg1"/>
            </a:solidFill>
          </p:spPr>
        </p:pic>
      </p:grpSp>
      <p:sp>
        <p:nvSpPr>
          <p:cNvPr id="8" name="object 14">
            <a:extLst>
              <a:ext uri="{FF2B5EF4-FFF2-40B4-BE49-F238E27FC236}">
                <a16:creationId xmlns:a16="http://schemas.microsoft.com/office/drawing/2014/main" id="{91ECC6C4-6AA3-5AFE-2CBD-DA88613C00B9}"/>
              </a:ext>
            </a:extLst>
          </p:cNvPr>
          <p:cNvSpPr txBox="1"/>
          <p:nvPr/>
        </p:nvSpPr>
        <p:spPr>
          <a:xfrm>
            <a:off x="2305391" y="2522252"/>
            <a:ext cx="1826340" cy="258404"/>
          </a:xfrm>
          <a:prstGeom prst="rect">
            <a:avLst/>
          </a:prstGeom>
        </p:spPr>
        <p:txBody>
          <a:bodyPr vert="horz" wrap="square" lIns="0" tIns="12065" rIns="0" bIns="0" rtlCol="0">
            <a:spAutoFit/>
          </a:bodyPr>
          <a:lstStyle/>
          <a:p>
            <a:pPr marL="12700">
              <a:lnSpc>
                <a:spcPct val="100000"/>
              </a:lnSpc>
              <a:spcBef>
                <a:spcPts val="95"/>
              </a:spcBef>
            </a:pPr>
            <a:r>
              <a:rPr sz="1600" b="1" spc="30" dirty="0">
                <a:solidFill>
                  <a:srgbClr val="FFFFFF"/>
                </a:solidFill>
                <a:latin typeface="Calibri"/>
                <a:cs typeface="Calibri"/>
              </a:rPr>
              <a:t>Plan</a:t>
            </a:r>
            <a:r>
              <a:rPr lang="en-US" sz="1600" b="1" spc="30" dirty="0">
                <a:solidFill>
                  <a:srgbClr val="FFFFFF"/>
                </a:solidFill>
                <a:latin typeface="Calibri"/>
                <a:cs typeface="Calibri"/>
              </a:rPr>
              <a:t> [</a:t>
            </a:r>
            <a:r>
              <a:rPr lang="en-US" sz="1600" b="1" u="sng" spc="30" dirty="0">
                <a:solidFill>
                  <a:srgbClr val="FFFFFF"/>
                </a:solidFill>
                <a:latin typeface="Calibri"/>
                <a:cs typeface="Calibri"/>
              </a:rPr>
              <a:t>Pre</a:t>
            </a:r>
            <a:r>
              <a:rPr lang="en-US" sz="1600" b="1" spc="30" dirty="0">
                <a:solidFill>
                  <a:srgbClr val="FFFFFF"/>
                </a:solidFill>
                <a:latin typeface="Calibri"/>
                <a:cs typeface="Calibri"/>
              </a:rPr>
              <a:t>-Sales]</a:t>
            </a:r>
            <a:endParaRPr sz="1600" dirty="0">
              <a:latin typeface="Calibri"/>
              <a:cs typeface="Calibri"/>
            </a:endParaRPr>
          </a:p>
        </p:txBody>
      </p:sp>
      <p:grpSp>
        <p:nvGrpSpPr>
          <p:cNvPr id="10" name="object 16">
            <a:extLst>
              <a:ext uri="{FF2B5EF4-FFF2-40B4-BE49-F238E27FC236}">
                <a16:creationId xmlns:a16="http://schemas.microsoft.com/office/drawing/2014/main" id="{668C21AE-0E60-49C5-5816-530BD92B47F8}"/>
              </a:ext>
            </a:extLst>
          </p:cNvPr>
          <p:cNvGrpSpPr/>
          <p:nvPr/>
        </p:nvGrpSpPr>
        <p:grpSpPr>
          <a:xfrm>
            <a:off x="6249923" y="2413959"/>
            <a:ext cx="5571490" cy="604520"/>
            <a:chOff x="6249923" y="1508798"/>
            <a:chExt cx="5571490" cy="604520"/>
          </a:xfrm>
        </p:grpSpPr>
        <p:pic>
          <p:nvPicPr>
            <p:cNvPr id="11" name="object 17">
              <a:extLst>
                <a:ext uri="{FF2B5EF4-FFF2-40B4-BE49-F238E27FC236}">
                  <a16:creationId xmlns:a16="http://schemas.microsoft.com/office/drawing/2014/main" id="{954FFC57-35B7-6B60-6000-B74C8FBC3002}"/>
                </a:ext>
              </a:extLst>
            </p:cNvPr>
            <p:cNvPicPr/>
            <p:nvPr/>
          </p:nvPicPr>
          <p:blipFill>
            <a:blip r:embed="rId5" cstate="print"/>
            <a:stretch>
              <a:fillRect/>
            </a:stretch>
          </p:blipFill>
          <p:spPr>
            <a:xfrm>
              <a:off x="6249923" y="1508798"/>
              <a:ext cx="5570982" cy="544791"/>
            </a:xfrm>
            <a:prstGeom prst="rect">
              <a:avLst/>
            </a:prstGeom>
          </p:spPr>
        </p:pic>
        <p:pic>
          <p:nvPicPr>
            <p:cNvPr id="12" name="object 18">
              <a:extLst>
                <a:ext uri="{FF2B5EF4-FFF2-40B4-BE49-F238E27FC236}">
                  <a16:creationId xmlns:a16="http://schemas.microsoft.com/office/drawing/2014/main" id="{0D636250-ACD4-F51A-0A08-9179019FDA47}"/>
                </a:ext>
              </a:extLst>
            </p:cNvPr>
            <p:cNvPicPr/>
            <p:nvPr/>
          </p:nvPicPr>
          <p:blipFill>
            <a:blip r:embed="rId6" cstate="print"/>
            <a:stretch>
              <a:fillRect/>
            </a:stretch>
          </p:blipFill>
          <p:spPr>
            <a:xfrm>
              <a:off x="8324088" y="1510220"/>
              <a:ext cx="1422653" cy="602678"/>
            </a:xfrm>
            <a:prstGeom prst="rect">
              <a:avLst/>
            </a:prstGeom>
          </p:spPr>
        </p:pic>
        <p:pic>
          <p:nvPicPr>
            <p:cNvPr id="13" name="object 19">
              <a:extLst>
                <a:ext uri="{FF2B5EF4-FFF2-40B4-BE49-F238E27FC236}">
                  <a16:creationId xmlns:a16="http://schemas.microsoft.com/office/drawing/2014/main" id="{FF6C357D-7133-B642-859C-DF498E2CD884}"/>
                </a:ext>
              </a:extLst>
            </p:cNvPr>
            <p:cNvPicPr/>
            <p:nvPr/>
          </p:nvPicPr>
          <p:blipFill>
            <a:blip r:embed="rId7" cstate="print"/>
            <a:stretch>
              <a:fillRect/>
            </a:stretch>
          </p:blipFill>
          <p:spPr>
            <a:xfrm>
              <a:off x="6314947" y="1573530"/>
              <a:ext cx="5394959" cy="367919"/>
            </a:xfrm>
            <a:prstGeom prst="rect">
              <a:avLst/>
            </a:prstGeom>
          </p:spPr>
        </p:pic>
      </p:grpSp>
      <p:sp>
        <p:nvSpPr>
          <p:cNvPr id="14" name="object 20">
            <a:extLst>
              <a:ext uri="{FF2B5EF4-FFF2-40B4-BE49-F238E27FC236}">
                <a16:creationId xmlns:a16="http://schemas.microsoft.com/office/drawing/2014/main" id="{F5E6985F-3002-34A6-9A7C-AB8B1DAEE225}"/>
              </a:ext>
            </a:extLst>
          </p:cNvPr>
          <p:cNvSpPr txBox="1"/>
          <p:nvPr/>
        </p:nvSpPr>
        <p:spPr>
          <a:xfrm>
            <a:off x="7700351" y="2526823"/>
            <a:ext cx="2459649" cy="517449"/>
          </a:xfrm>
          <a:prstGeom prst="rect">
            <a:avLst/>
          </a:prstGeom>
        </p:spPr>
        <p:txBody>
          <a:bodyPr vert="horz" wrap="square" lIns="0" tIns="12065" rIns="0" bIns="0" rtlCol="0">
            <a:spAutoFit/>
          </a:bodyPr>
          <a:lstStyle/>
          <a:p>
            <a:pPr marL="12700">
              <a:spcBef>
                <a:spcPts val="95"/>
              </a:spcBef>
            </a:pPr>
            <a:r>
              <a:rPr sz="1600" b="1" spc="50" dirty="0">
                <a:solidFill>
                  <a:srgbClr val="FFFFFF"/>
                </a:solidFill>
                <a:latin typeface="Calibri"/>
                <a:cs typeface="Calibri"/>
              </a:rPr>
              <a:t>Implement</a:t>
            </a:r>
            <a:r>
              <a:rPr lang="en-US" sz="1600" b="1" spc="50" dirty="0">
                <a:solidFill>
                  <a:srgbClr val="FFFFFF"/>
                </a:solidFill>
                <a:latin typeface="Calibri"/>
                <a:cs typeface="Calibri"/>
              </a:rPr>
              <a:t> </a:t>
            </a:r>
            <a:r>
              <a:rPr lang="en-US" sz="1600" b="1" spc="30" dirty="0">
                <a:solidFill>
                  <a:srgbClr val="FFFFFF"/>
                </a:solidFill>
                <a:latin typeface="Calibri"/>
                <a:cs typeface="Calibri"/>
              </a:rPr>
              <a:t> [</a:t>
            </a:r>
            <a:r>
              <a:rPr lang="en-US" sz="1600" b="1" u="sng" spc="30" dirty="0">
                <a:solidFill>
                  <a:srgbClr val="FFFFFF"/>
                </a:solidFill>
                <a:latin typeface="Calibri"/>
                <a:cs typeface="Calibri"/>
              </a:rPr>
              <a:t>Post</a:t>
            </a:r>
            <a:r>
              <a:rPr lang="en-US" sz="1600" b="1" spc="30" dirty="0">
                <a:solidFill>
                  <a:srgbClr val="FFFFFF"/>
                </a:solidFill>
                <a:latin typeface="Calibri"/>
                <a:cs typeface="Calibri"/>
              </a:rPr>
              <a:t>-Sales]</a:t>
            </a:r>
            <a:endParaRPr lang="en-US" sz="1600" dirty="0">
              <a:latin typeface="Calibri"/>
              <a:cs typeface="Calibri"/>
            </a:endParaRPr>
          </a:p>
          <a:p>
            <a:pPr marL="12700">
              <a:lnSpc>
                <a:spcPct val="100000"/>
              </a:lnSpc>
              <a:spcBef>
                <a:spcPts val="95"/>
              </a:spcBef>
            </a:pPr>
            <a:endParaRPr sz="1600" dirty="0">
              <a:latin typeface="Calibri"/>
              <a:cs typeface="Calibri"/>
            </a:endParaRPr>
          </a:p>
        </p:txBody>
      </p:sp>
      <p:sp>
        <p:nvSpPr>
          <p:cNvPr id="15" name="object 21">
            <a:extLst>
              <a:ext uri="{FF2B5EF4-FFF2-40B4-BE49-F238E27FC236}">
                <a16:creationId xmlns:a16="http://schemas.microsoft.com/office/drawing/2014/main" id="{E76421FF-CC8F-7D34-1A94-BAD84D3C8985}"/>
              </a:ext>
            </a:extLst>
          </p:cNvPr>
          <p:cNvSpPr txBox="1"/>
          <p:nvPr/>
        </p:nvSpPr>
        <p:spPr>
          <a:xfrm>
            <a:off x="6965442" y="3186482"/>
            <a:ext cx="4231640" cy="2921000"/>
          </a:xfrm>
          <a:prstGeom prst="rect">
            <a:avLst/>
          </a:prstGeom>
        </p:spPr>
        <p:txBody>
          <a:bodyPr vert="horz" wrap="square" lIns="0" tIns="35560" rIns="0" bIns="0" rtlCol="0">
            <a:spAutoFit/>
          </a:bodyPr>
          <a:lstStyle/>
          <a:p>
            <a:pPr marL="12700" marR="226695">
              <a:lnSpc>
                <a:spcPct val="107700"/>
              </a:lnSpc>
              <a:spcBef>
                <a:spcPts val="280"/>
              </a:spcBef>
            </a:pPr>
            <a:r>
              <a:rPr sz="1600" b="1" spc="85" dirty="0">
                <a:solidFill>
                  <a:schemeClr val="tx2"/>
                </a:solidFill>
                <a:latin typeface="Calibri"/>
                <a:cs typeface="Calibri"/>
              </a:rPr>
              <a:t>Landing</a:t>
            </a:r>
            <a:r>
              <a:rPr sz="1600" b="1" spc="170" dirty="0">
                <a:solidFill>
                  <a:schemeClr val="tx2"/>
                </a:solidFill>
                <a:latin typeface="Calibri"/>
                <a:cs typeface="Calibri"/>
              </a:rPr>
              <a:t> </a:t>
            </a:r>
            <a:r>
              <a:rPr sz="1600" b="1" spc="70" dirty="0">
                <a:solidFill>
                  <a:schemeClr val="tx2"/>
                </a:solidFill>
                <a:latin typeface="Calibri"/>
                <a:cs typeface="Calibri"/>
              </a:rPr>
              <a:t>zone</a:t>
            </a:r>
            <a:r>
              <a:rPr sz="1600" b="1" spc="160" dirty="0">
                <a:solidFill>
                  <a:schemeClr val="tx2"/>
                </a:solidFill>
                <a:latin typeface="Calibri"/>
                <a:cs typeface="Calibri"/>
              </a:rPr>
              <a:t> </a:t>
            </a:r>
            <a:r>
              <a:rPr sz="1600" b="1" spc="65" dirty="0">
                <a:solidFill>
                  <a:schemeClr val="tx2"/>
                </a:solidFill>
                <a:latin typeface="Calibri"/>
                <a:cs typeface="Calibri"/>
              </a:rPr>
              <a:t>build</a:t>
            </a:r>
            <a:r>
              <a:rPr sz="1600" b="1" spc="165" dirty="0">
                <a:solidFill>
                  <a:schemeClr val="tx2"/>
                </a:solidFill>
                <a:latin typeface="Calibri"/>
                <a:cs typeface="Calibri"/>
              </a:rPr>
              <a:t> </a:t>
            </a:r>
            <a:r>
              <a:rPr sz="1600" b="1" dirty="0">
                <a:solidFill>
                  <a:schemeClr val="tx2"/>
                </a:solidFill>
                <a:latin typeface="Calibri"/>
                <a:cs typeface="Calibri"/>
              </a:rPr>
              <a:t>(or</a:t>
            </a:r>
            <a:r>
              <a:rPr sz="1600" b="1" spc="150" dirty="0">
                <a:solidFill>
                  <a:schemeClr val="tx2"/>
                </a:solidFill>
                <a:latin typeface="Calibri"/>
                <a:cs typeface="Calibri"/>
              </a:rPr>
              <a:t> </a:t>
            </a:r>
            <a:r>
              <a:rPr sz="1600" b="1" dirty="0">
                <a:solidFill>
                  <a:schemeClr val="tx2"/>
                </a:solidFill>
                <a:latin typeface="Calibri"/>
                <a:cs typeface="Calibri"/>
              </a:rPr>
              <a:t>review</a:t>
            </a:r>
            <a:r>
              <a:rPr sz="1600" b="1" spc="160" dirty="0">
                <a:solidFill>
                  <a:schemeClr val="tx2"/>
                </a:solidFill>
                <a:latin typeface="Calibri"/>
                <a:cs typeface="Calibri"/>
              </a:rPr>
              <a:t> </a:t>
            </a:r>
            <a:r>
              <a:rPr sz="1600" b="1" spc="40" dirty="0">
                <a:solidFill>
                  <a:schemeClr val="tx2"/>
                </a:solidFill>
                <a:latin typeface="Calibri"/>
                <a:cs typeface="Calibri"/>
              </a:rPr>
              <a:t>existing)</a:t>
            </a:r>
            <a:r>
              <a:rPr sz="1600" b="1" spc="500" dirty="0">
                <a:solidFill>
                  <a:schemeClr val="tx2"/>
                </a:solidFill>
                <a:latin typeface="Calibri"/>
                <a:cs typeface="Calibri"/>
              </a:rPr>
              <a:t> </a:t>
            </a:r>
            <a:r>
              <a:rPr sz="1400" dirty="0">
                <a:latin typeface="Calibri"/>
                <a:cs typeface="Calibri"/>
              </a:rPr>
              <a:t>Build</a:t>
            </a:r>
            <a:r>
              <a:rPr sz="1400" spc="180" dirty="0">
                <a:latin typeface="Calibri"/>
                <a:cs typeface="Calibri"/>
              </a:rPr>
              <a:t> </a:t>
            </a:r>
            <a:r>
              <a:rPr sz="1400" dirty="0">
                <a:latin typeface="Calibri"/>
                <a:cs typeface="Calibri"/>
              </a:rPr>
              <a:t>an</a:t>
            </a:r>
            <a:r>
              <a:rPr sz="1400" spc="165" dirty="0">
                <a:latin typeface="Calibri"/>
                <a:cs typeface="Calibri"/>
              </a:rPr>
              <a:t> </a:t>
            </a:r>
            <a:r>
              <a:rPr sz="1400" dirty="0">
                <a:latin typeface="Calibri"/>
                <a:cs typeface="Calibri"/>
              </a:rPr>
              <a:t>enterprise</a:t>
            </a:r>
            <a:r>
              <a:rPr sz="1400" spc="185" dirty="0">
                <a:latin typeface="Calibri"/>
                <a:cs typeface="Calibri"/>
              </a:rPr>
              <a:t> </a:t>
            </a:r>
            <a:r>
              <a:rPr sz="1400" dirty="0">
                <a:latin typeface="Calibri"/>
                <a:cs typeface="Calibri"/>
              </a:rPr>
              <a:t>scale</a:t>
            </a:r>
            <a:r>
              <a:rPr sz="1400" spc="175" dirty="0">
                <a:latin typeface="Calibri"/>
                <a:cs typeface="Calibri"/>
              </a:rPr>
              <a:t> </a:t>
            </a:r>
            <a:r>
              <a:rPr sz="1400" spc="50" dirty="0">
                <a:latin typeface="Calibri"/>
                <a:cs typeface="Calibri"/>
              </a:rPr>
              <a:t>landing</a:t>
            </a:r>
            <a:r>
              <a:rPr sz="1400" spc="165" dirty="0">
                <a:latin typeface="Calibri"/>
                <a:cs typeface="Calibri"/>
              </a:rPr>
              <a:t> </a:t>
            </a:r>
            <a:r>
              <a:rPr sz="1400" spc="60" dirty="0">
                <a:latin typeface="Calibri"/>
                <a:cs typeface="Calibri"/>
              </a:rPr>
              <a:t>zone</a:t>
            </a:r>
            <a:r>
              <a:rPr sz="1400" spc="180" dirty="0">
                <a:latin typeface="Calibri"/>
                <a:cs typeface="Calibri"/>
              </a:rPr>
              <a:t> </a:t>
            </a:r>
            <a:r>
              <a:rPr sz="1400" dirty="0">
                <a:latin typeface="Calibri"/>
                <a:cs typeface="Calibri"/>
              </a:rPr>
              <a:t>that</a:t>
            </a:r>
            <a:r>
              <a:rPr sz="1400" spc="175" dirty="0">
                <a:latin typeface="Calibri"/>
                <a:cs typeface="Calibri"/>
              </a:rPr>
              <a:t> </a:t>
            </a:r>
            <a:r>
              <a:rPr sz="1400" dirty="0">
                <a:latin typeface="Calibri"/>
                <a:cs typeface="Calibri"/>
              </a:rPr>
              <a:t>is</a:t>
            </a:r>
            <a:r>
              <a:rPr sz="1400" spc="185" dirty="0">
                <a:latin typeface="Calibri"/>
                <a:cs typeface="Calibri"/>
              </a:rPr>
              <a:t> </a:t>
            </a:r>
            <a:r>
              <a:rPr sz="1400" spc="-10" dirty="0">
                <a:latin typeface="Calibri"/>
                <a:cs typeface="Calibri"/>
              </a:rPr>
              <a:t>ready </a:t>
            </a:r>
            <a:r>
              <a:rPr sz="1400" spc="10" dirty="0">
                <a:latin typeface="Calibri"/>
                <a:cs typeface="Calibri"/>
              </a:rPr>
              <a:t>to</a:t>
            </a:r>
            <a:r>
              <a:rPr sz="1400" spc="150" dirty="0">
                <a:latin typeface="Calibri"/>
                <a:cs typeface="Calibri"/>
              </a:rPr>
              <a:t> </a:t>
            </a:r>
            <a:r>
              <a:rPr sz="1400" spc="50" dirty="0">
                <a:latin typeface="Calibri"/>
                <a:cs typeface="Calibri"/>
              </a:rPr>
              <a:t>support</a:t>
            </a:r>
            <a:r>
              <a:rPr sz="1400" spc="120" dirty="0">
                <a:latin typeface="Calibri"/>
                <a:cs typeface="Calibri"/>
              </a:rPr>
              <a:t> </a:t>
            </a:r>
            <a:r>
              <a:rPr sz="1400" spc="10" dirty="0">
                <a:latin typeface="Calibri"/>
                <a:cs typeface="Calibri"/>
              </a:rPr>
              <a:t>your</a:t>
            </a:r>
            <a:r>
              <a:rPr sz="1400" spc="125" dirty="0">
                <a:latin typeface="Calibri"/>
                <a:cs typeface="Calibri"/>
              </a:rPr>
              <a:t> </a:t>
            </a:r>
            <a:r>
              <a:rPr sz="1400" spc="50" dirty="0">
                <a:latin typeface="Calibri"/>
                <a:cs typeface="Calibri"/>
              </a:rPr>
              <a:t>Azure</a:t>
            </a:r>
            <a:r>
              <a:rPr sz="1400" spc="140" dirty="0">
                <a:latin typeface="Calibri"/>
                <a:cs typeface="Calibri"/>
              </a:rPr>
              <a:t> </a:t>
            </a:r>
            <a:r>
              <a:rPr sz="1400" spc="10" dirty="0">
                <a:latin typeface="Calibri"/>
                <a:cs typeface="Calibri"/>
              </a:rPr>
              <a:t>workloads.</a:t>
            </a:r>
            <a:r>
              <a:rPr sz="1400" spc="114" dirty="0">
                <a:latin typeface="Calibri"/>
                <a:cs typeface="Calibri"/>
              </a:rPr>
              <a:t> </a:t>
            </a:r>
            <a:r>
              <a:rPr sz="1400" spc="50" dirty="0">
                <a:latin typeface="Calibri"/>
                <a:cs typeface="Calibri"/>
              </a:rPr>
              <a:t>Address</a:t>
            </a:r>
            <a:r>
              <a:rPr sz="1400" spc="150" dirty="0">
                <a:latin typeface="Calibri"/>
                <a:cs typeface="Calibri"/>
              </a:rPr>
              <a:t> </a:t>
            </a:r>
            <a:r>
              <a:rPr sz="1400" spc="50" dirty="0">
                <a:latin typeface="Calibri"/>
                <a:cs typeface="Calibri"/>
              </a:rPr>
              <a:t>design</a:t>
            </a:r>
            <a:endParaRPr sz="1400" dirty="0">
              <a:latin typeface="Calibri"/>
              <a:cs typeface="Calibri"/>
            </a:endParaRPr>
          </a:p>
          <a:p>
            <a:pPr marL="12700" marR="5080">
              <a:lnSpc>
                <a:spcPct val="100000"/>
              </a:lnSpc>
            </a:pPr>
            <a:r>
              <a:rPr sz="1400" spc="10" dirty="0">
                <a:latin typeface="Calibri"/>
                <a:cs typeface="Calibri"/>
              </a:rPr>
              <a:t>issues</a:t>
            </a:r>
            <a:r>
              <a:rPr sz="1400" spc="215" dirty="0">
                <a:latin typeface="Calibri"/>
                <a:cs typeface="Calibri"/>
              </a:rPr>
              <a:t> </a:t>
            </a:r>
            <a:r>
              <a:rPr sz="1400" spc="10" dirty="0">
                <a:latin typeface="Calibri"/>
                <a:cs typeface="Calibri"/>
              </a:rPr>
              <a:t>for</a:t>
            </a:r>
            <a:r>
              <a:rPr sz="1400" spc="210" dirty="0">
                <a:latin typeface="Calibri"/>
                <a:cs typeface="Calibri"/>
              </a:rPr>
              <a:t> </a:t>
            </a:r>
            <a:r>
              <a:rPr sz="1400" spc="10" dirty="0">
                <a:latin typeface="Calibri"/>
                <a:cs typeface="Calibri"/>
              </a:rPr>
              <a:t>identity,</a:t>
            </a:r>
            <a:r>
              <a:rPr sz="1400" spc="165" dirty="0">
                <a:latin typeface="Calibri"/>
                <a:cs typeface="Calibri"/>
              </a:rPr>
              <a:t> </a:t>
            </a:r>
            <a:r>
              <a:rPr sz="1400" spc="10" dirty="0">
                <a:latin typeface="Calibri"/>
                <a:cs typeface="Calibri"/>
              </a:rPr>
              <a:t>networking,</a:t>
            </a:r>
            <a:r>
              <a:rPr sz="1400" spc="190" dirty="0">
                <a:latin typeface="Calibri"/>
                <a:cs typeface="Calibri"/>
              </a:rPr>
              <a:t> </a:t>
            </a:r>
            <a:r>
              <a:rPr sz="1400" spc="10" dirty="0">
                <a:latin typeface="Calibri"/>
                <a:cs typeface="Calibri"/>
              </a:rPr>
              <a:t>security,</a:t>
            </a:r>
            <a:r>
              <a:rPr sz="1400" spc="185" dirty="0">
                <a:latin typeface="Calibri"/>
                <a:cs typeface="Calibri"/>
              </a:rPr>
              <a:t> </a:t>
            </a:r>
            <a:r>
              <a:rPr sz="1400" spc="35" dirty="0">
                <a:latin typeface="Calibri"/>
                <a:cs typeface="Calibri"/>
              </a:rPr>
              <a:t>management, </a:t>
            </a:r>
            <a:r>
              <a:rPr sz="1400" spc="55" dirty="0">
                <a:latin typeface="Calibri"/>
                <a:cs typeface="Calibri"/>
              </a:rPr>
              <a:t>and</a:t>
            </a:r>
            <a:r>
              <a:rPr sz="1400" spc="50" dirty="0">
                <a:latin typeface="Calibri"/>
                <a:cs typeface="Calibri"/>
              </a:rPr>
              <a:t> </a:t>
            </a:r>
            <a:r>
              <a:rPr sz="1400" spc="-10" dirty="0">
                <a:latin typeface="Calibri"/>
                <a:cs typeface="Calibri"/>
              </a:rPr>
              <a:t>governance.</a:t>
            </a:r>
            <a:endParaRPr sz="1400" dirty="0">
              <a:latin typeface="Calibri"/>
              <a:cs typeface="Calibri"/>
            </a:endParaRPr>
          </a:p>
          <a:p>
            <a:pPr>
              <a:lnSpc>
                <a:spcPct val="100000"/>
              </a:lnSpc>
              <a:spcBef>
                <a:spcPts val="615"/>
              </a:spcBef>
            </a:pPr>
            <a:endParaRPr sz="1400" dirty="0">
              <a:latin typeface="Calibri"/>
              <a:cs typeface="Calibri"/>
            </a:endParaRPr>
          </a:p>
          <a:p>
            <a:pPr marL="12700">
              <a:lnSpc>
                <a:spcPct val="100000"/>
              </a:lnSpc>
            </a:pPr>
            <a:r>
              <a:rPr sz="1600" b="1" spc="55" dirty="0">
                <a:solidFill>
                  <a:schemeClr val="tx2"/>
                </a:solidFill>
                <a:latin typeface="Calibri"/>
                <a:cs typeface="Calibri"/>
              </a:rPr>
              <a:t>Implementation</a:t>
            </a:r>
            <a:r>
              <a:rPr sz="1600" b="1" spc="140" dirty="0">
                <a:solidFill>
                  <a:schemeClr val="tx2"/>
                </a:solidFill>
                <a:latin typeface="Calibri"/>
                <a:cs typeface="Calibri"/>
              </a:rPr>
              <a:t> </a:t>
            </a:r>
            <a:r>
              <a:rPr sz="1600" b="1" spc="70" dirty="0">
                <a:solidFill>
                  <a:schemeClr val="tx2"/>
                </a:solidFill>
                <a:latin typeface="Calibri"/>
                <a:cs typeface="Calibri"/>
              </a:rPr>
              <a:t>and</a:t>
            </a:r>
            <a:r>
              <a:rPr sz="1600" b="1" spc="95" dirty="0">
                <a:solidFill>
                  <a:schemeClr val="tx2"/>
                </a:solidFill>
                <a:latin typeface="Calibri"/>
                <a:cs typeface="Calibri"/>
              </a:rPr>
              <a:t> </a:t>
            </a:r>
            <a:r>
              <a:rPr sz="1600" b="1" spc="150" dirty="0">
                <a:solidFill>
                  <a:schemeClr val="tx2"/>
                </a:solidFill>
                <a:latin typeface="Calibri"/>
                <a:cs typeface="Calibri"/>
              </a:rPr>
              <a:t>go-</a:t>
            </a:r>
            <a:r>
              <a:rPr sz="1600" b="1" spc="-20" dirty="0">
                <a:solidFill>
                  <a:schemeClr val="tx2"/>
                </a:solidFill>
                <a:latin typeface="Calibri"/>
                <a:cs typeface="Calibri"/>
              </a:rPr>
              <a:t>live</a:t>
            </a:r>
            <a:endParaRPr sz="1600" dirty="0">
              <a:solidFill>
                <a:schemeClr val="tx2"/>
              </a:solidFill>
              <a:latin typeface="Calibri"/>
              <a:cs typeface="Calibri"/>
            </a:endParaRPr>
          </a:p>
          <a:p>
            <a:pPr marL="12700">
              <a:lnSpc>
                <a:spcPct val="100000"/>
              </a:lnSpc>
              <a:spcBef>
                <a:spcPts val="295"/>
              </a:spcBef>
            </a:pPr>
            <a:r>
              <a:rPr sz="1400" dirty="0">
                <a:latin typeface="Calibri"/>
                <a:cs typeface="Calibri"/>
              </a:rPr>
              <a:t>Migrate</a:t>
            </a:r>
            <a:r>
              <a:rPr sz="1400" spc="145" dirty="0">
                <a:latin typeface="Calibri"/>
                <a:cs typeface="Calibri"/>
              </a:rPr>
              <a:t> </a:t>
            </a:r>
            <a:r>
              <a:rPr sz="1400" dirty="0">
                <a:latin typeface="Calibri"/>
                <a:cs typeface="Calibri"/>
              </a:rPr>
              <a:t>or</a:t>
            </a:r>
            <a:r>
              <a:rPr sz="1400" spc="180" dirty="0">
                <a:latin typeface="Calibri"/>
                <a:cs typeface="Calibri"/>
              </a:rPr>
              <a:t> </a:t>
            </a:r>
            <a:r>
              <a:rPr sz="1400" spc="50" dirty="0">
                <a:latin typeface="Calibri"/>
                <a:cs typeface="Calibri"/>
              </a:rPr>
              <a:t>modernize</a:t>
            </a:r>
            <a:r>
              <a:rPr sz="1400" spc="150" dirty="0">
                <a:latin typeface="Calibri"/>
                <a:cs typeface="Calibri"/>
              </a:rPr>
              <a:t> </a:t>
            </a:r>
            <a:r>
              <a:rPr sz="1400" spc="45" dirty="0">
                <a:latin typeface="Calibri"/>
                <a:cs typeface="Calibri"/>
              </a:rPr>
              <a:t>workloads</a:t>
            </a:r>
            <a:r>
              <a:rPr sz="1400" spc="155" dirty="0">
                <a:latin typeface="Calibri"/>
                <a:cs typeface="Calibri"/>
              </a:rPr>
              <a:t> </a:t>
            </a:r>
            <a:r>
              <a:rPr sz="1400" dirty="0">
                <a:latin typeface="Calibri"/>
                <a:cs typeface="Calibri"/>
              </a:rPr>
              <a:t>at</a:t>
            </a:r>
            <a:r>
              <a:rPr sz="1400" spc="160" dirty="0">
                <a:latin typeface="Calibri"/>
                <a:cs typeface="Calibri"/>
              </a:rPr>
              <a:t> </a:t>
            </a:r>
            <a:r>
              <a:rPr sz="1400" dirty="0">
                <a:latin typeface="Calibri"/>
                <a:cs typeface="Calibri"/>
              </a:rPr>
              <a:t>scale</a:t>
            </a:r>
            <a:r>
              <a:rPr sz="1400" spc="160" dirty="0">
                <a:latin typeface="Calibri"/>
                <a:cs typeface="Calibri"/>
              </a:rPr>
              <a:t> </a:t>
            </a:r>
            <a:r>
              <a:rPr sz="1400" dirty="0">
                <a:latin typeface="Calibri"/>
                <a:cs typeface="Calibri"/>
              </a:rPr>
              <a:t>to</a:t>
            </a:r>
            <a:r>
              <a:rPr sz="1400" spc="175" dirty="0">
                <a:latin typeface="Calibri"/>
                <a:cs typeface="Calibri"/>
              </a:rPr>
              <a:t> </a:t>
            </a:r>
            <a:r>
              <a:rPr sz="1400" spc="-10" dirty="0">
                <a:latin typeface="Calibri"/>
                <a:cs typeface="Calibri"/>
              </a:rPr>
              <a:t>Azure,</a:t>
            </a:r>
            <a:endParaRPr sz="1400" dirty="0">
              <a:latin typeface="Calibri"/>
              <a:cs typeface="Calibri"/>
            </a:endParaRPr>
          </a:p>
          <a:p>
            <a:pPr marL="12700">
              <a:lnSpc>
                <a:spcPct val="100000"/>
              </a:lnSpc>
              <a:spcBef>
                <a:spcPts val="5"/>
              </a:spcBef>
            </a:pPr>
            <a:r>
              <a:rPr sz="1400" spc="50" dirty="0">
                <a:latin typeface="Calibri"/>
                <a:cs typeface="Calibri"/>
              </a:rPr>
              <a:t>including</a:t>
            </a:r>
            <a:r>
              <a:rPr sz="1400" spc="145" dirty="0">
                <a:latin typeface="Calibri"/>
                <a:cs typeface="Calibri"/>
              </a:rPr>
              <a:t> </a:t>
            </a:r>
            <a:r>
              <a:rPr sz="1400" dirty="0">
                <a:latin typeface="Calibri"/>
                <a:cs typeface="Calibri"/>
              </a:rPr>
              <a:t>testing</a:t>
            </a:r>
            <a:r>
              <a:rPr sz="1400" spc="160" dirty="0">
                <a:latin typeface="Calibri"/>
                <a:cs typeface="Calibri"/>
              </a:rPr>
              <a:t> </a:t>
            </a:r>
            <a:r>
              <a:rPr sz="1400" spc="55" dirty="0">
                <a:latin typeface="Calibri"/>
                <a:cs typeface="Calibri"/>
              </a:rPr>
              <a:t>and</a:t>
            </a:r>
            <a:r>
              <a:rPr sz="1400" spc="155" dirty="0">
                <a:latin typeface="Calibri"/>
                <a:cs typeface="Calibri"/>
              </a:rPr>
              <a:t> </a:t>
            </a:r>
            <a:r>
              <a:rPr sz="1400" spc="-10" dirty="0">
                <a:latin typeface="Calibri"/>
                <a:cs typeface="Calibri"/>
              </a:rPr>
              <a:t>cutover.</a:t>
            </a:r>
            <a:endParaRPr sz="1400" dirty="0">
              <a:latin typeface="Calibri"/>
              <a:cs typeface="Calibri"/>
            </a:endParaRPr>
          </a:p>
          <a:p>
            <a:pPr marL="12700">
              <a:lnSpc>
                <a:spcPct val="100000"/>
              </a:lnSpc>
              <a:spcBef>
                <a:spcPts val="300"/>
              </a:spcBef>
            </a:pPr>
            <a:r>
              <a:rPr sz="1400" spc="70" dirty="0">
                <a:latin typeface="Calibri"/>
                <a:cs typeface="Calibri"/>
              </a:rPr>
              <a:t>OR</a:t>
            </a:r>
            <a:endParaRPr sz="1400" dirty="0">
              <a:latin typeface="Calibri"/>
              <a:cs typeface="Calibri"/>
            </a:endParaRPr>
          </a:p>
          <a:p>
            <a:pPr marL="12700" marR="255904">
              <a:lnSpc>
                <a:spcPts val="1670"/>
              </a:lnSpc>
              <a:spcBef>
                <a:spcPts val="365"/>
              </a:spcBef>
            </a:pPr>
            <a:r>
              <a:rPr sz="1400" dirty="0">
                <a:latin typeface="Calibri"/>
                <a:cs typeface="Calibri"/>
              </a:rPr>
              <a:t>Build</a:t>
            </a:r>
            <a:r>
              <a:rPr sz="1400" spc="190" dirty="0">
                <a:latin typeface="Calibri"/>
                <a:cs typeface="Calibri"/>
              </a:rPr>
              <a:t> </a:t>
            </a:r>
            <a:r>
              <a:rPr sz="1400" dirty="0">
                <a:latin typeface="Calibri"/>
                <a:cs typeface="Calibri"/>
              </a:rPr>
              <a:t>new</a:t>
            </a:r>
            <a:r>
              <a:rPr sz="1400" spc="180" dirty="0">
                <a:latin typeface="Calibri"/>
                <a:cs typeface="Calibri"/>
              </a:rPr>
              <a:t> </a:t>
            </a:r>
            <a:r>
              <a:rPr sz="1400" dirty="0">
                <a:latin typeface="Calibri"/>
                <a:cs typeface="Calibri"/>
              </a:rPr>
              <a:t>solutions</a:t>
            </a:r>
            <a:r>
              <a:rPr sz="1400" spc="180" dirty="0">
                <a:latin typeface="Calibri"/>
                <a:cs typeface="Calibri"/>
              </a:rPr>
              <a:t> </a:t>
            </a:r>
            <a:r>
              <a:rPr sz="1400" dirty="0">
                <a:latin typeface="Calibri"/>
                <a:cs typeface="Calibri"/>
              </a:rPr>
              <a:t>in</a:t>
            </a:r>
            <a:r>
              <a:rPr sz="1400" spc="190" dirty="0">
                <a:latin typeface="Calibri"/>
                <a:cs typeface="Calibri"/>
              </a:rPr>
              <a:t> </a:t>
            </a:r>
            <a:r>
              <a:rPr sz="1400" dirty="0">
                <a:latin typeface="Calibri"/>
                <a:cs typeface="Calibri"/>
              </a:rPr>
              <a:t>Azure,</a:t>
            </a:r>
            <a:r>
              <a:rPr sz="1400" spc="185" dirty="0">
                <a:latin typeface="Calibri"/>
                <a:cs typeface="Calibri"/>
              </a:rPr>
              <a:t> </a:t>
            </a:r>
            <a:r>
              <a:rPr sz="1400" spc="50" dirty="0">
                <a:latin typeface="Calibri"/>
                <a:cs typeface="Calibri"/>
              </a:rPr>
              <a:t>including</a:t>
            </a:r>
            <a:r>
              <a:rPr sz="1400" spc="195" dirty="0">
                <a:latin typeface="Calibri"/>
                <a:cs typeface="Calibri"/>
              </a:rPr>
              <a:t> </a:t>
            </a:r>
            <a:r>
              <a:rPr sz="1400" spc="50" dirty="0">
                <a:latin typeface="Calibri"/>
                <a:cs typeface="Calibri"/>
              </a:rPr>
              <a:t>support</a:t>
            </a:r>
            <a:r>
              <a:rPr sz="1400" spc="165" dirty="0">
                <a:latin typeface="Calibri"/>
                <a:cs typeface="Calibri"/>
              </a:rPr>
              <a:t> </a:t>
            </a:r>
            <a:r>
              <a:rPr sz="1400" spc="-25" dirty="0">
                <a:latin typeface="Calibri"/>
                <a:cs typeface="Calibri"/>
              </a:rPr>
              <a:t>for </a:t>
            </a:r>
            <a:r>
              <a:rPr sz="1400" dirty="0">
                <a:latin typeface="Calibri"/>
                <a:cs typeface="Calibri"/>
              </a:rPr>
              <a:t>cloud</a:t>
            </a:r>
            <a:r>
              <a:rPr sz="1400" dirty="0">
                <a:latin typeface="Segoe UI Semibold"/>
                <a:cs typeface="Segoe UI Semibold"/>
              </a:rPr>
              <a:t>-</a:t>
            </a:r>
            <a:r>
              <a:rPr sz="1400" dirty="0">
                <a:latin typeface="Calibri"/>
                <a:cs typeface="Calibri"/>
              </a:rPr>
              <a:t>native</a:t>
            </a:r>
            <a:r>
              <a:rPr sz="1400" spc="195" dirty="0">
                <a:latin typeface="Calibri"/>
                <a:cs typeface="Calibri"/>
              </a:rPr>
              <a:t> </a:t>
            </a:r>
            <a:r>
              <a:rPr sz="1400" spc="60" dirty="0">
                <a:latin typeface="Calibri"/>
                <a:cs typeface="Calibri"/>
              </a:rPr>
              <a:t>apps</a:t>
            </a:r>
            <a:r>
              <a:rPr sz="1400" spc="210" dirty="0">
                <a:latin typeface="Calibri"/>
                <a:cs typeface="Calibri"/>
              </a:rPr>
              <a:t> </a:t>
            </a:r>
            <a:r>
              <a:rPr sz="1400" spc="60" dirty="0">
                <a:latin typeface="Calibri"/>
                <a:cs typeface="Calibri"/>
              </a:rPr>
              <a:t>using</a:t>
            </a:r>
            <a:r>
              <a:rPr sz="1400" spc="220" dirty="0">
                <a:latin typeface="Calibri"/>
                <a:cs typeface="Calibri"/>
              </a:rPr>
              <a:t> </a:t>
            </a:r>
            <a:r>
              <a:rPr sz="1400" spc="-25" dirty="0">
                <a:latin typeface="Calibri"/>
                <a:cs typeface="Calibri"/>
              </a:rPr>
              <a:t>AI.</a:t>
            </a:r>
            <a:endParaRPr sz="1400" dirty="0">
              <a:latin typeface="Calibri"/>
              <a:cs typeface="Calibri"/>
            </a:endParaRPr>
          </a:p>
        </p:txBody>
      </p:sp>
      <p:sp>
        <p:nvSpPr>
          <p:cNvPr id="17" name="object 15">
            <a:extLst>
              <a:ext uri="{FF2B5EF4-FFF2-40B4-BE49-F238E27FC236}">
                <a16:creationId xmlns:a16="http://schemas.microsoft.com/office/drawing/2014/main" id="{D9BFE001-1B8E-77EF-12D4-C912C3934E75}"/>
              </a:ext>
            </a:extLst>
          </p:cNvPr>
          <p:cNvSpPr txBox="1">
            <a:spLocks/>
          </p:cNvSpPr>
          <p:nvPr/>
        </p:nvSpPr>
        <p:spPr>
          <a:xfrm>
            <a:off x="911758" y="3186482"/>
            <a:ext cx="4368800" cy="2639825"/>
          </a:xfrm>
          <a:prstGeom prst="rect">
            <a:avLst/>
          </a:prstGeom>
        </p:spPr>
        <p:txBody>
          <a:bodyPr vert="horz" wrap="square" lIns="0" tIns="53975" rIns="0" bIns="0" rtlCol="0">
            <a:spAutoFit/>
          </a:bodyPr>
          <a:lstStyle>
            <a:lvl1pPr marL="0">
              <a:defRPr sz="1600" b="1" i="0">
                <a:solidFill>
                  <a:srgbClr val="0078D3"/>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0" lvl="0" indent="0" defTabSz="914400" eaLnBrk="1" fontAlgn="auto" latinLnBrk="0" hangingPunct="1">
              <a:lnSpc>
                <a:spcPct val="100000"/>
              </a:lnSpc>
              <a:spcBef>
                <a:spcPts val="425"/>
              </a:spcBef>
              <a:spcAft>
                <a:spcPts val="0"/>
              </a:spcAft>
              <a:buClrTx/>
              <a:buSzTx/>
              <a:buFontTx/>
              <a:buNone/>
              <a:tabLst/>
              <a:defRPr/>
            </a:pPr>
            <a:r>
              <a:rPr kumimoji="0" lang="en-US" sz="1600" b="1" i="0" u="none" strike="noStrike" kern="0" cap="none" spc="40" normalizeH="0" baseline="0" noProof="0" dirty="0">
                <a:ln>
                  <a:noFill/>
                </a:ln>
                <a:solidFill>
                  <a:schemeClr val="tx2"/>
                </a:solidFill>
                <a:effectLst/>
                <a:uLnTx/>
                <a:uFillTx/>
                <a:latin typeface="Calibri"/>
                <a:ea typeface="+mn-ea"/>
                <a:cs typeface="Calibri"/>
              </a:rPr>
              <a:t>Assessment</a:t>
            </a:r>
          </a:p>
          <a:p>
            <a:pPr marL="12700" marR="472440" lvl="0" indent="0" defTabSz="914400" eaLnBrk="1" fontAlgn="auto" latinLnBrk="0" hangingPunct="1">
              <a:lnSpc>
                <a:spcPct val="100000"/>
              </a:lnSpc>
              <a:spcBef>
                <a:spcPts val="300"/>
              </a:spcBef>
              <a:spcAft>
                <a:spcPts val="0"/>
              </a:spcAft>
              <a:buClrTx/>
              <a:buSzTx/>
              <a:buFontTx/>
              <a:buNone/>
              <a:tabLst/>
              <a:defRPr/>
            </a:pPr>
            <a:r>
              <a:rPr kumimoji="0" lang="en-US" sz="1400" b="0" i="0" u="none" strike="noStrike" kern="0" cap="none" spc="10" normalizeH="0" baseline="0" noProof="0" dirty="0">
                <a:ln>
                  <a:noFill/>
                </a:ln>
                <a:solidFill>
                  <a:srgbClr val="000000"/>
                </a:solidFill>
                <a:effectLst/>
                <a:uLnTx/>
                <a:uFillTx/>
                <a:latin typeface="Calibri"/>
                <a:ea typeface="+mn-ea"/>
                <a:cs typeface="Calibri"/>
              </a:rPr>
              <a:t>Discovery</a:t>
            </a:r>
            <a:r>
              <a:rPr kumimoji="0" lang="en-US" sz="1400" b="0" i="0" u="none" strike="noStrike" kern="0" cap="none" spc="240" normalizeH="0" baseline="0" noProof="0" dirty="0">
                <a:ln>
                  <a:noFill/>
                </a:ln>
                <a:solidFill>
                  <a:srgbClr val="000000"/>
                </a:solidFill>
                <a:effectLst/>
                <a:uLnTx/>
                <a:uFillTx/>
                <a:latin typeface="Calibri"/>
                <a:ea typeface="+mn-ea"/>
                <a:cs typeface="Calibri"/>
              </a:rPr>
              <a:t> </a:t>
            </a:r>
            <a:r>
              <a:rPr kumimoji="0" lang="en-US" sz="1400" b="0" i="0" u="none" strike="noStrike" kern="0" cap="none" spc="55" normalizeH="0" baseline="0" noProof="0" dirty="0">
                <a:ln>
                  <a:noFill/>
                </a:ln>
                <a:solidFill>
                  <a:srgbClr val="000000"/>
                </a:solidFill>
                <a:effectLst/>
                <a:uLnTx/>
                <a:uFillTx/>
                <a:latin typeface="Calibri"/>
                <a:ea typeface="+mn-ea"/>
                <a:cs typeface="Calibri"/>
              </a:rPr>
              <a:t>and</a:t>
            </a:r>
            <a:r>
              <a:rPr kumimoji="0" lang="en-US" sz="1400" b="0" i="0" u="none" strike="noStrike" kern="0" cap="none" spc="215" normalizeH="0" baseline="0" noProof="0" dirty="0">
                <a:ln>
                  <a:noFill/>
                </a:ln>
                <a:solidFill>
                  <a:srgbClr val="000000"/>
                </a:solidFill>
                <a:effectLst/>
                <a:uLnTx/>
                <a:uFillTx/>
                <a:latin typeface="Calibri"/>
                <a:ea typeface="+mn-ea"/>
                <a:cs typeface="Calibri"/>
              </a:rPr>
              <a:t> </a:t>
            </a:r>
            <a:r>
              <a:rPr kumimoji="0" lang="en-US" sz="1400" b="0" i="0" u="none" strike="noStrike" kern="0" cap="none" spc="10" normalizeH="0" baseline="0" noProof="0" dirty="0">
                <a:ln>
                  <a:noFill/>
                </a:ln>
                <a:solidFill>
                  <a:srgbClr val="000000"/>
                </a:solidFill>
                <a:effectLst/>
                <a:uLnTx/>
                <a:uFillTx/>
                <a:latin typeface="Calibri"/>
                <a:ea typeface="+mn-ea"/>
                <a:cs typeface="Calibri"/>
              </a:rPr>
              <a:t>assessment</a:t>
            </a:r>
            <a:r>
              <a:rPr kumimoji="0" lang="en-US" sz="1400" b="0" i="0" u="none" strike="noStrike" kern="0" cap="none" spc="225" normalizeH="0" baseline="0" noProof="0" dirty="0">
                <a:ln>
                  <a:noFill/>
                </a:ln>
                <a:solidFill>
                  <a:srgbClr val="000000"/>
                </a:solidFill>
                <a:effectLst/>
                <a:uLnTx/>
                <a:uFillTx/>
                <a:latin typeface="Calibri"/>
                <a:ea typeface="+mn-ea"/>
                <a:cs typeface="Calibri"/>
              </a:rPr>
              <a:t> </a:t>
            </a:r>
            <a:r>
              <a:rPr kumimoji="0" lang="en-US" sz="1400" b="0" i="0" u="none" strike="noStrike" kern="0" cap="none" spc="10" normalizeH="0" baseline="0" noProof="0" dirty="0">
                <a:ln>
                  <a:noFill/>
                </a:ln>
                <a:solidFill>
                  <a:srgbClr val="000000"/>
                </a:solidFill>
                <a:effectLst/>
                <a:uLnTx/>
                <a:uFillTx/>
                <a:latin typeface="Calibri"/>
                <a:ea typeface="+mn-ea"/>
                <a:cs typeface="Calibri"/>
              </a:rPr>
              <a:t>of</a:t>
            </a:r>
            <a:r>
              <a:rPr kumimoji="0" lang="en-US" sz="1400" b="0" i="0" u="none" strike="noStrike" kern="0" cap="none" spc="245" normalizeH="0" baseline="0" noProof="0" dirty="0">
                <a:ln>
                  <a:noFill/>
                </a:ln>
                <a:solidFill>
                  <a:srgbClr val="000000"/>
                </a:solidFill>
                <a:effectLst/>
                <a:uLnTx/>
                <a:uFillTx/>
                <a:latin typeface="Calibri"/>
                <a:ea typeface="+mn-ea"/>
                <a:cs typeface="Calibri"/>
              </a:rPr>
              <a:t> </a:t>
            </a:r>
            <a:r>
              <a:rPr kumimoji="0" lang="en-US" sz="1400" b="0" i="0" u="none" strike="noStrike" kern="0" cap="none" spc="10" normalizeH="0" baseline="0" noProof="0" dirty="0">
                <a:ln>
                  <a:noFill/>
                </a:ln>
                <a:solidFill>
                  <a:srgbClr val="000000"/>
                </a:solidFill>
                <a:effectLst/>
                <a:uLnTx/>
                <a:uFillTx/>
                <a:latin typeface="Calibri"/>
                <a:ea typeface="+mn-ea"/>
                <a:cs typeface="Calibri"/>
              </a:rPr>
              <a:t>your</a:t>
            </a:r>
            <a:r>
              <a:rPr kumimoji="0" lang="en-US" sz="1400" b="0" i="0" u="none" strike="noStrike" kern="0" cap="none" spc="200" normalizeH="0" baseline="0" noProof="0" dirty="0">
                <a:ln>
                  <a:noFill/>
                </a:ln>
                <a:solidFill>
                  <a:srgbClr val="000000"/>
                </a:solidFill>
                <a:effectLst/>
                <a:uLnTx/>
                <a:uFillTx/>
                <a:latin typeface="Calibri"/>
                <a:ea typeface="+mn-ea"/>
                <a:cs typeface="Calibri"/>
              </a:rPr>
              <a:t> </a:t>
            </a:r>
            <a:r>
              <a:rPr kumimoji="0" lang="en-US" sz="1400" b="0" i="0" u="none" strike="noStrike" kern="0" cap="none" spc="90" normalizeH="0" baseline="0" noProof="0" dirty="0">
                <a:ln>
                  <a:noFill/>
                </a:ln>
                <a:solidFill>
                  <a:srgbClr val="000000"/>
                </a:solidFill>
                <a:effectLst/>
                <a:uLnTx/>
                <a:uFillTx/>
                <a:latin typeface="Calibri"/>
                <a:ea typeface="+mn-ea"/>
                <a:cs typeface="Calibri"/>
              </a:rPr>
              <a:t>on-</a:t>
            </a:r>
            <a:r>
              <a:rPr kumimoji="0" lang="en-US" sz="1400" b="0" i="0" u="none" strike="noStrike" kern="0" cap="none" spc="-10" normalizeH="0" baseline="0" noProof="0" dirty="0">
                <a:ln>
                  <a:noFill/>
                </a:ln>
                <a:solidFill>
                  <a:srgbClr val="000000"/>
                </a:solidFill>
                <a:effectLst/>
                <a:uLnTx/>
                <a:uFillTx/>
                <a:latin typeface="Calibri"/>
                <a:ea typeface="+mn-ea"/>
                <a:cs typeface="Calibri"/>
              </a:rPr>
              <a:t>premises </a:t>
            </a:r>
            <a:r>
              <a:rPr kumimoji="0" lang="en-US" sz="1400" b="0" i="0" u="none" strike="noStrike" kern="0" cap="none" spc="10" normalizeH="0" baseline="0" noProof="0" dirty="0">
                <a:ln>
                  <a:noFill/>
                </a:ln>
                <a:solidFill>
                  <a:srgbClr val="000000"/>
                </a:solidFill>
                <a:effectLst/>
                <a:uLnTx/>
                <a:uFillTx/>
                <a:latin typeface="Calibri"/>
                <a:ea typeface="+mn-ea"/>
                <a:cs typeface="Calibri"/>
              </a:rPr>
              <a:t>environment</a:t>
            </a:r>
            <a:r>
              <a:rPr kumimoji="0" lang="en-US" sz="1400" b="0" i="0" u="none" strike="noStrike" kern="0" cap="none" spc="125" normalizeH="0" baseline="0" noProof="0" dirty="0">
                <a:ln>
                  <a:noFill/>
                </a:ln>
                <a:solidFill>
                  <a:srgbClr val="000000"/>
                </a:solidFill>
                <a:effectLst/>
                <a:uLnTx/>
                <a:uFillTx/>
                <a:latin typeface="Calibri"/>
                <a:ea typeface="+mn-ea"/>
                <a:cs typeface="Calibri"/>
              </a:rPr>
              <a:t> </a:t>
            </a:r>
            <a:r>
              <a:rPr kumimoji="0" lang="en-US" sz="1400" b="0" i="0" u="none" strike="noStrike" kern="0" cap="none" spc="55" normalizeH="0" baseline="0" noProof="0" dirty="0">
                <a:ln>
                  <a:noFill/>
                </a:ln>
                <a:solidFill>
                  <a:srgbClr val="000000"/>
                </a:solidFill>
                <a:effectLst/>
                <a:uLnTx/>
                <a:uFillTx/>
                <a:latin typeface="Calibri"/>
                <a:ea typeface="+mn-ea"/>
                <a:cs typeface="Calibri"/>
              </a:rPr>
              <a:t>and</a:t>
            </a:r>
            <a:r>
              <a:rPr kumimoji="0" lang="en-US" sz="1400" b="0" i="0" u="none" strike="noStrike" kern="0" cap="none" spc="145" normalizeH="0" baseline="0" noProof="0" dirty="0">
                <a:ln>
                  <a:noFill/>
                </a:ln>
                <a:solidFill>
                  <a:srgbClr val="000000"/>
                </a:solidFill>
                <a:effectLst/>
                <a:uLnTx/>
                <a:uFillTx/>
                <a:latin typeface="Calibri"/>
                <a:ea typeface="+mn-ea"/>
                <a:cs typeface="Calibri"/>
              </a:rPr>
              <a:t> </a:t>
            </a:r>
            <a:r>
              <a:rPr kumimoji="0" lang="en-US" sz="1400" b="0" i="0" u="none" strike="noStrike" kern="0" cap="none" spc="10" normalizeH="0" baseline="0" noProof="0" dirty="0">
                <a:ln>
                  <a:noFill/>
                </a:ln>
                <a:solidFill>
                  <a:srgbClr val="000000"/>
                </a:solidFill>
                <a:effectLst/>
                <a:uLnTx/>
                <a:uFillTx/>
                <a:latin typeface="Calibri"/>
                <a:ea typeface="+mn-ea"/>
                <a:cs typeface="Calibri"/>
              </a:rPr>
              <a:t>a</a:t>
            </a:r>
            <a:r>
              <a:rPr kumimoji="0" lang="en-US" sz="1400" b="0" i="0" u="none" strike="noStrike" kern="0" cap="none" spc="160" normalizeH="0" baseline="0" noProof="0" dirty="0">
                <a:ln>
                  <a:noFill/>
                </a:ln>
                <a:solidFill>
                  <a:srgbClr val="000000"/>
                </a:solidFill>
                <a:effectLst/>
                <a:uLnTx/>
                <a:uFillTx/>
                <a:latin typeface="Calibri"/>
                <a:ea typeface="+mn-ea"/>
                <a:cs typeface="Calibri"/>
              </a:rPr>
              <a:t> </a:t>
            </a:r>
            <a:r>
              <a:rPr kumimoji="0" lang="en-US" sz="1400" b="0" i="0" u="none" strike="noStrike" kern="0" cap="none" spc="50" normalizeH="0" baseline="0" noProof="0" dirty="0">
                <a:ln>
                  <a:noFill/>
                </a:ln>
                <a:solidFill>
                  <a:srgbClr val="000000"/>
                </a:solidFill>
                <a:effectLst/>
                <a:uLnTx/>
                <a:uFillTx/>
                <a:latin typeface="Calibri"/>
                <a:ea typeface="+mn-ea"/>
                <a:cs typeface="Calibri"/>
              </a:rPr>
              <a:t>TCO/business</a:t>
            </a:r>
            <a:r>
              <a:rPr kumimoji="0" lang="en-US" sz="1400" b="0" i="0" u="none" strike="noStrike" kern="0" cap="none" spc="165" normalizeH="0" baseline="0" noProof="0" dirty="0">
                <a:ln>
                  <a:noFill/>
                </a:ln>
                <a:solidFill>
                  <a:srgbClr val="000000"/>
                </a:solidFill>
                <a:effectLst/>
                <a:uLnTx/>
                <a:uFillTx/>
                <a:latin typeface="Calibri"/>
                <a:ea typeface="+mn-ea"/>
                <a:cs typeface="Calibri"/>
              </a:rPr>
              <a:t> </a:t>
            </a:r>
            <a:r>
              <a:rPr kumimoji="0" lang="en-US" sz="1400" b="0" i="0" u="none" strike="noStrike" kern="0" cap="none" spc="10" normalizeH="0" baseline="0" noProof="0" dirty="0">
                <a:ln>
                  <a:noFill/>
                </a:ln>
                <a:solidFill>
                  <a:srgbClr val="000000"/>
                </a:solidFill>
                <a:effectLst/>
                <a:uLnTx/>
                <a:uFillTx/>
                <a:latin typeface="Calibri"/>
                <a:ea typeface="+mn-ea"/>
                <a:cs typeface="Calibri"/>
              </a:rPr>
              <a:t>case</a:t>
            </a:r>
            <a:r>
              <a:rPr kumimoji="0" lang="en-US" sz="1400" b="0" i="0" u="none" strike="noStrike" kern="0" cap="none" spc="150" normalizeH="0" baseline="0" noProof="0" dirty="0">
                <a:ln>
                  <a:noFill/>
                </a:ln>
                <a:solidFill>
                  <a:srgbClr val="000000"/>
                </a:solidFill>
                <a:effectLst/>
                <a:uLnTx/>
                <a:uFillTx/>
                <a:latin typeface="Calibri"/>
                <a:ea typeface="+mn-ea"/>
                <a:cs typeface="Calibri"/>
              </a:rPr>
              <a:t> </a:t>
            </a:r>
            <a:r>
              <a:rPr kumimoji="0" lang="en-US" sz="1400" b="0" i="0" u="none" strike="noStrike" kern="0" cap="none" spc="10" normalizeH="0" baseline="0" noProof="0" dirty="0">
                <a:ln>
                  <a:noFill/>
                </a:ln>
                <a:solidFill>
                  <a:srgbClr val="000000"/>
                </a:solidFill>
                <a:effectLst/>
                <a:uLnTx/>
                <a:uFillTx/>
                <a:latin typeface="Calibri"/>
                <a:ea typeface="+mn-ea"/>
                <a:cs typeface="Calibri"/>
              </a:rPr>
              <a:t>to</a:t>
            </a:r>
            <a:r>
              <a:rPr kumimoji="0" lang="en-US" sz="1400" b="0" i="0" u="none" strike="noStrike" kern="0" cap="none" spc="165" normalizeH="0" baseline="0" noProof="0" dirty="0">
                <a:ln>
                  <a:noFill/>
                </a:ln>
                <a:solidFill>
                  <a:srgbClr val="000000"/>
                </a:solidFill>
                <a:effectLst/>
                <a:uLnTx/>
                <a:uFillTx/>
                <a:latin typeface="Calibri"/>
                <a:ea typeface="+mn-ea"/>
                <a:cs typeface="Calibri"/>
              </a:rPr>
              <a:t> </a:t>
            </a:r>
            <a:r>
              <a:rPr kumimoji="0" lang="en-US" sz="1400" b="0" i="0" u="none" strike="noStrike" kern="0" cap="none" spc="40" normalizeH="0" baseline="0" noProof="0" dirty="0">
                <a:ln>
                  <a:noFill/>
                </a:ln>
                <a:solidFill>
                  <a:srgbClr val="000000"/>
                </a:solidFill>
                <a:effectLst/>
                <a:uLnTx/>
                <a:uFillTx/>
                <a:latin typeface="Calibri"/>
                <a:ea typeface="+mn-ea"/>
                <a:cs typeface="Calibri"/>
              </a:rPr>
              <a:t>support </a:t>
            </a:r>
            <a:r>
              <a:rPr kumimoji="0" lang="en-US" sz="1400" b="0" i="0" u="none" strike="noStrike" kern="0" cap="none" spc="10" normalizeH="0" baseline="0" noProof="0" dirty="0">
                <a:ln>
                  <a:noFill/>
                </a:ln>
                <a:solidFill>
                  <a:srgbClr val="000000"/>
                </a:solidFill>
                <a:effectLst/>
                <a:uLnTx/>
                <a:uFillTx/>
                <a:latin typeface="Calibri"/>
                <a:ea typeface="+mn-ea"/>
                <a:cs typeface="Calibri"/>
              </a:rPr>
              <a:t>your</a:t>
            </a:r>
            <a:r>
              <a:rPr kumimoji="0" lang="en-US" sz="1400" b="0" i="0" u="none" strike="noStrike" kern="0" cap="none" spc="295" normalizeH="0" baseline="0" noProof="0" dirty="0">
                <a:ln>
                  <a:noFill/>
                </a:ln>
                <a:solidFill>
                  <a:srgbClr val="000000"/>
                </a:solidFill>
                <a:effectLst/>
                <a:uLnTx/>
                <a:uFillTx/>
                <a:latin typeface="Calibri"/>
                <a:ea typeface="+mn-ea"/>
                <a:cs typeface="Calibri"/>
              </a:rPr>
              <a:t> </a:t>
            </a:r>
            <a:r>
              <a:rPr kumimoji="0" lang="en-US" sz="1400" b="0" i="0" u="none" strike="noStrike" kern="0" cap="none" spc="10" normalizeH="0" baseline="0" noProof="0" dirty="0">
                <a:ln>
                  <a:noFill/>
                </a:ln>
                <a:solidFill>
                  <a:srgbClr val="000000"/>
                </a:solidFill>
                <a:effectLst/>
                <a:uLnTx/>
                <a:uFillTx/>
                <a:latin typeface="Calibri"/>
                <a:ea typeface="+mn-ea"/>
                <a:cs typeface="Calibri"/>
              </a:rPr>
              <a:t>migration</a:t>
            </a:r>
            <a:r>
              <a:rPr kumimoji="0" lang="en-US" sz="1400" b="0" i="0" u="none" strike="noStrike" kern="0" cap="none" spc="290" normalizeH="0" baseline="0" noProof="0" dirty="0">
                <a:ln>
                  <a:noFill/>
                </a:ln>
                <a:solidFill>
                  <a:srgbClr val="000000"/>
                </a:solidFill>
                <a:effectLst/>
                <a:uLnTx/>
                <a:uFillTx/>
                <a:latin typeface="Calibri"/>
                <a:ea typeface="+mn-ea"/>
                <a:cs typeface="Calibri"/>
              </a:rPr>
              <a:t> </a:t>
            </a:r>
            <a:r>
              <a:rPr kumimoji="0" lang="en-US" sz="1400" b="0" i="0" u="none" strike="noStrike" kern="0" cap="none" spc="-10" normalizeH="0" baseline="0" noProof="0" dirty="0">
                <a:ln>
                  <a:noFill/>
                </a:ln>
                <a:solidFill>
                  <a:srgbClr val="000000"/>
                </a:solidFill>
                <a:effectLst/>
                <a:uLnTx/>
                <a:uFillTx/>
                <a:latin typeface="Calibri"/>
                <a:ea typeface="+mn-ea"/>
                <a:cs typeface="Calibri"/>
              </a:rPr>
              <a:t>strategy.</a:t>
            </a:r>
            <a:endParaRPr kumimoji="0" lang="en-US" sz="1400" b="1" i="0" u="none" strike="noStrike" kern="0" cap="none" spc="0" normalizeH="0" baseline="0" noProof="0" dirty="0">
              <a:ln>
                <a:noFill/>
              </a:ln>
              <a:solidFill>
                <a:srgbClr val="0078D3"/>
              </a:solidFill>
              <a:effectLst/>
              <a:uLnTx/>
              <a:uFillTx/>
              <a:latin typeface="Calibri"/>
              <a:ea typeface="+mn-ea"/>
              <a:cs typeface="Calibri"/>
            </a:endParaRPr>
          </a:p>
          <a:p>
            <a:pPr marL="12700" marR="970280" lvl="0" indent="0" defTabSz="914400" eaLnBrk="1" fontAlgn="auto" latinLnBrk="0" hangingPunct="1">
              <a:lnSpc>
                <a:spcPct val="100000"/>
              </a:lnSpc>
              <a:spcBef>
                <a:spcPts val="300"/>
              </a:spcBef>
              <a:spcAft>
                <a:spcPts val="0"/>
              </a:spcAft>
              <a:buClrTx/>
              <a:buSzTx/>
              <a:buFontTx/>
              <a:buNone/>
              <a:tabLst/>
              <a:defRPr/>
            </a:pPr>
            <a:r>
              <a:rPr kumimoji="0" lang="en-US" sz="1400" b="0" i="0" u="none" strike="noStrike" kern="0" cap="none" spc="20" normalizeH="0" baseline="0" noProof="0" dirty="0">
                <a:ln>
                  <a:noFill/>
                </a:ln>
                <a:solidFill>
                  <a:srgbClr val="000000"/>
                </a:solidFill>
                <a:effectLst/>
                <a:uLnTx/>
                <a:uFillTx/>
                <a:latin typeface="Calibri"/>
                <a:ea typeface="+mn-ea"/>
                <a:cs typeface="Calibri"/>
              </a:rPr>
              <a:t>Application</a:t>
            </a:r>
            <a:r>
              <a:rPr kumimoji="0" lang="en-US" sz="1400" b="0" i="0" u="none" strike="noStrike" kern="0" cap="none" spc="190" normalizeH="0" baseline="0" noProof="0" dirty="0">
                <a:ln>
                  <a:noFill/>
                </a:ln>
                <a:solidFill>
                  <a:srgbClr val="000000"/>
                </a:solidFill>
                <a:effectLst/>
                <a:uLnTx/>
                <a:uFillTx/>
                <a:latin typeface="Calibri"/>
                <a:ea typeface="+mn-ea"/>
                <a:cs typeface="Calibri"/>
              </a:rPr>
              <a:t> </a:t>
            </a:r>
            <a:r>
              <a:rPr kumimoji="0" lang="en-US" sz="1400" b="0" i="0" u="none" strike="noStrike" kern="0" cap="none" spc="20" normalizeH="0" baseline="0" noProof="0" dirty="0">
                <a:ln>
                  <a:noFill/>
                </a:ln>
                <a:solidFill>
                  <a:srgbClr val="000000"/>
                </a:solidFill>
                <a:effectLst/>
                <a:uLnTx/>
                <a:uFillTx/>
                <a:latin typeface="Calibri"/>
                <a:ea typeface="+mn-ea"/>
                <a:cs typeface="Calibri"/>
              </a:rPr>
              <a:t>assessment</a:t>
            </a:r>
            <a:r>
              <a:rPr kumimoji="0" lang="en-US" sz="1400" b="0" i="0" u="none" strike="noStrike" kern="0" cap="none" spc="190" normalizeH="0" baseline="0" noProof="0" dirty="0">
                <a:ln>
                  <a:noFill/>
                </a:ln>
                <a:solidFill>
                  <a:srgbClr val="000000"/>
                </a:solidFill>
                <a:effectLst/>
                <a:uLnTx/>
                <a:uFillTx/>
                <a:latin typeface="Calibri"/>
                <a:ea typeface="+mn-ea"/>
                <a:cs typeface="Calibri"/>
              </a:rPr>
              <a:t> </a:t>
            </a:r>
            <a:r>
              <a:rPr kumimoji="0" lang="en-US" sz="1400" b="0" i="0" u="none" strike="noStrike" kern="0" cap="none" spc="20" normalizeH="0" baseline="0" noProof="0" dirty="0">
                <a:ln>
                  <a:noFill/>
                </a:ln>
                <a:solidFill>
                  <a:srgbClr val="000000"/>
                </a:solidFill>
                <a:effectLst/>
                <a:uLnTx/>
                <a:uFillTx/>
                <a:latin typeface="Calibri"/>
                <a:ea typeface="+mn-ea"/>
                <a:cs typeface="Calibri"/>
              </a:rPr>
              <a:t>(and</a:t>
            </a:r>
            <a:r>
              <a:rPr kumimoji="0" lang="en-US" sz="1400" b="0" i="0" u="none" strike="noStrike" kern="0" cap="none" spc="215" normalizeH="0" baseline="0" noProof="0" dirty="0">
                <a:ln>
                  <a:noFill/>
                </a:ln>
                <a:solidFill>
                  <a:srgbClr val="000000"/>
                </a:solidFill>
                <a:effectLst/>
                <a:uLnTx/>
                <a:uFillTx/>
                <a:latin typeface="Calibri"/>
                <a:ea typeface="+mn-ea"/>
                <a:cs typeface="Calibri"/>
              </a:rPr>
              <a:t> </a:t>
            </a:r>
            <a:r>
              <a:rPr kumimoji="0" lang="en-US" sz="1400" b="0" i="0" u="none" strike="noStrike" kern="0" cap="none" spc="60" normalizeH="0" baseline="0" noProof="0" dirty="0">
                <a:ln>
                  <a:noFill/>
                </a:ln>
                <a:solidFill>
                  <a:srgbClr val="000000"/>
                </a:solidFill>
                <a:effectLst/>
                <a:uLnTx/>
                <a:uFillTx/>
                <a:latin typeface="Calibri"/>
                <a:ea typeface="+mn-ea"/>
                <a:cs typeface="Calibri"/>
              </a:rPr>
              <a:t>code</a:t>
            </a:r>
            <a:r>
              <a:rPr kumimoji="0" lang="en-US" sz="1400" b="0" i="0" u="none" strike="noStrike" kern="0" cap="none" spc="215" normalizeH="0" baseline="0" noProof="0" dirty="0">
                <a:ln>
                  <a:noFill/>
                </a:ln>
                <a:solidFill>
                  <a:srgbClr val="000000"/>
                </a:solidFill>
                <a:effectLst/>
                <a:uLnTx/>
                <a:uFillTx/>
                <a:latin typeface="Calibri"/>
                <a:ea typeface="+mn-ea"/>
                <a:cs typeface="Calibri"/>
              </a:rPr>
              <a:t> </a:t>
            </a:r>
            <a:r>
              <a:rPr kumimoji="0" lang="en-US" sz="1400" b="0" i="0" u="none" strike="noStrike" kern="0" cap="none" spc="-10" normalizeH="0" baseline="0" noProof="0" dirty="0">
                <a:ln>
                  <a:noFill/>
                </a:ln>
                <a:solidFill>
                  <a:srgbClr val="000000"/>
                </a:solidFill>
                <a:effectLst/>
                <a:uLnTx/>
                <a:uFillTx/>
                <a:latin typeface="Calibri"/>
                <a:ea typeface="+mn-ea"/>
                <a:cs typeface="Calibri"/>
              </a:rPr>
              <a:t>analysis) </a:t>
            </a:r>
            <a:r>
              <a:rPr kumimoji="0" lang="en-US" sz="1400" b="0" i="0" u="none" strike="noStrike" kern="0" cap="none" spc="0" normalizeH="0" baseline="0" noProof="0" dirty="0">
                <a:ln>
                  <a:noFill/>
                </a:ln>
                <a:solidFill>
                  <a:srgbClr val="000000"/>
                </a:solidFill>
                <a:effectLst/>
                <a:uLnTx/>
                <a:uFillTx/>
                <a:latin typeface="Calibri"/>
                <a:ea typeface="+mn-ea"/>
                <a:cs typeface="Calibri"/>
              </a:rPr>
              <a:t>to</a:t>
            </a:r>
            <a:r>
              <a:rPr kumimoji="0" lang="en-US" sz="1400" b="0" i="0" u="none" strike="noStrike" kern="0" cap="none" spc="145" normalizeH="0" baseline="0" noProof="0" dirty="0">
                <a:ln>
                  <a:noFill/>
                </a:ln>
                <a:solidFill>
                  <a:srgbClr val="000000"/>
                </a:solidFill>
                <a:effectLst/>
                <a:uLnTx/>
                <a:uFillTx/>
                <a:latin typeface="Calibri"/>
                <a:ea typeface="+mn-ea"/>
                <a:cs typeface="Calibri"/>
              </a:rPr>
              <a:t> </a:t>
            </a:r>
            <a:r>
              <a:rPr kumimoji="0" lang="en-US" sz="1400" b="0" i="0" u="none" strike="noStrike" kern="0" cap="none" spc="0" normalizeH="0" baseline="0" noProof="0" dirty="0">
                <a:ln>
                  <a:noFill/>
                </a:ln>
                <a:solidFill>
                  <a:srgbClr val="000000"/>
                </a:solidFill>
                <a:effectLst/>
                <a:uLnTx/>
                <a:uFillTx/>
                <a:latin typeface="Calibri"/>
                <a:ea typeface="+mn-ea"/>
                <a:cs typeface="Calibri"/>
              </a:rPr>
              <a:t>create</a:t>
            </a:r>
            <a:r>
              <a:rPr kumimoji="0" lang="en-US" sz="1400" b="0" i="0" u="none" strike="noStrike" kern="0" cap="none" spc="135" normalizeH="0" baseline="0" noProof="0" dirty="0">
                <a:ln>
                  <a:noFill/>
                </a:ln>
                <a:solidFill>
                  <a:srgbClr val="000000"/>
                </a:solidFill>
                <a:effectLst/>
                <a:uLnTx/>
                <a:uFillTx/>
                <a:latin typeface="Calibri"/>
                <a:ea typeface="+mn-ea"/>
                <a:cs typeface="Calibri"/>
              </a:rPr>
              <a:t> </a:t>
            </a:r>
            <a:r>
              <a:rPr kumimoji="0" lang="en-US" sz="1400" b="0" i="0" u="none" strike="noStrike" kern="0" cap="none" spc="0" normalizeH="0" baseline="0" noProof="0" dirty="0">
                <a:ln>
                  <a:noFill/>
                </a:ln>
                <a:solidFill>
                  <a:srgbClr val="000000"/>
                </a:solidFill>
                <a:effectLst/>
                <a:uLnTx/>
                <a:uFillTx/>
                <a:latin typeface="Calibri"/>
                <a:ea typeface="+mn-ea"/>
                <a:cs typeface="Calibri"/>
              </a:rPr>
              <a:t>a</a:t>
            </a:r>
            <a:r>
              <a:rPr kumimoji="0" lang="en-US" sz="1400" b="0" i="0" u="none" strike="noStrike" kern="0" cap="none" spc="130" normalizeH="0" baseline="0" noProof="0" dirty="0">
                <a:ln>
                  <a:noFill/>
                </a:ln>
                <a:solidFill>
                  <a:srgbClr val="000000"/>
                </a:solidFill>
                <a:effectLst/>
                <a:uLnTx/>
                <a:uFillTx/>
                <a:latin typeface="Calibri"/>
                <a:ea typeface="+mn-ea"/>
                <a:cs typeface="Calibri"/>
              </a:rPr>
              <a:t> </a:t>
            </a:r>
            <a:r>
              <a:rPr kumimoji="0" lang="en-US" sz="1400" b="0" i="0" u="none" strike="noStrike" kern="0" cap="none" spc="45" normalizeH="0" baseline="0" noProof="0" dirty="0">
                <a:ln>
                  <a:noFill/>
                </a:ln>
                <a:solidFill>
                  <a:srgbClr val="000000"/>
                </a:solidFill>
                <a:effectLst/>
                <a:uLnTx/>
                <a:uFillTx/>
                <a:latin typeface="Calibri"/>
                <a:ea typeface="+mn-ea"/>
                <a:cs typeface="Calibri"/>
              </a:rPr>
              <a:t>modernization</a:t>
            </a:r>
            <a:r>
              <a:rPr kumimoji="0" lang="en-US" sz="1400" b="0" i="0" u="none" strike="noStrike" kern="0" cap="none" spc="90" normalizeH="0" baseline="0" noProof="0" dirty="0">
                <a:ln>
                  <a:noFill/>
                </a:ln>
                <a:solidFill>
                  <a:srgbClr val="000000"/>
                </a:solidFill>
                <a:effectLst/>
                <a:uLnTx/>
                <a:uFillTx/>
                <a:latin typeface="Calibri"/>
                <a:ea typeface="+mn-ea"/>
                <a:cs typeface="Calibri"/>
              </a:rPr>
              <a:t> </a:t>
            </a:r>
            <a:r>
              <a:rPr kumimoji="0" lang="en-US" sz="1400" b="0" i="0" u="none" strike="noStrike" kern="0" cap="none" spc="-10" normalizeH="0" baseline="0" noProof="0" dirty="0">
                <a:ln>
                  <a:noFill/>
                </a:ln>
                <a:solidFill>
                  <a:srgbClr val="000000"/>
                </a:solidFill>
                <a:effectLst/>
                <a:uLnTx/>
                <a:uFillTx/>
                <a:latin typeface="Calibri"/>
                <a:ea typeface="+mn-ea"/>
                <a:cs typeface="Calibri"/>
              </a:rPr>
              <a:t>plan.</a:t>
            </a:r>
            <a:endParaRPr kumimoji="0" lang="en-US" sz="1400" b="1" i="0" u="none" strike="noStrike" kern="0" cap="none" spc="0" normalizeH="0" baseline="0" noProof="0" dirty="0">
              <a:ln>
                <a:noFill/>
              </a:ln>
              <a:solidFill>
                <a:srgbClr val="0078D3"/>
              </a:solidFill>
              <a:effectLst/>
              <a:uLnTx/>
              <a:uFillTx/>
              <a:latin typeface="Calibri"/>
              <a:ea typeface="+mn-ea"/>
              <a:cs typeface="Calibri"/>
            </a:endParaRPr>
          </a:p>
          <a:p>
            <a:pPr marL="0" marR="0" lvl="0" indent="0" defTabSz="914400" eaLnBrk="1" fontAlgn="auto" latinLnBrk="0" hangingPunct="1">
              <a:lnSpc>
                <a:spcPct val="100000"/>
              </a:lnSpc>
              <a:spcBef>
                <a:spcPts val="305"/>
              </a:spcBef>
              <a:spcAft>
                <a:spcPts val="0"/>
              </a:spcAft>
              <a:buClrTx/>
              <a:buSzTx/>
              <a:buFontTx/>
              <a:buNone/>
              <a:tabLst/>
              <a:defRPr/>
            </a:pPr>
            <a:endParaRPr kumimoji="0" lang="en-US" sz="1400" b="1" i="0" u="none" strike="noStrike" kern="0" cap="none" spc="0" normalizeH="0" baseline="0" noProof="0" dirty="0">
              <a:ln>
                <a:noFill/>
              </a:ln>
              <a:solidFill>
                <a:srgbClr val="0078D3"/>
              </a:solidFill>
              <a:effectLst/>
              <a:uLnTx/>
              <a:uFillTx/>
              <a:latin typeface="Calibri"/>
              <a:ea typeface="+mn-ea"/>
              <a:cs typeface="Calibri"/>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60" normalizeH="0" baseline="0" noProof="0" dirty="0">
                <a:ln>
                  <a:noFill/>
                </a:ln>
                <a:solidFill>
                  <a:schemeClr val="tx2"/>
                </a:solidFill>
                <a:effectLst/>
                <a:uLnTx/>
                <a:uFillTx/>
                <a:latin typeface="Calibri"/>
                <a:ea typeface="+mn-ea"/>
                <a:cs typeface="Calibri"/>
              </a:rPr>
              <a:t>Proof</a:t>
            </a:r>
            <a:r>
              <a:rPr kumimoji="0" lang="en-US" sz="1600" b="1" i="0" u="none" strike="noStrike" kern="0" cap="none" spc="95" normalizeH="0" baseline="0" noProof="0" dirty="0">
                <a:ln>
                  <a:noFill/>
                </a:ln>
                <a:solidFill>
                  <a:schemeClr val="tx2"/>
                </a:solidFill>
                <a:effectLst/>
                <a:uLnTx/>
                <a:uFillTx/>
                <a:latin typeface="Calibri"/>
                <a:ea typeface="+mn-ea"/>
                <a:cs typeface="Calibri"/>
              </a:rPr>
              <a:t> </a:t>
            </a:r>
            <a:r>
              <a:rPr kumimoji="0" lang="en-US" sz="1600" b="1" i="0" u="none" strike="noStrike" kern="0" cap="none" spc="55" normalizeH="0" baseline="0" noProof="0" dirty="0">
                <a:ln>
                  <a:noFill/>
                </a:ln>
                <a:solidFill>
                  <a:schemeClr val="tx2"/>
                </a:solidFill>
                <a:effectLst/>
                <a:uLnTx/>
                <a:uFillTx/>
                <a:latin typeface="Calibri"/>
                <a:ea typeface="+mn-ea"/>
                <a:cs typeface="Calibri"/>
              </a:rPr>
              <a:t>of</a:t>
            </a:r>
            <a:r>
              <a:rPr kumimoji="0" lang="en-US" sz="1600" b="1" i="0" u="none" strike="noStrike" kern="0" cap="none" spc="90" normalizeH="0" baseline="0" noProof="0" dirty="0">
                <a:ln>
                  <a:noFill/>
                </a:ln>
                <a:solidFill>
                  <a:schemeClr val="tx2"/>
                </a:solidFill>
                <a:effectLst/>
                <a:uLnTx/>
                <a:uFillTx/>
                <a:latin typeface="Calibri"/>
                <a:ea typeface="+mn-ea"/>
                <a:cs typeface="Calibri"/>
              </a:rPr>
              <a:t> </a:t>
            </a:r>
            <a:r>
              <a:rPr kumimoji="0" lang="en-US" sz="1600" b="1" i="0" u="none" strike="noStrike" kern="0" cap="none" spc="-20" normalizeH="0" baseline="0" noProof="0" dirty="0">
                <a:ln>
                  <a:noFill/>
                </a:ln>
                <a:solidFill>
                  <a:schemeClr val="tx2"/>
                </a:solidFill>
                <a:effectLst/>
                <a:uLnTx/>
                <a:uFillTx/>
                <a:latin typeface="Calibri"/>
                <a:ea typeface="+mn-ea"/>
                <a:cs typeface="Calibri"/>
              </a:rPr>
              <a:t>value</a:t>
            </a:r>
          </a:p>
          <a:p>
            <a:pPr marL="12700" marR="0" lvl="0" indent="0" defTabSz="914400" eaLnBrk="1" fontAlgn="auto" latinLnBrk="0" hangingPunct="1">
              <a:lnSpc>
                <a:spcPct val="100000"/>
              </a:lnSpc>
              <a:spcBef>
                <a:spcPts val="300"/>
              </a:spcBef>
              <a:spcAft>
                <a:spcPts val="0"/>
              </a:spcAft>
              <a:buClrTx/>
              <a:buSzTx/>
              <a:buFontTx/>
              <a:buNone/>
              <a:tabLst/>
              <a:defRPr/>
            </a:pPr>
            <a:r>
              <a:rPr kumimoji="0" lang="en-US" sz="1400" b="0" i="0" u="none" strike="noStrike" kern="0" cap="none" spc="50" normalizeH="0" baseline="0" noProof="0" dirty="0">
                <a:ln>
                  <a:noFill/>
                </a:ln>
                <a:solidFill>
                  <a:srgbClr val="000000"/>
                </a:solidFill>
                <a:effectLst/>
                <a:uLnTx/>
                <a:uFillTx/>
                <a:latin typeface="Calibri"/>
                <a:ea typeface="+mn-ea"/>
                <a:cs typeface="Calibri"/>
              </a:rPr>
              <a:t>Setup</a:t>
            </a:r>
            <a:r>
              <a:rPr kumimoji="0" lang="en-US" sz="1400" b="0" i="0" u="none" strike="noStrike" kern="0" cap="none" spc="114" normalizeH="0" baseline="0" noProof="0" dirty="0">
                <a:ln>
                  <a:noFill/>
                </a:ln>
                <a:solidFill>
                  <a:srgbClr val="000000"/>
                </a:solidFill>
                <a:effectLst/>
                <a:uLnTx/>
                <a:uFillTx/>
                <a:latin typeface="Calibri"/>
                <a:ea typeface="+mn-ea"/>
                <a:cs typeface="Calibri"/>
              </a:rPr>
              <a:t> </a:t>
            </a:r>
            <a:r>
              <a:rPr kumimoji="0" lang="en-US" sz="1400" b="0" i="0" u="none" strike="noStrike" kern="0" cap="none" spc="0" normalizeH="0" baseline="0" noProof="0" dirty="0">
                <a:ln>
                  <a:noFill/>
                </a:ln>
                <a:solidFill>
                  <a:srgbClr val="000000"/>
                </a:solidFill>
                <a:effectLst/>
                <a:uLnTx/>
                <a:uFillTx/>
                <a:latin typeface="Calibri"/>
                <a:ea typeface="+mn-ea"/>
                <a:cs typeface="Calibri"/>
              </a:rPr>
              <a:t>your</a:t>
            </a:r>
            <a:r>
              <a:rPr kumimoji="0" lang="en-US" sz="1400" b="0" i="0" u="none" strike="noStrike" kern="0" cap="none" spc="100" normalizeH="0" baseline="0" noProof="0" dirty="0">
                <a:ln>
                  <a:noFill/>
                </a:ln>
                <a:solidFill>
                  <a:srgbClr val="000000"/>
                </a:solidFill>
                <a:effectLst/>
                <a:uLnTx/>
                <a:uFillTx/>
                <a:latin typeface="Calibri"/>
                <a:ea typeface="+mn-ea"/>
                <a:cs typeface="Calibri"/>
              </a:rPr>
              <a:t> </a:t>
            </a:r>
            <a:r>
              <a:rPr kumimoji="0" lang="en-US" sz="1400" b="0" i="0" u="none" strike="noStrike" kern="0" cap="none" spc="0" normalizeH="0" baseline="0" noProof="0" dirty="0">
                <a:ln>
                  <a:noFill/>
                </a:ln>
                <a:solidFill>
                  <a:srgbClr val="000000"/>
                </a:solidFill>
                <a:effectLst/>
                <a:uLnTx/>
                <a:uFillTx/>
                <a:latin typeface="Calibri"/>
                <a:ea typeface="+mn-ea"/>
                <a:cs typeface="Calibri"/>
              </a:rPr>
              <a:t>new</a:t>
            </a:r>
            <a:r>
              <a:rPr kumimoji="0" lang="en-US" sz="1400" b="0" i="0" u="none" strike="noStrike" kern="0" cap="none" spc="105" normalizeH="0" baseline="0" noProof="0" dirty="0">
                <a:ln>
                  <a:noFill/>
                </a:ln>
                <a:solidFill>
                  <a:srgbClr val="000000"/>
                </a:solidFill>
                <a:effectLst/>
                <a:uLnTx/>
                <a:uFillTx/>
                <a:latin typeface="Calibri"/>
                <a:ea typeface="+mn-ea"/>
                <a:cs typeface="Calibri"/>
              </a:rPr>
              <a:t> </a:t>
            </a:r>
            <a:r>
              <a:rPr kumimoji="0" lang="en-US" sz="1400" b="0" i="0" u="none" strike="noStrike" kern="0" cap="none" spc="45" normalizeH="0" baseline="0" noProof="0" dirty="0">
                <a:ln>
                  <a:noFill/>
                </a:ln>
                <a:solidFill>
                  <a:srgbClr val="000000"/>
                </a:solidFill>
                <a:effectLst/>
                <a:uLnTx/>
                <a:uFillTx/>
                <a:latin typeface="Calibri"/>
                <a:ea typeface="+mn-ea"/>
                <a:cs typeface="Calibri"/>
              </a:rPr>
              <a:t>workload</a:t>
            </a:r>
            <a:r>
              <a:rPr kumimoji="0" lang="en-US" sz="1400" b="0" i="0" u="none" strike="noStrike" kern="0" cap="none" spc="110" normalizeH="0" baseline="0" noProof="0" dirty="0">
                <a:ln>
                  <a:noFill/>
                </a:ln>
                <a:solidFill>
                  <a:srgbClr val="000000"/>
                </a:solidFill>
                <a:effectLst/>
                <a:uLnTx/>
                <a:uFillTx/>
                <a:latin typeface="Calibri"/>
                <a:ea typeface="+mn-ea"/>
                <a:cs typeface="Calibri"/>
              </a:rPr>
              <a:t> </a:t>
            </a:r>
            <a:r>
              <a:rPr kumimoji="0" lang="en-US" sz="1400" b="0" i="0" u="none" strike="noStrike" kern="0" cap="none" spc="0" normalizeH="0" baseline="0" noProof="0" dirty="0">
                <a:ln>
                  <a:noFill/>
                </a:ln>
                <a:solidFill>
                  <a:srgbClr val="000000"/>
                </a:solidFill>
                <a:effectLst/>
                <a:uLnTx/>
                <a:uFillTx/>
                <a:latin typeface="Calibri"/>
                <a:ea typeface="+mn-ea"/>
                <a:cs typeface="Calibri"/>
              </a:rPr>
              <a:t>in</a:t>
            </a:r>
            <a:r>
              <a:rPr kumimoji="0" lang="en-US" sz="1400" b="0" i="0" u="none" strike="noStrike" kern="0" cap="none" spc="110" normalizeH="0" baseline="0" noProof="0" dirty="0">
                <a:ln>
                  <a:noFill/>
                </a:ln>
                <a:solidFill>
                  <a:srgbClr val="000000"/>
                </a:solidFill>
                <a:effectLst/>
                <a:uLnTx/>
                <a:uFillTx/>
                <a:latin typeface="Calibri"/>
                <a:ea typeface="+mn-ea"/>
                <a:cs typeface="Calibri"/>
              </a:rPr>
              <a:t> </a:t>
            </a:r>
            <a:r>
              <a:rPr kumimoji="0" lang="en-US" sz="1400" b="0" i="0" u="none" strike="noStrike" kern="0" cap="none" spc="50" normalizeH="0" baseline="0" noProof="0" dirty="0">
                <a:ln>
                  <a:noFill/>
                </a:ln>
                <a:solidFill>
                  <a:srgbClr val="000000"/>
                </a:solidFill>
                <a:effectLst/>
                <a:uLnTx/>
                <a:uFillTx/>
                <a:latin typeface="Calibri"/>
                <a:ea typeface="+mn-ea"/>
                <a:cs typeface="Calibri"/>
              </a:rPr>
              <a:t>Azure</a:t>
            </a:r>
            <a:r>
              <a:rPr kumimoji="0" lang="en-US" sz="1400" b="0" i="0" u="none" strike="noStrike" kern="0" cap="none" spc="114" normalizeH="0" baseline="0" noProof="0" dirty="0">
                <a:ln>
                  <a:noFill/>
                </a:ln>
                <a:solidFill>
                  <a:srgbClr val="000000"/>
                </a:solidFill>
                <a:effectLst/>
                <a:uLnTx/>
                <a:uFillTx/>
                <a:latin typeface="Calibri"/>
                <a:ea typeface="+mn-ea"/>
                <a:cs typeface="Calibri"/>
              </a:rPr>
              <a:t> </a:t>
            </a:r>
            <a:r>
              <a:rPr kumimoji="0" lang="en-US" sz="1400" b="0" i="0" u="none" strike="noStrike" kern="0" cap="none" spc="55" normalizeH="0" baseline="0" noProof="0" dirty="0">
                <a:ln>
                  <a:noFill/>
                </a:ln>
                <a:solidFill>
                  <a:srgbClr val="000000"/>
                </a:solidFill>
                <a:effectLst/>
                <a:uLnTx/>
                <a:uFillTx/>
                <a:latin typeface="Calibri"/>
                <a:ea typeface="+mn-ea"/>
                <a:cs typeface="Calibri"/>
              </a:rPr>
              <a:t>and</a:t>
            </a:r>
            <a:r>
              <a:rPr kumimoji="0" lang="en-US" sz="1400" b="0" i="0" u="none" strike="noStrike" kern="0" cap="none" spc="100" normalizeH="0" baseline="0" noProof="0" dirty="0">
                <a:ln>
                  <a:noFill/>
                </a:ln>
                <a:solidFill>
                  <a:srgbClr val="000000"/>
                </a:solidFill>
                <a:effectLst/>
                <a:uLnTx/>
                <a:uFillTx/>
                <a:latin typeface="Calibri"/>
                <a:ea typeface="+mn-ea"/>
                <a:cs typeface="Calibri"/>
              </a:rPr>
              <a:t> </a:t>
            </a:r>
            <a:r>
              <a:rPr kumimoji="0" lang="en-US" sz="1400" b="0" i="0" u="none" strike="noStrike" kern="0" cap="none" spc="0" normalizeH="0" baseline="0" noProof="0" dirty="0">
                <a:ln>
                  <a:noFill/>
                </a:ln>
                <a:solidFill>
                  <a:srgbClr val="000000"/>
                </a:solidFill>
                <a:effectLst/>
                <a:uLnTx/>
                <a:uFillTx/>
                <a:latin typeface="Calibri"/>
                <a:ea typeface="+mn-ea"/>
                <a:cs typeface="Calibri"/>
              </a:rPr>
              <a:t>test</a:t>
            </a:r>
            <a:r>
              <a:rPr kumimoji="0" lang="en-US" sz="1400" b="0" i="0" u="none" strike="noStrike" kern="0" cap="none" spc="120" normalizeH="0" baseline="0" noProof="0" dirty="0">
                <a:ln>
                  <a:noFill/>
                </a:ln>
                <a:solidFill>
                  <a:srgbClr val="000000"/>
                </a:solidFill>
                <a:effectLst/>
                <a:uLnTx/>
                <a:uFillTx/>
                <a:latin typeface="Calibri"/>
                <a:ea typeface="+mn-ea"/>
                <a:cs typeface="Calibri"/>
              </a:rPr>
              <a:t> </a:t>
            </a:r>
            <a:r>
              <a:rPr kumimoji="0" lang="en-US" sz="1400" b="0" i="0" u="none" strike="noStrike" kern="0" cap="none" spc="-10" normalizeH="0" baseline="0" noProof="0" dirty="0">
                <a:ln>
                  <a:noFill/>
                </a:ln>
                <a:solidFill>
                  <a:srgbClr val="000000"/>
                </a:solidFill>
                <a:effectLst/>
                <a:uLnTx/>
                <a:uFillTx/>
                <a:latin typeface="Calibri"/>
                <a:ea typeface="+mn-ea"/>
                <a:cs typeface="Calibri"/>
              </a:rPr>
              <a:t>capabilities.</a:t>
            </a:r>
            <a:endParaRPr kumimoji="0" lang="en-US" sz="1400" b="1" i="0" u="none" strike="noStrike" kern="0" cap="none" spc="0" normalizeH="0" baseline="0" noProof="0" dirty="0">
              <a:ln>
                <a:noFill/>
              </a:ln>
              <a:solidFill>
                <a:srgbClr val="0078D3"/>
              </a:solidFill>
              <a:effectLst/>
              <a:uLnTx/>
              <a:uFillTx/>
              <a:latin typeface="Calibri"/>
              <a:ea typeface="+mn-ea"/>
              <a:cs typeface="Calibri"/>
            </a:endParaRPr>
          </a:p>
          <a:p>
            <a:pPr marL="12700" marR="991869"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Calibri"/>
                <a:ea typeface="+mn-ea"/>
                <a:cs typeface="Calibri"/>
              </a:rPr>
              <a:t>Explore</a:t>
            </a:r>
            <a:r>
              <a:rPr kumimoji="0" lang="en-US" sz="1400" b="0" i="0" u="none" strike="noStrike" kern="0" cap="none" spc="210" normalizeH="0" baseline="0" noProof="0" dirty="0">
                <a:ln>
                  <a:noFill/>
                </a:ln>
                <a:solidFill>
                  <a:srgbClr val="000000"/>
                </a:solidFill>
                <a:effectLst/>
                <a:uLnTx/>
                <a:uFillTx/>
                <a:latin typeface="Calibri"/>
                <a:ea typeface="+mn-ea"/>
                <a:cs typeface="Calibri"/>
              </a:rPr>
              <a:t> </a:t>
            </a:r>
            <a:r>
              <a:rPr kumimoji="0" lang="en-US" sz="1400" b="0" i="0" u="none" strike="noStrike" kern="0" cap="none" spc="0" normalizeH="0" baseline="0" noProof="0" dirty="0">
                <a:ln>
                  <a:noFill/>
                </a:ln>
                <a:solidFill>
                  <a:srgbClr val="000000"/>
                </a:solidFill>
                <a:effectLst/>
                <a:uLnTx/>
                <a:uFillTx/>
                <a:latin typeface="Calibri"/>
                <a:ea typeface="+mn-ea"/>
                <a:cs typeface="Calibri"/>
              </a:rPr>
              <a:t>any</a:t>
            </a:r>
            <a:r>
              <a:rPr kumimoji="0" lang="en-US" sz="1400" b="0" i="0" u="none" strike="noStrike" kern="0" cap="none" spc="210" normalizeH="0" baseline="0" noProof="0" dirty="0">
                <a:ln>
                  <a:noFill/>
                </a:ln>
                <a:solidFill>
                  <a:srgbClr val="000000"/>
                </a:solidFill>
                <a:effectLst/>
                <a:uLnTx/>
                <a:uFillTx/>
                <a:latin typeface="Calibri"/>
                <a:ea typeface="+mn-ea"/>
                <a:cs typeface="Calibri"/>
              </a:rPr>
              <a:t> </a:t>
            </a:r>
            <a:r>
              <a:rPr kumimoji="0" lang="en-US" sz="1400" b="0" i="0" u="none" strike="noStrike" kern="0" cap="none" spc="0" normalizeH="0" baseline="0" noProof="0" dirty="0">
                <a:ln>
                  <a:noFill/>
                </a:ln>
                <a:solidFill>
                  <a:srgbClr val="000000"/>
                </a:solidFill>
                <a:effectLst/>
                <a:uLnTx/>
                <a:uFillTx/>
                <a:latin typeface="Calibri"/>
                <a:ea typeface="+mn-ea"/>
                <a:cs typeface="Calibri"/>
              </a:rPr>
              <a:t>scenario,</a:t>
            </a:r>
            <a:r>
              <a:rPr kumimoji="0" lang="en-US" sz="1400" b="0" i="0" u="none" strike="noStrike" kern="0" cap="none" spc="204" normalizeH="0" baseline="0" noProof="0" dirty="0">
                <a:ln>
                  <a:noFill/>
                </a:ln>
                <a:solidFill>
                  <a:srgbClr val="000000"/>
                </a:solidFill>
                <a:effectLst/>
                <a:uLnTx/>
                <a:uFillTx/>
                <a:latin typeface="Calibri"/>
                <a:ea typeface="+mn-ea"/>
                <a:cs typeface="Calibri"/>
              </a:rPr>
              <a:t> </a:t>
            </a:r>
            <a:r>
              <a:rPr kumimoji="0" lang="en-US" sz="1400" b="0" i="0" u="none" strike="noStrike" kern="0" cap="none" spc="50" normalizeH="0" baseline="0" noProof="0" dirty="0">
                <a:ln>
                  <a:noFill/>
                </a:ln>
                <a:solidFill>
                  <a:srgbClr val="000000"/>
                </a:solidFill>
                <a:effectLst/>
                <a:uLnTx/>
                <a:uFillTx/>
                <a:latin typeface="Calibri"/>
                <a:ea typeface="+mn-ea"/>
                <a:cs typeface="Calibri"/>
              </a:rPr>
              <a:t>including</a:t>
            </a:r>
            <a:r>
              <a:rPr kumimoji="0" lang="en-US" sz="1400" b="0" i="0" u="none" strike="noStrike" kern="0" cap="none" spc="225" normalizeH="0" baseline="0" noProof="0" dirty="0">
                <a:ln>
                  <a:noFill/>
                </a:ln>
                <a:solidFill>
                  <a:srgbClr val="000000"/>
                </a:solidFill>
                <a:effectLst/>
                <a:uLnTx/>
                <a:uFillTx/>
                <a:latin typeface="Calibri"/>
                <a:ea typeface="+mn-ea"/>
                <a:cs typeface="Calibri"/>
              </a:rPr>
              <a:t> </a:t>
            </a:r>
            <a:r>
              <a:rPr kumimoji="0" lang="en-US" sz="1400" b="0" i="0" u="none" strike="noStrike" kern="0" cap="none" spc="-10" normalizeH="0" baseline="0" noProof="0" dirty="0">
                <a:ln>
                  <a:noFill/>
                </a:ln>
                <a:solidFill>
                  <a:srgbClr val="000000"/>
                </a:solidFill>
                <a:effectLst/>
                <a:uLnTx/>
                <a:uFillTx/>
                <a:latin typeface="Calibri"/>
                <a:ea typeface="+mn-ea"/>
                <a:cs typeface="Calibri"/>
              </a:rPr>
              <a:t>migration</a:t>
            </a:r>
            <a:r>
              <a:rPr kumimoji="0" lang="en-US" sz="1400" b="0" i="0" u="none" strike="noStrike" kern="0" cap="none" spc="500" normalizeH="0" baseline="0" noProof="0" dirty="0">
                <a:ln>
                  <a:noFill/>
                </a:ln>
                <a:solidFill>
                  <a:srgbClr val="000000"/>
                </a:solidFill>
                <a:effectLst/>
                <a:uLnTx/>
                <a:uFillTx/>
                <a:latin typeface="Calibri"/>
                <a:ea typeface="+mn-ea"/>
                <a:cs typeface="Calibri"/>
              </a:rPr>
              <a:t> </a:t>
            </a:r>
            <a:r>
              <a:rPr kumimoji="0" lang="en-US" sz="1400" b="0" i="0" u="none" strike="noStrike" kern="0" cap="none" spc="0" normalizeH="0" baseline="0" noProof="0" dirty="0">
                <a:ln>
                  <a:noFill/>
                </a:ln>
                <a:solidFill>
                  <a:srgbClr val="000000"/>
                </a:solidFill>
                <a:effectLst/>
                <a:uLnTx/>
                <a:uFillTx/>
                <a:latin typeface="Calibri"/>
                <a:ea typeface="+mn-ea"/>
                <a:cs typeface="Calibri"/>
              </a:rPr>
              <a:t>or</a:t>
            </a:r>
            <a:r>
              <a:rPr kumimoji="0" lang="en-US" sz="1400" b="0" i="0" u="none" strike="noStrike" kern="0" cap="none" spc="130" normalizeH="0" baseline="0" noProof="0" dirty="0">
                <a:ln>
                  <a:noFill/>
                </a:ln>
                <a:solidFill>
                  <a:srgbClr val="000000"/>
                </a:solidFill>
                <a:effectLst/>
                <a:uLnTx/>
                <a:uFillTx/>
                <a:latin typeface="Calibri"/>
                <a:ea typeface="+mn-ea"/>
                <a:cs typeface="Calibri"/>
              </a:rPr>
              <a:t> </a:t>
            </a:r>
            <a:r>
              <a:rPr kumimoji="0" lang="en-US" sz="1400" b="0" i="0" u="none" strike="noStrike" kern="0" cap="none" spc="50" normalizeH="0" baseline="0" noProof="0" dirty="0">
                <a:ln>
                  <a:noFill/>
                </a:ln>
                <a:solidFill>
                  <a:srgbClr val="000000"/>
                </a:solidFill>
                <a:effectLst/>
                <a:uLnTx/>
                <a:uFillTx/>
                <a:latin typeface="Calibri"/>
                <a:ea typeface="+mn-ea"/>
                <a:cs typeface="Calibri"/>
              </a:rPr>
              <a:t>implementing</a:t>
            </a:r>
            <a:r>
              <a:rPr kumimoji="0" lang="en-US" sz="1400" b="0" i="0" u="none" strike="noStrike" kern="0" cap="none" spc="105" normalizeH="0" baseline="0" noProof="0" dirty="0">
                <a:ln>
                  <a:noFill/>
                </a:ln>
                <a:solidFill>
                  <a:srgbClr val="000000"/>
                </a:solidFill>
                <a:effectLst/>
                <a:uLnTx/>
                <a:uFillTx/>
                <a:latin typeface="Calibri"/>
                <a:ea typeface="+mn-ea"/>
                <a:cs typeface="Calibri"/>
              </a:rPr>
              <a:t> </a:t>
            </a:r>
            <a:r>
              <a:rPr kumimoji="0" lang="en-US" sz="1400" b="0" i="0" u="none" strike="noStrike" kern="0" cap="none" spc="0" normalizeH="0" baseline="0" noProof="0" dirty="0">
                <a:ln>
                  <a:noFill/>
                </a:ln>
                <a:solidFill>
                  <a:srgbClr val="000000"/>
                </a:solidFill>
                <a:effectLst/>
                <a:uLnTx/>
                <a:uFillTx/>
                <a:latin typeface="Calibri"/>
                <a:ea typeface="+mn-ea"/>
                <a:cs typeface="Calibri"/>
              </a:rPr>
              <a:t>your</a:t>
            </a:r>
            <a:r>
              <a:rPr kumimoji="0" lang="en-US" sz="1400" b="0" i="0" u="none" strike="noStrike" kern="0" cap="none" spc="105" normalizeH="0" baseline="0" noProof="0" dirty="0">
                <a:ln>
                  <a:noFill/>
                </a:ln>
                <a:solidFill>
                  <a:srgbClr val="000000"/>
                </a:solidFill>
                <a:effectLst/>
                <a:uLnTx/>
                <a:uFillTx/>
                <a:latin typeface="Calibri"/>
                <a:ea typeface="+mn-ea"/>
                <a:cs typeface="Calibri"/>
              </a:rPr>
              <a:t> </a:t>
            </a:r>
            <a:r>
              <a:rPr kumimoji="0" lang="en-US" sz="1400" b="0" i="0" u="none" strike="noStrike" kern="0" cap="none" spc="0" normalizeH="0" baseline="0" noProof="0" dirty="0">
                <a:ln>
                  <a:noFill/>
                </a:ln>
                <a:solidFill>
                  <a:srgbClr val="000000"/>
                </a:solidFill>
                <a:effectLst/>
                <a:uLnTx/>
                <a:uFillTx/>
                <a:latin typeface="Calibri"/>
                <a:ea typeface="+mn-ea"/>
                <a:cs typeface="Calibri"/>
              </a:rPr>
              <a:t>first</a:t>
            </a:r>
            <a:r>
              <a:rPr kumimoji="0" lang="en-US" sz="1400" b="0" i="0" u="none" strike="noStrike" kern="0" cap="none" spc="130" normalizeH="0" baseline="0" noProof="0" dirty="0">
                <a:ln>
                  <a:noFill/>
                </a:ln>
                <a:solidFill>
                  <a:srgbClr val="000000"/>
                </a:solidFill>
                <a:effectLst/>
                <a:uLnTx/>
                <a:uFillTx/>
                <a:latin typeface="Calibri"/>
                <a:ea typeface="+mn-ea"/>
                <a:cs typeface="Calibri"/>
              </a:rPr>
              <a:t> </a:t>
            </a:r>
            <a:r>
              <a:rPr kumimoji="0" lang="en-US" sz="1400" b="0" i="0" u="none" strike="noStrike" kern="0" cap="none" spc="80" normalizeH="0" baseline="0" noProof="0" dirty="0">
                <a:ln>
                  <a:noFill/>
                </a:ln>
                <a:solidFill>
                  <a:srgbClr val="000000"/>
                </a:solidFill>
                <a:effectLst/>
                <a:uLnTx/>
                <a:uFillTx/>
                <a:latin typeface="Calibri"/>
                <a:ea typeface="+mn-ea"/>
                <a:cs typeface="Calibri"/>
              </a:rPr>
              <a:t>AI-</a:t>
            </a:r>
            <a:r>
              <a:rPr kumimoji="0" lang="en-US" sz="1400" b="0" i="0" u="none" strike="noStrike" kern="0" cap="none" spc="45" normalizeH="0" baseline="0" noProof="0" dirty="0">
                <a:ln>
                  <a:noFill/>
                </a:ln>
                <a:solidFill>
                  <a:srgbClr val="000000"/>
                </a:solidFill>
                <a:effectLst/>
                <a:uLnTx/>
                <a:uFillTx/>
                <a:latin typeface="Calibri"/>
                <a:ea typeface="+mn-ea"/>
                <a:cs typeface="Calibri"/>
              </a:rPr>
              <a:t>enabled</a:t>
            </a:r>
            <a:r>
              <a:rPr kumimoji="0" lang="en-US" sz="1400" b="0" i="0" u="none" strike="noStrike" kern="0" cap="none" spc="130" normalizeH="0" baseline="0" noProof="0" dirty="0">
                <a:ln>
                  <a:noFill/>
                </a:ln>
                <a:solidFill>
                  <a:srgbClr val="000000"/>
                </a:solidFill>
                <a:effectLst/>
                <a:uLnTx/>
                <a:uFillTx/>
                <a:latin typeface="Calibri"/>
                <a:ea typeface="+mn-ea"/>
                <a:cs typeface="Calibri"/>
              </a:rPr>
              <a:t> </a:t>
            </a:r>
            <a:r>
              <a:rPr kumimoji="0" lang="en-US" sz="1400" b="0" i="0" u="none" strike="noStrike" kern="0" cap="none" spc="-20" normalizeH="0" baseline="0" noProof="0" dirty="0">
                <a:ln>
                  <a:noFill/>
                </a:ln>
                <a:solidFill>
                  <a:srgbClr val="000000"/>
                </a:solidFill>
                <a:effectLst/>
                <a:uLnTx/>
                <a:uFillTx/>
                <a:latin typeface="Calibri"/>
                <a:ea typeface="+mn-ea"/>
                <a:cs typeface="Calibri"/>
              </a:rPr>
              <a:t>app.</a:t>
            </a:r>
            <a:endParaRPr kumimoji="0" lang="en-US" sz="1400" b="1" i="0" u="none" strike="noStrike" kern="0" cap="none" spc="0" normalizeH="0" baseline="0" noProof="0" dirty="0">
              <a:ln>
                <a:noFill/>
              </a:ln>
              <a:solidFill>
                <a:srgbClr val="0078D3"/>
              </a:solidFill>
              <a:effectLst/>
              <a:uLnTx/>
              <a:uFillTx/>
              <a:latin typeface="Calibri"/>
              <a:ea typeface="+mn-ea"/>
              <a:cs typeface="Calibri"/>
            </a:endParaRPr>
          </a:p>
        </p:txBody>
      </p:sp>
      <p:pic>
        <p:nvPicPr>
          <p:cNvPr id="9" name="Graphic 8" descr="Warning with solid fill">
            <a:extLst>
              <a:ext uri="{FF2B5EF4-FFF2-40B4-BE49-F238E27FC236}">
                <a16:creationId xmlns:a16="http://schemas.microsoft.com/office/drawing/2014/main" id="{677FD639-C757-E10F-50E6-37BBB3CBC80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8451" y="996051"/>
            <a:ext cx="1320137" cy="1320137"/>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4396370-5E8A-1CB4-D144-543A4C88E714}"/>
                  </a:ext>
                </a:extLst>
              </p:cNvPr>
              <p:cNvSpPr txBox="1"/>
              <p:nvPr/>
            </p:nvSpPr>
            <p:spPr>
              <a:xfrm>
                <a:off x="1824840" y="1390150"/>
                <a:ext cx="10248405" cy="769441"/>
              </a:xfrm>
              <a:prstGeom prst="rect">
                <a:avLst/>
              </a:prstGeom>
              <a:noFill/>
            </p:spPr>
            <p:txBody>
              <a:bodyPr wrap="square">
                <a:spAutoFit/>
              </a:bodyPr>
              <a:lstStyle/>
              <a:p>
                <a:r>
                  <a:rPr lang="en-US" sz="4400" b="1" dirty="0">
                    <a:latin typeface="Aptos" panose="020B0004020202020204" pitchFamily="34" charset="0"/>
                  </a:rPr>
                  <a:t>Pre-Sales</a:t>
                </a:r>
                <a:r>
                  <a:rPr lang="en-US" sz="4400" b="1" dirty="0">
                    <a:latin typeface="Aptos" panose="020B0004020202020204" pitchFamily="34" charset="0"/>
                    <a:ea typeface="Cambria Math" panose="02040503050406030204" pitchFamily="18" charset="0"/>
                  </a:rPr>
                  <a:t> </a:t>
                </a:r>
                <a14:m>
                  <m:oMath xmlns:m="http://schemas.openxmlformats.org/officeDocument/2006/math">
                    <m:r>
                      <a:rPr lang="en-US" sz="4400" b="1" i="1" dirty="0">
                        <a:latin typeface="Cambria Math" panose="02040503050406030204" pitchFamily="18" charset="0"/>
                        <a:ea typeface="Cambria Math" panose="02040503050406030204" pitchFamily="18" charset="0"/>
                      </a:rPr>
                      <m:t>≠</m:t>
                    </m:r>
                  </m:oMath>
                </a14:m>
                <a:r>
                  <a:rPr lang="en-US" sz="4400" b="1" dirty="0">
                    <a:latin typeface="Aptos" panose="020B0004020202020204" pitchFamily="34" charset="0"/>
                  </a:rPr>
                  <a:t> Solution Architects (SAs)</a:t>
                </a:r>
              </a:p>
            </p:txBody>
          </p:sp>
        </mc:Choice>
        <mc:Fallback xmlns="">
          <p:sp>
            <p:nvSpPr>
              <p:cNvPr id="16" name="TextBox 15">
                <a:extLst>
                  <a:ext uri="{FF2B5EF4-FFF2-40B4-BE49-F238E27FC236}">
                    <a16:creationId xmlns:a16="http://schemas.microsoft.com/office/drawing/2014/main" id="{D4396370-5E8A-1CB4-D144-543A4C88E714}"/>
                  </a:ext>
                </a:extLst>
              </p:cNvPr>
              <p:cNvSpPr txBox="1">
                <a:spLocks noRot="1" noChangeAspect="1" noMove="1" noResize="1" noEditPoints="1" noAdjustHandles="1" noChangeArrowheads="1" noChangeShapeType="1" noTextEdit="1"/>
              </p:cNvSpPr>
              <p:nvPr/>
            </p:nvSpPr>
            <p:spPr>
              <a:xfrm>
                <a:off x="1824840" y="1390150"/>
                <a:ext cx="10248405" cy="769441"/>
              </a:xfrm>
              <a:prstGeom prst="rect">
                <a:avLst/>
              </a:prstGeom>
              <a:blipFill>
                <a:blip r:embed="rId10"/>
                <a:stretch>
                  <a:fillRect l="-2378" t="-15079" b="-38095"/>
                </a:stretch>
              </a:blipFill>
            </p:spPr>
            <p:txBody>
              <a:bodyPr/>
              <a:lstStyle/>
              <a:p>
                <a:r>
                  <a:rPr lang="en-US">
                    <a:noFill/>
                  </a:rPr>
                  <a:t> </a:t>
                </a:r>
              </a:p>
            </p:txBody>
          </p:sp>
        </mc:Fallback>
      </mc:AlternateContent>
    </p:spTree>
    <p:extLst>
      <p:ext uri="{BB962C8B-B14F-4D97-AF65-F5344CB8AC3E}">
        <p14:creationId xmlns:p14="http://schemas.microsoft.com/office/powerpoint/2010/main" val="1659483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object 5"/>
          <p:cNvGrpSpPr/>
          <p:nvPr/>
        </p:nvGrpSpPr>
        <p:grpSpPr>
          <a:xfrm>
            <a:off x="519683" y="1273602"/>
            <a:ext cx="1410970" cy="708025"/>
            <a:chOff x="519683" y="1772361"/>
            <a:chExt cx="1410970" cy="708025"/>
          </a:xfrm>
        </p:grpSpPr>
        <p:pic>
          <p:nvPicPr>
            <p:cNvPr id="6" name="object 6"/>
            <p:cNvPicPr/>
            <p:nvPr/>
          </p:nvPicPr>
          <p:blipFill>
            <a:blip r:embed="rId3" cstate="print"/>
            <a:stretch>
              <a:fillRect/>
            </a:stretch>
          </p:blipFill>
          <p:spPr>
            <a:xfrm>
              <a:off x="519683" y="1772361"/>
              <a:ext cx="1410462" cy="688136"/>
            </a:xfrm>
            <a:prstGeom prst="rect">
              <a:avLst/>
            </a:prstGeom>
          </p:spPr>
        </p:pic>
        <p:pic>
          <p:nvPicPr>
            <p:cNvPr id="7" name="object 7"/>
            <p:cNvPicPr/>
            <p:nvPr/>
          </p:nvPicPr>
          <p:blipFill>
            <a:blip r:embed="rId4" cstate="print"/>
            <a:stretch>
              <a:fillRect/>
            </a:stretch>
          </p:blipFill>
          <p:spPr>
            <a:xfrm>
              <a:off x="678179" y="1801367"/>
              <a:ext cx="1027899" cy="678941"/>
            </a:xfrm>
            <a:prstGeom prst="rect">
              <a:avLst/>
            </a:prstGeom>
          </p:spPr>
        </p:pic>
        <p:sp>
          <p:nvSpPr>
            <p:cNvPr id="8" name="object 8"/>
            <p:cNvSpPr/>
            <p:nvPr/>
          </p:nvSpPr>
          <p:spPr>
            <a:xfrm>
              <a:off x="584199" y="1836546"/>
              <a:ext cx="1235075" cy="512445"/>
            </a:xfrm>
            <a:custGeom>
              <a:avLst/>
              <a:gdLst/>
              <a:ahLst/>
              <a:cxnLst/>
              <a:rect l="l" t="t" r="r" b="b"/>
              <a:pathLst>
                <a:path w="1235075" h="512444">
                  <a:moveTo>
                    <a:pt x="1101470" y="0"/>
                  </a:moveTo>
                  <a:lnTo>
                    <a:pt x="0" y="0"/>
                  </a:lnTo>
                  <a:lnTo>
                    <a:pt x="0" y="512063"/>
                  </a:lnTo>
                  <a:lnTo>
                    <a:pt x="1101470" y="512063"/>
                  </a:lnTo>
                  <a:lnTo>
                    <a:pt x="1235075" y="256031"/>
                  </a:lnTo>
                  <a:lnTo>
                    <a:pt x="1101470" y="0"/>
                  </a:lnTo>
                  <a:close/>
                </a:path>
              </a:pathLst>
            </a:custGeom>
            <a:solidFill>
              <a:srgbClr val="0078D3"/>
            </a:solidFill>
          </p:spPr>
          <p:txBody>
            <a:bodyPr wrap="square" lIns="0" tIns="0" rIns="0" bIns="0" rtlCol="0"/>
            <a:lstStyle/>
            <a:p>
              <a:endParaRPr/>
            </a:p>
          </p:txBody>
        </p:sp>
      </p:grpSp>
      <p:sp>
        <p:nvSpPr>
          <p:cNvPr id="9" name="object 9"/>
          <p:cNvSpPr txBox="1"/>
          <p:nvPr/>
        </p:nvSpPr>
        <p:spPr>
          <a:xfrm>
            <a:off x="820927" y="1397224"/>
            <a:ext cx="694690" cy="391160"/>
          </a:xfrm>
          <a:prstGeom prst="rect">
            <a:avLst/>
          </a:prstGeom>
        </p:spPr>
        <p:txBody>
          <a:bodyPr vert="horz" wrap="square" lIns="0" tIns="12700" rIns="0" bIns="0" rtlCol="0">
            <a:spAutoFit/>
          </a:bodyPr>
          <a:lstStyle/>
          <a:p>
            <a:pPr marL="12700" marR="5080" indent="132080">
              <a:lnSpc>
                <a:spcPct val="100000"/>
              </a:lnSpc>
              <a:spcBef>
                <a:spcPts val="100"/>
              </a:spcBef>
            </a:pPr>
            <a:r>
              <a:rPr sz="1200" b="1" spc="-10" dirty="0">
                <a:solidFill>
                  <a:srgbClr val="FFFFFF"/>
                </a:solidFill>
                <a:latin typeface="Calibri"/>
                <a:cs typeface="Calibri"/>
              </a:rPr>
              <a:t>Listen</a:t>
            </a:r>
            <a:r>
              <a:rPr sz="1200" b="1" spc="500" dirty="0">
                <a:solidFill>
                  <a:srgbClr val="FFFFFF"/>
                </a:solidFill>
                <a:latin typeface="Calibri"/>
                <a:cs typeface="Calibri"/>
              </a:rPr>
              <a:t> </a:t>
            </a:r>
            <a:r>
              <a:rPr sz="1200" b="1" spc="135" dirty="0">
                <a:solidFill>
                  <a:srgbClr val="FFFFFF"/>
                </a:solidFill>
                <a:latin typeface="Calibri"/>
                <a:cs typeface="Calibri"/>
              </a:rPr>
              <a:t>&amp;</a:t>
            </a:r>
            <a:r>
              <a:rPr sz="1200" b="1" spc="45" dirty="0">
                <a:solidFill>
                  <a:srgbClr val="FFFFFF"/>
                </a:solidFill>
                <a:latin typeface="Calibri"/>
                <a:cs typeface="Calibri"/>
              </a:rPr>
              <a:t> </a:t>
            </a:r>
            <a:r>
              <a:rPr sz="1200" b="1" spc="-10" dirty="0">
                <a:solidFill>
                  <a:srgbClr val="FFFFFF"/>
                </a:solidFill>
                <a:latin typeface="Calibri"/>
                <a:cs typeface="Calibri"/>
              </a:rPr>
              <a:t>consult</a:t>
            </a:r>
            <a:endParaRPr sz="1200" dirty="0">
              <a:latin typeface="Calibri"/>
              <a:cs typeface="Calibri"/>
            </a:endParaRPr>
          </a:p>
        </p:txBody>
      </p:sp>
      <p:grpSp>
        <p:nvGrpSpPr>
          <p:cNvPr id="10" name="object 10"/>
          <p:cNvGrpSpPr/>
          <p:nvPr/>
        </p:nvGrpSpPr>
        <p:grpSpPr>
          <a:xfrm>
            <a:off x="1716023" y="1273602"/>
            <a:ext cx="3129915" cy="688340"/>
            <a:chOff x="1716023" y="1772361"/>
            <a:chExt cx="3129915" cy="688340"/>
          </a:xfrm>
        </p:grpSpPr>
        <p:pic>
          <p:nvPicPr>
            <p:cNvPr id="11" name="object 11"/>
            <p:cNvPicPr/>
            <p:nvPr/>
          </p:nvPicPr>
          <p:blipFill>
            <a:blip r:embed="rId5" cstate="print"/>
            <a:stretch>
              <a:fillRect/>
            </a:stretch>
          </p:blipFill>
          <p:spPr>
            <a:xfrm>
              <a:off x="1716023" y="1772361"/>
              <a:ext cx="3129533" cy="688136"/>
            </a:xfrm>
            <a:prstGeom prst="rect">
              <a:avLst/>
            </a:prstGeom>
          </p:spPr>
        </p:pic>
        <p:pic>
          <p:nvPicPr>
            <p:cNvPr id="12" name="object 12"/>
            <p:cNvPicPr/>
            <p:nvPr/>
          </p:nvPicPr>
          <p:blipFill>
            <a:blip r:embed="rId6" cstate="print"/>
            <a:stretch>
              <a:fillRect/>
            </a:stretch>
          </p:blipFill>
          <p:spPr>
            <a:xfrm>
              <a:off x="2532887" y="1892744"/>
              <a:ext cx="1494282" cy="496125"/>
            </a:xfrm>
            <a:prstGeom prst="rect">
              <a:avLst/>
            </a:prstGeom>
          </p:spPr>
        </p:pic>
        <p:pic>
          <p:nvPicPr>
            <p:cNvPr id="13" name="object 13"/>
            <p:cNvPicPr/>
            <p:nvPr/>
          </p:nvPicPr>
          <p:blipFill>
            <a:blip r:embed="rId7" cstate="print"/>
            <a:stretch>
              <a:fillRect/>
            </a:stretch>
          </p:blipFill>
          <p:spPr>
            <a:xfrm>
              <a:off x="1780920" y="1836546"/>
              <a:ext cx="2952750" cy="512063"/>
            </a:xfrm>
            <a:prstGeom prst="rect">
              <a:avLst/>
            </a:prstGeom>
          </p:spPr>
        </p:pic>
      </p:grpSp>
      <p:sp>
        <p:nvSpPr>
          <p:cNvPr id="14" name="object 14"/>
          <p:cNvSpPr txBox="1"/>
          <p:nvPr/>
        </p:nvSpPr>
        <p:spPr>
          <a:xfrm>
            <a:off x="2677160" y="1488663"/>
            <a:ext cx="1160145"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Calibri"/>
                <a:cs typeface="Calibri"/>
              </a:rPr>
              <a:t>Inspire</a:t>
            </a:r>
            <a:r>
              <a:rPr sz="1200" b="1" spc="150" dirty="0">
                <a:solidFill>
                  <a:srgbClr val="FFFFFF"/>
                </a:solidFill>
                <a:latin typeface="Calibri"/>
                <a:cs typeface="Calibri"/>
              </a:rPr>
              <a:t> </a:t>
            </a:r>
            <a:r>
              <a:rPr sz="1200" b="1" spc="135" dirty="0">
                <a:solidFill>
                  <a:srgbClr val="FFFFFF"/>
                </a:solidFill>
                <a:latin typeface="Calibri"/>
                <a:cs typeface="Calibri"/>
              </a:rPr>
              <a:t>&amp;</a:t>
            </a:r>
            <a:r>
              <a:rPr sz="1200" b="1" spc="170" dirty="0">
                <a:solidFill>
                  <a:srgbClr val="FFFFFF"/>
                </a:solidFill>
                <a:latin typeface="Calibri"/>
                <a:cs typeface="Calibri"/>
              </a:rPr>
              <a:t> </a:t>
            </a:r>
            <a:r>
              <a:rPr sz="1200" b="1" spc="45" dirty="0">
                <a:solidFill>
                  <a:srgbClr val="FFFFFF"/>
                </a:solidFill>
                <a:latin typeface="Calibri"/>
                <a:cs typeface="Calibri"/>
              </a:rPr>
              <a:t>design</a:t>
            </a:r>
            <a:endParaRPr sz="1200">
              <a:latin typeface="Calibri"/>
              <a:cs typeface="Calibri"/>
            </a:endParaRPr>
          </a:p>
        </p:txBody>
      </p:sp>
      <p:grpSp>
        <p:nvGrpSpPr>
          <p:cNvPr id="15" name="object 15"/>
          <p:cNvGrpSpPr/>
          <p:nvPr/>
        </p:nvGrpSpPr>
        <p:grpSpPr>
          <a:xfrm>
            <a:off x="4631435" y="1273602"/>
            <a:ext cx="3565525" cy="688340"/>
            <a:chOff x="4631435" y="1772361"/>
            <a:chExt cx="3565525" cy="688340"/>
          </a:xfrm>
        </p:grpSpPr>
        <p:pic>
          <p:nvPicPr>
            <p:cNvPr id="16" name="object 16"/>
            <p:cNvPicPr/>
            <p:nvPr/>
          </p:nvPicPr>
          <p:blipFill>
            <a:blip r:embed="rId8" cstate="print"/>
            <a:stretch>
              <a:fillRect/>
            </a:stretch>
          </p:blipFill>
          <p:spPr>
            <a:xfrm>
              <a:off x="4631435" y="1772361"/>
              <a:ext cx="3565398" cy="688136"/>
            </a:xfrm>
            <a:prstGeom prst="rect">
              <a:avLst/>
            </a:prstGeom>
          </p:spPr>
        </p:pic>
        <p:pic>
          <p:nvPicPr>
            <p:cNvPr id="17" name="object 17"/>
            <p:cNvPicPr/>
            <p:nvPr/>
          </p:nvPicPr>
          <p:blipFill>
            <a:blip r:embed="rId9" cstate="print"/>
            <a:stretch>
              <a:fillRect/>
            </a:stretch>
          </p:blipFill>
          <p:spPr>
            <a:xfrm>
              <a:off x="5545835" y="1892744"/>
              <a:ext cx="1735073" cy="496125"/>
            </a:xfrm>
            <a:prstGeom prst="rect">
              <a:avLst/>
            </a:prstGeom>
          </p:spPr>
        </p:pic>
        <p:pic>
          <p:nvPicPr>
            <p:cNvPr id="18" name="object 18"/>
            <p:cNvPicPr/>
            <p:nvPr/>
          </p:nvPicPr>
          <p:blipFill>
            <a:blip r:embed="rId10" cstate="print"/>
            <a:stretch>
              <a:fillRect/>
            </a:stretch>
          </p:blipFill>
          <p:spPr>
            <a:xfrm>
              <a:off x="4695443" y="1836546"/>
              <a:ext cx="3389883" cy="512063"/>
            </a:xfrm>
            <a:prstGeom prst="rect">
              <a:avLst/>
            </a:prstGeom>
          </p:spPr>
        </p:pic>
      </p:grpSp>
      <p:sp>
        <p:nvSpPr>
          <p:cNvPr id="19" name="object 19"/>
          <p:cNvSpPr txBox="1"/>
          <p:nvPr/>
        </p:nvSpPr>
        <p:spPr>
          <a:xfrm>
            <a:off x="5690361" y="1488663"/>
            <a:ext cx="140208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Calibri"/>
                <a:cs typeface="Calibri"/>
              </a:rPr>
              <a:t>Empower</a:t>
            </a:r>
            <a:r>
              <a:rPr sz="1200" b="1" spc="190" dirty="0">
                <a:solidFill>
                  <a:srgbClr val="FFFFFF"/>
                </a:solidFill>
                <a:latin typeface="Calibri"/>
                <a:cs typeface="Calibri"/>
              </a:rPr>
              <a:t> </a:t>
            </a:r>
            <a:r>
              <a:rPr sz="1200" b="1" spc="135" dirty="0">
                <a:solidFill>
                  <a:srgbClr val="FFFFFF"/>
                </a:solidFill>
                <a:latin typeface="Calibri"/>
                <a:cs typeface="Calibri"/>
              </a:rPr>
              <a:t>&amp;</a:t>
            </a:r>
            <a:r>
              <a:rPr sz="1200" b="1" spc="195" dirty="0">
                <a:solidFill>
                  <a:srgbClr val="FFFFFF"/>
                </a:solidFill>
                <a:latin typeface="Calibri"/>
                <a:cs typeface="Calibri"/>
              </a:rPr>
              <a:t> </a:t>
            </a:r>
            <a:r>
              <a:rPr sz="1200" b="1" spc="-10" dirty="0">
                <a:solidFill>
                  <a:srgbClr val="FFFFFF"/>
                </a:solidFill>
                <a:latin typeface="Calibri"/>
                <a:cs typeface="Calibri"/>
              </a:rPr>
              <a:t>achieve</a:t>
            </a:r>
            <a:endParaRPr sz="1200">
              <a:latin typeface="Calibri"/>
              <a:cs typeface="Calibri"/>
            </a:endParaRPr>
          </a:p>
        </p:txBody>
      </p:sp>
      <p:grpSp>
        <p:nvGrpSpPr>
          <p:cNvPr id="20" name="object 20"/>
          <p:cNvGrpSpPr/>
          <p:nvPr/>
        </p:nvGrpSpPr>
        <p:grpSpPr>
          <a:xfrm>
            <a:off x="7982711" y="1273602"/>
            <a:ext cx="2533650" cy="688340"/>
            <a:chOff x="7982711" y="1772361"/>
            <a:chExt cx="2533650" cy="688340"/>
          </a:xfrm>
        </p:grpSpPr>
        <p:pic>
          <p:nvPicPr>
            <p:cNvPr id="21" name="object 21"/>
            <p:cNvPicPr/>
            <p:nvPr/>
          </p:nvPicPr>
          <p:blipFill>
            <a:blip r:embed="rId11" cstate="print"/>
            <a:stretch>
              <a:fillRect/>
            </a:stretch>
          </p:blipFill>
          <p:spPr>
            <a:xfrm>
              <a:off x="7982711" y="1772361"/>
              <a:ext cx="2533650" cy="688136"/>
            </a:xfrm>
            <a:prstGeom prst="rect">
              <a:avLst/>
            </a:prstGeom>
          </p:spPr>
        </p:pic>
        <p:pic>
          <p:nvPicPr>
            <p:cNvPr id="22" name="object 22"/>
            <p:cNvPicPr/>
            <p:nvPr/>
          </p:nvPicPr>
          <p:blipFill>
            <a:blip r:embed="rId12" cstate="print"/>
            <a:stretch>
              <a:fillRect/>
            </a:stretch>
          </p:blipFill>
          <p:spPr>
            <a:xfrm>
              <a:off x="8624315" y="1892744"/>
              <a:ext cx="1250467" cy="496125"/>
            </a:xfrm>
            <a:prstGeom prst="rect">
              <a:avLst/>
            </a:prstGeom>
          </p:spPr>
        </p:pic>
        <p:pic>
          <p:nvPicPr>
            <p:cNvPr id="23" name="object 23"/>
            <p:cNvPicPr/>
            <p:nvPr/>
          </p:nvPicPr>
          <p:blipFill>
            <a:blip r:embed="rId13" cstate="print"/>
            <a:stretch>
              <a:fillRect/>
            </a:stretch>
          </p:blipFill>
          <p:spPr>
            <a:xfrm>
              <a:off x="8047100" y="1836546"/>
              <a:ext cx="2357247" cy="512063"/>
            </a:xfrm>
            <a:prstGeom prst="rect">
              <a:avLst/>
            </a:prstGeom>
          </p:spPr>
        </p:pic>
      </p:grpSp>
      <p:sp>
        <p:nvSpPr>
          <p:cNvPr id="24" name="object 24"/>
          <p:cNvSpPr txBox="1"/>
          <p:nvPr/>
        </p:nvSpPr>
        <p:spPr>
          <a:xfrm>
            <a:off x="8768588" y="1488663"/>
            <a:ext cx="91694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Calibri"/>
                <a:cs typeface="Calibri"/>
              </a:rPr>
              <a:t>Realize</a:t>
            </a:r>
            <a:r>
              <a:rPr sz="1200" b="1" spc="295" dirty="0">
                <a:solidFill>
                  <a:srgbClr val="FFFFFF"/>
                </a:solidFill>
                <a:latin typeface="Calibri"/>
                <a:cs typeface="Calibri"/>
              </a:rPr>
              <a:t> </a:t>
            </a:r>
            <a:r>
              <a:rPr sz="1200" b="1" spc="-10" dirty="0">
                <a:solidFill>
                  <a:srgbClr val="FFFFFF"/>
                </a:solidFill>
                <a:latin typeface="Calibri"/>
                <a:cs typeface="Calibri"/>
              </a:rPr>
              <a:t>value</a:t>
            </a:r>
            <a:endParaRPr sz="1200">
              <a:latin typeface="Calibri"/>
              <a:cs typeface="Calibri"/>
            </a:endParaRPr>
          </a:p>
        </p:txBody>
      </p:sp>
      <p:grpSp>
        <p:nvGrpSpPr>
          <p:cNvPr id="25" name="object 25"/>
          <p:cNvGrpSpPr/>
          <p:nvPr/>
        </p:nvGrpSpPr>
        <p:grpSpPr>
          <a:xfrm>
            <a:off x="10302240" y="1273602"/>
            <a:ext cx="1510030" cy="708025"/>
            <a:chOff x="10302240" y="1772361"/>
            <a:chExt cx="1510030" cy="708025"/>
          </a:xfrm>
        </p:grpSpPr>
        <p:pic>
          <p:nvPicPr>
            <p:cNvPr id="26" name="object 26"/>
            <p:cNvPicPr/>
            <p:nvPr/>
          </p:nvPicPr>
          <p:blipFill>
            <a:blip r:embed="rId14" cstate="print"/>
            <a:stretch>
              <a:fillRect/>
            </a:stretch>
          </p:blipFill>
          <p:spPr>
            <a:xfrm>
              <a:off x="10302240" y="1772361"/>
              <a:ext cx="1509522" cy="688136"/>
            </a:xfrm>
            <a:prstGeom prst="rect">
              <a:avLst/>
            </a:prstGeom>
          </p:spPr>
        </p:pic>
        <p:pic>
          <p:nvPicPr>
            <p:cNvPr id="27" name="object 27"/>
            <p:cNvPicPr/>
            <p:nvPr/>
          </p:nvPicPr>
          <p:blipFill>
            <a:blip r:embed="rId15" cstate="print"/>
            <a:stretch>
              <a:fillRect/>
            </a:stretch>
          </p:blipFill>
          <p:spPr>
            <a:xfrm>
              <a:off x="10511028" y="1801367"/>
              <a:ext cx="1128534" cy="678941"/>
            </a:xfrm>
            <a:prstGeom prst="rect">
              <a:avLst/>
            </a:prstGeom>
          </p:spPr>
        </p:pic>
        <p:sp>
          <p:nvSpPr>
            <p:cNvPr id="28" name="object 28"/>
            <p:cNvSpPr/>
            <p:nvPr/>
          </p:nvSpPr>
          <p:spPr>
            <a:xfrm>
              <a:off x="10366121" y="1836546"/>
              <a:ext cx="1334770" cy="512445"/>
            </a:xfrm>
            <a:custGeom>
              <a:avLst/>
              <a:gdLst/>
              <a:ahLst/>
              <a:cxnLst/>
              <a:rect l="l" t="t" r="r" b="b"/>
              <a:pathLst>
                <a:path w="1334770" h="512444">
                  <a:moveTo>
                    <a:pt x="1197736" y="0"/>
                  </a:moveTo>
                  <a:lnTo>
                    <a:pt x="0" y="0"/>
                  </a:lnTo>
                  <a:lnTo>
                    <a:pt x="136525" y="256031"/>
                  </a:lnTo>
                  <a:lnTo>
                    <a:pt x="0" y="512063"/>
                  </a:lnTo>
                  <a:lnTo>
                    <a:pt x="1197736" y="512063"/>
                  </a:lnTo>
                  <a:lnTo>
                    <a:pt x="1334261" y="256031"/>
                  </a:lnTo>
                  <a:lnTo>
                    <a:pt x="1197736" y="0"/>
                  </a:lnTo>
                  <a:close/>
                </a:path>
              </a:pathLst>
            </a:custGeom>
            <a:solidFill>
              <a:srgbClr val="0078D3"/>
            </a:solidFill>
          </p:spPr>
          <p:txBody>
            <a:bodyPr wrap="square" lIns="0" tIns="0" rIns="0" bIns="0" rtlCol="0"/>
            <a:lstStyle/>
            <a:p>
              <a:endParaRPr/>
            </a:p>
          </p:txBody>
        </p:sp>
      </p:grpSp>
      <p:sp>
        <p:nvSpPr>
          <p:cNvPr id="29" name="object 29"/>
          <p:cNvSpPr txBox="1"/>
          <p:nvPr/>
        </p:nvSpPr>
        <p:spPr>
          <a:xfrm>
            <a:off x="10656189" y="1397224"/>
            <a:ext cx="755015" cy="391160"/>
          </a:xfrm>
          <a:prstGeom prst="rect">
            <a:avLst/>
          </a:prstGeom>
        </p:spPr>
        <p:txBody>
          <a:bodyPr vert="horz" wrap="square" lIns="0" tIns="12700" rIns="0" bIns="0" rtlCol="0">
            <a:spAutoFit/>
          </a:bodyPr>
          <a:lstStyle/>
          <a:p>
            <a:pPr marL="74930" marR="5080" indent="-62865">
              <a:lnSpc>
                <a:spcPct val="100000"/>
              </a:lnSpc>
              <a:spcBef>
                <a:spcPts val="100"/>
              </a:spcBef>
            </a:pPr>
            <a:r>
              <a:rPr sz="1200" b="1" spc="55" dirty="0">
                <a:solidFill>
                  <a:srgbClr val="FFFFFF"/>
                </a:solidFill>
                <a:latin typeface="Calibri"/>
                <a:cs typeface="Calibri"/>
              </a:rPr>
              <a:t>Manage </a:t>
            </a:r>
            <a:r>
              <a:rPr sz="1200" b="1" spc="85" dirty="0">
                <a:solidFill>
                  <a:srgbClr val="FFFFFF"/>
                </a:solidFill>
                <a:latin typeface="Calibri"/>
                <a:cs typeface="Calibri"/>
              </a:rPr>
              <a:t>&amp; </a:t>
            </a:r>
            <a:r>
              <a:rPr sz="1200" b="1" spc="-10" dirty="0">
                <a:solidFill>
                  <a:srgbClr val="FFFFFF"/>
                </a:solidFill>
                <a:latin typeface="Calibri"/>
                <a:cs typeface="Calibri"/>
              </a:rPr>
              <a:t>optimize</a:t>
            </a:r>
            <a:endParaRPr sz="1200">
              <a:latin typeface="Calibri"/>
              <a:cs typeface="Calibri"/>
            </a:endParaRPr>
          </a:p>
        </p:txBody>
      </p:sp>
      <p:sp>
        <p:nvSpPr>
          <p:cNvPr id="30" name="object 30"/>
          <p:cNvSpPr txBox="1"/>
          <p:nvPr/>
        </p:nvSpPr>
        <p:spPr>
          <a:xfrm>
            <a:off x="565505" y="1914495"/>
            <a:ext cx="1216660" cy="431800"/>
          </a:xfrm>
          <a:prstGeom prst="rect">
            <a:avLst/>
          </a:prstGeom>
        </p:spPr>
        <p:txBody>
          <a:bodyPr vert="horz" wrap="square" lIns="0" tIns="37465" rIns="0" bIns="0" rtlCol="0">
            <a:spAutoFit/>
          </a:bodyPr>
          <a:lstStyle/>
          <a:p>
            <a:pPr marL="47625" marR="5080" indent="-35560">
              <a:lnSpc>
                <a:spcPts val="1510"/>
              </a:lnSpc>
              <a:spcBef>
                <a:spcPts val="295"/>
              </a:spcBef>
            </a:pPr>
            <a:r>
              <a:rPr sz="1400" b="1" dirty="0">
                <a:solidFill>
                  <a:srgbClr val="0078D3"/>
                </a:solidFill>
                <a:latin typeface="Calibri"/>
                <a:cs typeface="Calibri"/>
              </a:rPr>
              <a:t>Start</a:t>
            </a:r>
            <a:r>
              <a:rPr sz="1400" b="1" spc="220" dirty="0">
                <a:solidFill>
                  <a:srgbClr val="0078D3"/>
                </a:solidFill>
                <a:latin typeface="Calibri"/>
                <a:cs typeface="Calibri"/>
              </a:rPr>
              <a:t> </a:t>
            </a:r>
            <a:r>
              <a:rPr sz="1400" b="1" spc="40" dirty="0">
                <a:solidFill>
                  <a:srgbClr val="0078D3"/>
                </a:solidFill>
                <a:latin typeface="Calibri"/>
                <a:cs typeface="Calibri"/>
              </a:rPr>
              <a:t>customer </a:t>
            </a:r>
            <a:r>
              <a:rPr sz="1400" b="1" spc="35" dirty="0">
                <a:solidFill>
                  <a:srgbClr val="0078D3"/>
                </a:solidFill>
                <a:latin typeface="Calibri"/>
                <a:cs typeface="Calibri"/>
              </a:rPr>
              <a:t>conversations</a:t>
            </a:r>
            <a:endParaRPr sz="1400" dirty="0">
              <a:latin typeface="Calibri"/>
              <a:cs typeface="Calibri"/>
            </a:endParaRPr>
          </a:p>
        </p:txBody>
      </p:sp>
      <p:grpSp>
        <p:nvGrpSpPr>
          <p:cNvPr id="31" name="object 31"/>
          <p:cNvGrpSpPr/>
          <p:nvPr/>
        </p:nvGrpSpPr>
        <p:grpSpPr>
          <a:xfrm>
            <a:off x="1246200" y="2441545"/>
            <a:ext cx="9699625" cy="3716020"/>
            <a:chOff x="1246200" y="2940304"/>
            <a:chExt cx="9699625" cy="3716020"/>
          </a:xfrm>
        </p:grpSpPr>
        <p:sp>
          <p:nvSpPr>
            <p:cNvPr id="32" name="object 32"/>
            <p:cNvSpPr/>
            <p:nvPr/>
          </p:nvSpPr>
          <p:spPr>
            <a:xfrm>
              <a:off x="1246200" y="2940304"/>
              <a:ext cx="9699625" cy="3716020"/>
            </a:xfrm>
            <a:custGeom>
              <a:avLst/>
              <a:gdLst/>
              <a:ahLst/>
              <a:cxnLst/>
              <a:rect l="l" t="t" r="r" b="b"/>
              <a:pathLst>
                <a:path w="9699625" h="3716020">
                  <a:moveTo>
                    <a:pt x="0" y="183769"/>
                  </a:moveTo>
                  <a:lnTo>
                    <a:pt x="6560" y="134922"/>
                  </a:lnTo>
                  <a:lnTo>
                    <a:pt x="25074" y="91026"/>
                  </a:lnTo>
                  <a:lnTo>
                    <a:pt x="53794" y="53832"/>
                  </a:lnTo>
                  <a:lnTo>
                    <a:pt x="90969" y="25094"/>
                  </a:lnTo>
                  <a:lnTo>
                    <a:pt x="134852" y="6565"/>
                  </a:lnTo>
                  <a:lnTo>
                    <a:pt x="183692" y="0"/>
                  </a:lnTo>
                  <a:lnTo>
                    <a:pt x="9515906" y="0"/>
                  </a:lnTo>
                  <a:lnTo>
                    <a:pt x="9564743" y="6565"/>
                  </a:lnTo>
                  <a:lnTo>
                    <a:pt x="9608616" y="25094"/>
                  </a:lnTo>
                  <a:lnTo>
                    <a:pt x="9645780" y="53832"/>
                  </a:lnTo>
                  <a:lnTo>
                    <a:pt x="9674487" y="91026"/>
                  </a:lnTo>
                  <a:lnTo>
                    <a:pt x="9692992" y="134922"/>
                  </a:lnTo>
                  <a:lnTo>
                    <a:pt x="9699548" y="183769"/>
                  </a:lnTo>
                  <a:lnTo>
                    <a:pt x="9699548" y="3532314"/>
                  </a:lnTo>
                  <a:lnTo>
                    <a:pt x="9692992" y="3581151"/>
                  </a:lnTo>
                  <a:lnTo>
                    <a:pt x="9674487" y="3625035"/>
                  </a:lnTo>
                  <a:lnTo>
                    <a:pt x="9645780" y="3662214"/>
                  </a:lnTo>
                  <a:lnTo>
                    <a:pt x="9608616" y="3690939"/>
                  </a:lnTo>
                  <a:lnTo>
                    <a:pt x="9564743" y="3709458"/>
                  </a:lnTo>
                  <a:lnTo>
                    <a:pt x="9515906" y="3716020"/>
                  </a:lnTo>
                  <a:lnTo>
                    <a:pt x="183692" y="3716020"/>
                  </a:lnTo>
                  <a:lnTo>
                    <a:pt x="134852" y="3709458"/>
                  </a:lnTo>
                  <a:lnTo>
                    <a:pt x="90969" y="3690939"/>
                  </a:lnTo>
                  <a:lnTo>
                    <a:pt x="53794" y="3662214"/>
                  </a:lnTo>
                  <a:lnTo>
                    <a:pt x="25074" y="3625035"/>
                  </a:lnTo>
                  <a:lnTo>
                    <a:pt x="6560" y="3581151"/>
                  </a:lnTo>
                  <a:lnTo>
                    <a:pt x="0" y="3532314"/>
                  </a:lnTo>
                  <a:lnTo>
                    <a:pt x="0" y="183769"/>
                  </a:lnTo>
                  <a:close/>
                </a:path>
              </a:pathLst>
            </a:custGeom>
            <a:ln w="15875">
              <a:solidFill>
                <a:schemeClr val="tx2"/>
              </a:solidFill>
              <a:prstDash val="sysDash"/>
            </a:ln>
          </p:spPr>
          <p:txBody>
            <a:bodyPr wrap="square" lIns="0" tIns="0" rIns="0" bIns="0" rtlCol="0"/>
            <a:lstStyle/>
            <a:p>
              <a:endParaRPr/>
            </a:p>
          </p:txBody>
        </p:sp>
        <p:sp>
          <p:nvSpPr>
            <p:cNvPr id="33" name="object 33"/>
            <p:cNvSpPr/>
            <p:nvPr/>
          </p:nvSpPr>
          <p:spPr>
            <a:xfrm>
              <a:off x="1422272" y="3209798"/>
              <a:ext cx="3889375" cy="3270885"/>
            </a:xfrm>
            <a:custGeom>
              <a:avLst/>
              <a:gdLst/>
              <a:ahLst/>
              <a:cxnLst/>
              <a:rect l="l" t="t" r="r" b="b"/>
              <a:pathLst>
                <a:path w="3889375" h="3270885">
                  <a:moveTo>
                    <a:pt x="3724021" y="0"/>
                  </a:moveTo>
                  <a:lnTo>
                    <a:pt x="164719" y="0"/>
                  </a:lnTo>
                  <a:lnTo>
                    <a:pt x="120899" y="5886"/>
                  </a:lnTo>
                  <a:lnTo>
                    <a:pt x="81543" y="22497"/>
                  </a:lnTo>
                  <a:lnTo>
                    <a:pt x="48212" y="48260"/>
                  </a:lnTo>
                  <a:lnTo>
                    <a:pt x="22469" y="81599"/>
                  </a:lnTo>
                  <a:lnTo>
                    <a:pt x="5877" y="120943"/>
                  </a:lnTo>
                  <a:lnTo>
                    <a:pt x="0" y="164718"/>
                  </a:lnTo>
                  <a:lnTo>
                    <a:pt x="0" y="3106077"/>
                  </a:lnTo>
                  <a:lnTo>
                    <a:pt x="5877" y="3149871"/>
                  </a:lnTo>
                  <a:lnTo>
                    <a:pt x="22469" y="3189225"/>
                  </a:lnTo>
                  <a:lnTo>
                    <a:pt x="48212" y="3222567"/>
                  </a:lnTo>
                  <a:lnTo>
                    <a:pt x="81543" y="3248328"/>
                  </a:lnTo>
                  <a:lnTo>
                    <a:pt x="120899" y="3264936"/>
                  </a:lnTo>
                  <a:lnTo>
                    <a:pt x="164719" y="3270821"/>
                  </a:lnTo>
                  <a:lnTo>
                    <a:pt x="3724021" y="3270821"/>
                  </a:lnTo>
                  <a:lnTo>
                    <a:pt x="3767849" y="3264936"/>
                  </a:lnTo>
                  <a:lnTo>
                    <a:pt x="3807229" y="3248328"/>
                  </a:lnTo>
                  <a:lnTo>
                    <a:pt x="3840591" y="3222567"/>
                  </a:lnTo>
                  <a:lnTo>
                    <a:pt x="3866364" y="3189225"/>
                  </a:lnTo>
                  <a:lnTo>
                    <a:pt x="3882979" y="3149871"/>
                  </a:lnTo>
                  <a:lnTo>
                    <a:pt x="3888866" y="3106077"/>
                  </a:lnTo>
                  <a:lnTo>
                    <a:pt x="3888866" y="164718"/>
                  </a:lnTo>
                  <a:lnTo>
                    <a:pt x="3882979" y="120943"/>
                  </a:lnTo>
                  <a:lnTo>
                    <a:pt x="3866364" y="81599"/>
                  </a:lnTo>
                  <a:lnTo>
                    <a:pt x="3840591" y="48260"/>
                  </a:lnTo>
                  <a:lnTo>
                    <a:pt x="3807229" y="22497"/>
                  </a:lnTo>
                  <a:lnTo>
                    <a:pt x="3767849" y="5886"/>
                  </a:lnTo>
                  <a:lnTo>
                    <a:pt x="3724021" y="0"/>
                  </a:lnTo>
                  <a:close/>
                </a:path>
              </a:pathLst>
            </a:custGeom>
            <a:solidFill>
              <a:srgbClr val="F4F4F6">
                <a:alpha val="79998"/>
              </a:srgbClr>
            </a:solidFill>
          </p:spPr>
          <p:txBody>
            <a:bodyPr wrap="square" lIns="0" tIns="0" rIns="0" bIns="0" rtlCol="0"/>
            <a:lstStyle/>
            <a:p>
              <a:endParaRPr dirty="0"/>
            </a:p>
          </p:txBody>
        </p:sp>
        <p:sp>
          <p:nvSpPr>
            <p:cNvPr id="34" name="object 34"/>
            <p:cNvSpPr/>
            <p:nvPr/>
          </p:nvSpPr>
          <p:spPr>
            <a:xfrm>
              <a:off x="1422272" y="3209798"/>
              <a:ext cx="3889375" cy="3270885"/>
            </a:xfrm>
            <a:custGeom>
              <a:avLst/>
              <a:gdLst/>
              <a:ahLst/>
              <a:cxnLst/>
              <a:rect l="l" t="t" r="r" b="b"/>
              <a:pathLst>
                <a:path w="3889375" h="3270885">
                  <a:moveTo>
                    <a:pt x="0" y="164718"/>
                  </a:moveTo>
                  <a:lnTo>
                    <a:pt x="5877" y="120943"/>
                  </a:lnTo>
                  <a:lnTo>
                    <a:pt x="22469" y="81599"/>
                  </a:lnTo>
                  <a:lnTo>
                    <a:pt x="48212" y="48260"/>
                  </a:lnTo>
                  <a:lnTo>
                    <a:pt x="81543" y="22497"/>
                  </a:lnTo>
                  <a:lnTo>
                    <a:pt x="120899" y="5886"/>
                  </a:lnTo>
                  <a:lnTo>
                    <a:pt x="164719" y="0"/>
                  </a:lnTo>
                  <a:lnTo>
                    <a:pt x="3724021" y="0"/>
                  </a:lnTo>
                  <a:lnTo>
                    <a:pt x="3767849" y="5886"/>
                  </a:lnTo>
                  <a:lnTo>
                    <a:pt x="3807229" y="22497"/>
                  </a:lnTo>
                  <a:lnTo>
                    <a:pt x="3840591" y="48260"/>
                  </a:lnTo>
                  <a:lnTo>
                    <a:pt x="3866364" y="81599"/>
                  </a:lnTo>
                  <a:lnTo>
                    <a:pt x="3882979" y="120943"/>
                  </a:lnTo>
                  <a:lnTo>
                    <a:pt x="3888866" y="164718"/>
                  </a:lnTo>
                  <a:lnTo>
                    <a:pt x="3888866" y="3106077"/>
                  </a:lnTo>
                  <a:lnTo>
                    <a:pt x="3882979" y="3149871"/>
                  </a:lnTo>
                  <a:lnTo>
                    <a:pt x="3866364" y="3189225"/>
                  </a:lnTo>
                  <a:lnTo>
                    <a:pt x="3840591" y="3222567"/>
                  </a:lnTo>
                  <a:lnTo>
                    <a:pt x="3807229" y="3248328"/>
                  </a:lnTo>
                  <a:lnTo>
                    <a:pt x="3767849" y="3264936"/>
                  </a:lnTo>
                  <a:lnTo>
                    <a:pt x="3724021" y="3270821"/>
                  </a:lnTo>
                  <a:lnTo>
                    <a:pt x="164719" y="3270821"/>
                  </a:lnTo>
                  <a:lnTo>
                    <a:pt x="120899" y="3264936"/>
                  </a:lnTo>
                  <a:lnTo>
                    <a:pt x="81543" y="3248328"/>
                  </a:lnTo>
                  <a:lnTo>
                    <a:pt x="48212" y="3222567"/>
                  </a:lnTo>
                  <a:lnTo>
                    <a:pt x="22469" y="3189225"/>
                  </a:lnTo>
                  <a:lnTo>
                    <a:pt x="5877" y="3149871"/>
                  </a:lnTo>
                  <a:lnTo>
                    <a:pt x="0" y="3106077"/>
                  </a:lnTo>
                  <a:lnTo>
                    <a:pt x="0" y="164718"/>
                  </a:lnTo>
                  <a:close/>
                </a:path>
              </a:pathLst>
            </a:custGeom>
            <a:ln w="12700">
              <a:solidFill>
                <a:srgbClr val="FFFFFF"/>
              </a:solidFill>
            </a:ln>
          </p:spPr>
          <p:txBody>
            <a:bodyPr wrap="square" lIns="0" tIns="0" rIns="0" bIns="0" rtlCol="0"/>
            <a:lstStyle/>
            <a:p>
              <a:endParaRPr/>
            </a:p>
          </p:txBody>
        </p:sp>
      </p:grpSp>
      <p:sp>
        <p:nvSpPr>
          <p:cNvPr id="35" name="object 35"/>
          <p:cNvSpPr txBox="1"/>
          <p:nvPr/>
        </p:nvSpPr>
        <p:spPr>
          <a:xfrm>
            <a:off x="3008502" y="2744058"/>
            <a:ext cx="717550" cy="484505"/>
          </a:xfrm>
          <a:prstGeom prst="rect">
            <a:avLst/>
          </a:prstGeom>
        </p:spPr>
        <p:txBody>
          <a:bodyPr vert="horz" wrap="square" lIns="0" tIns="12700" rIns="0" bIns="0" rtlCol="0">
            <a:spAutoFit/>
          </a:bodyPr>
          <a:lstStyle/>
          <a:p>
            <a:pPr algn="ctr">
              <a:lnSpc>
                <a:spcPct val="100000"/>
              </a:lnSpc>
              <a:spcBef>
                <a:spcPts val="100"/>
              </a:spcBef>
            </a:pPr>
            <a:r>
              <a:rPr sz="1800" b="1" spc="40" dirty="0">
                <a:solidFill>
                  <a:schemeClr val="tx2"/>
                </a:solidFill>
                <a:latin typeface="Calibri"/>
                <a:cs typeface="Calibri"/>
              </a:rPr>
              <a:t>Plan</a:t>
            </a:r>
            <a:endParaRPr sz="1800" dirty="0">
              <a:solidFill>
                <a:schemeClr val="tx2"/>
              </a:solidFill>
              <a:latin typeface="Calibri"/>
              <a:cs typeface="Calibri"/>
            </a:endParaRPr>
          </a:p>
          <a:p>
            <a:pPr algn="ctr">
              <a:lnSpc>
                <a:spcPct val="100000"/>
              </a:lnSpc>
              <a:spcBef>
                <a:spcPts val="10"/>
              </a:spcBef>
            </a:pPr>
            <a:r>
              <a:rPr sz="1200" dirty="0">
                <a:solidFill>
                  <a:schemeClr val="tx2"/>
                </a:solidFill>
                <a:latin typeface="Calibri"/>
                <a:cs typeface="Calibri"/>
              </a:rPr>
              <a:t>(Pre-</a:t>
            </a:r>
            <a:r>
              <a:rPr sz="1200" spc="-10" dirty="0">
                <a:solidFill>
                  <a:schemeClr val="tx2"/>
                </a:solidFill>
                <a:latin typeface="Calibri"/>
                <a:cs typeface="Calibri"/>
              </a:rPr>
              <a:t>sales)</a:t>
            </a:r>
            <a:endParaRPr sz="1200" dirty="0">
              <a:solidFill>
                <a:schemeClr val="tx2"/>
              </a:solidFill>
              <a:latin typeface="Calibri"/>
              <a:cs typeface="Calibri"/>
            </a:endParaRPr>
          </a:p>
        </p:txBody>
      </p:sp>
      <p:grpSp>
        <p:nvGrpSpPr>
          <p:cNvPr id="36" name="object 36"/>
          <p:cNvGrpSpPr/>
          <p:nvPr/>
        </p:nvGrpSpPr>
        <p:grpSpPr>
          <a:xfrm>
            <a:off x="6294628" y="2704689"/>
            <a:ext cx="4523740" cy="3283585"/>
            <a:chOff x="6294628" y="3203448"/>
            <a:chExt cx="4523740" cy="3283585"/>
          </a:xfrm>
        </p:grpSpPr>
        <p:sp>
          <p:nvSpPr>
            <p:cNvPr id="37" name="object 37"/>
            <p:cNvSpPr/>
            <p:nvPr/>
          </p:nvSpPr>
          <p:spPr>
            <a:xfrm>
              <a:off x="6300978" y="3209798"/>
              <a:ext cx="4511040" cy="3270885"/>
            </a:xfrm>
            <a:custGeom>
              <a:avLst/>
              <a:gdLst/>
              <a:ahLst/>
              <a:cxnLst/>
              <a:rect l="l" t="t" r="r" b="b"/>
              <a:pathLst>
                <a:path w="4511040" h="3270885">
                  <a:moveTo>
                    <a:pt x="4349496" y="0"/>
                  </a:moveTo>
                  <a:lnTo>
                    <a:pt x="161162" y="0"/>
                  </a:lnTo>
                  <a:lnTo>
                    <a:pt x="118312" y="5755"/>
                  </a:lnTo>
                  <a:lnTo>
                    <a:pt x="79812" y="21999"/>
                  </a:lnTo>
                  <a:lnTo>
                    <a:pt x="47196" y="47196"/>
                  </a:lnTo>
                  <a:lnTo>
                    <a:pt x="21999" y="79812"/>
                  </a:lnTo>
                  <a:lnTo>
                    <a:pt x="5755" y="118312"/>
                  </a:lnTo>
                  <a:lnTo>
                    <a:pt x="0" y="161162"/>
                  </a:lnTo>
                  <a:lnTo>
                    <a:pt x="0" y="3109696"/>
                  </a:lnTo>
                  <a:lnTo>
                    <a:pt x="5755" y="3152530"/>
                  </a:lnTo>
                  <a:lnTo>
                    <a:pt x="21999" y="3191020"/>
                  </a:lnTo>
                  <a:lnTo>
                    <a:pt x="47196" y="3223629"/>
                  </a:lnTo>
                  <a:lnTo>
                    <a:pt x="79812" y="3248823"/>
                  </a:lnTo>
                  <a:lnTo>
                    <a:pt x="118312" y="3265066"/>
                  </a:lnTo>
                  <a:lnTo>
                    <a:pt x="161162" y="3270821"/>
                  </a:lnTo>
                  <a:lnTo>
                    <a:pt x="4349496" y="3270821"/>
                  </a:lnTo>
                  <a:lnTo>
                    <a:pt x="4392346" y="3265066"/>
                  </a:lnTo>
                  <a:lnTo>
                    <a:pt x="4430846" y="3248823"/>
                  </a:lnTo>
                  <a:lnTo>
                    <a:pt x="4463462" y="3223629"/>
                  </a:lnTo>
                  <a:lnTo>
                    <a:pt x="4488659" y="3191020"/>
                  </a:lnTo>
                  <a:lnTo>
                    <a:pt x="4504903" y="3152530"/>
                  </a:lnTo>
                  <a:lnTo>
                    <a:pt x="4510658" y="3109696"/>
                  </a:lnTo>
                  <a:lnTo>
                    <a:pt x="4510658" y="161162"/>
                  </a:lnTo>
                  <a:lnTo>
                    <a:pt x="4504903" y="118312"/>
                  </a:lnTo>
                  <a:lnTo>
                    <a:pt x="4488659" y="79812"/>
                  </a:lnTo>
                  <a:lnTo>
                    <a:pt x="4463462" y="47196"/>
                  </a:lnTo>
                  <a:lnTo>
                    <a:pt x="4430846" y="21999"/>
                  </a:lnTo>
                  <a:lnTo>
                    <a:pt x="4392346" y="5755"/>
                  </a:lnTo>
                  <a:lnTo>
                    <a:pt x="4349496" y="0"/>
                  </a:lnTo>
                  <a:close/>
                </a:path>
              </a:pathLst>
            </a:custGeom>
            <a:solidFill>
              <a:srgbClr val="F4F4F6">
                <a:alpha val="79998"/>
              </a:srgbClr>
            </a:solidFill>
          </p:spPr>
          <p:txBody>
            <a:bodyPr wrap="square" lIns="0" tIns="0" rIns="0" bIns="0" rtlCol="0"/>
            <a:lstStyle/>
            <a:p>
              <a:endParaRPr/>
            </a:p>
          </p:txBody>
        </p:sp>
        <p:sp>
          <p:nvSpPr>
            <p:cNvPr id="38" name="object 38"/>
            <p:cNvSpPr/>
            <p:nvPr/>
          </p:nvSpPr>
          <p:spPr>
            <a:xfrm>
              <a:off x="6300978" y="3209798"/>
              <a:ext cx="4511040" cy="3270885"/>
            </a:xfrm>
            <a:custGeom>
              <a:avLst/>
              <a:gdLst/>
              <a:ahLst/>
              <a:cxnLst/>
              <a:rect l="l" t="t" r="r" b="b"/>
              <a:pathLst>
                <a:path w="4511040" h="3270885">
                  <a:moveTo>
                    <a:pt x="0" y="161162"/>
                  </a:moveTo>
                  <a:lnTo>
                    <a:pt x="5755" y="118312"/>
                  </a:lnTo>
                  <a:lnTo>
                    <a:pt x="21999" y="79812"/>
                  </a:lnTo>
                  <a:lnTo>
                    <a:pt x="47196" y="47196"/>
                  </a:lnTo>
                  <a:lnTo>
                    <a:pt x="79812" y="21999"/>
                  </a:lnTo>
                  <a:lnTo>
                    <a:pt x="118312" y="5755"/>
                  </a:lnTo>
                  <a:lnTo>
                    <a:pt x="161162" y="0"/>
                  </a:lnTo>
                  <a:lnTo>
                    <a:pt x="4349496" y="0"/>
                  </a:lnTo>
                  <a:lnTo>
                    <a:pt x="4392346" y="5755"/>
                  </a:lnTo>
                  <a:lnTo>
                    <a:pt x="4430846" y="21999"/>
                  </a:lnTo>
                  <a:lnTo>
                    <a:pt x="4463462" y="47196"/>
                  </a:lnTo>
                  <a:lnTo>
                    <a:pt x="4488659" y="79812"/>
                  </a:lnTo>
                  <a:lnTo>
                    <a:pt x="4504903" y="118312"/>
                  </a:lnTo>
                  <a:lnTo>
                    <a:pt x="4510658" y="161162"/>
                  </a:lnTo>
                  <a:lnTo>
                    <a:pt x="4510658" y="3109696"/>
                  </a:lnTo>
                  <a:lnTo>
                    <a:pt x="4504903" y="3152530"/>
                  </a:lnTo>
                  <a:lnTo>
                    <a:pt x="4488659" y="3191020"/>
                  </a:lnTo>
                  <a:lnTo>
                    <a:pt x="4463462" y="3223629"/>
                  </a:lnTo>
                  <a:lnTo>
                    <a:pt x="4430846" y="3248823"/>
                  </a:lnTo>
                  <a:lnTo>
                    <a:pt x="4392346" y="3265066"/>
                  </a:lnTo>
                  <a:lnTo>
                    <a:pt x="4349496" y="3270821"/>
                  </a:lnTo>
                  <a:lnTo>
                    <a:pt x="161162" y="3270821"/>
                  </a:lnTo>
                  <a:lnTo>
                    <a:pt x="118312" y="3265066"/>
                  </a:lnTo>
                  <a:lnTo>
                    <a:pt x="79812" y="3248823"/>
                  </a:lnTo>
                  <a:lnTo>
                    <a:pt x="47196" y="3223629"/>
                  </a:lnTo>
                  <a:lnTo>
                    <a:pt x="21999" y="3191020"/>
                  </a:lnTo>
                  <a:lnTo>
                    <a:pt x="5755" y="3152530"/>
                  </a:lnTo>
                  <a:lnTo>
                    <a:pt x="0" y="3109696"/>
                  </a:lnTo>
                  <a:lnTo>
                    <a:pt x="0" y="161162"/>
                  </a:lnTo>
                  <a:close/>
                </a:path>
              </a:pathLst>
            </a:custGeom>
            <a:ln w="12700">
              <a:solidFill>
                <a:srgbClr val="FFFFFF"/>
              </a:solidFill>
            </a:ln>
          </p:spPr>
          <p:txBody>
            <a:bodyPr wrap="square" lIns="0" tIns="0" rIns="0" bIns="0" rtlCol="0"/>
            <a:lstStyle/>
            <a:p>
              <a:endParaRPr/>
            </a:p>
          </p:txBody>
        </p:sp>
      </p:grpSp>
      <p:sp>
        <p:nvSpPr>
          <p:cNvPr id="39" name="object 39"/>
          <p:cNvSpPr txBox="1"/>
          <p:nvPr/>
        </p:nvSpPr>
        <p:spPr>
          <a:xfrm>
            <a:off x="7978267" y="2743169"/>
            <a:ext cx="1156970" cy="484505"/>
          </a:xfrm>
          <a:prstGeom prst="rect">
            <a:avLst/>
          </a:prstGeom>
        </p:spPr>
        <p:txBody>
          <a:bodyPr vert="horz" wrap="square" lIns="0" tIns="12700" rIns="0" bIns="0" rtlCol="0">
            <a:spAutoFit/>
          </a:bodyPr>
          <a:lstStyle/>
          <a:p>
            <a:pPr algn="ctr">
              <a:lnSpc>
                <a:spcPct val="100000"/>
              </a:lnSpc>
              <a:spcBef>
                <a:spcPts val="100"/>
              </a:spcBef>
            </a:pPr>
            <a:r>
              <a:rPr sz="1800" b="1" spc="55" dirty="0">
                <a:solidFill>
                  <a:schemeClr val="tx2"/>
                </a:solidFill>
                <a:latin typeface="Calibri"/>
                <a:cs typeface="Calibri"/>
              </a:rPr>
              <a:t>Implement</a:t>
            </a:r>
            <a:endParaRPr sz="1800" dirty="0">
              <a:solidFill>
                <a:schemeClr val="tx2"/>
              </a:solidFill>
              <a:latin typeface="Calibri"/>
              <a:cs typeface="Calibri"/>
            </a:endParaRPr>
          </a:p>
          <a:p>
            <a:pPr algn="ctr">
              <a:lnSpc>
                <a:spcPct val="100000"/>
              </a:lnSpc>
              <a:spcBef>
                <a:spcPts val="10"/>
              </a:spcBef>
            </a:pPr>
            <a:r>
              <a:rPr sz="1200" dirty="0">
                <a:solidFill>
                  <a:schemeClr val="tx2"/>
                </a:solidFill>
                <a:latin typeface="Calibri"/>
                <a:cs typeface="Calibri"/>
              </a:rPr>
              <a:t>(Post-</a:t>
            </a:r>
            <a:r>
              <a:rPr sz="1200" spc="-10" dirty="0">
                <a:solidFill>
                  <a:schemeClr val="tx2"/>
                </a:solidFill>
                <a:latin typeface="Calibri"/>
                <a:cs typeface="Calibri"/>
              </a:rPr>
              <a:t>sales)</a:t>
            </a:r>
            <a:endParaRPr sz="1200" dirty="0">
              <a:solidFill>
                <a:schemeClr val="tx2"/>
              </a:solidFill>
              <a:latin typeface="Calibri"/>
              <a:cs typeface="Calibri"/>
            </a:endParaRPr>
          </a:p>
        </p:txBody>
      </p:sp>
      <p:grpSp>
        <p:nvGrpSpPr>
          <p:cNvPr id="40" name="object 40"/>
          <p:cNvGrpSpPr/>
          <p:nvPr/>
        </p:nvGrpSpPr>
        <p:grpSpPr>
          <a:xfrm>
            <a:off x="6462140" y="3354929"/>
            <a:ext cx="4218940" cy="1201420"/>
            <a:chOff x="6462140" y="3853688"/>
            <a:chExt cx="4218940" cy="1201420"/>
          </a:xfrm>
        </p:grpSpPr>
        <p:sp>
          <p:nvSpPr>
            <p:cNvPr id="41" name="object 41"/>
            <p:cNvSpPr/>
            <p:nvPr/>
          </p:nvSpPr>
          <p:spPr>
            <a:xfrm>
              <a:off x="6468490" y="3860038"/>
              <a:ext cx="4206240" cy="1188720"/>
            </a:xfrm>
            <a:custGeom>
              <a:avLst/>
              <a:gdLst/>
              <a:ahLst/>
              <a:cxnLst/>
              <a:rect l="l" t="t" r="r" b="b"/>
              <a:pathLst>
                <a:path w="4206240" h="1188720">
                  <a:moveTo>
                    <a:pt x="4119626" y="0"/>
                  </a:moveTo>
                  <a:lnTo>
                    <a:pt x="86740" y="0"/>
                  </a:lnTo>
                  <a:lnTo>
                    <a:pt x="52988" y="6800"/>
                  </a:lnTo>
                  <a:lnTo>
                    <a:pt x="25415" y="25352"/>
                  </a:lnTo>
                  <a:lnTo>
                    <a:pt x="6820" y="52881"/>
                  </a:lnTo>
                  <a:lnTo>
                    <a:pt x="0" y="86613"/>
                  </a:lnTo>
                  <a:lnTo>
                    <a:pt x="0" y="1101979"/>
                  </a:lnTo>
                  <a:lnTo>
                    <a:pt x="6820" y="1135731"/>
                  </a:lnTo>
                  <a:lnTo>
                    <a:pt x="25415" y="1163304"/>
                  </a:lnTo>
                  <a:lnTo>
                    <a:pt x="52988" y="1181899"/>
                  </a:lnTo>
                  <a:lnTo>
                    <a:pt x="86740" y="1188720"/>
                  </a:lnTo>
                  <a:lnTo>
                    <a:pt x="4119626" y="1188720"/>
                  </a:lnTo>
                  <a:lnTo>
                    <a:pt x="4153358" y="1181899"/>
                  </a:lnTo>
                  <a:lnTo>
                    <a:pt x="4180887" y="1163304"/>
                  </a:lnTo>
                  <a:lnTo>
                    <a:pt x="4199439" y="1135731"/>
                  </a:lnTo>
                  <a:lnTo>
                    <a:pt x="4206240" y="1101979"/>
                  </a:lnTo>
                  <a:lnTo>
                    <a:pt x="4206240" y="86613"/>
                  </a:lnTo>
                  <a:lnTo>
                    <a:pt x="4199439" y="52881"/>
                  </a:lnTo>
                  <a:lnTo>
                    <a:pt x="4180887" y="25352"/>
                  </a:lnTo>
                  <a:lnTo>
                    <a:pt x="4153358" y="6800"/>
                  </a:lnTo>
                  <a:lnTo>
                    <a:pt x="4119626" y="0"/>
                  </a:lnTo>
                  <a:close/>
                </a:path>
              </a:pathLst>
            </a:custGeom>
            <a:solidFill>
              <a:srgbClr val="F4F4F6">
                <a:alpha val="79998"/>
              </a:srgbClr>
            </a:solidFill>
          </p:spPr>
          <p:txBody>
            <a:bodyPr wrap="square" lIns="0" tIns="0" rIns="0" bIns="0" rtlCol="0"/>
            <a:lstStyle/>
            <a:p>
              <a:endParaRPr/>
            </a:p>
          </p:txBody>
        </p:sp>
        <p:sp>
          <p:nvSpPr>
            <p:cNvPr id="42" name="object 42"/>
            <p:cNvSpPr/>
            <p:nvPr/>
          </p:nvSpPr>
          <p:spPr>
            <a:xfrm>
              <a:off x="6468490" y="3860038"/>
              <a:ext cx="4206240" cy="1188720"/>
            </a:xfrm>
            <a:custGeom>
              <a:avLst/>
              <a:gdLst/>
              <a:ahLst/>
              <a:cxnLst/>
              <a:rect l="l" t="t" r="r" b="b"/>
              <a:pathLst>
                <a:path w="4206240" h="1188720">
                  <a:moveTo>
                    <a:pt x="0" y="86613"/>
                  </a:moveTo>
                  <a:lnTo>
                    <a:pt x="6820" y="52881"/>
                  </a:lnTo>
                  <a:lnTo>
                    <a:pt x="25415" y="25352"/>
                  </a:lnTo>
                  <a:lnTo>
                    <a:pt x="52988" y="6800"/>
                  </a:lnTo>
                  <a:lnTo>
                    <a:pt x="86740" y="0"/>
                  </a:lnTo>
                  <a:lnTo>
                    <a:pt x="4119626" y="0"/>
                  </a:lnTo>
                  <a:lnTo>
                    <a:pt x="4153358" y="6800"/>
                  </a:lnTo>
                  <a:lnTo>
                    <a:pt x="4180887" y="25352"/>
                  </a:lnTo>
                  <a:lnTo>
                    <a:pt x="4199439" y="52881"/>
                  </a:lnTo>
                  <a:lnTo>
                    <a:pt x="4206240" y="86613"/>
                  </a:lnTo>
                  <a:lnTo>
                    <a:pt x="4206240" y="1101979"/>
                  </a:lnTo>
                  <a:lnTo>
                    <a:pt x="4199439" y="1135731"/>
                  </a:lnTo>
                  <a:lnTo>
                    <a:pt x="4180887" y="1163304"/>
                  </a:lnTo>
                  <a:lnTo>
                    <a:pt x="4153358" y="1181899"/>
                  </a:lnTo>
                  <a:lnTo>
                    <a:pt x="4119626" y="1188720"/>
                  </a:lnTo>
                  <a:lnTo>
                    <a:pt x="86740" y="1188720"/>
                  </a:lnTo>
                  <a:lnTo>
                    <a:pt x="52988" y="1181899"/>
                  </a:lnTo>
                  <a:lnTo>
                    <a:pt x="25415" y="1163304"/>
                  </a:lnTo>
                  <a:lnTo>
                    <a:pt x="6820" y="1135731"/>
                  </a:lnTo>
                  <a:lnTo>
                    <a:pt x="0" y="1101979"/>
                  </a:lnTo>
                  <a:lnTo>
                    <a:pt x="0" y="86613"/>
                  </a:lnTo>
                  <a:close/>
                </a:path>
              </a:pathLst>
            </a:custGeom>
            <a:ln w="12699">
              <a:solidFill>
                <a:srgbClr val="FFFFFF"/>
              </a:solidFill>
            </a:ln>
          </p:spPr>
          <p:txBody>
            <a:bodyPr wrap="square" lIns="0" tIns="0" rIns="0" bIns="0" rtlCol="0"/>
            <a:lstStyle/>
            <a:p>
              <a:endParaRPr/>
            </a:p>
          </p:txBody>
        </p:sp>
      </p:grpSp>
      <p:sp>
        <p:nvSpPr>
          <p:cNvPr id="43" name="object 43"/>
          <p:cNvSpPr txBox="1"/>
          <p:nvPr/>
        </p:nvSpPr>
        <p:spPr>
          <a:xfrm>
            <a:off x="7687818" y="3464656"/>
            <a:ext cx="1767839" cy="345440"/>
          </a:xfrm>
          <a:prstGeom prst="rect">
            <a:avLst/>
          </a:prstGeom>
        </p:spPr>
        <p:txBody>
          <a:bodyPr vert="horz" wrap="square" lIns="0" tIns="12700" rIns="0" bIns="0" rtlCol="0">
            <a:spAutoFit/>
          </a:bodyPr>
          <a:lstStyle/>
          <a:p>
            <a:pPr marL="80645">
              <a:lnSpc>
                <a:spcPts val="1315"/>
              </a:lnSpc>
              <a:spcBef>
                <a:spcPts val="100"/>
              </a:spcBef>
            </a:pPr>
            <a:r>
              <a:rPr sz="1100" b="1" dirty="0">
                <a:solidFill>
                  <a:schemeClr val="tx2"/>
                </a:solidFill>
                <a:latin typeface="Calibri"/>
                <a:cs typeface="Calibri"/>
              </a:rPr>
              <a:t>Partner</a:t>
            </a:r>
            <a:r>
              <a:rPr sz="1100" b="1" spc="170" dirty="0">
                <a:solidFill>
                  <a:schemeClr val="tx2"/>
                </a:solidFill>
                <a:latin typeface="Calibri"/>
                <a:cs typeface="Calibri"/>
              </a:rPr>
              <a:t> </a:t>
            </a:r>
            <a:r>
              <a:rPr sz="1100" b="1" spc="45" dirty="0">
                <a:solidFill>
                  <a:schemeClr val="tx2"/>
                </a:solidFill>
                <a:latin typeface="Calibri"/>
                <a:cs typeface="Calibri"/>
              </a:rPr>
              <a:t>nominated</a:t>
            </a:r>
            <a:r>
              <a:rPr sz="1100" b="1" spc="150" dirty="0">
                <a:solidFill>
                  <a:schemeClr val="tx2"/>
                </a:solidFill>
                <a:latin typeface="Calibri"/>
                <a:cs typeface="Calibri"/>
              </a:rPr>
              <a:t> </a:t>
            </a:r>
            <a:r>
              <a:rPr sz="1100" b="1" spc="-10" dirty="0">
                <a:solidFill>
                  <a:schemeClr val="tx2"/>
                </a:solidFill>
                <a:latin typeface="Calibri"/>
                <a:cs typeface="Calibri"/>
              </a:rPr>
              <a:t>offers</a:t>
            </a:r>
            <a:endParaRPr sz="1100" dirty="0">
              <a:solidFill>
                <a:schemeClr val="tx2"/>
              </a:solidFill>
              <a:latin typeface="Calibri"/>
              <a:cs typeface="Calibri"/>
            </a:endParaRPr>
          </a:p>
          <a:p>
            <a:pPr marL="12700">
              <a:lnSpc>
                <a:spcPts val="1195"/>
              </a:lnSpc>
            </a:pPr>
            <a:r>
              <a:rPr sz="1000" spc="10" dirty="0">
                <a:latin typeface="Calibri"/>
                <a:cs typeface="Calibri"/>
              </a:rPr>
              <a:t>(for</a:t>
            </a:r>
            <a:r>
              <a:rPr sz="1000" spc="165" dirty="0">
                <a:latin typeface="Calibri"/>
                <a:cs typeface="Calibri"/>
              </a:rPr>
              <a:t> </a:t>
            </a:r>
            <a:r>
              <a:rPr sz="1000" spc="10" dirty="0">
                <a:latin typeface="Calibri"/>
                <a:cs typeface="Calibri"/>
              </a:rPr>
              <a:t>projects</a:t>
            </a:r>
            <a:r>
              <a:rPr sz="1000" spc="185" dirty="0">
                <a:latin typeface="Calibri"/>
                <a:cs typeface="Calibri"/>
              </a:rPr>
              <a:t> </a:t>
            </a:r>
            <a:r>
              <a:rPr sz="1000" spc="10" dirty="0">
                <a:latin typeface="Calibri"/>
                <a:cs typeface="Calibri"/>
              </a:rPr>
              <a:t>&lt;$500K/year</a:t>
            </a:r>
            <a:r>
              <a:rPr sz="1000" spc="195" dirty="0">
                <a:latin typeface="Calibri"/>
                <a:cs typeface="Calibri"/>
              </a:rPr>
              <a:t> </a:t>
            </a:r>
            <a:r>
              <a:rPr sz="1000" spc="-20" dirty="0">
                <a:latin typeface="Calibri"/>
                <a:cs typeface="Calibri"/>
              </a:rPr>
              <a:t>ACR)</a:t>
            </a:r>
            <a:endParaRPr sz="1000" dirty="0">
              <a:latin typeface="Calibri"/>
              <a:cs typeface="Calibri"/>
            </a:endParaRPr>
          </a:p>
        </p:txBody>
      </p:sp>
      <p:grpSp>
        <p:nvGrpSpPr>
          <p:cNvPr id="44" name="object 44"/>
          <p:cNvGrpSpPr/>
          <p:nvPr/>
        </p:nvGrpSpPr>
        <p:grpSpPr>
          <a:xfrm>
            <a:off x="6475603" y="4635088"/>
            <a:ext cx="4218940" cy="1201420"/>
            <a:chOff x="6475603" y="5133847"/>
            <a:chExt cx="4218940" cy="1201420"/>
          </a:xfrm>
        </p:grpSpPr>
        <p:sp>
          <p:nvSpPr>
            <p:cNvPr id="45" name="object 45"/>
            <p:cNvSpPr/>
            <p:nvPr/>
          </p:nvSpPr>
          <p:spPr>
            <a:xfrm>
              <a:off x="6481953" y="5140197"/>
              <a:ext cx="4206240" cy="1188720"/>
            </a:xfrm>
            <a:custGeom>
              <a:avLst/>
              <a:gdLst/>
              <a:ahLst/>
              <a:cxnLst/>
              <a:rect l="l" t="t" r="r" b="b"/>
              <a:pathLst>
                <a:path w="4206240" h="1188720">
                  <a:moveTo>
                    <a:pt x="4142104" y="0"/>
                  </a:moveTo>
                  <a:lnTo>
                    <a:pt x="64135" y="0"/>
                  </a:lnTo>
                  <a:lnTo>
                    <a:pt x="39165" y="5038"/>
                  </a:lnTo>
                  <a:lnTo>
                    <a:pt x="18780" y="18780"/>
                  </a:lnTo>
                  <a:lnTo>
                    <a:pt x="5038" y="39165"/>
                  </a:lnTo>
                  <a:lnTo>
                    <a:pt x="0" y="64134"/>
                  </a:lnTo>
                  <a:lnTo>
                    <a:pt x="0" y="1124559"/>
                  </a:lnTo>
                  <a:lnTo>
                    <a:pt x="5038" y="1149514"/>
                  </a:lnTo>
                  <a:lnTo>
                    <a:pt x="18780" y="1169892"/>
                  </a:lnTo>
                  <a:lnTo>
                    <a:pt x="39165" y="1183631"/>
                  </a:lnTo>
                  <a:lnTo>
                    <a:pt x="64135" y="1188669"/>
                  </a:lnTo>
                  <a:lnTo>
                    <a:pt x="4142104" y="1188669"/>
                  </a:lnTo>
                  <a:lnTo>
                    <a:pt x="4167074" y="1183631"/>
                  </a:lnTo>
                  <a:lnTo>
                    <a:pt x="4187459" y="1169892"/>
                  </a:lnTo>
                  <a:lnTo>
                    <a:pt x="4201201" y="1149514"/>
                  </a:lnTo>
                  <a:lnTo>
                    <a:pt x="4206240" y="1124559"/>
                  </a:lnTo>
                  <a:lnTo>
                    <a:pt x="4206240" y="64134"/>
                  </a:lnTo>
                  <a:lnTo>
                    <a:pt x="4201201" y="39165"/>
                  </a:lnTo>
                  <a:lnTo>
                    <a:pt x="4187459" y="18780"/>
                  </a:lnTo>
                  <a:lnTo>
                    <a:pt x="4167074" y="5038"/>
                  </a:lnTo>
                  <a:lnTo>
                    <a:pt x="4142104" y="0"/>
                  </a:lnTo>
                  <a:close/>
                </a:path>
              </a:pathLst>
            </a:custGeom>
            <a:solidFill>
              <a:srgbClr val="F4F4F6">
                <a:alpha val="79998"/>
              </a:srgbClr>
            </a:solidFill>
          </p:spPr>
          <p:txBody>
            <a:bodyPr wrap="square" lIns="0" tIns="0" rIns="0" bIns="0" rtlCol="0"/>
            <a:lstStyle/>
            <a:p>
              <a:endParaRPr/>
            </a:p>
          </p:txBody>
        </p:sp>
        <p:sp>
          <p:nvSpPr>
            <p:cNvPr id="46" name="object 46"/>
            <p:cNvSpPr/>
            <p:nvPr/>
          </p:nvSpPr>
          <p:spPr>
            <a:xfrm>
              <a:off x="6481953" y="5140197"/>
              <a:ext cx="4206240" cy="1188720"/>
            </a:xfrm>
            <a:custGeom>
              <a:avLst/>
              <a:gdLst/>
              <a:ahLst/>
              <a:cxnLst/>
              <a:rect l="l" t="t" r="r" b="b"/>
              <a:pathLst>
                <a:path w="4206240" h="1188720">
                  <a:moveTo>
                    <a:pt x="0" y="64134"/>
                  </a:moveTo>
                  <a:lnTo>
                    <a:pt x="5038" y="39165"/>
                  </a:lnTo>
                  <a:lnTo>
                    <a:pt x="18780" y="18780"/>
                  </a:lnTo>
                  <a:lnTo>
                    <a:pt x="39165" y="5038"/>
                  </a:lnTo>
                  <a:lnTo>
                    <a:pt x="64135" y="0"/>
                  </a:lnTo>
                  <a:lnTo>
                    <a:pt x="4142104" y="0"/>
                  </a:lnTo>
                  <a:lnTo>
                    <a:pt x="4167074" y="5038"/>
                  </a:lnTo>
                  <a:lnTo>
                    <a:pt x="4187459" y="18780"/>
                  </a:lnTo>
                  <a:lnTo>
                    <a:pt x="4201201" y="39165"/>
                  </a:lnTo>
                  <a:lnTo>
                    <a:pt x="4206240" y="64134"/>
                  </a:lnTo>
                  <a:lnTo>
                    <a:pt x="4206240" y="1124559"/>
                  </a:lnTo>
                  <a:lnTo>
                    <a:pt x="4201201" y="1149514"/>
                  </a:lnTo>
                  <a:lnTo>
                    <a:pt x="4187459" y="1169892"/>
                  </a:lnTo>
                  <a:lnTo>
                    <a:pt x="4167074" y="1183631"/>
                  </a:lnTo>
                  <a:lnTo>
                    <a:pt x="4142104" y="1188669"/>
                  </a:lnTo>
                  <a:lnTo>
                    <a:pt x="64135" y="1188669"/>
                  </a:lnTo>
                  <a:lnTo>
                    <a:pt x="39165" y="1183631"/>
                  </a:lnTo>
                  <a:lnTo>
                    <a:pt x="18780" y="1169892"/>
                  </a:lnTo>
                  <a:lnTo>
                    <a:pt x="5038" y="1149514"/>
                  </a:lnTo>
                  <a:lnTo>
                    <a:pt x="0" y="1124559"/>
                  </a:lnTo>
                  <a:lnTo>
                    <a:pt x="0" y="64134"/>
                  </a:lnTo>
                  <a:close/>
                </a:path>
              </a:pathLst>
            </a:custGeom>
            <a:ln w="12700">
              <a:solidFill>
                <a:srgbClr val="FFFFFF"/>
              </a:solidFill>
            </a:ln>
          </p:spPr>
          <p:txBody>
            <a:bodyPr wrap="square" lIns="0" tIns="0" rIns="0" bIns="0" rtlCol="0"/>
            <a:lstStyle/>
            <a:p>
              <a:endParaRPr/>
            </a:p>
          </p:txBody>
        </p:sp>
      </p:grpSp>
      <p:sp>
        <p:nvSpPr>
          <p:cNvPr id="47" name="object 47"/>
          <p:cNvSpPr txBox="1"/>
          <p:nvPr/>
        </p:nvSpPr>
        <p:spPr>
          <a:xfrm>
            <a:off x="7530210" y="4738467"/>
            <a:ext cx="2494572" cy="333425"/>
          </a:xfrm>
          <a:prstGeom prst="rect">
            <a:avLst/>
          </a:prstGeom>
        </p:spPr>
        <p:txBody>
          <a:bodyPr vert="horz" wrap="square" lIns="0" tIns="12700" rIns="0" bIns="0" rtlCol="0">
            <a:spAutoFit/>
          </a:bodyPr>
          <a:lstStyle/>
          <a:p>
            <a:pPr algn="ctr">
              <a:lnSpc>
                <a:spcPts val="1315"/>
              </a:lnSpc>
              <a:spcBef>
                <a:spcPts val="100"/>
              </a:spcBef>
            </a:pPr>
            <a:r>
              <a:rPr sz="1100" b="1" spc="10" dirty="0">
                <a:solidFill>
                  <a:schemeClr val="tx2"/>
                </a:solidFill>
                <a:latin typeface="Calibri"/>
                <a:cs typeface="Calibri"/>
              </a:rPr>
              <a:t>Microsoft</a:t>
            </a:r>
            <a:r>
              <a:rPr sz="1100" b="1" spc="310" dirty="0">
                <a:solidFill>
                  <a:schemeClr val="tx2"/>
                </a:solidFill>
                <a:latin typeface="Calibri"/>
                <a:cs typeface="Calibri"/>
              </a:rPr>
              <a:t> </a:t>
            </a:r>
            <a:r>
              <a:rPr sz="1100" b="1" spc="10" dirty="0">
                <a:solidFill>
                  <a:schemeClr val="tx2"/>
                </a:solidFill>
                <a:latin typeface="Calibri"/>
                <a:cs typeface="Calibri"/>
              </a:rPr>
              <a:t>field-</a:t>
            </a:r>
            <a:r>
              <a:rPr sz="1100" b="1" spc="45" dirty="0">
                <a:solidFill>
                  <a:schemeClr val="tx2"/>
                </a:solidFill>
                <a:latin typeface="Calibri"/>
                <a:cs typeface="Calibri"/>
              </a:rPr>
              <a:t>nominated</a:t>
            </a:r>
            <a:r>
              <a:rPr sz="1100" b="1" spc="240" dirty="0">
                <a:solidFill>
                  <a:schemeClr val="tx2"/>
                </a:solidFill>
                <a:latin typeface="Calibri"/>
                <a:cs typeface="Calibri"/>
              </a:rPr>
              <a:t> </a:t>
            </a:r>
            <a:r>
              <a:rPr sz="1100" b="1" spc="-10" dirty="0">
                <a:solidFill>
                  <a:schemeClr val="tx2"/>
                </a:solidFill>
                <a:latin typeface="Calibri"/>
                <a:cs typeface="Calibri"/>
              </a:rPr>
              <a:t>offers</a:t>
            </a:r>
            <a:r>
              <a:rPr lang="en-US" sz="1100" b="1" spc="-10" dirty="0">
                <a:solidFill>
                  <a:schemeClr val="tx2"/>
                </a:solidFill>
                <a:latin typeface="Calibri"/>
                <a:cs typeface="Calibri"/>
              </a:rPr>
              <a:t> [ECIF*]</a:t>
            </a:r>
            <a:endParaRPr sz="1100" dirty="0">
              <a:solidFill>
                <a:schemeClr val="tx2"/>
              </a:solidFill>
              <a:latin typeface="Calibri"/>
              <a:cs typeface="Calibri"/>
            </a:endParaRPr>
          </a:p>
          <a:p>
            <a:pPr algn="ctr">
              <a:lnSpc>
                <a:spcPts val="1195"/>
              </a:lnSpc>
            </a:pPr>
            <a:r>
              <a:rPr sz="1000" spc="10" dirty="0">
                <a:latin typeface="Calibri"/>
                <a:cs typeface="Calibri"/>
              </a:rPr>
              <a:t>(for</a:t>
            </a:r>
            <a:r>
              <a:rPr sz="1000" spc="165" dirty="0">
                <a:latin typeface="Calibri"/>
                <a:cs typeface="Calibri"/>
              </a:rPr>
              <a:t> </a:t>
            </a:r>
            <a:r>
              <a:rPr sz="1000" spc="10" dirty="0">
                <a:latin typeface="Calibri"/>
                <a:cs typeface="Calibri"/>
              </a:rPr>
              <a:t>projects</a:t>
            </a:r>
            <a:r>
              <a:rPr sz="1000" spc="185" dirty="0">
                <a:latin typeface="Calibri"/>
                <a:cs typeface="Calibri"/>
              </a:rPr>
              <a:t> </a:t>
            </a:r>
            <a:r>
              <a:rPr sz="1000" spc="10" dirty="0">
                <a:latin typeface="Calibri"/>
                <a:cs typeface="Calibri"/>
              </a:rPr>
              <a:t>&gt;$500K/year</a:t>
            </a:r>
            <a:r>
              <a:rPr sz="1000" spc="195" dirty="0">
                <a:latin typeface="Calibri"/>
                <a:cs typeface="Calibri"/>
              </a:rPr>
              <a:t> </a:t>
            </a:r>
            <a:r>
              <a:rPr sz="1000" spc="-20" dirty="0">
                <a:latin typeface="Calibri"/>
                <a:cs typeface="Calibri"/>
              </a:rPr>
              <a:t>ACR)</a:t>
            </a:r>
            <a:endParaRPr sz="1000" dirty="0">
              <a:latin typeface="Calibri"/>
              <a:cs typeface="Calibri"/>
            </a:endParaRPr>
          </a:p>
        </p:txBody>
      </p:sp>
      <p:sp>
        <p:nvSpPr>
          <p:cNvPr id="52" name="object 52"/>
          <p:cNvSpPr txBox="1"/>
          <p:nvPr/>
        </p:nvSpPr>
        <p:spPr>
          <a:xfrm>
            <a:off x="4779645" y="1944339"/>
            <a:ext cx="262763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libri"/>
                <a:cs typeface="Calibri"/>
              </a:rPr>
              <a:t>Start</a:t>
            </a:r>
            <a:r>
              <a:rPr sz="1200" b="1" spc="185" dirty="0">
                <a:latin typeface="Calibri"/>
                <a:cs typeface="Calibri"/>
              </a:rPr>
              <a:t> </a:t>
            </a:r>
            <a:r>
              <a:rPr sz="1200" b="1" dirty="0">
                <a:latin typeface="Calibri"/>
                <a:cs typeface="Calibri"/>
              </a:rPr>
              <a:t>at</a:t>
            </a:r>
            <a:r>
              <a:rPr sz="1200" b="1" spc="180" dirty="0">
                <a:latin typeface="Calibri"/>
                <a:cs typeface="Calibri"/>
              </a:rPr>
              <a:t> </a:t>
            </a:r>
            <a:r>
              <a:rPr sz="1200" b="1" dirty="0">
                <a:latin typeface="Calibri"/>
                <a:cs typeface="Calibri"/>
              </a:rPr>
              <a:t>any</a:t>
            </a:r>
            <a:r>
              <a:rPr sz="1200" b="1" spc="180" dirty="0">
                <a:latin typeface="Calibri"/>
                <a:cs typeface="Calibri"/>
              </a:rPr>
              <a:t> </a:t>
            </a:r>
            <a:r>
              <a:rPr sz="1200" b="1" dirty="0">
                <a:latin typeface="Calibri"/>
                <a:cs typeface="Calibri"/>
              </a:rPr>
              <a:t>stage,</a:t>
            </a:r>
            <a:r>
              <a:rPr sz="1200" b="1" spc="190" dirty="0">
                <a:latin typeface="Calibri"/>
                <a:cs typeface="Calibri"/>
              </a:rPr>
              <a:t> </a:t>
            </a:r>
            <a:r>
              <a:rPr sz="1200" b="1" dirty="0">
                <a:latin typeface="Calibri"/>
                <a:cs typeface="Calibri"/>
              </a:rPr>
              <a:t>based</a:t>
            </a:r>
            <a:r>
              <a:rPr sz="1200" b="1" spc="190" dirty="0">
                <a:latin typeface="Calibri"/>
                <a:cs typeface="Calibri"/>
              </a:rPr>
              <a:t> </a:t>
            </a:r>
            <a:r>
              <a:rPr sz="1200" b="1" spc="55" dirty="0">
                <a:latin typeface="Calibri"/>
                <a:cs typeface="Calibri"/>
              </a:rPr>
              <a:t>on</a:t>
            </a:r>
            <a:r>
              <a:rPr sz="1200" b="1" spc="155" dirty="0">
                <a:latin typeface="Calibri"/>
                <a:cs typeface="Calibri"/>
              </a:rPr>
              <a:t> </a:t>
            </a:r>
            <a:r>
              <a:rPr sz="1200" b="1" spc="-10" dirty="0">
                <a:latin typeface="Calibri"/>
                <a:cs typeface="Calibri"/>
              </a:rPr>
              <a:t>readiness</a:t>
            </a:r>
            <a:endParaRPr sz="1200">
              <a:latin typeface="Calibri"/>
              <a:cs typeface="Calibri"/>
            </a:endParaRPr>
          </a:p>
        </p:txBody>
      </p:sp>
      <p:grpSp>
        <p:nvGrpSpPr>
          <p:cNvPr id="53" name="object 53"/>
          <p:cNvGrpSpPr/>
          <p:nvPr/>
        </p:nvGrpSpPr>
        <p:grpSpPr>
          <a:xfrm>
            <a:off x="2409444" y="2175835"/>
            <a:ext cx="7259955" cy="530225"/>
            <a:chOff x="2409444" y="2674594"/>
            <a:chExt cx="7259955" cy="530225"/>
          </a:xfrm>
        </p:grpSpPr>
        <p:pic>
          <p:nvPicPr>
            <p:cNvPr id="54" name="object 54"/>
            <p:cNvPicPr/>
            <p:nvPr/>
          </p:nvPicPr>
          <p:blipFill>
            <a:blip r:embed="rId16" cstate="print"/>
            <a:stretch>
              <a:fillRect/>
            </a:stretch>
          </p:blipFill>
          <p:spPr>
            <a:xfrm>
              <a:off x="2409444" y="2674594"/>
              <a:ext cx="7259574" cy="512851"/>
            </a:xfrm>
            <a:prstGeom prst="rect">
              <a:avLst/>
            </a:prstGeom>
          </p:spPr>
        </p:pic>
        <p:pic>
          <p:nvPicPr>
            <p:cNvPr id="55" name="object 55"/>
            <p:cNvPicPr/>
            <p:nvPr/>
          </p:nvPicPr>
          <p:blipFill>
            <a:blip r:embed="rId17" cstate="print"/>
            <a:stretch>
              <a:fillRect/>
            </a:stretch>
          </p:blipFill>
          <p:spPr>
            <a:xfrm>
              <a:off x="5279136" y="2708084"/>
              <a:ext cx="1518665" cy="496125"/>
            </a:xfrm>
            <a:prstGeom prst="rect">
              <a:avLst/>
            </a:prstGeom>
          </p:spPr>
        </p:pic>
        <p:pic>
          <p:nvPicPr>
            <p:cNvPr id="56" name="object 56"/>
            <p:cNvPicPr/>
            <p:nvPr/>
          </p:nvPicPr>
          <p:blipFill>
            <a:blip r:embed="rId18" cstate="print"/>
            <a:stretch>
              <a:fillRect/>
            </a:stretch>
          </p:blipFill>
          <p:spPr>
            <a:xfrm>
              <a:off x="2473706" y="2738628"/>
              <a:ext cx="7083806" cy="337947"/>
            </a:xfrm>
            <a:prstGeom prst="rect">
              <a:avLst/>
            </a:prstGeom>
          </p:spPr>
        </p:pic>
      </p:grpSp>
      <p:sp>
        <p:nvSpPr>
          <p:cNvPr id="57" name="object 57"/>
          <p:cNvSpPr txBox="1"/>
          <p:nvPr/>
        </p:nvSpPr>
        <p:spPr>
          <a:xfrm>
            <a:off x="5422772" y="2303623"/>
            <a:ext cx="1185545"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Calibri"/>
                <a:cs typeface="Calibri"/>
              </a:rPr>
              <a:t>Azure</a:t>
            </a:r>
            <a:r>
              <a:rPr sz="1200" b="1" spc="290" dirty="0">
                <a:solidFill>
                  <a:srgbClr val="FFFFFF"/>
                </a:solidFill>
                <a:latin typeface="Calibri"/>
                <a:cs typeface="Calibri"/>
              </a:rPr>
              <a:t> </a:t>
            </a:r>
            <a:r>
              <a:rPr sz="1200" b="1" spc="-10" dirty="0">
                <a:solidFill>
                  <a:srgbClr val="FFFFFF"/>
                </a:solidFill>
                <a:latin typeface="Calibri"/>
                <a:cs typeface="Calibri"/>
              </a:rPr>
              <a:t>Accelerate</a:t>
            </a:r>
            <a:endParaRPr sz="1200">
              <a:latin typeface="Calibri"/>
              <a:cs typeface="Calibri"/>
            </a:endParaRPr>
          </a:p>
        </p:txBody>
      </p:sp>
      <p:grpSp>
        <p:nvGrpSpPr>
          <p:cNvPr id="66" name="object 66"/>
          <p:cNvGrpSpPr/>
          <p:nvPr/>
        </p:nvGrpSpPr>
        <p:grpSpPr>
          <a:xfrm>
            <a:off x="1558163" y="4624420"/>
            <a:ext cx="3578860" cy="1201420"/>
            <a:chOff x="1558163" y="5123179"/>
            <a:chExt cx="3578860" cy="1201420"/>
          </a:xfrm>
        </p:grpSpPr>
        <p:sp>
          <p:nvSpPr>
            <p:cNvPr id="67" name="object 67"/>
            <p:cNvSpPr/>
            <p:nvPr/>
          </p:nvSpPr>
          <p:spPr>
            <a:xfrm>
              <a:off x="1564513" y="5129529"/>
              <a:ext cx="3566160" cy="1188720"/>
            </a:xfrm>
            <a:custGeom>
              <a:avLst/>
              <a:gdLst/>
              <a:ahLst/>
              <a:cxnLst/>
              <a:rect l="l" t="t" r="r" b="b"/>
              <a:pathLst>
                <a:path w="3566160" h="1188720">
                  <a:moveTo>
                    <a:pt x="3502025" y="0"/>
                  </a:moveTo>
                  <a:lnTo>
                    <a:pt x="64135" y="0"/>
                  </a:lnTo>
                  <a:lnTo>
                    <a:pt x="39165" y="5038"/>
                  </a:lnTo>
                  <a:lnTo>
                    <a:pt x="18780" y="18780"/>
                  </a:lnTo>
                  <a:lnTo>
                    <a:pt x="5038" y="39165"/>
                  </a:lnTo>
                  <a:lnTo>
                    <a:pt x="0" y="64135"/>
                  </a:lnTo>
                  <a:lnTo>
                    <a:pt x="0" y="1124585"/>
                  </a:lnTo>
                  <a:lnTo>
                    <a:pt x="5038" y="1149547"/>
                  </a:lnTo>
                  <a:lnTo>
                    <a:pt x="18780" y="1169928"/>
                  </a:lnTo>
                  <a:lnTo>
                    <a:pt x="39165" y="1183669"/>
                  </a:lnTo>
                  <a:lnTo>
                    <a:pt x="64135" y="1188707"/>
                  </a:lnTo>
                  <a:lnTo>
                    <a:pt x="3502025" y="1188707"/>
                  </a:lnTo>
                  <a:lnTo>
                    <a:pt x="3526994" y="1183669"/>
                  </a:lnTo>
                  <a:lnTo>
                    <a:pt x="3547379" y="1169928"/>
                  </a:lnTo>
                  <a:lnTo>
                    <a:pt x="3561121" y="1149547"/>
                  </a:lnTo>
                  <a:lnTo>
                    <a:pt x="3566160" y="1124585"/>
                  </a:lnTo>
                  <a:lnTo>
                    <a:pt x="3566160" y="64135"/>
                  </a:lnTo>
                  <a:lnTo>
                    <a:pt x="3561121" y="39165"/>
                  </a:lnTo>
                  <a:lnTo>
                    <a:pt x="3547379" y="18780"/>
                  </a:lnTo>
                  <a:lnTo>
                    <a:pt x="3526994" y="5038"/>
                  </a:lnTo>
                  <a:lnTo>
                    <a:pt x="3502025" y="0"/>
                  </a:lnTo>
                  <a:close/>
                </a:path>
              </a:pathLst>
            </a:custGeom>
            <a:solidFill>
              <a:srgbClr val="F4F4F6">
                <a:alpha val="79998"/>
              </a:srgbClr>
            </a:solidFill>
          </p:spPr>
          <p:txBody>
            <a:bodyPr wrap="square" lIns="0" tIns="0" rIns="0" bIns="0" rtlCol="0"/>
            <a:lstStyle/>
            <a:p>
              <a:endParaRPr/>
            </a:p>
          </p:txBody>
        </p:sp>
        <p:sp>
          <p:nvSpPr>
            <p:cNvPr id="68" name="object 68"/>
            <p:cNvSpPr/>
            <p:nvPr/>
          </p:nvSpPr>
          <p:spPr>
            <a:xfrm>
              <a:off x="1564513" y="5129529"/>
              <a:ext cx="3566160" cy="1188720"/>
            </a:xfrm>
            <a:custGeom>
              <a:avLst/>
              <a:gdLst/>
              <a:ahLst/>
              <a:cxnLst/>
              <a:rect l="l" t="t" r="r" b="b"/>
              <a:pathLst>
                <a:path w="3566160" h="1188720">
                  <a:moveTo>
                    <a:pt x="0" y="64135"/>
                  </a:moveTo>
                  <a:lnTo>
                    <a:pt x="5038" y="39165"/>
                  </a:lnTo>
                  <a:lnTo>
                    <a:pt x="18780" y="18780"/>
                  </a:lnTo>
                  <a:lnTo>
                    <a:pt x="39165" y="5038"/>
                  </a:lnTo>
                  <a:lnTo>
                    <a:pt x="64135" y="0"/>
                  </a:lnTo>
                  <a:lnTo>
                    <a:pt x="3502025" y="0"/>
                  </a:lnTo>
                  <a:lnTo>
                    <a:pt x="3526994" y="5038"/>
                  </a:lnTo>
                  <a:lnTo>
                    <a:pt x="3547379" y="18780"/>
                  </a:lnTo>
                  <a:lnTo>
                    <a:pt x="3561121" y="39165"/>
                  </a:lnTo>
                  <a:lnTo>
                    <a:pt x="3566160" y="64135"/>
                  </a:lnTo>
                  <a:lnTo>
                    <a:pt x="3566160" y="1124585"/>
                  </a:lnTo>
                  <a:lnTo>
                    <a:pt x="3561121" y="1149547"/>
                  </a:lnTo>
                  <a:lnTo>
                    <a:pt x="3547379" y="1169928"/>
                  </a:lnTo>
                  <a:lnTo>
                    <a:pt x="3526994" y="1183669"/>
                  </a:lnTo>
                  <a:lnTo>
                    <a:pt x="3502025" y="1188707"/>
                  </a:lnTo>
                  <a:lnTo>
                    <a:pt x="64135" y="1188707"/>
                  </a:lnTo>
                  <a:lnTo>
                    <a:pt x="39165" y="1183669"/>
                  </a:lnTo>
                  <a:lnTo>
                    <a:pt x="18780" y="1169928"/>
                  </a:lnTo>
                  <a:lnTo>
                    <a:pt x="5038" y="1149547"/>
                  </a:lnTo>
                  <a:lnTo>
                    <a:pt x="0" y="1124585"/>
                  </a:lnTo>
                  <a:lnTo>
                    <a:pt x="0" y="64135"/>
                  </a:lnTo>
                  <a:close/>
                </a:path>
              </a:pathLst>
            </a:custGeom>
            <a:ln w="12700">
              <a:solidFill>
                <a:srgbClr val="FFFFFF"/>
              </a:solidFill>
            </a:ln>
          </p:spPr>
          <p:txBody>
            <a:bodyPr wrap="square" lIns="0" tIns="0" rIns="0" bIns="0" rtlCol="0"/>
            <a:lstStyle/>
            <a:p>
              <a:endParaRPr/>
            </a:p>
          </p:txBody>
        </p:sp>
      </p:grpSp>
      <p:sp>
        <p:nvSpPr>
          <p:cNvPr id="69" name="object 69"/>
          <p:cNvSpPr txBox="1"/>
          <p:nvPr/>
        </p:nvSpPr>
        <p:spPr>
          <a:xfrm>
            <a:off x="2291841" y="4727799"/>
            <a:ext cx="2553715" cy="333425"/>
          </a:xfrm>
          <a:prstGeom prst="rect">
            <a:avLst/>
          </a:prstGeom>
        </p:spPr>
        <p:txBody>
          <a:bodyPr vert="horz" wrap="square" lIns="0" tIns="12700" rIns="0" bIns="0" rtlCol="0">
            <a:spAutoFit/>
          </a:bodyPr>
          <a:lstStyle/>
          <a:p>
            <a:pPr algn="ctr">
              <a:lnSpc>
                <a:spcPts val="1315"/>
              </a:lnSpc>
              <a:spcBef>
                <a:spcPts val="100"/>
              </a:spcBef>
            </a:pPr>
            <a:r>
              <a:rPr sz="1100" b="1" spc="10" dirty="0">
                <a:solidFill>
                  <a:schemeClr val="tx2"/>
                </a:solidFill>
                <a:latin typeface="Calibri"/>
                <a:cs typeface="Calibri"/>
              </a:rPr>
              <a:t>Microsoft</a:t>
            </a:r>
            <a:r>
              <a:rPr sz="1100" b="1" spc="310" dirty="0">
                <a:solidFill>
                  <a:schemeClr val="tx2"/>
                </a:solidFill>
                <a:latin typeface="Calibri"/>
                <a:cs typeface="Calibri"/>
              </a:rPr>
              <a:t> </a:t>
            </a:r>
            <a:r>
              <a:rPr sz="1100" b="1" spc="10" dirty="0">
                <a:solidFill>
                  <a:schemeClr val="tx2"/>
                </a:solidFill>
                <a:latin typeface="Calibri"/>
                <a:cs typeface="Calibri"/>
              </a:rPr>
              <a:t>field-</a:t>
            </a:r>
            <a:r>
              <a:rPr sz="1100" b="1" spc="45" dirty="0">
                <a:solidFill>
                  <a:schemeClr val="tx2"/>
                </a:solidFill>
                <a:latin typeface="Calibri"/>
                <a:cs typeface="Calibri"/>
              </a:rPr>
              <a:t>nominated</a:t>
            </a:r>
            <a:r>
              <a:rPr sz="1100" b="1" spc="240" dirty="0">
                <a:solidFill>
                  <a:schemeClr val="tx2"/>
                </a:solidFill>
                <a:latin typeface="Calibri"/>
                <a:cs typeface="Calibri"/>
              </a:rPr>
              <a:t> </a:t>
            </a:r>
            <a:r>
              <a:rPr sz="1100" b="1" spc="-10" dirty="0">
                <a:solidFill>
                  <a:schemeClr val="tx2"/>
                </a:solidFill>
                <a:latin typeface="Calibri"/>
                <a:cs typeface="Calibri"/>
              </a:rPr>
              <a:t>offers</a:t>
            </a:r>
            <a:r>
              <a:rPr lang="en-US" sz="1100" b="1" spc="-10" dirty="0">
                <a:solidFill>
                  <a:schemeClr val="tx2"/>
                </a:solidFill>
                <a:latin typeface="Calibri"/>
                <a:cs typeface="Calibri"/>
              </a:rPr>
              <a:t> [ECIF*]</a:t>
            </a:r>
            <a:endParaRPr sz="1100" dirty="0">
              <a:solidFill>
                <a:schemeClr val="tx2"/>
              </a:solidFill>
              <a:latin typeface="Calibri"/>
              <a:cs typeface="Calibri"/>
            </a:endParaRPr>
          </a:p>
          <a:p>
            <a:pPr algn="ctr">
              <a:lnSpc>
                <a:spcPts val="1195"/>
              </a:lnSpc>
            </a:pPr>
            <a:r>
              <a:rPr sz="1000" spc="10" dirty="0">
                <a:latin typeface="Calibri"/>
                <a:cs typeface="Calibri"/>
              </a:rPr>
              <a:t>(for</a:t>
            </a:r>
            <a:r>
              <a:rPr sz="1000" spc="170" dirty="0">
                <a:latin typeface="Calibri"/>
                <a:cs typeface="Calibri"/>
              </a:rPr>
              <a:t> </a:t>
            </a:r>
            <a:r>
              <a:rPr sz="1000" spc="10" dirty="0">
                <a:latin typeface="Calibri"/>
                <a:cs typeface="Calibri"/>
              </a:rPr>
              <a:t>projects</a:t>
            </a:r>
            <a:r>
              <a:rPr sz="1000" spc="190" dirty="0">
                <a:latin typeface="Calibri"/>
                <a:cs typeface="Calibri"/>
              </a:rPr>
              <a:t> </a:t>
            </a:r>
            <a:r>
              <a:rPr sz="1000" spc="10" dirty="0">
                <a:latin typeface="Calibri"/>
                <a:cs typeface="Calibri"/>
              </a:rPr>
              <a:t>&gt;$500K/year</a:t>
            </a:r>
            <a:r>
              <a:rPr sz="1000" spc="200" dirty="0">
                <a:latin typeface="Calibri"/>
                <a:cs typeface="Calibri"/>
              </a:rPr>
              <a:t> </a:t>
            </a:r>
            <a:r>
              <a:rPr sz="1000" spc="-20" dirty="0">
                <a:latin typeface="Calibri"/>
                <a:cs typeface="Calibri"/>
              </a:rPr>
              <a:t>ACR)</a:t>
            </a:r>
            <a:endParaRPr sz="1000" dirty="0">
              <a:latin typeface="Calibri"/>
              <a:cs typeface="Calibri"/>
            </a:endParaRPr>
          </a:p>
        </p:txBody>
      </p:sp>
      <p:grpSp>
        <p:nvGrpSpPr>
          <p:cNvPr id="70" name="object 70"/>
          <p:cNvGrpSpPr/>
          <p:nvPr/>
        </p:nvGrpSpPr>
        <p:grpSpPr>
          <a:xfrm>
            <a:off x="1558163" y="3354929"/>
            <a:ext cx="3578860" cy="1201420"/>
            <a:chOff x="1558163" y="3853688"/>
            <a:chExt cx="3578860" cy="1201420"/>
          </a:xfrm>
        </p:grpSpPr>
        <p:sp>
          <p:nvSpPr>
            <p:cNvPr id="71" name="object 71"/>
            <p:cNvSpPr/>
            <p:nvPr/>
          </p:nvSpPr>
          <p:spPr>
            <a:xfrm>
              <a:off x="1564513" y="3860038"/>
              <a:ext cx="3566160" cy="1188720"/>
            </a:xfrm>
            <a:custGeom>
              <a:avLst/>
              <a:gdLst/>
              <a:ahLst/>
              <a:cxnLst/>
              <a:rect l="l" t="t" r="r" b="b"/>
              <a:pathLst>
                <a:path w="3566160" h="1188720">
                  <a:moveTo>
                    <a:pt x="3479419" y="0"/>
                  </a:moveTo>
                  <a:lnTo>
                    <a:pt x="86613" y="0"/>
                  </a:lnTo>
                  <a:lnTo>
                    <a:pt x="52881" y="6800"/>
                  </a:lnTo>
                  <a:lnTo>
                    <a:pt x="25352" y="25352"/>
                  </a:lnTo>
                  <a:lnTo>
                    <a:pt x="6800" y="52881"/>
                  </a:lnTo>
                  <a:lnTo>
                    <a:pt x="0" y="86613"/>
                  </a:lnTo>
                  <a:lnTo>
                    <a:pt x="0" y="1101979"/>
                  </a:lnTo>
                  <a:lnTo>
                    <a:pt x="6800" y="1135731"/>
                  </a:lnTo>
                  <a:lnTo>
                    <a:pt x="25352" y="1163304"/>
                  </a:lnTo>
                  <a:lnTo>
                    <a:pt x="52881" y="1181899"/>
                  </a:lnTo>
                  <a:lnTo>
                    <a:pt x="86613" y="1188720"/>
                  </a:lnTo>
                  <a:lnTo>
                    <a:pt x="3479419" y="1188720"/>
                  </a:lnTo>
                  <a:lnTo>
                    <a:pt x="3513171" y="1181899"/>
                  </a:lnTo>
                  <a:lnTo>
                    <a:pt x="3540744" y="1163304"/>
                  </a:lnTo>
                  <a:lnTo>
                    <a:pt x="3559339" y="1135731"/>
                  </a:lnTo>
                  <a:lnTo>
                    <a:pt x="3566160" y="1101979"/>
                  </a:lnTo>
                  <a:lnTo>
                    <a:pt x="3566160" y="86613"/>
                  </a:lnTo>
                  <a:lnTo>
                    <a:pt x="3559339" y="52881"/>
                  </a:lnTo>
                  <a:lnTo>
                    <a:pt x="3540744" y="25352"/>
                  </a:lnTo>
                  <a:lnTo>
                    <a:pt x="3513171" y="6800"/>
                  </a:lnTo>
                  <a:lnTo>
                    <a:pt x="3479419" y="0"/>
                  </a:lnTo>
                  <a:close/>
                </a:path>
              </a:pathLst>
            </a:custGeom>
            <a:solidFill>
              <a:srgbClr val="F4F4F6">
                <a:alpha val="79998"/>
              </a:srgbClr>
            </a:solidFill>
          </p:spPr>
          <p:txBody>
            <a:bodyPr wrap="square" lIns="0" tIns="0" rIns="0" bIns="0" rtlCol="0"/>
            <a:lstStyle/>
            <a:p>
              <a:endParaRPr/>
            </a:p>
          </p:txBody>
        </p:sp>
        <p:sp>
          <p:nvSpPr>
            <p:cNvPr id="72" name="object 72"/>
            <p:cNvSpPr/>
            <p:nvPr/>
          </p:nvSpPr>
          <p:spPr>
            <a:xfrm>
              <a:off x="1564513" y="3860038"/>
              <a:ext cx="3566160" cy="1188720"/>
            </a:xfrm>
            <a:custGeom>
              <a:avLst/>
              <a:gdLst/>
              <a:ahLst/>
              <a:cxnLst/>
              <a:rect l="l" t="t" r="r" b="b"/>
              <a:pathLst>
                <a:path w="3566160" h="1188720">
                  <a:moveTo>
                    <a:pt x="0" y="86613"/>
                  </a:moveTo>
                  <a:lnTo>
                    <a:pt x="6800" y="52881"/>
                  </a:lnTo>
                  <a:lnTo>
                    <a:pt x="25352" y="25352"/>
                  </a:lnTo>
                  <a:lnTo>
                    <a:pt x="52881" y="6800"/>
                  </a:lnTo>
                  <a:lnTo>
                    <a:pt x="86613" y="0"/>
                  </a:lnTo>
                  <a:lnTo>
                    <a:pt x="3479419" y="0"/>
                  </a:lnTo>
                  <a:lnTo>
                    <a:pt x="3513171" y="6800"/>
                  </a:lnTo>
                  <a:lnTo>
                    <a:pt x="3540744" y="25352"/>
                  </a:lnTo>
                  <a:lnTo>
                    <a:pt x="3559339" y="52881"/>
                  </a:lnTo>
                  <a:lnTo>
                    <a:pt x="3566160" y="86613"/>
                  </a:lnTo>
                  <a:lnTo>
                    <a:pt x="3566160" y="1101979"/>
                  </a:lnTo>
                  <a:lnTo>
                    <a:pt x="3559339" y="1135731"/>
                  </a:lnTo>
                  <a:lnTo>
                    <a:pt x="3540744" y="1163304"/>
                  </a:lnTo>
                  <a:lnTo>
                    <a:pt x="3513171" y="1181899"/>
                  </a:lnTo>
                  <a:lnTo>
                    <a:pt x="3479419" y="1188720"/>
                  </a:lnTo>
                  <a:lnTo>
                    <a:pt x="86613" y="1188720"/>
                  </a:lnTo>
                  <a:lnTo>
                    <a:pt x="52881" y="1181899"/>
                  </a:lnTo>
                  <a:lnTo>
                    <a:pt x="25352" y="1163304"/>
                  </a:lnTo>
                  <a:lnTo>
                    <a:pt x="6800" y="1135731"/>
                  </a:lnTo>
                  <a:lnTo>
                    <a:pt x="0" y="1101979"/>
                  </a:lnTo>
                  <a:lnTo>
                    <a:pt x="0" y="86613"/>
                  </a:lnTo>
                  <a:close/>
                </a:path>
              </a:pathLst>
            </a:custGeom>
            <a:ln w="12699">
              <a:solidFill>
                <a:srgbClr val="FFFFFF"/>
              </a:solidFill>
            </a:ln>
          </p:spPr>
          <p:txBody>
            <a:bodyPr wrap="square" lIns="0" tIns="0" rIns="0" bIns="0" rtlCol="0"/>
            <a:lstStyle/>
            <a:p>
              <a:endParaRPr/>
            </a:p>
          </p:txBody>
        </p:sp>
      </p:grpSp>
      <p:sp>
        <p:nvSpPr>
          <p:cNvPr id="73" name="object 73"/>
          <p:cNvSpPr txBox="1"/>
          <p:nvPr/>
        </p:nvSpPr>
        <p:spPr>
          <a:xfrm>
            <a:off x="2462910" y="3464656"/>
            <a:ext cx="1767839" cy="345440"/>
          </a:xfrm>
          <a:prstGeom prst="rect">
            <a:avLst/>
          </a:prstGeom>
        </p:spPr>
        <p:txBody>
          <a:bodyPr vert="horz" wrap="square" lIns="0" tIns="12700" rIns="0" bIns="0" rtlCol="0">
            <a:spAutoFit/>
          </a:bodyPr>
          <a:lstStyle/>
          <a:p>
            <a:pPr marL="82550">
              <a:lnSpc>
                <a:spcPts val="1315"/>
              </a:lnSpc>
              <a:spcBef>
                <a:spcPts val="100"/>
              </a:spcBef>
            </a:pPr>
            <a:r>
              <a:rPr sz="1100" b="1" dirty="0">
                <a:solidFill>
                  <a:schemeClr val="tx2"/>
                </a:solidFill>
                <a:latin typeface="Calibri"/>
                <a:cs typeface="Calibri"/>
              </a:rPr>
              <a:t>Partner</a:t>
            </a:r>
            <a:r>
              <a:rPr sz="1100" b="1" spc="170" dirty="0">
                <a:solidFill>
                  <a:schemeClr val="tx2"/>
                </a:solidFill>
                <a:latin typeface="Calibri"/>
                <a:cs typeface="Calibri"/>
              </a:rPr>
              <a:t> </a:t>
            </a:r>
            <a:r>
              <a:rPr sz="1100" b="1" spc="45" dirty="0">
                <a:solidFill>
                  <a:schemeClr val="tx2"/>
                </a:solidFill>
                <a:latin typeface="Calibri"/>
                <a:cs typeface="Calibri"/>
              </a:rPr>
              <a:t>nominated</a:t>
            </a:r>
            <a:r>
              <a:rPr sz="1100" b="1" spc="150" dirty="0">
                <a:solidFill>
                  <a:schemeClr val="tx2"/>
                </a:solidFill>
                <a:latin typeface="Calibri"/>
                <a:cs typeface="Calibri"/>
              </a:rPr>
              <a:t> </a:t>
            </a:r>
            <a:r>
              <a:rPr sz="1100" b="1" spc="-10" dirty="0">
                <a:solidFill>
                  <a:schemeClr val="tx2"/>
                </a:solidFill>
                <a:latin typeface="Calibri"/>
                <a:cs typeface="Calibri"/>
              </a:rPr>
              <a:t>offers</a:t>
            </a:r>
            <a:endParaRPr sz="1100" dirty="0">
              <a:solidFill>
                <a:schemeClr val="tx2"/>
              </a:solidFill>
              <a:latin typeface="Calibri"/>
              <a:cs typeface="Calibri"/>
            </a:endParaRPr>
          </a:p>
          <a:p>
            <a:pPr marL="12700">
              <a:lnSpc>
                <a:spcPts val="1195"/>
              </a:lnSpc>
            </a:pPr>
            <a:r>
              <a:rPr sz="1000" spc="10" dirty="0">
                <a:latin typeface="Calibri"/>
                <a:cs typeface="Calibri"/>
              </a:rPr>
              <a:t>(for</a:t>
            </a:r>
            <a:r>
              <a:rPr sz="1000" spc="165" dirty="0">
                <a:latin typeface="Calibri"/>
                <a:cs typeface="Calibri"/>
              </a:rPr>
              <a:t> </a:t>
            </a:r>
            <a:r>
              <a:rPr sz="1000" spc="10" dirty="0">
                <a:latin typeface="Calibri"/>
                <a:cs typeface="Calibri"/>
              </a:rPr>
              <a:t>projects</a:t>
            </a:r>
            <a:r>
              <a:rPr sz="1000" spc="185" dirty="0">
                <a:latin typeface="Calibri"/>
                <a:cs typeface="Calibri"/>
              </a:rPr>
              <a:t> </a:t>
            </a:r>
            <a:r>
              <a:rPr sz="1000" spc="10" dirty="0">
                <a:latin typeface="Calibri"/>
                <a:cs typeface="Calibri"/>
              </a:rPr>
              <a:t>&lt;$500K/year</a:t>
            </a:r>
            <a:r>
              <a:rPr sz="1000" spc="195" dirty="0">
                <a:latin typeface="Calibri"/>
                <a:cs typeface="Calibri"/>
              </a:rPr>
              <a:t> </a:t>
            </a:r>
            <a:r>
              <a:rPr sz="1000" spc="-20" dirty="0">
                <a:latin typeface="Calibri"/>
                <a:cs typeface="Calibri"/>
              </a:rPr>
              <a:t>ACR)</a:t>
            </a:r>
            <a:endParaRPr sz="1000" dirty="0">
              <a:latin typeface="Calibri"/>
              <a:cs typeface="Calibri"/>
            </a:endParaRPr>
          </a:p>
        </p:txBody>
      </p:sp>
      <p:sp>
        <p:nvSpPr>
          <p:cNvPr id="87" name="TextBox 86">
            <a:extLst>
              <a:ext uri="{FF2B5EF4-FFF2-40B4-BE49-F238E27FC236}">
                <a16:creationId xmlns:a16="http://schemas.microsoft.com/office/drawing/2014/main" id="{1BC966DD-0DED-837A-A8EF-08E25C9314AD}"/>
              </a:ext>
            </a:extLst>
          </p:cNvPr>
          <p:cNvSpPr txBox="1"/>
          <p:nvPr/>
        </p:nvSpPr>
        <p:spPr>
          <a:xfrm>
            <a:off x="3201899" y="6401332"/>
            <a:ext cx="8158018" cy="230832"/>
          </a:xfrm>
          <a:prstGeom prst="rect">
            <a:avLst/>
          </a:prstGeom>
          <a:noFill/>
        </p:spPr>
        <p:txBody>
          <a:bodyPr wrap="square">
            <a:spAutoFit/>
          </a:bodyPr>
          <a:lstStyle/>
          <a:p>
            <a:r>
              <a:rPr lang="en-US" sz="900" dirty="0"/>
              <a:t>*Rackspace to co-sell with Microsoft field sales teams for projects &gt;$500K/year ACR to unlock funding via End Customer Investment Funds (ECIF)</a:t>
            </a:r>
          </a:p>
        </p:txBody>
      </p:sp>
      <p:sp>
        <p:nvSpPr>
          <p:cNvPr id="90" name="Title 1">
            <a:extLst>
              <a:ext uri="{FF2B5EF4-FFF2-40B4-BE49-F238E27FC236}">
                <a16:creationId xmlns:a16="http://schemas.microsoft.com/office/drawing/2014/main" id="{6B0FAD86-E72F-B4CA-0BCB-1C4C8B6B1067}"/>
              </a:ext>
            </a:extLst>
          </p:cNvPr>
          <p:cNvSpPr>
            <a:spLocks noGrp="1"/>
          </p:cNvSpPr>
          <p:nvPr>
            <p:ph type="title"/>
          </p:nvPr>
        </p:nvSpPr>
        <p:spPr>
          <a:xfrm>
            <a:off x="334496" y="145301"/>
            <a:ext cx="11495554" cy="899477"/>
          </a:xfrm>
        </p:spPr>
        <p:txBody>
          <a:bodyPr/>
          <a:lstStyle/>
          <a:p>
            <a:r>
              <a:rPr lang="en-US" b="1" dirty="0"/>
              <a:t>Azure Accelerate Engagement Approach </a:t>
            </a:r>
            <a:br>
              <a:rPr lang="en-US" b="1" dirty="0"/>
            </a:br>
            <a:r>
              <a:rPr lang="en-US" sz="2400" b="1" i="1" dirty="0">
                <a:solidFill>
                  <a:schemeClr val="bg1">
                    <a:lumMod val="65000"/>
                  </a:schemeClr>
                </a:solidFill>
              </a:rPr>
              <a:t>Partner nominated vs ECIF</a:t>
            </a:r>
            <a:endParaRPr lang="en-US" b="1" i="1" dirty="0">
              <a:solidFill>
                <a:schemeClr val="bg1">
                  <a:lumMod val="6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19AA6-178A-A712-4E25-5F3742E73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AE24C-0817-20C1-7D82-637A0F75B5D5}"/>
              </a:ext>
            </a:extLst>
          </p:cNvPr>
          <p:cNvSpPr>
            <a:spLocks noGrp="1"/>
          </p:cNvSpPr>
          <p:nvPr>
            <p:ph type="title"/>
          </p:nvPr>
        </p:nvSpPr>
        <p:spPr>
          <a:xfrm>
            <a:off x="334496" y="268589"/>
            <a:ext cx="11495554" cy="484043"/>
          </a:xfrm>
        </p:spPr>
        <p:txBody>
          <a:bodyPr/>
          <a:lstStyle/>
          <a:p>
            <a:r>
              <a:rPr lang="en-US" b="1" dirty="0"/>
              <a:t>Microsoft Azure Funding: Process &amp; Engagement Stages</a:t>
            </a:r>
          </a:p>
        </p:txBody>
      </p:sp>
      <p:sp>
        <p:nvSpPr>
          <p:cNvPr id="3" name="Slide Number Placeholder 2">
            <a:extLst>
              <a:ext uri="{FF2B5EF4-FFF2-40B4-BE49-F238E27FC236}">
                <a16:creationId xmlns:a16="http://schemas.microsoft.com/office/drawing/2014/main" id="{78122157-D7C7-E779-49BD-CE3DA82BC7C1}"/>
              </a:ext>
            </a:extLst>
          </p:cNvPr>
          <p:cNvSpPr>
            <a:spLocks noGrp="1"/>
          </p:cNvSpPr>
          <p:nvPr>
            <p:ph type="sldNum" sz="quarter" idx="4"/>
          </p:nvPr>
        </p:nvSpPr>
        <p:spPr/>
        <p:txBody>
          <a:bodyPr/>
          <a:lstStyle/>
          <a:p>
            <a:fld id="{762E77F0-FB5B-4E8E-9BC9-34F14560A017}" type="slidenum">
              <a:rPr lang="en-US" smtClean="0"/>
              <a:pPr/>
              <a:t>7</a:t>
            </a:fld>
            <a:endParaRPr lang="en-US"/>
          </a:p>
        </p:txBody>
      </p:sp>
      <p:sp>
        <p:nvSpPr>
          <p:cNvPr id="4" name="object 23">
            <a:extLst>
              <a:ext uri="{FF2B5EF4-FFF2-40B4-BE49-F238E27FC236}">
                <a16:creationId xmlns:a16="http://schemas.microsoft.com/office/drawing/2014/main" id="{519AA728-0C6B-1AAC-1D14-8225D46EFFB9}"/>
              </a:ext>
            </a:extLst>
          </p:cNvPr>
          <p:cNvSpPr/>
          <p:nvPr/>
        </p:nvSpPr>
        <p:spPr>
          <a:xfrm>
            <a:off x="386243" y="1211052"/>
            <a:ext cx="1191260" cy="716280"/>
          </a:xfrm>
          <a:custGeom>
            <a:avLst/>
            <a:gdLst/>
            <a:ahLst/>
            <a:cxnLst/>
            <a:rect l="l" t="t" r="r" b="b"/>
            <a:pathLst>
              <a:path w="1191260" h="716280">
                <a:moveTo>
                  <a:pt x="1142492" y="0"/>
                </a:moveTo>
                <a:lnTo>
                  <a:pt x="0" y="0"/>
                </a:lnTo>
                <a:lnTo>
                  <a:pt x="0" y="715772"/>
                </a:lnTo>
                <a:lnTo>
                  <a:pt x="1142492" y="715772"/>
                </a:lnTo>
                <a:lnTo>
                  <a:pt x="1161470" y="712025"/>
                </a:lnTo>
                <a:lnTo>
                  <a:pt x="1176972" y="701801"/>
                </a:lnTo>
                <a:lnTo>
                  <a:pt x="1187426" y="686625"/>
                </a:lnTo>
                <a:lnTo>
                  <a:pt x="1191260" y="668020"/>
                </a:lnTo>
                <a:lnTo>
                  <a:pt x="1191260" y="47751"/>
                </a:lnTo>
                <a:lnTo>
                  <a:pt x="1187426" y="29200"/>
                </a:lnTo>
                <a:lnTo>
                  <a:pt x="1176972" y="14017"/>
                </a:lnTo>
                <a:lnTo>
                  <a:pt x="1161470" y="3764"/>
                </a:lnTo>
                <a:lnTo>
                  <a:pt x="1142492" y="0"/>
                </a:lnTo>
                <a:close/>
              </a:path>
            </a:pathLst>
          </a:custGeom>
          <a:solidFill>
            <a:srgbClr val="EB0000"/>
          </a:solidFill>
        </p:spPr>
        <p:txBody>
          <a:bodyPr wrap="square" lIns="0" tIns="0" rIns="0" bIns="0" rtlCol="0"/>
          <a:lstStyle/>
          <a:p>
            <a:endParaRPr/>
          </a:p>
        </p:txBody>
      </p:sp>
      <p:sp>
        <p:nvSpPr>
          <p:cNvPr id="5" name="object 24">
            <a:extLst>
              <a:ext uri="{FF2B5EF4-FFF2-40B4-BE49-F238E27FC236}">
                <a16:creationId xmlns:a16="http://schemas.microsoft.com/office/drawing/2014/main" id="{D0934F81-12FF-DEA9-DF4D-D3EEDA8AE727}"/>
              </a:ext>
            </a:extLst>
          </p:cNvPr>
          <p:cNvSpPr txBox="1"/>
          <p:nvPr/>
        </p:nvSpPr>
        <p:spPr>
          <a:xfrm>
            <a:off x="454315" y="1363529"/>
            <a:ext cx="923925" cy="403860"/>
          </a:xfrm>
          <a:prstGeom prst="rect">
            <a:avLst/>
          </a:prstGeom>
        </p:spPr>
        <p:txBody>
          <a:bodyPr vert="horz" wrap="square" lIns="0" tIns="17145" rIns="0" bIns="0" rtlCol="0">
            <a:spAutoFit/>
          </a:bodyPr>
          <a:lstStyle/>
          <a:p>
            <a:pPr marL="12700">
              <a:lnSpc>
                <a:spcPct val="100000"/>
              </a:lnSpc>
              <a:spcBef>
                <a:spcPts val="135"/>
              </a:spcBef>
            </a:pPr>
            <a:r>
              <a:rPr sz="1200" spc="-10" dirty="0">
                <a:solidFill>
                  <a:srgbClr val="FFFFFF"/>
                </a:solidFill>
                <a:latin typeface="Segoe UI Semibold"/>
                <a:cs typeface="Segoe UI Semibold"/>
              </a:rPr>
              <a:t>Engagement</a:t>
            </a:r>
            <a:endParaRPr sz="1200" dirty="0">
              <a:latin typeface="Segoe UI Semibold"/>
              <a:cs typeface="Segoe UI Semibold"/>
            </a:endParaRPr>
          </a:p>
          <a:p>
            <a:pPr marL="12700">
              <a:lnSpc>
                <a:spcPct val="100000"/>
              </a:lnSpc>
              <a:spcBef>
                <a:spcPts val="50"/>
              </a:spcBef>
            </a:pPr>
            <a:r>
              <a:rPr sz="1200" spc="-10" dirty="0">
                <a:solidFill>
                  <a:srgbClr val="FFFFFF"/>
                </a:solidFill>
                <a:latin typeface="Segoe UI Semibold"/>
                <a:cs typeface="Segoe UI Semibold"/>
              </a:rPr>
              <a:t>Stage</a:t>
            </a:r>
            <a:endParaRPr sz="1200" dirty="0">
              <a:latin typeface="Segoe UI Semibold"/>
              <a:cs typeface="Segoe UI Semibold"/>
            </a:endParaRPr>
          </a:p>
        </p:txBody>
      </p:sp>
      <p:sp>
        <p:nvSpPr>
          <p:cNvPr id="6" name="object 25">
            <a:extLst>
              <a:ext uri="{FF2B5EF4-FFF2-40B4-BE49-F238E27FC236}">
                <a16:creationId xmlns:a16="http://schemas.microsoft.com/office/drawing/2014/main" id="{EC8F438D-788A-64BF-B3BE-D0850967F068}"/>
              </a:ext>
            </a:extLst>
          </p:cNvPr>
          <p:cNvSpPr txBox="1"/>
          <p:nvPr/>
        </p:nvSpPr>
        <p:spPr>
          <a:xfrm>
            <a:off x="386243" y="2177886"/>
            <a:ext cx="1191260" cy="2146742"/>
          </a:xfrm>
          <a:prstGeom prst="rect">
            <a:avLst/>
          </a:prstGeom>
          <a:solidFill>
            <a:srgbClr val="F1F1F1"/>
          </a:solidFill>
        </p:spPr>
        <p:txBody>
          <a:bodyPr vert="horz" wrap="square" lIns="0" tIns="0" rIns="0" bIns="0" rtlCol="0">
            <a:spAutoFit/>
          </a:bodyPr>
          <a:lstStyle/>
          <a:p>
            <a:pPr>
              <a:lnSpc>
                <a:spcPct val="100000"/>
              </a:lnSpc>
            </a:pPr>
            <a:endParaRPr sz="1550" dirty="0">
              <a:latin typeface="Times New Roman"/>
              <a:cs typeface="Times New Roman"/>
            </a:endParaRPr>
          </a:p>
          <a:p>
            <a:pPr>
              <a:lnSpc>
                <a:spcPct val="100000"/>
              </a:lnSpc>
            </a:pPr>
            <a:endParaRPr sz="1550" dirty="0">
              <a:latin typeface="Times New Roman"/>
              <a:cs typeface="Times New Roman"/>
            </a:endParaRPr>
          </a:p>
          <a:p>
            <a:pPr>
              <a:lnSpc>
                <a:spcPct val="100000"/>
              </a:lnSpc>
            </a:pPr>
            <a:endParaRPr sz="1550" dirty="0">
              <a:latin typeface="Times New Roman"/>
              <a:cs typeface="Times New Roman"/>
            </a:endParaRPr>
          </a:p>
          <a:p>
            <a:pPr marL="253365">
              <a:lnSpc>
                <a:spcPct val="100000"/>
              </a:lnSpc>
            </a:pPr>
            <a:endParaRPr lang="en-US" sz="1550" spc="-10" dirty="0">
              <a:latin typeface="Aptos Narrow" panose="020B0004020202020204" pitchFamily="34" charset="0"/>
              <a:cs typeface="Segoe UI Semibold"/>
            </a:endParaRPr>
          </a:p>
          <a:p>
            <a:pPr marL="253365">
              <a:lnSpc>
                <a:spcPct val="100000"/>
              </a:lnSpc>
            </a:pPr>
            <a:r>
              <a:rPr sz="1550" spc="-10" dirty="0">
                <a:latin typeface="Aptos Narrow" panose="020B0004020202020204" pitchFamily="34" charset="0"/>
                <a:cs typeface="Segoe UI Semibold"/>
              </a:rPr>
              <a:t>Activity</a:t>
            </a:r>
            <a:endParaRPr lang="en-US" sz="1550" spc="-10" dirty="0">
              <a:latin typeface="Aptos Narrow" panose="020B0004020202020204" pitchFamily="34" charset="0"/>
              <a:cs typeface="Segoe UI Semibold"/>
            </a:endParaRPr>
          </a:p>
          <a:p>
            <a:pPr marL="253365">
              <a:lnSpc>
                <a:spcPct val="100000"/>
              </a:lnSpc>
            </a:pPr>
            <a:endParaRPr lang="en-US" sz="1550" spc="-10" dirty="0">
              <a:latin typeface="Aptos Narrow" panose="020B0004020202020204" pitchFamily="34" charset="0"/>
              <a:cs typeface="Segoe UI Semibold"/>
            </a:endParaRPr>
          </a:p>
          <a:p>
            <a:pPr marL="253365">
              <a:lnSpc>
                <a:spcPct val="100000"/>
              </a:lnSpc>
            </a:pPr>
            <a:endParaRPr lang="en-US" sz="1550" spc="-10" dirty="0">
              <a:latin typeface="Aptos Narrow" panose="020B0004020202020204" pitchFamily="34" charset="0"/>
              <a:cs typeface="Segoe UI Semibold"/>
            </a:endParaRPr>
          </a:p>
          <a:p>
            <a:pPr marL="253365">
              <a:lnSpc>
                <a:spcPct val="100000"/>
              </a:lnSpc>
            </a:pPr>
            <a:endParaRPr lang="en-US" sz="1550" spc="-10" dirty="0">
              <a:latin typeface="Aptos Narrow" panose="020B0004020202020204" pitchFamily="34" charset="0"/>
              <a:cs typeface="Segoe UI Semibold"/>
            </a:endParaRPr>
          </a:p>
          <a:p>
            <a:pPr marL="253365">
              <a:lnSpc>
                <a:spcPct val="100000"/>
              </a:lnSpc>
            </a:pPr>
            <a:endParaRPr sz="1550" dirty="0">
              <a:latin typeface="Aptos Narrow" panose="020B0004020202020204" pitchFamily="34" charset="0"/>
              <a:cs typeface="Segoe UI Semibold"/>
            </a:endParaRPr>
          </a:p>
        </p:txBody>
      </p:sp>
      <p:grpSp>
        <p:nvGrpSpPr>
          <p:cNvPr id="7" name="object 26">
            <a:extLst>
              <a:ext uri="{FF2B5EF4-FFF2-40B4-BE49-F238E27FC236}">
                <a16:creationId xmlns:a16="http://schemas.microsoft.com/office/drawing/2014/main" id="{76E92B2F-E7CE-D24A-DB89-2541FA02FB4E}"/>
              </a:ext>
            </a:extLst>
          </p:cNvPr>
          <p:cNvGrpSpPr/>
          <p:nvPr/>
        </p:nvGrpSpPr>
        <p:grpSpPr>
          <a:xfrm>
            <a:off x="1378875" y="1440669"/>
            <a:ext cx="175260" cy="256540"/>
            <a:chOff x="1487932" y="2412619"/>
            <a:chExt cx="175260" cy="256540"/>
          </a:xfrm>
          <a:solidFill>
            <a:srgbClr val="C00000"/>
          </a:solidFill>
        </p:grpSpPr>
        <p:sp>
          <p:nvSpPr>
            <p:cNvPr id="8" name="object 27">
              <a:extLst>
                <a:ext uri="{FF2B5EF4-FFF2-40B4-BE49-F238E27FC236}">
                  <a16:creationId xmlns:a16="http://schemas.microsoft.com/office/drawing/2014/main" id="{3E06AC24-5C8D-1D5C-19A7-20FDE2D32512}"/>
                </a:ext>
              </a:extLst>
            </p:cNvPr>
            <p:cNvSpPr/>
            <p:nvPr/>
          </p:nvSpPr>
          <p:spPr>
            <a:xfrm>
              <a:off x="1487932" y="2412619"/>
              <a:ext cx="175260" cy="256540"/>
            </a:xfrm>
            <a:custGeom>
              <a:avLst/>
              <a:gdLst/>
              <a:ahLst/>
              <a:cxnLst/>
              <a:rect l="l" t="t" r="r" b="b"/>
              <a:pathLst>
                <a:path w="175260" h="256539">
                  <a:moveTo>
                    <a:pt x="145542" y="0"/>
                  </a:moveTo>
                  <a:lnTo>
                    <a:pt x="29083" y="0"/>
                  </a:lnTo>
                  <a:lnTo>
                    <a:pt x="17734" y="2295"/>
                  </a:lnTo>
                  <a:lnTo>
                    <a:pt x="8493" y="8556"/>
                  </a:lnTo>
                  <a:lnTo>
                    <a:pt x="2276" y="17841"/>
                  </a:lnTo>
                  <a:lnTo>
                    <a:pt x="0" y="29209"/>
                  </a:lnTo>
                  <a:lnTo>
                    <a:pt x="0" y="227456"/>
                  </a:lnTo>
                  <a:lnTo>
                    <a:pt x="2276" y="238752"/>
                  </a:lnTo>
                  <a:lnTo>
                    <a:pt x="8493" y="247999"/>
                  </a:lnTo>
                  <a:lnTo>
                    <a:pt x="17734" y="254246"/>
                  </a:lnTo>
                  <a:lnTo>
                    <a:pt x="29083" y="256539"/>
                  </a:lnTo>
                  <a:lnTo>
                    <a:pt x="145542" y="256539"/>
                  </a:lnTo>
                  <a:lnTo>
                    <a:pt x="156910" y="254246"/>
                  </a:lnTo>
                  <a:lnTo>
                    <a:pt x="166195" y="247999"/>
                  </a:lnTo>
                  <a:lnTo>
                    <a:pt x="172456" y="238752"/>
                  </a:lnTo>
                  <a:lnTo>
                    <a:pt x="174751" y="227456"/>
                  </a:lnTo>
                  <a:lnTo>
                    <a:pt x="174751" y="29209"/>
                  </a:lnTo>
                  <a:lnTo>
                    <a:pt x="172456" y="17841"/>
                  </a:lnTo>
                  <a:lnTo>
                    <a:pt x="166195" y="8556"/>
                  </a:lnTo>
                  <a:lnTo>
                    <a:pt x="156910" y="2295"/>
                  </a:lnTo>
                  <a:lnTo>
                    <a:pt x="145542" y="0"/>
                  </a:lnTo>
                  <a:close/>
                </a:path>
              </a:pathLst>
            </a:custGeom>
            <a:grpFill/>
          </p:spPr>
          <p:txBody>
            <a:bodyPr wrap="square" lIns="0" tIns="0" rIns="0" bIns="0" rtlCol="0"/>
            <a:lstStyle/>
            <a:p>
              <a:endParaRPr dirty="0"/>
            </a:p>
          </p:txBody>
        </p:sp>
        <p:sp>
          <p:nvSpPr>
            <p:cNvPr id="9" name="object 28">
              <a:extLst>
                <a:ext uri="{FF2B5EF4-FFF2-40B4-BE49-F238E27FC236}">
                  <a16:creationId xmlns:a16="http://schemas.microsoft.com/office/drawing/2014/main" id="{2611DAED-D9D9-C282-5365-D75EC0D101DF}"/>
                </a:ext>
              </a:extLst>
            </p:cNvPr>
            <p:cNvSpPr/>
            <p:nvPr/>
          </p:nvSpPr>
          <p:spPr>
            <a:xfrm>
              <a:off x="1536573" y="2453640"/>
              <a:ext cx="73025" cy="174625"/>
            </a:xfrm>
            <a:custGeom>
              <a:avLst/>
              <a:gdLst/>
              <a:ahLst/>
              <a:cxnLst/>
              <a:rect l="l" t="t" r="r" b="b"/>
              <a:pathLst>
                <a:path w="73025" h="174625">
                  <a:moveTo>
                    <a:pt x="0" y="0"/>
                  </a:moveTo>
                  <a:lnTo>
                    <a:pt x="72898" y="87249"/>
                  </a:lnTo>
                  <a:lnTo>
                    <a:pt x="0" y="174498"/>
                  </a:lnTo>
                </a:path>
              </a:pathLst>
            </a:custGeom>
            <a:grpFill/>
            <a:ln w="9525">
              <a:solidFill>
                <a:srgbClr val="FFFFFF"/>
              </a:solidFill>
            </a:ln>
          </p:spPr>
          <p:txBody>
            <a:bodyPr wrap="square" lIns="0" tIns="0" rIns="0" bIns="0" rtlCol="0"/>
            <a:lstStyle/>
            <a:p>
              <a:endParaRPr/>
            </a:p>
          </p:txBody>
        </p:sp>
      </p:grpSp>
      <p:sp>
        <p:nvSpPr>
          <p:cNvPr id="10" name="object 29">
            <a:extLst>
              <a:ext uri="{FF2B5EF4-FFF2-40B4-BE49-F238E27FC236}">
                <a16:creationId xmlns:a16="http://schemas.microsoft.com/office/drawing/2014/main" id="{C6B2C161-C85A-5D45-DCE4-C24171123311}"/>
              </a:ext>
            </a:extLst>
          </p:cNvPr>
          <p:cNvSpPr/>
          <p:nvPr/>
        </p:nvSpPr>
        <p:spPr>
          <a:xfrm>
            <a:off x="359865" y="5094115"/>
            <a:ext cx="11243310" cy="50800"/>
          </a:xfrm>
          <a:custGeom>
            <a:avLst/>
            <a:gdLst/>
            <a:ahLst/>
            <a:cxnLst/>
            <a:rect l="l" t="t" r="r" b="b"/>
            <a:pathLst>
              <a:path w="11243310" h="50800">
                <a:moveTo>
                  <a:pt x="25400" y="0"/>
                </a:moveTo>
                <a:lnTo>
                  <a:pt x="15516" y="1995"/>
                </a:lnTo>
                <a:lnTo>
                  <a:pt x="7442" y="7437"/>
                </a:lnTo>
                <a:lnTo>
                  <a:pt x="1997" y="15510"/>
                </a:lnTo>
                <a:lnTo>
                  <a:pt x="0" y="25400"/>
                </a:lnTo>
                <a:lnTo>
                  <a:pt x="1997" y="35289"/>
                </a:lnTo>
                <a:lnTo>
                  <a:pt x="7442" y="43362"/>
                </a:lnTo>
                <a:lnTo>
                  <a:pt x="15516" y="48804"/>
                </a:lnTo>
                <a:lnTo>
                  <a:pt x="25400" y="50800"/>
                </a:lnTo>
                <a:lnTo>
                  <a:pt x="35289" y="48804"/>
                </a:lnTo>
                <a:lnTo>
                  <a:pt x="43362" y="43362"/>
                </a:lnTo>
                <a:lnTo>
                  <a:pt x="48804" y="35289"/>
                </a:lnTo>
                <a:lnTo>
                  <a:pt x="49839" y="30162"/>
                </a:lnTo>
                <a:lnTo>
                  <a:pt x="25400" y="30162"/>
                </a:lnTo>
                <a:lnTo>
                  <a:pt x="25400" y="20637"/>
                </a:lnTo>
                <a:lnTo>
                  <a:pt x="49839" y="20637"/>
                </a:lnTo>
                <a:lnTo>
                  <a:pt x="48804" y="15510"/>
                </a:lnTo>
                <a:lnTo>
                  <a:pt x="43362" y="7437"/>
                </a:lnTo>
                <a:lnTo>
                  <a:pt x="35289" y="1995"/>
                </a:lnTo>
                <a:lnTo>
                  <a:pt x="25400" y="0"/>
                </a:lnTo>
                <a:close/>
              </a:path>
              <a:path w="11243310" h="50800">
                <a:moveTo>
                  <a:pt x="49839" y="20637"/>
                </a:moveTo>
                <a:lnTo>
                  <a:pt x="25400" y="20637"/>
                </a:lnTo>
                <a:lnTo>
                  <a:pt x="25400" y="30162"/>
                </a:lnTo>
                <a:lnTo>
                  <a:pt x="49839" y="30162"/>
                </a:lnTo>
                <a:lnTo>
                  <a:pt x="50800" y="25400"/>
                </a:lnTo>
                <a:lnTo>
                  <a:pt x="49839" y="20637"/>
                </a:lnTo>
                <a:close/>
              </a:path>
              <a:path w="11243310" h="50800">
                <a:moveTo>
                  <a:pt x="63500" y="20637"/>
                </a:moveTo>
                <a:lnTo>
                  <a:pt x="49839" y="20637"/>
                </a:lnTo>
                <a:lnTo>
                  <a:pt x="50800" y="25400"/>
                </a:lnTo>
                <a:lnTo>
                  <a:pt x="49839" y="30162"/>
                </a:lnTo>
                <a:lnTo>
                  <a:pt x="63500" y="30162"/>
                </a:lnTo>
                <a:lnTo>
                  <a:pt x="63500" y="20637"/>
                </a:lnTo>
                <a:close/>
              </a:path>
              <a:path w="11243310" h="50800">
                <a:moveTo>
                  <a:pt x="130175" y="20637"/>
                </a:moveTo>
                <a:lnTo>
                  <a:pt x="92075" y="20637"/>
                </a:lnTo>
                <a:lnTo>
                  <a:pt x="92075" y="30162"/>
                </a:lnTo>
                <a:lnTo>
                  <a:pt x="130175" y="30162"/>
                </a:lnTo>
                <a:lnTo>
                  <a:pt x="130175" y="20637"/>
                </a:lnTo>
                <a:close/>
              </a:path>
              <a:path w="11243310" h="50800">
                <a:moveTo>
                  <a:pt x="196850" y="20637"/>
                </a:moveTo>
                <a:lnTo>
                  <a:pt x="158750" y="20637"/>
                </a:lnTo>
                <a:lnTo>
                  <a:pt x="158750" y="30162"/>
                </a:lnTo>
                <a:lnTo>
                  <a:pt x="196850" y="30162"/>
                </a:lnTo>
                <a:lnTo>
                  <a:pt x="196850" y="20637"/>
                </a:lnTo>
                <a:close/>
              </a:path>
              <a:path w="11243310" h="50800">
                <a:moveTo>
                  <a:pt x="263525" y="20637"/>
                </a:moveTo>
                <a:lnTo>
                  <a:pt x="225425" y="20637"/>
                </a:lnTo>
                <a:lnTo>
                  <a:pt x="225425" y="30162"/>
                </a:lnTo>
                <a:lnTo>
                  <a:pt x="263525" y="30162"/>
                </a:lnTo>
                <a:lnTo>
                  <a:pt x="263525" y="20637"/>
                </a:lnTo>
                <a:close/>
              </a:path>
              <a:path w="11243310" h="50800">
                <a:moveTo>
                  <a:pt x="330200" y="20637"/>
                </a:moveTo>
                <a:lnTo>
                  <a:pt x="292100" y="20637"/>
                </a:lnTo>
                <a:lnTo>
                  <a:pt x="292100" y="30162"/>
                </a:lnTo>
                <a:lnTo>
                  <a:pt x="330200" y="30162"/>
                </a:lnTo>
                <a:lnTo>
                  <a:pt x="330200" y="20637"/>
                </a:lnTo>
                <a:close/>
              </a:path>
              <a:path w="11243310" h="50800">
                <a:moveTo>
                  <a:pt x="396875" y="20637"/>
                </a:moveTo>
                <a:lnTo>
                  <a:pt x="358775" y="20637"/>
                </a:lnTo>
                <a:lnTo>
                  <a:pt x="358775" y="30162"/>
                </a:lnTo>
                <a:lnTo>
                  <a:pt x="396875" y="30162"/>
                </a:lnTo>
                <a:lnTo>
                  <a:pt x="396875" y="20637"/>
                </a:lnTo>
                <a:close/>
              </a:path>
              <a:path w="11243310" h="50800">
                <a:moveTo>
                  <a:pt x="463550" y="20637"/>
                </a:moveTo>
                <a:lnTo>
                  <a:pt x="425450" y="20637"/>
                </a:lnTo>
                <a:lnTo>
                  <a:pt x="425450" y="30162"/>
                </a:lnTo>
                <a:lnTo>
                  <a:pt x="463550" y="30162"/>
                </a:lnTo>
                <a:lnTo>
                  <a:pt x="463550" y="20637"/>
                </a:lnTo>
                <a:close/>
              </a:path>
              <a:path w="11243310" h="50800">
                <a:moveTo>
                  <a:pt x="530225" y="20637"/>
                </a:moveTo>
                <a:lnTo>
                  <a:pt x="492125" y="20637"/>
                </a:lnTo>
                <a:lnTo>
                  <a:pt x="492125" y="30162"/>
                </a:lnTo>
                <a:lnTo>
                  <a:pt x="530225" y="30162"/>
                </a:lnTo>
                <a:lnTo>
                  <a:pt x="530225" y="20637"/>
                </a:lnTo>
                <a:close/>
              </a:path>
              <a:path w="11243310" h="50800">
                <a:moveTo>
                  <a:pt x="596900" y="20637"/>
                </a:moveTo>
                <a:lnTo>
                  <a:pt x="558800" y="20637"/>
                </a:lnTo>
                <a:lnTo>
                  <a:pt x="558800" y="30162"/>
                </a:lnTo>
                <a:lnTo>
                  <a:pt x="596900" y="30162"/>
                </a:lnTo>
                <a:lnTo>
                  <a:pt x="596900" y="20637"/>
                </a:lnTo>
                <a:close/>
              </a:path>
              <a:path w="11243310" h="50800">
                <a:moveTo>
                  <a:pt x="663575" y="20637"/>
                </a:moveTo>
                <a:lnTo>
                  <a:pt x="625475" y="20637"/>
                </a:lnTo>
                <a:lnTo>
                  <a:pt x="625475" y="30162"/>
                </a:lnTo>
                <a:lnTo>
                  <a:pt x="663575" y="30162"/>
                </a:lnTo>
                <a:lnTo>
                  <a:pt x="663575" y="20637"/>
                </a:lnTo>
                <a:close/>
              </a:path>
              <a:path w="11243310" h="50800">
                <a:moveTo>
                  <a:pt x="730250" y="20637"/>
                </a:moveTo>
                <a:lnTo>
                  <a:pt x="692150" y="20637"/>
                </a:lnTo>
                <a:lnTo>
                  <a:pt x="692150" y="30162"/>
                </a:lnTo>
                <a:lnTo>
                  <a:pt x="730250" y="30162"/>
                </a:lnTo>
                <a:lnTo>
                  <a:pt x="730250" y="20637"/>
                </a:lnTo>
                <a:close/>
              </a:path>
              <a:path w="11243310" h="50800">
                <a:moveTo>
                  <a:pt x="796925" y="20637"/>
                </a:moveTo>
                <a:lnTo>
                  <a:pt x="758825" y="20637"/>
                </a:lnTo>
                <a:lnTo>
                  <a:pt x="758825" y="30162"/>
                </a:lnTo>
                <a:lnTo>
                  <a:pt x="796925" y="30162"/>
                </a:lnTo>
                <a:lnTo>
                  <a:pt x="796925" y="20637"/>
                </a:lnTo>
                <a:close/>
              </a:path>
              <a:path w="11243310" h="50800">
                <a:moveTo>
                  <a:pt x="863561" y="20637"/>
                </a:moveTo>
                <a:lnTo>
                  <a:pt x="825461" y="20637"/>
                </a:lnTo>
                <a:lnTo>
                  <a:pt x="825461" y="30162"/>
                </a:lnTo>
                <a:lnTo>
                  <a:pt x="863561" y="30162"/>
                </a:lnTo>
                <a:lnTo>
                  <a:pt x="863561" y="20637"/>
                </a:lnTo>
                <a:close/>
              </a:path>
              <a:path w="11243310" h="50800">
                <a:moveTo>
                  <a:pt x="930236" y="20637"/>
                </a:moveTo>
                <a:lnTo>
                  <a:pt x="892136" y="20637"/>
                </a:lnTo>
                <a:lnTo>
                  <a:pt x="892136" y="30162"/>
                </a:lnTo>
                <a:lnTo>
                  <a:pt x="930236" y="30162"/>
                </a:lnTo>
                <a:lnTo>
                  <a:pt x="930236" y="20637"/>
                </a:lnTo>
                <a:close/>
              </a:path>
              <a:path w="11243310" h="50800">
                <a:moveTo>
                  <a:pt x="996911" y="20637"/>
                </a:moveTo>
                <a:lnTo>
                  <a:pt x="958811" y="20637"/>
                </a:lnTo>
                <a:lnTo>
                  <a:pt x="958811" y="30162"/>
                </a:lnTo>
                <a:lnTo>
                  <a:pt x="996911" y="30162"/>
                </a:lnTo>
                <a:lnTo>
                  <a:pt x="996911" y="20637"/>
                </a:lnTo>
                <a:close/>
              </a:path>
              <a:path w="11243310" h="50800">
                <a:moveTo>
                  <a:pt x="1063586" y="20637"/>
                </a:moveTo>
                <a:lnTo>
                  <a:pt x="1025486" y="20637"/>
                </a:lnTo>
                <a:lnTo>
                  <a:pt x="1025486" y="30162"/>
                </a:lnTo>
                <a:lnTo>
                  <a:pt x="1063586" y="30162"/>
                </a:lnTo>
                <a:lnTo>
                  <a:pt x="1063586" y="20637"/>
                </a:lnTo>
                <a:close/>
              </a:path>
              <a:path w="11243310" h="50800">
                <a:moveTo>
                  <a:pt x="1130261" y="20637"/>
                </a:moveTo>
                <a:lnTo>
                  <a:pt x="1092161" y="20637"/>
                </a:lnTo>
                <a:lnTo>
                  <a:pt x="1092161" y="30162"/>
                </a:lnTo>
                <a:lnTo>
                  <a:pt x="1130261" y="30162"/>
                </a:lnTo>
                <a:lnTo>
                  <a:pt x="1130261" y="20637"/>
                </a:lnTo>
                <a:close/>
              </a:path>
              <a:path w="11243310" h="50800">
                <a:moveTo>
                  <a:pt x="1196936" y="20637"/>
                </a:moveTo>
                <a:lnTo>
                  <a:pt x="1158836" y="20637"/>
                </a:lnTo>
                <a:lnTo>
                  <a:pt x="1158836" y="30162"/>
                </a:lnTo>
                <a:lnTo>
                  <a:pt x="1196936" y="30162"/>
                </a:lnTo>
                <a:lnTo>
                  <a:pt x="1196936" y="20637"/>
                </a:lnTo>
                <a:close/>
              </a:path>
              <a:path w="11243310" h="50800">
                <a:moveTo>
                  <a:pt x="1263611" y="20637"/>
                </a:moveTo>
                <a:lnTo>
                  <a:pt x="1225511" y="20637"/>
                </a:lnTo>
                <a:lnTo>
                  <a:pt x="1225511" y="30162"/>
                </a:lnTo>
                <a:lnTo>
                  <a:pt x="1263611" y="30162"/>
                </a:lnTo>
                <a:lnTo>
                  <a:pt x="1263611" y="20637"/>
                </a:lnTo>
                <a:close/>
              </a:path>
              <a:path w="11243310" h="50800">
                <a:moveTo>
                  <a:pt x="1330286" y="20637"/>
                </a:moveTo>
                <a:lnTo>
                  <a:pt x="1292186" y="20637"/>
                </a:lnTo>
                <a:lnTo>
                  <a:pt x="1292186" y="30162"/>
                </a:lnTo>
                <a:lnTo>
                  <a:pt x="1330286" y="30162"/>
                </a:lnTo>
                <a:lnTo>
                  <a:pt x="1330286" y="20637"/>
                </a:lnTo>
                <a:close/>
              </a:path>
              <a:path w="11243310" h="50800">
                <a:moveTo>
                  <a:pt x="1396961" y="20637"/>
                </a:moveTo>
                <a:lnTo>
                  <a:pt x="1358861" y="20637"/>
                </a:lnTo>
                <a:lnTo>
                  <a:pt x="1358861" y="30162"/>
                </a:lnTo>
                <a:lnTo>
                  <a:pt x="1396961" y="30162"/>
                </a:lnTo>
                <a:lnTo>
                  <a:pt x="1396961" y="20637"/>
                </a:lnTo>
                <a:close/>
              </a:path>
              <a:path w="11243310" h="50800">
                <a:moveTo>
                  <a:pt x="1463636" y="20637"/>
                </a:moveTo>
                <a:lnTo>
                  <a:pt x="1425536" y="20637"/>
                </a:lnTo>
                <a:lnTo>
                  <a:pt x="1425536" y="30162"/>
                </a:lnTo>
                <a:lnTo>
                  <a:pt x="1463636" y="30162"/>
                </a:lnTo>
                <a:lnTo>
                  <a:pt x="1463636" y="20637"/>
                </a:lnTo>
                <a:close/>
              </a:path>
              <a:path w="11243310" h="50800">
                <a:moveTo>
                  <a:pt x="1530311" y="20637"/>
                </a:moveTo>
                <a:lnTo>
                  <a:pt x="1492211" y="20637"/>
                </a:lnTo>
                <a:lnTo>
                  <a:pt x="1492211" y="30162"/>
                </a:lnTo>
                <a:lnTo>
                  <a:pt x="1530311" y="30162"/>
                </a:lnTo>
                <a:lnTo>
                  <a:pt x="1530311" y="20637"/>
                </a:lnTo>
                <a:close/>
              </a:path>
              <a:path w="11243310" h="50800">
                <a:moveTo>
                  <a:pt x="1596986" y="20637"/>
                </a:moveTo>
                <a:lnTo>
                  <a:pt x="1558886" y="20637"/>
                </a:lnTo>
                <a:lnTo>
                  <a:pt x="1558886" y="30162"/>
                </a:lnTo>
                <a:lnTo>
                  <a:pt x="1596986" y="30162"/>
                </a:lnTo>
                <a:lnTo>
                  <a:pt x="1596986" y="20637"/>
                </a:lnTo>
                <a:close/>
              </a:path>
              <a:path w="11243310" h="50800">
                <a:moveTo>
                  <a:pt x="1663661" y="20637"/>
                </a:moveTo>
                <a:lnTo>
                  <a:pt x="1625561" y="20637"/>
                </a:lnTo>
                <a:lnTo>
                  <a:pt x="1625561" y="30162"/>
                </a:lnTo>
                <a:lnTo>
                  <a:pt x="1663661" y="30162"/>
                </a:lnTo>
                <a:lnTo>
                  <a:pt x="1663661" y="20637"/>
                </a:lnTo>
                <a:close/>
              </a:path>
              <a:path w="11243310" h="50800">
                <a:moveTo>
                  <a:pt x="1730336" y="20637"/>
                </a:moveTo>
                <a:lnTo>
                  <a:pt x="1692236" y="20637"/>
                </a:lnTo>
                <a:lnTo>
                  <a:pt x="1692236" y="30162"/>
                </a:lnTo>
                <a:lnTo>
                  <a:pt x="1730336" y="30162"/>
                </a:lnTo>
                <a:lnTo>
                  <a:pt x="1730336" y="20637"/>
                </a:lnTo>
                <a:close/>
              </a:path>
              <a:path w="11243310" h="50800">
                <a:moveTo>
                  <a:pt x="1797011" y="20637"/>
                </a:moveTo>
                <a:lnTo>
                  <a:pt x="1758911" y="20637"/>
                </a:lnTo>
                <a:lnTo>
                  <a:pt x="1758911" y="30162"/>
                </a:lnTo>
                <a:lnTo>
                  <a:pt x="1797011" y="30162"/>
                </a:lnTo>
                <a:lnTo>
                  <a:pt x="1797011" y="20637"/>
                </a:lnTo>
                <a:close/>
              </a:path>
              <a:path w="11243310" h="50800">
                <a:moveTo>
                  <a:pt x="1863686" y="20637"/>
                </a:moveTo>
                <a:lnTo>
                  <a:pt x="1825586" y="20637"/>
                </a:lnTo>
                <a:lnTo>
                  <a:pt x="1825586" y="30162"/>
                </a:lnTo>
                <a:lnTo>
                  <a:pt x="1863686" y="30162"/>
                </a:lnTo>
                <a:lnTo>
                  <a:pt x="1863686" y="20637"/>
                </a:lnTo>
                <a:close/>
              </a:path>
              <a:path w="11243310" h="50800">
                <a:moveTo>
                  <a:pt x="1930361" y="20637"/>
                </a:moveTo>
                <a:lnTo>
                  <a:pt x="1892261" y="20637"/>
                </a:lnTo>
                <a:lnTo>
                  <a:pt x="1892261" y="30162"/>
                </a:lnTo>
                <a:lnTo>
                  <a:pt x="1930361" y="30162"/>
                </a:lnTo>
                <a:lnTo>
                  <a:pt x="1930361" y="20637"/>
                </a:lnTo>
                <a:close/>
              </a:path>
              <a:path w="11243310" h="50800">
                <a:moveTo>
                  <a:pt x="1997036" y="20637"/>
                </a:moveTo>
                <a:lnTo>
                  <a:pt x="1958936" y="20637"/>
                </a:lnTo>
                <a:lnTo>
                  <a:pt x="1958936" y="30162"/>
                </a:lnTo>
                <a:lnTo>
                  <a:pt x="1997036" y="30162"/>
                </a:lnTo>
                <a:lnTo>
                  <a:pt x="1997036" y="20637"/>
                </a:lnTo>
                <a:close/>
              </a:path>
              <a:path w="11243310" h="50800">
                <a:moveTo>
                  <a:pt x="2063711" y="20637"/>
                </a:moveTo>
                <a:lnTo>
                  <a:pt x="2025611" y="20637"/>
                </a:lnTo>
                <a:lnTo>
                  <a:pt x="2025611" y="30162"/>
                </a:lnTo>
                <a:lnTo>
                  <a:pt x="2063711" y="30162"/>
                </a:lnTo>
                <a:lnTo>
                  <a:pt x="2063711" y="20637"/>
                </a:lnTo>
                <a:close/>
              </a:path>
              <a:path w="11243310" h="50800">
                <a:moveTo>
                  <a:pt x="2130386" y="20637"/>
                </a:moveTo>
                <a:lnTo>
                  <a:pt x="2092286" y="20637"/>
                </a:lnTo>
                <a:lnTo>
                  <a:pt x="2092286" y="30162"/>
                </a:lnTo>
                <a:lnTo>
                  <a:pt x="2130386" y="30162"/>
                </a:lnTo>
                <a:lnTo>
                  <a:pt x="2130386" y="20637"/>
                </a:lnTo>
                <a:close/>
              </a:path>
              <a:path w="11243310" h="50800">
                <a:moveTo>
                  <a:pt x="2197061" y="20637"/>
                </a:moveTo>
                <a:lnTo>
                  <a:pt x="2158961" y="20637"/>
                </a:lnTo>
                <a:lnTo>
                  <a:pt x="2158961" y="30162"/>
                </a:lnTo>
                <a:lnTo>
                  <a:pt x="2197061" y="30162"/>
                </a:lnTo>
                <a:lnTo>
                  <a:pt x="2197061" y="20637"/>
                </a:lnTo>
                <a:close/>
              </a:path>
              <a:path w="11243310" h="50800">
                <a:moveTo>
                  <a:pt x="2263736" y="20637"/>
                </a:moveTo>
                <a:lnTo>
                  <a:pt x="2225636" y="20637"/>
                </a:lnTo>
                <a:lnTo>
                  <a:pt x="2225636" y="30162"/>
                </a:lnTo>
                <a:lnTo>
                  <a:pt x="2263736" y="30162"/>
                </a:lnTo>
                <a:lnTo>
                  <a:pt x="2263736" y="20637"/>
                </a:lnTo>
                <a:close/>
              </a:path>
              <a:path w="11243310" h="50800">
                <a:moveTo>
                  <a:pt x="2330411" y="20637"/>
                </a:moveTo>
                <a:lnTo>
                  <a:pt x="2292311" y="20637"/>
                </a:lnTo>
                <a:lnTo>
                  <a:pt x="2292311" y="30162"/>
                </a:lnTo>
                <a:lnTo>
                  <a:pt x="2330411" y="30162"/>
                </a:lnTo>
                <a:lnTo>
                  <a:pt x="2330411" y="20637"/>
                </a:lnTo>
                <a:close/>
              </a:path>
              <a:path w="11243310" h="50800">
                <a:moveTo>
                  <a:pt x="2397086" y="20637"/>
                </a:moveTo>
                <a:lnTo>
                  <a:pt x="2358986" y="20637"/>
                </a:lnTo>
                <a:lnTo>
                  <a:pt x="2358986" y="30162"/>
                </a:lnTo>
                <a:lnTo>
                  <a:pt x="2397086" y="30162"/>
                </a:lnTo>
                <a:lnTo>
                  <a:pt x="2397086" y="20637"/>
                </a:lnTo>
                <a:close/>
              </a:path>
              <a:path w="11243310" h="50800">
                <a:moveTo>
                  <a:pt x="2463761" y="20637"/>
                </a:moveTo>
                <a:lnTo>
                  <a:pt x="2425661" y="20637"/>
                </a:lnTo>
                <a:lnTo>
                  <a:pt x="2425661" y="30162"/>
                </a:lnTo>
                <a:lnTo>
                  <a:pt x="2463761" y="30162"/>
                </a:lnTo>
                <a:lnTo>
                  <a:pt x="2463761" y="20637"/>
                </a:lnTo>
                <a:close/>
              </a:path>
              <a:path w="11243310" h="50800">
                <a:moveTo>
                  <a:pt x="2530436" y="20637"/>
                </a:moveTo>
                <a:lnTo>
                  <a:pt x="2492336" y="20637"/>
                </a:lnTo>
                <a:lnTo>
                  <a:pt x="2492336" y="30162"/>
                </a:lnTo>
                <a:lnTo>
                  <a:pt x="2530436" y="30162"/>
                </a:lnTo>
                <a:lnTo>
                  <a:pt x="2530436" y="20637"/>
                </a:lnTo>
                <a:close/>
              </a:path>
              <a:path w="11243310" h="50800">
                <a:moveTo>
                  <a:pt x="2597111" y="20637"/>
                </a:moveTo>
                <a:lnTo>
                  <a:pt x="2559011" y="20637"/>
                </a:lnTo>
                <a:lnTo>
                  <a:pt x="2559011" y="30162"/>
                </a:lnTo>
                <a:lnTo>
                  <a:pt x="2597111" y="30162"/>
                </a:lnTo>
                <a:lnTo>
                  <a:pt x="2597111" y="20637"/>
                </a:lnTo>
                <a:close/>
              </a:path>
              <a:path w="11243310" h="50800">
                <a:moveTo>
                  <a:pt x="2663786" y="20637"/>
                </a:moveTo>
                <a:lnTo>
                  <a:pt x="2625686" y="20637"/>
                </a:lnTo>
                <a:lnTo>
                  <a:pt x="2625686" y="30162"/>
                </a:lnTo>
                <a:lnTo>
                  <a:pt x="2663786" y="30162"/>
                </a:lnTo>
                <a:lnTo>
                  <a:pt x="2663786" y="20637"/>
                </a:lnTo>
                <a:close/>
              </a:path>
              <a:path w="11243310" h="50800">
                <a:moveTo>
                  <a:pt x="2730461" y="20637"/>
                </a:moveTo>
                <a:lnTo>
                  <a:pt x="2692361" y="20637"/>
                </a:lnTo>
                <a:lnTo>
                  <a:pt x="2692361" y="30162"/>
                </a:lnTo>
                <a:lnTo>
                  <a:pt x="2730461" y="30162"/>
                </a:lnTo>
                <a:lnTo>
                  <a:pt x="2730461" y="20637"/>
                </a:lnTo>
                <a:close/>
              </a:path>
              <a:path w="11243310" h="50800">
                <a:moveTo>
                  <a:pt x="2797136" y="20637"/>
                </a:moveTo>
                <a:lnTo>
                  <a:pt x="2759036" y="20637"/>
                </a:lnTo>
                <a:lnTo>
                  <a:pt x="2759036" y="30162"/>
                </a:lnTo>
                <a:lnTo>
                  <a:pt x="2797136" y="30162"/>
                </a:lnTo>
                <a:lnTo>
                  <a:pt x="2797136" y="20637"/>
                </a:lnTo>
                <a:close/>
              </a:path>
              <a:path w="11243310" h="50800">
                <a:moveTo>
                  <a:pt x="2863811" y="20637"/>
                </a:moveTo>
                <a:lnTo>
                  <a:pt x="2825711" y="20637"/>
                </a:lnTo>
                <a:lnTo>
                  <a:pt x="2825711" y="30162"/>
                </a:lnTo>
                <a:lnTo>
                  <a:pt x="2863811" y="30162"/>
                </a:lnTo>
                <a:lnTo>
                  <a:pt x="2863811" y="20637"/>
                </a:lnTo>
                <a:close/>
              </a:path>
              <a:path w="11243310" h="50800">
                <a:moveTo>
                  <a:pt x="2930486" y="20637"/>
                </a:moveTo>
                <a:lnTo>
                  <a:pt x="2892386" y="20637"/>
                </a:lnTo>
                <a:lnTo>
                  <a:pt x="2892386" y="30162"/>
                </a:lnTo>
                <a:lnTo>
                  <a:pt x="2930486" y="30162"/>
                </a:lnTo>
                <a:lnTo>
                  <a:pt x="2930486" y="20637"/>
                </a:lnTo>
                <a:close/>
              </a:path>
              <a:path w="11243310" h="50800">
                <a:moveTo>
                  <a:pt x="2997161" y="20637"/>
                </a:moveTo>
                <a:lnTo>
                  <a:pt x="2959061" y="20637"/>
                </a:lnTo>
                <a:lnTo>
                  <a:pt x="2959061" y="30162"/>
                </a:lnTo>
                <a:lnTo>
                  <a:pt x="2997161" y="30162"/>
                </a:lnTo>
                <a:lnTo>
                  <a:pt x="2997161" y="20637"/>
                </a:lnTo>
                <a:close/>
              </a:path>
              <a:path w="11243310" h="50800">
                <a:moveTo>
                  <a:pt x="3063836" y="20637"/>
                </a:moveTo>
                <a:lnTo>
                  <a:pt x="3025736" y="20637"/>
                </a:lnTo>
                <a:lnTo>
                  <a:pt x="3025736" y="30162"/>
                </a:lnTo>
                <a:lnTo>
                  <a:pt x="3063836" y="30162"/>
                </a:lnTo>
                <a:lnTo>
                  <a:pt x="3063836" y="20637"/>
                </a:lnTo>
                <a:close/>
              </a:path>
              <a:path w="11243310" h="50800">
                <a:moveTo>
                  <a:pt x="3130511" y="20637"/>
                </a:moveTo>
                <a:lnTo>
                  <a:pt x="3092411" y="20637"/>
                </a:lnTo>
                <a:lnTo>
                  <a:pt x="3092411" y="30162"/>
                </a:lnTo>
                <a:lnTo>
                  <a:pt x="3130511" y="30162"/>
                </a:lnTo>
                <a:lnTo>
                  <a:pt x="3130511" y="20637"/>
                </a:lnTo>
                <a:close/>
              </a:path>
              <a:path w="11243310" h="50800">
                <a:moveTo>
                  <a:pt x="3197186" y="20637"/>
                </a:moveTo>
                <a:lnTo>
                  <a:pt x="3159086" y="20637"/>
                </a:lnTo>
                <a:lnTo>
                  <a:pt x="3159086" y="30162"/>
                </a:lnTo>
                <a:lnTo>
                  <a:pt x="3197186" y="30162"/>
                </a:lnTo>
                <a:lnTo>
                  <a:pt x="3197186" y="20637"/>
                </a:lnTo>
                <a:close/>
              </a:path>
              <a:path w="11243310" h="50800">
                <a:moveTo>
                  <a:pt x="3263861" y="20637"/>
                </a:moveTo>
                <a:lnTo>
                  <a:pt x="3225761" y="20637"/>
                </a:lnTo>
                <a:lnTo>
                  <a:pt x="3225761" y="30162"/>
                </a:lnTo>
                <a:lnTo>
                  <a:pt x="3263861" y="30162"/>
                </a:lnTo>
                <a:lnTo>
                  <a:pt x="3263861" y="20637"/>
                </a:lnTo>
                <a:close/>
              </a:path>
              <a:path w="11243310" h="50800">
                <a:moveTo>
                  <a:pt x="3330536" y="20637"/>
                </a:moveTo>
                <a:lnTo>
                  <a:pt x="3292436" y="20637"/>
                </a:lnTo>
                <a:lnTo>
                  <a:pt x="3292436" y="30162"/>
                </a:lnTo>
                <a:lnTo>
                  <a:pt x="3330536" y="30162"/>
                </a:lnTo>
                <a:lnTo>
                  <a:pt x="3330536" y="20637"/>
                </a:lnTo>
                <a:close/>
              </a:path>
              <a:path w="11243310" h="50800">
                <a:moveTo>
                  <a:pt x="3397211" y="20637"/>
                </a:moveTo>
                <a:lnTo>
                  <a:pt x="3359111" y="20637"/>
                </a:lnTo>
                <a:lnTo>
                  <a:pt x="3359111" y="30162"/>
                </a:lnTo>
                <a:lnTo>
                  <a:pt x="3397211" y="30162"/>
                </a:lnTo>
                <a:lnTo>
                  <a:pt x="3397211" y="20637"/>
                </a:lnTo>
                <a:close/>
              </a:path>
              <a:path w="11243310" h="50800">
                <a:moveTo>
                  <a:pt x="3463886" y="20637"/>
                </a:moveTo>
                <a:lnTo>
                  <a:pt x="3425786" y="20637"/>
                </a:lnTo>
                <a:lnTo>
                  <a:pt x="3425786" y="30162"/>
                </a:lnTo>
                <a:lnTo>
                  <a:pt x="3463886" y="30162"/>
                </a:lnTo>
                <a:lnTo>
                  <a:pt x="3463886" y="20637"/>
                </a:lnTo>
                <a:close/>
              </a:path>
              <a:path w="11243310" h="50800">
                <a:moveTo>
                  <a:pt x="3530561" y="20637"/>
                </a:moveTo>
                <a:lnTo>
                  <a:pt x="3492461" y="20637"/>
                </a:lnTo>
                <a:lnTo>
                  <a:pt x="3492461" y="30162"/>
                </a:lnTo>
                <a:lnTo>
                  <a:pt x="3530561" y="30162"/>
                </a:lnTo>
                <a:lnTo>
                  <a:pt x="3530561" y="20637"/>
                </a:lnTo>
                <a:close/>
              </a:path>
              <a:path w="11243310" h="50800">
                <a:moveTo>
                  <a:pt x="3597236" y="20637"/>
                </a:moveTo>
                <a:lnTo>
                  <a:pt x="3559136" y="20637"/>
                </a:lnTo>
                <a:lnTo>
                  <a:pt x="3559136" y="30162"/>
                </a:lnTo>
                <a:lnTo>
                  <a:pt x="3597236" y="30162"/>
                </a:lnTo>
                <a:lnTo>
                  <a:pt x="3597236" y="20637"/>
                </a:lnTo>
                <a:close/>
              </a:path>
              <a:path w="11243310" h="50800">
                <a:moveTo>
                  <a:pt x="3663911" y="20637"/>
                </a:moveTo>
                <a:lnTo>
                  <a:pt x="3625811" y="20637"/>
                </a:lnTo>
                <a:lnTo>
                  <a:pt x="3625811" y="30162"/>
                </a:lnTo>
                <a:lnTo>
                  <a:pt x="3663911" y="30162"/>
                </a:lnTo>
                <a:lnTo>
                  <a:pt x="3663911" y="20637"/>
                </a:lnTo>
                <a:close/>
              </a:path>
              <a:path w="11243310" h="50800">
                <a:moveTo>
                  <a:pt x="3730586" y="20637"/>
                </a:moveTo>
                <a:lnTo>
                  <a:pt x="3692486" y="20637"/>
                </a:lnTo>
                <a:lnTo>
                  <a:pt x="3692486" y="30162"/>
                </a:lnTo>
                <a:lnTo>
                  <a:pt x="3730586" y="30162"/>
                </a:lnTo>
                <a:lnTo>
                  <a:pt x="3730586" y="20637"/>
                </a:lnTo>
                <a:close/>
              </a:path>
              <a:path w="11243310" h="50800">
                <a:moveTo>
                  <a:pt x="3797261" y="20637"/>
                </a:moveTo>
                <a:lnTo>
                  <a:pt x="3759161" y="20637"/>
                </a:lnTo>
                <a:lnTo>
                  <a:pt x="3759161" y="30162"/>
                </a:lnTo>
                <a:lnTo>
                  <a:pt x="3797261" y="30162"/>
                </a:lnTo>
                <a:lnTo>
                  <a:pt x="3797261" y="20637"/>
                </a:lnTo>
                <a:close/>
              </a:path>
              <a:path w="11243310" h="50800">
                <a:moveTo>
                  <a:pt x="3863936" y="20637"/>
                </a:moveTo>
                <a:lnTo>
                  <a:pt x="3825836" y="20637"/>
                </a:lnTo>
                <a:lnTo>
                  <a:pt x="3825836" y="30162"/>
                </a:lnTo>
                <a:lnTo>
                  <a:pt x="3863936" y="30162"/>
                </a:lnTo>
                <a:lnTo>
                  <a:pt x="3863936" y="20637"/>
                </a:lnTo>
                <a:close/>
              </a:path>
              <a:path w="11243310" h="50800">
                <a:moveTo>
                  <a:pt x="3930611" y="20637"/>
                </a:moveTo>
                <a:lnTo>
                  <a:pt x="3892511" y="20637"/>
                </a:lnTo>
                <a:lnTo>
                  <a:pt x="3892511" y="30162"/>
                </a:lnTo>
                <a:lnTo>
                  <a:pt x="3930611" y="30162"/>
                </a:lnTo>
                <a:lnTo>
                  <a:pt x="3930611" y="20637"/>
                </a:lnTo>
                <a:close/>
              </a:path>
              <a:path w="11243310" h="50800">
                <a:moveTo>
                  <a:pt x="3997286" y="20637"/>
                </a:moveTo>
                <a:lnTo>
                  <a:pt x="3959186" y="20637"/>
                </a:lnTo>
                <a:lnTo>
                  <a:pt x="3959186" y="30162"/>
                </a:lnTo>
                <a:lnTo>
                  <a:pt x="3997286" y="30162"/>
                </a:lnTo>
                <a:lnTo>
                  <a:pt x="3997286" y="20637"/>
                </a:lnTo>
                <a:close/>
              </a:path>
              <a:path w="11243310" h="50800">
                <a:moveTo>
                  <a:pt x="4063961" y="20637"/>
                </a:moveTo>
                <a:lnTo>
                  <a:pt x="4025861" y="20637"/>
                </a:lnTo>
                <a:lnTo>
                  <a:pt x="4025861" y="30162"/>
                </a:lnTo>
                <a:lnTo>
                  <a:pt x="4063961" y="30162"/>
                </a:lnTo>
                <a:lnTo>
                  <a:pt x="4063961" y="20637"/>
                </a:lnTo>
                <a:close/>
              </a:path>
              <a:path w="11243310" h="50800">
                <a:moveTo>
                  <a:pt x="4130636" y="20637"/>
                </a:moveTo>
                <a:lnTo>
                  <a:pt x="4092536" y="20637"/>
                </a:lnTo>
                <a:lnTo>
                  <a:pt x="4092536" y="30162"/>
                </a:lnTo>
                <a:lnTo>
                  <a:pt x="4130636" y="30162"/>
                </a:lnTo>
                <a:lnTo>
                  <a:pt x="4130636" y="20637"/>
                </a:lnTo>
                <a:close/>
              </a:path>
              <a:path w="11243310" h="50800">
                <a:moveTo>
                  <a:pt x="4197311" y="20637"/>
                </a:moveTo>
                <a:lnTo>
                  <a:pt x="4159211" y="20637"/>
                </a:lnTo>
                <a:lnTo>
                  <a:pt x="4159211" y="30162"/>
                </a:lnTo>
                <a:lnTo>
                  <a:pt x="4197311" y="30162"/>
                </a:lnTo>
                <a:lnTo>
                  <a:pt x="4197311" y="20637"/>
                </a:lnTo>
                <a:close/>
              </a:path>
              <a:path w="11243310" h="50800">
                <a:moveTo>
                  <a:pt x="4263986" y="20637"/>
                </a:moveTo>
                <a:lnTo>
                  <a:pt x="4225886" y="20637"/>
                </a:lnTo>
                <a:lnTo>
                  <a:pt x="4225886" y="30162"/>
                </a:lnTo>
                <a:lnTo>
                  <a:pt x="4263986" y="30162"/>
                </a:lnTo>
                <a:lnTo>
                  <a:pt x="4263986" y="20637"/>
                </a:lnTo>
                <a:close/>
              </a:path>
              <a:path w="11243310" h="50800">
                <a:moveTo>
                  <a:pt x="4330661" y="20637"/>
                </a:moveTo>
                <a:lnTo>
                  <a:pt x="4292561" y="20637"/>
                </a:lnTo>
                <a:lnTo>
                  <a:pt x="4292561" y="30162"/>
                </a:lnTo>
                <a:lnTo>
                  <a:pt x="4330661" y="30162"/>
                </a:lnTo>
                <a:lnTo>
                  <a:pt x="4330661" y="20637"/>
                </a:lnTo>
                <a:close/>
              </a:path>
              <a:path w="11243310" h="50800">
                <a:moveTo>
                  <a:pt x="4397336" y="20637"/>
                </a:moveTo>
                <a:lnTo>
                  <a:pt x="4359236" y="20637"/>
                </a:lnTo>
                <a:lnTo>
                  <a:pt x="4359236" y="30162"/>
                </a:lnTo>
                <a:lnTo>
                  <a:pt x="4397336" y="30162"/>
                </a:lnTo>
                <a:lnTo>
                  <a:pt x="4397336" y="20637"/>
                </a:lnTo>
                <a:close/>
              </a:path>
              <a:path w="11243310" h="50800">
                <a:moveTo>
                  <a:pt x="4464011" y="20637"/>
                </a:moveTo>
                <a:lnTo>
                  <a:pt x="4425911" y="20637"/>
                </a:lnTo>
                <a:lnTo>
                  <a:pt x="4425911" y="30162"/>
                </a:lnTo>
                <a:lnTo>
                  <a:pt x="4464011" y="30162"/>
                </a:lnTo>
                <a:lnTo>
                  <a:pt x="4464011" y="20637"/>
                </a:lnTo>
                <a:close/>
              </a:path>
              <a:path w="11243310" h="50800">
                <a:moveTo>
                  <a:pt x="4530686" y="20637"/>
                </a:moveTo>
                <a:lnTo>
                  <a:pt x="4492586" y="20637"/>
                </a:lnTo>
                <a:lnTo>
                  <a:pt x="4492586" y="30162"/>
                </a:lnTo>
                <a:lnTo>
                  <a:pt x="4530686" y="30162"/>
                </a:lnTo>
                <a:lnTo>
                  <a:pt x="4530686" y="20637"/>
                </a:lnTo>
                <a:close/>
              </a:path>
              <a:path w="11243310" h="50800">
                <a:moveTo>
                  <a:pt x="4597361" y="20637"/>
                </a:moveTo>
                <a:lnTo>
                  <a:pt x="4559261" y="20637"/>
                </a:lnTo>
                <a:lnTo>
                  <a:pt x="4559261" y="30162"/>
                </a:lnTo>
                <a:lnTo>
                  <a:pt x="4597361" y="30162"/>
                </a:lnTo>
                <a:lnTo>
                  <a:pt x="4597361" y="20637"/>
                </a:lnTo>
                <a:close/>
              </a:path>
              <a:path w="11243310" h="50800">
                <a:moveTo>
                  <a:pt x="4664036" y="20637"/>
                </a:moveTo>
                <a:lnTo>
                  <a:pt x="4625936" y="20637"/>
                </a:lnTo>
                <a:lnTo>
                  <a:pt x="4625936" y="30162"/>
                </a:lnTo>
                <a:lnTo>
                  <a:pt x="4664036" y="30162"/>
                </a:lnTo>
                <a:lnTo>
                  <a:pt x="4664036" y="20637"/>
                </a:lnTo>
                <a:close/>
              </a:path>
              <a:path w="11243310" h="50800">
                <a:moveTo>
                  <a:pt x="4730711" y="20637"/>
                </a:moveTo>
                <a:lnTo>
                  <a:pt x="4692611" y="20637"/>
                </a:lnTo>
                <a:lnTo>
                  <a:pt x="4692611" y="30162"/>
                </a:lnTo>
                <a:lnTo>
                  <a:pt x="4730711" y="30162"/>
                </a:lnTo>
                <a:lnTo>
                  <a:pt x="4730711" y="20637"/>
                </a:lnTo>
                <a:close/>
              </a:path>
              <a:path w="11243310" h="50800">
                <a:moveTo>
                  <a:pt x="4797386" y="20637"/>
                </a:moveTo>
                <a:lnTo>
                  <a:pt x="4759286" y="20637"/>
                </a:lnTo>
                <a:lnTo>
                  <a:pt x="4759286" y="30162"/>
                </a:lnTo>
                <a:lnTo>
                  <a:pt x="4797386" y="30162"/>
                </a:lnTo>
                <a:lnTo>
                  <a:pt x="4797386" y="20637"/>
                </a:lnTo>
                <a:close/>
              </a:path>
              <a:path w="11243310" h="50800">
                <a:moveTo>
                  <a:pt x="4864061" y="20637"/>
                </a:moveTo>
                <a:lnTo>
                  <a:pt x="4825961" y="20637"/>
                </a:lnTo>
                <a:lnTo>
                  <a:pt x="4825961" y="30162"/>
                </a:lnTo>
                <a:lnTo>
                  <a:pt x="4864061" y="30162"/>
                </a:lnTo>
                <a:lnTo>
                  <a:pt x="4864061" y="20637"/>
                </a:lnTo>
                <a:close/>
              </a:path>
              <a:path w="11243310" h="50800">
                <a:moveTo>
                  <a:pt x="4930736" y="20637"/>
                </a:moveTo>
                <a:lnTo>
                  <a:pt x="4892636" y="20637"/>
                </a:lnTo>
                <a:lnTo>
                  <a:pt x="4892636" y="30162"/>
                </a:lnTo>
                <a:lnTo>
                  <a:pt x="4930736" y="30162"/>
                </a:lnTo>
                <a:lnTo>
                  <a:pt x="4930736" y="20637"/>
                </a:lnTo>
                <a:close/>
              </a:path>
              <a:path w="11243310" h="50800">
                <a:moveTo>
                  <a:pt x="4997411" y="20637"/>
                </a:moveTo>
                <a:lnTo>
                  <a:pt x="4959311" y="20637"/>
                </a:lnTo>
                <a:lnTo>
                  <a:pt x="4959311" y="30162"/>
                </a:lnTo>
                <a:lnTo>
                  <a:pt x="4997411" y="30162"/>
                </a:lnTo>
                <a:lnTo>
                  <a:pt x="4997411" y="20637"/>
                </a:lnTo>
                <a:close/>
              </a:path>
              <a:path w="11243310" h="50800">
                <a:moveTo>
                  <a:pt x="5064086" y="20637"/>
                </a:moveTo>
                <a:lnTo>
                  <a:pt x="5025986" y="20637"/>
                </a:lnTo>
                <a:lnTo>
                  <a:pt x="5025986" y="30162"/>
                </a:lnTo>
                <a:lnTo>
                  <a:pt x="5064086" y="30162"/>
                </a:lnTo>
                <a:lnTo>
                  <a:pt x="5064086" y="20637"/>
                </a:lnTo>
                <a:close/>
              </a:path>
              <a:path w="11243310" h="50800">
                <a:moveTo>
                  <a:pt x="5130761" y="20637"/>
                </a:moveTo>
                <a:lnTo>
                  <a:pt x="5092661" y="20637"/>
                </a:lnTo>
                <a:lnTo>
                  <a:pt x="5092661" y="30162"/>
                </a:lnTo>
                <a:lnTo>
                  <a:pt x="5130761" y="30162"/>
                </a:lnTo>
                <a:lnTo>
                  <a:pt x="5130761" y="20637"/>
                </a:lnTo>
                <a:close/>
              </a:path>
              <a:path w="11243310" h="50800">
                <a:moveTo>
                  <a:pt x="5197436" y="20637"/>
                </a:moveTo>
                <a:lnTo>
                  <a:pt x="5159336" y="20637"/>
                </a:lnTo>
                <a:lnTo>
                  <a:pt x="5159336" y="30162"/>
                </a:lnTo>
                <a:lnTo>
                  <a:pt x="5197436" y="30162"/>
                </a:lnTo>
                <a:lnTo>
                  <a:pt x="5197436" y="20637"/>
                </a:lnTo>
                <a:close/>
              </a:path>
              <a:path w="11243310" h="50800">
                <a:moveTo>
                  <a:pt x="5264111" y="20637"/>
                </a:moveTo>
                <a:lnTo>
                  <a:pt x="5226011" y="20637"/>
                </a:lnTo>
                <a:lnTo>
                  <a:pt x="5226011" y="30162"/>
                </a:lnTo>
                <a:lnTo>
                  <a:pt x="5264111" y="30162"/>
                </a:lnTo>
                <a:lnTo>
                  <a:pt x="5264111" y="20637"/>
                </a:lnTo>
                <a:close/>
              </a:path>
              <a:path w="11243310" h="50800">
                <a:moveTo>
                  <a:pt x="5330786" y="20637"/>
                </a:moveTo>
                <a:lnTo>
                  <a:pt x="5292686" y="20637"/>
                </a:lnTo>
                <a:lnTo>
                  <a:pt x="5292686" y="30162"/>
                </a:lnTo>
                <a:lnTo>
                  <a:pt x="5330786" y="30162"/>
                </a:lnTo>
                <a:lnTo>
                  <a:pt x="5330786" y="20637"/>
                </a:lnTo>
                <a:close/>
              </a:path>
              <a:path w="11243310" h="50800">
                <a:moveTo>
                  <a:pt x="5397461" y="20637"/>
                </a:moveTo>
                <a:lnTo>
                  <a:pt x="5359361" y="20637"/>
                </a:lnTo>
                <a:lnTo>
                  <a:pt x="5359361" y="30162"/>
                </a:lnTo>
                <a:lnTo>
                  <a:pt x="5397461" y="30162"/>
                </a:lnTo>
                <a:lnTo>
                  <a:pt x="5397461" y="20637"/>
                </a:lnTo>
                <a:close/>
              </a:path>
              <a:path w="11243310" h="50800">
                <a:moveTo>
                  <a:pt x="5464136" y="20637"/>
                </a:moveTo>
                <a:lnTo>
                  <a:pt x="5426036" y="20637"/>
                </a:lnTo>
                <a:lnTo>
                  <a:pt x="5426036" y="30162"/>
                </a:lnTo>
                <a:lnTo>
                  <a:pt x="5464136" y="30162"/>
                </a:lnTo>
                <a:lnTo>
                  <a:pt x="5464136" y="20637"/>
                </a:lnTo>
                <a:close/>
              </a:path>
              <a:path w="11243310" h="50800">
                <a:moveTo>
                  <a:pt x="5530811" y="20637"/>
                </a:moveTo>
                <a:lnTo>
                  <a:pt x="5492711" y="20637"/>
                </a:lnTo>
                <a:lnTo>
                  <a:pt x="5492711" y="30162"/>
                </a:lnTo>
                <a:lnTo>
                  <a:pt x="5530811" y="30162"/>
                </a:lnTo>
                <a:lnTo>
                  <a:pt x="5530811" y="20637"/>
                </a:lnTo>
                <a:close/>
              </a:path>
              <a:path w="11243310" h="50800">
                <a:moveTo>
                  <a:pt x="5597486" y="20637"/>
                </a:moveTo>
                <a:lnTo>
                  <a:pt x="5559386" y="20637"/>
                </a:lnTo>
                <a:lnTo>
                  <a:pt x="5559386" y="30162"/>
                </a:lnTo>
                <a:lnTo>
                  <a:pt x="5597486" y="30162"/>
                </a:lnTo>
                <a:lnTo>
                  <a:pt x="5597486" y="20637"/>
                </a:lnTo>
                <a:close/>
              </a:path>
              <a:path w="11243310" h="50800">
                <a:moveTo>
                  <a:pt x="5664161" y="20637"/>
                </a:moveTo>
                <a:lnTo>
                  <a:pt x="5626061" y="20637"/>
                </a:lnTo>
                <a:lnTo>
                  <a:pt x="5626061" y="30162"/>
                </a:lnTo>
                <a:lnTo>
                  <a:pt x="5664161" y="30162"/>
                </a:lnTo>
                <a:lnTo>
                  <a:pt x="5664161" y="20637"/>
                </a:lnTo>
                <a:close/>
              </a:path>
              <a:path w="11243310" h="50800">
                <a:moveTo>
                  <a:pt x="5730836" y="20637"/>
                </a:moveTo>
                <a:lnTo>
                  <a:pt x="5692736" y="20637"/>
                </a:lnTo>
                <a:lnTo>
                  <a:pt x="5692736" y="30162"/>
                </a:lnTo>
                <a:lnTo>
                  <a:pt x="5730836" y="30162"/>
                </a:lnTo>
                <a:lnTo>
                  <a:pt x="5730836" y="20637"/>
                </a:lnTo>
                <a:close/>
              </a:path>
              <a:path w="11243310" h="50800">
                <a:moveTo>
                  <a:pt x="5797511" y="20637"/>
                </a:moveTo>
                <a:lnTo>
                  <a:pt x="5759411" y="20637"/>
                </a:lnTo>
                <a:lnTo>
                  <a:pt x="5759411" y="30162"/>
                </a:lnTo>
                <a:lnTo>
                  <a:pt x="5797511" y="30162"/>
                </a:lnTo>
                <a:lnTo>
                  <a:pt x="5797511" y="20637"/>
                </a:lnTo>
                <a:close/>
              </a:path>
              <a:path w="11243310" h="50800">
                <a:moveTo>
                  <a:pt x="5864186" y="20637"/>
                </a:moveTo>
                <a:lnTo>
                  <a:pt x="5826086" y="20637"/>
                </a:lnTo>
                <a:lnTo>
                  <a:pt x="5826086" y="30162"/>
                </a:lnTo>
                <a:lnTo>
                  <a:pt x="5864186" y="30162"/>
                </a:lnTo>
                <a:lnTo>
                  <a:pt x="5864186" y="20637"/>
                </a:lnTo>
                <a:close/>
              </a:path>
              <a:path w="11243310" h="50800">
                <a:moveTo>
                  <a:pt x="5930861" y="20637"/>
                </a:moveTo>
                <a:lnTo>
                  <a:pt x="5892761" y="20637"/>
                </a:lnTo>
                <a:lnTo>
                  <a:pt x="5892761" y="30162"/>
                </a:lnTo>
                <a:lnTo>
                  <a:pt x="5930861" y="30162"/>
                </a:lnTo>
                <a:lnTo>
                  <a:pt x="5930861" y="20637"/>
                </a:lnTo>
                <a:close/>
              </a:path>
              <a:path w="11243310" h="50800">
                <a:moveTo>
                  <a:pt x="5997536" y="20637"/>
                </a:moveTo>
                <a:lnTo>
                  <a:pt x="5959436" y="20637"/>
                </a:lnTo>
                <a:lnTo>
                  <a:pt x="5959436" y="30162"/>
                </a:lnTo>
                <a:lnTo>
                  <a:pt x="5997536" y="30162"/>
                </a:lnTo>
                <a:lnTo>
                  <a:pt x="5997536" y="20637"/>
                </a:lnTo>
                <a:close/>
              </a:path>
              <a:path w="11243310" h="50800">
                <a:moveTo>
                  <a:pt x="6064211" y="20637"/>
                </a:moveTo>
                <a:lnTo>
                  <a:pt x="6026111" y="20637"/>
                </a:lnTo>
                <a:lnTo>
                  <a:pt x="6026111" y="30162"/>
                </a:lnTo>
                <a:lnTo>
                  <a:pt x="6064211" y="30162"/>
                </a:lnTo>
                <a:lnTo>
                  <a:pt x="6064211" y="20637"/>
                </a:lnTo>
                <a:close/>
              </a:path>
              <a:path w="11243310" h="50800">
                <a:moveTo>
                  <a:pt x="6130886" y="20637"/>
                </a:moveTo>
                <a:lnTo>
                  <a:pt x="6092786" y="20637"/>
                </a:lnTo>
                <a:lnTo>
                  <a:pt x="6092786" y="30162"/>
                </a:lnTo>
                <a:lnTo>
                  <a:pt x="6130886" y="30162"/>
                </a:lnTo>
                <a:lnTo>
                  <a:pt x="6130886" y="20637"/>
                </a:lnTo>
                <a:close/>
              </a:path>
              <a:path w="11243310" h="50800">
                <a:moveTo>
                  <a:pt x="6197561" y="20637"/>
                </a:moveTo>
                <a:lnTo>
                  <a:pt x="6159461" y="20637"/>
                </a:lnTo>
                <a:lnTo>
                  <a:pt x="6159461" y="30162"/>
                </a:lnTo>
                <a:lnTo>
                  <a:pt x="6197561" y="30162"/>
                </a:lnTo>
                <a:lnTo>
                  <a:pt x="6197561" y="20637"/>
                </a:lnTo>
                <a:close/>
              </a:path>
              <a:path w="11243310" h="50800">
                <a:moveTo>
                  <a:pt x="6264236" y="20637"/>
                </a:moveTo>
                <a:lnTo>
                  <a:pt x="6226136" y="20637"/>
                </a:lnTo>
                <a:lnTo>
                  <a:pt x="6226136" y="30162"/>
                </a:lnTo>
                <a:lnTo>
                  <a:pt x="6264236" y="30162"/>
                </a:lnTo>
                <a:lnTo>
                  <a:pt x="6264236" y="20637"/>
                </a:lnTo>
                <a:close/>
              </a:path>
              <a:path w="11243310" h="50800">
                <a:moveTo>
                  <a:pt x="6330911" y="20637"/>
                </a:moveTo>
                <a:lnTo>
                  <a:pt x="6292811" y="20637"/>
                </a:lnTo>
                <a:lnTo>
                  <a:pt x="6292811" y="30162"/>
                </a:lnTo>
                <a:lnTo>
                  <a:pt x="6330911" y="30162"/>
                </a:lnTo>
                <a:lnTo>
                  <a:pt x="6330911" y="20637"/>
                </a:lnTo>
                <a:close/>
              </a:path>
              <a:path w="11243310" h="50800">
                <a:moveTo>
                  <a:pt x="6397586" y="20637"/>
                </a:moveTo>
                <a:lnTo>
                  <a:pt x="6359486" y="20637"/>
                </a:lnTo>
                <a:lnTo>
                  <a:pt x="6359486" y="30162"/>
                </a:lnTo>
                <a:lnTo>
                  <a:pt x="6397586" y="30162"/>
                </a:lnTo>
                <a:lnTo>
                  <a:pt x="6397586" y="20637"/>
                </a:lnTo>
                <a:close/>
              </a:path>
              <a:path w="11243310" h="50800">
                <a:moveTo>
                  <a:pt x="6464261" y="20637"/>
                </a:moveTo>
                <a:lnTo>
                  <a:pt x="6426161" y="20637"/>
                </a:lnTo>
                <a:lnTo>
                  <a:pt x="6426161" y="30162"/>
                </a:lnTo>
                <a:lnTo>
                  <a:pt x="6464261" y="30162"/>
                </a:lnTo>
                <a:lnTo>
                  <a:pt x="6464261" y="20637"/>
                </a:lnTo>
                <a:close/>
              </a:path>
              <a:path w="11243310" h="50800">
                <a:moveTo>
                  <a:pt x="6530936" y="20637"/>
                </a:moveTo>
                <a:lnTo>
                  <a:pt x="6492836" y="20637"/>
                </a:lnTo>
                <a:lnTo>
                  <a:pt x="6492836" y="30162"/>
                </a:lnTo>
                <a:lnTo>
                  <a:pt x="6530936" y="30162"/>
                </a:lnTo>
                <a:lnTo>
                  <a:pt x="6530936" y="20637"/>
                </a:lnTo>
                <a:close/>
              </a:path>
              <a:path w="11243310" h="50800">
                <a:moveTo>
                  <a:pt x="6597611" y="20637"/>
                </a:moveTo>
                <a:lnTo>
                  <a:pt x="6559511" y="20637"/>
                </a:lnTo>
                <a:lnTo>
                  <a:pt x="6559511" y="30162"/>
                </a:lnTo>
                <a:lnTo>
                  <a:pt x="6597611" y="30162"/>
                </a:lnTo>
                <a:lnTo>
                  <a:pt x="6597611" y="20637"/>
                </a:lnTo>
                <a:close/>
              </a:path>
              <a:path w="11243310" h="50800">
                <a:moveTo>
                  <a:pt x="6664286" y="20637"/>
                </a:moveTo>
                <a:lnTo>
                  <a:pt x="6626186" y="20637"/>
                </a:lnTo>
                <a:lnTo>
                  <a:pt x="6626186" y="30162"/>
                </a:lnTo>
                <a:lnTo>
                  <a:pt x="6664286" y="30162"/>
                </a:lnTo>
                <a:lnTo>
                  <a:pt x="6664286" y="20637"/>
                </a:lnTo>
                <a:close/>
              </a:path>
              <a:path w="11243310" h="50800">
                <a:moveTo>
                  <a:pt x="6730961" y="20637"/>
                </a:moveTo>
                <a:lnTo>
                  <a:pt x="6692861" y="20637"/>
                </a:lnTo>
                <a:lnTo>
                  <a:pt x="6692861" y="30162"/>
                </a:lnTo>
                <a:lnTo>
                  <a:pt x="6730961" y="30162"/>
                </a:lnTo>
                <a:lnTo>
                  <a:pt x="6730961" y="20637"/>
                </a:lnTo>
                <a:close/>
              </a:path>
              <a:path w="11243310" h="50800">
                <a:moveTo>
                  <a:pt x="6797636" y="20637"/>
                </a:moveTo>
                <a:lnTo>
                  <a:pt x="6759536" y="20637"/>
                </a:lnTo>
                <a:lnTo>
                  <a:pt x="6759536" y="30162"/>
                </a:lnTo>
                <a:lnTo>
                  <a:pt x="6797636" y="30162"/>
                </a:lnTo>
                <a:lnTo>
                  <a:pt x="6797636" y="20637"/>
                </a:lnTo>
                <a:close/>
              </a:path>
              <a:path w="11243310" h="50800">
                <a:moveTo>
                  <a:pt x="6864311" y="20637"/>
                </a:moveTo>
                <a:lnTo>
                  <a:pt x="6826211" y="20637"/>
                </a:lnTo>
                <a:lnTo>
                  <a:pt x="6826211" y="30162"/>
                </a:lnTo>
                <a:lnTo>
                  <a:pt x="6864311" y="30162"/>
                </a:lnTo>
                <a:lnTo>
                  <a:pt x="6864311" y="20637"/>
                </a:lnTo>
                <a:close/>
              </a:path>
              <a:path w="11243310" h="50800">
                <a:moveTo>
                  <a:pt x="6930986" y="20637"/>
                </a:moveTo>
                <a:lnTo>
                  <a:pt x="6892886" y="20637"/>
                </a:lnTo>
                <a:lnTo>
                  <a:pt x="6892886" y="30162"/>
                </a:lnTo>
                <a:lnTo>
                  <a:pt x="6930986" y="30162"/>
                </a:lnTo>
                <a:lnTo>
                  <a:pt x="6930986" y="20637"/>
                </a:lnTo>
                <a:close/>
              </a:path>
              <a:path w="11243310" h="50800">
                <a:moveTo>
                  <a:pt x="6997661" y="20637"/>
                </a:moveTo>
                <a:lnTo>
                  <a:pt x="6959561" y="20637"/>
                </a:lnTo>
                <a:lnTo>
                  <a:pt x="6959561" y="30162"/>
                </a:lnTo>
                <a:lnTo>
                  <a:pt x="6997661" y="30162"/>
                </a:lnTo>
                <a:lnTo>
                  <a:pt x="6997661" y="20637"/>
                </a:lnTo>
                <a:close/>
              </a:path>
              <a:path w="11243310" h="50800">
                <a:moveTo>
                  <a:pt x="7064336" y="20637"/>
                </a:moveTo>
                <a:lnTo>
                  <a:pt x="7026236" y="20637"/>
                </a:lnTo>
                <a:lnTo>
                  <a:pt x="7026236" y="30162"/>
                </a:lnTo>
                <a:lnTo>
                  <a:pt x="7064336" y="30162"/>
                </a:lnTo>
                <a:lnTo>
                  <a:pt x="7064336" y="20637"/>
                </a:lnTo>
                <a:close/>
              </a:path>
              <a:path w="11243310" h="50800">
                <a:moveTo>
                  <a:pt x="7131011" y="20637"/>
                </a:moveTo>
                <a:lnTo>
                  <a:pt x="7092911" y="20637"/>
                </a:lnTo>
                <a:lnTo>
                  <a:pt x="7092911" y="30162"/>
                </a:lnTo>
                <a:lnTo>
                  <a:pt x="7131011" y="30162"/>
                </a:lnTo>
                <a:lnTo>
                  <a:pt x="7131011" y="20637"/>
                </a:lnTo>
                <a:close/>
              </a:path>
              <a:path w="11243310" h="50800">
                <a:moveTo>
                  <a:pt x="7197686" y="20637"/>
                </a:moveTo>
                <a:lnTo>
                  <a:pt x="7159586" y="20637"/>
                </a:lnTo>
                <a:lnTo>
                  <a:pt x="7159586" y="30162"/>
                </a:lnTo>
                <a:lnTo>
                  <a:pt x="7197686" y="30162"/>
                </a:lnTo>
                <a:lnTo>
                  <a:pt x="7197686" y="20637"/>
                </a:lnTo>
                <a:close/>
              </a:path>
              <a:path w="11243310" h="50800">
                <a:moveTo>
                  <a:pt x="7264361" y="20637"/>
                </a:moveTo>
                <a:lnTo>
                  <a:pt x="7226261" y="20637"/>
                </a:lnTo>
                <a:lnTo>
                  <a:pt x="7226261" y="30162"/>
                </a:lnTo>
                <a:lnTo>
                  <a:pt x="7264361" y="30162"/>
                </a:lnTo>
                <a:lnTo>
                  <a:pt x="7264361" y="20637"/>
                </a:lnTo>
                <a:close/>
              </a:path>
              <a:path w="11243310" h="50800">
                <a:moveTo>
                  <a:pt x="7331036" y="20637"/>
                </a:moveTo>
                <a:lnTo>
                  <a:pt x="7292936" y="20637"/>
                </a:lnTo>
                <a:lnTo>
                  <a:pt x="7292936" y="30162"/>
                </a:lnTo>
                <a:lnTo>
                  <a:pt x="7331036" y="30162"/>
                </a:lnTo>
                <a:lnTo>
                  <a:pt x="7331036" y="20637"/>
                </a:lnTo>
                <a:close/>
              </a:path>
              <a:path w="11243310" h="50800">
                <a:moveTo>
                  <a:pt x="7397711" y="20637"/>
                </a:moveTo>
                <a:lnTo>
                  <a:pt x="7359611" y="20637"/>
                </a:lnTo>
                <a:lnTo>
                  <a:pt x="7359611" y="30162"/>
                </a:lnTo>
                <a:lnTo>
                  <a:pt x="7397711" y="30162"/>
                </a:lnTo>
                <a:lnTo>
                  <a:pt x="7397711" y="20637"/>
                </a:lnTo>
                <a:close/>
              </a:path>
              <a:path w="11243310" h="50800">
                <a:moveTo>
                  <a:pt x="7464386" y="20637"/>
                </a:moveTo>
                <a:lnTo>
                  <a:pt x="7426286" y="20637"/>
                </a:lnTo>
                <a:lnTo>
                  <a:pt x="7426286" y="30162"/>
                </a:lnTo>
                <a:lnTo>
                  <a:pt x="7464386" y="30162"/>
                </a:lnTo>
                <a:lnTo>
                  <a:pt x="7464386" y="20637"/>
                </a:lnTo>
                <a:close/>
              </a:path>
              <a:path w="11243310" h="50800">
                <a:moveTo>
                  <a:pt x="7531061" y="20637"/>
                </a:moveTo>
                <a:lnTo>
                  <a:pt x="7492961" y="20637"/>
                </a:lnTo>
                <a:lnTo>
                  <a:pt x="7492961" y="30162"/>
                </a:lnTo>
                <a:lnTo>
                  <a:pt x="7531061" y="30162"/>
                </a:lnTo>
                <a:lnTo>
                  <a:pt x="7531061" y="20637"/>
                </a:lnTo>
                <a:close/>
              </a:path>
              <a:path w="11243310" h="50800">
                <a:moveTo>
                  <a:pt x="7597736" y="20637"/>
                </a:moveTo>
                <a:lnTo>
                  <a:pt x="7559636" y="20637"/>
                </a:lnTo>
                <a:lnTo>
                  <a:pt x="7559636" y="30162"/>
                </a:lnTo>
                <a:lnTo>
                  <a:pt x="7597736" y="30162"/>
                </a:lnTo>
                <a:lnTo>
                  <a:pt x="7597736" y="20637"/>
                </a:lnTo>
                <a:close/>
              </a:path>
              <a:path w="11243310" h="50800">
                <a:moveTo>
                  <a:pt x="7664411" y="20637"/>
                </a:moveTo>
                <a:lnTo>
                  <a:pt x="7626311" y="20637"/>
                </a:lnTo>
                <a:lnTo>
                  <a:pt x="7626311" y="30162"/>
                </a:lnTo>
                <a:lnTo>
                  <a:pt x="7664411" y="30162"/>
                </a:lnTo>
                <a:lnTo>
                  <a:pt x="7664411" y="20637"/>
                </a:lnTo>
                <a:close/>
              </a:path>
              <a:path w="11243310" h="50800">
                <a:moveTo>
                  <a:pt x="7731086" y="20637"/>
                </a:moveTo>
                <a:lnTo>
                  <a:pt x="7692986" y="20637"/>
                </a:lnTo>
                <a:lnTo>
                  <a:pt x="7692986" y="30162"/>
                </a:lnTo>
                <a:lnTo>
                  <a:pt x="7731086" y="30162"/>
                </a:lnTo>
                <a:lnTo>
                  <a:pt x="7731086" y="20637"/>
                </a:lnTo>
                <a:close/>
              </a:path>
              <a:path w="11243310" h="50800">
                <a:moveTo>
                  <a:pt x="7797761" y="20637"/>
                </a:moveTo>
                <a:lnTo>
                  <a:pt x="7759661" y="20637"/>
                </a:lnTo>
                <a:lnTo>
                  <a:pt x="7759661" y="30162"/>
                </a:lnTo>
                <a:lnTo>
                  <a:pt x="7797761" y="30162"/>
                </a:lnTo>
                <a:lnTo>
                  <a:pt x="7797761" y="20637"/>
                </a:lnTo>
                <a:close/>
              </a:path>
              <a:path w="11243310" h="50800">
                <a:moveTo>
                  <a:pt x="7864436" y="20637"/>
                </a:moveTo>
                <a:lnTo>
                  <a:pt x="7826336" y="20637"/>
                </a:lnTo>
                <a:lnTo>
                  <a:pt x="7826336" y="30162"/>
                </a:lnTo>
                <a:lnTo>
                  <a:pt x="7864436" y="30162"/>
                </a:lnTo>
                <a:lnTo>
                  <a:pt x="7864436" y="20637"/>
                </a:lnTo>
                <a:close/>
              </a:path>
              <a:path w="11243310" h="50800">
                <a:moveTo>
                  <a:pt x="7931111" y="20637"/>
                </a:moveTo>
                <a:lnTo>
                  <a:pt x="7893011" y="20637"/>
                </a:lnTo>
                <a:lnTo>
                  <a:pt x="7893011" y="30162"/>
                </a:lnTo>
                <a:lnTo>
                  <a:pt x="7931111" y="30162"/>
                </a:lnTo>
                <a:lnTo>
                  <a:pt x="7931111" y="20637"/>
                </a:lnTo>
                <a:close/>
              </a:path>
              <a:path w="11243310" h="50800">
                <a:moveTo>
                  <a:pt x="7997786" y="20637"/>
                </a:moveTo>
                <a:lnTo>
                  <a:pt x="7959686" y="20637"/>
                </a:lnTo>
                <a:lnTo>
                  <a:pt x="7959686" y="30162"/>
                </a:lnTo>
                <a:lnTo>
                  <a:pt x="7997786" y="30162"/>
                </a:lnTo>
                <a:lnTo>
                  <a:pt x="7997786" y="20637"/>
                </a:lnTo>
                <a:close/>
              </a:path>
              <a:path w="11243310" h="50800">
                <a:moveTo>
                  <a:pt x="8064461" y="20637"/>
                </a:moveTo>
                <a:lnTo>
                  <a:pt x="8026361" y="20637"/>
                </a:lnTo>
                <a:lnTo>
                  <a:pt x="8026361" y="30162"/>
                </a:lnTo>
                <a:lnTo>
                  <a:pt x="8064461" y="30162"/>
                </a:lnTo>
                <a:lnTo>
                  <a:pt x="8064461" y="20637"/>
                </a:lnTo>
                <a:close/>
              </a:path>
              <a:path w="11243310" h="50800">
                <a:moveTo>
                  <a:pt x="8131136" y="20637"/>
                </a:moveTo>
                <a:lnTo>
                  <a:pt x="8093036" y="20637"/>
                </a:lnTo>
                <a:lnTo>
                  <a:pt x="8093036" y="30162"/>
                </a:lnTo>
                <a:lnTo>
                  <a:pt x="8131136" y="30162"/>
                </a:lnTo>
                <a:lnTo>
                  <a:pt x="8131136" y="20637"/>
                </a:lnTo>
                <a:close/>
              </a:path>
              <a:path w="11243310" h="50800">
                <a:moveTo>
                  <a:pt x="8197811" y="20637"/>
                </a:moveTo>
                <a:lnTo>
                  <a:pt x="8159711" y="20637"/>
                </a:lnTo>
                <a:lnTo>
                  <a:pt x="8159711" y="30162"/>
                </a:lnTo>
                <a:lnTo>
                  <a:pt x="8197811" y="30162"/>
                </a:lnTo>
                <a:lnTo>
                  <a:pt x="8197811" y="20637"/>
                </a:lnTo>
                <a:close/>
              </a:path>
              <a:path w="11243310" h="50800">
                <a:moveTo>
                  <a:pt x="8264486" y="20637"/>
                </a:moveTo>
                <a:lnTo>
                  <a:pt x="8226386" y="20637"/>
                </a:lnTo>
                <a:lnTo>
                  <a:pt x="8226386" y="30162"/>
                </a:lnTo>
                <a:lnTo>
                  <a:pt x="8264486" y="30162"/>
                </a:lnTo>
                <a:lnTo>
                  <a:pt x="8264486" y="20637"/>
                </a:lnTo>
                <a:close/>
              </a:path>
              <a:path w="11243310" h="50800">
                <a:moveTo>
                  <a:pt x="8331161" y="20637"/>
                </a:moveTo>
                <a:lnTo>
                  <a:pt x="8293061" y="20637"/>
                </a:lnTo>
                <a:lnTo>
                  <a:pt x="8293061" y="30162"/>
                </a:lnTo>
                <a:lnTo>
                  <a:pt x="8331161" y="30162"/>
                </a:lnTo>
                <a:lnTo>
                  <a:pt x="8331161" y="20637"/>
                </a:lnTo>
                <a:close/>
              </a:path>
              <a:path w="11243310" h="50800">
                <a:moveTo>
                  <a:pt x="8397836" y="20637"/>
                </a:moveTo>
                <a:lnTo>
                  <a:pt x="8359736" y="20637"/>
                </a:lnTo>
                <a:lnTo>
                  <a:pt x="8359736" y="30162"/>
                </a:lnTo>
                <a:lnTo>
                  <a:pt x="8397836" y="30162"/>
                </a:lnTo>
                <a:lnTo>
                  <a:pt x="8397836" y="20637"/>
                </a:lnTo>
                <a:close/>
              </a:path>
              <a:path w="11243310" h="50800">
                <a:moveTo>
                  <a:pt x="8464511" y="20637"/>
                </a:moveTo>
                <a:lnTo>
                  <a:pt x="8426411" y="20637"/>
                </a:lnTo>
                <a:lnTo>
                  <a:pt x="8426411" y="30162"/>
                </a:lnTo>
                <a:lnTo>
                  <a:pt x="8464511" y="30162"/>
                </a:lnTo>
                <a:lnTo>
                  <a:pt x="8464511" y="20637"/>
                </a:lnTo>
                <a:close/>
              </a:path>
              <a:path w="11243310" h="50800">
                <a:moveTo>
                  <a:pt x="8531186" y="20637"/>
                </a:moveTo>
                <a:lnTo>
                  <a:pt x="8493086" y="20637"/>
                </a:lnTo>
                <a:lnTo>
                  <a:pt x="8493086" y="30162"/>
                </a:lnTo>
                <a:lnTo>
                  <a:pt x="8531186" y="30162"/>
                </a:lnTo>
                <a:lnTo>
                  <a:pt x="8531186" y="20637"/>
                </a:lnTo>
                <a:close/>
              </a:path>
              <a:path w="11243310" h="50800">
                <a:moveTo>
                  <a:pt x="8597861" y="20637"/>
                </a:moveTo>
                <a:lnTo>
                  <a:pt x="8559761" y="20637"/>
                </a:lnTo>
                <a:lnTo>
                  <a:pt x="8559761" y="30162"/>
                </a:lnTo>
                <a:lnTo>
                  <a:pt x="8597861" y="30162"/>
                </a:lnTo>
                <a:lnTo>
                  <a:pt x="8597861" y="20637"/>
                </a:lnTo>
                <a:close/>
              </a:path>
              <a:path w="11243310" h="50800">
                <a:moveTo>
                  <a:pt x="8664536" y="20637"/>
                </a:moveTo>
                <a:lnTo>
                  <a:pt x="8626436" y="20637"/>
                </a:lnTo>
                <a:lnTo>
                  <a:pt x="8626436" y="30162"/>
                </a:lnTo>
                <a:lnTo>
                  <a:pt x="8664536" y="30162"/>
                </a:lnTo>
                <a:lnTo>
                  <a:pt x="8664536" y="20637"/>
                </a:lnTo>
                <a:close/>
              </a:path>
              <a:path w="11243310" h="50800">
                <a:moveTo>
                  <a:pt x="8731211" y="20637"/>
                </a:moveTo>
                <a:lnTo>
                  <a:pt x="8693111" y="20637"/>
                </a:lnTo>
                <a:lnTo>
                  <a:pt x="8693111" y="30162"/>
                </a:lnTo>
                <a:lnTo>
                  <a:pt x="8731211" y="30162"/>
                </a:lnTo>
                <a:lnTo>
                  <a:pt x="8731211" y="20637"/>
                </a:lnTo>
                <a:close/>
              </a:path>
              <a:path w="11243310" h="50800">
                <a:moveTo>
                  <a:pt x="8797886" y="20637"/>
                </a:moveTo>
                <a:lnTo>
                  <a:pt x="8759786" y="20637"/>
                </a:lnTo>
                <a:lnTo>
                  <a:pt x="8759786" y="30162"/>
                </a:lnTo>
                <a:lnTo>
                  <a:pt x="8797886" y="30162"/>
                </a:lnTo>
                <a:lnTo>
                  <a:pt x="8797886" y="20637"/>
                </a:lnTo>
                <a:close/>
              </a:path>
              <a:path w="11243310" h="50800">
                <a:moveTo>
                  <a:pt x="8864561" y="20637"/>
                </a:moveTo>
                <a:lnTo>
                  <a:pt x="8826461" y="20637"/>
                </a:lnTo>
                <a:lnTo>
                  <a:pt x="8826461" y="30162"/>
                </a:lnTo>
                <a:lnTo>
                  <a:pt x="8864561" y="30162"/>
                </a:lnTo>
                <a:lnTo>
                  <a:pt x="8864561" y="20637"/>
                </a:lnTo>
                <a:close/>
              </a:path>
              <a:path w="11243310" h="50800">
                <a:moveTo>
                  <a:pt x="8931236" y="20637"/>
                </a:moveTo>
                <a:lnTo>
                  <a:pt x="8893136" y="20637"/>
                </a:lnTo>
                <a:lnTo>
                  <a:pt x="8893136" y="30162"/>
                </a:lnTo>
                <a:lnTo>
                  <a:pt x="8931236" y="30162"/>
                </a:lnTo>
                <a:lnTo>
                  <a:pt x="8931236" y="20637"/>
                </a:lnTo>
                <a:close/>
              </a:path>
              <a:path w="11243310" h="50800">
                <a:moveTo>
                  <a:pt x="8997911" y="20637"/>
                </a:moveTo>
                <a:lnTo>
                  <a:pt x="8959811" y="20637"/>
                </a:lnTo>
                <a:lnTo>
                  <a:pt x="8959811" y="30162"/>
                </a:lnTo>
                <a:lnTo>
                  <a:pt x="8997911" y="30162"/>
                </a:lnTo>
                <a:lnTo>
                  <a:pt x="8997911" y="20637"/>
                </a:lnTo>
                <a:close/>
              </a:path>
              <a:path w="11243310" h="50800">
                <a:moveTo>
                  <a:pt x="9064586" y="20637"/>
                </a:moveTo>
                <a:lnTo>
                  <a:pt x="9026486" y="20637"/>
                </a:lnTo>
                <a:lnTo>
                  <a:pt x="9026486" y="30162"/>
                </a:lnTo>
                <a:lnTo>
                  <a:pt x="9064586" y="30162"/>
                </a:lnTo>
                <a:lnTo>
                  <a:pt x="9064586" y="20637"/>
                </a:lnTo>
                <a:close/>
              </a:path>
              <a:path w="11243310" h="50800">
                <a:moveTo>
                  <a:pt x="9131261" y="20637"/>
                </a:moveTo>
                <a:lnTo>
                  <a:pt x="9093161" y="20637"/>
                </a:lnTo>
                <a:lnTo>
                  <a:pt x="9093161" y="30162"/>
                </a:lnTo>
                <a:lnTo>
                  <a:pt x="9131261" y="30162"/>
                </a:lnTo>
                <a:lnTo>
                  <a:pt x="9131261" y="20637"/>
                </a:lnTo>
                <a:close/>
              </a:path>
              <a:path w="11243310" h="50800">
                <a:moveTo>
                  <a:pt x="9197936" y="20637"/>
                </a:moveTo>
                <a:lnTo>
                  <a:pt x="9159836" y="20637"/>
                </a:lnTo>
                <a:lnTo>
                  <a:pt x="9159836" y="30162"/>
                </a:lnTo>
                <a:lnTo>
                  <a:pt x="9197936" y="30162"/>
                </a:lnTo>
                <a:lnTo>
                  <a:pt x="9197936" y="20637"/>
                </a:lnTo>
                <a:close/>
              </a:path>
              <a:path w="11243310" h="50800">
                <a:moveTo>
                  <a:pt x="9264611" y="20637"/>
                </a:moveTo>
                <a:lnTo>
                  <a:pt x="9226511" y="20637"/>
                </a:lnTo>
                <a:lnTo>
                  <a:pt x="9226511" y="30162"/>
                </a:lnTo>
                <a:lnTo>
                  <a:pt x="9264611" y="30162"/>
                </a:lnTo>
                <a:lnTo>
                  <a:pt x="9264611" y="20637"/>
                </a:lnTo>
                <a:close/>
              </a:path>
              <a:path w="11243310" h="50800">
                <a:moveTo>
                  <a:pt x="9331286" y="20637"/>
                </a:moveTo>
                <a:lnTo>
                  <a:pt x="9293186" y="20637"/>
                </a:lnTo>
                <a:lnTo>
                  <a:pt x="9293186" y="30162"/>
                </a:lnTo>
                <a:lnTo>
                  <a:pt x="9331286" y="30162"/>
                </a:lnTo>
                <a:lnTo>
                  <a:pt x="9331286" y="20637"/>
                </a:lnTo>
                <a:close/>
              </a:path>
              <a:path w="11243310" h="50800">
                <a:moveTo>
                  <a:pt x="9397961" y="20637"/>
                </a:moveTo>
                <a:lnTo>
                  <a:pt x="9359861" y="20637"/>
                </a:lnTo>
                <a:lnTo>
                  <a:pt x="9359861" y="30162"/>
                </a:lnTo>
                <a:lnTo>
                  <a:pt x="9397961" y="30162"/>
                </a:lnTo>
                <a:lnTo>
                  <a:pt x="9397961" y="20637"/>
                </a:lnTo>
                <a:close/>
              </a:path>
              <a:path w="11243310" h="50800">
                <a:moveTo>
                  <a:pt x="9464636" y="20637"/>
                </a:moveTo>
                <a:lnTo>
                  <a:pt x="9426536" y="20637"/>
                </a:lnTo>
                <a:lnTo>
                  <a:pt x="9426536" y="30162"/>
                </a:lnTo>
                <a:lnTo>
                  <a:pt x="9464636" y="30162"/>
                </a:lnTo>
                <a:lnTo>
                  <a:pt x="9464636" y="20637"/>
                </a:lnTo>
                <a:close/>
              </a:path>
              <a:path w="11243310" h="50800">
                <a:moveTo>
                  <a:pt x="9531311" y="20637"/>
                </a:moveTo>
                <a:lnTo>
                  <a:pt x="9493211" y="20637"/>
                </a:lnTo>
                <a:lnTo>
                  <a:pt x="9493211" y="30162"/>
                </a:lnTo>
                <a:lnTo>
                  <a:pt x="9531311" y="30162"/>
                </a:lnTo>
                <a:lnTo>
                  <a:pt x="9531311" y="20637"/>
                </a:lnTo>
                <a:close/>
              </a:path>
              <a:path w="11243310" h="50800">
                <a:moveTo>
                  <a:pt x="9597986" y="20637"/>
                </a:moveTo>
                <a:lnTo>
                  <a:pt x="9559886" y="20637"/>
                </a:lnTo>
                <a:lnTo>
                  <a:pt x="9559886" y="30162"/>
                </a:lnTo>
                <a:lnTo>
                  <a:pt x="9597986" y="30162"/>
                </a:lnTo>
                <a:lnTo>
                  <a:pt x="9597986" y="20637"/>
                </a:lnTo>
                <a:close/>
              </a:path>
              <a:path w="11243310" h="50800">
                <a:moveTo>
                  <a:pt x="9664661" y="20637"/>
                </a:moveTo>
                <a:lnTo>
                  <a:pt x="9626561" y="20637"/>
                </a:lnTo>
                <a:lnTo>
                  <a:pt x="9626561" y="30162"/>
                </a:lnTo>
                <a:lnTo>
                  <a:pt x="9664661" y="30162"/>
                </a:lnTo>
                <a:lnTo>
                  <a:pt x="9664661" y="20637"/>
                </a:lnTo>
                <a:close/>
              </a:path>
              <a:path w="11243310" h="50800">
                <a:moveTo>
                  <a:pt x="9731336" y="20637"/>
                </a:moveTo>
                <a:lnTo>
                  <a:pt x="9693236" y="20637"/>
                </a:lnTo>
                <a:lnTo>
                  <a:pt x="9693236" y="30162"/>
                </a:lnTo>
                <a:lnTo>
                  <a:pt x="9731336" y="30162"/>
                </a:lnTo>
                <a:lnTo>
                  <a:pt x="9731336" y="20637"/>
                </a:lnTo>
                <a:close/>
              </a:path>
              <a:path w="11243310" h="50800">
                <a:moveTo>
                  <a:pt x="9798011" y="20637"/>
                </a:moveTo>
                <a:lnTo>
                  <a:pt x="9759911" y="20637"/>
                </a:lnTo>
                <a:lnTo>
                  <a:pt x="9759911" y="30162"/>
                </a:lnTo>
                <a:lnTo>
                  <a:pt x="9798011" y="30162"/>
                </a:lnTo>
                <a:lnTo>
                  <a:pt x="9798011" y="20637"/>
                </a:lnTo>
                <a:close/>
              </a:path>
              <a:path w="11243310" h="50800">
                <a:moveTo>
                  <a:pt x="9864686" y="20637"/>
                </a:moveTo>
                <a:lnTo>
                  <a:pt x="9826586" y="20637"/>
                </a:lnTo>
                <a:lnTo>
                  <a:pt x="9826586" y="30162"/>
                </a:lnTo>
                <a:lnTo>
                  <a:pt x="9864686" y="30162"/>
                </a:lnTo>
                <a:lnTo>
                  <a:pt x="9864686" y="20637"/>
                </a:lnTo>
                <a:close/>
              </a:path>
              <a:path w="11243310" h="50800">
                <a:moveTo>
                  <a:pt x="9931361" y="20637"/>
                </a:moveTo>
                <a:lnTo>
                  <a:pt x="9893261" y="20637"/>
                </a:lnTo>
                <a:lnTo>
                  <a:pt x="9893261" y="30162"/>
                </a:lnTo>
                <a:lnTo>
                  <a:pt x="9931361" y="30162"/>
                </a:lnTo>
                <a:lnTo>
                  <a:pt x="9931361" y="20637"/>
                </a:lnTo>
                <a:close/>
              </a:path>
              <a:path w="11243310" h="50800">
                <a:moveTo>
                  <a:pt x="9998036" y="20637"/>
                </a:moveTo>
                <a:lnTo>
                  <a:pt x="9959936" y="20637"/>
                </a:lnTo>
                <a:lnTo>
                  <a:pt x="9959936" y="30162"/>
                </a:lnTo>
                <a:lnTo>
                  <a:pt x="9998036" y="30162"/>
                </a:lnTo>
                <a:lnTo>
                  <a:pt x="9998036" y="20637"/>
                </a:lnTo>
                <a:close/>
              </a:path>
              <a:path w="11243310" h="50800">
                <a:moveTo>
                  <a:pt x="10064711" y="20637"/>
                </a:moveTo>
                <a:lnTo>
                  <a:pt x="10026611" y="20637"/>
                </a:lnTo>
                <a:lnTo>
                  <a:pt x="10026611" y="30162"/>
                </a:lnTo>
                <a:lnTo>
                  <a:pt x="10064711" y="30162"/>
                </a:lnTo>
                <a:lnTo>
                  <a:pt x="10064711" y="20637"/>
                </a:lnTo>
                <a:close/>
              </a:path>
              <a:path w="11243310" h="50800">
                <a:moveTo>
                  <a:pt x="10131386" y="20637"/>
                </a:moveTo>
                <a:lnTo>
                  <a:pt x="10093286" y="20637"/>
                </a:lnTo>
                <a:lnTo>
                  <a:pt x="10093286" y="30162"/>
                </a:lnTo>
                <a:lnTo>
                  <a:pt x="10131386" y="30162"/>
                </a:lnTo>
                <a:lnTo>
                  <a:pt x="10131386" y="20637"/>
                </a:lnTo>
                <a:close/>
              </a:path>
              <a:path w="11243310" h="50800">
                <a:moveTo>
                  <a:pt x="10198061" y="20637"/>
                </a:moveTo>
                <a:lnTo>
                  <a:pt x="10159961" y="20637"/>
                </a:lnTo>
                <a:lnTo>
                  <a:pt x="10159961" y="30162"/>
                </a:lnTo>
                <a:lnTo>
                  <a:pt x="10198061" y="30162"/>
                </a:lnTo>
                <a:lnTo>
                  <a:pt x="10198061" y="20637"/>
                </a:lnTo>
                <a:close/>
              </a:path>
              <a:path w="11243310" h="50800">
                <a:moveTo>
                  <a:pt x="10264736" y="20637"/>
                </a:moveTo>
                <a:lnTo>
                  <a:pt x="10226636" y="20637"/>
                </a:lnTo>
                <a:lnTo>
                  <a:pt x="10226636" y="30162"/>
                </a:lnTo>
                <a:lnTo>
                  <a:pt x="10264736" y="30162"/>
                </a:lnTo>
                <a:lnTo>
                  <a:pt x="10264736" y="20637"/>
                </a:lnTo>
                <a:close/>
              </a:path>
              <a:path w="11243310" h="50800">
                <a:moveTo>
                  <a:pt x="10331411" y="20637"/>
                </a:moveTo>
                <a:lnTo>
                  <a:pt x="10293311" y="20637"/>
                </a:lnTo>
                <a:lnTo>
                  <a:pt x="10293311" y="30162"/>
                </a:lnTo>
                <a:lnTo>
                  <a:pt x="10331411" y="30162"/>
                </a:lnTo>
                <a:lnTo>
                  <a:pt x="10331411" y="20637"/>
                </a:lnTo>
                <a:close/>
              </a:path>
              <a:path w="11243310" h="50800">
                <a:moveTo>
                  <a:pt x="10398086" y="20637"/>
                </a:moveTo>
                <a:lnTo>
                  <a:pt x="10359986" y="20637"/>
                </a:lnTo>
                <a:lnTo>
                  <a:pt x="10359986" y="30162"/>
                </a:lnTo>
                <a:lnTo>
                  <a:pt x="10398086" y="30162"/>
                </a:lnTo>
                <a:lnTo>
                  <a:pt x="10398086" y="20637"/>
                </a:lnTo>
                <a:close/>
              </a:path>
              <a:path w="11243310" h="50800">
                <a:moveTo>
                  <a:pt x="10464761" y="20637"/>
                </a:moveTo>
                <a:lnTo>
                  <a:pt x="10426661" y="20637"/>
                </a:lnTo>
                <a:lnTo>
                  <a:pt x="10426661" y="30162"/>
                </a:lnTo>
                <a:lnTo>
                  <a:pt x="10464761" y="30162"/>
                </a:lnTo>
                <a:lnTo>
                  <a:pt x="10464761" y="20637"/>
                </a:lnTo>
                <a:close/>
              </a:path>
              <a:path w="11243310" h="50800">
                <a:moveTo>
                  <a:pt x="10531436" y="20637"/>
                </a:moveTo>
                <a:lnTo>
                  <a:pt x="10493336" y="20637"/>
                </a:lnTo>
                <a:lnTo>
                  <a:pt x="10493336" y="30162"/>
                </a:lnTo>
                <a:lnTo>
                  <a:pt x="10531436" y="30162"/>
                </a:lnTo>
                <a:lnTo>
                  <a:pt x="10531436" y="20637"/>
                </a:lnTo>
                <a:close/>
              </a:path>
              <a:path w="11243310" h="50800">
                <a:moveTo>
                  <a:pt x="10598111" y="20637"/>
                </a:moveTo>
                <a:lnTo>
                  <a:pt x="10560011" y="20637"/>
                </a:lnTo>
                <a:lnTo>
                  <a:pt x="10560011" y="30162"/>
                </a:lnTo>
                <a:lnTo>
                  <a:pt x="10598111" y="30162"/>
                </a:lnTo>
                <a:lnTo>
                  <a:pt x="10598111" y="20637"/>
                </a:lnTo>
                <a:close/>
              </a:path>
              <a:path w="11243310" h="50800">
                <a:moveTo>
                  <a:pt x="10664786" y="20637"/>
                </a:moveTo>
                <a:lnTo>
                  <a:pt x="10626686" y="20637"/>
                </a:lnTo>
                <a:lnTo>
                  <a:pt x="10626686" y="30162"/>
                </a:lnTo>
                <a:lnTo>
                  <a:pt x="10664786" y="30162"/>
                </a:lnTo>
                <a:lnTo>
                  <a:pt x="10664786" y="20637"/>
                </a:lnTo>
                <a:close/>
              </a:path>
              <a:path w="11243310" h="50800">
                <a:moveTo>
                  <a:pt x="10731461" y="20637"/>
                </a:moveTo>
                <a:lnTo>
                  <a:pt x="10693361" y="20637"/>
                </a:lnTo>
                <a:lnTo>
                  <a:pt x="10693361" y="30162"/>
                </a:lnTo>
                <a:lnTo>
                  <a:pt x="10731461" y="30162"/>
                </a:lnTo>
                <a:lnTo>
                  <a:pt x="10731461" y="20637"/>
                </a:lnTo>
                <a:close/>
              </a:path>
              <a:path w="11243310" h="50800">
                <a:moveTo>
                  <a:pt x="10798136" y="20637"/>
                </a:moveTo>
                <a:lnTo>
                  <a:pt x="10760036" y="20637"/>
                </a:lnTo>
                <a:lnTo>
                  <a:pt x="10760036" y="30162"/>
                </a:lnTo>
                <a:lnTo>
                  <a:pt x="10798136" y="30162"/>
                </a:lnTo>
                <a:lnTo>
                  <a:pt x="10798136" y="20637"/>
                </a:lnTo>
                <a:close/>
              </a:path>
              <a:path w="11243310" h="50800">
                <a:moveTo>
                  <a:pt x="10864811" y="20637"/>
                </a:moveTo>
                <a:lnTo>
                  <a:pt x="10826711" y="20637"/>
                </a:lnTo>
                <a:lnTo>
                  <a:pt x="10826711" y="30162"/>
                </a:lnTo>
                <a:lnTo>
                  <a:pt x="10864811" y="30162"/>
                </a:lnTo>
                <a:lnTo>
                  <a:pt x="10864811" y="20637"/>
                </a:lnTo>
                <a:close/>
              </a:path>
              <a:path w="11243310" h="50800">
                <a:moveTo>
                  <a:pt x="10931486" y="20637"/>
                </a:moveTo>
                <a:lnTo>
                  <a:pt x="10893386" y="20637"/>
                </a:lnTo>
                <a:lnTo>
                  <a:pt x="10893386" y="30162"/>
                </a:lnTo>
                <a:lnTo>
                  <a:pt x="10931486" y="30162"/>
                </a:lnTo>
                <a:lnTo>
                  <a:pt x="10931486" y="20637"/>
                </a:lnTo>
                <a:close/>
              </a:path>
              <a:path w="11243310" h="50800">
                <a:moveTo>
                  <a:pt x="10998161" y="20637"/>
                </a:moveTo>
                <a:lnTo>
                  <a:pt x="10960061" y="20637"/>
                </a:lnTo>
                <a:lnTo>
                  <a:pt x="10960061" y="30162"/>
                </a:lnTo>
                <a:lnTo>
                  <a:pt x="10998161" y="30162"/>
                </a:lnTo>
                <a:lnTo>
                  <a:pt x="10998161" y="20637"/>
                </a:lnTo>
                <a:close/>
              </a:path>
              <a:path w="11243310" h="50800">
                <a:moveTo>
                  <a:pt x="11064836" y="20637"/>
                </a:moveTo>
                <a:lnTo>
                  <a:pt x="11026736" y="20637"/>
                </a:lnTo>
                <a:lnTo>
                  <a:pt x="11026736" y="30162"/>
                </a:lnTo>
                <a:lnTo>
                  <a:pt x="11064836" y="30162"/>
                </a:lnTo>
                <a:lnTo>
                  <a:pt x="11064836" y="20637"/>
                </a:lnTo>
                <a:close/>
              </a:path>
              <a:path w="11243310" h="50800">
                <a:moveTo>
                  <a:pt x="11131511" y="20637"/>
                </a:moveTo>
                <a:lnTo>
                  <a:pt x="11093411" y="20637"/>
                </a:lnTo>
                <a:lnTo>
                  <a:pt x="11093411" y="30162"/>
                </a:lnTo>
                <a:lnTo>
                  <a:pt x="11131511" y="30162"/>
                </a:lnTo>
                <a:lnTo>
                  <a:pt x="11131511" y="20637"/>
                </a:lnTo>
                <a:close/>
              </a:path>
              <a:path w="11243310" h="50800">
                <a:moveTo>
                  <a:pt x="11217490" y="0"/>
                </a:moveTo>
                <a:lnTo>
                  <a:pt x="11207628" y="1995"/>
                </a:lnTo>
                <a:lnTo>
                  <a:pt x="11199552" y="7437"/>
                </a:lnTo>
                <a:lnTo>
                  <a:pt x="11194095" y="15510"/>
                </a:lnTo>
                <a:lnTo>
                  <a:pt x="11192090" y="25400"/>
                </a:lnTo>
                <a:lnTo>
                  <a:pt x="11194095" y="35289"/>
                </a:lnTo>
                <a:lnTo>
                  <a:pt x="11199552" y="43362"/>
                </a:lnTo>
                <a:lnTo>
                  <a:pt x="11207628" y="48804"/>
                </a:lnTo>
                <a:lnTo>
                  <a:pt x="11217490" y="50800"/>
                </a:lnTo>
                <a:lnTo>
                  <a:pt x="11227406" y="48804"/>
                </a:lnTo>
                <a:lnTo>
                  <a:pt x="11235477" y="43362"/>
                </a:lnTo>
                <a:lnTo>
                  <a:pt x="11240904" y="35289"/>
                </a:lnTo>
                <a:lnTo>
                  <a:pt x="11241934" y="30162"/>
                </a:lnTo>
                <a:lnTo>
                  <a:pt x="11198186" y="30162"/>
                </a:lnTo>
                <a:lnTo>
                  <a:pt x="11198186" y="20637"/>
                </a:lnTo>
                <a:lnTo>
                  <a:pt x="11241934" y="20637"/>
                </a:lnTo>
                <a:lnTo>
                  <a:pt x="11240904" y="15510"/>
                </a:lnTo>
                <a:lnTo>
                  <a:pt x="11235477" y="7437"/>
                </a:lnTo>
                <a:lnTo>
                  <a:pt x="11227406" y="1995"/>
                </a:lnTo>
                <a:lnTo>
                  <a:pt x="11217490" y="0"/>
                </a:lnTo>
                <a:close/>
              </a:path>
              <a:path w="11243310" h="50800">
                <a:moveTo>
                  <a:pt x="11193056" y="20637"/>
                </a:moveTo>
                <a:lnTo>
                  <a:pt x="11160086" y="20637"/>
                </a:lnTo>
                <a:lnTo>
                  <a:pt x="11160086" y="30162"/>
                </a:lnTo>
                <a:lnTo>
                  <a:pt x="11193056" y="30162"/>
                </a:lnTo>
                <a:lnTo>
                  <a:pt x="11192090" y="25400"/>
                </a:lnTo>
                <a:lnTo>
                  <a:pt x="11193056" y="20637"/>
                </a:lnTo>
                <a:close/>
              </a:path>
              <a:path w="11243310" h="50800">
                <a:moveTo>
                  <a:pt x="11241934" y="20637"/>
                </a:moveTo>
                <a:lnTo>
                  <a:pt x="11198186" y="20637"/>
                </a:lnTo>
                <a:lnTo>
                  <a:pt x="11198186" y="30162"/>
                </a:lnTo>
                <a:lnTo>
                  <a:pt x="11241934" y="30162"/>
                </a:lnTo>
                <a:lnTo>
                  <a:pt x="11242890" y="25400"/>
                </a:lnTo>
                <a:lnTo>
                  <a:pt x="11241934" y="20637"/>
                </a:lnTo>
                <a:close/>
              </a:path>
            </a:pathLst>
          </a:custGeom>
          <a:solidFill>
            <a:schemeClr val="tx2"/>
          </a:solidFill>
          <a:ln>
            <a:solidFill>
              <a:srgbClr val="EB0000"/>
            </a:solidFill>
          </a:ln>
        </p:spPr>
        <p:txBody>
          <a:bodyPr wrap="square" lIns="0" tIns="0" rIns="0" bIns="0" rtlCol="0"/>
          <a:lstStyle/>
          <a:p>
            <a:endParaRPr/>
          </a:p>
        </p:txBody>
      </p:sp>
      <p:sp>
        <p:nvSpPr>
          <p:cNvPr id="11" name="object 30">
            <a:extLst>
              <a:ext uri="{FF2B5EF4-FFF2-40B4-BE49-F238E27FC236}">
                <a16:creationId xmlns:a16="http://schemas.microsoft.com/office/drawing/2014/main" id="{8B2F73DE-D860-1B86-4CEF-A9A9F144D6E0}"/>
              </a:ext>
            </a:extLst>
          </p:cNvPr>
          <p:cNvSpPr/>
          <p:nvPr/>
        </p:nvSpPr>
        <p:spPr>
          <a:xfrm>
            <a:off x="359865" y="2047120"/>
            <a:ext cx="11243310" cy="51435"/>
          </a:xfrm>
          <a:custGeom>
            <a:avLst/>
            <a:gdLst/>
            <a:ahLst/>
            <a:cxnLst/>
            <a:rect l="l" t="t" r="r" b="b"/>
            <a:pathLst>
              <a:path w="11243310" h="51435">
                <a:moveTo>
                  <a:pt x="25400" y="0"/>
                </a:moveTo>
                <a:lnTo>
                  <a:pt x="15516" y="2004"/>
                </a:lnTo>
                <a:lnTo>
                  <a:pt x="7442" y="7461"/>
                </a:lnTo>
                <a:lnTo>
                  <a:pt x="1997" y="15537"/>
                </a:lnTo>
                <a:lnTo>
                  <a:pt x="0" y="25400"/>
                </a:lnTo>
                <a:lnTo>
                  <a:pt x="1997" y="35315"/>
                </a:lnTo>
                <a:lnTo>
                  <a:pt x="7442" y="43386"/>
                </a:lnTo>
                <a:lnTo>
                  <a:pt x="15516" y="48813"/>
                </a:lnTo>
                <a:lnTo>
                  <a:pt x="25400" y="50800"/>
                </a:lnTo>
                <a:lnTo>
                  <a:pt x="35289" y="48813"/>
                </a:lnTo>
                <a:lnTo>
                  <a:pt x="43362" y="43386"/>
                </a:lnTo>
                <a:lnTo>
                  <a:pt x="48804" y="35315"/>
                </a:lnTo>
                <a:lnTo>
                  <a:pt x="49828" y="30225"/>
                </a:lnTo>
                <a:lnTo>
                  <a:pt x="25400" y="30225"/>
                </a:lnTo>
                <a:lnTo>
                  <a:pt x="25400" y="20700"/>
                </a:lnTo>
                <a:lnTo>
                  <a:pt x="49849" y="20700"/>
                </a:lnTo>
                <a:lnTo>
                  <a:pt x="48804" y="15537"/>
                </a:lnTo>
                <a:lnTo>
                  <a:pt x="43362" y="7461"/>
                </a:lnTo>
                <a:lnTo>
                  <a:pt x="35289" y="2004"/>
                </a:lnTo>
                <a:lnTo>
                  <a:pt x="25400" y="0"/>
                </a:lnTo>
                <a:close/>
              </a:path>
              <a:path w="11243310" h="51435">
                <a:moveTo>
                  <a:pt x="49849" y="20700"/>
                </a:moveTo>
                <a:lnTo>
                  <a:pt x="25400" y="20700"/>
                </a:lnTo>
                <a:lnTo>
                  <a:pt x="25400" y="30225"/>
                </a:lnTo>
                <a:lnTo>
                  <a:pt x="49828" y="30225"/>
                </a:lnTo>
                <a:lnTo>
                  <a:pt x="50800" y="25400"/>
                </a:lnTo>
                <a:lnTo>
                  <a:pt x="49849" y="20700"/>
                </a:lnTo>
                <a:close/>
              </a:path>
              <a:path w="11243310" h="51435">
                <a:moveTo>
                  <a:pt x="63500" y="20700"/>
                </a:moveTo>
                <a:lnTo>
                  <a:pt x="49849" y="20700"/>
                </a:lnTo>
                <a:lnTo>
                  <a:pt x="50800" y="25400"/>
                </a:lnTo>
                <a:lnTo>
                  <a:pt x="49828" y="30225"/>
                </a:lnTo>
                <a:lnTo>
                  <a:pt x="63500" y="30225"/>
                </a:lnTo>
                <a:lnTo>
                  <a:pt x="63500" y="20700"/>
                </a:lnTo>
                <a:close/>
              </a:path>
              <a:path w="11243310" h="51435">
                <a:moveTo>
                  <a:pt x="130175" y="20700"/>
                </a:moveTo>
                <a:lnTo>
                  <a:pt x="92075" y="20700"/>
                </a:lnTo>
                <a:lnTo>
                  <a:pt x="92075" y="30225"/>
                </a:lnTo>
                <a:lnTo>
                  <a:pt x="130175" y="30225"/>
                </a:lnTo>
                <a:lnTo>
                  <a:pt x="130175" y="20700"/>
                </a:lnTo>
                <a:close/>
              </a:path>
              <a:path w="11243310" h="51435">
                <a:moveTo>
                  <a:pt x="196850" y="20700"/>
                </a:moveTo>
                <a:lnTo>
                  <a:pt x="158750" y="20700"/>
                </a:lnTo>
                <a:lnTo>
                  <a:pt x="158750" y="30225"/>
                </a:lnTo>
                <a:lnTo>
                  <a:pt x="196850" y="30225"/>
                </a:lnTo>
                <a:lnTo>
                  <a:pt x="196850" y="20700"/>
                </a:lnTo>
                <a:close/>
              </a:path>
              <a:path w="11243310" h="51435">
                <a:moveTo>
                  <a:pt x="263525" y="20700"/>
                </a:moveTo>
                <a:lnTo>
                  <a:pt x="225425" y="20700"/>
                </a:lnTo>
                <a:lnTo>
                  <a:pt x="225425" y="30225"/>
                </a:lnTo>
                <a:lnTo>
                  <a:pt x="263525" y="30225"/>
                </a:lnTo>
                <a:lnTo>
                  <a:pt x="263525" y="20700"/>
                </a:lnTo>
                <a:close/>
              </a:path>
              <a:path w="11243310" h="51435">
                <a:moveTo>
                  <a:pt x="330200" y="20700"/>
                </a:moveTo>
                <a:lnTo>
                  <a:pt x="292100" y="20700"/>
                </a:lnTo>
                <a:lnTo>
                  <a:pt x="292100" y="30225"/>
                </a:lnTo>
                <a:lnTo>
                  <a:pt x="330200" y="30225"/>
                </a:lnTo>
                <a:lnTo>
                  <a:pt x="330200" y="20700"/>
                </a:lnTo>
                <a:close/>
              </a:path>
              <a:path w="11243310" h="51435">
                <a:moveTo>
                  <a:pt x="396875" y="20700"/>
                </a:moveTo>
                <a:lnTo>
                  <a:pt x="358775" y="20700"/>
                </a:lnTo>
                <a:lnTo>
                  <a:pt x="358775" y="30225"/>
                </a:lnTo>
                <a:lnTo>
                  <a:pt x="396875" y="30225"/>
                </a:lnTo>
                <a:lnTo>
                  <a:pt x="396875" y="20700"/>
                </a:lnTo>
                <a:close/>
              </a:path>
              <a:path w="11243310" h="51435">
                <a:moveTo>
                  <a:pt x="463550" y="20700"/>
                </a:moveTo>
                <a:lnTo>
                  <a:pt x="425450" y="20700"/>
                </a:lnTo>
                <a:lnTo>
                  <a:pt x="425450" y="30225"/>
                </a:lnTo>
                <a:lnTo>
                  <a:pt x="463550" y="30225"/>
                </a:lnTo>
                <a:lnTo>
                  <a:pt x="463550" y="20700"/>
                </a:lnTo>
                <a:close/>
              </a:path>
              <a:path w="11243310" h="51435">
                <a:moveTo>
                  <a:pt x="530225" y="20700"/>
                </a:moveTo>
                <a:lnTo>
                  <a:pt x="492125" y="20700"/>
                </a:lnTo>
                <a:lnTo>
                  <a:pt x="492125" y="30225"/>
                </a:lnTo>
                <a:lnTo>
                  <a:pt x="530225" y="30225"/>
                </a:lnTo>
                <a:lnTo>
                  <a:pt x="530225" y="20700"/>
                </a:lnTo>
                <a:close/>
              </a:path>
              <a:path w="11243310" h="51435">
                <a:moveTo>
                  <a:pt x="596900" y="20700"/>
                </a:moveTo>
                <a:lnTo>
                  <a:pt x="558800" y="20700"/>
                </a:lnTo>
                <a:lnTo>
                  <a:pt x="558800" y="30225"/>
                </a:lnTo>
                <a:lnTo>
                  <a:pt x="596900" y="30225"/>
                </a:lnTo>
                <a:lnTo>
                  <a:pt x="596900" y="20700"/>
                </a:lnTo>
                <a:close/>
              </a:path>
              <a:path w="11243310" h="51435">
                <a:moveTo>
                  <a:pt x="663575" y="20700"/>
                </a:moveTo>
                <a:lnTo>
                  <a:pt x="625475" y="20700"/>
                </a:lnTo>
                <a:lnTo>
                  <a:pt x="625475" y="30225"/>
                </a:lnTo>
                <a:lnTo>
                  <a:pt x="663575" y="30225"/>
                </a:lnTo>
                <a:lnTo>
                  <a:pt x="663575" y="20700"/>
                </a:lnTo>
                <a:close/>
              </a:path>
              <a:path w="11243310" h="51435">
                <a:moveTo>
                  <a:pt x="730250" y="20700"/>
                </a:moveTo>
                <a:lnTo>
                  <a:pt x="692150" y="20700"/>
                </a:lnTo>
                <a:lnTo>
                  <a:pt x="692150" y="30225"/>
                </a:lnTo>
                <a:lnTo>
                  <a:pt x="730250" y="30225"/>
                </a:lnTo>
                <a:lnTo>
                  <a:pt x="730250" y="20700"/>
                </a:lnTo>
                <a:close/>
              </a:path>
              <a:path w="11243310" h="51435">
                <a:moveTo>
                  <a:pt x="796925" y="20700"/>
                </a:moveTo>
                <a:lnTo>
                  <a:pt x="758825" y="20700"/>
                </a:lnTo>
                <a:lnTo>
                  <a:pt x="758825" y="30225"/>
                </a:lnTo>
                <a:lnTo>
                  <a:pt x="796925" y="30225"/>
                </a:lnTo>
                <a:lnTo>
                  <a:pt x="796925" y="20700"/>
                </a:lnTo>
                <a:close/>
              </a:path>
              <a:path w="11243310" h="51435">
                <a:moveTo>
                  <a:pt x="863561" y="20700"/>
                </a:moveTo>
                <a:lnTo>
                  <a:pt x="825461" y="20700"/>
                </a:lnTo>
                <a:lnTo>
                  <a:pt x="825461" y="30225"/>
                </a:lnTo>
                <a:lnTo>
                  <a:pt x="863561" y="30225"/>
                </a:lnTo>
                <a:lnTo>
                  <a:pt x="863561" y="20700"/>
                </a:lnTo>
                <a:close/>
              </a:path>
              <a:path w="11243310" h="51435">
                <a:moveTo>
                  <a:pt x="930236" y="20700"/>
                </a:moveTo>
                <a:lnTo>
                  <a:pt x="892136" y="20700"/>
                </a:lnTo>
                <a:lnTo>
                  <a:pt x="892136" y="30225"/>
                </a:lnTo>
                <a:lnTo>
                  <a:pt x="930236" y="30225"/>
                </a:lnTo>
                <a:lnTo>
                  <a:pt x="930236" y="20700"/>
                </a:lnTo>
                <a:close/>
              </a:path>
              <a:path w="11243310" h="51435">
                <a:moveTo>
                  <a:pt x="996911" y="20700"/>
                </a:moveTo>
                <a:lnTo>
                  <a:pt x="958811" y="20700"/>
                </a:lnTo>
                <a:lnTo>
                  <a:pt x="958811" y="30225"/>
                </a:lnTo>
                <a:lnTo>
                  <a:pt x="996911" y="30225"/>
                </a:lnTo>
                <a:lnTo>
                  <a:pt x="996911" y="20700"/>
                </a:lnTo>
                <a:close/>
              </a:path>
              <a:path w="11243310" h="51435">
                <a:moveTo>
                  <a:pt x="1063586" y="20700"/>
                </a:moveTo>
                <a:lnTo>
                  <a:pt x="1025486" y="20700"/>
                </a:lnTo>
                <a:lnTo>
                  <a:pt x="1025486" y="30225"/>
                </a:lnTo>
                <a:lnTo>
                  <a:pt x="1063586" y="30225"/>
                </a:lnTo>
                <a:lnTo>
                  <a:pt x="1063586" y="20700"/>
                </a:lnTo>
                <a:close/>
              </a:path>
              <a:path w="11243310" h="51435">
                <a:moveTo>
                  <a:pt x="1130261" y="20700"/>
                </a:moveTo>
                <a:lnTo>
                  <a:pt x="1092161" y="20700"/>
                </a:lnTo>
                <a:lnTo>
                  <a:pt x="1092161" y="30225"/>
                </a:lnTo>
                <a:lnTo>
                  <a:pt x="1130261" y="30225"/>
                </a:lnTo>
                <a:lnTo>
                  <a:pt x="1130261" y="20700"/>
                </a:lnTo>
                <a:close/>
              </a:path>
              <a:path w="11243310" h="51435">
                <a:moveTo>
                  <a:pt x="1196936" y="20700"/>
                </a:moveTo>
                <a:lnTo>
                  <a:pt x="1158836" y="20700"/>
                </a:lnTo>
                <a:lnTo>
                  <a:pt x="1158836" y="30225"/>
                </a:lnTo>
                <a:lnTo>
                  <a:pt x="1196936" y="30225"/>
                </a:lnTo>
                <a:lnTo>
                  <a:pt x="1196936" y="20700"/>
                </a:lnTo>
                <a:close/>
              </a:path>
              <a:path w="11243310" h="51435">
                <a:moveTo>
                  <a:pt x="1263611" y="20700"/>
                </a:moveTo>
                <a:lnTo>
                  <a:pt x="1225511" y="20700"/>
                </a:lnTo>
                <a:lnTo>
                  <a:pt x="1225511" y="30225"/>
                </a:lnTo>
                <a:lnTo>
                  <a:pt x="1263611" y="30225"/>
                </a:lnTo>
                <a:lnTo>
                  <a:pt x="1263611" y="20700"/>
                </a:lnTo>
                <a:close/>
              </a:path>
              <a:path w="11243310" h="51435">
                <a:moveTo>
                  <a:pt x="1330286" y="20700"/>
                </a:moveTo>
                <a:lnTo>
                  <a:pt x="1292186" y="20700"/>
                </a:lnTo>
                <a:lnTo>
                  <a:pt x="1292186" y="30225"/>
                </a:lnTo>
                <a:lnTo>
                  <a:pt x="1330286" y="30225"/>
                </a:lnTo>
                <a:lnTo>
                  <a:pt x="1330286" y="20700"/>
                </a:lnTo>
                <a:close/>
              </a:path>
              <a:path w="11243310" h="51435">
                <a:moveTo>
                  <a:pt x="1396961" y="20700"/>
                </a:moveTo>
                <a:lnTo>
                  <a:pt x="1358861" y="20700"/>
                </a:lnTo>
                <a:lnTo>
                  <a:pt x="1358861" y="30225"/>
                </a:lnTo>
                <a:lnTo>
                  <a:pt x="1396961" y="30225"/>
                </a:lnTo>
                <a:lnTo>
                  <a:pt x="1396961" y="20700"/>
                </a:lnTo>
                <a:close/>
              </a:path>
              <a:path w="11243310" h="51435">
                <a:moveTo>
                  <a:pt x="1463636" y="20700"/>
                </a:moveTo>
                <a:lnTo>
                  <a:pt x="1425536" y="20700"/>
                </a:lnTo>
                <a:lnTo>
                  <a:pt x="1425536" y="30225"/>
                </a:lnTo>
                <a:lnTo>
                  <a:pt x="1463636" y="30225"/>
                </a:lnTo>
                <a:lnTo>
                  <a:pt x="1463636" y="20700"/>
                </a:lnTo>
                <a:close/>
              </a:path>
              <a:path w="11243310" h="51435">
                <a:moveTo>
                  <a:pt x="1530311" y="20700"/>
                </a:moveTo>
                <a:lnTo>
                  <a:pt x="1492211" y="20700"/>
                </a:lnTo>
                <a:lnTo>
                  <a:pt x="1492211" y="30225"/>
                </a:lnTo>
                <a:lnTo>
                  <a:pt x="1530311" y="30225"/>
                </a:lnTo>
                <a:lnTo>
                  <a:pt x="1530311" y="20700"/>
                </a:lnTo>
                <a:close/>
              </a:path>
              <a:path w="11243310" h="51435">
                <a:moveTo>
                  <a:pt x="1596986" y="20700"/>
                </a:moveTo>
                <a:lnTo>
                  <a:pt x="1558886" y="20700"/>
                </a:lnTo>
                <a:lnTo>
                  <a:pt x="1558886" y="30225"/>
                </a:lnTo>
                <a:lnTo>
                  <a:pt x="1596986" y="30225"/>
                </a:lnTo>
                <a:lnTo>
                  <a:pt x="1596986" y="20700"/>
                </a:lnTo>
                <a:close/>
              </a:path>
              <a:path w="11243310" h="51435">
                <a:moveTo>
                  <a:pt x="1663661" y="20700"/>
                </a:moveTo>
                <a:lnTo>
                  <a:pt x="1625561" y="20700"/>
                </a:lnTo>
                <a:lnTo>
                  <a:pt x="1625561" y="30225"/>
                </a:lnTo>
                <a:lnTo>
                  <a:pt x="1663661" y="30225"/>
                </a:lnTo>
                <a:lnTo>
                  <a:pt x="1663661" y="20700"/>
                </a:lnTo>
                <a:close/>
              </a:path>
              <a:path w="11243310" h="51435">
                <a:moveTo>
                  <a:pt x="1730336" y="20700"/>
                </a:moveTo>
                <a:lnTo>
                  <a:pt x="1692236" y="20700"/>
                </a:lnTo>
                <a:lnTo>
                  <a:pt x="1692236" y="30225"/>
                </a:lnTo>
                <a:lnTo>
                  <a:pt x="1730336" y="30225"/>
                </a:lnTo>
                <a:lnTo>
                  <a:pt x="1730336" y="20700"/>
                </a:lnTo>
                <a:close/>
              </a:path>
              <a:path w="11243310" h="51435">
                <a:moveTo>
                  <a:pt x="1797011" y="20700"/>
                </a:moveTo>
                <a:lnTo>
                  <a:pt x="1758911" y="20700"/>
                </a:lnTo>
                <a:lnTo>
                  <a:pt x="1758911" y="30225"/>
                </a:lnTo>
                <a:lnTo>
                  <a:pt x="1797011" y="30225"/>
                </a:lnTo>
                <a:lnTo>
                  <a:pt x="1797011" y="20700"/>
                </a:lnTo>
                <a:close/>
              </a:path>
              <a:path w="11243310" h="51435">
                <a:moveTo>
                  <a:pt x="1863686" y="20700"/>
                </a:moveTo>
                <a:lnTo>
                  <a:pt x="1825586" y="20700"/>
                </a:lnTo>
                <a:lnTo>
                  <a:pt x="1825586" y="30225"/>
                </a:lnTo>
                <a:lnTo>
                  <a:pt x="1863686" y="30225"/>
                </a:lnTo>
                <a:lnTo>
                  <a:pt x="1863686" y="20700"/>
                </a:lnTo>
                <a:close/>
              </a:path>
              <a:path w="11243310" h="51435">
                <a:moveTo>
                  <a:pt x="1930361" y="20700"/>
                </a:moveTo>
                <a:lnTo>
                  <a:pt x="1892261" y="20700"/>
                </a:lnTo>
                <a:lnTo>
                  <a:pt x="1892261" y="30225"/>
                </a:lnTo>
                <a:lnTo>
                  <a:pt x="1930361" y="30225"/>
                </a:lnTo>
                <a:lnTo>
                  <a:pt x="1930361" y="20700"/>
                </a:lnTo>
                <a:close/>
              </a:path>
              <a:path w="11243310" h="51435">
                <a:moveTo>
                  <a:pt x="1997036" y="20700"/>
                </a:moveTo>
                <a:lnTo>
                  <a:pt x="1958936" y="20700"/>
                </a:lnTo>
                <a:lnTo>
                  <a:pt x="1958936" y="30225"/>
                </a:lnTo>
                <a:lnTo>
                  <a:pt x="1997036" y="30225"/>
                </a:lnTo>
                <a:lnTo>
                  <a:pt x="1997036" y="20700"/>
                </a:lnTo>
                <a:close/>
              </a:path>
              <a:path w="11243310" h="51435">
                <a:moveTo>
                  <a:pt x="2063711" y="20700"/>
                </a:moveTo>
                <a:lnTo>
                  <a:pt x="2025611" y="20700"/>
                </a:lnTo>
                <a:lnTo>
                  <a:pt x="2025611" y="30225"/>
                </a:lnTo>
                <a:lnTo>
                  <a:pt x="2063711" y="30225"/>
                </a:lnTo>
                <a:lnTo>
                  <a:pt x="2063711" y="20700"/>
                </a:lnTo>
                <a:close/>
              </a:path>
              <a:path w="11243310" h="51435">
                <a:moveTo>
                  <a:pt x="2130386" y="20700"/>
                </a:moveTo>
                <a:lnTo>
                  <a:pt x="2092286" y="20700"/>
                </a:lnTo>
                <a:lnTo>
                  <a:pt x="2092286" y="30225"/>
                </a:lnTo>
                <a:lnTo>
                  <a:pt x="2130386" y="30225"/>
                </a:lnTo>
                <a:lnTo>
                  <a:pt x="2130386" y="20700"/>
                </a:lnTo>
                <a:close/>
              </a:path>
              <a:path w="11243310" h="51435">
                <a:moveTo>
                  <a:pt x="2197061" y="20700"/>
                </a:moveTo>
                <a:lnTo>
                  <a:pt x="2158961" y="20700"/>
                </a:lnTo>
                <a:lnTo>
                  <a:pt x="2158961" y="30225"/>
                </a:lnTo>
                <a:lnTo>
                  <a:pt x="2197061" y="30225"/>
                </a:lnTo>
                <a:lnTo>
                  <a:pt x="2197061" y="20700"/>
                </a:lnTo>
                <a:close/>
              </a:path>
              <a:path w="11243310" h="51435">
                <a:moveTo>
                  <a:pt x="2263736" y="20700"/>
                </a:moveTo>
                <a:lnTo>
                  <a:pt x="2225636" y="20700"/>
                </a:lnTo>
                <a:lnTo>
                  <a:pt x="2225636" y="30225"/>
                </a:lnTo>
                <a:lnTo>
                  <a:pt x="2263736" y="30225"/>
                </a:lnTo>
                <a:lnTo>
                  <a:pt x="2263736" y="20700"/>
                </a:lnTo>
                <a:close/>
              </a:path>
              <a:path w="11243310" h="51435">
                <a:moveTo>
                  <a:pt x="2330411" y="20700"/>
                </a:moveTo>
                <a:lnTo>
                  <a:pt x="2292311" y="20700"/>
                </a:lnTo>
                <a:lnTo>
                  <a:pt x="2292311" y="30225"/>
                </a:lnTo>
                <a:lnTo>
                  <a:pt x="2330411" y="30225"/>
                </a:lnTo>
                <a:lnTo>
                  <a:pt x="2330411" y="20700"/>
                </a:lnTo>
                <a:close/>
              </a:path>
              <a:path w="11243310" h="51435">
                <a:moveTo>
                  <a:pt x="2397086" y="20700"/>
                </a:moveTo>
                <a:lnTo>
                  <a:pt x="2358986" y="20700"/>
                </a:lnTo>
                <a:lnTo>
                  <a:pt x="2358986" y="30225"/>
                </a:lnTo>
                <a:lnTo>
                  <a:pt x="2397086" y="30225"/>
                </a:lnTo>
                <a:lnTo>
                  <a:pt x="2397086" y="20700"/>
                </a:lnTo>
                <a:close/>
              </a:path>
              <a:path w="11243310" h="51435">
                <a:moveTo>
                  <a:pt x="2463761" y="20700"/>
                </a:moveTo>
                <a:lnTo>
                  <a:pt x="2425661" y="20700"/>
                </a:lnTo>
                <a:lnTo>
                  <a:pt x="2425661" y="30225"/>
                </a:lnTo>
                <a:lnTo>
                  <a:pt x="2463761" y="30225"/>
                </a:lnTo>
                <a:lnTo>
                  <a:pt x="2463761" y="20700"/>
                </a:lnTo>
                <a:close/>
              </a:path>
              <a:path w="11243310" h="51435">
                <a:moveTo>
                  <a:pt x="2530436" y="20700"/>
                </a:moveTo>
                <a:lnTo>
                  <a:pt x="2492336" y="20700"/>
                </a:lnTo>
                <a:lnTo>
                  <a:pt x="2492336" y="30225"/>
                </a:lnTo>
                <a:lnTo>
                  <a:pt x="2530436" y="30225"/>
                </a:lnTo>
                <a:lnTo>
                  <a:pt x="2530436" y="20700"/>
                </a:lnTo>
                <a:close/>
              </a:path>
              <a:path w="11243310" h="51435">
                <a:moveTo>
                  <a:pt x="2597111" y="20700"/>
                </a:moveTo>
                <a:lnTo>
                  <a:pt x="2559011" y="20700"/>
                </a:lnTo>
                <a:lnTo>
                  <a:pt x="2559011" y="30225"/>
                </a:lnTo>
                <a:lnTo>
                  <a:pt x="2597111" y="30225"/>
                </a:lnTo>
                <a:lnTo>
                  <a:pt x="2597111" y="20700"/>
                </a:lnTo>
                <a:close/>
              </a:path>
              <a:path w="11243310" h="51435">
                <a:moveTo>
                  <a:pt x="2663786" y="20700"/>
                </a:moveTo>
                <a:lnTo>
                  <a:pt x="2625686" y="20700"/>
                </a:lnTo>
                <a:lnTo>
                  <a:pt x="2625686" y="30225"/>
                </a:lnTo>
                <a:lnTo>
                  <a:pt x="2663786" y="30225"/>
                </a:lnTo>
                <a:lnTo>
                  <a:pt x="2663786" y="20700"/>
                </a:lnTo>
                <a:close/>
              </a:path>
              <a:path w="11243310" h="51435">
                <a:moveTo>
                  <a:pt x="2730461" y="20700"/>
                </a:moveTo>
                <a:lnTo>
                  <a:pt x="2692361" y="20700"/>
                </a:lnTo>
                <a:lnTo>
                  <a:pt x="2692361" y="30225"/>
                </a:lnTo>
                <a:lnTo>
                  <a:pt x="2730461" y="30225"/>
                </a:lnTo>
                <a:lnTo>
                  <a:pt x="2730461" y="20700"/>
                </a:lnTo>
                <a:close/>
              </a:path>
              <a:path w="11243310" h="51435">
                <a:moveTo>
                  <a:pt x="2797136" y="20700"/>
                </a:moveTo>
                <a:lnTo>
                  <a:pt x="2759036" y="20700"/>
                </a:lnTo>
                <a:lnTo>
                  <a:pt x="2759036" y="30225"/>
                </a:lnTo>
                <a:lnTo>
                  <a:pt x="2797136" y="30225"/>
                </a:lnTo>
                <a:lnTo>
                  <a:pt x="2797136" y="20700"/>
                </a:lnTo>
                <a:close/>
              </a:path>
              <a:path w="11243310" h="51435">
                <a:moveTo>
                  <a:pt x="2863811" y="20700"/>
                </a:moveTo>
                <a:lnTo>
                  <a:pt x="2825711" y="20700"/>
                </a:lnTo>
                <a:lnTo>
                  <a:pt x="2825711" y="30225"/>
                </a:lnTo>
                <a:lnTo>
                  <a:pt x="2863811" y="30225"/>
                </a:lnTo>
                <a:lnTo>
                  <a:pt x="2863811" y="20700"/>
                </a:lnTo>
                <a:close/>
              </a:path>
              <a:path w="11243310" h="51435">
                <a:moveTo>
                  <a:pt x="2930486" y="20700"/>
                </a:moveTo>
                <a:lnTo>
                  <a:pt x="2892386" y="20700"/>
                </a:lnTo>
                <a:lnTo>
                  <a:pt x="2892386" y="30225"/>
                </a:lnTo>
                <a:lnTo>
                  <a:pt x="2930486" y="30225"/>
                </a:lnTo>
                <a:lnTo>
                  <a:pt x="2930486" y="20700"/>
                </a:lnTo>
                <a:close/>
              </a:path>
              <a:path w="11243310" h="51435">
                <a:moveTo>
                  <a:pt x="2997161" y="20700"/>
                </a:moveTo>
                <a:lnTo>
                  <a:pt x="2959061" y="20700"/>
                </a:lnTo>
                <a:lnTo>
                  <a:pt x="2959061" y="30225"/>
                </a:lnTo>
                <a:lnTo>
                  <a:pt x="2997161" y="30225"/>
                </a:lnTo>
                <a:lnTo>
                  <a:pt x="2997161" y="20700"/>
                </a:lnTo>
                <a:close/>
              </a:path>
              <a:path w="11243310" h="51435">
                <a:moveTo>
                  <a:pt x="3063836" y="20700"/>
                </a:moveTo>
                <a:lnTo>
                  <a:pt x="3025736" y="20700"/>
                </a:lnTo>
                <a:lnTo>
                  <a:pt x="3025736" y="30225"/>
                </a:lnTo>
                <a:lnTo>
                  <a:pt x="3063836" y="30225"/>
                </a:lnTo>
                <a:lnTo>
                  <a:pt x="3063836" y="20700"/>
                </a:lnTo>
                <a:close/>
              </a:path>
              <a:path w="11243310" h="51435">
                <a:moveTo>
                  <a:pt x="3130511" y="20700"/>
                </a:moveTo>
                <a:lnTo>
                  <a:pt x="3092411" y="20700"/>
                </a:lnTo>
                <a:lnTo>
                  <a:pt x="3092411" y="30225"/>
                </a:lnTo>
                <a:lnTo>
                  <a:pt x="3130511" y="30225"/>
                </a:lnTo>
                <a:lnTo>
                  <a:pt x="3130511" y="20700"/>
                </a:lnTo>
                <a:close/>
              </a:path>
              <a:path w="11243310" h="51435">
                <a:moveTo>
                  <a:pt x="3197186" y="20700"/>
                </a:moveTo>
                <a:lnTo>
                  <a:pt x="3159086" y="20700"/>
                </a:lnTo>
                <a:lnTo>
                  <a:pt x="3159086" y="30225"/>
                </a:lnTo>
                <a:lnTo>
                  <a:pt x="3197186" y="30225"/>
                </a:lnTo>
                <a:lnTo>
                  <a:pt x="3197186" y="20700"/>
                </a:lnTo>
                <a:close/>
              </a:path>
              <a:path w="11243310" h="51435">
                <a:moveTo>
                  <a:pt x="3263861" y="20700"/>
                </a:moveTo>
                <a:lnTo>
                  <a:pt x="3225761" y="20700"/>
                </a:lnTo>
                <a:lnTo>
                  <a:pt x="3225761" y="30225"/>
                </a:lnTo>
                <a:lnTo>
                  <a:pt x="3263861" y="30225"/>
                </a:lnTo>
                <a:lnTo>
                  <a:pt x="3263861" y="20700"/>
                </a:lnTo>
                <a:close/>
              </a:path>
              <a:path w="11243310" h="51435">
                <a:moveTo>
                  <a:pt x="3330536" y="20700"/>
                </a:moveTo>
                <a:lnTo>
                  <a:pt x="3292436" y="20700"/>
                </a:lnTo>
                <a:lnTo>
                  <a:pt x="3292436" y="30225"/>
                </a:lnTo>
                <a:lnTo>
                  <a:pt x="3330536" y="30225"/>
                </a:lnTo>
                <a:lnTo>
                  <a:pt x="3330536" y="20700"/>
                </a:lnTo>
                <a:close/>
              </a:path>
              <a:path w="11243310" h="51435">
                <a:moveTo>
                  <a:pt x="3397211" y="20700"/>
                </a:moveTo>
                <a:lnTo>
                  <a:pt x="3359111" y="20700"/>
                </a:lnTo>
                <a:lnTo>
                  <a:pt x="3359111" y="30225"/>
                </a:lnTo>
                <a:lnTo>
                  <a:pt x="3397211" y="30225"/>
                </a:lnTo>
                <a:lnTo>
                  <a:pt x="3397211" y="20700"/>
                </a:lnTo>
                <a:close/>
              </a:path>
              <a:path w="11243310" h="51435">
                <a:moveTo>
                  <a:pt x="3463886" y="20700"/>
                </a:moveTo>
                <a:lnTo>
                  <a:pt x="3425786" y="20700"/>
                </a:lnTo>
                <a:lnTo>
                  <a:pt x="3425786" y="30225"/>
                </a:lnTo>
                <a:lnTo>
                  <a:pt x="3463886" y="30225"/>
                </a:lnTo>
                <a:lnTo>
                  <a:pt x="3463886" y="20700"/>
                </a:lnTo>
                <a:close/>
              </a:path>
              <a:path w="11243310" h="51435">
                <a:moveTo>
                  <a:pt x="3530561" y="20700"/>
                </a:moveTo>
                <a:lnTo>
                  <a:pt x="3492461" y="20700"/>
                </a:lnTo>
                <a:lnTo>
                  <a:pt x="3492461" y="30225"/>
                </a:lnTo>
                <a:lnTo>
                  <a:pt x="3530561" y="30225"/>
                </a:lnTo>
                <a:lnTo>
                  <a:pt x="3530561" y="20700"/>
                </a:lnTo>
                <a:close/>
              </a:path>
              <a:path w="11243310" h="51435">
                <a:moveTo>
                  <a:pt x="3597236" y="20700"/>
                </a:moveTo>
                <a:lnTo>
                  <a:pt x="3559136" y="20700"/>
                </a:lnTo>
                <a:lnTo>
                  <a:pt x="3559136" y="30225"/>
                </a:lnTo>
                <a:lnTo>
                  <a:pt x="3597236" y="30225"/>
                </a:lnTo>
                <a:lnTo>
                  <a:pt x="3597236" y="20700"/>
                </a:lnTo>
                <a:close/>
              </a:path>
              <a:path w="11243310" h="51435">
                <a:moveTo>
                  <a:pt x="3663911" y="20700"/>
                </a:moveTo>
                <a:lnTo>
                  <a:pt x="3625811" y="20700"/>
                </a:lnTo>
                <a:lnTo>
                  <a:pt x="3625811" y="30225"/>
                </a:lnTo>
                <a:lnTo>
                  <a:pt x="3663911" y="30225"/>
                </a:lnTo>
                <a:lnTo>
                  <a:pt x="3663911" y="20700"/>
                </a:lnTo>
                <a:close/>
              </a:path>
              <a:path w="11243310" h="51435">
                <a:moveTo>
                  <a:pt x="3730586" y="20700"/>
                </a:moveTo>
                <a:lnTo>
                  <a:pt x="3692486" y="20700"/>
                </a:lnTo>
                <a:lnTo>
                  <a:pt x="3692486" y="30225"/>
                </a:lnTo>
                <a:lnTo>
                  <a:pt x="3730586" y="30225"/>
                </a:lnTo>
                <a:lnTo>
                  <a:pt x="3730586" y="20700"/>
                </a:lnTo>
                <a:close/>
              </a:path>
              <a:path w="11243310" h="51435">
                <a:moveTo>
                  <a:pt x="3797261" y="20700"/>
                </a:moveTo>
                <a:lnTo>
                  <a:pt x="3759161" y="20700"/>
                </a:lnTo>
                <a:lnTo>
                  <a:pt x="3759161" y="30225"/>
                </a:lnTo>
                <a:lnTo>
                  <a:pt x="3797261" y="30225"/>
                </a:lnTo>
                <a:lnTo>
                  <a:pt x="3797261" y="20700"/>
                </a:lnTo>
                <a:close/>
              </a:path>
              <a:path w="11243310" h="51435">
                <a:moveTo>
                  <a:pt x="3863936" y="20700"/>
                </a:moveTo>
                <a:lnTo>
                  <a:pt x="3825836" y="20700"/>
                </a:lnTo>
                <a:lnTo>
                  <a:pt x="3825836" y="30225"/>
                </a:lnTo>
                <a:lnTo>
                  <a:pt x="3863936" y="30225"/>
                </a:lnTo>
                <a:lnTo>
                  <a:pt x="3863936" y="20700"/>
                </a:lnTo>
                <a:close/>
              </a:path>
              <a:path w="11243310" h="51435">
                <a:moveTo>
                  <a:pt x="3930611" y="20700"/>
                </a:moveTo>
                <a:lnTo>
                  <a:pt x="3892511" y="20700"/>
                </a:lnTo>
                <a:lnTo>
                  <a:pt x="3892511" y="30225"/>
                </a:lnTo>
                <a:lnTo>
                  <a:pt x="3930611" y="30225"/>
                </a:lnTo>
                <a:lnTo>
                  <a:pt x="3930611" y="20700"/>
                </a:lnTo>
                <a:close/>
              </a:path>
              <a:path w="11243310" h="51435">
                <a:moveTo>
                  <a:pt x="3997286" y="20700"/>
                </a:moveTo>
                <a:lnTo>
                  <a:pt x="3959186" y="20700"/>
                </a:lnTo>
                <a:lnTo>
                  <a:pt x="3959186" y="30225"/>
                </a:lnTo>
                <a:lnTo>
                  <a:pt x="3997286" y="30225"/>
                </a:lnTo>
                <a:lnTo>
                  <a:pt x="3997286" y="20700"/>
                </a:lnTo>
                <a:close/>
              </a:path>
              <a:path w="11243310" h="51435">
                <a:moveTo>
                  <a:pt x="4063961" y="20700"/>
                </a:moveTo>
                <a:lnTo>
                  <a:pt x="4025861" y="20700"/>
                </a:lnTo>
                <a:lnTo>
                  <a:pt x="4025861" y="30225"/>
                </a:lnTo>
                <a:lnTo>
                  <a:pt x="4063961" y="30225"/>
                </a:lnTo>
                <a:lnTo>
                  <a:pt x="4063961" y="20700"/>
                </a:lnTo>
                <a:close/>
              </a:path>
              <a:path w="11243310" h="51435">
                <a:moveTo>
                  <a:pt x="4130636" y="20700"/>
                </a:moveTo>
                <a:lnTo>
                  <a:pt x="4092536" y="20700"/>
                </a:lnTo>
                <a:lnTo>
                  <a:pt x="4092536" y="30225"/>
                </a:lnTo>
                <a:lnTo>
                  <a:pt x="4130636" y="30225"/>
                </a:lnTo>
                <a:lnTo>
                  <a:pt x="4130636" y="20700"/>
                </a:lnTo>
                <a:close/>
              </a:path>
              <a:path w="11243310" h="51435">
                <a:moveTo>
                  <a:pt x="4197311" y="20700"/>
                </a:moveTo>
                <a:lnTo>
                  <a:pt x="4159211" y="20700"/>
                </a:lnTo>
                <a:lnTo>
                  <a:pt x="4159211" y="30225"/>
                </a:lnTo>
                <a:lnTo>
                  <a:pt x="4197311" y="30225"/>
                </a:lnTo>
                <a:lnTo>
                  <a:pt x="4197311" y="20700"/>
                </a:lnTo>
                <a:close/>
              </a:path>
              <a:path w="11243310" h="51435">
                <a:moveTo>
                  <a:pt x="4263986" y="20700"/>
                </a:moveTo>
                <a:lnTo>
                  <a:pt x="4225886" y="20700"/>
                </a:lnTo>
                <a:lnTo>
                  <a:pt x="4225886" y="30225"/>
                </a:lnTo>
                <a:lnTo>
                  <a:pt x="4263986" y="30225"/>
                </a:lnTo>
                <a:lnTo>
                  <a:pt x="4263986" y="20700"/>
                </a:lnTo>
                <a:close/>
              </a:path>
              <a:path w="11243310" h="51435">
                <a:moveTo>
                  <a:pt x="4330661" y="20700"/>
                </a:moveTo>
                <a:lnTo>
                  <a:pt x="4292561" y="20700"/>
                </a:lnTo>
                <a:lnTo>
                  <a:pt x="4292561" y="30225"/>
                </a:lnTo>
                <a:lnTo>
                  <a:pt x="4330661" y="30225"/>
                </a:lnTo>
                <a:lnTo>
                  <a:pt x="4330661" y="20700"/>
                </a:lnTo>
                <a:close/>
              </a:path>
              <a:path w="11243310" h="51435">
                <a:moveTo>
                  <a:pt x="4397336" y="20700"/>
                </a:moveTo>
                <a:lnTo>
                  <a:pt x="4359236" y="20700"/>
                </a:lnTo>
                <a:lnTo>
                  <a:pt x="4359236" y="30225"/>
                </a:lnTo>
                <a:lnTo>
                  <a:pt x="4397336" y="30225"/>
                </a:lnTo>
                <a:lnTo>
                  <a:pt x="4397336" y="20700"/>
                </a:lnTo>
                <a:close/>
              </a:path>
              <a:path w="11243310" h="51435">
                <a:moveTo>
                  <a:pt x="4464011" y="20700"/>
                </a:moveTo>
                <a:lnTo>
                  <a:pt x="4425911" y="20700"/>
                </a:lnTo>
                <a:lnTo>
                  <a:pt x="4425911" y="30225"/>
                </a:lnTo>
                <a:lnTo>
                  <a:pt x="4464011" y="30225"/>
                </a:lnTo>
                <a:lnTo>
                  <a:pt x="4464011" y="20700"/>
                </a:lnTo>
                <a:close/>
              </a:path>
              <a:path w="11243310" h="51435">
                <a:moveTo>
                  <a:pt x="4530686" y="20700"/>
                </a:moveTo>
                <a:lnTo>
                  <a:pt x="4492586" y="20700"/>
                </a:lnTo>
                <a:lnTo>
                  <a:pt x="4492586" y="30225"/>
                </a:lnTo>
                <a:lnTo>
                  <a:pt x="4530686" y="30225"/>
                </a:lnTo>
                <a:lnTo>
                  <a:pt x="4530686" y="20700"/>
                </a:lnTo>
                <a:close/>
              </a:path>
              <a:path w="11243310" h="51435">
                <a:moveTo>
                  <a:pt x="4597361" y="20700"/>
                </a:moveTo>
                <a:lnTo>
                  <a:pt x="4559261" y="20700"/>
                </a:lnTo>
                <a:lnTo>
                  <a:pt x="4559261" y="30225"/>
                </a:lnTo>
                <a:lnTo>
                  <a:pt x="4597361" y="30225"/>
                </a:lnTo>
                <a:lnTo>
                  <a:pt x="4597361" y="20700"/>
                </a:lnTo>
                <a:close/>
              </a:path>
              <a:path w="11243310" h="51435">
                <a:moveTo>
                  <a:pt x="4664036" y="20700"/>
                </a:moveTo>
                <a:lnTo>
                  <a:pt x="4625936" y="20700"/>
                </a:lnTo>
                <a:lnTo>
                  <a:pt x="4625936" y="30225"/>
                </a:lnTo>
                <a:lnTo>
                  <a:pt x="4664036" y="30225"/>
                </a:lnTo>
                <a:lnTo>
                  <a:pt x="4664036" y="20700"/>
                </a:lnTo>
                <a:close/>
              </a:path>
              <a:path w="11243310" h="51435">
                <a:moveTo>
                  <a:pt x="4730711" y="20700"/>
                </a:moveTo>
                <a:lnTo>
                  <a:pt x="4692611" y="20700"/>
                </a:lnTo>
                <a:lnTo>
                  <a:pt x="4692611" y="30225"/>
                </a:lnTo>
                <a:lnTo>
                  <a:pt x="4730711" y="30225"/>
                </a:lnTo>
                <a:lnTo>
                  <a:pt x="4730711" y="20700"/>
                </a:lnTo>
                <a:close/>
              </a:path>
              <a:path w="11243310" h="51435">
                <a:moveTo>
                  <a:pt x="4797386" y="20700"/>
                </a:moveTo>
                <a:lnTo>
                  <a:pt x="4759286" y="20700"/>
                </a:lnTo>
                <a:lnTo>
                  <a:pt x="4759286" y="30225"/>
                </a:lnTo>
                <a:lnTo>
                  <a:pt x="4797386" y="30225"/>
                </a:lnTo>
                <a:lnTo>
                  <a:pt x="4797386" y="20700"/>
                </a:lnTo>
                <a:close/>
              </a:path>
              <a:path w="11243310" h="51435">
                <a:moveTo>
                  <a:pt x="4864061" y="20700"/>
                </a:moveTo>
                <a:lnTo>
                  <a:pt x="4825961" y="20700"/>
                </a:lnTo>
                <a:lnTo>
                  <a:pt x="4825961" y="30225"/>
                </a:lnTo>
                <a:lnTo>
                  <a:pt x="4864061" y="30225"/>
                </a:lnTo>
                <a:lnTo>
                  <a:pt x="4864061" y="20700"/>
                </a:lnTo>
                <a:close/>
              </a:path>
              <a:path w="11243310" h="51435">
                <a:moveTo>
                  <a:pt x="4930736" y="20700"/>
                </a:moveTo>
                <a:lnTo>
                  <a:pt x="4892636" y="20700"/>
                </a:lnTo>
                <a:lnTo>
                  <a:pt x="4892636" y="30225"/>
                </a:lnTo>
                <a:lnTo>
                  <a:pt x="4930736" y="30225"/>
                </a:lnTo>
                <a:lnTo>
                  <a:pt x="4930736" y="20700"/>
                </a:lnTo>
                <a:close/>
              </a:path>
              <a:path w="11243310" h="51435">
                <a:moveTo>
                  <a:pt x="4997411" y="20700"/>
                </a:moveTo>
                <a:lnTo>
                  <a:pt x="4959311" y="20700"/>
                </a:lnTo>
                <a:lnTo>
                  <a:pt x="4959311" y="30225"/>
                </a:lnTo>
                <a:lnTo>
                  <a:pt x="4997411" y="30225"/>
                </a:lnTo>
                <a:lnTo>
                  <a:pt x="4997411" y="20700"/>
                </a:lnTo>
                <a:close/>
              </a:path>
              <a:path w="11243310" h="51435">
                <a:moveTo>
                  <a:pt x="5064086" y="20700"/>
                </a:moveTo>
                <a:lnTo>
                  <a:pt x="5025986" y="20700"/>
                </a:lnTo>
                <a:lnTo>
                  <a:pt x="5025986" y="30225"/>
                </a:lnTo>
                <a:lnTo>
                  <a:pt x="5064086" y="30225"/>
                </a:lnTo>
                <a:lnTo>
                  <a:pt x="5064086" y="20700"/>
                </a:lnTo>
                <a:close/>
              </a:path>
              <a:path w="11243310" h="51435">
                <a:moveTo>
                  <a:pt x="5130761" y="20700"/>
                </a:moveTo>
                <a:lnTo>
                  <a:pt x="5092661" y="20700"/>
                </a:lnTo>
                <a:lnTo>
                  <a:pt x="5092661" y="30225"/>
                </a:lnTo>
                <a:lnTo>
                  <a:pt x="5130761" y="30225"/>
                </a:lnTo>
                <a:lnTo>
                  <a:pt x="5130761" y="20700"/>
                </a:lnTo>
                <a:close/>
              </a:path>
              <a:path w="11243310" h="51435">
                <a:moveTo>
                  <a:pt x="5197436" y="20700"/>
                </a:moveTo>
                <a:lnTo>
                  <a:pt x="5159336" y="20700"/>
                </a:lnTo>
                <a:lnTo>
                  <a:pt x="5159336" y="30225"/>
                </a:lnTo>
                <a:lnTo>
                  <a:pt x="5197436" y="30225"/>
                </a:lnTo>
                <a:lnTo>
                  <a:pt x="5197436" y="20700"/>
                </a:lnTo>
                <a:close/>
              </a:path>
              <a:path w="11243310" h="51435">
                <a:moveTo>
                  <a:pt x="5264111" y="20700"/>
                </a:moveTo>
                <a:lnTo>
                  <a:pt x="5226011" y="20700"/>
                </a:lnTo>
                <a:lnTo>
                  <a:pt x="5226011" y="30225"/>
                </a:lnTo>
                <a:lnTo>
                  <a:pt x="5264111" y="30225"/>
                </a:lnTo>
                <a:lnTo>
                  <a:pt x="5264111" y="20700"/>
                </a:lnTo>
                <a:close/>
              </a:path>
              <a:path w="11243310" h="51435">
                <a:moveTo>
                  <a:pt x="5330786" y="20700"/>
                </a:moveTo>
                <a:lnTo>
                  <a:pt x="5292686" y="20700"/>
                </a:lnTo>
                <a:lnTo>
                  <a:pt x="5292686" y="30225"/>
                </a:lnTo>
                <a:lnTo>
                  <a:pt x="5330786" y="30225"/>
                </a:lnTo>
                <a:lnTo>
                  <a:pt x="5330786" y="20700"/>
                </a:lnTo>
                <a:close/>
              </a:path>
              <a:path w="11243310" h="51435">
                <a:moveTo>
                  <a:pt x="5397461" y="20700"/>
                </a:moveTo>
                <a:lnTo>
                  <a:pt x="5359361" y="20700"/>
                </a:lnTo>
                <a:lnTo>
                  <a:pt x="5359361" y="30225"/>
                </a:lnTo>
                <a:lnTo>
                  <a:pt x="5397461" y="30225"/>
                </a:lnTo>
                <a:lnTo>
                  <a:pt x="5397461" y="20700"/>
                </a:lnTo>
                <a:close/>
              </a:path>
              <a:path w="11243310" h="51435">
                <a:moveTo>
                  <a:pt x="5464136" y="20700"/>
                </a:moveTo>
                <a:lnTo>
                  <a:pt x="5426036" y="20700"/>
                </a:lnTo>
                <a:lnTo>
                  <a:pt x="5426036" y="30225"/>
                </a:lnTo>
                <a:lnTo>
                  <a:pt x="5464136" y="30225"/>
                </a:lnTo>
                <a:lnTo>
                  <a:pt x="5464136" y="20700"/>
                </a:lnTo>
                <a:close/>
              </a:path>
              <a:path w="11243310" h="51435">
                <a:moveTo>
                  <a:pt x="5530811" y="20700"/>
                </a:moveTo>
                <a:lnTo>
                  <a:pt x="5492711" y="20700"/>
                </a:lnTo>
                <a:lnTo>
                  <a:pt x="5492711" y="30225"/>
                </a:lnTo>
                <a:lnTo>
                  <a:pt x="5530811" y="30225"/>
                </a:lnTo>
                <a:lnTo>
                  <a:pt x="5530811" y="20700"/>
                </a:lnTo>
                <a:close/>
              </a:path>
              <a:path w="11243310" h="51435">
                <a:moveTo>
                  <a:pt x="5597486" y="20700"/>
                </a:moveTo>
                <a:lnTo>
                  <a:pt x="5559386" y="20700"/>
                </a:lnTo>
                <a:lnTo>
                  <a:pt x="5559386" y="30225"/>
                </a:lnTo>
                <a:lnTo>
                  <a:pt x="5597486" y="30225"/>
                </a:lnTo>
                <a:lnTo>
                  <a:pt x="5597486" y="20700"/>
                </a:lnTo>
                <a:close/>
              </a:path>
              <a:path w="11243310" h="51435">
                <a:moveTo>
                  <a:pt x="5664161" y="20700"/>
                </a:moveTo>
                <a:lnTo>
                  <a:pt x="5626061" y="20700"/>
                </a:lnTo>
                <a:lnTo>
                  <a:pt x="5626061" y="30225"/>
                </a:lnTo>
                <a:lnTo>
                  <a:pt x="5664161" y="30225"/>
                </a:lnTo>
                <a:lnTo>
                  <a:pt x="5664161" y="20700"/>
                </a:lnTo>
                <a:close/>
              </a:path>
              <a:path w="11243310" h="51435">
                <a:moveTo>
                  <a:pt x="5730836" y="20700"/>
                </a:moveTo>
                <a:lnTo>
                  <a:pt x="5692736" y="20700"/>
                </a:lnTo>
                <a:lnTo>
                  <a:pt x="5692736" y="30225"/>
                </a:lnTo>
                <a:lnTo>
                  <a:pt x="5730836" y="30225"/>
                </a:lnTo>
                <a:lnTo>
                  <a:pt x="5730836" y="20700"/>
                </a:lnTo>
                <a:close/>
              </a:path>
              <a:path w="11243310" h="51435">
                <a:moveTo>
                  <a:pt x="5797511" y="20700"/>
                </a:moveTo>
                <a:lnTo>
                  <a:pt x="5759411" y="20700"/>
                </a:lnTo>
                <a:lnTo>
                  <a:pt x="5759411" y="30225"/>
                </a:lnTo>
                <a:lnTo>
                  <a:pt x="5797511" y="30225"/>
                </a:lnTo>
                <a:lnTo>
                  <a:pt x="5797511" y="20700"/>
                </a:lnTo>
                <a:close/>
              </a:path>
              <a:path w="11243310" h="51435">
                <a:moveTo>
                  <a:pt x="5864186" y="20700"/>
                </a:moveTo>
                <a:lnTo>
                  <a:pt x="5826086" y="20700"/>
                </a:lnTo>
                <a:lnTo>
                  <a:pt x="5826086" y="30225"/>
                </a:lnTo>
                <a:lnTo>
                  <a:pt x="5864186" y="30225"/>
                </a:lnTo>
                <a:lnTo>
                  <a:pt x="5864186" y="20700"/>
                </a:lnTo>
                <a:close/>
              </a:path>
              <a:path w="11243310" h="51435">
                <a:moveTo>
                  <a:pt x="5930861" y="20700"/>
                </a:moveTo>
                <a:lnTo>
                  <a:pt x="5892761" y="20700"/>
                </a:lnTo>
                <a:lnTo>
                  <a:pt x="5892761" y="30225"/>
                </a:lnTo>
                <a:lnTo>
                  <a:pt x="5930861" y="30225"/>
                </a:lnTo>
                <a:lnTo>
                  <a:pt x="5930861" y="20700"/>
                </a:lnTo>
                <a:close/>
              </a:path>
              <a:path w="11243310" h="51435">
                <a:moveTo>
                  <a:pt x="5997536" y="20700"/>
                </a:moveTo>
                <a:lnTo>
                  <a:pt x="5959436" y="20700"/>
                </a:lnTo>
                <a:lnTo>
                  <a:pt x="5959436" y="30225"/>
                </a:lnTo>
                <a:lnTo>
                  <a:pt x="5997536" y="30225"/>
                </a:lnTo>
                <a:lnTo>
                  <a:pt x="5997536" y="20700"/>
                </a:lnTo>
                <a:close/>
              </a:path>
              <a:path w="11243310" h="51435">
                <a:moveTo>
                  <a:pt x="6064211" y="20700"/>
                </a:moveTo>
                <a:lnTo>
                  <a:pt x="6026111" y="20700"/>
                </a:lnTo>
                <a:lnTo>
                  <a:pt x="6026111" y="30225"/>
                </a:lnTo>
                <a:lnTo>
                  <a:pt x="6064211" y="30225"/>
                </a:lnTo>
                <a:lnTo>
                  <a:pt x="6064211" y="20700"/>
                </a:lnTo>
                <a:close/>
              </a:path>
              <a:path w="11243310" h="51435">
                <a:moveTo>
                  <a:pt x="6130886" y="20700"/>
                </a:moveTo>
                <a:lnTo>
                  <a:pt x="6092786" y="20700"/>
                </a:lnTo>
                <a:lnTo>
                  <a:pt x="6092786" y="30225"/>
                </a:lnTo>
                <a:lnTo>
                  <a:pt x="6130886" y="30225"/>
                </a:lnTo>
                <a:lnTo>
                  <a:pt x="6130886" y="20700"/>
                </a:lnTo>
                <a:close/>
              </a:path>
              <a:path w="11243310" h="51435">
                <a:moveTo>
                  <a:pt x="6197561" y="20700"/>
                </a:moveTo>
                <a:lnTo>
                  <a:pt x="6159461" y="20700"/>
                </a:lnTo>
                <a:lnTo>
                  <a:pt x="6159461" y="30225"/>
                </a:lnTo>
                <a:lnTo>
                  <a:pt x="6197561" y="30225"/>
                </a:lnTo>
                <a:lnTo>
                  <a:pt x="6197561" y="20700"/>
                </a:lnTo>
                <a:close/>
              </a:path>
              <a:path w="11243310" h="51435">
                <a:moveTo>
                  <a:pt x="6264236" y="20700"/>
                </a:moveTo>
                <a:lnTo>
                  <a:pt x="6226136" y="20700"/>
                </a:lnTo>
                <a:lnTo>
                  <a:pt x="6226136" y="30225"/>
                </a:lnTo>
                <a:lnTo>
                  <a:pt x="6264236" y="30225"/>
                </a:lnTo>
                <a:lnTo>
                  <a:pt x="6264236" y="20700"/>
                </a:lnTo>
                <a:close/>
              </a:path>
              <a:path w="11243310" h="51435">
                <a:moveTo>
                  <a:pt x="6330911" y="20700"/>
                </a:moveTo>
                <a:lnTo>
                  <a:pt x="6292811" y="20700"/>
                </a:lnTo>
                <a:lnTo>
                  <a:pt x="6292811" y="30225"/>
                </a:lnTo>
                <a:lnTo>
                  <a:pt x="6330911" y="30225"/>
                </a:lnTo>
                <a:lnTo>
                  <a:pt x="6330911" y="20700"/>
                </a:lnTo>
                <a:close/>
              </a:path>
              <a:path w="11243310" h="51435">
                <a:moveTo>
                  <a:pt x="6397586" y="20700"/>
                </a:moveTo>
                <a:lnTo>
                  <a:pt x="6359486" y="20700"/>
                </a:lnTo>
                <a:lnTo>
                  <a:pt x="6359486" y="30225"/>
                </a:lnTo>
                <a:lnTo>
                  <a:pt x="6397586" y="30225"/>
                </a:lnTo>
                <a:lnTo>
                  <a:pt x="6397586" y="20700"/>
                </a:lnTo>
                <a:close/>
              </a:path>
              <a:path w="11243310" h="51435">
                <a:moveTo>
                  <a:pt x="6464261" y="20700"/>
                </a:moveTo>
                <a:lnTo>
                  <a:pt x="6426161" y="20700"/>
                </a:lnTo>
                <a:lnTo>
                  <a:pt x="6426161" y="30225"/>
                </a:lnTo>
                <a:lnTo>
                  <a:pt x="6464261" y="30225"/>
                </a:lnTo>
                <a:lnTo>
                  <a:pt x="6464261" y="20700"/>
                </a:lnTo>
                <a:close/>
              </a:path>
              <a:path w="11243310" h="51435">
                <a:moveTo>
                  <a:pt x="6530936" y="20700"/>
                </a:moveTo>
                <a:lnTo>
                  <a:pt x="6492836" y="20700"/>
                </a:lnTo>
                <a:lnTo>
                  <a:pt x="6492836" y="30225"/>
                </a:lnTo>
                <a:lnTo>
                  <a:pt x="6530936" y="30225"/>
                </a:lnTo>
                <a:lnTo>
                  <a:pt x="6530936" y="20700"/>
                </a:lnTo>
                <a:close/>
              </a:path>
              <a:path w="11243310" h="51435">
                <a:moveTo>
                  <a:pt x="6597611" y="20700"/>
                </a:moveTo>
                <a:lnTo>
                  <a:pt x="6559511" y="20700"/>
                </a:lnTo>
                <a:lnTo>
                  <a:pt x="6559511" y="30225"/>
                </a:lnTo>
                <a:lnTo>
                  <a:pt x="6597611" y="30225"/>
                </a:lnTo>
                <a:lnTo>
                  <a:pt x="6597611" y="20700"/>
                </a:lnTo>
                <a:close/>
              </a:path>
              <a:path w="11243310" h="51435">
                <a:moveTo>
                  <a:pt x="6664286" y="20700"/>
                </a:moveTo>
                <a:lnTo>
                  <a:pt x="6626186" y="20700"/>
                </a:lnTo>
                <a:lnTo>
                  <a:pt x="6626186" y="30225"/>
                </a:lnTo>
                <a:lnTo>
                  <a:pt x="6664286" y="30225"/>
                </a:lnTo>
                <a:lnTo>
                  <a:pt x="6664286" y="20700"/>
                </a:lnTo>
                <a:close/>
              </a:path>
              <a:path w="11243310" h="51435">
                <a:moveTo>
                  <a:pt x="6730961" y="20700"/>
                </a:moveTo>
                <a:lnTo>
                  <a:pt x="6692861" y="20700"/>
                </a:lnTo>
                <a:lnTo>
                  <a:pt x="6692861" y="30225"/>
                </a:lnTo>
                <a:lnTo>
                  <a:pt x="6730961" y="30225"/>
                </a:lnTo>
                <a:lnTo>
                  <a:pt x="6730961" y="20700"/>
                </a:lnTo>
                <a:close/>
              </a:path>
              <a:path w="11243310" h="51435">
                <a:moveTo>
                  <a:pt x="6797636" y="20700"/>
                </a:moveTo>
                <a:lnTo>
                  <a:pt x="6759536" y="20700"/>
                </a:lnTo>
                <a:lnTo>
                  <a:pt x="6759536" y="30225"/>
                </a:lnTo>
                <a:lnTo>
                  <a:pt x="6797636" y="30225"/>
                </a:lnTo>
                <a:lnTo>
                  <a:pt x="6797636" y="20700"/>
                </a:lnTo>
                <a:close/>
              </a:path>
              <a:path w="11243310" h="51435">
                <a:moveTo>
                  <a:pt x="6864311" y="20700"/>
                </a:moveTo>
                <a:lnTo>
                  <a:pt x="6826211" y="20700"/>
                </a:lnTo>
                <a:lnTo>
                  <a:pt x="6826211" y="30225"/>
                </a:lnTo>
                <a:lnTo>
                  <a:pt x="6864311" y="30225"/>
                </a:lnTo>
                <a:lnTo>
                  <a:pt x="6864311" y="20700"/>
                </a:lnTo>
                <a:close/>
              </a:path>
              <a:path w="11243310" h="51435">
                <a:moveTo>
                  <a:pt x="6930986" y="20700"/>
                </a:moveTo>
                <a:lnTo>
                  <a:pt x="6892886" y="20700"/>
                </a:lnTo>
                <a:lnTo>
                  <a:pt x="6892886" y="30225"/>
                </a:lnTo>
                <a:lnTo>
                  <a:pt x="6930986" y="30225"/>
                </a:lnTo>
                <a:lnTo>
                  <a:pt x="6930986" y="20700"/>
                </a:lnTo>
                <a:close/>
              </a:path>
              <a:path w="11243310" h="51435">
                <a:moveTo>
                  <a:pt x="6997661" y="20700"/>
                </a:moveTo>
                <a:lnTo>
                  <a:pt x="6959561" y="20700"/>
                </a:lnTo>
                <a:lnTo>
                  <a:pt x="6959561" y="30225"/>
                </a:lnTo>
                <a:lnTo>
                  <a:pt x="6997661" y="30225"/>
                </a:lnTo>
                <a:lnTo>
                  <a:pt x="6997661" y="20700"/>
                </a:lnTo>
                <a:close/>
              </a:path>
              <a:path w="11243310" h="51435">
                <a:moveTo>
                  <a:pt x="7064336" y="20700"/>
                </a:moveTo>
                <a:lnTo>
                  <a:pt x="7026236" y="20700"/>
                </a:lnTo>
                <a:lnTo>
                  <a:pt x="7026236" y="30225"/>
                </a:lnTo>
                <a:lnTo>
                  <a:pt x="7064336" y="30225"/>
                </a:lnTo>
                <a:lnTo>
                  <a:pt x="7064336" y="20700"/>
                </a:lnTo>
                <a:close/>
              </a:path>
              <a:path w="11243310" h="51435">
                <a:moveTo>
                  <a:pt x="7131011" y="20700"/>
                </a:moveTo>
                <a:lnTo>
                  <a:pt x="7092911" y="20700"/>
                </a:lnTo>
                <a:lnTo>
                  <a:pt x="7092911" y="30225"/>
                </a:lnTo>
                <a:lnTo>
                  <a:pt x="7131011" y="30225"/>
                </a:lnTo>
                <a:lnTo>
                  <a:pt x="7131011" y="20700"/>
                </a:lnTo>
                <a:close/>
              </a:path>
              <a:path w="11243310" h="51435">
                <a:moveTo>
                  <a:pt x="7197686" y="20700"/>
                </a:moveTo>
                <a:lnTo>
                  <a:pt x="7159586" y="20700"/>
                </a:lnTo>
                <a:lnTo>
                  <a:pt x="7159586" y="30225"/>
                </a:lnTo>
                <a:lnTo>
                  <a:pt x="7197686" y="30225"/>
                </a:lnTo>
                <a:lnTo>
                  <a:pt x="7197686" y="20700"/>
                </a:lnTo>
                <a:close/>
              </a:path>
              <a:path w="11243310" h="51435">
                <a:moveTo>
                  <a:pt x="7264361" y="20700"/>
                </a:moveTo>
                <a:lnTo>
                  <a:pt x="7226261" y="20700"/>
                </a:lnTo>
                <a:lnTo>
                  <a:pt x="7226261" y="30225"/>
                </a:lnTo>
                <a:lnTo>
                  <a:pt x="7264361" y="30225"/>
                </a:lnTo>
                <a:lnTo>
                  <a:pt x="7264361" y="20700"/>
                </a:lnTo>
                <a:close/>
              </a:path>
              <a:path w="11243310" h="51435">
                <a:moveTo>
                  <a:pt x="7331036" y="20700"/>
                </a:moveTo>
                <a:lnTo>
                  <a:pt x="7292936" y="20700"/>
                </a:lnTo>
                <a:lnTo>
                  <a:pt x="7292936" y="30225"/>
                </a:lnTo>
                <a:lnTo>
                  <a:pt x="7331036" y="30225"/>
                </a:lnTo>
                <a:lnTo>
                  <a:pt x="7331036" y="20700"/>
                </a:lnTo>
                <a:close/>
              </a:path>
              <a:path w="11243310" h="51435">
                <a:moveTo>
                  <a:pt x="7397711" y="20700"/>
                </a:moveTo>
                <a:lnTo>
                  <a:pt x="7359611" y="20700"/>
                </a:lnTo>
                <a:lnTo>
                  <a:pt x="7359611" y="30225"/>
                </a:lnTo>
                <a:lnTo>
                  <a:pt x="7397711" y="30225"/>
                </a:lnTo>
                <a:lnTo>
                  <a:pt x="7397711" y="20700"/>
                </a:lnTo>
                <a:close/>
              </a:path>
              <a:path w="11243310" h="51435">
                <a:moveTo>
                  <a:pt x="7464386" y="20700"/>
                </a:moveTo>
                <a:lnTo>
                  <a:pt x="7426286" y="20700"/>
                </a:lnTo>
                <a:lnTo>
                  <a:pt x="7426286" y="30225"/>
                </a:lnTo>
                <a:lnTo>
                  <a:pt x="7464386" y="30225"/>
                </a:lnTo>
                <a:lnTo>
                  <a:pt x="7464386" y="20700"/>
                </a:lnTo>
                <a:close/>
              </a:path>
              <a:path w="11243310" h="51435">
                <a:moveTo>
                  <a:pt x="7531061" y="20700"/>
                </a:moveTo>
                <a:lnTo>
                  <a:pt x="7492961" y="20700"/>
                </a:lnTo>
                <a:lnTo>
                  <a:pt x="7492961" y="30225"/>
                </a:lnTo>
                <a:lnTo>
                  <a:pt x="7531061" y="30225"/>
                </a:lnTo>
                <a:lnTo>
                  <a:pt x="7531061" y="20700"/>
                </a:lnTo>
                <a:close/>
              </a:path>
              <a:path w="11243310" h="51435">
                <a:moveTo>
                  <a:pt x="7597736" y="20700"/>
                </a:moveTo>
                <a:lnTo>
                  <a:pt x="7559636" y="20700"/>
                </a:lnTo>
                <a:lnTo>
                  <a:pt x="7559636" y="30225"/>
                </a:lnTo>
                <a:lnTo>
                  <a:pt x="7597736" y="30225"/>
                </a:lnTo>
                <a:lnTo>
                  <a:pt x="7597736" y="20700"/>
                </a:lnTo>
                <a:close/>
              </a:path>
              <a:path w="11243310" h="51435">
                <a:moveTo>
                  <a:pt x="7664411" y="20700"/>
                </a:moveTo>
                <a:lnTo>
                  <a:pt x="7626311" y="20700"/>
                </a:lnTo>
                <a:lnTo>
                  <a:pt x="7626311" y="30225"/>
                </a:lnTo>
                <a:lnTo>
                  <a:pt x="7664411" y="30225"/>
                </a:lnTo>
                <a:lnTo>
                  <a:pt x="7664411" y="20700"/>
                </a:lnTo>
                <a:close/>
              </a:path>
              <a:path w="11243310" h="51435">
                <a:moveTo>
                  <a:pt x="7731086" y="20700"/>
                </a:moveTo>
                <a:lnTo>
                  <a:pt x="7692986" y="20700"/>
                </a:lnTo>
                <a:lnTo>
                  <a:pt x="7692986" y="30225"/>
                </a:lnTo>
                <a:lnTo>
                  <a:pt x="7731086" y="30225"/>
                </a:lnTo>
                <a:lnTo>
                  <a:pt x="7731086" y="20700"/>
                </a:lnTo>
                <a:close/>
              </a:path>
              <a:path w="11243310" h="51435">
                <a:moveTo>
                  <a:pt x="7797761" y="20700"/>
                </a:moveTo>
                <a:lnTo>
                  <a:pt x="7759661" y="20700"/>
                </a:lnTo>
                <a:lnTo>
                  <a:pt x="7759661" y="30225"/>
                </a:lnTo>
                <a:lnTo>
                  <a:pt x="7797761" y="30225"/>
                </a:lnTo>
                <a:lnTo>
                  <a:pt x="7797761" y="20700"/>
                </a:lnTo>
                <a:close/>
              </a:path>
              <a:path w="11243310" h="51435">
                <a:moveTo>
                  <a:pt x="7864436" y="20700"/>
                </a:moveTo>
                <a:lnTo>
                  <a:pt x="7826336" y="20700"/>
                </a:lnTo>
                <a:lnTo>
                  <a:pt x="7826336" y="30225"/>
                </a:lnTo>
                <a:lnTo>
                  <a:pt x="7864436" y="30225"/>
                </a:lnTo>
                <a:lnTo>
                  <a:pt x="7864436" y="20700"/>
                </a:lnTo>
                <a:close/>
              </a:path>
              <a:path w="11243310" h="51435">
                <a:moveTo>
                  <a:pt x="7931111" y="20700"/>
                </a:moveTo>
                <a:lnTo>
                  <a:pt x="7893011" y="20700"/>
                </a:lnTo>
                <a:lnTo>
                  <a:pt x="7893011" y="30225"/>
                </a:lnTo>
                <a:lnTo>
                  <a:pt x="7931111" y="30225"/>
                </a:lnTo>
                <a:lnTo>
                  <a:pt x="7931111" y="20700"/>
                </a:lnTo>
                <a:close/>
              </a:path>
              <a:path w="11243310" h="51435">
                <a:moveTo>
                  <a:pt x="7997786" y="20700"/>
                </a:moveTo>
                <a:lnTo>
                  <a:pt x="7959686" y="20700"/>
                </a:lnTo>
                <a:lnTo>
                  <a:pt x="7959686" y="30225"/>
                </a:lnTo>
                <a:lnTo>
                  <a:pt x="7997786" y="30225"/>
                </a:lnTo>
                <a:lnTo>
                  <a:pt x="7997786" y="20700"/>
                </a:lnTo>
                <a:close/>
              </a:path>
              <a:path w="11243310" h="51435">
                <a:moveTo>
                  <a:pt x="8064461" y="20700"/>
                </a:moveTo>
                <a:lnTo>
                  <a:pt x="8026361" y="20700"/>
                </a:lnTo>
                <a:lnTo>
                  <a:pt x="8026361" y="30225"/>
                </a:lnTo>
                <a:lnTo>
                  <a:pt x="8064461" y="30225"/>
                </a:lnTo>
                <a:lnTo>
                  <a:pt x="8064461" y="20700"/>
                </a:lnTo>
                <a:close/>
              </a:path>
              <a:path w="11243310" h="51435">
                <a:moveTo>
                  <a:pt x="8131136" y="20700"/>
                </a:moveTo>
                <a:lnTo>
                  <a:pt x="8093036" y="20700"/>
                </a:lnTo>
                <a:lnTo>
                  <a:pt x="8093036" y="30225"/>
                </a:lnTo>
                <a:lnTo>
                  <a:pt x="8131136" y="30225"/>
                </a:lnTo>
                <a:lnTo>
                  <a:pt x="8131136" y="20700"/>
                </a:lnTo>
                <a:close/>
              </a:path>
              <a:path w="11243310" h="51435">
                <a:moveTo>
                  <a:pt x="8197811" y="20700"/>
                </a:moveTo>
                <a:lnTo>
                  <a:pt x="8159711" y="20700"/>
                </a:lnTo>
                <a:lnTo>
                  <a:pt x="8159711" y="30225"/>
                </a:lnTo>
                <a:lnTo>
                  <a:pt x="8197811" y="30225"/>
                </a:lnTo>
                <a:lnTo>
                  <a:pt x="8197811" y="20700"/>
                </a:lnTo>
                <a:close/>
              </a:path>
              <a:path w="11243310" h="51435">
                <a:moveTo>
                  <a:pt x="8264486" y="20700"/>
                </a:moveTo>
                <a:lnTo>
                  <a:pt x="8226386" y="20700"/>
                </a:lnTo>
                <a:lnTo>
                  <a:pt x="8226386" y="30225"/>
                </a:lnTo>
                <a:lnTo>
                  <a:pt x="8264486" y="30225"/>
                </a:lnTo>
                <a:lnTo>
                  <a:pt x="8264486" y="20700"/>
                </a:lnTo>
                <a:close/>
              </a:path>
              <a:path w="11243310" h="51435">
                <a:moveTo>
                  <a:pt x="8331161" y="20700"/>
                </a:moveTo>
                <a:lnTo>
                  <a:pt x="8293061" y="20700"/>
                </a:lnTo>
                <a:lnTo>
                  <a:pt x="8293061" y="30225"/>
                </a:lnTo>
                <a:lnTo>
                  <a:pt x="8331161" y="30225"/>
                </a:lnTo>
                <a:lnTo>
                  <a:pt x="8331161" y="20700"/>
                </a:lnTo>
                <a:close/>
              </a:path>
              <a:path w="11243310" h="51435">
                <a:moveTo>
                  <a:pt x="8397836" y="20700"/>
                </a:moveTo>
                <a:lnTo>
                  <a:pt x="8359736" y="20700"/>
                </a:lnTo>
                <a:lnTo>
                  <a:pt x="8359736" y="30225"/>
                </a:lnTo>
                <a:lnTo>
                  <a:pt x="8397836" y="30225"/>
                </a:lnTo>
                <a:lnTo>
                  <a:pt x="8397836" y="20700"/>
                </a:lnTo>
                <a:close/>
              </a:path>
              <a:path w="11243310" h="51435">
                <a:moveTo>
                  <a:pt x="8464511" y="20700"/>
                </a:moveTo>
                <a:lnTo>
                  <a:pt x="8426411" y="20700"/>
                </a:lnTo>
                <a:lnTo>
                  <a:pt x="8426411" y="30225"/>
                </a:lnTo>
                <a:lnTo>
                  <a:pt x="8464511" y="30225"/>
                </a:lnTo>
                <a:lnTo>
                  <a:pt x="8464511" y="20700"/>
                </a:lnTo>
                <a:close/>
              </a:path>
              <a:path w="11243310" h="51435">
                <a:moveTo>
                  <a:pt x="8531186" y="20700"/>
                </a:moveTo>
                <a:lnTo>
                  <a:pt x="8493086" y="20700"/>
                </a:lnTo>
                <a:lnTo>
                  <a:pt x="8493086" y="30225"/>
                </a:lnTo>
                <a:lnTo>
                  <a:pt x="8531186" y="30225"/>
                </a:lnTo>
                <a:lnTo>
                  <a:pt x="8531186" y="20700"/>
                </a:lnTo>
                <a:close/>
              </a:path>
              <a:path w="11243310" h="51435">
                <a:moveTo>
                  <a:pt x="8597861" y="20700"/>
                </a:moveTo>
                <a:lnTo>
                  <a:pt x="8559761" y="20700"/>
                </a:lnTo>
                <a:lnTo>
                  <a:pt x="8559761" y="30225"/>
                </a:lnTo>
                <a:lnTo>
                  <a:pt x="8597861" y="30225"/>
                </a:lnTo>
                <a:lnTo>
                  <a:pt x="8597861" y="20700"/>
                </a:lnTo>
                <a:close/>
              </a:path>
              <a:path w="11243310" h="51435">
                <a:moveTo>
                  <a:pt x="8664536" y="20700"/>
                </a:moveTo>
                <a:lnTo>
                  <a:pt x="8626436" y="20700"/>
                </a:lnTo>
                <a:lnTo>
                  <a:pt x="8626436" y="30225"/>
                </a:lnTo>
                <a:lnTo>
                  <a:pt x="8664536" y="30225"/>
                </a:lnTo>
                <a:lnTo>
                  <a:pt x="8664536" y="20700"/>
                </a:lnTo>
                <a:close/>
              </a:path>
              <a:path w="11243310" h="51435">
                <a:moveTo>
                  <a:pt x="8731211" y="20700"/>
                </a:moveTo>
                <a:lnTo>
                  <a:pt x="8693111" y="20700"/>
                </a:lnTo>
                <a:lnTo>
                  <a:pt x="8693111" y="30225"/>
                </a:lnTo>
                <a:lnTo>
                  <a:pt x="8731211" y="30225"/>
                </a:lnTo>
                <a:lnTo>
                  <a:pt x="8731211" y="20700"/>
                </a:lnTo>
                <a:close/>
              </a:path>
              <a:path w="11243310" h="51435">
                <a:moveTo>
                  <a:pt x="8797886" y="20700"/>
                </a:moveTo>
                <a:lnTo>
                  <a:pt x="8759786" y="20700"/>
                </a:lnTo>
                <a:lnTo>
                  <a:pt x="8759786" y="30225"/>
                </a:lnTo>
                <a:lnTo>
                  <a:pt x="8797886" y="30225"/>
                </a:lnTo>
                <a:lnTo>
                  <a:pt x="8797886" y="20700"/>
                </a:lnTo>
                <a:close/>
              </a:path>
              <a:path w="11243310" h="51435">
                <a:moveTo>
                  <a:pt x="8864561" y="20700"/>
                </a:moveTo>
                <a:lnTo>
                  <a:pt x="8826461" y="20700"/>
                </a:lnTo>
                <a:lnTo>
                  <a:pt x="8826461" y="30225"/>
                </a:lnTo>
                <a:lnTo>
                  <a:pt x="8864561" y="30225"/>
                </a:lnTo>
                <a:lnTo>
                  <a:pt x="8864561" y="20700"/>
                </a:lnTo>
                <a:close/>
              </a:path>
              <a:path w="11243310" h="51435">
                <a:moveTo>
                  <a:pt x="8931236" y="20700"/>
                </a:moveTo>
                <a:lnTo>
                  <a:pt x="8893136" y="20700"/>
                </a:lnTo>
                <a:lnTo>
                  <a:pt x="8893136" y="30225"/>
                </a:lnTo>
                <a:lnTo>
                  <a:pt x="8931236" y="30225"/>
                </a:lnTo>
                <a:lnTo>
                  <a:pt x="8931236" y="20700"/>
                </a:lnTo>
                <a:close/>
              </a:path>
              <a:path w="11243310" h="51435">
                <a:moveTo>
                  <a:pt x="8997911" y="20700"/>
                </a:moveTo>
                <a:lnTo>
                  <a:pt x="8959811" y="20700"/>
                </a:lnTo>
                <a:lnTo>
                  <a:pt x="8959811" y="30225"/>
                </a:lnTo>
                <a:lnTo>
                  <a:pt x="8997911" y="30225"/>
                </a:lnTo>
                <a:lnTo>
                  <a:pt x="8997911" y="20700"/>
                </a:lnTo>
                <a:close/>
              </a:path>
              <a:path w="11243310" h="51435">
                <a:moveTo>
                  <a:pt x="9064586" y="20700"/>
                </a:moveTo>
                <a:lnTo>
                  <a:pt x="9026486" y="20700"/>
                </a:lnTo>
                <a:lnTo>
                  <a:pt x="9026486" y="30225"/>
                </a:lnTo>
                <a:lnTo>
                  <a:pt x="9064586" y="30225"/>
                </a:lnTo>
                <a:lnTo>
                  <a:pt x="9064586" y="20700"/>
                </a:lnTo>
                <a:close/>
              </a:path>
              <a:path w="11243310" h="51435">
                <a:moveTo>
                  <a:pt x="9131261" y="20700"/>
                </a:moveTo>
                <a:lnTo>
                  <a:pt x="9093161" y="20700"/>
                </a:lnTo>
                <a:lnTo>
                  <a:pt x="9093161" y="30225"/>
                </a:lnTo>
                <a:lnTo>
                  <a:pt x="9131261" y="30225"/>
                </a:lnTo>
                <a:lnTo>
                  <a:pt x="9131261" y="20700"/>
                </a:lnTo>
                <a:close/>
              </a:path>
              <a:path w="11243310" h="51435">
                <a:moveTo>
                  <a:pt x="9197936" y="20700"/>
                </a:moveTo>
                <a:lnTo>
                  <a:pt x="9159836" y="20700"/>
                </a:lnTo>
                <a:lnTo>
                  <a:pt x="9159836" y="30225"/>
                </a:lnTo>
                <a:lnTo>
                  <a:pt x="9197936" y="30225"/>
                </a:lnTo>
                <a:lnTo>
                  <a:pt x="9197936" y="20700"/>
                </a:lnTo>
                <a:close/>
              </a:path>
              <a:path w="11243310" h="51435">
                <a:moveTo>
                  <a:pt x="9264611" y="20700"/>
                </a:moveTo>
                <a:lnTo>
                  <a:pt x="9226511" y="20700"/>
                </a:lnTo>
                <a:lnTo>
                  <a:pt x="9226511" y="30225"/>
                </a:lnTo>
                <a:lnTo>
                  <a:pt x="9264611" y="30225"/>
                </a:lnTo>
                <a:lnTo>
                  <a:pt x="9264611" y="20700"/>
                </a:lnTo>
                <a:close/>
              </a:path>
              <a:path w="11243310" h="51435">
                <a:moveTo>
                  <a:pt x="9331286" y="20700"/>
                </a:moveTo>
                <a:lnTo>
                  <a:pt x="9293186" y="20700"/>
                </a:lnTo>
                <a:lnTo>
                  <a:pt x="9293186" y="30225"/>
                </a:lnTo>
                <a:lnTo>
                  <a:pt x="9331286" y="30225"/>
                </a:lnTo>
                <a:lnTo>
                  <a:pt x="9331286" y="20700"/>
                </a:lnTo>
                <a:close/>
              </a:path>
              <a:path w="11243310" h="51435">
                <a:moveTo>
                  <a:pt x="9397961" y="20700"/>
                </a:moveTo>
                <a:lnTo>
                  <a:pt x="9359861" y="20700"/>
                </a:lnTo>
                <a:lnTo>
                  <a:pt x="9359861" y="30225"/>
                </a:lnTo>
                <a:lnTo>
                  <a:pt x="9397961" y="30225"/>
                </a:lnTo>
                <a:lnTo>
                  <a:pt x="9397961" y="20700"/>
                </a:lnTo>
                <a:close/>
              </a:path>
              <a:path w="11243310" h="51435">
                <a:moveTo>
                  <a:pt x="9464636" y="20700"/>
                </a:moveTo>
                <a:lnTo>
                  <a:pt x="9426536" y="20700"/>
                </a:lnTo>
                <a:lnTo>
                  <a:pt x="9426536" y="30225"/>
                </a:lnTo>
                <a:lnTo>
                  <a:pt x="9464636" y="30225"/>
                </a:lnTo>
                <a:lnTo>
                  <a:pt x="9464636" y="20700"/>
                </a:lnTo>
                <a:close/>
              </a:path>
              <a:path w="11243310" h="51435">
                <a:moveTo>
                  <a:pt x="9531311" y="20700"/>
                </a:moveTo>
                <a:lnTo>
                  <a:pt x="9493211" y="20700"/>
                </a:lnTo>
                <a:lnTo>
                  <a:pt x="9493211" y="30225"/>
                </a:lnTo>
                <a:lnTo>
                  <a:pt x="9531311" y="30225"/>
                </a:lnTo>
                <a:lnTo>
                  <a:pt x="9531311" y="20700"/>
                </a:lnTo>
                <a:close/>
              </a:path>
              <a:path w="11243310" h="51435">
                <a:moveTo>
                  <a:pt x="9597986" y="20700"/>
                </a:moveTo>
                <a:lnTo>
                  <a:pt x="9559886" y="20700"/>
                </a:lnTo>
                <a:lnTo>
                  <a:pt x="9559886" y="30225"/>
                </a:lnTo>
                <a:lnTo>
                  <a:pt x="9597986" y="30225"/>
                </a:lnTo>
                <a:lnTo>
                  <a:pt x="9597986" y="20700"/>
                </a:lnTo>
                <a:close/>
              </a:path>
              <a:path w="11243310" h="51435">
                <a:moveTo>
                  <a:pt x="9664661" y="20700"/>
                </a:moveTo>
                <a:lnTo>
                  <a:pt x="9626561" y="20700"/>
                </a:lnTo>
                <a:lnTo>
                  <a:pt x="9626561" y="30225"/>
                </a:lnTo>
                <a:lnTo>
                  <a:pt x="9664661" y="30225"/>
                </a:lnTo>
                <a:lnTo>
                  <a:pt x="9664661" y="20700"/>
                </a:lnTo>
                <a:close/>
              </a:path>
              <a:path w="11243310" h="51435">
                <a:moveTo>
                  <a:pt x="9731336" y="20700"/>
                </a:moveTo>
                <a:lnTo>
                  <a:pt x="9693236" y="20700"/>
                </a:lnTo>
                <a:lnTo>
                  <a:pt x="9693236" y="30225"/>
                </a:lnTo>
                <a:lnTo>
                  <a:pt x="9731336" y="30225"/>
                </a:lnTo>
                <a:lnTo>
                  <a:pt x="9731336" y="20700"/>
                </a:lnTo>
                <a:close/>
              </a:path>
              <a:path w="11243310" h="51435">
                <a:moveTo>
                  <a:pt x="9798011" y="20700"/>
                </a:moveTo>
                <a:lnTo>
                  <a:pt x="9759911" y="20700"/>
                </a:lnTo>
                <a:lnTo>
                  <a:pt x="9759911" y="30225"/>
                </a:lnTo>
                <a:lnTo>
                  <a:pt x="9798011" y="30225"/>
                </a:lnTo>
                <a:lnTo>
                  <a:pt x="9798011" y="20700"/>
                </a:lnTo>
                <a:close/>
              </a:path>
              <a:path w="11243310" h="51435">
                <a:moveTo>
                  <a:pt x="9864686" y="20700"/>
                </a:moveTo>
                <a:lnTo>
                  <a:pt x="9826586" y="20700"/>
                </a:lnTo>
                <a:lnTo>
                  <a:pt x="9826586" y="30225"/>
                </a:lnTo>
                <a:lnTo>
                  <a:pt x="9864686" y="30225"/>
                </a:lnTo>
                <a:lnTo>
                  <a:pt x="9864686" y="20700"/>
                </a:lnTo>
                <a:close/>
              </a:path>
              <a:path w="11243310" h="51435">
                <a:moveTo>
                  <a:pt x="9931361" y="20700"/>
                </a:moveTo>
                <a:lnTo>
                  <a:pt x="9893261" y="20700"/>
                </a:lnTo>
                <a:lnTo>
                  <a:pt x="9893261" y="30225"/>
                </a:lnTo>
                <a:lnTo>
                  <a:pt x="9931361" y="30225"/>
                </a:lnTo>
                <a:lnTo>
                  <a:pt x="9931361" y="20700"/>
                </a:lnTo>
                <a:close/>
              </a:path>
              <a:path w="11243310" h="51435">
                <a:moveTo>
                  <a:pt x="9998036" y="20700"/>
                </a:moveTo>
                <a:lnTo>
                  <a:pt x="9959936" y="20700"/>
                </a:lnTo>
                <a:lnTo>
                  <a:pt x="9959936" y="30225"/>
                </a:lnTo>
                <a:lnTo>
                  <a:pt x="9998036" y="30225"/>
                </a:lnTo>
                <a:lnTo>
                  <a:pt x="9998036" y="20700"/>
                </a:lnTo>
                <a:close/>
              </a:path>
              <a:path w="11243310" h="51435">
                <a:moveTo>
                  <a:pt x="10064711" y="20700"/>
                </a:moveTo>
                <a:lnTo>
                  <a:pt x="10026611" y="20700"/>
                </a:lnTo>
                <a:lnTo>
                  <a:pt x="10026611" y="30225"/>
                </a:lnTo>
                <a:lnTo>
                  <a:pt x="10064711" y="30225"/>
                </a:lnTo>
                <a:lnTo>
                  <a:pt x="10064711" y="20700"/>
                </a:lnTo>
                <a:close/>
              </a:path>
              <a:path w="11243310" h="51435">
                <a:moveTo>
                  <a:pt x="10131386" y="20700"/>
                </a:moveTo>
                <a:lnTo>
                  <a:pt x="10093286" y="20700"/>
                </a:lnTo>
                <a:lnTo>
                  <a:pt x="10093286" y="30225"/>
                </a:lnTo>
                <a:lnTo>
                  <a:pt x="10131386" y="30225"/>
                </a:lnTo>
                <a:lnTo>
                  <a:pt x="10131386" y="20700"/>
                </a:lnTo>
                <a:close/>
              </a:path>
              <a:path w="11243310" h="51435">
                <a:moveTo>
                  <a:pt x="10198061" y="20700"/>
                </a:moveTo>
                <a:lnTo>
                  <a:pt x="10159961" y="20700"/>
                </a:lnTo>
                <a:lnTo>
                  <a:pt x="10159961" y="30225"/>
                </a:lnTo>
                <a:lnTo>
                  <a:pt x="10198061" y="30225"/>
                </a:lnTo>
                <a:lnTo>
                  <a:pt x="10198061" y="20700"/>
                </a:lnTo>
                <a:close/>
              </a:path>
              <a:path w="11243310" h="51435">
                <a:moveTo>
                  <a:pt x="10264736" y="20700"/>
                </a:moveTo>
                <a:lnTo>
                  <a:pt x="10226636" y="20700"/>
                </a:lnTo>
                <a:lnTo>
                  <a:pt x="10226636" y="30225"/>
                </a:lnTo>
                <a:lnTo>
                  <a:pt x="10264736" y="30225"/>
                </a:lnTo>
                <a:lnTo>
                  <a:pt x="10264736" y="20700"/>
                </a:lnTo>
                <a:close/>
              </a:path>
              <a:path w="11243310" h="51435">
                <a:moveTo>
                  <a:pt x="10331411" y="20700"/>
                </a:moveTo>
                <a:lnTo>
                  <a:pt x="10293311" y="20700"/>
                </a:lnTo>
                <a:lnTo>
                  <a:pt x="10293311" y="30225"/>
                </a:lnTo>
                <a:lnTo>
                  <a:pt x="10331411" y="30225"/>
                </a:lnTo>
                <a:lnTo>
                  <a:pt x="10331411" y="20700"/>
                </a:lnTo>
                <a:close/>
              </a:path>
              <a:path w="11243310" h="51435">
                <a:moveTo>
                  <a:pt x="10398086" y="20700"/>
                </a:moveTo>
                <a:lnTo>
                  <a:pt x="10359986" y="20700"/>
                </a:lnTo>
                <a:lnTo>
                  <a:pt x="10359986" y="30225"/>
                </a:lnTo>
                <a:lnTo>
                  <a:pt x="10398086" y="30225"/>
                </a:lnTo>
                <a:lnTo>
                  <a:pt x="10398086" y="20700"/>
                </a:lnTo>
                <a:close/>
              </a:path>
              <a:path w="11243310" h="51435">
                <a:moveTo>
                  <a:pt x="10464761" y="20700"/>
                </a:moveTo>
                <a:lnTo>
                  <a:pt x="10426661" y="20700"/>
                </a:lnTo>
                <a:lnTo>
                  <a:pt x="10426661" y="30225"/>
                </a:lnTo>
                <a:lnTo>
                  <a:pt x="10464761" y="30225"/>
                </a:lnTo>
                <a:lnTo>
                  <a:pt x="10464761" y="20700"/>
                </a:lnTo>
                <a:close/>
              </a:path>
              <a:path w="11243310" h="51435">
                <a:moveTo>
                  <a:pt x="10531436" y="20700"/>
                </a:moveTo>
                <a:lnTo>
                  <a:pt x="10493336" y="20700"/>
                </a:lnTo>
                <a:lnTo>
                  <a:pt x="10493336" y="30225"/>
                </a:lnTo>
                <a:lnTo>
                  <a:pt x="10531436" y="30225"/>
                </a:lnTo>
                <a:lnTo>
                  <a:pt x="10531436" y="20700"/>
                </a:lnTo>
                <a:close/>
              </a:path>
              <a:path w="11243310" h="51435">
                <a:moveTo>
                  <a:pt x="10598111" y="20700"/>
                </a:moveTo>
                <a:lnTo>
                  <a:pt x="10560011" y="20700"/>
                </a:lnTo>
                <a:lnTo>
                  <a:pt x="10560011" y="30225"/>
                </a:lnTo>
                <a:lnTo>
                  <a:pt x="10598111" y="30225"/>
                </a:lnTo>
                <a:lnTo>
                  <a:pt x="10598111" y="20700"/>
                </a:lnTo>
                <a:close/>
              </a:path>
              <a:path w="11243310" h="51435">
                <a:moveTo>
                  <a:pt x="10664786" y="20700"/>
                </a:moveTo>
                <a:lnTo>
                  <a:pt x="10626686" y="20700"/>
                </a:lnTo>
                <a:lnTo>
                  <a:pt x="10626686" y="30225"/>
                </a:lnTo>
                <a:lnTo>
                  <a:pt x="10664786" y="30225"/>
                </a:lnTo>
                <a:lnTo>
                  <a:pt x="10664786" y="20700"/>
                </a:lnTo>
                <a:close/>
              </a:path>
              <a:path w="11243310" h="51435">
                <a:moveTo>
                  <a:pt x="10731461" y="20700"/>
                </a:moveTo>
                <a:lnTo>
                  <a:pt x="10693361" y="20700"/>
                </a:lnTo>
                <a:lnTo>
                  <a:pt x="10693361" y="30225"/>
                </a:lnTo>
                <a:lnTo>
                  <a:pt x="10731461" y="30225"/>
                </a:lnTo>
                <a:lnTo>
                  <a:pt x="10731461" y="20700"/>
                </a:lnTo>
                <a:close/>
              </a:path>
              <a:path w="11243310" h="51435">
                <a:moveTo>
                  <a:pt x="10798136" y="20700"/>
                </a:moveTo>
                <a:lnTo>
                  <a:pt x="10760036" y="20700"/>
                </a:lnTo>
                <a:lnTo>
                  <a:pt x="10760036" y="30225"/>
                </a:lnTo>
                <a:lnTo>
                  <a:pt x="10798136" y="30225"/>
                </a:lnTo>
                <a:lnTo>
                  <a:pt x="10798136" y="20700"/>
                </a:lnTo>
                <a:close/>
              </a:path>
              <a:path w="11243310" h="51435">
                <a:moveTo>
                  <a:pt x="10864811" y="20700"/>
                </a:moveTo>
                <a:lnTo>
                  <a:pt x="10826711" y="20700"/>
                </a:lnTo>
                <a:lnTo>
                  <a:pt x="10826711" y="30225"/>
                </a:lnTo>
                <a:lnTo>
                  <a:pt x="10864811" y="30225"/>
                </a:lnTo>
                <a:lnTo>
                  <a:pt x="10864811" y="20700"/>
                </a:lnTo>
                <a:close/>
              </a:path>
              <a:path w="11243310" h="51435">
                <a:moveTo>
                  <a:pt x="10931486" y="20700"/>
                </a:moveTo>
                <a:lnTo>
                  <a:pt x="10893386" y="20700"/>
                </a:lnTo>
                <a:lnTo>
                  <a:pt x="10893386" y="30225"/>
                </a:lnTo>
                <a:lnTo>
                  <a:pt x="10931486" y="30225"/>
                </a:lnTo>
                <a:lnTo>
                  <a:pt x="10931486" y="20700"/>
                </a:lnTo>
                <a:close/>
              </a:path>
              <a:path w="11243310" h="51435">
                <a:moveTo>
                  <a:pt x="10998161" y="20700"/>
                </a:moveTo>
                <a:lnTo>
                  <a:pt x="10960061" y="20700"/>
                </a:lnTo>
                <a:lnTo>
                  <a:pt x="10960061" y="30225"/>
                </a:lnTo>
                <a:lnTo>
                  <a:pt x="10998161" y="30225"/>
                </a:lnTo>
                <a:lnTo>
                  <a:pt x="10998161" y="20700"/>
                </a:lnTo>
                <a:close/>
              </a:path>
              <a:path w="11243310" h="51435">
                <a:moveTo>
                  <a:pt x="11064836" y="20700"/>
                </a:moveTo>
                <a:lnTo>
                  <a:pt x="11026736" y="20700"/>
                </a:lnTo>
                <a:lnTo>
                  <a:pt x="11026736" y="30225"/>
                </a:lnTo>
                <a:lnTo>
                  <a:pt x="11064836" y="30225"/>
                </a:lnTo>
                <a:lnTo>
                  <a:pt x="11064836" y="20700"/>
                </a:lnTo>
                <a:close/>
              </a:path>
              <a:path w="11243310" h="51435">
                <a:moveTo>
                  <a:pt x="11131511" y="20700"/>
                </a:moveTo>
                <a:lnTo>
                  <a:pt x="11093411" y="20700"/>
                </a:lnTo>
                <a:lnTo>
                  <a:pt x="11093411" y="30225"/>
                </a:lnTo>
                <a:lnTo>
                  <a:pt x="11131511" y="30225"/>
                </a:lnTo>
                <a:lnTo>
                  <a:pt x="11131511" y="20700"/>
                </a:lnTo>
                <a:close/>
              </a:path>
              <a:path w="11243310" h="51435">
                <a:moveTo>
                  <a:pt x="11217490" y="126"/>
                </a:moveTo>
                <a:lnTo>
                  <a:pt x="11207628" y="2113"/>
                </a:lnTo>
                <a:lnTo>
                  <a:pt x="11199552" y="7540"/>
                </a:lnTo>
                <a:lnTo>
                  <a:pt x="11194095" y="15611"/>
                </a:lnTo>
                <a:lnTo>
                  <a:pt x="11192090" y="25526"/>
                </a:lnTo>
                <a:lnTo>
                  <a:pt x="11194095" y="35389"/>
                </a:lnTo>
                <a:lnTo>
                  <a:pt x="11199552" y="43465"/>
                </a:lnTo>
                <a:lnTo>
                  <a:pt x="11207628" y="48922"/>
                </a:lnTo>
                <a:lnTo>
                  <a:pt x="11217490" y="50926"/>
                </a:lnTo>
                <a:lnTo>
                  <a:pt x="11227406" y="48922"/>
                </a:lnTo>
                <a:lnTo>
                  <a:pt x="11235477" y="43465"/>
                </a:lnTo>
                <a:lnTo>
                  <a:pt x="11240904" y="35389"/>
                </a:lnTo>
                <a:lnTo>
                  <a:pt x="11241944" y="30225"/>
                </a:lnTo>
                <a:lnTo>
                  <a:pt x="11198186" y="30225"/>
                </a:lnTo>
                <a:lnTo>
                  <a:pt x="11198186" y="20700"/>
                </a:lnTo>
                <a:lnTo>
                  <a:pt x="11241924" y="20700"/>
                </a:lnTo>
                <a:lnTo>
                  <a:pt x="11240904" y="15611"/>
                </a:lnTo>
                <a:lnTo>
                  <a:pt x="11235477" y="7540"/>
                </a:lnTo>
                <a:lnTo>
                  <a:pt x="11227406" y="2113"/>
                </a:lnTo>
                <a:lnTo>
                  <a:pt x="11217490" y="126"/>
                </a:lnTo>
                <a:close/>
              </a:path>
              <a:path w="11243310" h="51435">
                <a:moveTo>
                  <a:pt x="11193066" y="20700"/>
                </a:moveTo>
                <a:lnTo>
                  <a:pt x="11160086" y="20700"/>
                </a:lnTo>
                <a:lnTo>
                  <a:pt x="11160086" y="30225"/>
                </a:lnTo>
                <a:lnTo>
                  <a:pt x="11193045" y="30225"/>
                </a:lnTo>
                <a:lnTo>
                  <a:pt x="11192090" y="25526"/>
                </a:lnTo>
                <a:lnTo>
                  <a:pt x="11193066" y="20700"/>
                </a:lnTo>
                <a:close/>
              </a:path>
              <a:path w="11243310" h="51435">
                <a:moveTo>
                  <a:pt x="11241924" y="20700"/>
                </a:moveTo>
                <a:lnTo>
                  <a:pt x="11198186" y="20700"/>
                </a:lnTo>
                <a:lnTo>
                  <a:pt x="11198186" y="30225"/>
                </a:lnTo>
                <a:lnTo>
                  <a:pt x="11241944" y="30225"/>
                </a:lnTo>
                <a:lnTo>
                  <a:pt x="11242890" y="25526"/>
                </a:lnTo>
                <a:lnTo>
                  <a:pt x="11241924" y="20700"/>
                </a:lnTo>
                <a:close/>
              </a:path>
            </a:pathLst>
          </a:custGeom>
          <a:solidFill>
            <a:schemeClr val="tx2"/>
          </a:solidFill>
          <a:ln>
            <a:solidFill>
              <a:srgbClr val="EB0000"/>
            </a:solidFill>
          </a:ln>
        </p:spPr>
        <p:txBody>
          <a:bodyPr wrap="square" lIns="0" tIns="0" rIns="0" bIns="0" rtlCol="0"/>
          <a:lstStyle/>
          <a:p>
            <a:endParaRPr/>
          </a:p>
        </p:txBody>
      </p:sp>
      <p:sp>
        <p:nvSpPr>
          <p:cNvPr id="12" name="object 31">
            <a:extLst>
              <a:ext uri="{FF2B5EF4-FFF2-40B4-BE49-F238E27FC236}">
                <a16:creationId xmlns:a16="http://schemas.microsoft.com/office/drawing/2014/main" id="{63010F4A-7E85-5C7D-F567-5DCD40BD4695}"/>
              </a:ext>
            </a:extLst>
          </p:cNvPr>
          <p:cNvSpPr txBox="1"/>
          <p:nvPr/>
        </p:nvSpPr>
        <p:spPr>
          <a:xfrm>
            <a:off x="1746920" y="2202258"/>
            <a:ext cx="1784350" cy="1904432"/>
          </a:xfrm>
          <a:prstGeom prst="rect">
            <a:avLst/>
          </a:prstGeom>
        </p:spPr>
        <p:txBody>
          <a:bodyPr vert="horz" wrap="square" lIns="0" tIns="10795" rIns="0" bIns="0" rtlCol="0">
            <a:spAutoFit/>
          </a:bodyPr>
          <a:lstStyle/>
          <a:p>
            <a:pPr marL="187960" marR="180340" indent="635" algn="ctr">
              <a:lnSpc>
                <a:spcPct val="103299"/>
              </a:lnSpc>
              <a:spcBef>
                <a:spcPts val="85"/>
              </a:spcBef>
            </a:pPr>
            <a:r>
              <a:rPr lang="en-US" sz="1200" b="1" dirty="0">
                <a:solidFill>
                  <a:srgbClr val="EB0000"/>
                </a:solidFill>
                <a:latin typeface="Aptos Narrow" panose="020B0004020202020204" pitchFamily="34" charset="0"/>
                <a:cs typeface="Segoe UI"/>
              </a:rPr>
              <a:t>Alliance</a:t>
            </a:r>
            <a:r>
              <a:rPr sz="1200" spc="80" dirty="0">
                <a:latin typeface="Aptos Narrow" panose="020B0004020202020204" pitchFamily="34" charset="0"/>
                <a:cs typeface="Segoe UI"/>
              </a:rPr>
              <a:t> </a:t>
            </a:r>
            <a:r>
              <a:rPr sz="1200" spc="-10" dirty="0">
                <a:latin typeface="Aptos Narrow" panose="020B0004020202020204" pitchFamily="34" charset="0"/>
                <a:cs typeface="Segoe UI"/>
              </a:rPr>
              <a:t>nominates </a:t>
            </a:r>
            <a:r>
              <a:rPr sz="1200" dirty="0">
                <a:latin typeface="Aptos Narrow" panose="020B0004020202020204" pitchFamily="34" charset="0"/>
                <a:cs typeface="Segoe UI"/>
              </a:rPr>
              <a:t>customer</a:t>
            </a:r>
            <a:r>
              <a:rPr sz="1200" spc="70" dirty="0">
                <a:latin typeface="Aptos Narrow" panose="020B0004020202020204" pitchFamily="34" charset="0"/>
                <a:cs typeface="Segoe UI"/>
              </a:rPr>
              <a:t> </a:t>
            </a:r>
            <a:r>
              <a:rPr sz="1200" dirty="0">
                <a:latin typeface="Aptos Narrow" panose="020B0004020202020204" pitchFamily="34" charset="0"/>
                <a:cs typeface="Segoe UI"/>
              </a:rPr>
              <a:t>after</a:t>
            </a:r>
            <a:r>
              <a:rPr sz="1200" spc="90" dirty="0">
                <a:latin typeface="Aptos Narrow" panose="020B0004020202020204" pitchFamily="34" charset="0"/>
                <a:cs typeface="Segoe UI"/>
              </a:rPr>
              <a:t> </a:t>
            </a:r>
            <a:r>
              <a:rPr sz="1200" spc="-20" dirty="0">
                <a:latin typeface="Aptos Narrow" panose="020B0004020202020204" pitchFamily="34" charset="0"/>
                <a:cs typeface="Segoe UI"/>
              </a:rPr>
              <a:t>there</a:t>
            </a:r>
            <a:endParaRPr sz="1200" dirty="0">
              <a:latin typeface="Aptos Narrow" panose="020B0004020202020204" pitchFamily="34" charset="0"/>
              <a:cs typeface="Segoe UI"/>
            </a:endParaRPr>
          </a:p>
          <a:p>
            <a:pPr algn="ctr">
              <a:lnSpc>
                <a:spcPct val="100000"/>
              </a:lnSpc>
              <a:spcBef>
                <a:spcPts val="40"/>
              </a:spcBef>
            </a:pPr>
            <a:r>
              <a:rPr sz="1200" dirty="0">
                <a:latin typeface="Aptos Narrow" panose="020B0004020202020204" pitchFamily="34" charset="0"/>
                <a:cs typeface="Segoe UI"/>
              </a:rPr>
              <a:t>is</a:t>
            </a:r>
            <a:r>
              <a:rPr sz="1200" spc="80" dirty="0">
                <a:latin typeface="Aptos Narrow" panose="020B0004020202020204" pitchFamily="34" charset="0"/>
                <a:cs typeface="Segoe UI"/>
              </a:rPr>
              <a:t> </a:t>
            </a:r>
            <a:r>
              <a:rPr sz="1200" dirty="0">
                <a:latin typeface="Aptos Narrow" panose="020B0004020202020204" pitchFamily="34" charset="0"/>
                <a:cs typeface="Segoe UI"/>
              </a:rPr>
              <a:t>confirmed</a:t>
            </a:r>
            <a:r>
              <a:rPr sz="1200" spc="70" dirty="0">
                <a:latin typeface="Aptos Narrow" panose="020B0004020202020204" pitchFamily="34" charset="0"/>
                <a:cs typeface="Segoe UI"/>
              </a:rPr>
              <a:t> </a:t>
            </a:r>
            <a:r>
              <a:rPr sz="1200" dirty="0">
                <a:latin typeface="Aptos Narrow" panose="020B0004020202020204" pitchFamily="34" charset="0"/>
                <a:cs typeface="Segoe UI"/>
              </a:rPr>
              <a:t>intent</a:t>
            </a:r>
            <a:r>
              <a:rPr sz="1200" spc="85" dirty="0">
                <a:latin typeface="Aptos Narrow" panose="020B0004020202020204" pitchFamily="34" charset="0"/>
                <a:cs typeface="Segoe UI"/>
              </a:rPr>
              <a:t> </a:t>
            </a:r>
            <a:r>
              <a:rPr sz="1200" spc="-25" dirty="0">
                <a:latin typeface="Aptos Narrow" panose="020B0004020202020204" pitchFamily="34" charset="0"/>
                <a:cs typeface="Segoe UI"/>
              </a:rPr>
              <a:t>and</a:t>
            </a:r>
            <a:endParaRPr sz="1200" dirty="0">
              <a:latin typeface="Aptos Narrow" panose="020B0004020202020204" pitchFamily="34" charset="0"/>
              <a:cs typeface="Segoe UI"/>
            </a:endParaRPr>
          </a:p>
          <a:p>
            <a:pPr marL="12700" marR="5080" indent="1270" algn="ctr">
              <a:lnSpc>
                <a:spcPct val="102899"/>
              </a:lnSpc>
              <a:spcBef>
                <a:spcPts val="5"/>
              </a:spcBef>
            </a:pPr>
            <a:r>
              <a:rPr sz="1200" dirty="0">
                <a:latin typeface="Aptos Narrow" panose="020B0004020202020204" pitchFamily="34" charset="0"/>
                <a:cs typeface="Segoe UI"/>
              </a:rPr>
              <a:t>alignment</a:t>
            </a:r>
            <a:r>
              <a:rPr sz="1200" spc="90" dirty="0">
                <a:latin typeface="Aptos Narrow" panose="020B0004020202020204" pitchFamily="34" charset="0"/>
                <a:cs typeface="Segoe UI"/>
              </a:rPr>
              <a:t> </a:t>
            </a:r>
            <a:r>
              <a:rPr sz="1200" dirty="0">
                <a:latin typeface="Aptos Narrow" panose="020B0004020202020204" pitchFamily="34" charset="0"/>
                <a:cs typeface="Segoe UI"/>
              </a:rPr>
              <a:t>from</a:t>
            </a:r>
            <a:r>
              <a:rPr sz="1200" spc="110" dirty="0">
                <a:latin typeface="Aptos Narrow" panose="020B0004020202020204" pitchFamily="34" charset="0"/>
                <a:cs typeface="Segoe UI"/>
              </a:rPr>
              <a:t> </a:t>
            </a:r>
            <a:r>
              <a:rPr sz="1200" spc="-25" dirty="0">
                <a:latin typeface="Aptos Narrow" panose="020B0004020202020204" pitchFamily="34" charset="0"/>
                <a:cs typeface="Segoe UI"/>
              </a:rPr>
              <a:t>the </a:t>
            </a:r>
            <a:r>
              <a:rPr sz="1200" dirty="0">
                <a:latin typeface="Aptos Narrow" panose="020B0004020202020204" pitchFamily="34" charset="0"/>
                <a:cs typeface="Segoe UI"/>
              </a:rPr>
              <a:t>customer</a:t>
            </a:r>
            <a:r>
              <a:rPr sz="1200" spc="60" dirty="0">
                <a:latin typeface="Aptos Narrow" panose="020B0004020202020204" pitchFamily="34" charset="0"/>
                <a:cs typeface="Segoe UI"/>
              </a:rPr>
              <a:t> </a:t>
            </a:r>
            <a:r>
              <a:rPr sz="1200" dirty="0">
                <a:latin typeface="Aptos Narrow" panose="020B0004020202020204" pitchFamily="34" charset="0"/>
                <a:cs typeface="Segoe UI"/>
              </a:rPr>
              <a:t>to</a:t>
            </a:r>
            <a:r>
              <a:rPr sz="1200" spc="75" dirty="0">
                <a:latin typeface="Aptos Narrow" panose="020B0004020202020204" pitchFamily="34" charset="0"/>
                <a:cs typeface="Segoe UI"/>
              </a:rPr>
              <a:t> </a:t>
            </a:r>
            <a:r>
              <a:rPr sz="1200" dirty="0">
                <a:latin typeface="Aptos Narrow" panose="020B0004020202020204" pitchFamily="34" charset="0"/>
                <a:cs typeface="Segoe UI"/>
              </a:rPr>
              <a:t>carry</a:t>
            </a:r>
            <a:r>
              <a:rPr sz="1200" spc="65" dirty="0">
                <a:latin typeface="Aptos Narrow" panose="020B0004020202020204" pitchFamily="34" charset="0"/>
                <a:cs typeface="Segoe UI"/>
              </a:rPr>
              <a:t> </a:t>
            </a:r>
            <a:r>
              <a:rPr sz="1200" dirty="0">
                <a:latin typeface="Aptos Narrow" panose="020B0004020202020204" pitchFamily="34" charset="0"/>
                <a:cs typeface="Segoe UI"/>
              </a:rPr>
              <a:t>out</a:t>
            </a:r>
            <a:r>
              <a:rPr sz="1200" spc="85" dirty="0">
                <a:latin typeface="Aptos Narrow" panose="020B0004020202020204" pitchFamily="34" charset="0"/>
                <a:cs typeface="Segoe UI"/>
              </a:rPr>
              <a:t> </a:t>
            </a:r>
            <a:r>
              <a:rPr sz="1200" spc="-25" dirty="0">
                <a:latin typeface="Aptos Narrow" panose="020B0004020202020204" pitchFamily="34" charset="0"/>
                <a:cs typeface="Segoe UI"/>
              </a:rPr>
              <a:t>the </a:t>
            </a:r>
            <a:r>
              <a:rPr sz="1200" spc="-10" dirty="0">
                <a:latin typeface="Aptos Narrow" panose="020B0004020202020204" pitchFamily="34" charset="0"/>
                <a:cs typeface="Segoe UI"/>
              </a:rPr>
              <a:t>engagement.</a:t>
            </a:r>
            <a:endParaRPr sz="1200" dirty="0">
              <a:latin typeface="Aptos Narrow" panose="020B0004020202020204" pitchFamily="34" charset="0"/>
              <a:cs typeface="Segoe UI"/>
            </a:endParaRPr>
          </a:p>
          <a:p>
            <a:pPr marL="71755" marR="64135" algn="ctr">
              <a:lnSpc>
                <a:spcPct val="103000"/>
              </a:lnSpc>
              <a:spcBef>
                <a:spcPts val="1480"/>
              </a:spcBef>
            </a:pPr>
            <a:r>
              <a:rPr lang="en-US" sz="1200" i="1" dirty="0">
                <a:latin typeface="Aptos Narrow" panose="020B0004020202020204" pitchFamily="34" charset="0"/>
                <a:cs typeface="Segoe UI"/>
              </a:rPr>
              <a:t>[</a:t>
            </a:r>
            <a:r>
              <a:rPr lang="en-US" sz="1200" b="1" i="1" dirty="0">
                <a:solidFill>
                  <a:srgbClr val="EB0000"/>
                </a:solidFill>
                <a:latin typeface="Aptos Narrow" panose="020B0004020202020204" pitchFamily="34" charset="0"/>
                <a:cs typeface="Segoe UI"/>
              </a:rPr>
              <a:t>Alliance</a:t>
            </a:r>
            <a:r>
              <a:rPr lang="en-US" sz="1200" i="1" dirty="0">
                <a:latin typeface="Aptos Narrow" panose="020B0004020202020204" pitchFamily="34" charset="0"/>
                <a:cs typeface="Segoe UI"/>
              </a:rPr>
              <a:t> to get </a:t>
            </a:r>
            <a:r>
              <a:rPr sz="1200" i="1" dirty="0">
                <a:latin typeface="Aptos Narrow" panose="020B0004020202020204" pitchFamily="34" charset="0"/>
                <a:cs typeface="Segoe UI"/>
              </a:rPr>
              <a:t>customer</a:t>
            </a:r>
            <a:r>
              <a:rPr sz="1200" i="1" spc="120" dirty="0">
                <a:latin typeface="Aptos Narrow" panose="020B0004020202020204" pitchFamily="34" charset="0"/>
                <a:cs typeface="Segoe UI"/>
              </a:rPr>
              <a:t> </a:t>
            </a:r>
            <a:r>
              <a:rPr sz="1200" i="1" dirty="0">
                <a:latin typeface="Aptos Narrow" panose="020B0004020202020204" pitchFamily="34" charset="0"/>
                <a:cs typeface="Segoe UI"/>
              </a:rPr>
              <a:t>eligibility</a:t>
            </a:r>
            <a:r>
              <a:rPr lang="en-US" sz="1200" i="1" dirty="0">
                <a:latin typeface="Aptos Narrow" panose="020B0004020202020204" pitchFamily="34" charset="0"/>
                <a:cs typeface="Segoe UI"/>
              </a:rPr>
              <a:t> validation from Microsoft]</a:t>
            </a:r>
            <a:endParaRPr sz="1200" i="1" dirty="0">
              <a:latin typeface="Aptos Narrow" panose="020B0004020202020204" pitchFamily="34" charset="0"/>
              <a:cs typeface="Segoe UI"/>
            </a:endParaRPr>
          </a:p>
        </p:txBody>
      </p:sp>
      <p:graphicFrame>
        <p:nvGraphicFramePr>
          <p:cNvPr id="13" name="object 32">
            <a:extLst>
              <a:ext uri="{FF2B5EF4-FFF2-40B4-BE49-F238E27FC236}">
                <a16:creationId xmlns:a16="http://schemas.microsoft.com/office/drawing/2014/main" id="{C3A541EA-8F32-6D5A-CF69-093185B49879}"/>
              </a:ext>
            </a:extLst>
          </p:cNvPr>
          <p:cNvGraphicFramePr>
            <a:graphicFrameLocks noGrp="1"/>
          </p:cNvGraphicFramePr>
          <p:nvPr/>
        </p:nvGraphicFramePr>
        <p:xfrm>
          <a:off x="3637443" y="2125169"/>
          <a:ext cx="7948291" cy="2980690"/>
        </p:xfrm>
        <a:graphic>
          <a:graphicData uri="http://schemas.openxmlformats.org/drawingml/2006/table">
            <a:tbl>
              <a:tblPr firstRow="1" bandRow="1">
                <a:tableStyleId>{2D5ABB26-0587-4C30-8999-92F81FD0307C}</a:tableStyleId>
              </a:tblPr>
              <a:tblGrid>
                <a:gridCol w="2002789">
                  <a:extLst>
                    <a:ext uri="{9D8B030D-6E8A-4147-A177-3AD203B41FA5}">
                      <a16:colId xmlns:a16="http://schemas.microsoft.com/office/drawing/2014/main" val="20000"/>
                    </a:ext>
                  </a:extLst>
                </a:gridCol>
                <a:gridCol w="2002789">
                  <a:extLst>
                    <a:ext uri="{9D8B030D-6E8A-4147-A177-3AD203B41FA5}">
                      <a16:colId xmlns:a16="http://schemas.microsoft.com/office/drawing/2014/main" val="20001"/>
                    </a:ext>
                  </a:extLst>
                </a:gridCol>
                <a:gridCol w="2002789">
                  <a:extLst>
                    <a:ext uri="{9D8B030D-6E8A-4147-A177-3AD203B41FA5}">
                      <a16:colId xmlns:a16="http://schemas.microsoft.com/office/drawing/2014/main" val="20002"/>
                    </a:ext>
                  </a:extLst>
                </a:gridCol>
                <a:gridCol w="1939924">
                  <a:extLst>
                    <a:ext uri="{9D8B030D-6E8A-4147-A177-3AD203B41FA5}">
                      <a16:colId xmlns:a16="http://schemas.microsoft.com/office/drawing/2014/main" val="20003"/>
                    </a:ext>
                  </a:extLst>
                </a:gridCol>
              </a:tblGrid>
              <a:tr h="1919605">
                <a:tc>
                  <a:txBody>
                    <a:bodyPr/>
                    <a:lstStyle/>
                    <a:p>
                      <a:pPr marL="387350" marR="377825" indent="-3175" algn="ctr">
                        <a:lnSpc>
                          <a:spcPct val="103299"/>
                        </a:lnSpc>
                        <a:spcBef>
                          <a:spcPts val="695"/>
                        </a:spcBef>
                      </a:pPr>
                      <a:r>
                        <a:rPr lang="en-US" sz="1200" b="1" dirty="0">
                          <a:solidFill>
                            <a:srgbClr val="EB0000"/>
                          </a:solidFill>
                          <a:latin typeface="Aptos Narrow" panose="020B0004020202020204" pitchFamily="34" charset="0"/>
                          <a:cs typeface="Segoe UI"/>
                        </a:rPr>
                        <a:t>Alliance</a:t>
                      </a:r>
                      <a:r>
                        <a:rPr sz="1200" spc="80" dirty="0">
                          <a:latin typeface="Aptos Narrow" panose="020B0004020202020204" pitchFamily="34" charset="0"/>
                          <a:cs typeface="Segoe UI"/>
                        </a:rPr>
                        <a:t> </a:t>
                      </a:r>
                      <a:r>
                        <a:rPr sz="1200" spc="-10" dirty="0">
                          <a:latin typeface="Aptos Narrow" panose="020B0004020202020204" pitchFamily="34" charset="0"/>
                          <a:cs typeface="Segoe UI"/>
                        </a:rPr>
                        <a:t>requests </a:t>
                      </a:r>
                      <a:r>
                        <a:rPr sz="1200" dirty="0">
                          <a:latin typeface="Aptos Narrow" panose="020B0004020202020204" pitchFamily="34" charset="0"/>
                          <a:cs typeface="Segoe UI"/>
                        </a:rPr>
                        <a:t>customer</a:t>
                      </a:r>
                      <a:r>
                        <a:rPr sz="1200" spc="100" dirty="0">
                          <a:latin typeface="Aptos Narrow" panose="020B0004020202020204" pitchFamily="34" charset="0"/>
                          <a:cs typeface="Segoe UI"/>
                        </a:rPr>
                        <a:t> </a:t>
                      </a:r>
                      <a:r>
                        <a:rPr sz="1200" spc="-10" dirty="0">
                          <a:latin typeface="Aptos Narrow" panose="020B0004020202020204" pitchFamily="34" charset="0"/>
                          <a:cs typeface="Segoe UI"/>
                        </a:rPr>
                        <a:t>consent</a:t>
                      </a:r>
                      <a:endParaRPr lang="en-US" sz="1200" spc="-10" dirty="0">
                        <a:latin typeface="Aptos Narrow" panose="020B0004020202020204" pitchFamily="34" charset="0"/>
                        <a:cs typeface="Segoe UI"/>
                      </a:endParaRPr>
                    </a:p>
                  </a:txBody>
                  <a:tcPr marL="0" marR="0" marT="88265" marB="0">
                    <a:lnL w="6350">
                      <a:solidFill>
                        <a:srgbClr val="D9D9D9"/>
                      </a:solidFill>
                      <a:prstDash val="solid"/>
                    </a:lnL>
                    <a:lnR w="6350">
                      <a:solidFill>
                        <a:srgbClr val="D9D9D9"/>
                      </a:solidFill>
                      <a:prstDash val="solid"/>
                    </a:lnR>
                  </a:tcPr>
                </a:tc>
                <a:tc>
                  <a:txBody>
                    <a:bodyPr/>
                    <a:lstStyle/>
                    <a:p>
                      <a:pPr marL="219710" marR="212090" indent="1270" algn="ctr">
                        <a:lnSpc>
                          <a:spcPct val="103299"/>
                        </a:lnSpc>
                        <a:spcBef>
                          <a:spcPts val="695"/>
                        </a:spcBef>
                      </a:pPr>
                      <a:r>
                        <a:rPr lang="en-US" sz="1200" b="1" dirty="0">
                          <a:solidFill>
                            <a:srgbClr val="EB0000"/>
                          </a:solidFill>
                          <a:latin typeface="Aptos Narrow" panose="020B0004020202020204" pitchFamily="34" charset="0"/>
                          <a:cs typeface="Segoe UI"/>
                        </a:rPr>
                        <a:t>Rackspace</a:t>
                      </a:r>
                      <a:r>
                        <a:rPr sz="1200" spc="80" dirty="0">
                          <a:latin typeface="Aptos Narrow" panose="020B0004020202020204" pitchFamily="34" charset="0"/>
                          <a:cs typeface="Segoe UI"/>
                        </a:rPr>
                        <a:t> </a:t>
                      </a:r>
                      <a:r>
                        <a:rPr sz="1200" dirty="0">
                          <a:solidFill>
                            <a:srgbClr val="EB0000"/>
                          </a:solidFill>
                          <a:latin typeface="Aptos Narrow" panose="020B0004020202020204" pitchFamily="34" charset="0"/>
                          <a:cs typeface="Segoe UI"/>
                        </a:rPr>
                        <a:t>delivers</a:t>
                      </a:r>
                      <a:r>
                        <a:rPr sz="1200" spc="95" dirty="0">
                          <a:latin typeface="Aptos Narrow" panose="020B0004020202020204" pitchFamily="34" charset="0"/>
                          <a:cs typeface="Segoe UI"/>
                        </a:rPr>
                        <a:t> </a:t>
                      </a:r>
                      <a:r>
                        <a:rPr sz="1200" spc="-25" dirty="0">
                          <a:latin typeface="Aptos Narrow" panose="020B0004020202020204" pitchFamily="34" charset="0"/>
                          <a:cs typeface="Segoe UI"/>
                        </a:rPr>
                        <a:t>the </a:t>
                      </a:r>
                      <a:r>
                        <a:rPr sz="1200" dirty="0">
                          <a:latin typeface="Aptos Narrow" panose="020B0004020202020204" pitchFamily="34" charset="0"/>
                          <a:cs typeface="Segoe UI"/>
                        </a:rPr>
                        <a:t>customer</a:t>
                      </a:r>
                      <a:r>
                        <a:rPr sz="1200" spc="95" dirty="0">
                          <a:latin typeface="Aptos Narrow" panose="020B0004020202020204" pitchFamily="34" charset="0"/>
                          <a:cs typeface="Segoe UI"/>
                        </a:rPr>
                        <a:t> </a:t>
                      </a:r>
                      <a:r>
                        <a:rPr sz="1200" spc="-10" dirty="0">
                          <a:latin typeface="Aptos Narrow" panose="020B0004020202020204" pitchFamily="34" charset="0"/>
                          <a:cs typeface="Segoe UI"/>
                        </a:rPr>
                        <a:t>engagement</a:t>
                      </a:r>
                      <a:endParaRPr sz="1200" dirty="0">
                        <a:latin typeface="Aptos Narrow" panose="020B0004020202020204" pitchFamily="34" charset="0"/>
                        <a:cs typeface="Segoe UI"/>
                      </a:endParaRPr>
                    </a:p>
                    <a:p>
                      <a:pPr marL="90170" marR="82550" algn="ctr">
                        <a:lnSpc>
                          <a:spcPct val="102800"/>
                        </a:lnSpc>
                        <a:spcBef>
                          <a:spcPts val="500"/>
                        </a:spcBef>
                      </a:pPr>
                      <a:r>
                        <a:rPr lang="en-US" sz="1200" b="1" dirty="0">
                          <a:solidFill>
                            <a:srgbClr val="EB0000"/>
                          </a:solidFill>
                          <a:latin typeface="Aptos Narrow" panose="020B0004020202020204" pitchFamily="34" charset="0"/>
                          <a:cs typeface="Segoe UI"/>
                        </a:rPr>
                        <a:t>Alliance</a:t>
                      </a:r>
                      <a:r>
                        <a:rPr sz="1200" spc="55" dirty="0">
                          <a:latin typeface="Aptos Narrow" panose="020B0004020202020204" pitchFamily="34" charset="0"/>
                          <a:cs typeface="Segoe UI"/>
                        </a:rPr>
                        <a:t> </a:t>
                      </a:r>
                      <a:r>
                        <a:rPr sz="1200" dirty="0">
                          <a:latin typeface="Aptos Narrow" panose="020B0004020202020204" pitchFamily="34" charset="0"/>
                          <a:cs typeface="Segoe UI"/>
                        </a:rPr>
                        <a:t>submits</a:t>
                      </a:r>
                      <a:r>
                        <a:rPr sz="1200" spc="70" dirty="0">
                          <a:latin typeface="Aptos Narrow" panose="020B0004020202020204" pitchFamily="34" charset="0"/>
                          <a:cs typeface="Segoe UI"/>
                        </a:rPr>
                        <a:t> </a:t>
                      </a:r>
                      <a:r>
                        <a:rPr sz="1200" dirty="0">
                          <a:latin typeface="Aptos Narrow" panose="020B0004020202020204" pitchFamily="34" charset="0"/>
                          <a:cs typeface="Segoe UI"/>
                        </a:rPr>
                        <a:t>claim</a:t>
                      </a:r>
                      <a:r>
                        <a:rPr sz="1200" spc="95" dirty="0">
                          <a:latin typeface="Aptos Narrow" panose="020B0004020202020204" pitchFamily="34" charset="0"/>
                          <a:cs typeface="Segoe UI"/>
                        </a:rPr>
                        <a:t> </a:t>
                      </a:r>
                      <a:r>
                        <a:rPr sz="1200" spc="-20" dirty="0">
                          <a:latin typeface="Aptos Narrow" panose="020B0004020202020204" pitchFamily="34" charset="0"/>
                          <a:cs typeface="Segoe UI"/>
                        </a:rPr>
                        <a:t>with </a:t>
                      </a:r>
                      <a:r>
                        <a:rPr sz="1200" dirty="0">
                          <a:latin typeface="Aptos Narrow" panose="020B0004020202020204" pitchFamily="34" charset="0"/>
                          <a:cs typeface="Segoe UI"/>
                        </a:rPr>
                        <a:t>required</a:t>
                      </a:r>
                      <a:r>
                        <a:rPr lang="en-US" sz="1200" dirty="0">
                          <a:latin typeface="Aptos Narrow" panose="020B0004020202020204" pitchFamily="34" charset="0"/>
                          <a:cs typeface="Segoe UI"/>
                        </a:rPr>
                        <a:t> Proof Of Execution (POE)</a:t>
                      </a:r>
                      <a:r>
                        <a:rPr lang="en-US" sz="1200" spc="60" dirty="0">
                          <a:latin typeface="Aptos Narrow" panose="020B0004020202020204" pitchFamily="34" charset="0"/>
                          <a:cs typeface="Segoe UI"/>
                        </a:rPr>
                        <a:t> </a:t>
                      </a:r>
                      <a:r>
                        <a:rPr sz="1200" spc="-10" dirty="0">
                          <a:latin typeface="Aptos Narrow" panose="020B0004020202020204" pitchFamily="34" charset="0"/>
                          <a:cs typeface="Segoe UI"/>
                        </a:rPr>
                        <a:t>documentation</a:t>
                      </a:r>
                      <a:r>
                        <a:rPr lang="en-US" sz="1200" spc="-10" dirty="0">
                          <a:latin typeface="Aptos Narrow" panose="020B0004020202020204" pitchFamily="34" charset="0"/>
                          <a:cs typeface="Segoe UI"/>
                        </a:rPr>
                        <a:t> </a:t>
                      </a:r>
                      <a:r>
                        <a:rPr lang="en-US" sz="1200" i="1" spc="-10" dirty="0">
                          <a:latin typeface="Aptos Narrow" panose="020B0004020202020204" pitchFamily="34" charset="0"/>
                          <a:cs typeface="Segoe UI"/>
                        </a:rPr>
                        <a:t>[including end of engagement customer attestation survey completion]</a:t>
                      </a:r>
                    </a:p>
                    <a:p>
                      <a:pPr marL="90170" marR="82550" algn="ctr">
                        <a:lnSpc>
                          <a:spcPct val="102800"/>
                        </a:lnSpc>
                        <a:spcBef>
                          <a:spcPts val="500"/>
                        </a:spcBef>
                      </a:pPr>
                      <a:endParaRPr sz="1200" dirty="0">
                        <a:latin typeface="Aptos Narrow" panose="020B0004020202020204" pitchFamily="34" charset="0"/>
                        <a:cs typeface="Segoe UI"/>
                      </a:endParaRPr>
                    </a:p>
                  </a:txBody>
                  <a:tcPr marL="0" marR="0" marT="88265" marB="0">
                    <a:lnL w="6350">
                      <a:solidFill>
                        <a:srgbClr val="D9D9D9"/>
                      </a:solidFill>
                      <a:prstDash val="solid"/>
                    </a:lnL>
                    <a:lnR w="6350">
                      <a:solidFill>
                        <a:srgbClr val="D9D9D9"/>
                      </a:solidFill>
                      <a:prstDash val="solid"/>
                    </a:lnR>
                  </a:tcPr>
                </a:tc>
                <a:tc>
                  <a:txBody>
                    <a:bodyPr/>
                    <a:lstStyle/>
                    <a:p>
                      <a:pPr marL="233679" marR="224154" algn="ctr">
                        <a:lnSpc>
                          <a:spcPct val="103299"/>
                        </a:lnSpc>
                        <a:spcBef>
                          <a:spcPts val="695"/>
                        </a:spcBef>
                      </a:pPr>
                      <a:r>
                        <a:rPr sz="1200" b="1" dirty="0">
                          <a:solidFill>
                            <a:srgbClr val="EB0000"/>
                          </a:solidFill>
                          <a:latin typeface="Aptos Narrow" panose="020B0004020202020204" pitchFamily="34" charset="0"/>
                          <a:cs typeface="Segoe UI"/>
                        </a:rPr>
                        <a:t>Microsoft</a:t>
                      </a:r>
                      <a:r>
                        <a:rPr sz="1200" spc="110" dirty="0">
                          <a:latin typeface="Aptos Narrow" panose="020B0004020202020204" pitchFamily="34" charset="0"/>
                          <a:cs typeface="Segoe UI"/>
                        </a:rPr>
                        <a:t> </a:t>
                      </a:r>
                      <a:r>
                        <a:rPr sz="1200" dirty="0">
                          <a:latin typeface="Aptos Narrow" panose="020B0004020202020204" pitchFamily="34" charset="0"/>
                          <a:cs typeface="Segoe UI"/>
                        </a:rPr>
                        <a:t>reviews</a:t>
                      </a:r>
                      <a:r>
                        <a:rPr sz="1200" spc="90" dirty="0">
                          <a:latin typeface="Aptos Narrow" panose="020B0004020202020204" pitchFamily="34" charset="0"/>
                          <a:cs typeface="Segoe UI"/>
                        </a:rPr>
                        <a:t> </a:t>
                      </a:r>
                      <a:r>
                        <a:rPr sz="1200" spc="-25" dirty="0">
                          <a:latin typeface="Aptos Narrow" panose="020B0004020202020204" pitchFamily="34" charset="0"/>
                          <a:cs typeface="Segoe UI"/>
                        </a:rPr>
                        <a:t>POE </a:t>
                      </a:r>
                      <a:r>
                        <a:rPr sz="1200" spc="-10" dirty="0">
                          <a:latin typeface="Aptos Narrow" panose="020B0004020202020204" pitchFamily="34" charset="0"/>
                          <a:cs typeface="Segoe UI"/>
                        </a:rPr>
                        <a:t>documentation</a:t>
                      </a:r>
                      <a:endParaRPr sz="1200" dirty="0">
                        <a:latin typeface="Aptos Narrow" panose="020B0004020202020204" pitchFamily="34" charset="0"/>
                        <a:cs typeface="Segoe UI"/>
                      </a:endParaRPr>
                    </a:p>
                    <a:p>
                      <a:pPr marL="158750" marR="148590" algn="ctr">
                        <a:lnSpc>
                          <a:spcPct val="102899"/>
                        </a:lnSpc>
                        <a:spcBef>
                          <a:spcPts val="495"/>
                        </a:spcBef>
                      </a:pPr>
                      <a:r>
                        <a:rPr sz="1200" b="1" dirty="0">
                          <a:solidFill>
                            <a:srgbClr val="EB0000"/>
                          </a:solidFill>
                          <a:latin typeface="Aptos Narrow" panose="020B0004020202020204" pitchFamily="34" charset="0"/>
                          <a:cs typeface="Segoe UI"/>
                        </a:rPr>
                        <a:t>Microsoft</a:t>
                      </a:r>
                      <a:r>
                        <a:rPr sz="1200" spc="85" dirty="0">
                          <a:latin typeface="Aptos Narrow" panose="020B0004020202020204" pitchFamily="34" charset="0"/>
                          <a:cs typeface="Segoe UI"/>
                        </a:rPr>
                        <a:t> </a:t>
                      </a:r>
                      <a:r>
                        <a:rPr sz="1200" dirty="0">
                          <a:latin typeface="Aptos Narrow" panose="020B0004020202020204" pitchFamily="34" charset="0"/>
                          <a:cs typeface="Segoe UI"/>
                        </a:rPr>
                        <a:t>reaches</a:t>
                      </a:r>
                      <a:r>
                        <a:rPr sz="1200" spc="80" dirty="0">
                          <a:latin typeface="Aptos Narrow" panose="020B0004020202020204" pitchFamily="34" charset="0"/>
                          <a:cs typeface="Segoe UI"/>
                        </a:rPr>
                        <a:t> </a:t>
                      </a:r>
                      <a:r>
                        <a:rPr sz="1200" dirty="0">
                          <a:latin typeface="Aptos Narrow" panose="020B0004020202020204" pitchFamily="34" charset="0"/>
                          <a:cs typeface="Segoe UI"/>
                        </a:rPr>
                        <a:t>out</a:t>
                      </a:r>
                      <a:r>
                        <a:rPr sz="1200" spc="85" dirty="0">
                          <a:latin typeface="Aptos Narrow" panose="020B0004020202020204" pitchFamily="34" charset="0"/>
                          <a:cs typeface="Segoe UI"/>
                        </a:rPr>
                        <a:t> </a:t>
                      </a:r>
                      <a:r>
                        <a:rPr sz="1200" spc="-35" dirty="0">
                          <a:latin typeface="Aptos Narrow" panose="020B0004020202020204" pitchFamily="34" charset="0"/>
                          <a:cs typeface="Segoe UI"/>
                        </a:rPr>
                        <a:t>to </a:t>
                      </a:r>
                      <a:r>
                        <a:rPr sz="1200" dirty="0">
                          <a:latin typeface="Aptos Narrow" panose="020B0004020202020204" pitchFamily="34" charset="0"/>
                          <a:cs typeface="Segoe UI"/>
                        </a:rPr>
                        <a:t>partner</a:t>
                      </a:r>
                      <a:r>
                        <a:rPr sz="1200" spc="50" dirty="0">
                          <a:latin typeface="Aptos Narrow" panose="020B0004020202020204" pitchFamily="34" charset="0"/>
                          <a:cs typeface="Segoe UI"/>
                        </a:rPr>
                        <a:t> </a:t>
                      </a:r>
                      <a:r>
                        <a:rPr sz="1200" dirty="0">
                          <a:latin typeface="Aptos Narrow" panose="020B0004020202020204" pitchFamily="34" charset="0"/>
                          <a:cs typeface="Segoe UI"/>
                        </a:rPr>
                        <a:t>if</a:t>
                      </a:r>
                      <a:r>
                        <a:rPr sz="1200" spc="85" dirty="0">
                          <a:latin typeface="Aptos Narrow" panose="020B0004020202020204" pitchFamily="34" charset="0"/>
                          <a:cs typeface="Segoe UI"/>
                        </a:rPr>
                        <a:t> </a:t>
                      </a:r>
                      <a:r>
                        <a:rPr sz="1200" spc="-10" dirty="0">
                          <a:latin typeface="Aptos Narrow" panose="020B0004020202020204" pitchFamily="34" charset="0"/>
                          <a:cs typeface="Segoe UI"/>
                        </a:rPr>
                        <a:t>additional </a:t>
                      </a:r>
                      <a:r>
                        <a:rPr sz="1200" dirty="0">
                          <a:latin typeface="Aptos Narrow" panose="020B0004020202020204" pitchFamily="34" charset="0"/>
                          <a:cs typeface="Segoe UI"/>
                        </a:rPr>
                        <a:t>information</a:t>
                      </a:r>
                      <a:r>
                        <a:rPr sz="1200" spc="80" dirty="0">
                          <a:latin typeface="Aptos Narrow" panose="020B0004020202020204" pitchFamily="34" charset="0"/>
                          <a:cs typeface="Segoe UI"/>
                        </a:rPr>
                        <a:t> </a:t>
                      </a:r>
                      <a:r>
                        <a:rPr sz="1200" dirty="0">
                          <a:latin typeface="Aptos Narrow" panose="020B0004020202020204" pitchFamily="34" charset="0"/>
                          <a:cs typeface="Segoe UI"/>
                        </a:rPr>
                        <a:t>is</a:t>
                      </a:r>
                      <a:r>
                        <a:rPr sz="1200" spc="100" dirty="0">
                          <a:latin typeface="Aptos Narrow" panose="020B0004020202020204" pitchFamily="34" charset="0"/>
                          <a:cs typeface="Segoe UI"/>
                        </a:rPr>
                        <a:t> </a:t>
                      </a:r>
                      <a:r>
                        <a:rPr sz="1200" spc="-10" dirty="0">
                          <a:latin typeface="Aptos Narrow" panose="020B0004020202020204" pitchFamily="34" charset="0"/>
                          <a:cs typeface="Segoe UI"/>
                        </a:rPr>
                        <a:t>needed.</a:t>
                      </a:r>
                      <a:endParaRPr sz="1200" dirty="0">
                        <a:latin typeface="Aptos Narrow" panose="020B0004020202020204" pitchFamily="34" charset="0"/>
                        <a:cs typeface="Segoe UI"/>
                      </a:endParaRPr>
                    </a:p>
                    <a:p>
                      <a:pPr marL="1270" algn="ctr">
                        <a:lnSpc>
                          <a:spcPct val="100000"/>
                        </a:lnSpc>
                        <a:spcBef>
                          <a:spcPts val="540"/>
                        </a:spcBef>
                      </a:pPr>
                      <a:r>
                        <a:rPr sz="1200" b="1" dirty="0">
                          <a:solidFill>
                            <a:srgbClr val="EB0000"/>
                          </a:solidFill>
                          <a:latin typeface="Aptos Narrow" panose="020B0004020202020204" pitchFamily="34" charset="0"/>
                          <a:cs typeface="Segoe UI"/>
                        </a:rPr>
                        <a:t>Microsoft</a:t>
                      </a:r>
                      <a:r>
                        <a:rPr sz="1200" spc="105" dirty="0">
                          <a:latin typeface="Aptos Narrow" panose="020B0004020202020204" pitchFamily="34" charset="0"/>
                          <a:cs typeface="Segoe UI"/>
                        </a:rPr>
                        <a:t> </a:t>
                      </a:r>
                      <a:r>
                        <a:rPr sz="1200" b="1" dirty="0">
                          <a:latin typeface="Aptos Narrow" panose="020B0004020202020204" pitchFamily="34" charset="0"/>
                          <a:cs typeface="Segoe UI"/>
                        </a:rPr>
                        <a:t>approves</a:t>
                      </a:r>
                      <a:r>
                        <a:rPr sz="1200" spc="85" dirty="0">
                          <a:latin typeface="Aptos Narrow" panose="020B0004020202020204" pitchFamily="34" charset="0"/>
                          <a:cs typeface="Segoe UI"/>
                        </a:rPr>
                        <a:t> </a:t>
                      </a:r>
                      <a:r>
                        <a:rPr sz="1200" spc="-25" dirty="0">
                          <a:latin typeface="Aptos Narrow" panose="020B0004020202020204" pitchFamily="34" charset="0"/>
                          <a:cs typeface="Segoe UI"/>
                        </a:rPr>
                        <a:t>or</a:t>
                      </a:r>
                      <a:endParaRPr sz="1200" dirty="0">
                        <a:latin typeface="Aptos Narrow" panose="020B0004020202020204" pitchFamily="34" charset="0"/>
                        <a:cs typeface="Segoe UI"/>
                      </a:endParaRPr>
                    </a:p>
                    <a:p>
                      <a:pPr marL="2540" algn="ctr">
                        <a:lnSpc>
                          <a:spcPct val="100000"/>
                        </a:lnSpc>
                        <a:spcBef>
                          <a:spcPts val="50"/>
                        </a:spcBef>
                      </a:pPr>
                      <a:r>
                        <a:rPr sz="1200" dirty="0">
                          <a:latin typeface="Aptos Narrow" panose="020B0004020202020204" pitchFamily="34" charset="0"/>
                          <a:cs typeface="Segoe UI"/>
                        </a:rPr>
                        <a:t>declines</a:t>
                      </a:r>
                      <a:r>
                        <a:rPr sz="1200" spc="145" dirty="0">
                          <a:latin typeface="Aptos Narrow" panose="020B0004020202020204" pitchFamily="34" charset="0"/>
                          <a:cs typeface="Segoe UI"/>
                        </a:rPr>
                        <a:t> </a:t>
                      </a:r>
                      <a:r>
                        <a:rPr sz="1200" spc="-25" dirty="0">
                          <a:latin typeface="Aptos Narrow" panose="020B0004020202020204" pitchFamily="34" charset="0"/>
                          <a:cs typeface="Segoe UI"/>
                        </a:rPr>
                        <a:t>POE</a:t>
                      </a:r>
                      <a:endParaRPr sz="1200" dirty="0">
                        <a:latin typeface="Aptos Narrow" panose="020B0004020202020204" pitchFamily="34" charset="0"/>
                        <a:cs typeface="Segoe UI"/>
                      </a:endParaRPr>
                    </a:p>
                  </a:txBody>
                  <a:tcPr marL="0" marR="0" marT="88265" marB="0">
                    <a:lnL w="6350">
                      <a:solidFill>
                        <a:srgbClr val="D9D9D9"/>
                      </a:solidFill>
                      <a:prstDash val="solid"/>
                    </a:lnL>
                    <a:lnR w="6350">
                      <a:solidFill>
                        <a:srgbClr val="D9D9D9"/>
                      </a:solidFill>
                      <a:prstDash val="solid"/>
                    </a:lnR>
                  </a:tcPr>
                </a:tc>
                <a:tc>
                  <a:txBody>
                    <a:bodyPr/>
                    <a:lstStyle/>
                    <a:p>
                      <a:pPr marL="99695" marR="25400" indent="-1270" algn="ctr">
                        <a:lnSpc>
                          <a:spcPct val="103299"/>
                        </a:lnSpc>
                        <a:spcBef>
                          <a:spcPts val="695"/>
                        </a:spcBef>
                      </a:pPr>
                      <a:r>
                        <a:rPr sz="1200" dirty="0">
                          <a:latin typeface="Aptos Narrow" panose="020B0004020202020204" pitchFamily="34" charset="0"/>
                          <a:cs typeface="Segoe UI"/>
                        </a:rPr>
                        <a:t>Once</a:t>
                      </a:r>
                      <a:r>
                        <a:rPr sz="1200" spc="105" dirty="0">
                          <a:latin typeface="Aptos Narrow" panose="020B0004020202020204" pitchFamily="34" charset="0"/>
                          <a:cs typeface="Segoe UI"/>
                        </a:rPr>
                        <a:t> </a:t>
                      </a:r>
                      <a:r>
                        <a:rPr sz="1200" dirty="0">
                          <a:latin typeface="Aptos Narrow" panose="020B0004020202020204" pitchFamily="34" charset="0"/>
                          <a:cs typeface="Segoe UI"/>
                        </a:rPr>
                        <a:t>approved,</a:t>
                      </a:r>
                      <a:r>
                        <a:rPr sz="1200" spc="65" dirty="0">
                          <a:latin typeface="Aptos Narrow" panose="020B0004020202020204" pitchFamily="34" charset="0"/>
                          <a:cs typeface="Segoe UI"/>
                        </a:rPr>
                        <a:t> </a:t>
                      </a:r>
                      <a:r>
                        <a:rPr sz="1200" dirty="0">
                          <a:latin typeface="Aptos Narrow" panose="020B0004020202020204" pitchFamily="34" charset="0"/>
                          <a:cs typeface="Segoe UI"/>
                        </a:rPr>
                        <a:t>claim</a:t>
                      </a:r>
                      <a:r>
                        <a:rPr sz="1200" spc="105" dirty="0">
                          <a:latin typeface="Aptos Narrow" panose="020B0004020202020204" pitchFamily="34" charset="0"/>
                          <a:cs typeface="Segoe UI"/>
                        </a:rPr>
                        <a:t> </a:t>
                      </a:r>
                      <a:r>
                        <a:rPr sz="1200" spc="-20" dirty="0">
                          <a:latin typeface="Aptos Narrow" panose="020B0004020202020204" pitchFamily="34" charset="0"/>
                          <a:cs typeface="Segoe UI"/>
                        </a:rPr>
                        <a:t>will </a:t>
                      </a:r>
                      <a:r>
                        <a:rPr sz="1200" dirty="0">
                          <a:latin typeface="Aptos Narrow" panose="020B0004020202020204" pitchFamily="34" charset="0"/>
                          <a:cs typeface="Segoe UI"/>
                        </a:rPr>
                        <a:t>be</a:t>
                      </a:r>
                      <a:r>
                        <a:rPr sz="1200" spc="85" dirty="0">
                          <a:latin typeface="Aptos Narrow" panose="020B0004020202020204" pitchFamily="34" charset="0"/>
                          <a:cs typeface="Segoe UI"/>
                        </a:rPr>
                        <a:t> </a:t>
                      </a:r>
                      <a:r>
                        <a:rPr sz="1200" dirty="0">
                          <a:latin typeface="Aptos Narrow" panose="020B0004020202020204" pitchFamily="34" charset="0"/>
                          <a:cs typeface="Segoe UI"/>
                        </a:rPr>
                        <a:t>processed</a:t>
                      </a:r>
                      <a:r>
                        <a:rPr sz="1200" spc="60" dirty="0">
                          <a:latin typeface="Aptos Narrow" panose="020B0004020202020204" pitchFamily="34" charset="0"/>
                          <a:cs typeface="Segoe UI"/>
                        </a:rPr>
                        <a:t> </a:t>
                      </a:r>
                      <a:r>
                        <a:rPr sz="1200" dirty="0">
                          <a:latin typeface="Aptos Narrow" panose="020B0004020202020204" pitchFamily="34" charset="0"/>
                          <a:cs typeface="Segoe UI"/>
                        </a:rPr>
                        <a:t>for</a:t>
                      </a:r>
                      <a:r>
                        <a:rPr sz="1200" spc="90" dirty="0">
                          <a:latin typeface="Aptos Narrow" panose="020B0004020202020204" pitchFamily="34" charset="0"/>
                          <a:cs typeface="Segoe UI"/>
                        </a:rPr>
                        <a:t> </a:t>
                      </a:r>
                      <a:r>
                        <a:rPr sz="1200" spc="-10" dirty="0">
                          <a:latin typeface="Aptos Narrow" panose="020B0004020202020204" pitchFamily="34" charset="0"/>
                          <a:cs typeface="Segoe UI"/>
                        </a:rPr>
                        <a:t>payment</a:t>
                      </a:r>
                      <a:endParaRPr sz="1200" dirty="0">
                        <a:latin typeface="Aptos Narrow" panose="020B0004020202020204" pitchFamily="34" charset="0"/>
                        <a:cs typeface="Segoe UI"/>
                      </a:endParaRPr>
                    </a:p>
                    <a:p>
                      <a:pPr marL="122555" marR="47625" algn="ctr">
                        <a:lnSpc>
                          <a:spcPct val="102499"/>
                        </a:lnSpc>
                        <a:spcBef>
                          <a:spcPts val="505"/>
                        </a:spcBef>
                      </a:pPr>
                      <a:r>
                        <a:rPr sz="1200" b="1" dirty="0">
                          <a:solidFill>
                            <a:srgbClr val="EB0000"/>
                          </a:solidFill>
                          <a:latin typeface="Aptos Narrow" panose="020B0004020202020204" pitchFamily="34" charset="0"/>
                          <a:cs typeface="Segoe UI"/>
                        </a:rPr>
                        <a:t>Microsoft</a:t>
                      </a:r>
                      <a:r>
                        <a:rPr sz="1200" spc="100" dirty="0">
                          <a:latin typeface="Aptos Narrow" panose="020B0004020202020204" pitchFamily="34" charset="0"/>
                          <a:cs typeface="Segoe UI"/>
                        </a:rPr>
                        <a:t> </a:t>
                      </a:r>
                      <a:r>
                        <a:rPr sz="1200" dirty="0">
                          <a:latin typeface="Aptos Narrow" panose="020B0004020202020204" pitchFamily="34" charset="0"/>
                          <a:cs typeface="Segoe UI"/>
                        </a:rPr>
                        <a:t>issues</a:t>
                      </a:r>
                      <a:r>
                        <a:rPr sz="1200" spc="105" dirty="0">
                          <a:latin typeface="Aptos Narrow" panose="020B0004020202020204" pitchFamily="34" charset="0"/>
                          <a:cs typeface="Segoe UI"/>
                        </a:rPr>
                        <a:t> </a:t>
                      </a:r>
                      <a:r>
                        <a:rPr sz="1200" spc="-10" dirty="0">
                          <a:latin typeface="Aptos Narrow" panose="020B0004020202020204" pitchFamily="34" charset="0"/>
                          <a:cs typeface="Segoe UI"/>
                        </a:rPr>
                        <a:t>payment </a:t>
                      </a:r>
                      <a:r>
                        <a:rPr sz="1200" dirty="0">
                          <a:latin typeface="Aptos Narrow" panose="020B0004020202020204" pitchFamily="34" charset="0"/>
                          <a:cs typeface="Segoe UI"/>
                        </a:rPr>
                        <a:t>to</a:t>
                      </a:r>
                      <a:r>
                        <a:rPr sz="1200" spc="15" dirty="0">
                          <a:latin typeface="Aptos Narrow" panose="020B0004020202020204" pitchFamily="34" charset="0"/>
                          <a:cs typeface="Segoe UI"/>
                        </a:rPr>
                        <a:t> </a:t>
                      </a:r>
                      <a:r>
                        <a:rPr lang="en-US" sz="1200" spc="-10" dirty="0">
                          <a:latin typeface="Aptos Narrow" panose="020B0004020202020204" pitchFamily="34" charset="0"/>
                          <a:cs typeface="Segoe UI"/>
                        </a:rPr>
                        <a:t>Rackspace’s bank account</a:t>
                      </a:r>
                      <a:endParaRPr sz="1200" dirty="0">
                        <a:latin typeface="Aptos Narrow" panose="020B0004020202020204" pitchFamily="34" charset="0"/>
                        <a:cs typeface="Segoe UI"/>
                      </a:endParaRPr>
                    </a:p>
                  </a:txBody>
                  <a:tcPr marL="0" marR="0" marT="88265" marB="0">
                    <a:lnL w="6350">
                      <a:solidFill>
                        <a:srgbClr val="D9D9D9"/>
                      </a:solidFill>
                      <a:prstDash val="solid"/>
                    </a:lnL>
                  </a:tcPr>
                </a:tc>
                <a:extLst>
                  <a:ext uri="{0D108BD9-81ED-4DB2-BD59-A6C34878D82A}">
                    <a16:rowId xmlns:a16="http://schemas.microsoft.com/office/drawing/2014/main" val="10000"/>
                  </a:ext>
                </a:extLst>
              </a:tr>
              <a:tr h="309245">
                <a:tc gridSpan="4">
                  <a:txBody>
                    <a:bodyPr/>
                    <a:lstStyle/>
                    <a:p>
                      <a:pPr algn="ctr">
                        <a:lnSpc>
                          <a:spcPct val="100000"/>
                        </a:lnSpc>
                        <a:spcBef>
                          <a:spcPts val="345"/>
                        </a:spcBef>
                      </a:pPr>
                      <a:r>
                        <a:rPr sz="1400" b="1" spc="-10" dirty="0">
                          <a:solidFill>
                            <a:schemeClr val="bg1"/>
                          </a:solidFill>
                          <a:latin typeface="Aptos Narrow" panose="020B0004020202020204" pitchFamily="34" charset="0"/>
                          <a:cs typeface="Segoe UI Semibold"/>
                        </a:rPr>
                        <a:t>Timeline</a:t>
                      </a:r>
                      <a:endParaRPr sz="1400" b="1" dirty="0">
                        <a:solidFill>
                          <a:schemeClr val="bg1"/>
                        </a:solidFill>
                        <a:latin typeface="Aptos Narrow" panose="020B0004020202020204" pitchFamily="34" charset="0"/>
                        <a:cs typeface="Segoe UI Semibold"/>
                      </a:endParaRPr>
                    </a:p>
                  </a:txBody>
                  <a:tcPr marL="0" marR="0" marT="43815" marB="0">
                    <a:solidFill>
                      <a:schemeClr val="bg1">
                        <a:lumMod val="50000"/>
                        <a:alpha val="85881"/>
                      </a:schemeClr>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751840">
                <a:tc>
                  <a:txBody>
                    <a:bodyPr/>
                    <a:lstStyle/>
                    <a:p>
                      <a:pPr marL="363220" marR="358775" algn="ctr">
                        <a:lnSpc>
                          <a:spcPct val="102899"/>
                        </a:lnSpc>
                        <a:spcBef>
                          <a:spcPts val="795"/>
                        </a:spcBef>
                      </a:pPr>
                      <a:r>
                        <a:rPr sz="1200" dirty="0">
                          <a:latin typeface="Aptos Narrow" panose="020B0004020202020204" pitchFamily="34" charset="0"/>
                          <a:cs typeface="Segoe UI Semibold"/>
                        </a:rPr>
                        <a:t>30</a:t>
                      </a:r>
                      <a:r>
                        <a:rPr sz="1200" spc="60" dirty="0">
                          <a:latin typeface="Aptos Narrow" panose="020B0004020202020204" pitchFamily="34" charset="0"/>
                          <a:cs typeface="Segoe UI Semibold"/>
                        </a:rPr>
                        <a:t> </a:t>
                      </a:r>
                      <a:r>
                        <a:rPr sz="1200" dirty="0">
                          <a:latin typeface="Aptos Narrow" panose="020B0004020202020204" pitchFamily="34" charset="0"/>
                          <a:cs typeface="Segoe UI Semibold"/>
                        </a:rPr>
                        <a:t>days</a:t>
                      </a:r>
                      <a:r>
                        <a:rPr sz="1200" spc="60" dirty="0">
                          <a:latin typeface="Aptos Narrow" panose="020B0004020202020204" pitchFamily="34" charset="0"/>
                          <a:cs typeface="Segoe UI Semibold"/>
                        </a:rPr>
                        <a:t> </a:t>
                      </a:r>
                      <a:r>
                        <a:rPr sz="1200" dirty="0">
                          <a:latin typeface="Aptos Narrow" panose="020B0004020202020204" pitchFamily="34" charset="0"/>
                          <a:cs typeface="Segoe UI Semibold"/>
                        </a:rPr>
                        <a:t>max</a:t>
                      </a:r>
                      <a:r>
                        <a:rPr sz="1200" spc="65" dirty="0">
                          <a:latin typeface="Aptos Narrow" panose="020B0004020202020204" pitchFamily="34" charset="0"/>
                          <a:cs typeface="Segoe UI Semibold"/>
                        </a:rPr>
                        <a:t> </a:t>
                      </a:r>
                      <a:r>
                        <a:rPr sz="1200" spc="-20" dirty="0">
                          <a:latin typeface="Aptos Narrow" panose="020B0004020202020204" pitchFamily="34" charset="0"/>
                          <a:cs typeface="Segoe UI Semibold"/>
                        </a:rPr>
                        <a:t>from </a:t>
                      </a:r>
                      <a:r>
                        <a:rPr sz="1200" dirty="0">
                          <a:latin typeface="Aptos Narrow" panose="020B0004020202020204" pitchFamily="34" charset="0"/>
                          <a:cs typeface="Segoe UI Semibold"/>
                        </a:rPr>
                        <a:t>nominating</a:t>
                      </a:r>
                      <a:r>
                        <a:rPr sz="1200" spc="165" dirty="0">
                          <a:latin typeface="Aptos Narrow" panose="020B0004020202020204" pitchFamily="34" charset="0"/>
                          <a:cs typeface="Segoe UI Semibold"/>
                        </a:rPr>
                        <a:t> </a:t>
                      </a:r>
                      <a:r>
                        <a:rPr sz="1200" spc="-25" dirty="0">
                          <a:latin typeface="Aptos Narrow" panose="020B0004020202020204" pitchFamily="34" charset="0"/>
                          <a:cs typeface="Segoe UI Semibold"/>
                        </a:rPr>
                        <a:t>the </a:t>
                      </a:r>
                      <a:r>
                        <a:rPr sz="1200" spc="-10" dirty="0">
                          <a:latin typeface="Aptos Narrow" panose="020B0004020202020204" pitchFamily="34" charset="0"/>
                          <a:cs typeface="Segoe UI Semibold"/>
                        </a:rPr>
                        <a:t>customer</a:t>
                      </a:r>
                      <a:endParaRPr sz="1200" dirty="0">
                        <a:latin typeface="Aptos Narrow" panose="020B0004020202020204" pitchFamily="34" charset="0"/>
                        <a:cs typeface="Segoe UI Semibold"/>
                      </a:endParaRPr>
                    </a:p>
                  </a:txBody>
                  <a:tcPr marL="0" marR="0" marT="100965" marB="0">
                    <a:lnL w="6350">
                      <a:solidFill>
                        <a:srgbClr val="D9D9D9"/>
                      </a:solidFill>
                      <a:prstDash val="solid"/>
                    </a:lnL>
                    <a:lnR w="6350">
                      <a:solidFill>
                        <a:srgbClr val="D9D9D9"/>
                      </a:solidFill>
                      <a:prstDash val="solid"/>
                    </a:lnR>
                  </a:tcPr>
                </a:tc>
                <a:tc>
                  <a:txBody>
                    <a:bodyPr/>
                    <a:lstStyle/>
                    <a:p>
                      <a:pPr marL="19050" algn="ctr">
                        <a:lnSpc>
                          <a:spcPct val="100000"/>
                        </a:lnSpc>
                        <a:spcBef>
                          <a:spcPts val="835"/>
                        </a:spcBef>
                      </a:pPr>
                      <a:r>
                        <a:rPr lang="en-US" sz="1200" dirty="0">
                          <a:latin typeface="Aptos Narrow" panose="020B0004020202020204" pitchFamily="34" charset="0"/>
                          <a:cs typeface="Segoe UI Semibold"/>
                        </a:rPr>
                        <a:t>120</a:t>
                      </a:r>
                      <a:r>
                        <a:rPr sz="1200" dirty="0">
                          <a:latin typeface="Aptos Narrow" panose="020B0004020202020204" pitchFamily="34" charset="0"/>
                          <a:cs typeface="Segoe UI Semibold"/>
                        </a:rPr>
                        <a:t>-</a:t>
                      </a:r>
                      <a:r>
                        <a:rPr sz="1200" spc="-25" dirty="0">
                          <a:latin typeface="Aptos Narrow" panose="020B0004020202020204" pitchFamily="34" charset="0"/>
                          <a:cs typeface="Segoe UI Semibold"/>
                        </a:rPr>
                        <a:t>260</a:t>
                      </a:r>
                      <a:endParaRPr sz="1200" dirty="0">
                        <a:latin typeface="Aptos Narrow" panose="020B0004020202020204" pitchFamily="34" charset="0"/>
                        <a:cs typeface="Segoe UI Semibold"/>
                      </a:endParaRPr>
                    </a:p>
                    <a:p>
                      <a:pPr marL="19050" algn="ctr">
                        <a:lnSpc>
                          <a:spcPct val="100000"/>
                        </a:lnSpc>
                        <a:spcBef>
                          <a:spcPts val="50"/>
                        </a:spcBef>
                      </a:pPr>
                      <a:r>
                        <a:rPr sz="1200" dirty="0">
                          <a:latin typeface="Aptos Narrow" panose="020B0004020202020204" pitchFamily="34" charset="0"/>
                          <a:cs typeface="Segoe UI Semibold"/>
                        </a:rPr>
                        <a:t>days*</a:t>
                      </a:r>
                      <a:r>
                        <a:rPr sz="1200" spc="80" dirty="0">
                          <a:latin typeface="Aptos Narrow" panose="020B0004020202020204" pitchFamily="34" charset="0"/>
                          <a:cs typeface="Segoe UI Semibold"/>
                        </a:rPr>
                        <a:t> </a:t>
                      </a:r>
                      <a:r>
                        <a:rPr sz="1200" dirty="0">
                          <a:latin typeface="Aptos Narrow" panose="020B0004020202020204" pitchFamily="34" charset="0"/>
                          <a:cs typeface="Segoe UI Semibold"/>
                        </a:rPr>
                        <a:t>from</a:t>
                      </a:r>
                      <a:r>
                        <a:rPr sz="1200" spc="70" dirty="0">
                          <a:latin typeface="Aptos Narrow" panose="020B0004020202020204" pitchFamily="34" charset="0"/>
                          <a:cs typeface="Segoe UI Semibold"/>
                        </a:rPr>
                        <a:t> </a:t>
                      </a:r>
                      <a:r>
                        <a:rPr sz="1200" spc="-10" dirty="0">
                          <a:latin typeface="Aptos Narrow" panose="020B0004020202020204" pitchFamily="34" charset="0"/>
                          <a:cs typeface="Segoe UI Semibold"/>
                        </a:rPr>
                        <a:t>receiving</a:t>
                      </a:r>
                      <a:endParaRPr sz="1200" dirty="0">
                        <a:latin typeface="Aptos Narrow" panose="020B0004020202020204" pitchFamily="34" charset="0"/>
                        <a:cs typeface="Segoe UI Semibold"/>
                      </a:endParaRPr>
                    </a:p>
                    <a:p>
                      <a:pPr marL="18415" algn="ctr">
                        <a:lnSpc>
                          <a:spcPct val="100000"/>
                        </a:lnSpc>
                        <a:spcBef>
                          <a:spcPts val="35"/>
                        </a:spcBef>
                      </a:pPr>
                      <a:r>
                        <a:rPr sz="1200" dirty="0">
                          <a:latin typeface="Aptos Narrow" panose="020B0004020202020204" pitchFamily="34" charset="0"/>
                          <a:cs typeface="Segoe UI Semibold"/>
                        </a:rPr>
                        <a:t>customer</a:t>
                      </a:r>
                      <a:r>
                        <a:rPr sz="1200" spc="105" dirty="0">
                          <a:latin typeface="Aptos Narrow" panose="020B0004020202020204" pitchFamily="34" charset="0"/>
                          <a:cs typeface="Segoe UI Semibold"/>
                        </a:rPr>
                        <a:t> </a:t>
                      </a:r>
                      <a:r>
                        <a:rPr sz="1200" spc="-10" dirty="0">
                          <a:latin typeface="Aptos Narrow" panose="020B0004020202020204" pitchFamily="34" charset="0"/>
                          <a:cs typeface="Segoe UI Semibold"/>
                        </a:rPr>
                        <a:t>consent</a:t>
                      </a:r>
                      <a:endParaRPr sz="1200" dirty="0">
                        <a:latin typeface="Aptos Narrow" panose="020B0004020202020204" pitchFamily="34" charset="0"/>
                        <a:cs typeface="Segoe UI Semibold"/>
                      </a:endParaRPr>
                    </a:p>
                  </a:txBody>
                  <a:tcPr marL="0" marR="0" marT="106045" marB="0">
                    <a:lnL w="6350">
                      <a:solidFill>
                        <a:srgbClr val="D9D9D9"/>
                      </a:solidFill>
                      <a:prstDash val="solid"/>
                    </a:lnL>
                    <a:lnR w="6350">
                      <a:solidFill>
                        <a:srgbClr val="D9D9D9"/>
                      </a:solidFill>
                      <a:prstDash val="solid"/>
                    </a:lnR>
                  </a:tcPr>
                </a:tc>
                <a:tc>
                  <a:txBody>
                    <a:bodyPr/>
                    <a:lstStyle/>
                    <a:p>
                      <a:pPr marL="413384" marR="338455" indent="-29209">
                        <a:lnSpc>
                          <a:spcPct val="103299"/>
                        </a:lnSpc>
                        <a:spcBef>
                          <a:spcPts val="790"/>
                        </a:spcBef>
                      </a:pPr>
                      <a:r>
                        <a:rPr sz="1200" dirty="0">
                          <a:latin typeface="Aptos Narrow" panose="020B0004020202020204" pitchFamily="34" charset="0"/>
                          <a:cs typeface="Segoe UI Semibold"/>
                        </a:rPr>
                        <a:t>30</a:t>
                      </a:r>
                      <a:r>
                        <a:rPr sz="1200" spc="60" dirty="0">
                          <a:latin typeface="Aptos Narrow" panose="020B0004020202020204" pitchFamily="34" charset="0"/>
                          <a:cs typeface="Segoe UI Semibold"/>
                        </a:rPr>
                        <a:t> </a:t>
                      </a:r>
                      <a:r>
                        <a:rPr sz="1200" dirty="0">
                          <a:latin typeface="Aptos Narrow" panose="020B0004020202020204" pitchFamily="34" charset="0"/>
                          <a:cs typeface="Segoe UI Semibold"/>
                        </a:rPr>
                        <a:t>days</a:t>
                      </a:r>
                      <a:r>
                        <a:rPr sz="1200" spc="60" dirty="0">
                          <a:latin typeface="Aptos Narrow" panose="020B0004020202020204" pitchFamily="34" charset="0"/>
                          <a:cs typeface="Segoe UI Semibold"/>
                        </a:rPr>
                        <a:t> </a:t>
                      </a:r>
                      <a:r>
                        <a:rPr sz="1200" dirty="0">
                          <a:latin typeface="Aptos Narrow" panose="020B0004020202020204" pitchFamily="34" charset="0"/>
                          <a:cs typeface="Segoe UI Semibold"/>
                        </a:rPr>
                        <a:t>max</a:t>
                      </a:r>
                      <a:r>
                        <a:rPr sz="1200" spc="65" dirty="0">
                          <a:latin typeface="Aptos Narrow" panose="020B0004020202020204" pitchFamily="34" charset="0"/>
                          <a:cs typeface="Segoe UI Semibold"/>
                        </a:rPr>
                        <a:t> </a:t>
                      </a:r>
                      <a:r>
                        <a:rPr sz="1200" spc="-20" dirty="0">
                          <a:latin typeface="Aptos Narrow" panose="020B0004020202020204" pitchFamily="34" charset="0"/>
                          <a:cs typeface="Segoe UI Semibold"/>
                        </a:rPr>
                        <a:t>from </a:t>
                      </a:r>
                      <a:r>
                        <a:rPr sz="1200" dirty="0">
                          <a:latin typeface="Aptos Narrow" panose="020B0004020202020204" pitchFamily="34" charset="0"/>
                          <a:cs typeface="Segoe UI Semibold"/>
                        </a:rPr>
                        <a:t>claim</a:t>
                      </a:r>
                      <a:r>
                        <a:rPr sz="1200" spc="90" dirty="0">
                          <a:latin typeface="Aptos Narrow" panose="020B0004020202020204" pitchFamily="34" charset="0"/>
                          <a:cs typeface="Segoe UI Semibold"/>
                        </a:rPr>
                        <a:t> </a:t>
                      </a:r>
                      <a:r>
                        <a:rPr sz="1200" spc="-10" dirty="0">
                          <a:latin typeface="Aptos Narrow" panose="020B0004020202020204" pitchFamily="34" charset="0"/>
                          <a:cs typeface="Segoe UI Semibold"/>
                        </a:rPr>
                        <a:t>submission</a:t>
                      </a:r>
                      <a:endParaRPr sz="1200" dirty="0">
                        <a:latin typeface="Aptos Narrow" panose="020B0004020202020204" pitchFamily="34" charset="0"/>
                        <a:cs typeface="Segoe UI Semibold"/>
                      </a:endParaRPr>
                    </a:p>
                  </a:txBody>
                  <a:tcPr marL="0" marR="0" marT="100330" marB="0">
                    <a:lnL w="6350">
                      <a:solidFill>
                        <a:srgbClr val="D9D9D9"/>
                      </a:solidFill>
                      <a:prstDash val="solid"/>
                    </a:lnL>
                    <a:lnR w="6350">
                      <a:solidFill>
                        <a:srgbClr val="D9D9D9"/>
                      </a:solidFill>
                      <a:prstDash val="solid"/>
                    </a:lnR>
                  </a:tcPr>
                </a:tc>
                <a:tc>
                  <a:txBody>
                    <a:bodyPr/>
                    <a:lstStyle/>
                    <a:p>
                      <a:pPr marL="393700" marR="262255" algn="ctr">
                        <a:lnSpc>
                          <a:spcPct val="102899"/>
                        </a:lnSpc>
                        <a:spcBef>
                          <a:spcPts val="795"/>
                        </a:spcBef>
                      </a:pPr>
                      <a:r>
                        <a:rPr sz="1200" dirty="0">
                          <a:latin typeface="Aptos Narrow" panose="020B0004020202020204" pitchFamily="34" charset="0"/>
                          <a:cs typeface="Segoe UI Semibold"/>
                        </a:rPr>
                        <a:t>45</a:t>
                      </a:r>
                      <a:r>
                        <a:rPr sz="1200" spc="60" dirty="0">
                          <a:latin typeface="Aptos Narrow" panose="020B0004020202020204" pitchFamily="34" charset="0"/>
                          <a:cs typeface="Segoe UI Semibold"/>
                        </a:rPr>
                        <a:t> </a:t>
                      </a:r>
                      <a:r>
                        <a:rPr sz="1200" dirty="0">
                          <a:latin typeface="Aptos Narrow" panose="020B0004020202020204" pitchFamily="34" charset="0"/>
                          <a:cs typeface="Segoe UI Semibold"/>
                        </a:rPr>
                        <a:t>days</a:t>
                      </a:r>
                      <a:r>
                        <a:rPr sz="1200" spc="60" dirty="0">
                          <a:latin typeface="Aptos Narrow" panose="020B0004020202020204" pitchFamily="34" charset="0"/>
                          <a:cs typeface="Segoe UI Semibold"/>
                        </a:rPr>
                        <a:t> </a:t>
                      </a:r>
                      <a:r>
                        <a:rPr sz="1200" dirty="0">
                          <a:latin typeface="Aptos Narrow" panose="020B0004020202020204" pitchFamily="34" charset="0"/>
                          <a:cs typeface="Segoe UI Semibold"/>
                        </a:rPr>
                        <a:t>max</a:t>
                      </a:r>
                      <a:r>
                        <a:rPr sz="1200" spc="65" dirty="0">
                          <a:latin typeface="Aptos Narrow" panose="020B0004020202020204" pitchFamily="34" charset="0"/>
                          <a:cs typeface="Segoe UI Semibold"/>
                        </a:rPr>
                        <a:t> </a:t>
                      </a:r>
                      <a:r>
                        <a:rPr sz="1200" spc="-20" dirty="0">
                          <a:latin typeface="Aptos Narrow" panose="020B0004020202020204" pitchFamily="34" charset="0"/>
                          <a:cs typeface="Segoe UI Semibold"/>
                        </a:rPr>
                        <a:t>from </a:t>
                      </a:r>
                      <a:r>
                        <a:rPr sz="1200" dirty="0">
                          <a:latin typeface="Aptos Narrow" panose="020B0004020202020204" pitchFamily="34" charset="0"/>
                          <a:cs typeface="Segoe UI Semibold"/>
                        </a:rPr>
                        <a:t>claim</a:t>
                      </a:r>
                      <a:r>
                        <a:rPr sz="1200" spc="90" dirty="0">
                          <a:latin typeface="Aptos Narrow" panose="020B0004020202020204" pitchFamily="34" charset="0"/>
                          <a:cs typeface="Segoe UI Semibold"/>
                        </a:rPr>
                        <a:t> </a:t>
                      </a:r>
                      <a:r>
                        <a:rPr sz="1200" spc="-10" dirty="0">
                          <a:latin typeface="Aptos Narrow" panose="020B0004020202020204" pitchFamily="34" charset="0"/>
                          <a:cs typeface="Segoe UI Semibold"/>
                        </a:rPr>
                        <a:t>approval </a:t>
                      </a:r>
                      <a:r>
                        <a:rPr sz="1200" dirty="0">
                          <a:latin typeface="Aptos Narrow" panose="020B0004020202020204" pitchFamily="34" charset="0"/>
                          <a:cs typeface="Segoe UI Semibold"/>
                        </a:rPr>
                        <a:t>month</a:t>
                      </a:r>
                      <a:r>
                        <a:rPr sz="1200" spc="95" dirty="0">
                          <a:latin typeface="Aptos Narrow" panose="020B0004020202020204" pitchFamily="34" charset="0"/>
                          <a:cs typeface="Segoe UI Semibold"/>
                        </a:rPr>
                        <a:t> </a:t>
                      </a:r>
                      <a:r>
                        <a:rPr sz="1200" spc="-25" dirty="0">
                          <a:latin typeface="Aptos Narrow" panose="020B0004020202020204" pitchFamily="34" charset="0"/>
                          <a:cs typeface="Segoe UI Semibold"/>
                        </a:rPr>
                        <a:t>end</a:t>
                      </a:r>
                      <a:endParaRPr sz="1200" dirty="0">
                        <a:latin typeface="Aptos Narrow" panose="020B0004020202020204" pitchFamily="34" charset="0"/>
                        <a:cs typeface="Segoe UI Semibold"/>
                      </a:endParaRPr>
                    </a:p>
                  </a:txBody>
                  <a:tcPr marL="0" marR="0" marT="100965" marB="0">
                    <a:lnL w="6350">
                      <a:solidFill>
                        <a:srgbClr val="D9D9D9"/>
                      </a:solidFill>
                      <a:prstDash val="solid"/>
                    </a:lnL>
                  </a:tcPr>
                </a:tc>
                <a:extLst>
                  <a:ext uri="{0D108BD9-81ED-4DB2-BD59-A6C34878D82A}">
                    <a16:rowId xmlns:a16="http://schemas.microsoft.com/office/drawing/2014/main" val="10002"/>
                  </a:ext>
                </a:extLst>
              </a:tr>
            </a:tbl>
          </a:graphicData>
        </a:graphic>
      </p:graphicFrame>
      <p:grpSp>
        <p:nvGrpSpPr>
          <p:cNvPr id="14" name="object 33">
            <a:extLst>
              <a:ext uri="{FF2B5EF4-FFF2-40B4-BE49-F238E27FC236}">
                <a16:creationId xmlns:a16="http://schemas.microsoft.com/office/drawing/2014/main" id="{8323A758-B26E-9D7B-4FAE-157838E23586}"/>
              </a:ext>
            </a:extLst>
          </p:cNvPr>
          <p:cNvGrpSpPr/>
          <p:nvPr/>
        </p:nvGrpSpPr>
        <p:grpSpPr>
          <a:xfrm>
            <a:off x="5703733" y="1211052"/>
            <a:ext cx="1882139" cy="716280"/>
            <a:chOff x="5812790" y="2183002"/>
            <a:chExt cx="1882139" cy="716280"/>
          </a:xfrm>
        </p:grpSpPr>
        <p:sp>
          <p:nvSpPr>
            <p:cNvPr id="15" name="object 34">
              <a:extLst>
                <a:ext uri="{FF2B5EF4-FFF2-40B4-BE49-F238E27FC236}">
                  <a16:creationId xmlns:a16="http://schemas.microsoft.com/office/drawing/2014/main" id="{3C63CF7B-DAA8-76E1-AFEC-B5A0FCBB2587}"/>
                </a:ext>
              </a:extLst>
            </p:cNvPr>
            <p:cNvSpPr/>
            <p:nvPr/>
          </p:nvSpPr>
          <p:spPr>
            <a:xfrm>
              <a:off x="5812790" y="2183002"/>
              <a:ext cx="1882139" cy="716280"/>
            </a:xfrm>
            <a:custGeom>
              <a:avLst/>
              <a:gdLst/>
              <a:ahLst/>
              <a:cxnLst/>
              <a:rect l="l" t="t" r="r" b="b"/>
              <a:pathLst>
                <a:path w="1882140" h="716280">
                  <a:moveTo>
                    <a:pt x="1834134" y="0"/>
                  </a:moveTo>
                  <a:lnTo>
                    <a:pt x="48006" y="0"/>
                  </a:lnTo>
                  <a:lnTo>
                    <a:pt x="29307" y="3768"/>
                  </a:lnTo>
                  <a:lnTo>
                    <a:pt x="14049" y="14049"/>
                  </a:lnTo>
                  <a:lnTo>
                    <a:pt x="3768" y="29307"/>
                  </a:lnTo>
                  <a:lnTo>
                    <a:pt x="0" y="48006"/>
                  </a:lnTo>
                  <a:lnTo>
                    <a:pt x="0" y="667766"/>
                  </a:lnTo>
                  <a:lnTo>
                    <a:pt x="3768" y="686464"/>
                  </a:lnTo>
                  <a:lnTo>
                    <a:pt x="14049" y="701722"/>
                  </a:lnTo>
                  <a:lnTo>
                    <a:pt x="29307" y="712003"/>
                  </a:lnTo>
                  <a:lnTo>
                    <a:pt x="48006" y="715772"/>
                  </a:lnTo>
                  <a:lnTo>
                    <a:pt x="1834134" y="715772"/>
                  </a:lnTo>
                  <a:lnTo>
                    <a:pt x="1852832" y="712003"/>
                  </a:lnTo>
                  <a:lnTo>
                    <a:pt x="1868090" y="701722"/>
                  </a:lnTo>
                  <a:lnTo>
                    <a:pt x="1878371" y="686464"/>
                  </a:lnTo>
                  <a:lnTo>
                    <a:pt x="1882139" y="667766"/>
                  </a:lnTo>
                  <a:lnTo>
                    <a:pt x="1882139" y="48006"/>
                  </a:lnTo>
                  <a:lnTo>
                    <a:pt x="1878371" y="29307"/>
                  </a:lnTo>
                  <a:lnTo>
                    <a:pt x="1868090" y="14049"/>
                  </a:lnTo>
                  <a:lnTo>
                    <a:pt x="1852832" y="3768"/>
                  </a:lnTo>
                  <a:lnTo>
                    <a:pt x="1834134" y="0"/>
                  </a:lnTo>
                  <a:close/>
                </a:path>
              </a:pathLst>
            </a:custGeom>
            <a:solidFill>
              <a:srgbClr val="F1F1F1"/>
            </a:solidFill>
          </p:spPr>
          <p:txBody>
            <a:bodyPr wrap="square" lIns="0" tIns="0" rIns="0" bIns="0" rtlCol="0"/>
            <a:lstStyle/>
            <a:p>
              <a:endParaRPr/>
            </a:p>
          </p:txBody>
        </p:sp>
        <p:sp>
          <p:nvSpPr>
            <p:cNvPr id="16" name="object 35">
              <a:extLst>
                <a:ext uri="{FF2B5EF4-FFF2-40B4-BE49-F238E27FC236}">
                  <a16:creationId xmlns:a16="http://schemas.microsoft.com/office/drawing/2014/main" id="{C6E867B3-A348-92C3-ECEB-51D639F20785}"/>
                </a:ext>
              </a:extLst>
            </p:cNvPr>
            <p:cNvSpPr/>
            <p:nvPr/>
          </p:nvSpPr>
          <p:spPr>
            <a:xfrm>
              <a:off x="7556246" y="2443225"/>
              <a:ext cx="73660" cy="195580"/>
            </a:xfrm>
            <a:custGeom>
              <a:avLst/>
              <a:gdLst/>
              <a:ahLst/>
              <a:cxnLst/>
              <a:rect l="l" t="t" r="r" b="b"/>
              <a:pathLst>
                <a:path w="73659" h="195580">
                  <a:moveTo>
                    <a:pt x="0" y="0"/>
                  </a:moveTo>
                  <a:lnTo>
                    <a:pt x="73405" y="97662"/>
                  </a:lnTo>
                  <a:lnTo>
                    <a:pt x="0" y="195325"/>
                  </a:lnTo>
                </a:path>
              </a:pathLst>
            </a:custGeom>
            <a:ln w="9525">
              <a:solidFill>
                <a:srgbClr val="23395E"/>
              </a:solidFill>
            </a:ln>
          </p:spPr>
          <p:txBody>
            <a:bodyPr wrap="square" lIns="0" tIns="0" rIns="0" bIns="0" rtlCol="0"/>
            <a:lstStyle/>
            <a:p>
              <a:endParaRPr/>
            </a:p>
          </p:txBody>
        </p:sp>
      </p:grpSp>
      <p:sp>
        <p:nvSpPr>
          <p:cNvPr id="17" name="object 36">
            <a:extLst>
              <a:ext uri="{FF2B5EF4-FFF2-40B4-BE49-F238E27FC236}">
                <a16:creationId xmlns:a16="http://schemas.microsoft.com/office/drawing/2014/main" id="{3F7AC7F7-598C-3A13-C5A2-12DEF55AC23B}"/>
              </a:ext>
            </a:extLst>
          </p:cNvPr>
          <p:cNvSpPr txBox="1"/>
          <p:nvPr/>
        </p:nvSpPr>
        <p:spPr>
          <a:xfrm>
            <a:off x="6341527" y="1269981"/>
            <a:ext cx="838200" cy="590550"/>
          </a:xfrm>
          <a:prstGeom prst="rect">
            <a:avLst/>
          </a:prstGeom>
        </p:spPr>
        <p:txBody>
          <a:bodyPr vert="horz" wrap="square" lIns="0" tIns="10795" rIns="0" bIns="0" rtlCol="0">
            <a:spAutoFit/>
          </a:bodyPr>
          <a:lstStyle/>
          <a:p>
            <a:pPr marL="12700" marR="125730">
              <a:lnSpc>
                <a:spcPct val="103299"/>
              </a:lnSpc>
              <a:spcBef>
                <a:spcPts val="85"/>
              </a:spcBef>
            </a:pPr>
            <a:r>
              <a:rPr sz="1200" spc="-10" dirty="0">
                <a:solidFill>
                  <a:srgbClr val="EB0000"/>
                </a:solidFill>
                <a:latin typeface="Segoe UI Semibold"/>
                <a:cs typeface="Segoe UI Semibold"/>
              </a:rPr>
              <a:t>Execution</a:t>
            </a:r>
            <a:r>
              <a:rPr sz="1200" spc="-10" dirty="0">
                <a:solidFill>
                  <a:srgbClr val="0078D3"/>
                </a:solidFill>
                <a:latin typeface="Segoe UI Semibold"/>
                <a:cs typeface="Segoe UI Semibold"/>
              </a:rPr>
              <a:t> </a:t>
            </a:r>
            <a:r>
              <a:rPr sz="1200" dirty="0">
                <a:solidFill>
                  <a:srgbClr val="EB0000"/>
                </a:solidFill>
                <a:latin typeface="Segoe UI Semibold"/>
                <a:cs typeface="Segoe UI Semibold"/>
              </a:rPr>
              <a:t>&amp;</a:t>
            </a:r>
            <a:r>
              <a:rPr sz="1200" spc="20" dirty="0">
                <a:solidFill>
                  <a:srgbClr val="EB0000"/>
                </a:solidFill>
                <a:latin typeface="Segoe UI Semibold"/>
                <a:cs typeface="Segoe UI Semibold"/>
              </a:rPr>
              <a:t> </a:t>
            </a:r>
            <a:r>
              <a:rPr sz="1200" spc="-25" dirty="0">
                <a:solidFill>
                  <a:srgbClr val="EB0000"/>
                </a:solidFill>
                <a:latin typeface="Segoe UI Semibold"/>
                <a:cs typeface="Segoe UI Semibold"/>
              </a:rPr>
              <a:t>POE</a:t>
            </a:r>
            <a:endParaRPr sz="1200" dirty="0">
              <a:solidFill>
                <a:srgbClr val="EB0000"/>
              </a:solidFill>
              <a:latin typeface="Segoe UI Semibold"/>
              <a:cs typeface="Segoe UI Semibold"/>
            </a:endParaRPr>
          </a:p>
          <a:p>
            <a:pPr marL="12700">
              <a:lnSpc>
                <a:spcPct val="100000"/>
              </a:lnSpc>
              <a:spcBef>
                <a:spcPts val="40"/>
              </a:spcBef>
            </a:pPr>
            <a:r>
              <a:rPr sz="1200" spc="-10" dirty="0">
                <a:solidFill>
                  <a:srgbClr val="EB0000"/>
                </a:solidFill>
                <a:latin typeface="Segoe UI Semibold"/>
                <a:cs typeface="Segoe UI Semibold"/>
              </a:rPr>
              <a:t>Submission</a:t>
            </a:r>
            <a:endParaRPr sz="1200" dirty="0">
              <a:solidFill>
                <a:srgbClr val="EB0000"/>
              </a:solidFill>
              <a:latin typeface="Segoe UI Semibold"/>
              <a:cs typeface="Segoe UI Semibold"/>
            </a:endParaRPr>
          </a:p>
        </p:txBody>
      </p:sp>
      <p:sp>
        <p:nvSpPr>
          <p:cNvPr id="18" name="object 37">
            <a:extLst>
              <a:ext uri="{FF2B5EF4-FFF2-40B4-BE49-F238E27FC236}">
                <a16:creationId xmlns:a16="http://schemas.microsoft.com/office/drawing/2014/main" id="{9ECAE3DD-3BA4-30AD-A899-C575AAE58216}"/>
              </a:ext>
            </a:extLst>
          </p:cNvPr>
          <p:cNvSpPr txBox="1"/>
          <p:nvPr/>
        </p:nvSpPr>
        <p:spPr>
          <a:xfrm>
            <a:off x="5790727" y="1363529"/>
            <a:ext cx="427990" cy="403860"/>
          </a:xfrm>
          <a:prstGeom prst="rect">
            <a:avLst/>
          </a:prstGeom>
        </p:spPr>
        <p:txBody>
          <a:bodyPr vert="horz" wrap="square" lIns="0" tIns="17145" rIns="0" bIns="0" rtlCol="0">
            <a:spAutoFit/>
          </a:bodyPr>
          <a:lstStyle/>
          <a:p>
            <a:pPr marL="12700">
              <a:lnSpc>
                <a:spcPct val="100000"/>
              </a:lnSpc>
              <a:spcBef>
                <a:spcPts val="135"/>
              </a:spcBef>
            </a:pPr>
            <a:r>
              <a:rPr sz="1200" spc="-20" dirty="0">
                <a:latin typeface="Segoe UI Semibold"/>
                <a:cs typeface="Segoe UI Semibold"/>
              </a:rPr>
              <a:t>Stage</a:t>
            </a:r>
            <a:endParaRPr sz="1200">
              <a:latin typeface="Segoe UI Semibold"/>
              <a:cs typeface="Segoe UI Semibold"/>
            </a:endParaRPr>
          </a:p>
          <a:p>
            <a:pPr marL="12700">
              <a:lnSpc>
                <a:spcPct val="100000"/>
              </a:lnSpc>
              <a:spcBef>
                <a:spcPts val="50"/>
              </a:spcBef>
            </a:pPr>
            <a:r>
              <a:rPr sz="1200" spc="-25" dirty="0">
                <a:latin typeface="Segoe UI Semibold"/>
                <a:cs typeface="Segoe UI Semibold"/>
              </a:rPr>
              <a:t>03</a:t>
            </a:r>
            <a:endParaRPr sz="1200">
              <a:latin typeface="Segoe UI Semibold"/>
              <a:cs typeface="Segoe UI Semibold"/>
            </a:endParaRPr>
          </a:p>
        </p:txBody>
      </p:sp>
      <p:grpSp>
        <p:nvGrpSpPr>
          <p:cNvPr id="19" name="object 38">
            <a:extLst>
              <a:ext uri="{FF2B5EF4-FFF2-40B4-BE49-F238E27FC236}">
                <a16:creationId xmlns:a16="http://schemas.microsoft.com/office/drawing/2014/main" id="{B42668B3-4466-0B80-A7DE-1ED07D9ADC4C}"/>
              </a:ext>
            </a:extLst>
          </p:cNvPr>
          <p:cNvGrpSpPr/>
          <p:nvPr/>
        </p:nvGrpSpPr>
        <p:grpSpPr>
          <a:xfrm>
            <a:off x="1698279" y="1211052"/>
            <a:ext cx="1882139" cy="716280"/>
            <a:chOff x="1807336" y="2183002"/>
            <a:chExt cx="1882139" cy="716280"/>
          </a:xfrm>
        </p:grpSpPr>
        <p:sp>
          <p:nvSpPr>
            <p:cNvPr id="20" name="object 39">
              <a:extLst>
                <a:ext uri="{FF2B5EF4-FFF2-40B4-BE49-F238E27FC236}">
                  <a16:creationId xmlns:a16="http://schemas.microsoft.com/office/drawing/2014/main" id="{3A5EAEC9-8BD4-13AF-B250-03B0592649C3}"/>
                </a:ext>
              </a:extLst>
            </p:cNvPr>
            <p:cNvSpPr/>
            <p:nvPr/>
          </p:nvSpPr>
          <p:spPr>
            <a:xfrm>
              <a:off x="1807336" y="2183002"/>
              <a:ext cx="1882139" cy="716280"/>
            </a:xfrm>
            <a:custGeom>
              <a:avLst/>
              <a:gdLst/>
              <a:ahLst/>
              <a:cxnLst/>
              <a:rect l="l" t="t" r="r" b="b"/>
              <a:pathLst>
                <a:path w="1882139" h="716280">
                  <a:moveTo>
                    <a:pt x="1834007" y="0"/>
                  </a:moveTo>
                  <a:lnTo>
                    <a:pt x="47879" y="0"/>
                  </a:lnTo>
                  <a:lnTo>
                    <a:pt x="29253" y="3768"/>
                  </a:lnTo>
                  <a:lnTo>
                    <a:pt x="14033" y="14049"/>
                  </a:lnTo>
                  <a:lnTo>
                    <a:pt x="3766" y="29307"/>
                  </a:lnTo>
                  <a:lnTo>
                    <a:pt x="0" y="48006"/>
                  </a:lnTo>
                  <a:lnTo>
                    <a:pt x="0" y="667766"/>
                  </a:lnTo>
                  <a:lnTo>
                    <a:pt x="3766" y="686464"/>
                  </a:lnTo>
                  <a:lnTo>
                    <a:pt x="14033" y="701722"/>
                  </a:lnTo>
                  <a:lnTo>
                    <a:pt x="29253" y="712003"/>
                  </a:lnTo>
                  <a:lnTo>
                    <a:pt x="47879" y="715772"/>
                  </a:lnTo>
                  <a:lnTo>
                    <a:pt x="1834007" y="715772"/>
                  </a:lnTo>
                  <a:lnTo>
                    <a:pt x="1852705" y="712003"/>
                  </a:lnTo>
                  <a:lnTo>
                    <a:pt x="1867963" y="701722"/>
                  </a:lnTo>
                  <a:lnTo>
                    <a:pt x="1878244" y="686464"/>
                  </a:lnTo>
                  <a:lnTo>
                    <a:pt x="1882013" y="667766"/>
                  </a:lnTo>
                  <a:lnTo>
                    <a:pt x="1882013" y="48006"/>
                  </a:lnTo>
                  <a:lnTo>
                    <a:pt x="1878244" y="29307"/>
                  </a:lnTo>
                  <a:lnTo>
                    <a:pt x="1867963" y="14049"/>
                  </a:lnTo>
                  <a:lnTo>
                    <a:pt x="1852705" y="3768"/>
                  </a:lnTo>
                  <a:lnTo>
                    <a:pt x="1834007" y="0"/>
                  </a:lnTo>
                  <a:close/>
                </a:path>
              </a:pathLst>
            </a:custGeom>
            <a:solidFill>
              <a:srgbClr val="F1F1F1"/>
            </a:solidFill>
          </p:spPr>
          <p:txBody>
            <a:bodyPr wrap="square" lIns="0" tIns="0" rIns="0" bIns="0" rtlCol="0"/>
            <a:lstStyle/>
            <a:p>
              <a:endParaRPr/>
            </a:p>
          </p:txBody>
        </p:sp>
        <p:sp>
          <p:nvSpPr>
            <p:cNvPr id="21" name="object 40">
              <a:extLst>
                <a:ext uri="{FF2B5EF4-FFF2-40B4-BE49-F238E27FC236}">
                  <a16:creationId xmlns:a16="http://schemas.microsoft.com/office/drawing/2014/main" id="{45745321-3021-B150-D8EE-0A5FA8DB85AE}"/>
                </a:ext>
              </a:extLst>
            </p:cNvPr>
            <p:cNvSpPr/>
            <p:nvPr/>
          </p:nvSpPr>
          <p:spPr>
            <a:xfrm>
              <a:off x="3545839" y="2443225"/>
              <a:ext cx="73660" cy="195580"/>
            </a:xfrm>
            <a:custGeom>
              <a:avLst/>
              <a:gdLst/>
              <a:ahLst/>
              <a:cxnLst/>
              <a:rect l="l" t="t" r="r" b="b"/>
              <a:pathLst>
                <a:path w="73660" h="195580">
                  <a:moveTo>
                    <a:pt x="0" y="0"/>
                  </a:moveTo>
                  <a:lnTo>
                    <a:pt x="73406" y="97662"/>
                  </a:lnTo>
                  <a:lnTo>
                    <a:pt x="0" y="195325"/>
                  </a:lnTo>
                </a:path>
              </a:pathLst>
            </a:custGeom>
            <a:ln w="9525">
              <a:solidFill>
                <a:srgbClr val="23395E"/>
              </a:solidFill>
            </a:ln>
          </p:spPr>
          <p:txBody>
            <a:bodyPr wrap="square" lIns="0" tIns="0" rIns="0" bIns="0" rtlCol="0"/>
            <a:lstStyle/>
            <a:p>
              <a:endParaRPr/>
            </a:p>
          </p:txBody>
        </p:sp>
      </p:grpSp>
      <p:sp>
        <p:nvSpPr>
          <p:cNvPr id="22" name="object 41">
            <a:extLst>
              <a:ext uri="{FF2B5EF4-FFF2-40B4-BE49-F238E27FC236}">
                <a16:creationId xmlns:a16="http://schemas.microsoft.com/office/drawing/2014/main" id="{1774779F-0D8A-BA7C-FEEC-1D17DC5E9420}"/>
              </a:ext>
            </a:extLst>
          </p:cNvPr>
          <p:cNvSpPr txBox="1"/>
          <p:nvPr/>
        </p:nvSpPr>
        <p:spPr>
          <a:xfrm>
            <a:off x="1764319" y="1363529"/>
            <a:ext cx="1286510" cy="403860"/>
          </a:xfrm>
          <a:prstGeom prst="rect">
            <a:avLst/>
          </a:prstGeom>
        </p:spPr>
        <p:txBody>
          <a:bodyPr vert="horz" wrap="square" lIns="0" tIns="17145" rIns="0" bIns="0" rtlCol="0">
            <a:spAutoFit/>
          </a:bodyPr>
          <a:lstStyle/>
          <a:p>
            <a:pPr marL="12700">
              <a:lnSpc>
                <a:spcPct val="100000"/>
              </a:lnSpc>
              <a:spcBef>
                <a:spcPts val="135"/>
              </a:spcBef>
              <a:tabLst>
                <a:tab pos="563245" algn="l"/>
              </a:tabLst>
            </a:pPr>
            <a:r>
              <a:rPr sz="1200" spc="-10" dirty="0">
                <a:latin typeface="Segoe UI Semibold"/>
                <a:cs typeface="Segoe UI Semibold"/>
              </a:rPr>
              <a:t>Stage</a:t>
            </a:r>
            <a:r>
              <a:rPr sz="1200" dirty="0">
                <a:latin typeface="Segoe UI Semibold"/>
                <a:cs typeface="Segoe UI Semibold"/>
              </a:rPr>
              <a:t>	</a:t>
            </a:r>
            <a:r>
              <a:rPr sz="1200" spc="-10" dirty="0">
                <a:solidFill>
                  <a:srgbClr val="EB0000"/>
                </a:solidFill>
                <a:latin typeface="Segoe UI Semibold"/>
                <a:cs typeface="Segoe UI Semibold"/>
              </a:rPr>
              <a:t>Nominate</a:t>
            </a:r>
            <a:endParaRPr sz="1200" dirty="0">
              <a:solidFill>
                <a:srgbClr val="EB0000"/>
              </a:solidFill>
              <a:latin typeface="Segoe UI Semibold"/>
              <a:cs typeface="Segoe UI Semibold"/>
            </a:endParaRPr>
          </a:p>
          <a:p>
            <a:pPr marL="12700">
              <a:lnSpc>
                <a:spcPct val="100000"/>
              </a:lnSpc>
              <a:spcBef>
                <a:spcPts val="50"/>
              </a:spcBef>
              <a:tabLst>
                <a:tab pos="563245" algn="l"/>
              </a:tabLst>
            </a:pPr>
            <a:r>
              <a:rPr sz="1200" spc="-25" dirty="0">
                <a:latin typeface="Segoe UI Semibold"/>
                <a:cs typeface="Segoe UI Semibold"/>
              </a:rPr>
              <a:t>01</a:t>
            </a:r>
            <a:r>
              <a:rPr sz="1200" dirty="0">
                <a:latin typeface="Segoe UI Semibold"/>
                <a:cs typeface="Segoe UI Semibold"/>
              </a:rPr>
              <a:t>	</a:t>
            </a:r>
            <a:r>
              <a:rPr sz="1200" spc="-10" dirty="0">
                <a:solidFill>
                  <a:srgbClr val="EB0000"/>
                </a:solidFill>
                <a:latin typeface="Segoe UI Semibold"/>
                <a:cs typeface="Segoe UI Semibold"/>
              </a:rPr>
              <a:t>Customer</a:t>
            </a:r>
            <a:endParaRPr sz="1200" dirty="0">
              <a:solidFill>
                <a:srgbClr val="EB0000"/>
              </a:solidFill>
              <a:latin typeface="Segoe UI Semibold"/>
              <a:cs typeface="Segoe UI Semibold"/>
            </a:endParaRPr>
          </a:p>
        </p:txBody>
      </p:sp>
      <p:grpSp>
        <p:nvGrpSpPr>
          <p:cNvPr id="23" name="object 42">
            <a:extLst>
              <a:ext uri="{FF2B5EF4-FFF2-40B4-BE49-F238E27FC236}">
                <a16:creationId xmlns:a16="http://schemas.microsoft.com/office/drawing/2014/main" id="{5A4FFBD0-CD17-5F26-48C1-82149EAF44BD}"/>
              </a:ext>
            </a:extLst>
          </p:cNvPr>
          <p:cNvGrpSpPr/>
          <p:nvPr/>
        </p:nvGrpSpPr>
        <p:grpSpPr>
          <a:xfrm>
            <a:off x="3700943" y="1211052"/>
            <a:ext cx="1882139" cy="716280"/>
            <a:chOff x="3810000" y="2183002"/>
            <a:chExt cx="1882139" cy="716280"/>
          </a:xfrm>
        </p:grpSpPr>
        <p:sp>
          <p:nvSpPr>
            <p:cNvPr id="24" name="object 43">
              <a:extLst>
                <a:ext uri="{FF2B5EF4-FFF2-40B4-BE49-F238E27FC236}">
                  <a16:creationId xmlns:a16="http://schemas.microsoft.com/office/drawing/2014/main" id="{B3BAC3FD-DE40-EC20-EDA3-C2DE8A14A1EB}"/>
                </a:ext>
              </a:extLst>
            </p:cNvPr>
            <p:cNvSpPr/>
            <p:nvPr/>
          </p:nvSpPr>
          <p:spPr>
            <a:xfrm>
              <a:off x="3810000" y="2183002"/>
              <a:ext cx="1882139" cy="716280"/>
            </a:xfrm>
            <a:custGeom>
              <a:avLst/>
              <a:gdLst/>
              <a:ahLst/>
              <a:cxnLst/>
              <a:rect l="l" t="t" r="r" b="b"/>
              <a:pathLst>
                <a:path w="1882139" h="716280">
                  <a:moveTo>
                    <a:pt x="1834134" y="0"/>
                  </a:moveTo>
                  <a:lnTo>
                    <a:pt x="48005" y="0"/>
                  </a:lnTo>
                  <a:lnTo>
                    <a:pt x="29307" y="3768"/>
                  </a:lnTo>
                  <a:lnTo>
                    <a:pt x="14049" y="14049"/>
                  </a:lnTo>
                  <a:lnTo>
                    <a:pt x="3768" y="29307"/>
                  </a:lnTo>
                  <a:lnTo>
                    <a:pt x="0" y="48006"/>
                  </a:lnTo>
                  <a:lnTo>
                    <a:pt x="0" y="667766"/>
                  </a:lnTo>
                  <a:lnTo>
                    <a:pt x="3768" y="686464"/>
                  </a:lnTo>
                  <a:lnTo>
                    <a:pt x="14049" y="701722"/>
                  </a:lnTo>
                  <a:lnTo>
                    <a:pt x="29307" y="712003"/>
                  </a:lnTo>
                  <a:lnTo>
                    <a:pt x="48005" y="715772"/>
                  </a:lnTo>
                  <a:lnTo>
                    <a:pt x="1834134" y="715772"/>
                  </a:lnTo>
                  <a:lnTo>
                    <a:pt x="1852832" y="712003"/>
                  </a:lnTo>
                  <a:lnTo>
                    <a:pt x="1868090" y="701722"/>
                  </a:lnTo>
                  <a:lnTo>
                    <a:pt x="1878371" y="686464"/>
                  </a:lnTo>
                  <a:lnTo>
                    <a:pt x="1882139" y="667766"/>
                  </a:lnTo>
                  <a:lnTo>
                    <a:pt x="1882139" y="48006"/>
                  </a:lnTo>
                  <a:lnTo>
                    <a:pt x="1878371" y="29307"/>
                  </a:lnTo>
                  <a:lnTo>
                    <a:pt x="1868090" y="14049"/>
                  </a:lnTo>
                  <a:lnTo>
                    <a:pt x="1852832" y="3768"/>
                  </a:lnTo>
                  <a:lnTo>
                    <a:pt x="1834134" y="0"/>
                  </a:lnTo>
                  <a:close/>
                </a:path>
              </a:pathLst>
            </a:custGeom>
            <a:solidFill>
              <a:srgbClr val="F1F1F1"/>
            </a:solidFill>
          </p:spPr>
          <p:txBody>
            <a:bodyPr wrap="square" lIns="0" tIns="0" rIns="0" bIns="0" rtlCol="0"/>
            <a:lstStyle/>
            <a:p>
              <a:endParaRPr/>
            </a:p>
          </p:txBody>
        </p:sp>
        <p:sp>
          <p:nvSpPr>
            <p:cNvPr id="25" name="object 44">
              <a:extLst>
                <a:ext uri="{FF2B5EF4-FFF2-40B4-BE49-F238E27FC236}">
                  <a16:creationId xmlns:a16="http://schemas.microsoft.com/office/drawing/2014/main" id="{8F1A5753-C83C-28EB-181C-DCC045EA2CC8}"/>
                </a:ext>
              </a:extLst>
            </p:cNvPr>
            <p:cNvSpPr/>
            <p:nvPr/>
          </p:nvSpPr>
          <p:spPr>
            <a:xfrm>
              <a:off x="5551042" y="2443225"/>
              <a:ext cx="73660" cy="195580"/>
            </a:xfrm>
            <a:custGeom>
              <a:avLst/>
              <a:gdLst/>
              <a:ahLst/>
              <a:cxnLst/>
              <a:rect l="l" t="t" r="r" b="b"/>
              <a:pathLst>
                <a:path w="73660" h="195580">
                  <a:moveTo>
                    <a:pt x="0" y="0"/>
                  </a:moveTo>
                  <a:lnTo>
                    <a:pt x="73406" y="97662"/>
                  </a:lnTo>
                  <a:lnTo>
                    <a:pt x="0" y="195325"/>
                  </a:lnTo>
                </a:path>
              </a:pathLst>
            </a:custGeom>
            <a:ln w="9525">
              <a:solidFill>
                <a:srgbClr val="23395E"/>
              </a:solidFill>
            </a:ln>
          </p:spPr>
          <p:txBody>
            <a:bodyPr wrap="square" lIns="0" tIns="0" rIns="0" bIns="0" rtlCol="0"/>
            <a:lstStyle/>
            <a:p>
              <a:endParaRPr/>
            </a:p>
          </p:txBody>
        </p:sp>
      </p:grpSp>
      <p:sp>
        <p:nvSpPr>
          <p:cNvPr id="26" name="object 45">
            <a:extLst>
              <a:ext uri="{FF2B5EF4-FFF2-40B4-BE49-F238E27FC236}">
                <a16:creationId xmlns:a16="http://schemas.microsoft.com/office/drawing/2014/main" id="{EE6EAB18-711A-7721-267D-D15635E5A28C}"/>
              </a:ext>
            </a:extLst>
          </p:cNvPr>
          <p:cNvSpPr txBox="1"/>
          <p:nvPr/>
        </p:nvSpPr>
        <p:spPr>
          <a:xfrm>
            <a:off x="3777523" y="1363529"/>
            <a:ext cx="1264285" cy="403860"/>
          </a:xfrm>
          <a:prstGeom prst="rect">
            <a:avLst/>
          </a:prstGeom>
        </p:spPr>
        <p:txBody>
          <a:bodyPr vert="horz" wrap="square" lIns="0" tIns="17145" rIns="0" bIns="0" rtlCol="0">
            <a:spAutoFit/>
          </a:bodyPr>
          <a:lstStyle/>
          <a:p>
            <a:pPr marL="12700">
              <a:lnSpc>
                <a:spcPct val="100000"/>
              </a:lnSpc>
              <a:spcBef>
                <a:spcPts val="135"/>
              </a:spcBef>
              <a:tabLst>
                <a:tab pos="563245" algn="l"/>
              </a:tabLst>
            </a:pPr>
            <a:r>
              <a:rPr sz="1200" spc="-10" dirty="0">
                <a:latin typeface="Segoe UI Semibold"/>
                <a:cs typeface="Segoe UI Semibold"/>
              </a:rPr>
              <a:t>Stage</a:t>
            </a:r>
            <a:r>
              <a:rPr sz="1200" dirty="0">
                <a:latin typeface="Segoe UI Semibold"/>
                <a:cs typeface="Segoe UI Semibold"/>
              </a:rPr>
              <a:t>	</a:t>
            </a:r>
            <a:r>
              <a:rPr sz="1200" spc="-10" dirty="0">
                <a:solidFill>
                  <a:srgbClr val="EB0000"/>
                </a:solidFill>
                <a:latin typeface="Segoe UI Semibold"/>
                <a:cs typeface="Segoe UI Semibold"/>
              </a:rPr>
              <a:t>Customer</a:t>
            </a:r>
            <a:endParaRPr sz="1200" dirty="0">
              <a:solidFill>
                <a:srgbClr val="EB0000"/>
              </a:solidFill>
              <a:latin typeface="Segoe UI Semibold"/>
              <a:cs typeface="Segoe UI Semibold"/>
            </a:endParaRPr>
          </a:p>
          <a:p>
            <a:pPr marL="12700">
              <a:lnSpc>
                <a:spcPct val="100000"/>
              </a:lnSpc>
              <a:spcBef>
                <a:spcPts val="50"/>
              </a:spcBef>
              <a:tabLst>
                <a:tab pos="563245" algn="l"/>
              </a:tabLst>
            </a:pPr>
            <a:r>
              <a:rPr sz="1200" spc="-25" dirty="0">
                <a:latin typeface="Segoe UI Semibold"/>
                <a:cs typeface="Segoe UI Semibold"/>
              </a:rPr>
              <a:t>02</a:t>
            </a:r>
            <a:r>
              <a:rPr sz="1200" dirty="0">
                <a:latin typeface="Segoe UI Semibold"/>
                <a:cs typeface="Segoe UI Semibold"/>
              </a:rPr>
              <a:t>	</a:t>
            </a:r>
            <a:r>
              <a:rPr sz="1200" spc="-10" dirty="0">
                <a:solidFill>
                  <a:srgbClr val="EB0000"/>
                </a:solidFill>
                <a:latin typeface="Segoe UI Semibold"/>
                <a:cs typeface="Segoe UI Semibold"/>
              </a:rPr>
              <a:t>Consent</a:t>
            </a:r>
            <a:endParaRPr sz="1200" dirty="0">
              <a:solidFill>
                <a:srgbClr val="EB0000"/>
              </a:solidFill>
              <a:latin typeface="Segoe UI Semibold"/>
              <a:cs typeface="Segoe UI Semibold"/>
            </a:endParaRPr>
          </a:p>
        </p:txBody>
      </p:sp>
      <p:grpSp>
        <p:nvGrpSpPr>
          <p:cNvPr id="27" name="object 46">
            <a:extLst>
              <a:ext uri="{FF2B5EF4-FFF2-40B4-BE49-F238E27FC236}">
                <a16:creationId xmlns:a16="http://schemas.microsoft.com/office/drawing/2014/main" id="{F8CF1FF5-D9B7-6123-2D70-4C0F6666D2EB}"/>
              </a:ext>
            </a:extLst>
          </p:cNvPr>
          <p:cNvGrpSpPr/>
          <p:nvPr/>
        </p:nvGrpSpPr>
        <p:grpSpPr>
          <a:xfrm>
            <a:off x="7706523" y="1211052"/>
            <a:ext cx="1882139" cy="716280"/>
            <a:chOff x="7815580" y="2183002"/>
            <a:chExt cx="1882139" cy="716280"/>
          </a:xfrm>
        </p:grpSpPr>
        <p:sp>
          <p:nvSpPr>
            <p:cNvPr id="28" name="object 47">
              <a:extLst>
                <a:ext uri="{FF2B5EF4-FFF2-40B4-BE49-F238E27FC236}">
                  <a16:creationId xmlns:a16="http://schemas.microsoft.com/office/drawing/2014/main" id="{4532EB35-D3F6-FAB9-77C1-6143B04FD07C}"/>
                </a:ext>
              </a:extLst>
            </p:cNvPr>
            <p:cNvSpPr/>
            <p:nvPr/>
          </p:nvSpPr>
          <p:spPr>
            <a:xfrm>
              <a:off x="7815580" y="2183002"/>
              <a:ext cx="1882139" cy="716280"/>
            </a:xfrm>
            <a:custGeom>
              <a:avLst/>
              <a:gdLst/>
              <a:ahLst/>
              <a:cxnLst/>
              <a:rect l="l" t="t" r="r" b="b"/>
              <a:pathLst>
                <a:path w="1882140" h="716280">
                  <a:moveTo>
                    <a:pt x="1834134" y="0"/>
                  </a:moveTo>
                  <a:lnTo>
                    <a:pt x="48005" y="0"/>
                  </a:lnTo>
                  <a:lnTo>
                    <a:pt x="29307" y="3768"/>
                  </a:lnTo>
                  <a:lnTo>
                    <a:pt x="14049" y="14049"/>
                  </a:lnTo>
                  <a:lnTo>
                    <a:pt x="3768" y="29307"/>
                  </a:lnTo>
                  <a:lnTo>
                    <a:pt x="0" y="48006"/>
                  </a:lnTo>
                  <a:lnTo>
                    <a:pt x="0" y="667766"/>
                  </a:lnTo>
                  <a:lnTo>
                    <a:pt x="3768" y="686464"/>
                  </a:lnTo>
                  <a:lnTo>
                    <a:pt x="14049" y="701722"/>
                  </a:lnTo>
                  <a:lnTo>
                    <a:pt x="29307" y="712003"/>
                  </a:lnTo>
                  <a:lnTo>
                    <a:pt x="48005" y="715772"/>
                  </a:lnTo>
                  <a:lnTo>
                    <a:pt x="1834134" y="715772"/>
                  </a:lnTo>
                  <a:lnTo>
                    <a:pt x="1852832" y="712003"/>
                  </a:lnTo>
                  <a:lnTo>
                    <a:pt x="1868090" y="701722"/>
                  </a:lnTo>
                  <a:lnTo>
                    <a:pt x="1878371" y="686464"/>
                  </a:lnTo>
                  <a:lnTo>
                    <a:pt x="1882140" y="667766"/>
                  </a:lnTo>
                  <a:lnTo>
                    <a:pt x="1882140" y="48006"/>
                  </a:lnTo>
                  <a:lnTo>
                    <a:pt x="1878371" y="29307"/>
                  </a:lnTo>
                  <a:lnTo>
                    <a:pt x="1868090" y="14049"/>
                  </a:lnTo>
                  <a:lnTo>
                    <a:pt x="1852832" y="3768"/>
                  </a:lnTo>
                  <a:lnTo>
                    <a:pt x="1834134" y="0"/>
                  </a:lnTo>
                  <a:close/>
                </a:path>
              </a:pathLst>
            </a:custGeom>
            <a:solidFill>
              <a:srgbClr val="F1F1F1"/>
            </a:solidFill>
          </p:spPr>
          <p:txBody>
            <a:bodyPr wrap="square" lIns="0" tIns="0" rIns="0" bIns="0" rtlCol="0"/>
            <a:lstStyle/>
            <a:p>
              <a:endParaRPr/>
            </a:p>
          </p:txBody>
        </p:sp>
        <p:sp>
          <p:nvSpPr>
            <p:cNvPr id="29" name="object 48">
              <a:extLst>
                <a:ext uri="{FF2B5EF4-FFF2-40B4-BE49-F238E27FC236}">
                  <a16:creationId xmlns:a16="http://schemas.microsoft.com/office/drawing/2014/main" id="{FCC17937-B9B3-706F-C575-697D9F27D829}"/>
                </a:ext>
              </a:extLst>
            </p:cNvPr>
            <p:cNvSpPr/>
            <p:nvPr/>
          </p:nvSpPr>
          <p:spPr>
            <a:xfrm>
              <a:off x="9561576" y="2443225"/>
              <a:ext cx="73660" cy="195580"/>
            </a:xfrm>
            <a:custGeom>
              <a:avLst/>
              <a:gdLst/>
              <a:ahLst/>
              <a:cxnLst/>
              <a:rect l="l" t="t" r="r" b="b"/>
              <a:pathLst>
                <a:path w="73659" h="195580">
                  <a:moveTo>
                    <a:pt x="0" y="0"/>
                  </a:moveTo>
                  <a:lnTo>
                    <a:pt x="73278" y="97662"/>
                  </a:lnTo>
                  <a:lnTo>
                    <a:pt x="0" y="195325"/>
                  </a:lnTo>
                </a:path>
              </a:pathLst>
            </a:custGeom>
            <a:ln w="9525">
              <a:solidFill>
                <a:srgbClr val="23395E"/>
              </a:solidFill>
            </a:ln>
          </p:spPr>
          <p:txBody>
            <a:bodyPr wrap="square" lIns="0" tIns="0" rIns="0" bIns="0" rtlCol="0"/>
            <a:lstStyle/>
            <a:p>
              <a:endParaRPr/>
            </a:p>
          </p:txBody>
        </p:sp>
      </p:grpSp>
      <p:sp>
        <p:nvSpPr>
          <p:cNvPr id="30" name="object 49">
            <a:extLst>
              <a:ext uri="{FF2B5EF4-FFF2-40B4-BE49-F238E27FC236}">
                <a16:creationId xmlns:a16="http://schemas.microsoft.com/office/drawing/2014/main" id="{8FF05533-5F30-0D74-1F43-AA0365391EB9}"/>
              </a:ext>
            </a:extLst>
          </p:cNvPr>
          <p:cNvSpPr txBox="1"/>
          <p:nvPr/>
        </p:nvSpPr>
        <p:spPr>
          <a:xfrm>
            <a:off x="7803677" y="1363529"/>
            <a:ext cx="1301750" cy="403860"/>
          </a:xfrm>
          <a:prstGeom prst="rect">
            <a:avLst/>
          </a:prstGeom>
        </p:spPr>
        <p:txBody>
          <a:bodyPr vert="horz" wrap="square" lIns="0" tIns="17145" rIns="0" bIns="0" rtlCol="0">
            <a:spAutoFit/>
          </a:bodyPr>
          <a:lstStyle/>
          <a:p>
            <a:pPr marL="12700">
              <a:lnSpc>
                <a:spcPct val="100000"/>
              </a:lnSpc>
              <a:spcBef>
                <a:spcPts val="135"/>
              </a:spcBef>
              <a:tabLst>
                <a:tab pos="563245" algn="l"/>
              </a:tabLst>
            </a:pPr>
            <a:r>
              <a:rPr sz="1200" spc="-10" dirty="0">
                <a:latin typeface="Segoe UI Semibold"/>
                <a:cs typeface="Segoe UI Semibold"/>
              </a:rPr>
              <a:t>Stage</a:t>
            </a:r>
            <a:r>
              <a:rPr sz="1200" dirty="0">
                <a:latin typeface="Segoe UI Semibold"/>
                <a:cs typeface="Segoe UI Semibold"/>
              </a:rPr>
              <a:t>	</a:t>
            </a:r>
            <a:r>
              <a:rPr sz="1200" spc="-25" dirty="0">
                <a:solidFill>
                  <a:srgbClr val="EB0000"/>
                </a:solidFill>
                <a:latin typeface="Segoe UI Semibold"/>
                <a:cs typeface="Segoe UI Semibold"/>
              </a:rPr>
              <a:t>POE</a:t>
            </a:r>
            <a:endParaRPr sz="1200" dirty="0">
              <a:solidFill>
                <a:srgbClr val="EB0000"/>
              </a:solidFill>
              <a:latin typeface="Segoe UI Semibold"/>
              <a:cs typeface="Segoe UI Semibold"/>
            </a:endParaRPr>
          </a:p>
          <a:p>
            <a:pPr marL="12700">
              <a:lnSpc>
                <a:spcPct val="100000"/>
              </a:lnSpc>
              <a:spcBef>
                <a:spcPts val="50"/>
              </a:spcBef>
              <a:tabLst>
                <a:tab pos="563245" algn="l"/>
              </a:tabLst>
            </a:pPr>
            <a:r>
              <a:rPr sz="1200" spc="-25" dirty="0">
                <a:latin typeface="Segoe UI Semibold"/>
                <a:cs typeface="Segoe UI Semibold"/>
              </a:rPr>
              <a:t>04</a:t>
            </a:r>
            <a:r>
              <a:rPr sz="1200" dirty="0">
                <a:latin typeface="Segoe UI Semibold"/>
                <a:cs typeface="Segoe UI Semibold"/>
              </a:rPr>
              <a:t>	</a:t>
            </a:r>
            <a:r>
              <a:rPr sz="1200" spc="-10" dirty="0">
                <a:solidFill>
                  <a:srgbClr val="EB0000"/>
                </a:solidFill>
                <a:latin typeface="Segoe UI Semibold"/>
                <a:cs typeface="Segoe UI Semibold"/>
              </a:rPr>
              <a:t>Validation</a:t>
            </a:r>
            <a:endParaRPr sz="1200" dirty="0">
              <a:solidFill>
                <a:srgbClr val="EB0000"/>
              </a:solidFill>
              <a:latin typeface="Segoe UI Semibold"/>
              <a:cs typeface="Segoe UI Semibold"/>
            </a:endParaRPr>
          </a:p>
        </p:txBody>
      </p:sp>
      <p:grpSp>
        <p:nvGrpSpPr>
          <p:cNvPr id="31" name="object 50">
            <a:extLst>
              <a:ext uri="{FF2B5EF4-FFF2-40B4-BE49-F238E27FC236}">
                <a16:creationId xmlns:a16="http://schemas.microsoft.com/office/drawing/2014/main" id="{D515E547-68AE-1FA1-87A7-519B7004F121}"/>
              </a:ext>
            </a:extLst>
          </p:cNvPr>
          <p:cNvGrpSpPr/>
          <p:nvPr/>
        </p:nvGrpSpPr>
        <p:grpSpPr>
          <a:xfrm>
            <a:off x="9709312" y="1211052"/>
            <a:ext cx="1882139" cy="716280"/>
            <a:chOff x="9818369" y="2183002"/>
            <a:chExt cx="1882139" cy="716280"/>
          </a:xfrm>
        </p:grpSpPr>
        <p:sp>
          <p:nvSpPr>
            <p:cNvPr id="32" name="object 51">
              <a:extLst>
                <a:ext uri="{FF2B5EF4-FFF2-40B4-BE49-F238E27FC236}">
                  <a16:creationId xmlns:a16="http://schemas.microsoft.com/office/drawing/2014/main" id="{00883AFD-9314-1E62-BD7C-9395D88C6646}"/>
                </a:ext>
              </a:extLst>
            </p:cNvPr>
            <p:cNvSpPr/>
            <p:nvPr/>
          </p:nvSpPr>
          <p:spPr>
            <a:xfrm>
              <a:off x="9818369" y="2183002"/>
              <a:ext cx="1882139" cy="716280"/>
            </a:xfrm>
            <a:custGeom>
              <a:avLst/>
              <a:gdLst/>
              <a:ahLst/>
              <a:cxnLst/>
              <a:rect l="l" t="t" r="r" b="b"/>
              <a:pathLst>
                <a:path w="1882140" h="716280">
                  <a:moveTo>
                    <a:pt x="1834133" y="0"/>
                  </a:moveTo>
                  <a:lnTo>
                    <a:pt x="48005" y="0"/>
                  </a:lnTo>
                  <a:lnTo>
                    <a:pt x="29307" y="3768"/>
                  </a:lnTo>
                  <a:lnTo>
                    <a:pt x="14049" y="14049"/>
                  </a:lnTo>
                  <a:lnTo>
                    <a:pt x="3768" y="29307"/>
                  </a:lnTo>
                  <a:lnTo>
                    <a:pt x="0" y="48006"/>
                  </a:lnTo>
                  <a:lnTo>
                    <a:pt x="0" y="667766"/>
                  </a:lnTo>
                  <a:lnTo>
                    <a:pt x="3768" y="686464"/>
                  </a:lnTo>
                  <a:lnTo>
                    <a:pt x="14049" y="701722"/>
                  </a:lnTo>
                  <a:lnTo>
                    <a:pt x="29307" y="712003"/>
                  </a:lnTo>
                  <a:lnTo>
                    <a:pt x="48005" y="715772"/>
                  </a:lnTo>
                  <a:lnTo>
                    <a:pt x="1834133" y="715772"/>
                  </a:lnTo>
                  <a:lnTo>
                    <a:pt x="1852832" y="712003"/>
                  </a:lnTo>
                  <a:lnTo>
                    <a:pt x="1868090" y="701722"/>
                  </a:lnTo>
                  <a:lnTo>
                    <a:pt x="1878371" y="686464"/>
                  </a:lnTo>
                  <a:lnTo>
                    <a:pt x="1882139" y="667766"/>
                  </a:lnTo>
                  <a:lnTo>
                    <a:pt x="1882139" y="48006"/>
                  </a:lnTo>
                  <a:lnTo>
                    <a:pt x="1878371" y="29307"/>
                  </a:lnTo>
                  <a:lnTo>
                    <a:pt x="1868090" y="14049"/>
                  </a:lnTo>
                  <a:lnTo>
                    <a:pt x="1852832" y="3768"/>
                  </a:lnTo>
                  <a:lnTo>
                    <a:pt x="1834133" y="0"/>
                  </a:lnTo>
                  <a:close/>
                </a:path>
              </a:pathLst>
            </a:custGeom>
            <a:solidFill>
              <a:srgbClr val="F1F1F1"/>
            </a:solidFill>
          </p:spPr>
          <p:txBody>
            <a:bodyPr wrap="square" lIns="0" tIns="0" rIns="0" bIns="0" rtlCol="0"/>
            <a:lstStyle/>
            <a:p>
              <a:endParaRPr/>
            </a:p>
          </p:txBody>
        </p:sp>
        <p:sp>
          <p:nvSpPr>
            <p:cNvPr id="33" name="object 52">
              <a:extLst>
                <a:ext uri="{FF2B5EF4-FFF2-40B4-BE49-F238E27FC236}">
                  <a16:creationId xmlns:a16="http://schemas.microsoft.com/office/drawing/2014/main" id="{C563F1BC-A108-F51A-5789-937C71F69B85}"/>
                </a:ext>
              </a:extLst>
            </p:cNvPr>
            <p:cNvSpPr/>
            <p:nvPr/>
          </p:nvSpPr>
          <p:spPr>
            <a:xfrm>
              <a:off x="11566778" y="2443225"/>
              <a:ext cx="73660" cy="195580"/>
            </a:xfrm>
            <a:custGeom>
              <a:avLst/>
              <a:gdLst/>
              <a:ahLst/>
              <a:cxnLst/>
              <a:rect l="l" t="t" r="r" b="b"/>
              <a:pathLst>
                <a:path w="73659" h="195580">
                  <a:moveTo>
                    <a:pt x="0" y="0"/>
                  </a:moveTo>
                  <a:lnTo>
                    <a:pt x="73405" y="97662"/>
                  </a:lnTo>
                  <a:lnTo>
                    <a:pt x="0" y="195325"/>
                  </a:lnTo>
                </a:path>
              </a:pathLst>
            </a:custGeom>
            <a:ln w="9525">
              <a:solidFill>
                <a:srgbClr val="23395E"/>
              </a:solidFill>
            </a:ln>
          </p:spPr>
          <p:txBody>
            <a:bodyPr wrap="square" lIns="0" tIns="0" rIns="0" bIns="0" rtlCol="0"/>
            <a:lstStyle/>
            <a:p>
              <a:endParaRPr/>
            </a:p>
          </p:txBody>
        </p:sp>
      </p:grpSp>
      <p:sp>
        <p:nvSpPr>
          <p:cNvPr id="34" name="object 53">
            <a:extLst>
              <a:ext uri="{FF2B5EF4-FFF2-40B4-BE49-F238E27FC236}">
                <a16:creationId xmlns:a16="http://schemas.microsoft.com/office/drawing/2014/main" id="{A813EB9A-AF3F-B3EE-EFFA-B46089AB88A8}"/>
              </a:ext>
            </a:extLst>
          </p:cNvPr>
          <p:cNvSpPr txBox="1"/>
          <p:nvPr/>
        </p:nvSpPr>
        <p:spPr>
          <a:xfrm>
            <a:off x="10367935" y="1458068"/>
            <a:ext cx="648970" cy="201978"/>
          </a:xfrm>
          <a:prstGeom prst="rect">
            <a:avLst/>
          </a:prstGeom>
        </p:spPr>
        <p:txBody>
          <a:bodyPr vert="horz" wrap="square" lIns="0" tIns="17145" rIns="0" bIns="0" rtlCol="0">
            <a:spAutoFit/>
          </a:bodyPr>
          <a:lstStyle/>
          <a:p>
            <a:pPr marL="12700">
              <a:lnSpc>
                <a:spcPct val="100000"/>
              </a:lnSpc>
              <a:spcBef>
                <a:spcPts val="135"/>
              </a:spcBef>
            </a:pPr>
            <a:r>
              <a:rPr sz="1200" spc="-10" dirty="0">
                <a:solidFill>
                  <a:srgbClr val="EB0000"/>
                </a:solidFill>
                <a:latin typeface="Segoe UI Semibold"/>
                <a:cs typeface="Segoe UI Semibold"/>
              </a:rPr>
              <a:t>Payment</a:t>
            </a:r>
            <a:endParaRPr sz="1200" dirty="0">
              <a:solidFill>
                <a:srgbClr val="EB0000"/>
              </a:solidFill>
              <a:latin typeface="Segoe UI Semibold"/>
              <a:cs typeface="Segoe UI Semibold"/>
            </a:endParaRPr>
          </a:p>
        </p:txBody>
      </p:sp>
      <p:sp>
        <p:nvSpPr>
          <p:cNvPr id="35" name="object 54">
            <a:extLst>
              <a:ext uri="{FF2B5EF4-FFF2-40B4-BE49-F238E27FC236}">
                <a16:creationId xmlns:a16="http://schemas.microsoft.com/office/drawing/2014/main" id="{4C1BA59B-C93C-19CB-6BF9-D3378B2FE621}"/>
              </a:ext>
            </a:extLst>
          </p:cNvPr>
          <p:cNvSpPr txBox="1"/>
          <p:nvPr/>
        </p:nvSpPr>
        <p:spPr>
          <a:xfrm>
            <a:off x="9816882" y="1363529"/>
            <a:ext cx="427990" cy="403860"/>
          </a:xfrm>
          <a:prstGeom prst="rect">
            <a:avLst/>
          </a:prstGeom>
        </p:spPr>
        <p:txBody>
          <a:bodyPr vert="horz" wrap="square" lIns="0" tIns="17145" rIns="0" bIns="0" rtlCol="0">
            <a:spAutoFit/>
          </a:bodyPr>
          <a:lstStyle/>
          <a:p>
            <a:pPr marL="12700">
              <a:lnSpc>
                <a:spcPct val="100000"/>
              </a:lnSpc>
              <a:spcBef>
                <a:spcPts val="135"/>
              </a:spcBef>
            </a:pPr>
            <a:r>
              <a:rPr sz="1200" spc="-20" dirty="0">
                <a:latin typeface="Segoe UI Semibold"/>
                <a:cs typeface="Segoe UI Semibold"/>
              </a:rPr>
              <a:t>Stage</a:t>
            </a:r>
            <a:endParaRPr sz="1200">
              <a:latin typeface="Segoe UI Semibold"/>
              <a:cs typeface="Segoe UI Semibold"/>
            </a:endParaRPr>
          </a:p>
          <a:p>
            <a:pPr marL="12700">
              <a:lnSpc>
                <a:spcPct val="100000"/>
              </a:lnSpc>
              <a:spcBef>
                <a:spcPts val="50"/>
              </a:spcBef>
            </a:pPr>
            <a:r>
              <a:rPr sz="1200" spc="-25" dirty="0">
                <a:latin typeface="Segoe UI Semibold"/>
                <a:cs typeface="Segoe UI Semibold"/>
              </a:rPr>
              <a:t>05</a:t>
            </a:r>
            <a:endParaRPr sz="1200">
              <a:latin typeface="Segoe UI Semibold"/>
              <a:cs typeface="Segoe UI Semibold"/>
            </a:endParaRPr>
          </a:p>
        </p:txBody>
      </p:sp>
      <p:sp>
        <p:nvSpPr>
          <p:cNvPr id="36" name="object 55">
            <a:extLst>
              <a:ext uri="{FF2B5EF4-FFF2-40B4-BE49-F238E27FC236}">
                <a16:creationId xmlns:a16="http://schemas.microsoft.com/office/drawing/2014/main" id="{06500EFD-57D0-49BF-C523-3E0BA857CD94}"/>
              </a:ext>
            </a:extLst>
          </p:cNvPr>
          <p:cNvSpPr/>
          <p:nvPr/>
        </p:nvSpPr>
        <p:spPr>
          <a:xfrm>
            <a:off x="6283488" y="1211052"/>
            <a:ext cx="0" cy="716280"/>
          </a:xfrm>
          <a:custGeom>
            <a:avLst/>
            <a:gdLst/>
            <a:ahLst/>
            <a:cxnLst/>
            <a:rect l="l" t="t" r="r" b="b"/>
            <a:pathLst>
              <a:path h="716280">
                <a:moveTo>
                  <a:pt x="0" y="0"/>
                </a:moveTo>
                <a:lnTo>
                  <a:pt x="0" y="715772"/>
                </a:lnTo>
              </a:path>
            </a:pathLst>
          </a:custGeom>
          <a:ln w="9525">
            <a:solidFill>
              <a:srgbClr val="D9D9D9"/>
            </a:solidFill>
          </a:ln>
        </p:spPr>
        <p:txBody>
          <a:bodyPr wrap="square" lIns="0" tIns="0" rIns="0" bIns="0" rtlCol="0"/>
          <a:lstStyle/>
          <a:p>
            <a:endParaRPr/>
          </a:p>
        </p:txBody>
      </p:sp>
      <p:sp>
        <p:nvSpPr>
          <p:cNvPr id="37" name="object 56">
            <a:extLst>
              <a:ext uri="{FF2B5EF4-FFF2-40B4-BE49-F238E27FC236}">
                <a16:creationId xmlns:a16="http://schemas.microsoft.com/office/drawing/2014/main" id="{D87C13A4-05CD-C0DB-5365-4B6B4D1F29D4}"/>
              </a:ext>
            </a:extLst>
          </p:cNvPr>
          <p:cNvSpPr/>
          <p:nvPr/>
        </p:nvSpPr>
        <p:spPr>
          <a:xfrm>
            <a:off x="2257715" y="1211052"/>
            <a:ext cx="0" cy="716280"/>
          </a:xfrm>
          <a:custGeom>
            <a:avLst/>
            <a:gdLst/>
            <a:ahLst/>
            <a:cxnLst/>
            <a:rect l="l" t="t" r="r" b="b"/>
            <a:pathLst>
              <a:path h="716280">
                <a:moveTo>
                  <a:pt x="0" y="0"/>
                </a:moveTo>
                <a:lnTo>
                  <a:pt x="0" y="715772"/>
                </a:lnTo>
              </a:path>
            </a:pathLst>
          </a:custGeom>
          <a:ln w="9525">
            <a:solidFill>
              <a:srgbClr val="D9D9D9"/>
            </a:solidFill>
          </a:ln>
        </p:spPr>
        <p:txBody>
          <a:bodyPr wrap="square" lIns="0" tIns="0" rIns="0" bIns="0" rtlCol="0"/>
          <a:lstStyle/>
          <a:p>
            <a:endParaRPr/>
          </a:p>
        </p:txBody>
      </p:sp>
      <p:sp>
        <p:nvSpPr>
          <p:cNvPr id="38" name="object 57">
            <a:extLst>
              <a:ext uri="{FF2B5EF4-FFF2-40B4-BE49-F238E27FC236}">
                <a16:creationId xmlns:a16="http://schemas.microsoft.com/office/drawing/2014/main" id="{AF704E68-3928-4986-A2BE-04104E309876}"/>
              </a:ext>
            </a:extLst>
          </p:cNvPr>
          <p:cNvSpPr/>
          <p:nvPr/>
        </p:nvSpPr>
        <p:spPr>
          <a:xfrm>
            <a:off x="4270664" y="1211052"/>
            <a:ext cx="0" cy="716280"/>
          </a:xfrm>
          <a:custGeom>
            <a:avLst/>
            <a:gdLst/>
            <a:ahLst/>
            <a:cxnLst/>
            <a:rect l="l" t="t" r="r" b="b"/>
            <a:pathLst>
              <a:path h="716280">
                <a:moveTo>
                  <a:pt x="0" y="0"/>
                </a:moveTo>
                <a:lnTo>
                  <a:pt x="0" y="715772"/>
                </a:lnTo>
              </a:path>
            </a:pathLst>
          </a:custGeom>
          <a:ln w="9525">
            <a:solidFill>
              <a:srgbClr val="D9D9D9"/>
            </a:solidFill>
          </a:ln>
        </p:spPr>
        <p:txBody>
          <a:bodyPr wrap="square" lIns="0" tIns="0" rIns="0" bIns="0" rtlCol="0"/>
          <a:lstStyle/>
          <a:p>
            <a:endParaRPr/>
          </a:p>
        </p:txBody>
      </p:sp>
      <p:sp>
        <p:nvSpPr>
          <p:cNvPr id="39" name="object 58">
            <a:extLst>
              <a:ext uri="{FF2B5EF4-FFF2-40B4-BE49-F238E27FC236}">
                <a16:creationId xmlns:a16="http://schemas.microsoft.com/office/drawing/2014/main" id="{939408C2-3D54-B4D7-941B-33B0F54D8AC3}"/>
              </a:ext>
            </a:extLst>
          </p:cNvPr>
          <p:cNvSpPr/>
          <p:nvPr/>
        </p:nvSpPr>
        <p:spPr>
          <a:xfrm>
            <a:off x="8296437" y="1211052"/>
            <a:ext cx="0" cy="716280"/>
          </a:xfrm>
          <a:custGeom>
            <a:avLst/>
            <a:gdLst/>
            <a:ahLst/>
            <a:cxnLst/>
            <a:rect l="l" t="t" r="r" b="b"/>
            <a:pathLst>
              <a:path h="716280">
                <a:moveTo>
                  <a:pt x="0" y="0"/>
                </a:moveTo>
                <a:lnTo>
                  <a:pt x="0" y="715772"/>
                </a:lnTo>
              </a:path>
            </a:pathLst>
          </a:custGeom>
          <a:ln w="9525">
            <a:solidFill>
              <a:srgbClr val="D9D9D9"/>
            </a:solidFill>
          </a:ln>
        </p:spPr>
        <p:txBody>
          <a:bodyPr wrap="square" lIns="0" tIns="0" rIns="0" bIns="0" rtlCol="0"/>
          <a:lstStyle/>
          <a:p>
            <a:endParaRPr/>
          </a:p>
        </p:txBody>
      </p:sp>
      <p:sp>
        <p:nvSpPr>
          <p:cNvPr id="40" name="object 59">
            <a:extLst>
              <a:ext uri="{FF2B5EF4-FFF2-40B4-BE49-F238E27FC236}">
                <a16:creationId xmlns:a16="http://schemas.microsoft.com/office/drawing/2014/main" id="{3C3398D7-3DFA-D4EC-A30B-A7A945748D52}"/>
              </a:ext>
            </a:extLst>
          </p:cNvPr>
          <p:cNvSpPr/>
          <p:nvPr/>
        </p:nvSpPr>
        <p:spPr>
          <a:xfrm>
            <a:off x="10309261" y="1211052"/>
            <a:ext cx="0" cy="716280"/>
          </a:xfrm>
          <a:custGeom>
            <a:avLst/>
            <a:gdLst/>
            <a:ahLst/>
            <a:cxnLst/>
            <a:rect l="l" t="t" r="r" b="b"/>
            <a:pathLst>
              <a:path h="716280">
                <a:moveTo>
                  <a:pt x="0" y="0"/>
                </a:moveTo>
                <a:lnTo>
                  <a:pt x="0" y="715772"/>
                </a:lnTo>
              </a:path>
            </a:pathLst>
          </a:custGeom>
          <a:ln w="9525">
            <a:solidFill>
              <a:srgbClr val="D9D9D9"/>
            </a:solidFill>
          </a:ln>
        </p:spPr>
        <p:txBody>
          <a:bodyPr wrap="square" lIns="0" tIns="0" rIns="0" bIns="0" rtlCol="0"/>
          <a:lstStyle/>
          <a:p>
            <a:endParaRPr/>
          </a:p>
        </p:txBody>
      </p:sp>
      <p:sp>
        <p:nvSpPr>
          <p:cNvPr id="42" name="Rectangle: Rounded Corners 41">
            <a:extLst>
              <a:ext uri="{FF2B5EF4-FFF2-40B4-BE49-F238E27FC236}">
                <a16:creationId xmlns:a16="http://schemas.microsoft.com/office/drawing/2014/main" id="{E414EB76-6975-05CD-81D2-3A2E6FCE3A1D}"/>
              </a:ext>
            </a:extLst>
          </p:cNvPr>
          <p:cNvSpPr/>
          <p:nvPr/>
        </p:nvSpPr>
        <p:spPr>
          <a:xfrm>
            <a:off x="334496" y="5203002"/>
            <a:ext cx="11268680" cy="1042590"/>
          </a:xfrm>
          <a:prstGeom prst="roundRect">
            <a:avLst/>
          </a:prstGeom>
          <a:solidFill>
            <a:srgbClr val="FFFFCC"/>
          </a:solidFill>
          <a:ln w="19050">
            <a:solidFill>
              <a:srgbClr val="EB0000"/>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r>
              <a:rPr lang="en-US" sz="1200" dirty="0">
                <a:solidFill>
                  <a:schemeClr val="tx1"/>
                </a:solidFill>
                <a:latin typeface="Aptos Narrow" panose="020B0004020202020204" pitchFamily="34" charset="0"/>
              </a:rPr>
              <a:t>*The exact timeline for this stage will depend on the size of the engagement. Duration:</a:t>
            </a:r>
          </a:p>
          <a:p>
            <a:pPr marL="344488" indent="-171450">
              <a:buFont typeface="Arial" panose="020B0604020202020204" pitchFamily="34" charset="0"/>
              <a:buChar char="•"/>
            </a:pPr>
            <a:r>
              <a:rPr lang="en-US" sz="1200" dirty="0">
                <a:solidFill>
                  <a:schemeClr val="tx1"/>
                </a:solidFill>
                <a:latin typeface="Aptos Narrow" panose="020B0004020202020204" pitchFamily="34" charset="0"/>
              </a:rPr>
              <a:t>Pre-sales: All sizes = 120 days</a:t>
            </a:r>
          </a:p>
          <a:p>
            <a:pPr marL="344488" indent="-171450">
              <a:buFont typeface="Arial" panose="020B0604020202020204" pitchFamily="34" charset="0"/>
              <a:buChar char="•"/>
            </a:pPr>
            <a:r>
              <a:rPr lang="en-US" sz="1200" dirty="0">
                <a:solidFill>
                  <a:schemeClr val="tx1"/>
                </a:solidFill>
                <a:latin typeface="Aptos Narrow" panose="020B0004020202020204" pitchFamily="34" charset="0"/>
              </a:rPr>
              <a:t>Post-sales: L = 260 days, M = 200 days, all other sizes = 120 days</a:t>
            </a:r>
          </a:p>
          <a:p>
            <a:pPr marL="171450" indent="-171450">
              <a:buFont typeface="Arial" panose="020B0604020202020204" pitchFamily="34" charset="0"/>
              <a:buChar char="•"/>
            </a:pPr>
            <a:endParaRPr lang="en-US" sz="1200" dirty="0">
              <a:solidFill>
                <a:schemeClr val="tx1"/>
              </a:solidFill>
              <a:latin typeface="Aptos Narrow" panose="020B0004020202020204" pitchFamily="34" charset="0"/>
            </a:endParaRPr>
          </a:p>
          <a:p>
            <a:r>
              <a:rPr lang="en-US" sz="1200" dirty="0">
                <a:solidFill>
                  <a:schemeClr val="tx1"/>
                </a:solidFill>
                <a:latin typeface="Aptos Narrow" panose="020B0004020202020204" pitchFamily="34" charset="0"/>
              </a:rPr>
              <a:t>Microsoft-funded engagements must be completed within a set timeframe (120 to 260 days). Please also plan ahead for customer attestation survey completion.</a:t>
            </a:r>
          </a:p>
        </p:txBody>
      </p:sp>
    </p:spTree>
    <p:extLst>
      <p:ext uri="{BB962C8B-B14F-4D97-AF65-F5344CB8AC3E}">
        <p14:creationId xmlns:p14="http://schemas.microsoft.com/office/powerpoint/2010/main" val="2028094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4CAA4-4083-DFB6-917C-0AE89DBA8021}"/>
              </a:ext>
            </a:extLst>
          </p:cNvPr>
          <p:cNvSpPr>
            <a:spLocks noGrp="1"/>
          </p:cNvSpPr>
          <p:nvPr>
            <p:ph type="title"/>
          </p:nvPr>
        </p:nvSpPr>
        <p:spPr>
          <a:xfrm>
            <a:off x="334496" y="268589"/>
            <a:ext cx="11495554" cy="484043"/>
          </a:xfrm>
        </p:spPr>
        <p:txBody>
          <a:bodyPr/>
          <a:lstStyle/>
          <a:p>
            <a:r>
              <a:rPr lang="en-US" b="1" dirty="0"/>
              <a:t>New Alliance-led Funding Process</a:t>
            </a:r>
          </a:p>
        </p:txBody>
      </p:sp>
      <p:sp>
        <p:nvSpPr>
          <p:cNvPr id="3" name="Slide Number Placeholder 2">
            <a:extLst>
              <a:ext uri="{FF2B5EF4-FFF2-40B4-BE49-F238E27FC236}">
                <a16:creationId xmlns:a16="http://schemas.microsoft.com/office/drawing/2014/main" id="{2C0D442D-8F2B-D15D-8F9D-DF156E74A635}"/>
              </a:ext>
            </a:extLst>
          </p:cNvPr>
          <p:cNvSpPr>
            <a:spLocks noGrp="1"/>
          </p:cNvSpPr>
          <p:nvPr>
            <p:ph type="sldNum" sz="quarter" idx="4"/>
          </p:nvPr>
        </p:nvSpPr>
        <p:spPr/>
        <p:txBody>
          <a:bodyPr/>
          <a:lstStyle/>
          <a:p>
            <a:fld id="{762E77F0-FB5B-4E8E-9BC9-34F14560A017}" type="slidenum">
              <a:rPr lang="en-US" smtClean="0"/>
              <a:pPr/>
              <a:t>8</a:t>
            </a:fld>
            <a:endParaRPr lang="en-US"/>
          </a:p>
        </p:txBody>
      </p:sp>
      <p:sp>
        <p:nvSpPr>
          <p:cNvPr id="5" name="TextBox 4">
            <a:extLst>
              <a:ext uri="{FF2B5EF4-FFF2-40B4-BE49-F238E27FC236}">
                <a16:creationId xmlns:a16="http://schemas.microsoft.com/office/drawing/2014/main" id="{F1459E04-0DA5-9D6B-2FBA-63ADF75DFA4A}"/>
              </a:ext>
            </a:extLst>
          </p:cNvPr>
          <p:cNvSpPr txBox="1"/>
          <p:nvPr/>
        </p:nvSpPr>
        <p:spPr>
          <a:xfrm>
            <a:off x="21531" y="1101685"/>
            <a:ext cx="12185339" cy="5170646"/>
          </a:xfrm>
          <a:prstGeom prst="rect">
            <a:avLst/>
          </a:prstGeom>
          <a:noFill/>
        </p:spPr>
        <p:txBody>
          <a:bodyPr wrap="square">
            <a:spAutoFit/>
          </a:bodyPr>
          <a:lstStyle/>
          <a:p>
            <a:pPr marL="0" marR="0">
              <a:buNone/>
            </a:pPr>
            <a:r>
              <a:rPr lang="en-US" sz="1100" b="1"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Step 1: Identify &amp; Verify</a:t>
            </a:r>
            <a:endParaRPr lang="en-US" sz="1100" b="1"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Rackspace </a:t>
            </a:r>
            <a:r>
              <a:rPr lang="en-US" sz="1100" b="1" dirty="0">
                <a:solidFill>
                  <a:schemeClr val="tx2"/>
                </a:solidFill>
                <a:effectLst/>
                <a:latin typeface="Aptos Narrow" panose="020B0004020202020204" pitchFamily="34" charset="0"/>
                <a:ea typeface="Aptos" panose="020B0004020202020204" pitchFamily="34" charset="0"/>
                <a:cs typeface="Aptos" panose="020B0004020202020204" pitchFamily="34" charset="0"/>
              </a:rPr>
              <a:t>Seller + SA </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identify end-customer project</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Rackspace </a:t>
            </a:r>
            <a:r>
              <a:rPr lang="en-US" sz="1100" b="1" dirty="0">
                <a:solidFill>
                  <a:schemeClr val="tx2"/>
                </a:solidFill>
                <a:effectLst/>
                <a:latin typeface="Aptos Narrow" panose="020B0004020202020204" pitchFamily="34" charset="0"/>
                <a:ea typeface="Aptos" panose="020B0004020202020204" pitchFamily="34" charset="0"/>
                <a:cs typeface="Aptos" panose="020B0004020202020204" pitchFamily="34" charset="0"/>
              </a:rPr>
              <a:t>Alliance</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 verifies customer eligibility within 3 business days (due to required Microsoft process)</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effectLst/>
                <a:latin typeface="Aptos Narrow" panose="020B0004020202020204" pitchFamily="34" charset="0"/>
                <a:ea typeface="Aptos" panose="020B0004020202020204" pitchFamily="34" charset="0"/>
                <a:cs typeface="Aptos" panose="020B0004020202020204" pitchFamily="34" charset="0"/>
              </a:rPr>
              <a:t> </a:t>
            </a:r>
          </a:p>
          <a:p>
            <a:pPr marL="0" marR="0">
              <a:buNone/>
            </a:pPr>
            <a:r>
              <a:rPr lang="en-US" sz="1100" b="1"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Step 2: Gather Project Info</a:t>
            </a:r>
            <a:endParaRPr lang="en-US" sz="1100" b="1" dirty="0">
              <a:effectLst/>
              <a:latin typeface="Aptos Narrow" panose="020B0004020202020204" pitchFamily="34" charset="0"/>
              <a:ea typeface="Aptos" panose="020B0004020202020204" pitchFamily="34" charset="0"/>
              <a:cs typeface="Aptos" panose="020B0004020202020204" pitchFamily="34" charset="0"/>
            </a:endParaRPr>
          </a:p>
          <a:p>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Rackspace </a:t>
            </a:r>
            <a:r>
              <a:rPr lang="en-US" sz="1100" b="1" dirty="0">
                <a:solidFill>
                  <a:schemeClr val="tx2"/>
                </a:solidFill>
                <a:effectLst/>
                <a:latin typeface="Aptos Narrow" panose="020B0004020202020204" pitchFamily="34" charset="0"/>
                <a:ea typeface="Aptos" panose="020B0004020202020204" pitchFamily="34" charset="0"/>
                <a:cs typeface="Aptos" panose="020B0004020202020204" pitchFamily="34" charset="0"/>
              </a:rPr>
              <a:t>Seller</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 to provide </a:t>
            </a:r>
            <a:r>
              <a:rPr lang="en-US" sz="1100" b="1" dirty="0">
                <a:solidFill>
                  <a:schemeClr val="tx2"/>
                </a:solidFill>
                <a:latin typeface="Aptos Narrow" panose="020B0004020202020204" pitchFamily="34" charset="0"/>
                <a:ea typeface="Aptos" panose="020B0004020202020204" pitchFamily="34" charset="0"/>
                <a:cs typeface="Aptos" panose="020B0004020202020204" pitchFamily="34" charset="0"/>
              </a:rPr>
              <a:t>Alliance </a:t>
            </a:r>
            <a:r>
              <a:rPr lang="en-US" sz="1100" dirty="0">
                <a:solidFill>
                  <a:srgbClr val="000000"/>
                </a:solidFill>
                <a:latin typeface="Aptos Narrow" panose="020B0004020202020204" pitchFamily="34" charset="0"/>
              </a:rPr>
              <a:t>with</a:t>
            </a:r>
            <a:r>
              <a:rPr lang="en-US" sz="1100" b="1" dirty="0">
                <a:solidFill>
                  <a:schemeClr val="tx2"/>
                </a:solidFill>
                <a:latin typeface="Aptos Narrow" panose="020B0004020202020204" pitchFamily="34" charset="0"/>
                <a:ea typeface="Aptos" panose="020B0004020202020204" pitchFamily="34" charset="0"/>
                <a:cs typeface="Aptos" panose="020B0004020202020204" pitchFamily="34" charset="0"/>
              </a:rPr>
              <a:t> </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Customer contact name, email and job title</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Rackspace </a:t>
            </a:r>
            <a:r>
              <a:rPr lang="en-US" sz="1100" b="1" dirty="0">
                <a:solidFill>
                  <a:schemeClr val="tx2"/>
                </a:solidFill>
                <a:effectLst/>
                <a:latin typeface="Aptos Narrow" panose="020B0004020202020204" pitchFamily="34" charset="0"/>
                <a:ea typeface="Aptos" panose="020B0004020202020204" pitchFamily="34" charset="0"/>
                <a:cs typeface="Aptos" panose="020B0004020202020204" pitchFamily="34" charset="0"/>
              </a:rPr>
              <a:t>SA</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 to provide </a:t>
            </a:r>
            <a:r>
              <a:rPr lang="en-US" sz="1100" b="1" dirty="0">
                <a:solidFill>
                  <a:schemeClr val="tx2"/>
                </a:solidFill>
                <a:latin typeface="Aptos Narrow" panose="020B0004020202020204" pitchFamily="34" charset="0"/>
                <a:ea typeface="Aptos" panose="020B0004020202020204" pitchFamily="34" charset="0"/>
                <a:cs typeface="Aptos" panose="020B0004020202020204" pitchFamily="34" charset="0"/>
              </a:rPr>
              <a:t>Alliance </a:t>
            </a:r>
            <a:r>
              <a:rPr lang="en-US" sz="1100" dirty="0">
                <a:solidFill>
                  <a:srgbClr val="000000"/>
                </a:solidFill>
                <a:latin typeface="Aptos Narrow" panose="020B0004020202020204" pitchFamily="34" charset="0"/>
              </a:rPr>
              <a:t>with</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 Azure Calculator with estimated project size ACR year 1</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effectLst/>
                <a:latin typeface="Aptos Narrow" panose="020B0004020202020204" pitchFamily="34" charset="0"/>
                <a:ea typeface="Aptos" panose="020B0004020202020204" pitchFamily="34" charset="0"/>
                <a:cs typeface="Aptos" panose="020B0004020202020204" pitchFamily="34" charset="0"/>
              </a:rPr>
              <a:t> </a:t>
            </a:r>
          </a:p>
          <a:p>
            <a:pPr marL="0" marR="0">
              <a:buNone/>
            </a:pPr>
            <a:r>
              <a:rPr lang="en-US" sz="1100" b="1"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Step 3: Nominate in Partner Center</a:t>
            </a:r>
            <a:endParaRPr lang="en-US" sz="1100" b="1"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Rackspace </a:t>
            </a:r>
            <a:r>
              <a:rPr lang="en-US" sz="1100" b="1" dirty="0">
                <a:solidFill>
                  <a:schemeClr val="tx2"/>
                </a:solidFill>
                <a:effectLst/>
                <a:latin typeface="Aptos Narrow" panose="020B0004020202020204" pitchFamily="34" charset="0"/>
                <a:ea typeface="Aptos" panose="020B0004020202020204" pitchFamily="34" charset="0"/>
                <a:cs typeface="Aptos" panose="020B0004020202020204" pitchFamily="34" charset="0"/>
              </a:rPr>
              <a:t>Alliance</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 nominates customer in Microsoft Partner Center portal</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effectLst/>
                <a:latin typeface="Aptos Narrow" panose="020B0004020202020204" pitchFamily="34" charset="0"/>
                <a:ea typeface="Aptos" panose="020B0004020202020204" pitchFamily="34" charset="0"/>
                <a:cs typeface="Aptos" panose="020B0004020202020204" pitchFamily="34" charset="0"/>
              </a:rPr>
              <a:t> </a:t>
            </a:r>
          </a:p>
          <a:p>
            <a:pPr marL="0" marR="0">
              <a:buNone/>
            </a:pPr>
            <a:r>
              <a:rPr lang="en-US" sz="1100" b="1"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Step 4: Customer consent</a:t>
            </a:r>
            <a:endParaRPr lang="en-US" sz="1100" b="1" dirty="0">
              <a:effectLst/>
              <a:latin typeface="Aptos Narrow" panose="020B0004020202020204" pitchFamily="34" charset="0"/>
              <a:ea typeface="Aptos" panose="020B0004020202020204" pitchFamily="34" charset="0"/>
              <a:cs typeface="Aptos" panose="020B0004020202020204" pitchFamily="34" charset="0"/>
            </a:endParaRPr>
          </a:p>
          <a:p>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Customer receives consent email and submits consent form (triggered by </a:t>
            </a:r>
            <a:r>
              <a:rPr lang="en-US" sz="1100" b="1" dirty="0">
                <a:solidFill>
                  <a:schemeClr val="tx2"/>
                </a:solidFill>
                <a:latin typeface="Aptos Narrow" panose="020B0004020202020204" pitchFamily="34" charset="0"/>
                <a:ea typeface="Aptos" panose="020B0004020202020204" pitchFamily="34" charset="0"/>
                <a:cs typeface="Aptos" panose="020B0004020202020204" pitchFamily="34" charset="0"/>
              </a:rPr>
              <a:t>Alliance</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 Consent must be received 30 days max from nominating the customer)</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effectLst/>
                <a:latin typeface="Aptos Narrow" panose="020B0004020202020204" pitchFamily="34" charset="0"/>
                <a:ea typeface="Aptos" panose="020B0004020202020204" pitchFamily="34" charset="0"/>
                <a:cs typeface="Aptos" panose="020B0004020202020204" pitchFamily="34" charset="0"/>
              </a:rPr>
              <a:t> </a:t>
            </a:r>
          </a:p>
          <a:p>
            <a:pPr marL="0" marR="0">
              <a:buNone/>
            </a:pPr>
            <a:r>
              <a:rPr lang="en-US" sz="1100" b="1"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Step 5: Execute Engagement</a:t>
            </a:r>
            <a:endParaRPr lang="en-US" sz="1100" b="1"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Migration delivered 120-260 days from receiving customer consent. Engagement must not start before consent reception.</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Rackspace </a:t>
            </a:r>
            <a:r>
              <a:rPr lang="en-US" sz="1100" b="1" dirty="0">
                <a:solidFill>
                  <a:schemeClr val="tx2"/>
                </a:solidFill>
                <a:effectLst/>
                <a:latin typeface="Aptos Narrow" panose="020B0004020202020204" pitchFamily="34" charset="0"/>
                <a:ea typeface="Aptos" panose="020B0004020202020204" pitchFamily="34" charset="0"/>
                <a:cs typeface="Aptos" panose="020B0004020202020204" pitchFamily="34" charset="0"/>
              </a:rPr>
              <a:t>Seller/SA/Delivery </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provides </a:t>
            </a:r>
            <a:r>
              <a:rPr lang="en-US" sz="1100" b="1" dirty="0">
                <a:solidFill>
                  <a:schemeClr val="tx2"/>
                </a:solidFill>
                <a:effectLst/>
                <a:latin typeface="Aptos Narrow" panose="020B0004020202020204" pitchFamily="34" charset="0"/>
                <a:ea typeface="Aptos" panose="020B0004020202020204" pitchFamily="34" charset="0"/>
                <a:cs typeface="Aptos" panose="020B0004020202020204" pitchFamily="34" charset="0"/>
              </a:rPr>
              <a:t>Alliance </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with start date and end date as well as Subscription IDs for Post-Sales engagements.</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effectLst/>
                <a:latin typeface="Aptos Narrow" panose="020B0004020202020204" pitchFamily="34" charset="0"/>
                <a:ea typeface="Aptos" panose="020B0004020202020204" pitchFamily="34" charset="0"/>
                <a:cs typeface="Aptos" panose="020B0004020202020204" pitchFamily="34" charset="0"/>
              </a:rPr>
              <a:t> </a:t>
            </a:r>
          </a:p>
          <a:p>
            <a:pPr marL="0" marR="0">
              <a:buNone/>
            </a:pPr>
            <a:r>
              <a:rPr lang="en-US" sz="1100" b="1"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Step 6: POE Claim Submission</a:t>
            </a:r>
            <a:endParaRPr lang="en-US" sz="1100" b="1" dirty="0">
              <a:effectLst/>
              <a:latin typeface="Aptos Narrow" panose="020B0004020202020204" pitchFamily="34" charset="0"/>
              <a:ea typeface="Aptos" panose="020B0004020202020204" pitchFamily="34" charset="0"/>
              <a:cs typeface="Aptos" panose="020B0004020202020204" pitchFamily="34" charset="0"/>
            </a:endParaRPr>
          </a:p>
          <a:p>
            <a:r>
              <a:rPr lang="en-US" sz="1100" dirty="0">
                <a:solidFill>
                  <a:srgbClr val="000000"/>
                </a:solidFill>
                <a:latin typeface="Aptos Narrow" panose="020B0004020202020204" pitchFamily="34" charset="0"/>
                <a:ea typeface="Aptos" panose="020B0004020202020204" pitchFamily="34" charset="0"/>
                <a:cs typeface="Aptos" panose="020B0004020202020204" pitchFamily="34" charset="0"/>
              </a:rPr>
              <a:t>Rackspace </a:t>
            </a:r>
            <a:r>
              <a:rPr lang="en-US" sz="1100" b="1" dirty="0">
                <a:solidFill>
                  <a:schemeClr val="tx2"/>
                </a:solidFill>
                <a:latin typeface="Aptos Narrow" panose="020B0004020202020204" pitchFamily="34" charset="0"/>
                <a:ea typeface="Aptos" panose="020B0004020202020204" pitchFamily="34" charset="0"/>
                <a:cs typeface="Aptos" panose="020B0004020202020204" pitchFamily="34" charset="0"/>
              </a:rPr>
              <a:t>SA/Delivery </a:t>
            </a:r>
            <a:r>
              <a:rPr lang="en-US" sz="1100" dirty="0">
                <a:solidFill>
                  <a:srgbClr val="000000"/>
                </a:solidFill>
                <a:latin typeface="Aptos Narrow" panose="020B0004020202020204" pitchFamily="34" charset="0"/>
                <a:ea typeface="Aptos" panose="020B0004020202020204" pitchFamily="34" charset="0"/>
                <a:cs typeface="Aptos" panose="020B0004020202020204" pitchFamily="34" charset="0"/>
              </a:rPr>
              <a:t>provides</a:t>
            </a:r>
            <a:r>
              <a:rPr lang="en-US" sz="1100" b="1" dirty="0">
                <a:solidFill>
                  <a:schemeClr val="tx2"/>
                </a:solidFill>
                <a:latin typeface="Aptos Narrow" panose="020B0004020202020204" pitchFamily="34" charset="0"/>
                <a:ea typeface="Aptos" panose="020B0004020202020204" pitchFamily="34" charset="0"/>
                <a:cs typeface="Aptos" panose="020B0004020202020204" pitchFamily="34" charset="0"/>
              </a:rPr>
              <a:t> Alliance </a:t>
            </a:r>
            <a:r>
              <a:rPr lang="en-US" sz="1100" dirty="0">
                <a:solidFill>
                  <a:srgbClr val="000000"/>
                </a:solidFill>
                <a:latin typeface="Aptos Narrow" panose="020B0004020202020204" pitchFamily="34" charset="0"/>
                <a:ea typeface="Aptos" panose="020B0004020202020204" pitchFamily="34" charset="0"/>
                <a:cs typeface="Aptos" panose="020B0004020202020204" pitchFamily="34" charset="0"/>
              </a:rPr>
              <a:t>with Azure Calculator [if Pre-Sales: Assessment report (Azure Migrate or Dr. Migrate or 4 workshops) / Solution architecture / Post-assessment + POV deployment plan]</a:t>
            </a:r>
          </a:p>
          <a:p>
            <a:pPr marL="0" marR="0">
              <a:buNone/>
            </a:pP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Rackspace </a:t>
            </a:r>
            <a:r>
              <a:rPr lang="en-US" sz="1100" b="1" dirty="0">
                <a:solidFill>
                  <a:schemeClr val="tx2"/>
                </a:solidFill>
                <a:effectLst/>
                <a:latin typeface="Aptos Narrow" panose="020B0004020202020204" pitchFamily="34" charset="0"/>
                <a:ea typeface="Aptos" panose="020B0004020202020204" pitchFamily="34" charset="0"/>
                <a:cs typeface="Aptos" panose="020B0004020202020204" pitchFamily="34" charset="0"/>
              </a:rPr>
              <a:t>Alliance</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 submits POE documents (including claim invoice and signed POE template)</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Rackspace</a:t>
            </a:r>
            <a:r>
              <a:rPr lang="en-US" sz="1100" b="1" dirty="0">
                <a:solidFill>
                  <a:schemeClr val="tx2"/>
                </a:solidFill>
                <a:latin typeface="Aptos Narrow" panose="020B0004020202020204" pitchFamily="34" charset="0"/>
                <a:ea typeface="Aptos" panose="020B0004020202020204" pitchFamily="34" charset="0"/>
                <a:cs typeface="Aptos" panose="020B0004020202020204" pitchFamily="34" charset="0"/>
              </a:rPr>
              <a:t> Alliance</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 sends partner and customer surveys (engagement start and end date required)</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effectLst/>
                <a:latin typeface="Aptos Narrow" panose="020B0004020202020204" pitchFamily="34" charset="0"/>
                <a:ea typeface="Aptos" panose="020B0004020202020204" pitchFamily="34" charset="0"/>
                <a:cs typeface="Aptos" panose="020B0004020202020204" pitchFamily="34" charset="0"/>
              </a:rPr>
              <a:t> </a:t>
            </a:r>
          </a:p>
          <a:p>
            <a:pPr marL="0" marR="0">
              <a:buNone/>
            </a:pPr>
            <a:r>
              <a:rPr lang="en-US" sz="1100" b="1"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Step 7: POE Validation</a:t>
            </a:r>
            <a:endParaRPr lang="en-US" sz="1100" b="1" dirty="0">
              <a:effectLst/>
              <a:latin typeface="Aptos Narrow" panose="020B0004020202020204" pitchFamily="34" charset="0"/>
              <a:ea typeface="Aptos" panose="020B0004020202020204" pitchFamily="34" charset="0"/>
              <a:cs typeface="Aptos" panose="020B0004020202020204" pitchFamily="34" charset="0"/>
            </a:endParaRPr>
          </a:p>
          <a:p>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Microsoft reviews POE documentation and reaches out to Rackspace </a:t>
            </a:r>
            <a:r>
              <a:rPr lang="en-US" sz="1100" b="1" dirty="0">
                <a:solidFill>
                  <a:schemeClr val="tx2"/>
                </a:solidFill>
                <a:latin typeface="Aptos Narrow" panose="020B0004020202020204" pitchFamily="34" charset="0"/>
                <a:ea typeface="Aptos" panose="020B0004020202020204" pitchFamily="34" charset="0"/>
                <a:cs typeface="Aptos" panose="020B0004020202020204" pitchFamily="34" charset="0"/>
              </a:rPr>
              <a:t>Alliance </a:t>
            </a: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if additional information is needed.</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Microsoft approves or declines POE 30 days max from claim submission</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effectLst/>
                <a:latin typeface="Aptos Narrow" panose="020B0004020202020204" pitchFamily="34" charset="0"/>
                <a:ea typeface="Aptos" panose="020B0004020202020204" pitchFamily="34" charset="0"/>
                <a:cs typeface="Aptos" panose="020B0004020202020204" pitchFamily="34" charset="0"/>
              </a:rPr>
              <a:t> </a:t>
            </a:r>
          </a:p>
          <a:p>
            <a:pPr marL="0" marR="0">
              <a:buNone/>
            </a:pPr>
            <a:r>
              <a:rPr lang="en-US" sz="1100" b="1"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Step 8: Payment</a:t>
            </a:r>
            <a:endParaRPr lang="en-US" sz="1100" b="1"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Once approved, claim will be processed for payment</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a:p>
            <a:pPr marL="0" marR="0">
              <a:buNone/>
            </a:pPr>
            <a:r>
              <a:rPr lang="en-US" sz="1100" dirty="0">
                <a:solidFill>
                  <a:srgbClr val="000000"/>
                </a:solidFill>
                <a:effectLst/>
                <a:latin typeface="Aptos Narrow" panose="020B0004020202020204" pitchFamily="34" charset="0"/>
                <a:ea typeface="Aptos" panose="020B0004020202020204" pitchFamily="34" charset="0"/>
                <a:cs typeface="Aptos" panose="020B0004020202020204" pitchFamily="34" charset="0"/>
              </a:rPr>
              <a:t>Microsoft issues payment to Rackspace 45 days max from claim approval month end</a:t>
            </a:r>
            <a:endParaRPr lang="en-US" sz="1100" dirty="0">
              <a:effectLst/>
              <a:latin typeface="Aptos Narrow" panose="020B0004020202020204" pitchFamily="34" charset="0"/>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593977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BCD95-96EF-DBCB-7A72-0EE13390D3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B4B473-449D-5811-B816-005DBCAC5BF6}"/>
              </a:ext>
            </a:extLst>
          </p:cNvPr>
          <p:cNvSpPr>
            <a:spLocks noGrp="1"/>
          </p:cNvSpPr>
          <p:nvPr>
            <p:ph type="title"/>
          </p:nvPr>
        </p:nvSpPr>
        <p:spPr>
          <a:xfrm>
            <a:off x="334496" y="268589"/>
            <a:ext cx="11495554" cy="484043"/>
          </a:xfrm>
        </p:spPr>
        <p:txBody>
          <a:bodyPr/>
          <a:lstStyle/>
          <a:p>
            <a:r>
              <a:rPr lang="en-US" b="1" dirty="0"/>
              <a:t>Microsoft Azure Funding Proof of Execution (POE) Owners</a:t>
            </a:r>
          </a:p>
        </p:txBody>
      </p:sp>
      <p:sp>
        <p:nvSpPr>
          <p:cNvPr id="3" name="Slide Number Placeholder 2">
            <a:extLst>
              <a:ext uri="{FF2B5EF4-FFF2-40B4-BE49-F238E27FC236}">
                <a16:creationId xmlns:a16="http://schemas.microsoft.com/office/drawing/2014/main" id="{CBC3FD3E-265B-01EC-9659-F695145780F9}"/>
              </a:ext>
            </a:extLst>
          </p:cNvPr>
          <p:cNvSpPr>
            <a:spLocks noGrp="1"/>
          </p:cNvSpPr>
          <p:nvPr>
            <p:ph type="sldNum" sz="quarter" idx="4"/>
          </p:nvPr>
        </p:nvSpPr>
        <p:spPr/>
        <p:txBody>
          <a:bodyPr/>
          <a:lstStyle/>
          <a:p>
            <a:fld id="{762E77F0-FB5B-4E8E-9BC9-34F14560A017}" type="slidenum">
              <a:rPr lang="en-US" smtClean="0"/>
              <a:pPr/>
              <a:t>9</a:t>
            </a:fld>
            <a:endParaRPr lang="en-US"/>
          </a:p>
        </p:txBody>
      </p:sp>
      <p:graphicFrame>
        <p:nvGraphicFramePr>
          <p:cNvPr id="4" name="Table 3">
            <a:extLst>
              <a:ext uri="{FF2B5EF4-FFF2-40B4-BE49-F238E27FC236}">
                <a16:creationId xmlns:a16="http://schemas.microsoft.com/office/drawing/2014/main" id="{835A34C1-2764-9809-48B8-2814765C2F08}"/>
              </a:ext>
            </a:extLst>
          </p:cNvPr>
          <p:cNvGraphicFramePr>
            <a:graphicFrameLocks noGrp="1"/>
          </p:cNvGraphicFramePr>
          <p:nvPr/>
        </p:nvGraphicFramePr>
        <p:xfrm>
          <a:off x="373281" y="1223633"/>
          <a:ext cx="4199810" cy="4890534"/>
        </p:xfrm>
        <a:graphic>
          <a:graphicData uri="http://schemas.openxmlformats.org/drawingml/2006/table">
            <a:tbl>
              <a:tblPr/>
              <a:tblGrid>
                <a:gridCol w="1674690">
                  <a:extLst>
                    <a:ext uri="{9D8B030D-6E8A-4147-A177-3AD203B41FA5}">
                      <a16:colId xmlns:a16="http://schemas.microsoft.com/office/drawing/2014/main" val="61469697"/>
                    </a:ext>
                  </a:extLst>
                </a:gridCol>
                <a:gridCol w="1561427">
                  <a:extLst>
                    <a:ext uri="{9D8B030D-6E8A-4147-A177-3AD203B41FA5}">
                      <a16:colId xmlns:a16="http://schemas.microsoft.com/office/drawing/2014/main" val="2778821442"/>
                    </a:ext>
                  </a:extLst>
                </a:gridCol>
                <a:gridCol w="963693">
                  <a:extLst>
                    <a:ext uri="{9D8B030D-6E8A-4147-A177-3AD203B41FA5}">
                      <a16:colId xmlns:a16="http://schemas.microsoft.com/office/drawing/2014/main" val="2155863030"/>
                    </a:ext>
                  </a:extLst>
                </a:gridCol>
              </a:tblGrid>
              <a:tr h="284751">
                <a:tc>
                  <a:txBody>
                    <a:bodyPr/>
                    <a:lstStyle/>
                    <a:p>
                      <a:pPr algn="l" fontAlgn="t">
                        <a:buNone/>
                      </a:pPr>
                      <a:r>
                        <a:rPr lang="en-US" sz="1400" b="1" i="0" u="none" strike="noStrike" dirty="0">
                          <a:solidFill>
                            <a:srgbClr val="000000"/>
                          </a:solidFill>
                          <a:effectLst/>
                          <a:latin typeface="Aptos Narrow"/>
                        </a:rPr>
                        <a:t>Pre-Sales</a:t>
                      </a:r>
                    </a:p>
                  </a:txBody>
                  <a:tcPr>
                    <a:lnL w="12700" cap="flat" cmpd="sng" algn="ctr">
                      <a:solidFill>
                        <a:schemeClr val="tx1"/>
                      </a:solidFill>
                      <a:prstDash val="solid"/>
                      <a:round/>
                      <a:headEnd type="none" w="med" len="med"/>
                      <a:tailEnd type="none" w="med" len="med"/>
                    </a:lnL>
                    <a:lnR w="635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E8E8E8"/>
                    </a:solidFill>
                  </a:tcPr>
                </a:tc>
                <a:tc>
                  <a:txBody>
                    <a:bodyPr/>
                    <a:lstStyle/>
                    <a:p>
                      <a:pPr algn="l" fontAlgn="t">
                        <a:buNone/>
                      </a:pPr>
                      <a:r>
                        <a:rPr lang="en-US" sz="1400" b="1" i="0" u="none" strike="noStrike">
                          <a:solidFill>
                            <a:srgbClr val="000000"/>
                          </a:solidFill>
                          <a:effectLst/>
                          <a:latin typeface="Aptos Narrow"/>
                        </a:rPr>
                        <a:t>Post-Sales</a:t>
                      </a:r>
                    </a:p>
                  </a:txBody>
                  <a:tcPr>
                    <a:lnL w="635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E8E8E8"/>
                    </a:solidFill>
                  </a:tcPr>
                </a:tc>
                <a:tc>
                  <a:txBody>
                    <a:bodyPr/>
                    <a:lstStyle/>
                    <a:p>
                      <a:pPr algn="l" fontAlgn="t">
                        <a:buNone/>
                      </a:pPr>
                      <a:r>
                        <a:rPr lang="en-US" sz="1400" b="1" i="0" u="none" strike="noStrike">
                          <a:solidFill>
                            <a:srgbClr val="000000"/>
                          </a:solidFill>
                          <a:effectLst/>
                          <a:latin typeface="Aptos Narrow"/>
                        </a:rPr>
                        <a:t>Owner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E8E8E8"/>
                    </a:solidFill>
                  </a:tcPr>
                </a:tc>
                <a:extLst>
                  <a:ext uri="{0D108BD9-81ED-4DB2-BD59-A6C34878D82A}">
                    <a16:rowId xmlns:a16="http://schemas.microsoft.com/office/drawing/2014/main" val="2398518848"/>
                  </a:ext>
                </a:extLst>
              </a:tr>
              <a:tr h="284751">
                <a:tc gridSpan="2">
                  <a:txBody>
                    <a:bodyPr/>
                    <a:lstStyle/>
                    <a:p>
                      <a:pPr algn="ctr" fontAlgn="t">
                        <a:buNone/>
                      </a:pPr>
                      <a:r>
                        <a:rPr lang="en-US" sz="1400" b="0" i="0" u="none" strike="noStrike">
                          <a:solidFill>
                            <a:srgbClr val="000000"/>
                          </a:solidFill>
                          <a:effectLst/>
                          <a:latin typeface="Aptos Narrow"/>
                        </a:rPr>
                        <a:t>Customer Consent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hMerge="1">
                  <a:txBody>
                    <a:bodyPr/>
                    <a:lstStyle/>
                    <a:p>
                      <a:endParaRPr lang="en-US"/>
                    </a:p>
                  </a:txBody>
                  <a:tcPr/>
                </a:tc>
                <a:tc>
                  <a:txBody>
                    <a:bodyPr/>
                    <a:lstStyle/>
                    <a:p>
                      <a:pPr algn="l" fontAlgn="t">
                        <a:buNone/>
                      </a:pPr>
                      <a:r>
                        <a:rPr lang="en-US" sz="1400" b="1" i="0" u="none" strike="noStrike">
                          <a:solidFill>
                            <a:srgbClr val="000000"/>
                          </a:solidFill>
                          <a:effectLst/>
                          <a:latin typeface="Aptos Narrow"/>
                        </a:rPr>
                        <a:t>Alliance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2334496042"/>
                  </a:ext>
                </a:extLst>
              </a:tr>
              <a:tr h="284751">
                <a:tc gridSpan="2">
                  <a:txBody>
                    <a:bodyPr/>
                    <a:lstStyle/>
                    <a:p>
                      <a:pPr algn="ctr" fontAlgn="t">
                        <a:buNone/>
                      </a:pPr>
                      <a:r>
                        <a:rPr lang="en-US" sz="1400" b="0" i="0" u="none" strike="noStrike" dirty="0">
                          <a:solidFill>
                            <a:srgbClr val="000000"/>
                          </a:solidFill>
                          <a:effectLst/>
                          <a:latin typeface="Aptos Narrow"/>
                        </a:rPr>
                        <a:t>Customer Survey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hMerge="1">
                  <a:txBody>
                    <a:bodyPr/>
                    <a:lstStyle/>
                    <a:p>
                      <a:endParaRPr lang="en-US"/>
                    </a:p>
                  </a:txBody>
                  <a:tcPr/>
                </a:tc>
                <a:tc>
                  <a:txBody>
                    <a:bodyPr/>
                    <a:lstStyle/>
                    <a:p>
                      <a:pPr algn="l" fontAlgn="t">
                        <a:buNone/>
                      </a:pPr>
                      <a:r>
                        <a:rPr lang="en-US" sz="1400" b="1" i="0" u="none" strike="noStrike">
                          <a:solidFill>
                            <a:srgbClr val="000000"/>
                          </a:solidFill>
                          <a:effectLst/>
                          <a:latin typeface="Aptos Narrow"/>
                        </a:rPr>
                        <a:t>Alliance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3067041605"/>
                  </a:ext>
                </a:extLst>
              </a:tr>
              <a:tr h="284751">
                <a:tc gridSpan="2">
                  <a:txBody>
                    <a:bodyPr/>
                    <a:lstStyle/>
                    <a:p>
                      <a:pPr algn="ctr" fontAlgn="t">
                        <a:buNone/>
                      </a:pPr>
                      <a:r>
                        <a:rPr lang="en-US" sz="1400" b="0" i="0" u="none" strike="noStrike">
                          <a:solidFill>
                            <a:srgbClr val="000000"/>
                          </a:solidFill>
                          <a:effectLst/>
                          <a:latin typeface="Aptos Narrow"/>
                        </a:rPr>
                        <a:t>Partner Survey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hMerge="1">
                  <a:txBody>
                    <a:bodyPr/>
                    <a:lstStyle/>
                    <a:p>
                      <a:endParaRPr lang="en-US"/>
                    </a:p>
                  </a:txBody>
                  <a:tcPr/>
                </a:tc>
                <a:tc>
                  <a:txBody>
                    <a:bodyPr/>
                    <a:lstStyle/>
                    <a:p>
                      <a:pPr algn="l" fontAlgn="t">
                        <a:buNone/>
                      </a:pPr>
                      <a:r>
                        <a:rPr lang="en-US" sz="1400" b="1" i="0" u="none" strike="noStrike">
                          <a:solidFill>
                            <a:srgbClr val="000000"/>
                          </a:solidFill>
                          <a:effectLst/>
                          <a:latin typeface="Aptos Narrow"/>
                        </a:rPr>
                        <a:t>Alliance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464678252"/>
                  </a:ext>
                </a:extLst>
              </a:tr>
              <a:tr h="284751">
                <a:tc gridSpan="2">
                  <a:txBody>
                    <a:bodyPr/>
                    <a:lstStyle/>
                    <a:p>
                      <a:pPr algn="ctr" fontAlgn="t">
                        <a:buNone/>
                      </a:pPr>
                      <a:r>
                        <a:rPr lang="en-US" sz="1400" b="0" i="0" u="none" strike="noStrike" dirty="0">
                          <a:solidFill>
                            <a:srgbClr val="000000"/>
                          </a:solidFill>
                          <a:effectLst/>
                          <a:latin typeface="Aptos Narrow"/>
                        </a:rPr>
                        <a:t>Invoice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hMerge="1">
                  <a:txBody>
                    <a:bodyPr/>
                    <a:lstStyle/>
                    <a:p>
                      <a:endParaRPr lang="en-US"/>
                    </a:p>
                  </a:txBody>
                  <a:tcPr/>
                </a:tc>
                <a:tc>
                  <a:txBody>
                    <a:bodyPr/>
                    <a:lstStyle/>
                    <a:p>
                      <a:pPr algn="l" fontAlgn="t">
                        <a:buNone/>
                      </a:pPr>
                      <a:r>
                        <a:rPr lang="en-US" sz="1400" b="1" i="0" u="none" strike="noStrike">
                          <a:solidFill>
                            <a:srgbClr val="000000"/>
                          </a:solidFill>
                          <a:effectLst/>
                          <a:latin typeface="Aptos Narrow"/>
                        </a:rPr>
                        <a:t>Alliance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2944084320"/>
                  </a:ext>
                </a:extLst>
              </a:tr>
              <a:tr h="284751">
                <a:tc gridSpan="2">
                  <a:txBody>
                    <a:bodyPr/>
                    <a:lstStyle/>
                    <a:p>
                      <a:pPr algn="ctr" fontAlgn="t">
                        <a:buNone/>
                      </a:pPr>
                      <a:r>
                        <a:rPr lang="en-US" sz="1400" b="0" i="0" u="none" strike="noStrike">
                          <a:solidFill>
                            <a:srgbClr val="000000"/>
                          </a:solidFill>
                          <a:effectLst/>
                          <a:latin typeface="Aptos Narrow"/>
                        </a:rPr>
                        <a:t>Azure Calculator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FFFF00"/>
                    </a:solidFill>
                  </a:tcPr>
                </a:tc>
                <a:tc hMerge="1">
                  <a:txBody>
                    <a:bodyPr/>
                    <a:lstStyle/>
                    <a:p>
                      <a:endParaRPr/>
                    </a:p>
                  </a:txBody>
                  <a:tcPr marL="6350" marR="6350" marT="6350" marB="0">
                    <a:lnL w="635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l" fontAlgn="t">
                        <a:buNone/>
                      </a:pPr>
                      <a:r>
                        <a:rPr lang="en-US" sz="1400" b="1" i="0" u="none" strike="noStrike">
                          <a:solidFill>
                            <a:srgbClr val="000000"/>
                          </a:solidFill>
                          <a:effectLst/>
                          <a:latin typeface="Aptos Narrow"/>
                        </a:rPr>
                        <a:t>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solidFill>
                      <a:srgbClr val="FFFF00"/>
                    </a:solidFill>
                  </a:tcPr>
                </a:tc>
                <a:extLst>
                  <a:ext uri="{0D108BD9-81ED-4DB2-BD59-A6C34878D82A}">
                    <a16:rowId xmlns:a16="http://schemas.microsoft.com/office/drawing/2014/main" val="185142006"/>
                  </a:ext>
                </a:extLst>
              </a:tr>
              <a:tr h="698935">
                <a:tc>
                  <a:txBody>
                    <a:bodyPr/>
                    <a:lstStyle/>
                    <a:p>
                      <a:pPr algn="l" fontAlgn="t">
                        <a:buNone/>
                      </a:pPr>
                      <a:r>
                        <a:rPr lang="en-US" sz="1400" b="0" i="0" u="none" strike="noStrike">
                          <a:solidFill>
                            <a:srgbClr val="000000"/>
                          </a:solidFill>
                          <a:effectLst/>
                          <a:latin typeface="Aptos Narrow"/>
                        </a:rPr>
                        <a:t>POE document</a:t>
                      </a:r>
                    </a:p>
                  </a:txBody>
                  <a:tcPr>
                    <a:lnL w="12700" cap="flat" cmpd="sng" algn="ctr">
                      <a:solidFill>
                        <a:schemeClr val="tx1"/>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l" fontAlgn="t">
                        <a:buNone/>
                      </a:pPr>
                      <a:r>
                        <a:rPr lang="en-US" sz="1400" b="0" i="0" u="none" strike="noStrike">
                          <a:solidFill>
                            <a:srgbClr val="000000"/>
                          </a:solidFill>
                          <a:effectLst/>
                          <a:latin typeface="Aptos Narrow"/>
                        </a:rPr>
                        <a:t>POE document </a:t>
                      </a:r>
                      <a:r>
                        <a:rPr lang="en-US" sz="1400" b="1" i="0" u="none" strike="noStrike">
                          <a:solidFill>
                            <a:srgbClr val="000000"/>
                          </a:solidFill>
                          <a:effectLst/>
                          <a:latin typeface="Aptos Narrow"/>
                        </a:rPr>
                        <a:t>(Subscription IDs)</a:t>
                      </a:r>
                      <a:endParaRPr lang="en-US" sz="1400" b="0" i="0" u="none" strike="noStrike">
                        <a:solidFill>
                          <a:srgbClr val="000000"/>
                        </a:solidFill>
                        <a:effectLst/>
                        <a:latin typeface="Aptos Narrow"/>
                      </a:endParaRPr>
                    </a:p>
                  </a:txBody>
                  <a:tcPr>
                    <a:lnL w="635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l" fontAlgn="t">
                        <a:buNone/>
                      </a:pPr>
                      <a:r>
                        <a:rPr lang="en-US" sz="1400" b="1" i="0" u="none" strike="noStrike" dirty="0">
                          <a:solidFill>
                            <a:srgbClr val="000000"/>
                          </a:solidFill>
                          <a:effectLst/>
                          <a:latin typeface="Aptos Narrow"/>
                        </a:rPr>
                        <a:t>Alliance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417753483"/>
                  </a:ext>
                </a:extLst>
              </a:tr>
              <a:tr h="1113119">
                <a:tc>
                  <a:txBody>
                    <a:bodyPr/>
                    <a:lstStyle/>
                    <a:p>
                      <a:pPr algn="l" fontAlgn="t">
                        <a:buNone/>
                      </a:pPr>
                      <a:r>
                        <a:rPr lang="en-US" sz="1400" b="1" i="0" u="none" strike="noStrike" dirty="0">
                          <a:solidFill>
                            <a:srgbClr val="000000"/>
                          </a:solidFill>
                          <a:effectLst/>
                          <a:latin typeface="Aptos Narrow"/>
                        </a:rPr>
                        <a:t>Assessment report (Azure Migrate or Dr. Migrate or 4 workshops)</a:t>
                      </a:r>
                    </a:p>
                  </a:txBody>
                  <a:tcPr>
                    <a:lnL w="12700" cap="flat" cmpd="sng" algn="ctr">
                      <a:solidFill>
                        <a:schemeClr val="tx1"/>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ctr" fontAlgn="t">
                        <a:buNone/>
                      </a:pPr>
                      <a:endParaRPr lang="en-US" sz="1400" b="0" i="0" u="none" strike="noStrike" dirty="0">
                        <a:solidFill>
                          <a:srgbClr val="000000"/>
                        </a:solidFill>
                        <a:effectLst/>
                        <a:latin typeface="Aptos Narrow"/>
                      </a:endParaRPr>
                    </a:p>
                    <a:p>
                      <a:pPr algn="ctr" fontAlgn="t">
                        <a:buNone/>
                      </a:pPr>
                      <a:endParaRPr lang="en-US" sz="1400" b="0" i="0" u="none" strike="noStrike" dirty="0">
                        <a:solidFill>
                          <a:srgbClr val="000000"/>
                        </a:solidFill>
                        <a:effectLst/>
                        <a:latin typeface="Aptos Narrow"/>
                      </a:endParaRPr>
                    </a:p>
                    <a:p>
                      <a:pPr algn="ctr" fontAlgn="t">
                        <a:buNone/>
                      </a:pPr>
                      <a:endParaRPr lang="en-US" sz="1400" b="0" i="0" u="none" strike="noStrike" dirty="0">
                        <a:solidFill>
                          <a:srgbClr val="000000"/>
                        </a:solidFill>
                        <a:effectLst/>
                        <a:latin typeface="Aptos Narrow"/>
                      </a:endParaRPr>
                    </a:p>
                    <a:p>
                      <a:pPr algn="ctr" fontAlgn="t">
                        <a:buNone/>
                      </a:pPr>
                      <a:r>
                        <a:rPr lang="en-US" sz="1400" b="0" i="0" u="none" strike="noStrike" dirty="0">
                          <a:solidFill>
                            <a:srgbClr val="000000"/>
                          </a:solidFill>
                          <a:effectLst/>
                          <a:latin typeface="Aptos Narrow"/>
                        </a:rPr>
                        <a:t>N/A</a:t>
                      </a:r>
                    </a:p>
                  </a:txBody>
                  <a:tcPr>
                    <a:lnL w="635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l" fontAlgn="t">
                        <a:buNone/>
                      </a:pPr>
                      <a:r>
                        <a:rPr lang="en-US" sz="1400" b="1" i="0" u="none" strike="noStrike" dirty="0">
                          <a:solidFill>
                            <a:srgbClr val="000000"/>
                          </a:solidFill>
                          <a:effectLst/>
                          <a:latin typeface="Aptos Narrow"/>
                        </a:rPr>
                        <a:t>SA +</a:t>
                      </a:r>
                    </a:p>
                    <a:p>
                      <a:pPr algn="l" fontAlgn="t">
                        <a:buNone/>
                      </a:pPr>
                      <a:r>
                        <a:rPr lang="en-US" sz="1400" b="1" i="0" u="none" strike="noStrike" dirty="0">
                          <a:solidFill>
                            <a:srgbClr val="000000"/>
                          </a:solidFill>
                          <a:effectLst/>
                          <a:latin typeface="Aptos Narrow"/>
                        </a:rPr>
                        <a:t>Delivery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1310053161"/>
                  </a:ext>
                </a:extLst>
              </a:tr>
              <a:tr h="491843">
                <a:tc>
                  <a:txBody>
                    <a:bodyPr/>
                    <a:lstStyle/>
                    <a:p>
                      <a:pPr algn="l" fontAlgn="t">
                        <a:buNone/>
                      </a:pPr>
                      <a:r>
                        <a:rPr lang="en-US" sz="1400" b="1" i="0" u="none" strike="noStrike" dirty="0">
                          <a:solidFill>
                            <a:srgbClr val="000000"/>
                          </a:solidFill>
                          <a:effectLst/>
                          <a:latin typeface="Aptos Narrow"/>
                        </a:rPr>
                        <a:t>Solution architecture</a:t>
                      </a:r>
                    </a:p>
                  </a:txBody>
                  <a:tcPr>
                    <a:lnL w="12700" cap="flat" cmpd="sng" algn="ctr">
                      <a:solidFill>
                        <a:schemeClr val="tx1"/>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ptos Narrow"/>
                        </a:rPr>
                        <a:t>N/A</a:t>
                      </a:r>
                    </a:p>
                  </a:txBody>
                  <a:tcPr>
                    <a:lnL w="635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tc>
                  <a:txBody>
                    <a:bodyPr/>
                    <a:lstStyle/>
                    <a:p>
                      <a:pPr algn="l" fontAlgn="t">
                        <a:buNone/>
                      </a:pPr>
                      <a:r>
                        <a:rPr lang="en-US" sz="1400" b="1" i="0" u="none" strike="noStrike" dirty="0">
                          <a:solidFill>
                            <a:srgbClr val="000000"/>
                          </a:solidFill>
                          <a:effectLst/>
                          <a:latin typeface="Aptos Narrow"/>
                        </a:rPr>
                        <a:t>Delivery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6350"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67936484"/>
                  </a:ext>
                </a:extLst>
              </a:tr>
              <a:tr h="698935">
                <a:tc>
                  <a:txBody>
                    <a:bodyPr/>
                    <a:lstStyle/>
                    <a:p>
                      <a:pPr algn="l" fontAlgn="t">
                        <a:buNone/>
                      </a:pPr>
                      <a:r>
                        <a:rPr lang="en-US" sz="1400" b="1" i="0" u="none" strike="noStrike" dirty="0">
                          <a:solidFill>
                            <a:srgbClr val="000000"/>
                          </a:solidFill>
                          <a:effectLst/>
                          <a:latin typeface="Aptos Narrow"/>
                        </a:rPr>
                        <a:t>Post-assessment + POV deployment plan </a:t>
                      </a:r>
                    </a:p>
                  </a:txBody>
                  <a:tcPr>
                    <a:lnL w="12700" cap="flat" cmpd="sng" algn="ctr">
                      <a:solidFill>
                        <a:schemeClr val="tx1"/>
                      </a:solidFill>
                      <a:prstDash val="solid"/>
                      <a:round/>
                      <a:headEnd type="none" w="med" len="med"/>
                      <a:tailEnd type="none" w="med" len="med"/>
                    </a:lnL>
                    <a:lnR w="6350" cap="flat" cmpd="sng" algn="ctr">
                      <a:solidFill>
                        <a:srgbClr val="FF0000"/>
                      </a:solidFill>
                      <a:prstDash val="solid"/>
                      <a:round/>
                      <a:headEnd type="none" w="med" len="med"/>
                      <a:tailEnd type="none" w="med" len="med"/>
                    </a:lnR>
                    <a:lnT w="635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endParaRPr lang="en-US" sz="1400" b="0" i="0" u="none" strike="noStrike" dirty="0">
                        <a:solidFill>
                          <a:srgbClr val="000000"/>
                        </a:solidFill>
                        <a:effectLst/>
                        <a:latin typeface="Aptos Narrow"/>
                      </a:endParaRPr>
                    </a:p>
                    <a:p>
                      <a:pPr marL="0" marR="0" lvl="0" indent="0" algn="ctr" defTabSz="914400" rtl="0" eaLnBrk="1" fontAlgn="t" latinLnBrk="0" hangingPunct="1">
                        <a:lnSpc>
                          <a:spcPct val="100000"/>
                        </a:lnSpc>
                        <a:spcBef>
                          <a:spcPts val="0"/>
                        </a:spcBef>
                        <a:spcAft>
                          <a:spcPts val="0"/>
                        </a:spcAft>
                        <a:buClrTx/>
                        <a:buSzTx/>
                        <a:buFontTx/>
                        <a:buNone/>
                        <a:tabLst/>
                        <a:defRPr/>
                      </a:pPr>
                      <a:endParaRPr lang="en-US" sz="1400" b="0" i="0" u="none" strike="noStrike" dirty="0">
                        <a:solidFill>
                          <a:srgbClr val="000000"/>
                        </a:solidFill>
                        <a:effectLst/>
                        <a:latin typeface="Aptos Narrow"/>
                      </a:endParaRPr>
                    </a:p>
                    <a:p>
                      <a:pPr marL="0" marR="0" lvl="0" indent="0" algn="ctr" defTabSz="914400" rtl="0" eaLnBrk="1" fontAlgn="t"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ptos Narrow"/>
                        </a:rPr>
                        <a:t>N/A</a:t>
                      </a:r>
                    </a:p>
                  </a:txBody>
                  <a:tcPr>
                    <a:lnL w="635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buNone/>
                      </a:pPr>
                      <a:r>
                        <a:rPr lang="en-US" sz="1400" b="1" i="0" u="none" strike="noStrike" dirty="0">
                          <a:solidFill>
                            <a:srgbClr val="000000"/>
                          </a:solidFill>
                          <a:effectLst/>
                          <a:latin typeface="Aptos Narrow"/>
                        </a:rPr>
                        <a:t>Delivery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6368170"/>
                  </a:ext>
                </a:extLst>
              </a:tr>
            </a:tbl>
          </a:graphicData>
        </a:graphic>
      </p:graphicFrame>
      <p:cxnSp>
        <p:nvCxnSpPr>
          <p:cNvPr id="5" name="Straight Connector 4">
            <a:extLst>
              <a:ext uri="{FF2B5EF4-FFF2-40B4-BE49-F238E27FC236}">
                <a16:creationId xmlns:a16="http://schemas.microsoft.com/office/drawing/2014/main" id="{C9BEBC8B-F1DA-C316-20E9-85F2F98A9970}"/>
              </a:ext>
            </a:extLst>
          </p:cNvPr>
          <p:cNvCxnSpPr>
            <a:cxnSpLocks/>
          </p:cNvCxnSpPr>
          <p:nvPr/>
        </p:nvCxnSpPr>
        <p:spPr>
          <a:xfrm>
            <a:off x="5003328" y="1163117"/>
            <a:ext cx="0" cy="5029200"/>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6" name="Content Placeholder 4">
            <a:extLst>
              <a:ext uri="{FF2B5EF4-FFF2-40B4-BE49-F238E27FC236}">
                <a16:creationId xmlns:a16="http://schemas.microsoft.com/office/drawing/2014/main" id="{24F0E780-D5A9-AFC7-F06F-68F5EC591503}"/>
              </a:ext>
            </a:extLst>
          </p:cNvPr>
          <p:cNvSpPr txBox="1">
            <a:spLocks/>
          </p:cNvSpPr>
          <p:nvPr/>
        </p:nvSpPr>
        <p:spPr>
          <a:xfrm>
            <a:off x="5450183" y="1203509"/>
            <a:ext cx="5606322" cy="2666527"/>
          </a:xfrm>
          <a:prstGeom prst="rect">
            <a:avLst/>
          </a:prstGeom>
        </p:spPr>
        <p:txBody>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1200"/>
              </a:spcAft>
              <a:buNone/>
            </a:pPr>
            <a:r>
              <a:rPr lang="en-US" sz="1800" b="1" dirty="0"/>
              <a:t>The Solution Architect (SA) Role</a:t>
            </a:r>
            <a:endParaRPr lang="en-US" sz="1800" dirty="0"/>
          </a:p>
          <a:p>
            <a:pPr>
              <a:spcAft>
                <a:spcPts val="1200"/>
              </a:spcAft>
            </a:pPr>
            <a:r>
              <a:rPr lang="en-US" sz="1800" dirty="0"/>
              <a:t>Identify and validate Microsoft funding opportunities</a:t>
            </a:r>
          </a:p>
          <a:p>
            <a:pPr>
              <a:spcAft>
                <a:spcPts val="1200"/>
              </a:spcAft>
            </a:pPr>
            <a:r>
              <a:rPr lang="en-US" sz="1800" dirty="0"/>
              <a:t>Architect the solution and the SOW</a:t>
            </a:r>
          </a:p>
          <a:p>
            <a:pPr>
              <a:spcAft>
                <a:spcPts val="1200"/>
              </a:spcAft>
            </a:pPr>
            <a:r>
              <a:rPr lang="en-US" sz="1800" dirty="0"/>
              <a:t>CRITICAL: Integrate all POE requirements explicitly into the SOW/Scoping Doc as deliverables</a:t>
            </a:r>
          </a:p>
          <a:p>
            <a:pPr>
              <a:spcAft>
                <a:spcPts val="1200"/>
              </a:spcAft>
            </a:pPr>
            <a:r>
              <a:rPr lang="en-US" sz="1800" dirty="0"/>
              <a:t>Azure Calculator export: Calculate Azure Consumed Revenue (ACR) accurately.</a:t>
            </a:r>
          </a:p>
          <a:p>
            <a:pPr>
              <a:spcAft>
                <a:spcPts val="600"/>
              </a:spcAft>
            </a:pPr>
            <a:endParaRPr lang="en-US" sz="1400" dirty="0"/>
          </a:p>
        </p:txBody>
      </p:sp>
      <p:sp>
        <p:nvSpPr>
          <p:cNvPr id="7" name="Rectangle: Rounded Corners 6">
            <a:extLst>
              <a:ext uri="{FF2B5EF4-FFF2-40B4-BE49-F238E27FC236}">
                <a16:creationId xmlns:a16="http://schemas.microsoft.com/office/drawing/2014/main" id="{950D90F6-9C58-5FC0-5391-A47229D92A18}"/>
              </a:ext>
            </a:extLst>
          </p:cNvPr>
          <p:cNvSpPr/>
          <p:nvPr/>
        </p:nvSpPr>
        <p:spPr>
          <a:xfrm>
            <a:off x="5246255" y="4154891"/>
            <a:ext cx="6816433" cy="1765618"/>
          </a:xfrm>
          <a:prstGeom prst="roundRect">
            <a:avLst/>
          </a:prstGeom>
          <a:solidFill>
            <a:srgbClr val="FFFFCC"/>
          </a:solidFill>
          <a:ln w="19050">
            <a:solidFill>
              <a:srgbClr val="EB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n-US" altLang="en-US" sz="1600" dirty="0">
                <a:solidFill>
                  <a:schemeClr val="tx1"/>
                </a:solidFill>
                <a:latin typeface="Arial" panose="020B0604020202020204" pitchFamily="34" charset="0"/>
              </a:rPr>
              <a:t>The Golden Rule: If it's needed for POE, it must be in the SOW</a:t>
            </a:r>
          </a:p>
          <a:p>
            <a:pPr lvl="0" eaLnBrk="0" fontAlgn="base" hangingPunct="0">
              <a:spcBef>
                <a:spcPct val="0"/>
              </a:spcBef>
              <a:spcAft>
                <a:spcPct val="0"/>
              </a:spcAft>
            </a:pPr>
            <a:r>
              <a:rPr lang="en-US" altLang="en-US" sz="1600" dirty="0">
                <a:solidFill>
                  <a:schemeClr val="tx1"/>
                </a:solidFill>
                <a:latin typeface="Arial" panose="020B0604020202020204" pitchFamily="34" charset="0"/>
              </a:rPr>
              <a:t>- E.g. Deliverable: Azure Migrate Assessment Report</a:t>
            </a:r>
          </a:p>
          <a:p>
            <a:pPr lvl="0" eaLnBrk="0" fontAlgn="base" hangingPunct="0">
              <a:spcBef>
                <a:spcPct val="0"/>
              </a:spcBef>
              <a:spcAft>
                <a:spcPct val="0"/>
              </a:spcAft>
            </a:pPr>
            <a:r>
              <a:rPr lang="en-US" altLang="en-US" sz="1600" dirty="0">
                <a:solidFill>
                  <a:schemeClr val="tx1"/>
                </a:solidFill>
                <a:latin typeface="Arial" panose="020B0604020202020204" pitchFamily="34" charset="0"/>
              </a:rPr>
              <a:t>- E.g. Customer Responsibility: Consent, Survey and Subscription IDs</a:t>
            </a:r>
          </a:p>
          <a:p>
            <a:pPr lvl="0" eaLnBrk="0" fontAlgn="base" hangingPunct="0">
              <a:spcBef>
                <a:spcPct val="0"/>
              </a:spcBef>
              <a:spcAft>
                <a:spcPct val="0"/>
              </a:spcAft>
            </a:pPr>
            <a:endParaRPr lang="en-US" altLang="en-US" sz="1600" dirty="0">
              <a:solidFill>
                <a:schemeClr val="tx1"/>
              </a:solidFill>
              <a:latin typeface="Arial" panose="020B0604020202020204" pitchFamily="34" charset="0"/>
            </a:endParaRPr>
          </a:p>
          <a:p>
            <a:pPr lvl="0" eaLnBrk="0" fontAlgn="base" hangingPunct="0">
              <a:spcBef>
                <a:spcPct val="0"/>
              </a:spcBef>
              <a:spcAft>
                <a:spcPct val="0"/>
              </a:spcAft>
            </a:pPr>
            <a:r>
              <a:rPr lang="en-US" altLang="en-US" sz="1600" dirty="0">
                <a:solidFill>
                  <a:schemeClr val="tx1"/>
                </a:solidFill>
                <a:latin typeface="Arial" panose="020B0604020202020204" pitchFamily="34" charset="0"/>
              </a:rPr>
              <a:t>Litmus Test: Can the delivery team execute the SOW and generate all POE without asking a question about funding?</a:t>
            </a:r>
          </a:p>
        </p:txBody>
      </p:sp>
    </p:spTree>
    <p:extLst>
      <p:ext uri="{BB962C8B-B14F-4D97-AF65-F5344CB8AC3E}">
        <p14:creationId xmlns:p14="http://schemas.microsoft.com/office/powerpoint/2010/main" val="2087411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E951B-47BB-3141-79A7-49F269B9D344}"/>
            </a:ext>
          </a:extLst>
        </p:cNvPr>
        <p:cNvGrpSpPr/>
        <p:nvPr/>
      </p:nvGrpSpPr>
      <p:grpSpPr>
        <a:xfrm>
          <a:off x="0" y="0"/>
          <a:ext cx="0" cy="0"/>
          <a:chOff x="0" y="0"/>
          <a:chExt cx="0" cy="0"/>
        </a:xfrm>
      </p:grpSpPr>
      <p:sp>
        <p:nvSpPr>
          <p:cNvPr id="15" name="Text Placeholder 2">
            <a:extLst>
              <a:ext uri="{FF2B5EF4-FFF2-40B4-BE49-F238E27FC236}">
                <a16:creationId xmlns:a16="http://schemas.microsoft.com/office/drawing/2014/main" id="{8113D9ED-0FF7-F9C6-4BDF-BD7555A2EFED}"/>
              </a:ext>
            </a:extLst>
          </p:cNvPr>
          <p:cNvSpPr>
            <a:spLocks noGrp="1"/>
          </p:cNvSpPr>
          <p:nvPr>
            <p:ph type="body" idx="1"/>
          </p:nvPr>
        </p:nvSpPr>
        <p:spPr>
          <a:xfrm>
            <a:off x="145369" y="1116431"/>
            <a:ext cx="9729786" cy="307777"/>
          </a:xfrm>
        </p:spPr>
        <p:txBody>
          <a:bodyPr lIns="91440" tIns="45720" rIns="91440" bIns="45720" anchor="b"/>
          <a:lstStyle/>
          <a:p>
            <a:r>
              <a:rPr lang="en-US" sz="1400" dirty="0"/>
              <a:t>Azure Accelerate Engagements &amp; Supported Scenarios </a:t>
            </a:r>
          </a:p>
        </p:txBody>
      </p:sp>
      <p:graphicFrame>
        <p:nvGraphicFramePr>
          <p:cNvPr id="11" name="Table 10">
            <a:extLst>
              <a:ext uri="{FF2B5EF4-FFF2-40B4-BE49-F238E27FC236}">
                <a16:creationId xmlns:a16="http://schemas.microsoft.com/office/drawing/2014/main" id="{6349E67D-53C0-9200-B00E-1ED319439150}"/>
              </a:ext>
            </a:extLst>
          </p:cNvPr>
          <p:cNvGraphicFramePr>
            <a:graphicFrameLocks noGrp="1"/>
          </p:cNvGraphicFramePr>
          <p:nvPr>
            <p:extLst>
              <p:ext uri="{D42A27DB-BD31-4B8C-83A1-F6EECF244321}">
                <p14:modId xmlns:p14="http://schemas.microsoft.com/office/powerpoint/2010/main" val="1033640703"/>
              </p:ext>
            </p:extLst>
          </p:nvPr>
        </p:nvGraphicFramePr>
        <p:xfrm>
          <a:off x="220799" y="1398759"/>
          <a:ext cx="11383768" cy="2560320"/>
        </p:xfrm>
        <a:graphic>
          <a:graphicData uri="http://schemas.openxmlformats.org/drawingml/2006/table">
            <a:tbl>
              <a:tblPr/>
              <a:tblGrid>
                <a:gridCol w="792803">
                  <a:extLst>
                    <a:ext uri="{9D8B030D-6E8A-4147-A177-3AD203B41FA5}">
                      <a16:colId xmlns:a16="http://schemas.microsoft.com/office/drawing/2014/main" val="194985051"/>
                    </a:ext>
                  </a:extLst>
                </a:gridCol>
                <a:gridCol w="1246673">
                  <a:extLst>
                    <a:ext uri="{9D8B030D-6E8A-4147-A177-3AD203B41FA5}">
                      <a16:colId xmlns:a16="http://schemas.microsoft.com/office/drawing/2014/main" val="3445467649"/>
                    </a:ext>
                  </a:extLst>
                </a:gridCol>
                <a:gridCol w="1987112">
                  <a:extLst>
                    <a:ext uri="{9D8B030D-6E8A-4147-A177-3AD203B41FA5}">
                      <a16:colId xmlns:a16="http://schemas.microsoft.com/office/drawing/2014/main" val="769087236"/>
                    </a:ext>
                  </a:extLst>
                </a:gridCol>
                <a:gridCol w="1991833">
                  <a:extLst>
                    <a:ext uri="{9D8B030D-6E8A-4147-A177-3AD203B41FA5}">
                      <a16:colId xmlns:a16="http://schemas.microsoft.com/office/drawing/2014/main" val="3260773838"/>
                    </a:ext>
                  </a:extLst>
                </a:gridCol>
                <a:gridCol w="5365347">
                  <a:extLst>
                    <a:ext uri="{9D8B030D-6E8A-4147-A177-3AD203B41FA5}">
                      <a16:colId xmlns:a16="http://schemas.microsoft.com/office/drawing/2014/main" val="1438605975"/>
                    </a:ext>
                  </a:extLst>
                </a:gridCol>
              </a:tblGrid>
              <a:tr h="323056">
                <a:tc>
                  <a:txBody>
                    <a:bodyPr/>
                    <a:lstStyle/>
                    <a:p>
                      <a:pPr algn="ctr" fontAlgn="t">
                        <a:buNone/>
                      </a:pPr>
                      <a:r>
                        <a:rPr lang="en-US" sz="1200" b="1" i="0" u="none" strike="noStrike" dirty="0">
                          <a:solidFill>
                            <a:srgbClr val="FFFFFF"/>
                          </a:solidFill>
                          <a:effectLst/>
                          <a:latin typeface="Aptos Narrow" panose="020B0004020202020204" pitchFamily="34" charset="0"/>
                        </a:rPr>
                        <a:t>Solution Area</a:t>
                      </a:r>
                    </a:p>
                  </a:txBody>
                  <a:tcP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algn="ctr" fontAlgn="t">
                        <a:buNone/>
                      </a:pPr>
                      <a:r>
                        <a:rPr lang="en-US" sz="1200" b="1" i="0" u="none" strike="noStrike" dirty="0">
                          <a:solidFill>
                            <a:srgbClr val="FFFFFF"/>
                          </a:solidFill>
                          <a:effectLst/>
                          <a:latin typeface="Aptos Narrow" panose="020B0004020202020204" pitchFamily="34" charset="0"/>
                        </a:rPr>
                        <a:t>Solution Play</a:t>
                      </a:r>
                    </a:p>
                  </a:txBody>
                  <a:tcPr>
                    <a:lnL w="6350" cap="flat" cmpd="sng" algn="ctr">
                      <a:solidFill>
                        <a:srgbClr val="FFFFFF"/>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algn="ctr" fontAlgn="t">
                        <a:buNone/>
                      </a:pPr>
                      <a:r>
                        <a:rPr lang="en-US" sz="1200" b="1" i="0" u="none" strike="noStrike" dirty="0">
                          <a:solidFill>
                            <a:srgbClr val="FFFFFF"/>
                          </a:solidFill>
                          <a:effectLst/>
                          <a:latin typeface="Aptos Narrow" panose="020B0004020202020204" pitchFamily="34" charset="0"/>
                        </a:rPr>
                        <a:t>Pre-Sales incentives </a:t>
                      </a:r>
                    </a:p>
                    <a:p>
                      <a:pPr algn="ctr" fontAlgn="t">
                        <a:buNone/>
                      </a:pPr>
                      <a:r>
                        <a:rPr lang="en-US" sz="1200" b="1" i="0" u="none" strike="noStrike" dirty="0">
                          <a:solidFill>
                            <a:srgbClr val="FFFFFF"/>
                          </a:solidFill>
                          <a:effectLst/>
                          <a:latin typeface="Aptos Narrow" panose="020B0004020202020204" pitchFamily="34" charset="0"/>
                        </a:rPr>
                        <a:t>[PLAN]</a:t>
                      </a:r>
                    </a:p>
                  </a:txBody>
                  <a:tcPr>
                    <a:lnL>
                      <a:noFill/>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algn="ctr" fontAlgn="t">
                        <a:buNone/>
                      </a:pPr>
                      <a:r>
                        <a:rPr lang="en-US" sz="1200" b="1" i="0" u="none" strike="noStrike" dirty="0">
                          <a:solidFill>
                            <a:srgbClr val="FFFFFF"/>
                          </a:solidFill>
                          <a:effectLst/>
                          <a:latin typeface="Aptos Narrow" panose="020B0004020202020204" pitchFamily="34" charset="0"/>
                        </a:rPr>
                        <a:t>Post-Sales incentives</a:t>
                      </a:r>
                    </a:p>
                    <a:p>
                      <a:pPr algn="ctr" fontAlgn="t">
                        <a:buNone/>
                      </a:pPr>
                      <a:r>
                        <a:rPr lang="en-US" sz="1200" b="1" i="0" u="none" strike="noStrike" dirty="0">
                          <a:solidFill>
                            <a:srgbClr val="FFFFFF"/>
                          </a:solidFill>
                          <a:effectLst/>
                          <a:latin typeface="Aptos Narrow" panose="020B0004020202020204" pitchFamily="34" charset="0"/>
                        </a:rPr>
                        <a:t>[IMPLEMENT]</a:t>
                      </a:r>
                      <a:endParaRPr lang="en-US" sz="1200" b="0" i="0" u="none" strike="noStrike" dirty="0">
                        <a:solidFill>
                          <a:srgbClr val="FFFFFF"/>
                        </a:solidFill>
                        <a:effectLst/>
                        <a:latin typeface="Aptos Narrow" panose="020B0004020202020204" pitchFamily="34" charset="0"/>
                      </a:endParaRPr>
                    </a:p>
                  </a:txBody>
                  <a:tcPr>
                    <a:lnL>
                      <a:noFill/>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algn="ctr" fontAlgn="t">
                        <a:buNone/>
                      </a:pPr>
                      <a:r>
                        <a:rPr lang="en-US" sz="1200" b="1" i="0" u="none" strike="noStrike" dirty="0">
                          <a:solidFill>
                            <a:srgbClr val="FFFFFF"/>
                          </a:solidFill>
                          <a:effectLst/>
                          <a:latin typeface="Aptos Narrow" panose="020B0004020202020204" pitchFamily="34" charset="0"/>
                        </a:rPr>
                        <a:t>Supported Scenarios</a:t>
                      </a:r>
                    </a:p>
                  </a:txBody>
                  <a:tcPr>
                    <a:lnL w="635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extLst>
                  <a:ext uri="{0D108BD9-81ED-4DB2-BD59-A6C34878D82A}">
                    <a16:rowId xmlns:a16="http://schemas.microsoft.com/office/drawing/2014/main" val="4234189396"/>
                  </a:ext>
                </a:extLst>
              </a:tr>
              <a:tr h="581501">
                <a:tc rowSpan="3">
                  <a:txBody>
                    <a:bodyPr/>
                    <a:lstStyle/>
                    <a:p>
                      <a:pPr algn="ctr" fontAlgn="ctr">
                        <a:buNone/>
                      </a:pPr>
                      <a:r>
                        <a:rPr lang="en-US" sz="1200" b="0" i="0" u="none" strike="noStrike" dirty="0">
                          <a:solidFill>
                            <a:srgbClr val="000000"/>
                          </a:solidFill>
                          <a:effectLst/>
                          <a:latin typeface="Aptos Narrow" panose="020B0004020202020204" pitchFamily="34" charset="0"/>
                        </a:rPr>
                        <a:t>Cloud and AI Platforms</a:t>
                      </a:r>
                    </a:p>
                  </a:txBody>
                  <a:tcPr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Migrate and Modernize Your Estate</a:t>
                      </a:r>
                    </a:p>
                  </a:txBody>
                  <a:tcP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AE9F8"/>
                    </a:solidFill>
                  </a:tcPr>
                </a:tc>
                <a:tc>
                  <a:txBody>
                    <a:bodyPr/>
                    <a:lstStyle/>
                    <a:p>
                      <a:pPr algn="l" fontAlgn="t">
                        <a:buNone/>
                      </a:pPr>
                      <a:r>
                        <a:rPr lang="en-US" sz="1200" b="0" i="0" u="none" strike="noStrike" dirty="0">
                          <a:solidFill>
                            <a:srgbClr val="000000"/>
                          </a:solidFill>
                          <a:effectLst/>
                          <a:latin typeface="Aptos Narrow" panose="020B0004020202020204" pitchFamily="34" charset="0"/>
                        </a:rPr>
                        <a:t>Azure Accelerate: </a:t>
                      </a:r>
                      <a:r>
                        <a:rPr lang="en-US" sz="1200" b="1" i="0" u="none" strike="noStrike" dirty="0">
                          <a:solidFill>
                            <a:srgbClr val="000000"/>
                          </a:solidFill>
                          <a:effectLst/>
                          <a:latin typeface="Aptos Narrow" panose="020B0004020202020204" pitchFamily="34" charset="0"/>
                        </a:rPr>
                        <a:t>Core Migrate &amp; Modernize Pre-Sales (Assessment and POV)</a:t>
                      </a:r>
                      <a:endParaRPr lang="en-US" sz="1200" b="0" i="0" u="none" strike="noStrike" dirty="0">
                        <a:solidFill>
                          <a:srgbClr val="000000"/>
                        </a:solidFill>
                        <a:effectLst/>
                        <a:latin typeface="Aptos Narrow" panose="020B0004020202020204" pitchFamily="34" charset="0"/>
                      </a:endParaRPr>
                    </a:p>
                  </a:txBody>
                  <a:tcP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Azure Accelerate: </a:t>
                      </a:r>
                      <a:r>
                        <a:rPr lang="en-US" sz="1200" b="1" i="0" u="none" strike="noStrike" dirty="0">
                          <a:solidFill>
                            <a:srgbClr val="000000"/>
                          </a:solidFill>
                          <a:effectLst/>
                          <a:latin typeface="Aptos Narrow" panose="020B0004020202020204" pitchFamily="34" charset="0"/>
                        </a:rPr>
                        <a:t>Core Migrate &amp; Modernize</a:t>
                      </a:r>
                      <a:endParaRPr lang="en-US" sz="1200" b="0" i="0" u="none" strike="noStrike" dirty="0">
                        <a:solidFill>
                          <a:srgbClr val="000000"/>
                        </a:solidFill>
                        <a:effectLst/>
                        <a:latin typeface="Aptos Narrow" panose="020B0004020202020204" pitchFamily="34" charset="0"/>
                      </a:endParaRPr>
                    </a:p>
                  </a:txBody>
                  <a:tcP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Migrate Windows Server, SQL Server, Linux and open source databases to Azure Virtual Machines, AzureSQL, Azure PostgreSQL, Azure CosmosDB, Azure MySQL</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Modernize existing applications to Azure</a:t>
                      </a:r>
                    </a:p>
                  </a:txBody>
                  <a:tcP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092601458"/>
                  </a:ext>
                </a:extLst>
              </a:tr>
              <a:tr h="452279">
                <a:tc vMerge="1">
                  <a:txBody>
                    <a:bodyPr/>
                    <a:lstStyle/>
                    <a:p>
                      <a:endParaRPr lang="en-US"/>
                    </a:p>
                  </a:txBody>
                  <a:tcPr/>
                </a:tc>
                <a:tc>
                  <a:txBody>
                    <a:bodyPr/>
                    <a:lstStyle/>
                    <a:p>
                      <a:pPr algn="l" fontAlgn="t">
                        <a:buNone/>
                      </a:pPr>
                      <a:r>
                        <a:rPr lang="en-US" sz="1200" b="0" i="0" u="none" strike="noStrike" dirty="0">
                          <a:solidFill>
                            <a:srgbClr val="000000"/>
                          </a:solidFill>
                          <a:effectLst/>
                          <a:latin typeface="Aptos Narrow" panose="020B0004020202020204" pitchFamily="34" charset="0"/>
                        </a:rPr>
                        <a:t>Unify your Data Platform</a:t>
                      </a:r>
                    </a:p>
                  </a:txBody>
                  <a:tcP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FF1CB"/>
                    </a:solidFill>
                  </a:tcPr>
                </a:tc>
                <a:tc>
                  <a:txBody>
                    <a:bodyPr/>
                    <a:lstStyle/>
                    <a:p>
                      <a:pPr algn="l" fontAlgn="t">
                        <a:buNone/>
                      </a:pPr>
                      <a:r>
                        <a:rPr lang="en-US" sz="1200" b="0" i="0" u="none" strike="noStrike" dirty="0">
                          <a:solidFill>
                            <a:srgbClr val="000000"/>
                          </a:solidFill>
                          <a:effectLst/>
                          <a:latin typeface="Aptos Narrow" panose="020B0004020202020204" pitchFamily="34" charset="0"/>
                        </a:rPr>
                        <a:t>Azure Accelerate: </a:t>
                      </a:r>
                      <a:r>
                        <a:rPr lang="en-US" sz="1200" b="1" i="0" u="none" strike="noStrike" dirty="0">
                          <a:solidFill>
                            <a:srgbClr val="000000"/>
                          </a:solidFill>
                          <a:effectLst/>
                          <a:latin typeface="Aptos Narrow" panose="020B0004020202020204" pitchFamily="34" charset="0"/>
                        </a:rPr>
                        <a:t>Data Platform Pre-Sales (Assessment and POV)</a:t>
                      </a:r>
                      <a:endParaRPr lang="en-US" sz="1200" b="0" i="0" u="none" strike="noStrike" dirty="0">
                        <a:solidFill>
                          <a:srgbClr val="000000"/>
                        </a:solidFill>
                        <a:effectLst/>
                        <a:latin typeface="Aptos Narrow" panose="020B0004020202020204" pitchFamily="34" charset="0"/>
                      </a:endParaRPr>
                    </a:p>
                  </a:txBody>
                  <a:tcP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Azure Accelerate: </a:t>
                      </a:r>
                      <a:r>
                        <a:rPr lang="en-US" sz="1200" b="1" i="0" u="none" strike="noStrike" dirty="0">
                          <a:solidFill>
                            <a:srgbClr val="000000"/>
                          </a:solidFill>
                          <a:effectLst/>
                          <a:latin typeface="Aptos Narrow" panose="020B0004020202020204" pitchFamily="34" charset="0"/>
                        </a:rPr>
                        <a:t>Data Platform</a:t>
                      </a:r>
                      <a:endParaRPr lang="en-US" sz="1200" b="0" i="0" u="none" strike="noStrike" dirty="0">
                        <a:solidFill>
                          <a:srgbClr val="000000"/>
                        </a:solidFill>
                        <a:effectLst/>
                        <a:latin typeface="Aptos Narrow" panose="020B0004020202020204" pitchFamily="34" charset="0"/>
                      </a:endParaRPr>
                    </a:p>
                  </a:txBody>
                  <a:tcP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Microsoft Fabric, Azure Databricks</a:t>
                      </a:r>
                    </a:p>
                  </a:txBody>
                  <a:tcP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324875805"/>
                  </a:ext>
                </a:extLst>
              </a:tr>
              <a:tr h="710724">
                <a:tc vMerge="1">
                  <a:txBody>
                    <a:bodyPr/>
                    <a:lstStyle/>
                    <a:p>
                      <a:endParaRPr lang="en-US"/>
                    </a:p>
                  </a:txBody>
                  <a:tcPr/>
                </a:tc>
                <a:tc>
                  <a:txBody>
                    <a:bodyPr/>
                    <a:lstStyle/>
                    <a:p>
                      <a:pPr algn="l" fontAlgn="t">
                        <a:buNone/>
                      </a:pPr>
                      <a:r>
                        <a:rPr lang="en-US" sz="1200" b="0" i="0" u="none" strike="noStrike" dirty="0">
                          <a:solidFill>
                            <a:srgbClr val="000000"/>
                          </a:solidFill>
                          <a:effectLst/>
                          <a:latin typeface="Aptos Narrow" panose="020B0004020202020204" pitchFamily="34" charset="0"/>
                          <a:ea typeface="Times New Roman" panose="02020603050405020304" pitchFamily="18" charset="0"/>
                        </a:rPr>
                        <a:t>Innovate with Azure AI Apps and Agents</a:t>
                      </a:r>
                      <a:endParaRPr lang="en-US" sz="1200" b="0" i="0" u="none" strike="noStrike" dirty="0">
                        <a:solidFill>
                          <a:srgbClr val="000000"/>
                        </a:solidFill>
                        <a:effectLst/>
                        <a:latin typeface="Aptos Narrow" panose="020B0004020202020204" pitchFamily="34" charset="0"/>
                      </a:endParaRPr>
                    </a:p>
                  </a:txBody>
                  <a:tcP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DDFF"/>
                    </a:solidFill>
                  </a:tcPr>
                </a:tc>
                <a:tc>
                  <a:txBody>
                    <a:bodyPr/>
                    <a:lstStyle/>
                    <a:p>
                      <a:pPr algn="l" fontAlgn="t">
                        <a:buNone/>
                      </a:pPr>
                      <a:r>
                        <a:rPr lang="en-US" sz="1200" b="0" i="0" u="none" strike="noStrike" dirty="0">
                          <a:solidFill>
                            <a:srgbClr val="000000"/>
                          </a:solidFill>
                          <a:effectLst/>
                          <a:latin typeface="Aptos Narrow" panose="020B0004020202020204" pitchFamily="34" charset="0"/>
                        </a:rPr>
                        <a:t>Azure Accelerate: </a:t>
                      </a:r>
                      <a:r>
                        <a:rPr lang="en-US" sz="1200" b="1" i="0" u="none" strike="noStrike" dirty="0">
                          <a:solidFill>
                            <a:srgbClr val="000000"/>
                          </a:solidFill>
                          <a:effectLst/>
                          <a:latin typeface="Aptos Narrow" panose="020B0004020202020204" pitchFamily="34" charset="0"/>
                        </a:rPr>
                        <a:t>AI Apps, Agents and Developer Pre-Sales (Assessment and POV)</a:t>
                      </a:r>
                      <a:endParaRPr lang="en-US" sz="1200" b="0" i="0" u="none" strike="noStrike" dirty="0">
                        <a:solidFill>
                          <a:srgbClr val="000000"/>
                        </a:solidFill>
                        <a:effectLst/>
                        <a:latin typeface="Aptos Narrow" panose="020B0004020202020204" pitchFamily="34" charset="0"/>
                      </a:endParaRPr>
                    </a:p>
                  </a:txBody>
                  <a:tcP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Azure Accelerate: </a:t>
                      </a:r>
                      <a:r>
                        <a:rPr lang="en-US" sz="1200" b="1" i="0" u="none" strike="noStrike" dirty="0">
                          <a:solidFill>
                            <a:srgbClr val="000000"/>
                          </a:solidFill>
                          <a:effectLst/>
                          <a:latin typeface="Aptos Narrow" panose="020B0004020202020204" pitchFamily="34" charset="0"/>
                        </a:rPr>
                        <a:t>AI Apps, Agents and Developer</a:t>
                      </a:r>
                      <a:endParaRPr lang="en-US" sz="1200" b="0" i="0" u="none" strike="noStrike" dirty="0">
                        <a:solidFill>
                          <a:srgbClr val="000000"/>
                        </a:solidFill>
                        <a:effectLst/>
                        <a:latin typeface="Aptos Narrow" panose="020B0004020202020204" pitchFamily="34" charset="0"/>
                      </a:endParaRPr>
                    </a:p>
                  </a:txBody>
                  <a:tcP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Azure AI Foundry &amp; Platform (Agents and Models), Azure Kubernetes Service (AKS), Azure App Service, Azure Open AI, Azure AI Services, Developer (GitHub Enterprise, GitHub Advanced Security, GitHub Copilot, GitHub Actions, GitHub Codespaces etc.), plus complementary products</a:t>
                      </a:r>
                    </a:p>
                  </a:txBody>
                  <a:tcPr>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8710030"/>
                  </a:ext>
                </a:extLst>
              </a:tr>
            </a:tbl>
          </a:graphicData>
        </a:graphic>
      </p:graphicFrame>
      <p:graphicFrame>
        <p:nvGraphicFramePr>
          <p:cNvPr id="26" name="Table 25">
            <a:extLst>
              <a:ext uri="{FF2B5EF4-FFF2-40B4-BE49-F238E27FC236}">
                <a16:creationId xmlns:a16="http://schemas.microsoft.com/office/drawing/2014/main" id="{714B0AC6-AAB6-6638-7811-BB807DC82DA6}"/>
              </a:ext>
            </a:extLst>
          </p:cNvPr>
          <p:cNvGraphicFramePr>
            <a:graphicFrameLocks noGrp="1"/>
          </p:cNvGraphicFramePr>
          <p:nvPr>
            <p:extLst>
              <p:ext uri="{D42A27DB-BD31-4B8C-83A1-F6EECF244321}">
                <p14:modId xmlns:p14="http://schemas.microsoft.com/office/powerpoint/2010/main" val="1976985945"/>
              </p:ext>
            </p:extLst>
          </p:nvPr>
        </p:nvGraphicFramePr>
        <p:xfrm>
          <a:off x="213225" y="4197522"/>
          <a:ext cx="7239681" cy="2067560"/>
        </p:xfrm>
        <a:graphic>
          <a:graphicData uri="http://schemas.openxmlformats.org/drawingml/2006/table">
            <a:tbl>
              <a:tblPr bandRow="1">
                <a:tableStyleId>{5C22544A-7EE6-4342-B048-85BDC9FD1C3A}</a:tableStyleId>
              </a:tblPr>
              <a:tblGrid>
                <a:gridCol w="1776959">
                  <a:extLst>
                    <a:ext uri="{9D8B030D-6E8A-4147-A177-3AD203B41FA5}">
                      <a16:colId xmlns:a16="http://schemas.microsoft.com/office/drawing/2014/main" val="1979195730"/>
                    </a:ext>
                  </a:extLst>
                </a:gridCol>
                <a:gridCol w="1052362">
                  <a:extLst>
                    <a:ext uri="{9D8B030D-6E8A-4147-A177-3AD203B41FA5}">
                      <a16:colId xmlns:a16="http://schemas.microsoft.com/office/drawing/2014/main" val="1147624909"/>
                    </a:ext>
                  </a:extLst>
                </a:gridCol>
                <a:gridCol w="208280">
                  <a:extLst>
                    <a:ext uri="{9D8B030D-6E8A-4147-A177-3AD203B41FA5}">
                      <a16:colId xmlns:a16="http://schemas.microsoft.com/office/drawing/2014/main" val="2780117281"/>
                    </a:ext>
                  </a:extLst>
                </a:gridCol>
                <a:gridCol w="731688">
                  <a:extLst>
                    <a:ext uri="{9D8B030D-6E8A-4147-A177-3AD203B41FA5}">
                      <a16:colId xmlns:a16="http://schemas.microsoft.com/office/drawing/2014/main" val="2834661298"/>
                    </a:ext>
                  </a:extLst>
                </a:gridCol>
                <a:gridCol w="1021315">
                  <a:extLst>
                    <a:ext uri="{9D8B030D-6E8A-4147-A177-3AD203B41FA5}">
                      <a16:colId xmlns:a16="http://schemas.microsoft.com/office/drawing/2014/main" val="1915517894"/>
                    </a:ext>
                  </a:extLst>
                </a:gridCol>
                <a:gridCol w="208280">
                  <a:extLst>
                    <a:ext uri="{9D8B030D-6E8A-4147-A177-3AD203B41FA5}">
                      <a16:colId xmlns:a16="http://schemas.microsoft.com/office/drawing/2014/main" val="1974282244"/>
                    </a:ext>
                  </a:extLst>
                </a:gridCol>
                <a:gridCol w="2240797">
                  <a:extLst>
                    <a:ext uri="{9D8B030D-6E8A-4147-A177-3AD203B41FA5}">
                      <a16:colId xmlns:a16="http://schemas.microsoft.com/office/drawing/2014/main" val="1379051904"/>
                    </a:ext>
                  </a:extLst>
                </a:gridCol>
              </a:tblGrid>
              <a:tr h="267777">
                <a:tc>
                  <a:txBody>
                    <a:bodyPr/>
                    <a:lstStyle/>
                    <a:p>
                      <a:pPr fontAlgn="b">
                        <a:buNone/>
                      </a:pPr>
                      <a:endParaRPr lang="en-US" sz="1200" dirty="0">
                        <a:effectLst/>
                        <a:latin typeface="Aptos Narrow" panose="020B0004020202020204" pitchFamily="34" charset="0"/>
                      </a:endParaRPr>
                    </a:p>
                  </a:txBody>
                  <a:tcPr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ts val="1350"/>
                        </a:lnSpc>
                        <a:buNone/>
                      </a:pPr>
                      <a:r>
                        <a:rPr lang="en-US" sz="1200" dirty="0">
                          <a:effectLst/>
                          <a:latin typeface="Aptos Narrow" panose="020B0004020202020204" pitchFamily="34" charset="0"/>
                        </a:rPr>
                        <a:t>PLAN</a:t>
                      </a:r>
                    </a:p>
                  </a:txBody>
                  <a:tcPr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noFill/>
                  </a:tcPr>
                </a:tc>
                <a:tc>
                  <a:txBody>
                    <a:bodyPr/>
                    <a:lstStyle/>
                    <a:p>
                      <a:pPr fontAlgn="b">
                        <a:buNone/>
                      </a:pPr>
                      <a:endParaRPr lang="en-US" sz="1200" dirty="0">
                        <a:effectLst/>
                        <a:latin typeface="Aptos Narrow" panose="020B0004020202020204" pitchFamily="34" charset="0"/>
                      </a:endParaRPr>
                    </a:p>
                  </a:txBody>
                  <a:tcPr anchor="b">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base">
                        <a:lnSpc>
                          <a:spcPts val="1350"/>
                        </a:lnSpc>
                        <a:buNone/>
                      </a:pPr>
                      <a:r>
                        <a:rPr lang="en-US" sz="1200" dirty="0">
                          <a:effectLst/>
                          <a:latin typeface="Aptos Narrow" panose="020B0004020202020204" pitchFamily="34" charset="0"/>
                        </a:rPr>
                        <a:t>IMPLEMENT</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fontAlgn="b">
                        <a:buNone/>
                      </a:pPr>
                      <a:endParaRPr lang="en-US" sz="1200" dirty="0">
                        <a:effectLst/>
                        <a:latin typeface="Aptos Narrow" panose="020B0004020202020204" pitchFamily="34" charset="0"/>
                      </a:endParaRPr>
                    </a:p>
                  </a:txBody>
                  <a:tcPr anchor="b">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ase">
                        <a:lnSpc>
                          <a:spcPts val="1350"/>
                        </a:lnSpc>
                        <a:buNone/>
                      </a:pPr>
                      <a:r>
                        <a:rPr lang="en-US" sz="1200" dirty="0">
                          <a:effectLst/>
                          <a:latin typeface="Aptos Narrow" panose="020B0004020202020204" pitchFamily="34" charset="0"/>
                        </a:rPr>
                        <a:t>SOW</a:t>
                      </a:r>
                    </a:p>
                  </a:txBody>
                  <a:tcPr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73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375811"/>
                  </a:ext>
                </a:extLst>
              </a:tr>
              <a:tr h="378309">
                <a:tc>
                  <a:txBody>
                    <a:bodyPr/>
                    <a:lstStyle/>
                    <a:p>
                      <a:pPr fontAlgn="base">
                        <a:lnSpc>
                          <a:spcPts val="1350"/>
                        </a:lnSpc>
                        <a:buNone/>
                      </a:pPr>
                      <a:r>
                        <a:rPr lang="en-US" sz="1200" b="1">
                          <a:effectLst/>
                          <a:latin typeface="Aptos Narrow" panose="020B0004020202020204" pitchFamily="34" charset="0"/>
                        </a:rPr>
                        <a:t>Project Size</a:t>
                      </a: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E8E8E8"/>
                    </a:solidFill>
                  </a:tcPr>
                </a:tc>
                <a:tc>
                  <a:txBody>
                    <a:bodyPr/>
                    <a:lstStyle/>
                    <a:p>
                      <a:pPr fontAlgn="base">
                        <a:lnSpc>
                          <a:spcPts val="1350"/>
                        </a:lnSpc>
                        <a:buNone/>
                      </a:pPr>
                      <a:r>
                        <a:rPr lang="en-US" sz="1200" b="1" u="sng">
                          <a:effectLst/>
                          <a:latin typeface="Aptos Narrow" panose="020B0004020202020204" pitchFamily="34" charset="0"/>
                        </a:rPr>
                        <a:t>Pre</a:t>
                      </a:r>
                      <a:r>
                        <a:rPr lang="en-US" sz="1200" b="1">
                          <a:effectLst/>
                          <a:latin typeface="Aptos Narrow" panose="020B0004020202020204" pitchFamily="34" charset="0"/>
                        </a:rPr>
                        <a:t>-Sales </a:t>
                      </a:r>
                    </a:p>
                    <a:p>
                      <a:pPr fontAlgn="base">
                        <a:lnSpc>
                          <a:spcPts val="1350"/>
                        </a:lnSpc>
                        <a:buNone/>
                      </a:pPr>
                      <a:r>
                        <a:rPr lang="en-US" sz="1200" b="1">
                          <a:effectLst/>
                          <a:latin typeface="Aptos Narrow" panose="020B0004020202020204" pitchFamily="34" charset="0"/>
                        </a:rPr>
                        <a:t>Funding</a:t>
                      </a: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E8E8E8"/>
                    </a:solidFill>
                  </a:tcPr>
                </a:tc>
                <a:tc>
                  <a:txBody>
                    <a:bodyPr/>
                    <a:lstStyle/>
                    <a:p>
                      <a:pPr fontAlgn="base">
                        <a:lnSpc>
                          <a:spcPts val="1350"/>
                        </a:lnSpc>
                        <a:buNone/>
                      </a:pPr>
                      <a:endParaRPr lang="en-US" sz="1200" dirty="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E8E8E8"/>
                    </a:solidFill>
                  </a:tcPr>
                </a:tc>
                <a:tc>
                  <a:txBody>
                    <a:bodyPr/>
                    <a:lstStyle/>
                    <a:p>
                      <a:pPr fontAlgn="base">
                        <a:lnSpc>
                          <a:spcPts val="1350"/>
                        </a:lnSpc>
                        <a:buNone/>
                      </a:pPr>
                      <a:r>
                        <a:rPr lang="en-US" sz="1200" b="1">
                          <a:effectLst/>
                          <a:latin typeface="Aptos Narrow" panose="020B0004020202020204" pitchFamily="34" charset="0"/>
                        </a:rPr>
                        <a:t>T-Shirt </a:t>
                      </a:r>
                    </a:p>
                    <a:p>
                      <a:pPr fontAlgn="base">
                        <a:lnSpc>
                          <a:spcPts val="1350"/>
                        </a:lnSpc>
                        <a:buNone/>
                      </a:pPr>
                      <a:r>
                        <a:rPr lang="en-US" sz="1200" b="1">
                          <a:effectLst/>
                          <a:latin typeface="Aptos Narrow" panose="020B0004020202020204" pitchFamily="34" charset="0"/>
                        </a:rPr>
                        <a:t>Size</a:t>
                      </a: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525" cap="flat" cmpd="sng" algn="ctr">
                      <a:solidFill>
                        <a:srgbClr val="747474"/>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E8E8E8"/>
                    </a:solidFill>
                  </a:tcPr>
                </a:tc>
                <a:tc>
                  <a:txBody>
                    <a:bodyPr/>
                    <a:lstStyle/>
                    <a:p>
                      <a:pPr fontAlgn="base">
                        <a:lnSpc>
                          <a:spcPts val="1350"/>
                        </a:lnSpc>
                        <a:buNone/>
                      </a:pPr>
                      <a:r>
                        <a:rPr lang="en-US" sz="1200" b="1" u="sng">
                          <a:effectLst/>
                          <a:latin typeface="Aptos Narrow" panose="020B0004020202020204" pitchFamily="34" charset="0"/>
                        </a:rPr>
                        <a:t>Post</a:t>
                      </a:r>
                      <a:r>
                        <a:rPr lang="en-US" sz="1200" b="1">
                          <a:effectLst/>
                          <a:latin typeface="Aptos Narrow" panose="020B0004020202020204" pitchFamily="34" charset="0"/>
                        </a:rPr>
                        <a:t>-Sales </a:t>
                      </a:r>
                    </a:p>
                    <a:p>
                      <a:pPr fontAlgn="base">
                        <a:lnSpc>
                          <a:spcPts val="1350"/>
                        </a:lnSpc>
                        <a:buNone/>
                      </a:pPr>
                      <a:r>
                        <a:rPr lang="en-US" sz="1200" b="1">
                          <a:effectLst/>
                          <a:latin typeface="Aptos Narrow" panose="020B0004020202020204" pitchFamily="34" charset="0"/>
                        </a:rPr>
                        <a:t>Funding </a:t>
                      </a:r>
                      <a:endParaRPr lang="en-US" sz="1200">
                        <a:effectLst/>
                        <a:latin typeface="Aptos Narrow" panose="020B0004020202020204" pitchFamily="34" charset="0"/>
                      </a:endParaRPr>
                    </a:p>
                  </a:txBody>
                  <a:tcPr anchor="b">
                    <a:lnL w="9525" cap="flat" cmpd="sng" algn="ctr">
                      <a:solidFill>
                        <a:srgbClr val="747474"/>
                      </a:solidFill>
                      <a:prstDash val="solid"/>
                      <a:round/>
                      <a:headEnd type="none" w="med" len="med"/>
                      <a:tailEnd type="none" w="med" len="med"/>
                    </a:lnL>
                    <a:lnR w="9735"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E8E8E8"/>
                    </a:solidFill>
                  </a:tcPr>
                </a:tc>
                <a:tc>
                  <a:txBody>
                    <a:bodyPr/>
                    <a:lstStyle/>
                    <a:p>
                      <a:pPr fontAlgn="base">
                        <a:lnSpc>
                          <a:spcPts val="1350"/>
                        </a:lnSpc>
                        <a:buNone/>
                      </a:pP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E8E8E8"/>
                    </a:solidFill>
                  </a:tcPr>
                </a:tc>
                <a:tc>
                  <a:txBody>
                    <a:bodyPr/>
                    <a:lstStyle/>
                    <a:p>
                      <a:pPr fontAlgn="base">
                        <a:lnSpc>
                          <a:spcPts val="1350"/>
                        </a:lnSpc>
                        <a:buNone/>
                      </a:pPr>
                      <a:r>
                        <a:rPr lang="en-US" sz="1200" b="1" dirty="0">
                          <a:effectLst/>
                          <a:latin typeface="Aptos Narrow" panose="020B0004020202020204" pitchFamily="34" charset="0"/>
                        </a:rPr>
                        <a:t>Total Funding </a:t>
                      </a:r>
                      <a:endParaRPr lang="en-US" sz="1200" dirty="0">
                        <a:effectLst/>
                        <a:latin typeface="Aptos Narrow" panose="020B0004020202020204" pitchFamily="34" charset="0"/>
                      </a:endParaRPr>
                    </a:p>
                    <a:p>
                      <a:pPr fontAlgn="base">
                        <a:lnSpc>
                          <a:spcPts val="1350"/>
                        </a:lnSpc>
                        <a:buNone/>
                      </a:pPr>
                      <a:r>
                        <a:rPr lang="en-US" sz="1200" b="1" dirty="0">
                          <a:effectLst/>
                          <a:latin typeface="Aptos Narrow" panose="020B0004020202020204" pitchFamily="34" charset="0"/>
                        </a:rPr>
                        <a:t>(Pre-Sales + Post-Sales)</a:t>
                      </a:r>
                      <a:endParaRPr lang="en-US" sz="1200" dirty="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735" cap="flat" cmpd="sng" algn="ctr">
                      <a:solidFill>
                        <a:srgbClr val="000000"/>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E8E8E8"/>
                    </a:solidFill>
                  </a:tcPr>
                </a:tc>
                <a:extLst>
                  <a:ext uri="{0D108BD9-81ED-4DB2-BD59-A6C34878D82A}">
                    <a16:rowId xmlns:a16="http://schemas.microsoft.com/office/drawing/2014/main" val="1151329284"/>
                  </a:ext>
                </a:extLst>
              </a:tr>
              <a:tr h="180308">
                <a:tc>
                  <a:txBody>
                    <a:bodyPr/>
                    <a:lstStyle/>
                    <a:p>
                      <a:pPr fontAlgn="base">
                        <a:lnSpc>
                          <a:spcPts val="1350"/>
                        </a:lnSpc>
                        <a:buNone/>
                      </a:pPr>
                      <a:r>
                        <a:rPr lang="en-US" sz="1200" b="1" dirty="0">
                          <a:solidFill>
                            <a:srgbClr val="FF0000"/>
                          </a:solidFill>
                          <a:effectLst/>
                          <a:latin typeface="Aptos Narrow" panose="020B0004020202020204" pitchFamily="34" charset="0"/>
                        </a:rPr>
                        <a:t>$5K</a:t>
                      </a:r>
                      <a:r>
                        <a:rPr lang="en-US" sz="1200" dirty="0">
                          <a:effectLst/>
                          <a:latin typeface="Aptos Narrow" panose="020B0004020202020204" pitchFamily="34" charset="0"/>
                        </a:rPr>
                        <a:t>–$15K</a:t>
                      </a: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FFFFCC"/>
                    </a:solidFill>
                  </a:tcPr>
                </a:tc>
                <a:tc>
                  <a:txBody>
                    <a:bodyPr/>
                    <a:lstStyle/>
                    <a:p>
                      <a:pPr algn="ctr" fontAlgn="base">
                        <a:lnSpc>
                          <a:spcPts val="1350"/>
                        </a:lnSpc>
                        <a:buNone/>
                      </a:pPr>
                      <a:r>
                        <a:rPr lang="en-US" sz="1200">
                          <a:effectLst/>
                          <a:latin typeface="Aptos Narrow" panose="020B0004020202020204" pitchFamily="34" charset="0"/>
                        </a:rPr>
                        <a:t>N/A</a:t>
                      </a: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r>
                        <a:rPr lang="en-US" sz="1200" b="1">
                          <a:effectLst/>
                          <a:latin typeface="Aptos Narrow" panose="020B0004020202020204" pitchFamily="34" charset="0"/>
                        </a:rPr>
                        <a:t>XXS</a:t>
                      </a: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525" cap="flat" cmpd="sng" algn="ctr">
                      <a:solidFill>
                        <a:srgbClr val="747474"/>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FFFFCC"/>
                    </a:solidFill>
                  </a:tcPr>
                </a:tc>
                <a:tc>
                  <a:txBody>
                    <a:bodyPr/>
                    <a:lstStyle/>
                    <a:p>
                      <a:pPr algn="r" fontAlgn="base">
                        <a:lnSpc>
                          <a:spcPts val="1350"/>
                        </a:lnSpc>
                        <a:buNone/>
                      </a:pPr>
                      <a:r>
                        <a:rPr lang="en-US" sz="1200" dirty="0">
                          <a:effectLst/>
                          <a:latin typeface="Aptos Narrow" panose="020B0004020202020204" pitchFamily="34" charset="0"/>
                        </a:rPr>
                        <a:t>$2,000 </a:t>
                      </a:r>
                    </a:p>
                  </a:txBody>
                  <a:tcPr anchor="b">
                    <a:lnL w="9525" cap="flat" cmpd="sng" algn="ctr">
                      <a:solidFill>
                        <a:srgbClr val="747474"/>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algn="r" fontAlgn="base">
                        <a:lnSpc>
                          <a:spcPts val="1350"/>
                        </a:lnSpc>
                        <a:buNone/>
                      </a:pPr>
                      <a:r>
                        <a:rPr lang="en-US" sz="1200" b="1">
                          <a:effectLst/>
                          <a:latin typeface="Aptos Narrow" panose="020B0004020202020204" pitchFamily="34" charset="0"/>
                        </a:rPr>
                        <a:t>$2,000 </a:t>
                      </a: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extLst>
                  <a:ext uri="{0D108BD9-81ED-4DB2-BD59-A6C34878D82A}">
                    <a16:rowId xmlns:a16="http://schemas.microsoft.com/office/drawing/2014/main" val="233574199"/>
                  </a:ext>
                </a:extLst>
              </a:tr>
              <a:tr h="180308">
                <a:tc>
                  <a:txBody>
                    <a:bodyPr/>
                    <a:lstStyle/>
                    <a:p>
                      <a:pPr fontAlgn="base">
                        <a:lnSpc>
                          <a:spcPts val="1350"/>
                        </a:lnSpc>
                        <a:buNone/>
                      </a:pPr>
                      <a:r>
                        <a:rPr lang="en-US" sz="1200" b="1">
                          <a:solidFill>
                            <a:srgbClr val="FF0000"/>
                          </a:solidFill>
                          <a:effectLst/>
                          <a:latin typeface="Aptos Narrow" panose="020B0004020202020204" pitchFamily="34" charset="0"/>
                        </a:rPr>
                        <a:t>$15K</a:t>
                      </a:r>
                      <a:r>
                        <a:rPr lang="en-US" sz="1200">
                          <a:effectLst/>
                          <a:latin typeface="Aptos Narrow" panose="020B0004020202020204" pitchFamily="34" charset="0"/>
                        </a:rPr>
                        <a:t>–$50K</a:t>
                      </a: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FFFFCC"/>
                    </a:solidFill>
                  </a:tcPr>
                </a:tc>
                <a:tc>
                  <a:txBody>
                    <a:bodyPr/>
                    <a:lstStyle/>
                    <a:p>
                      <a:pPr algn="r" fontAlgn="base">
                        <a:lnSpc>
                          <a:spcPts val="1350"/>
                        </a:lnSpc>
                        <a:buNone/>
                      </a:pPr>
                      <a:r>
                        <a:rPr lang="en-US" sz="1200">
                          <a:effectLst/>
                          <a:latin typeface="Aptos Narrow" panose="020B0004020202020204" pitchFamily="34" charset="0"/>
                        </a:rPr>
                        <a:t>$15,000 </a:t>
                      </a: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r>
                        <a:rPr lang="en-US" sz="1200" b="1">
                          <a:effectLst/>
                          <a:latin typeface="Aptos Narrow" panose="020B0004020202020204" pitchFamily="34" charset="0"/>
                        </a:rPr>
                        <a:t>XS</a:t>
                      </a: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525" cap="flat" cmpd="sng" algn="ctr">
                      <a:solidFill>
                        <a:srgbClr val="747474"/>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FFFFCC"/>
                    </a:solidFill>
                  </a:tcPr>
                </a:tc>
                <a:tc>
                  <a:txBody>
                    <a:bodyPr/>
                    <a:lstStyle/>
                    <a:p>
                      <a:pPr algn="r" fontAlgn="base">
                        <a:lnSpc>
                          <a:spcPts val="1350"/>
                        </a:lnSpc>
                        <a:buNone/>
                      </a:pPr>
                      <a:r>
                        <a:rPr lang="en-US" sz="1200" dirty="0">
                          <a:effectLst/>
                          <a:latin typeface="Aptos Narrow" panose="020B0004020202020204" pitchFamily="34" charset="0"/>
                        </a:rPr>
                        <a:t>$6,500 </a:t>
                      </a:r>
                    </a:p>
                  </a:txBody>
                  <a:tcPr anchor="b">
                    <a:lnL w="9525" cap="flat" cmpd="sng" algn="ctr">
                      <a:solidFill>
                        <a:srgbClr val="747474"/>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algn="r" fontAlgn="base">
                        <a:lnSpc>
                          <a:spcPts val="1350"/>
                        </a:lnSpc>
                        <a:buNone/>
                      </a:pPr>
                      <a:r>
                        <a:rPr lang="en-US" sz="1200" b="1" dirty="0">
                          <a:effectLst/>
                          <a:latin typeface="Aptos Narrow" panose="020B0004020202020204" pitchFamily="34" charset="0"/>
                        </a:rPr>
                        <a:t>$21,500 </a:t>
                      </a:r>
                      <a:endParaRPr lang="en-US" sz="1200" dirty="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extLst>
                  <a:ext uri="{0D108BD9-81ED-4DB2-BD59-A6C34878D82A}">
                    <a16:rowId xmlns:a16="http://schemas.microsoft.com/office/drawing/2014/main" val="2095780459"/>
                  </a:ext>
                </a:extLst>
              </a:tr>
              <a:tr h="180308">
                <a:tc>
                  <a:txBody>
                    <a:bodyPr/>
                    <a:lstStyle/>
                    <a:p>
                      <a:pPr fontAlgn="base">
                        <a:lnSpc>
                          <a:spcPts val="1350"/>
                        </a:lnSpc>
                        <a:buNone/>
                      </a:pPr>
                      <a:r>
                        <a:rPr lang="en-US" sz="1200" b="1">
                          <a:solidFill>
                            <a:srgbClr val="FF0000"/>
                          </a:solidFill>
                          <a:effectLst/>
                          <a:latin typeface="Aptos Narrow" panose="020B0004020202020204" pitchFamily="34" charset="0"/>
                        </a:rPr>
                        <a:t>$50K</a:t>
                      </a:r>
                      <a:r>
                        <a:rPr lang="en-US" sz="1200">
                          <a:effectLst/>
                          <a:latin typeface="Aptos Narrow" panose="020B0004020202020204" pitchFamily="34" charset="0"/>
                        </a:rPr>
                        <a:t>–$100K</a:t>
                      </a: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FFFFCC"/>
                    </a:solidFill>
                  </a:tcPr>
                </a:tc>
                <a:tc>
                  <a:txBody>
                    <a:bodyPr/>
                    <a:lstStyle/>
                    <a:p>
                      <a:pPr algn="r" fontAlgn="base">
                        <a:lnSpc>
                          <a:spcPts val="1350"/>
                        </a:lnSpc>
                        <a:buNone/>
                      </a:pPr>
                      <a:r>
                        <a:rPr lang="en-US" sz="1200">
                          <a:effectLst/>
                          <a:latin typeface="Aptos Narrow" panose="020B0004020202020204" pitchFamily="34" charset="0"/>
                        </a:rPr>
                        <a:t>$15,000 </a:t>
                      </a: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r>
                        <a:rPr lang="en-US" sz="1200" b="1">
                          <a:effectLst/>
                          <a:latin typeface="Aptos Narrow" panose="020B0004020202020204" pitchFamily="34" charset="0"/>
                        </a:rPr>
                        <a:t>S</a:t>
                      </a: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525" cap="flat" cmpd="sng" algn="ctr">
                      <a:solidFill>
                        <a:srgbClr val="747474"/>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FFFFCC"/>
                    </a:solidFill>
                  </a:tcPr>
                </a:tc>
                <a:tc>
                  <a:txBody>
                    <a:bodyPr/>
                    <a:lstStyle/>
                    <a:p>
                      <a:pPr algn="r" fontAlgn="base">
                        <a:lnSpc>
                          <a:spcPts val="1350"/>
                        </a:lnSpc>
                        <a:buNone/>
                      </a:pPr>
                      <a:r>
                        <a:rPr lang="en-US" sz="1200" dirty="0">
                          <a:effectLst/>
                          <a:latin typeface="Aptos Narrow" panose="020B0004020202020204" pitchFamily="34" charset="0"/>
                        </a:rPr>
                        <a:t>$15,000 </a:t>
                      </a:r>
                    </a:p>
                  </a:txBody>
                  <a:tcPr anchor="b">
                    <a:lnL w="9525" cap="flat" cmpd="sng" algn="ctr">
                      <a:solidFill>
                        <a:srgbClr val="747474"/>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endParaRPr lang="en-US" sz="1200" dirty="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algn="r" fontAlgn="base">
                        <a:lnSpc>
                          <a:spcPts val="1350"/>
                        </a:lnSpc>
                        <a:buNone/>
                      </a:pPr>
                      <a:r>
                        <a:rPr lang="en-US" sz="1200" b="1" dirty="0">
                          <a:effectLst/>
                          <a:latin typeface="Aptos Narrow" panose="020B0004020202020204" pitchFamily="34" charset="0"/>
                        </a:rPr>
                        <a:t>$30,000 </a:t>
                      </a:r>
                      <a:endParaRPr lang="en-US" sz="1200" dirty="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extLst>
                  <a:ext uri="{0D108BD9-81ED-4DB2-BD59-A6C34878D82A}">
                    <a16:rowId xmlns:a16="http://schemas.microsoft.com/office/drawing/2014/main" val="729592666"/>
                  </a:ext>
                </a:extLst>
              </a:tr>
              <a:tr h="180308">
                <a:tc>
                  <a:txBody>
                    <a:bodyPr/>
                    <a:lstStyle/>
                    <a:p>
                      <a:pPr fontAlgn="base">
                        <a:lnSpc>
                          <a:spcPts val="1350"/>
                        </a:lnSpc>
                        <a:buNone/>
                      </a:pPr>
                      <a:r>
                        <a:rPr lang="en-US" sz="1200" b="1">
                          <a:solidFill>
                            <a:srgbClr val="FF0000"/>
                          </a:solidFill>
                          <a:effectLst/>
                          <a:latin typeface="Aptos Narrow" panose="020B0004020202020204" pitchFamily="34" charset="0"/>
                        </a:rPr>
                        <a:t>$100K</a:t>
                      </a:r>
                      <a:r>
                        <a:rPr lang="en-US" sz="1200">
                          <a:effectLst/>
                          <a:latin typeface="Aptos Narrow" panose="020B0004020202020204" pitchFamily="34" charset="0"/>
                        </a:rPr>
                        <a:t>–$250K</a:t>
                      </a: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FFFFCC"/>
                    </a:solidFill>
                  </a:tcPr>
                </a:tc>
                <a:tc>
                  <a:txBody>
                    <a:bodyPr/>
                    <a:lstStyle/>
                    <a:p>
                      <a:pPr algn="r" fontAlgn="base">
                        <a:lnSpc>
                          <a:spcPts val="1350"/>
                        </a:lnSpc>
                        <a:buNone/>
                      </a:pPr>
                      <a:r>
                        <a:rPr lang="en-US" sz="1200">
                          <a:effectLst/>
                          <a:latin typeface="Aptos Narrow" panose="020B0004020202020204" pitchFamily="34" charset="0"/>
                        </a:rPr>
                        <a:t>$15,000 </a:t>
                      </a: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r>
                        <a:rPr lang="en-US" sz="1200" b="1">
                          <a:effectLst/>
                          <a:latin typeface="Aptos Narrow" panose="020B0004020202020204" pitchFamily="34" charset="0"/>
                        </a:rPr>
                        <a:t>M</a:t>
                      </a: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525" cap="flat" cmpd="sng" algn="ctr">
                      <a:solidFill>
                        <a:srgbClr val="747474"/>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solidFill>
                      <a:srgbClr val="FFFFCC"/>
                    </a:solidFill>
                  </a:tcPr>
                </a:tc>
                <a:tc>
                  <a:txBody>
                    <a:bodyPr/>
                    <a:lstStyle/>
                    <a:p>
                      <a:pPr algn="r" fontAlgn="base">
                        <a:lnSpc>
                          <a:spcPts val="1350"/>
                        </a:lnSpc>
                        <a:buNone/>
                      </a:pPr>
                      <a:r>
                        <a:rPr lang="en-US" sz="1200">
                          <a:effectLst/>
                          <a:latin typeface="Aptos Narrow" panose="020B0004020202020204" pitchFamily="34" charset="0"/>
                        </a:rPr>
                        <a:t>$35,000 </a:t>
                      </a:r>
                    </a:p>
                  </a:txBody>
                  <a:tcPr anchor="b">
                    <a:lnL w="9525" cap="flat" cmpd="sng" algn="ctr">
                      <a:solidFill>
                        <a:srgbClr val="747474"/>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algn="r" fontAlgn="base">
                        <a:lnSpc>
                          <a:spcPts val="1350"/>
                        </a:lnSpc>
                        <a:buNone/>
                      </a:pPr>
                      <a:r>
                        <a:rPr lang="en-US" sz="1200" b="1">
                          <a:effectLst/>
                          <a:latin typeface="Aptos Narrow" panose="020B0004020202020204" pitchFamily="34" charset="0"/>
                        </a:rPr>
                        <a:t>$50,000 </a:t>
                      </a: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extLst>
                  <a:ext uri="{0D108BD9-81ED-4DB2-BD59-A6C34878D82A}">
                    <a16:rowId xmlns:a16="http://schemas.microsoft.com/office/drawing/2014/main" val="1314669164"/>
                  </a:ext>
                </a:extLst>
              </a:tr>
              <a:tr h="180308">
                <a:tc>
                  <a:txBody>
                    <a:bodyPr/>
                    <a:lstStyle/>
                    <a:p>
                      <a:pPr fontAlgn="base">
                        <a:lnSpc>
                          <a:spcPts val="1350"/>
                        </a:lnSpc>
                        <a:buNone/>
                      </a:pPr>
                      <a:r>
                        <a:rPr lang="en-US" sz="1200" b="1">
                          <a:solidFill>
                            <a:srgbClr val="FF0000"/>
                          </a:solidFill>
                          <a:effectLst/>
                          <a:latin typeface="Aptos Narrow" panose="020B0004020202020204" pitchFamily="34" charset="0"/>
                        </a:rPr>
                        <a:t>$250K</a:t>
                      </a:r>
                      <a:r>
                        <a:rPr lang="en-US" sz="1200">
                          <a:effectLst/>
                          <a:latin typeface="Aptos Narrow" panose="020B0004020202020204" pitchFamily="34" charset="0"/>
                        </a:rPr>
                        <a:t>–$500K</a:t>
                      </a: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735" cap="flat" cmpd="sng" algn="ctr">
                      <a:solidFill>
                        <a:srgbClr val="FF0000"/>
                      </a:solidFill>
                      <a:prstDash val="solid"/>
                      <a:round/>
                      <a:headEnd type="none" w="med" len="med"/>
                      <a:tailEnd type="none" w="med" len="med"/>
                    </a:lnB>
                    <a:solidFill>
                      <a:srgbClr val="FFFFCC"/>
                    </a:solidFill>
                  </a:tcPr>
                </a:tc>
                <a:tc>
                  <a:txBody>
                    <a:bodyPr/>
                    <a:lstStyle/>
                    <a:p>
                      <a:pPr algn="r" fontAlgn="base">
                        <a:lnSpc>
                          <a:spcPts val="1350"/>
                        </a:lnSpc>
                        <a:buNone/>
                      </a:pPr>
                      <a:r>
                        <a:rPr lang="en-US" sz="1200">
                          <a:effectLst/>
                          <a:latin typeface="Aptos Narrow" panose="020B0004020202020204" pitchFamily="34" charset="0"/>
                        </a:rPr>
                        <a:t>$25,000 </a:t>
                      </a: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735" cap="flat" cmpd="sng" algn="ctr">
                      <a:solidFill>
                        <a:srgbClr val="FF0000"/>
                      </a:solidFill>
                      <a:prstDash val="solid"/>
                      <a:round/>
                      <a:headEnd type="none" w="med" len="med"/>
                      <a:tailEnd type="none" w="med" len="med"/>
                    </a:lnB>
                    <a:noFill/>
                  </a:tcPr>
                </a:tc>
                <a:tc>
                  <a:txBody>
                    <a:bodyPr/>
                    <a:lstStyle/>
                    <a:p>
                      <a:pPr fontAlgn="base">
                        <a:lnSpc>
                          <a:spcPts val="1350"/>
                        </a:lnSpc>
                        <a:buNone/>
                      </a:pP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fontAlgn="base">
                        <a:lnSpc>
                          <a:spcPts val="1350"/>
                        </a:lnSpc>
                        <a:buNone/>
                      </a:pPr>
                      <a:r>
                        <a:rPr lang="en-US" sz="1200" b="1">
                          <a:effectLst/>
                          <a:latin typeface="Aptos Narrow" panose="020B0004020202020204" pitchFamily="34" charset="0"/>
                        </a:rPr>
                        <a:t>L</a:t>
                      </a: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525" cap="flat" cmpd="sng" algn="ctr">
                      <a:solidFill>
                        <a:srgbClr val="747474"/>
                      </a:solidFill>
                      <a:prstDash val="solid"/>
                      <a:round/>
                      <a:headEnd type="none" w="med" len="med"/>
                      <a:tailEnd type="none" w="med" len="med"/>
                    </a:lnR>
                    <a:lnT w="9525" cap="flat" cmpd="sng" algn="ctr">
                      <a:solidFill>
                        <a:srgbClr val="747474"/>
                      </a:solidFill>
                      <a:prstDash val="solid"/>
                      <a:round/>
                      <a:headEnd type="none" w="med" len="med"/>
                      <a:tailEnd type="none" w="med" len="med"/>
                    </a:lnT>
                    <a:lnB w="9735" cap="flat" cmpd="sng" algn="ctr">
                      <a:solidFill>
                        <a:srgbClr val="FF0000"/>
                      </a:solidFill>
                      <a:prstDash val="solid"/>
                      <a:round/>
                      <a:headEnd type="none" w="med" len="med"/>
                      <a:tailEnd type="none" w="med" len="med"/>
                    </a:lnB>
                    <a:solidFill>
                      <a:srgbClr val="FFFFCC"/>
                    </a:solidFill>
                  </a:tcPr>
                </a:tc>
                <a:tc>
                  <a:txBody>
                    <a:bodyPr/>
                    <a:lstStyle/>
                    <a:p>
                      <a:pPr algn="r" fontAlgn="base">
                        <a:lnSpc>
                          <a:spcPts val="1350"/>
                        </a:lnSpc>
                        <a:buNone/>
                      </a:pPr>
                      <a:r>
                        <a:rPr lang="en-US" sz="1200">
                          <a:effectLst/>
                          <a:latin typeface="Aptos Narrow" panose="020B0004020202020204" pitchFamily="34" charset="0"/>
                        </a:rPr>
                        <a:t>$75,000 </a:t>
                      </a:r>
                    </a:p>
                  </a:txBody>
                  <a:tcPr anchor="b">
                    <a:lnL w="9525" cap="flat" cmpd="sng" algn="ctr">
                      <a:solidFill>
                        <a:srgbClr val="747474"/>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735" cap="flat" cmpd="sng" algn="ctr">
                      <a:solidFill>
                        <a:srgbClr val="FF0000"/>
                      </a:solidFill>
                      <a:prstDash val="solid"/>
                      <a:round/>
                      <a:headEnd type="none" w="med" len="med"/>
                      <a:tailEnd type="none" w="med" len="med"/>
                    </a:lnB>
                    <a:noFill/>
                  </a:tcPr>
                </a:tc>
                <a:tc>
                  <a:txBody>
                    <a:bodyPr/>
                    <a:lstStyle/>
                    <a:p>
                      <a:pPr fontAlgn="base">
                        <a:lnSpc>
                          <a:spcPts val="1350"/>
                        </a:lnSpc>
                        <a:buNone/>
                      </a:pPr>
                      <a:endParaRPr lang="en-US" sz="120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525" cap="flat" cmpd="sng" algn="ctr">
                      <a:solidFill>
                        <a:srgbClr val="747474"/>
                      </a:solidFill>
                      <a:prstDash val="solid"/>
                      <a:round/>
                      <a:headEnd type="none" w="med" len="med"/>
                      <a:tailEnd type="none" w="med" len="med"/>
                    </a:lnB>
                    <a:noFill/>
                  </a:tcPr>
                </a:tc>
                <a:tc>
                  <a:txBody>
                    <a:bodyPr/>
                    <a:lstStyle/>
                    <a:p>
                      <a:pPr algn="r" fontAlgn="base">
                        <a:lnSpc>
                          <a:spcPts val="1350"/>
                        </a:lnSpc>
                        <a:buNone/>
                      </a:pPr>
                      <a:r>
                        <a:rPr lang="en-US" sz="1200" b="1" dirty="0">
                          <a:effectLst/>
                          <a:latin typeface="Aptos Narrow" panose="020B0004020202020204" pitchFamily="34" charset="0"/>
                        </a:rPr>
                        <a:t>$100,000 </a:t>
                      </a:r>
                      <a:endParaRPr lang="en-US" sz="1200" dirty="0">
                        <a:effectLst/>
                        <a:latin typeface="Aptos Narrow" panose="020B0004020202020204" pitchFamily="34" charset="0"/>
                      </a:endParaRPr>
                    </a:p>
                  </a:txBody>
                  <a:tcPr anchor="b">
                    <a:lnL w="9735" cap="flat" cmpd="sng" algn="ctr">
                      <a:solidFill>
                        <a:srgbClr val="FF0000"/>
                      </a:solidFill>
                      <a:prstDash val="solid"/>
                      <a:round/>
                      <a:headEnd type="none" w="med" len="med"/>
                      <a:tailEnd type="none" w="med" len="med"/>
                    </a:lnL>
                    <a:lnR w="9735" cap="flat" cmpd="sng" algn="ctr">
                      <a:solidFill>
                        <a:srgbClr val="FF0000"/>
                      </a:solidFill>
                      <a:prstDash val="solid"/>
                      <a:round/>
                      <a:headEnd type="none" w="med" len="med"/>
                      <a:tailEnd type="none" w="med" len="med"/>
                    </a:lnR>
                    <a:lnT w="9525" cap="flat" cmpd="sng" algn="ctr">
                      <a:solidFill>
                        <a:srgbClr val="747474"/>
                      </a:solidFill>
                      <a:prstDash val="solid"/>
                      <a:round/>
                      <a:headEnd type="none" w="med" len="med"/>
                      <a:tailEnd type="none" w="med" len="med"/>
                    </a:lnT>
                    <a:lnB w="9735" cap="flat" cmpd="sng" algn="ctr">
                      <a:solidFill>
                        <a:srgbClr val="FF0000"/>
                      </a:solidFill>
                      <a:prstDash val="solid"/>
                      <a:round/>
                      <a:headEnd type="none" w="med" len="med"/>
                      <a:tailEnd type="none" w="med" len="med"/>
                    </a:lnB>
                    <a:noFill/>
                  </a:tcPr>
                </a:tc>
                <a:extLst>
                  <a:ext uri="{0D108BD9-81ED-4DB2-BD59-A6C34878D82A}">
                    <a16:rowId xmlns:a16="http://schemas.microsoft.com/office/drawing/2014/main" val="4005757973"/>
                  </a:ext>
                </a:extLst>
              </a:tr>
            </a:tbl>
          </a:graphicData>
        </a:graphic>
      </p:graphicFrame>
      <p:sp>
        <p:nvSpPr>
          <p:cNvPr id="27" name="TextBox 12">
            <a:extLst>
              <a:ext uri="{FF2B5EF4-FFF2-40B4-BE49-F238E27FC236}">
                <a16:creationId xmlns:a16="http://schemas.microsoft.com/office/drawing/2014/main" id="{9AF2D1BA-B898-285F-62BC-9FDD728193AA}"/>
              </a:ext>
            </a:extLst>
          </p:cNvPr>
          <p:cNvSpPr txBox="1"/>
          <p:nvPr/>
        </p:nvSpPr>
        <p:spPr>
          <a:xfrm>
            <a:off x="7642164" y="4146791"/>
            <a:ext cx="4558144" cy="2215991"/>
          </a:xfrm>
          <a:prstGeom prst="rect">
            <a:avLst/>
          </a:prstGeom>
          <a:noFill/>
        </p:spPr>
        <p:txBody>
          <a:bodyPr wrap="square" lIns="91440" tIns="45720" rIns="91440" bIns="45720" anchor="t">
            <a:spAutoFit/>
          </a:bodyPr>
          <a:lst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a:lstStyle>
          <a:p>
            <a:r>
              <a:rPr lang="en-US" sz="1200" dirty="0">
                <a:latin typeface="Arial Narrow" panose="020B0606020202030204" pitchFamily="34" charset="0"/>
              </a:rPr>
              <a:t>Duration:</a:t>
            </a:r>
          </a:p>
          <a:p>
            <a:r>
              <a:rPr lang="en-US" sz="1200" dirty="0">
                <a:latin typeface="Arial Narrow" panose="020B0606020202030204" pitchFamily="34" charset="0"/>
              </a:rPr>
              <a:t>Pre-sales: All sizes = 120 days</a:t>
            </a:r>
          </a:p>
          <a:p>
            <a:r>
              <a:rPr lang="en-US" sz="1200" dirty="0">
                <a:latin typeface="Arial Narrow" panose="020B0606020202030204" pitchFamily="34" charset="0"/>
              </a:rPr>
              <a:t>Post-sales: L = 260 days, M = 200 days, all other sizes = 120 days</a:t>
            </a:r>
          </a:p>
          <a:p>
            <a:endParaRPr lang="en-US" sz="300" dirty="0">
              <a:latin typeface="Arial Narrow" panose="020B0606020202030204" pitchFamily="34" charset="0"/>
            </a:endParaRPr>
          </a:p>
          <a:p>
            <a:r>
              <a:rPr lang="en-US" sz="1200" dirty="0">
                <a:latin typeface="Arial Narrow" panose="020B0606020202030204" pitchFamily="34" charset="0"/>
              </a:rPr>
              <a:t>Azure Accelerate Performance Measurements: </a:t>
            </a:r>
          </a:p>
          <a:p>
            <a:pPr marL="171450" indent="-171450">
              <a:buFontTx/>
              <a:buChar char="-"/>
            </a:pPr>
            <a:r>
              <a:rPr lang="en-US" sz="1200" dirty="0">
                <a:latin typeface="Arial Narrow" panose="020B0606020202030204" pitchFamily="34" charset="0"/>
              </a:rPr>
              <a:t>Pre-Sales: Rackspace needs to </a:t>
            </a:r>
            <a:r>
              <a:rPr lang="en-US" sz="1200" b="1" dirty="0">
                <a:latin typeface="Arial Narrow" panose="020B0606020202030204" pitchFamily="34" charset="0"/>
              </a:rPr>
              <a:t>convert</a:t>
            </a:r>
            <a:r>
              <a:rPr lang="en-US" sz="1200" dirty="0">
                <a:latin typeface="Arial Narrow" panose="020B0606020202030204" pitchFamily="34" charset="0"/>
              </a:rPr>
              <a:t> at least </a:t>
            </a:r>
            <a:r>
              <a:rPr lang="en-US" sz="1200" b="1" dirty="0">
                <a:highlight>
                  <a:srgbClr val="FFFF00"/>
                </a:highlight>
                <a:latin typeface="Arial Narrow" panose="020B0606020202030204" pitchFamily="34" charset="0"/>
              </a:rPr>
              <a:t>33%</a:t>
            </a:r>
            <a:r>
              <a:rPr lang="en-US" sz="1200" dirty="0">
                <a:highlight>
                  <a:srgbClr val="FFFF00"/>
                </a:highlight>
                <a:latin typeface="Arial Narrow" panose="020B0606020202030204" pitchFamily="34" charset="0"/>
              </a:rPr>
              <a:t> </a:t>
            </a:r>
            <a:r>
              <a:rPr lang="en-US" sz="1200" dirty="0">
                <a:latin typeface="Arial Narrow" panose="020B0606020202030204" pitchFamily="34" charset="0"/>
              </a:rPr>
              <a:t>of their </a:t>
            </a:r>
            <a:r>
              <a:rPr lang="en-US" sz="1200" b="1" dirty="0">
                <a:latin typeface="Arial Narrow" panose="020B0606020202030204" pitchFamily="34" charset="0"/>
              </a:rPr>
              <a:t>pre-sales to post-sales </a:t>
            </a:r>
            <a:endParaRPr lang="en-US" sz="1200" dirty="0">
              <a:latin typeface="Arial Narrow" panose="020B0606020202030204" pitchFamily="34" charset="0"/>
            </a:endParaRPr>
          </a:p>
          <a:p>
            <a:pPr marL="171450" indent="-171450">
              <a:buFontTx/>
              <a:buChar char="-"/>
            </a:pPr>
            <a:r>
              <a:rPr lang="en-US" sz="1200" dirty="0">
                <a:solidFill>
                  <a:srgbClr val="000000"/>
                </a:solidFill>
                <a:latin typeface="Arial Narrow" panose="020B0606020202030204" pitchFamily="34" charset="0"/>
                <a:ea typeface="Times New Roman" panose="02020603050405020304" pitchFamily="18" charset="0"/>
                <a:cs typeface="Aptos" panose="020B0004020202020204" pitchFamily="34" charset="0"/>
              </a:rPr>
              <a:t>ACR for Pre-Sales engagements should align with the POV solution being presented to the customer for Post-Sales. Pre-Sales engagements are not tracked for ACR </a:t>
            </a:r>
            <a:endParaRPr lang="en-US" sz="1200" dirty="0">
              <a:latin typeface="Arial Narrow" panose="020B0606020202030204" pitchFamily="34" charset="0"/>
            </a:endParaRPr>
          </a:p>
          <a:p>
            <a:pPr marL="171450" indent="-171450">
              <a:buFontTx/>
              <a:buChar char="-"/>
            </a:pPr>
            <a:r>
              <a:rPr lang="en-US" sz="1200" dirty="0">
                <a:latin typeface="Arial Narrow" panose="020B0606020202030204" pitchFamily="34" charset="0"/>
              </a:rPr>
              <a:t>Post-Sales: A claim must meet or exceed the </a:t>
            </a:r>
            <a:r>
              <a:rPr lang="en-US" sz="1200" b="1" dirty="0">
                <a:latin typeface="Arial Narrow" panose="020B0606020202030204" pitchFamily="34" charset="0"/>
              </a:rPr>
              <a:t>minimum required incremental ACR</a:t>
            </a:r>
            <a:r>
              <a:rPr lang="en-US" sz="1200" dirty="0">
                <a:latin typeface="Arial Narrow" panose="020B0606020202030204" pitchFamily="34" charset="0"/>
              </a:rPr>
              <a:t> based on the engagement’s </a:t>
            </a:r>
            <a:r>
              <a:rPr lang="en-US" sz="1200" b="1" dirty="0">
                <a:latin typeface="Arial Narrow" panose="020B0606020202030204" pitchFamily="34" charset="0"/>
              </a:rPr>
              <a:t>t-shirt size </a:t>
            </a:r>
            <a:r>
              <a:rPr lang="en-US" sz="1200" dirty="0">
                <a:latin typeface="Arial Narrow" panose="020B0606020202030204" pitchFamily="34" charset="0"/>
              </a:rPr>
              <a:t>(</a:t>
            </a:r>
            <a:r>
              <a:rPr lang="en-US" sz="1200" b="1" dirty="0">
                <a:solidFill>
                  <a:srgbClr val="FF0000"/>
                </a:solidFill>
                <a:latin typeface="Arial Narrow" panose="020B0606020202030204" pitchFamily="34" charset="0"/>
              </a:rPr>
              <a:t>in red</a:t>
            </a:r>
            <a:r>
              <a:rPr lang="en-US" sz="1200" dirty="0">
                <a:latin typeface="Arial Narrow" panose="020B0606020202030204" pitchFamily="34" charset="0"/>
              </a:rPr>
              <a:t>)</a:t>
            </a:r>
          </a:p>
        </p:txBody>
      </p:sp>
      <p:grpSp>
        <p:nvGrpSpPr>
          <p:cNvPr id="6" name="object 26">
            <a:extLst>
              <a:ext uri="{FF2B5EF4-FFF2-40B4-BE49-F238E27FC236}">
                <a16:creationId xmlns:a16="http://schemas.microsoft.com/office/drawing/2014/main" id="{28A8892E-564A-8FCB-8EBE-39BBDD7AC6C8}"/>
              </a:ext>
            </a:extLst>
          </p:cNvPr>
          <p:cNvGrpSpPr/>
          <p:nvPr/>
        </p:nvGrpSpPr>
        <p:grpSpPr>
          <a:xfrm>
            <a:off x="4123506" y="1466137"/>
            <a:ext cx="256663" cy="302876"/>
            <a:chOff x="1487932" y="2412619"/>
            <a:chExt cx="175260" cy="256540"/>
          </a:xfrm>
          <a:solidFill>
            <a:srgbClr val="C00000"/>
          </a:solidFill>
        </p:grpSpPr>
        <p:sp>
          <p:nvSpPr>
            <p:cNvPr id="7" name="object 27">
              <a:extLst>
                <a:ext uri="{FF2B5EF4-FFF2-40B4-BE49-F238E27FC236}">
                  <a16:creationId xmlns:a16="http://schemas.microsoft.com/office/drawing/2014/main" id="{9BA2BE8A-9DC7-5F0C-A1DB-2F8A509CA199}"/>
                </a:ext>
              </a:extLst>
            </p:cNvPr>
            <p:cNvSpPr/>
            <p:nvPr/>
          </p:nvSpPr>
          <p:spPr>
            <a:xfrm>
              <a:off x="1487932" y="2412619"/>
              <a:ext cx="175260" cy="256540"/>
            </a:xfrm>
            <a:custGeom>
              <a:avLst/>
              <a:gdLst/>
              <a:ahLst/>
              <a:cxnLst/>
              <a:rect l="l" t="t" r="r" b="b"/>
              <a:pathLst>
                <a:path w="175260" h="256539">
                  <a:moveTo>
                    <a:pt x="145542" y="0"/>
                  </a:moveTo>
                  <a:lnTo>
                    <a:pt x="29083" y="0"/>
                  </a:lnTo>
                  <a:lnTo>
                    <a:pt x="17734" y="2295"/>
                  </a:lnTo>
                  <a:lnTo>
                    <a:pt x="8493" y="8556"/>
                  </a:lnTo>
                  <a:lnTo>
                    <a:pt x="2276" y="17841"/>
                  </a:lnTo>
                  <a:lnTo>
                    <a:pt x="0" y="29209"/>
                  </a:lnTo>
                  <a:lnTo>
                    <a:pt x="0" y="227456"/>
                  </a:lnTo>
                  <a:lnTo>
                    <a:pt x="2276" y="238752"/>
                  </a:lnTo>
                  <a:lnTo>
                    <a:pt x="8493" y="247999"/>
                  </a:lnTo>
                  <a:lnTo>
                    <a:pt x="17734" y="254246"/>
                  </a:lnTo>
                  <a:lnTo>
                    <a:pt x="29083" y="256539"/>
                  </a:lnTo>
                  <a:lnTo>
                    <a:pt x="145542" y="256539"/>
                  </a:lnTo>
                  <a:lnTo>
                    <a:pt x="156910" y="254246"/>
                  </a:lnTo>
                  <a:lnTo>
                    <a:pt x="166195" y="247999"/>
                  </a:lnTo>
                  <a:lnTo>
                    <a:pt x="172456" y="238752"/>
                  </a:lnTo>
                  <a:lnTo>
                    <a:pt x="174751" y="227456"/>
                  </a:lnTo>
                  <a:lnTo>
                    <a:pt x="174751" y="29209"/>
                  </a:lnTo>
                  <a:lnTo>
                    <a:pt x="172456" y="17841"/>
                  </a:lnTo>
                  <a:lnTo>
                    <a:pt x="166195" y="8556"/>
                  </a:lnTo>
                  <a:lnTo>
                    <a:pt x="156910" y="2295"/>
                  </a:lnTo>
                  <a:lnTo>
                    <a:pt x="145542" y="0"/>
                  </a:lnTo>
                  <a:close/>
                </a:path>
              </a:pathLst>
            </a:custGeom>
            <a:grpFill/>
          </p:spPr>
          <p:txBody>
            <a:bodyPr wrap="square" lIns="0" tIns="0" rIns="0" bIns="0" rtlCol="0"/>
            <a:lstStyle/>
            <a:p>
              <a:endParaRPr dirty="0"/>
            </a:p>
          </p:txBody>
        </p:sp>
        <p:sp>
          <p:nvSpPr>
            <p:cNvPr id="8" name="object 28">
              <a:extLst>
                <a:ext uri="{FF2B5EF4-FFF2-40B4-BE49-F238E27FC236}">
                  <a16:creationId xmlns:a16="http://schemas.microsoft.com/office/drawing/2014/main" id="{05ECBC9D-6236-8FED-97D6-C859C735A4A7}"/>
                </a:ext>
              </a:extLst>
            </p:cNvPr>
            <p:cNvSpPr/>
            <p:nvPr/>
          </p:nvSpPr>
          <p:spPr>
            <a:xfrm>
              <a:off x="1536573" y="2453640"/>
              <a:ext cx="73025" cy="174625"/>
            </a:xfrm>
            <a:custGeom>
              <a:avLst/>
              <a:gdLst/>
              <a:ahLst/>
              <a:cxnLst/>
              <a:rect l="l" t="t" r="r" b="b"/>
              <a:pathLst>
                <a:path w="73025" h="174625">
                  <a:moveTo>
                    <a:pt x="0" y="0"/>
                  </a:moveTo>
                  <a:lnTo>
                    <a:pt x="72898" y="87249"/>
                  </a:lnTo>
                  <a:lnTo>
                    <a:pt x="0" y="174498"/>
                  </a:lnTo>
                </a:path>
              </a:pathLst>
            </a:custGeom>
            <a:grpFill/>
            <a:ln w="28575">
              <a:solidFill>
                <a:srgbClr val="FFFFFF"/>
              </a:solidFill>
            </a:ln>
          </p:spPr>
          <p:txBody>
            <a:bodyPr wrap="square" lIns="0" tIns="0" rIns="0" bIns="0" rtlCol="0"/>
            <a:lstStyle/>
            <a:p>
              <a:endParaRPr b="1" dirty="0"/>
            </a:p>
          </p:txBody>
        </p:sp>
      </p:grpSp>
      <p:cxnSp>
        <p:nvCxnSpPr>
          <p:cNvPr id="3" name="Straight Connector 2">
            <a:extLst>
              <a:ext uri="{FF2B5EF4-FFF2-40B4-BE49-F238E27FC236}">
                <a16:creationId xmlns:a16="http://schemas.microsoft.com/office/drawing/2014/main" id="{C69838FE-BBF2-9C37-9B89-C7D2F3FB1E15}"/>
              </a:ext>
            </a:extLst>
          </p:cNvPr>
          <p:cNvCxnSpPr>
            <a:cxnSpLocks/>
          </p:cNvCxnSpPr>
          <p:nvPr/>
        </p:nvCxnSpPr>
        <p:spPr>
          <a:xfrm>
            <a:off x="7630142" y="4137852"/>
            <a:ext cx="0" cy="2194560"/>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4FBD7F65-90D9-5F89-B191-8871595D8E80}"/>
              </a:ext>
            </a:extLst>
          </p:cNvPr>
          <p:cNvSpPr/>
          <p:nvPr/>
        </p:nvSpPr>
        <p:spPr>
          <a:xfrm>
            <a:off x="268941" y="6292068"/>
            <a:ext cx="2958353" cy="4249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Title 1">
            <a:extLst>
              <a:ext uri="{FF2B5EF4-FFF2-40B4-BE49-F238E27FC236}">
                <a16:creationId xmlns:a16="http://schemas.microsoft.com/office/drawing/2014/main" id="{546B771A-9D7B-40F4-B298-A437B4876442}"/>
              </a:ext>
            </a:extLst>
          </p:cNvPr>
          <p:cNvSpPr>
            <a:spLocks noGrp="1"/>
          </p:cNvSpPr>
          <p:nvPr>
            <p:ph type="title"/>
          </p:nvPr>
        </p:nvSpPr>
        <p:spPr>
          <a:xfrm>
            <a:off x="334496" y="268589"/>
            <a:ext cx="11495554" cy="484043"/>
          </a:xfrm>
        </p:spPr>
        <p:txBody>
          <a:bodyPr/>
          <a:lstStyle/>
          <a:p>
            <a:r>
              <a:rPr lang="en-US" b="1" dirty="0"/>
              <a:t>Azure Accelerate Partner-Nominated Incentives</a:t>
            </a:r>
          </a:p>
        </p:txBody>
      </p:sp>
    </p:spTree>
    <p:extLst>
      <p:ext uri="{BB962C8B-B14F-4D97-AF65-F5344CB8AC3E}">
        <p14:creationId xmlns:p14="http://schemas.microsoft.com/office/powerpoint/2010/main" val="1372052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B6A73-0BF4-C2D7-0F35-B0F558C1F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8D6D1-8868-F509-5945-D4CBD517DA52}"/>
              </a:ext>
            </a:extLst>
          </p:cNvPr>
          <p:cNvSpPr>
            <a:spLocks noGrp="1"/>
          </p:cNvSpPr>
          <p:nvPr>
            <p:ph type="title"/>
          </p:nvPr>
        </p:nvSpPr>
        <p:spPr>
          <a:xfrm>
            <a:off x="213225" y="39886"/>
            <a:ext cx="11568700" cy="929422"/>
          </a:xfrm>
        </p:spPr>
        <p:txBody>
          <a:bodyPr lIns="91440" tIns="45720" rIns="91440" bIns="45720" anchor="t"/>
          <a:lstStyle/>
          <a:p>
            <a:r>
              <a:rPr lang="en-US" b="1" dirty="0"/>
              <a:t>Azure Accelerate: Engagements Overview</a:t>
            </a:r>
            <a:br>
              <a:rPr lang="en-US" b="1" dirty="0"/>
            </a:br>
            <a:r>
              <a:rPr lang="en-US" sz="2000" b="1" i="1" dirty="0">
                <a:solidFill>
                  <a:schemeClr val="bg1">
                    <a:lumMod val="65000"/>
                  </a:schemeClr>
                </a:solidFill>
              </a:rPr>
              <a:t>Pre-Sales and Post-Sales Incentives</a:t>
            </a:r>
            <a:endParaRPr lang="en-US" b="1" i="1" dirty="0">
              <a:solidFill>
                <a:schemeClr val="bg1">
                  <a:lumMod val="65000"/>
                </a:schemeClr>
              </a:solidFill>
            </a:endParaRPr>
          </a:p>
        </p:txBody>
      </p:sp>
      <p:graphicFrame>
        <p:nvGraphicFramePr>
          <p:cNvPr id="11" name="Table 10">
            <a:extLst>
              <a:ext uri="{FF2B5EF4-FFF2-40B4-BE49-F238E27FC236}">
                <a16:creationId xmlns:a16="http://schemas.microsoft.com/office/drawing/2014/main" id="{680843C8-3398-E0F8-6032-B4C87698AE43}"/>
              </a:ext>
            </a:extLst>
          </p:cNvPr>
          <p:cNvGraphicFramePr>
            <a:graphicFrameLocks noGrp="1"/>
          </p:cNvGraphicFramePr>
          <p:nvPr>
            <p:extLst>
              <p:ext uri="{D42A27DB-BD31-4B8C-83A1-F6EECF244321}">
                <p14:modId xmlns:p14="http://schemas.microsoft.com/office/powerpoint/2010/main" val="1755211201"/>
              </p:ext>
            </p:extLst>
          </p:nvPr>
        </p:nvGraphicFramePr>
        <p:xfrm>
          <a:off x="70593" y="1148554"/>
          <a:ext cx="12029302" cy="5105400"/>
        </p:xfrm>
        <a:graphic>
          <a:graphicData uri="http://schemas.openxmlformats.org/drawingml/2006/table">
            <a:tbl>
              <a:tblPr/>
              <a:tblGrid>
                <a:gridCol w="5510697">
                  <a:extLst>
                    <a:ext uri="{9D8B030D-6E8A-4147-A177-3AD203B41FA5}">
                      <a16:colId xmlns:a16="http://schemas.microsoft.com/office/drawing/2014/main" val="769087236"/>
                    </a:ext>
                  </a:extLst>
                </a:gridCol>
                <a:gridCol w="4975874">
                  <a:extLst>
                    <a:ext uri="{9D8B030D-6E8A-4147-A177-3AD203B41FA5}">
                      <a16:colId xmlns:a16="http://schemas.microsoft.com/office/drawing/2014/main" val="3260773838"/>
                    </a:ext>
                  </a:extLst>
                </a:gridCol>
                <a:gridCol w="1542731">
                  <a:extLst>
                    <a:ext uri="{9D8B030D-6E8A-4147-A177-3AD203B41FA5}">
                      <a16:colId xmlns:a16="http://schemas.microsoft.com/office/drawing/2014/main" val="1438605975"/>
                    </a:ext>
                  </a:extLst>
                </a:gridCol>
              </a:tblGrid>
              <a:tr h="155606">
                <a:tc>
                  <a:txBody>
                    <a:bodyPr/>
                    <a:lstStyle/>
                    <a:p>
                      <a:pPr algn="ctr" fontAlgn="t">
                        <a:buNone/>
                      </a:pPr>
                      <a:r>
                        <a:rPr lang="en-US" sz="900" b="1" i="0" u="sng" strike="noStrike" dirty="0">
                          <a:solidFill>
                            <a:srgbClr val="FFFFFF"/>
                          </a:solidFill>
                          <a:effectLst/>
                          <a:latin typeface="Arial Narrow" panose="020B0606020202030204" pitchFamily="34" charset="0"/>
                        </a:rPr>
                        <a:t>PRE</a:t>
                      </a:r>
                      <a:r>
                        <a:rPr lang="en-US" sz="900" b="1" i="0" u="none" strike="noStrike" dirty="0">
                          <a:solidFill>
                            <a:srgbClr val="FFFFFF"/>
                          </a:solidFill>
                          <a:effectLst/>
                          <a:latin typeface="Arial Narrow" panose="020B0606020202030204" pitchFamily="34" charset="0"/>
                        </a:rPr>
                        <a:t>-SALES ENGAGEMENT SUMMARY</a:t>
                      </a:r>
                    </a:p>
                  </a:txBody>
                  <a:tcPr marL="45720" marR="45720">
                    <a:lnL>
                      <a:noFill/>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algn="ctr" fontAlgn="t">
                        <a:buNone/>
                      </a:pPr>
                      <a:r>
                        <a:rPr lang="en-US" sz="900" b="1" i="0" u="sng" strike="noStrike" dirty="0">
                          <a:solidFill>
                            <a:srgbClr val="FFFFFF"/>
                          </a:solidFill>
                          <a:effectLst/>
                          <a:latin typeface="Arial Narrow" panose="020B0606020202030204" pitchFamily="34" charset="0"/>
                        </a:rPr>
                        <a:t>POST</a:t>
                      </a:r>
                      <a:r>
                        <a:rPr lang="en-US" sz="900" b="1" i="0" u="none" strike="noStrike" dirty="0">
                          <a:solidFill>
                            <a:srgbClr val="FFFFFF"/>
                          </a:solidFill>
                          <a:effectLst/>
                          <a:latin typeface="Arial Narrow" panose="020B0606020202030204" pitchFamily="34" charset="0"/>
                        </a:rPr>
                        <a:t>-SALES ENGAGEMENT SUMMARY</a:t>
                      </a:r>
                    </a:p>
                  </a:txBody>
                  <a:tcPr marL="45720" marR="45720">
                    <a:lnL>
                      <a:noFill/>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algn="ctr" fontAlgn="t">
                        <a:buNone/>
                      </a:pPr>
                      <a:r>
                        <a:rPr lang="en-US" sz="900" b="1" i="0" u="none" strike="noStrike" dirty="0">
                          <a:solidFill>
                            <a:srgbClr val="FFFFFF"/>
                          </a:solidFill>
                          <a:effectLst/>
                          <a:latin typeface="Arial Narrow" panose="020B0606020202030204" pitchFamily="34" charset="0"/>
                        </a:rPr>
                        <a:t>Supported Scenarios</a:t>
                      </a:r>
                    </a:p>
                  </a:txBody>
                  <a:tcPr marL="45720" marR="4572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extLst>
                  <a:ext uri="{0D108BD9-81ED-4DB2-BD59-A6C34878D82A}">
                    <a16:rowId xmlns:a16="http://schemas.microsoft.com/office/drawing/2014/main" val="4234189396"/>
                  </a:ext>
                </a:extLst>
              </a:tr>
              <a:tr h="995879">
                <a:tc>
                  <a:txBody>
                    <a:bodyPr/>
                    <a:lstStyle/>
                    <a:p>
                      <a:pPr algn="l" fontAlgn="t">
                        <a:buNone/>
                      </a:pPr>
                      <a:r>
                        <a:rPr lang="en-US" sz="900" b="1" i="0" u="none" strike="noStrike" dirty="0">
                          <a:solidFill>
                            <a:srgbClr val="000000"/>
                          </a:solidFill>
                          <a:effectLst/>
                          <a:latin typeface="Arial Narrow" panose="020B0606020202030204" pitchFamily="34" charset="0"/>
                        </a:rPr>
                        <a:t>Azure Accelerate:</a:t>
                      </a:r>
                      <a:r>
                        <a:rPr lang="en-US" sz="900" b="0" i="0" u="none" strike="noStrike" dirty="0">
                          <a:solidFill>
                            <a:srgbClr val="000000"/>
                          </a:solidFill>
                          <a:effectLst/>
                          <a:latin typeface="Arial Narrow" panose="020B0606020202030204" pitchFamily="34" charset="0"/>
                        </a:rPr>
                        <a:t> </a:t>
                      </a:r>
                      <a:r>
                        <a:rPr lang="en-US" sz="900" b="1" i="0" u="sng" strike="noStrike" dirty="0">
                          <a:solidFill>
                            <a:srgbClr val="000000"/>
                          </a:solidFill>
                          <a:effectLst/>
                          <a:latin typeface="Arial Narrow" panose="020B0606020202030204" pitchFamily="34" charset="0"/>
                        </a:rPr>
                        <a:t>Core Migrate &amp; Modernize Pre-Sales (Assessment and POV)</a:t>
                      </a:r>
                    </a:p>
                    <a:p>
                      <a:pPr marL="12700" marR="5080">
                        <a:lnSpc>
                          <a:spcPct val="100000"/>
                        </a:lnSpc>
                        <a:spcBef>
                          <a:spcPts val="95"/>
                        </a:spcBef>
                      </a:pPr>
                      <a:r>
                        <a:rPr lang="en-US" sz="900" dirty="0">
                          <a:latin typeface="Arial Narrow" panose="020B0606020202030204" pitchFamily="34" charset="0"/>
                          <a:cs typeface="Segoe UI"/>
                        </a:rPr>
                        <a:t>Enables</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customers</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migrate</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modernize</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existing</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applications,</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infrastructure</a:t>
                      </a:r>
                      <a:r>
                        <a:rPr lang="en-US" sz="900" spc="-5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data</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workloads</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drive</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scale,</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velocity</a:t>
                      </a:r>
                      <a:r>
                        <a:rPr lang="en-US" sz="900" spc="-5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AI</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readiness.</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In</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this</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engagement,</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Rackspace</a:t>
                      </a:r>
                      <a:r>
                        <a:rPr lang="en-US" sz="900" spc="-35" dirty="0">
                          <a:latin typeface="Arial Narrow" panose="020B0606020202030204" pitchFamily="34" charset="0"/>
                          <a:cs typeface="Segoe UI"/>
                        </a:rPr>
                        <a:t> </a:t>
                      </a:r>
                      <a:r>
                        <a:rPr lang="en-US" sz="900" spc="-20" dirty="0">
                          <a:latin typeface="Arial Narrow" panose="020B0606020202030204" pitchFamily="34" charset="0"/>
                          <a:cs typeface="Segoe UI"/>
                        </a:rPr>
                        <a:t>will </a:t>
                      </a:r>
                      <a:r>
                        <a:rPr lang="en-US" sz="900" dirty="0">
                          <a:latin typeface="Arial Narrow" panose="020B0606020202030204" pitchFamily="34" charset="0"/>
                          <a:cs typeface="Segoe UI"/>
                        </a:rPr>
                        <a:t>provide</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an</a:t>
                      </a:r>
                      <a:r>
                        <a:rPr lang="en-US" sz="900" spc="-10" dirty="0">
                          <a:latin typeface="Arial Narrow" panose="020B0606020202030204" pitchFamily="34" charset="0"/>
                          <a:cs typeface="Segoe UI"/>
                        </a:rPr>
                        <a:t> end-</a:t>
                      </a:r>
                      <a:r>
                        <a:rPr lang="en-US" sz="900" dirty="0">
                          <a:latin typeface="Arial Narrow" panose="020B0606020202030204" pitchFamily="34" charset="0"/>
                          <a:cs typeface="Segoe UI"/>
                        </a:rPr>
                        <a:t>to-end</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analysis</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mapping</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Customer’s</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IT infrastructure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(both</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physical</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virtual),</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taking</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into</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consideration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customer</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plans,</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current</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deployment,</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usage,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processes,</a:t>
                      </a:r>
                      <a:r>
                        <a:rPr lang="en-US" sz="900" spc="-25" dirty="0">
                          <a:latin typeface="Arial Narrow" panose="020B0606020202030204" pitchFamily="34" charset="0"/>
                          <a:cs typeface="Segoe UI"/>
                        </a:rPr>
                        <a:t> and </a:t>
                      </a:r>
                      <a:r>
                        <a:rPr lang="en-US" sz="900" dirty="0">
                          <a:latin typeface="Arial Narrow" panose="020B0606020202030204" pitchFamily="34" charset="0"/>
                          <a:cs typeface="Segoe UI"/>
                        </a:rPr>
                        <a:t>data.</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As</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part</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this</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Assessment</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POV,</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Rackspace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will</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use</a:t>
                      </a:r>
                      <a:r>
                        <a:rPr lang="en-US" sz="900" spc="15" dirty="0">
                          <a:latin typeface="Arial Narrow" panose="020B0606020202030204" pitchFamily="34" charset="0"/>
                          <a:cs typeface="Segoe UI"/>
                        </a:rPr>
                        <a:t> </a:t>
                      </a:r>
                      <a:r>
                        <a:rPr lang="en-US" sz="900" u="sng"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Azure</a:t>
                      </a:r>
                      <a:r>
                        <a:rPr lang="en-US" sz="900" u="sng" spc="-30"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Migrate</a:t>
                      </a:r>
                      <a:r>
                        <a:rPr lang="en-US" sz="900" spc="-35" dirty="0">
                          <a:solidFill>
                            <a:srgbClr val="0078D3"/>
                          </a:solidFill>
                          <a:latin typeface="Arial Narrow" panose="020B0606020202030204" pitchFamily="34" charset="0"/>
                          <a:cs typeface="Segoe UI"/>
                        </a:rPr>
                        <a:t> </a:t>
                      </a:r>
                      <a:r>
                        <a:rPr lang="en-US" sz="900" dirty="0">
                          <a:latin typeface="Arial Narrow" panose="020B0606020202030204" pitchFamily="34" charset="0"/>
                          <a:cs typeface="Segoe UI"/>
                        </a:rPr>
                        <a:t>or</a:t>
                      </a:r>
                      <a:r>
                        <a:rPr lang="en-US" sz="900" spc="-25" dirty="0">
                          <a:latin typeface="Arial Narrow" panose="020B0606020202030204" pitchFamily="34" charset="0"/>
                          <a:cs typeface="Segoe UI"/>
                        </a:rPr>
                        <a:t> </a:t>
                      </a:r>
                      <a:r>
                        <a:rPr lang="en-US" sz="900" u="sng" dirty="0">
                          <a:solidFill>
                            <a:srgbClr val="0000FF"/>
                          </a:solidFill>
                          <a:uFill>
                            <a:solidFill>
                              <a:srgbClr val="0078D3"/>
                            </a:solidFill>
                          </a:uFill>
                          <a:latin typeface="Arial Narrow" panose="020B0606020202030204" pitchFamily="34" charset="0"/>
                          <a:cs typeface="Segoe UI"/>
                          <a:hlinkClick r:id="rId4">
                            <a:extLst>
                              <a:ext uri="{A12FA001-AC4F-418D-AE19-62706E023703}">
                                <ahyp:hlinkClr xmlns:ahyp="http://schemas.microsoft.com/office/drawing/2018/hyperlinkcolor" val="tx"/>
                              </a:ext>
                            </a:extLst>
                          </a:hlinkClick>
                        </a:rPr>
                        <a:t>Dr.</a:t>
                      </a:r>
                      <a:r>
                        <a:rPr lang="en-US" sz="900" u="sng" spc="-20" dirty="0">
                          <a:solidFill>
                            <a:srgbClr val="0000FF"/>
                          </a:solidFill>
                          <a:uFill>
                            <a:solidFill>
                              <a:srgbClr val="0078D3"/>
                            </a:solidFill>
                          </a:uFill>
                          <a:latin typeface="Arial Narrow" panose="020B0606020202030204" pitchFamily="34" charset="0"/>
                          <a:cs typeface="Segoe UI"/>
                          <a:hlinkClick r:id="rId4">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4">
                            <a:extLst>
                              <a:ext uri="{A12FA001-AC4F-418D-AE19-62706E023703}">
                                <ahyp:hlinkClr xmlns:ahyp="http://schemas.microsoft.com/office/drawing/2018/hyperlinkcolor" val="tx"/>
                              </a:ext>
                            </a:extLst>
                          </a:hlinkClick>
                        </a:rPr>
                        <a:t>Migrate</a:t>
                      </a:r>
                      <a:r>
                        <a:rPr lang="en-US" sz="900" spc="-35" dirty="0">
                          <a:solidFill>
                            <a:srgbClr val="0078D3"/>
                          </a:solidFill>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create</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an assessment</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report.</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Rackspace</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should</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use</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following</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Microsoft</a:t>
                      </a:r>
                      <a:r>
                        <a:rPr lang="en-US" sz="900" spc="-50" dirty="0">
                          <a:latin typeface="Arial Narrow" panose="020B0606020202030204" pitchFamily="34" charset="0"/>
                          <a:cs typeface="Segoe UI"/>
                        </a:rPr>
                        <a:t> </a:t>
                      </a:r>
                      <a:r>
                        <a:rPr lang="en-US" sz="900" dirty="0">
                          <a:latin typeface="Arial Narrow" panose="020B0606020202030204" pitchFamily="34" charset="0"/>
                          <a:cs typeface="Segoe UI"/>
                        </a:rPr>
                        <a:t>guidance/tools</a:t>
                      </a:r>
                      <a:r>
                        <a:rPr lang="en-US" sz="900" spc="-30" dirty="0">
                          <a:latin typeface="Arial Narrow" panose="020B0606020202030204" pitchFamily="34" charset="0"/>
                          <a:cs typeface="Segoe UI"/>
                        </a:rPr>
                        <a:t> </a:t>
                      </a:r>
                      <a:r>
                        <a:rPr lang="en-US" sz="900" spc="-25" dirty="0">
                          <a:latin typeface="Arial Narrow" panose="020B0606020202030204" pitchFamily="34" charset="0"/>
                          <a:cs typeface="Segoe UI"/>
                        </a:rPr>
                        <a:t>in </a:t>
                      </a:r>
                      <a:r>
                        <a:rPr lang="en-US" sz="900" dirty="0">
                          <a:latin typeface="Arial Narrow" panose="020B0606020202030204" pitchFamily="34" charset="0"/>
                          <a:cs typeface="Segoe UI"/>
                        </a:rPr>
                        <a:t>delivering</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services:</a:t>
                      </a:r>
                      <a:r>
                        <a:rPr lang="en-US" sz="900" spc="-10" dirty="0">
                          <a:latin typeface="Arial Narrow" panose="020B0606020202030204" pitchFamily="34" charset="0"/>
                          <a:cs typeface="Segoe UI"/>
                        </a:rPr>
                        <a:t> </a:t>
                      </a:r>
                      <a:r>
                        <a:rPr lang="en-US" sz="900" u="sng"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Cloud</a:t>
                      </a:r>
                      <a:r>
                        <a:rPr lang="en-US" sz="900" u="sng" spc="-25"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Adoption</a:t>
                      </a:r>
                      <a:r>
                        <a:rPr lang="en-US" sz="900" u="sng" spc="-35"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Framework</a:t>
                      </a:r>
                      <a:r>
                        <a:rPr lang="en-US" sz="900" u="sng" spc="-45"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(CAF)</a:t>
                      </a:r>
                      <a:r>
                        <a:rPr lang="en-US" sz="900" u="sng" dirty="0">
                          <a:uFill>
                            <a:solidFill>
                              <a:srgbClr val="000000"/>
                            </a:solidFill>
                          </a:uFill>
                          <a:latin typeface="Arial Narrow" panose="020B0606020202030204" pitchFamily="34" charset="0"/>
                          <a:cs typeface="Segoe UI"/>
                        </a:rPr>
                        <a:t>,</a:t>
                      </a:r>
                      <a:r>
                        <a:rPr lang="en-US" sz="900" spc="-40" dirty="0">
                          <a:latin typeface="Arial Narrow" panose="020B0606020202030204" pitchFamily="34" charset="0"/>
                          <a:cs typeface="Segoe UI"/>
                        </a:rPr>
                        <a:t> </a:t>
                      </a:r>
                      <a:r>
                        <a:rPr lang="en-US" sz="900" u="sng" spc="-10"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Wel</a:t>
                      </a:r>
                      <a:r>
                        <a:rPr lang="en-US" sz="900" u="sng" spc="-10" dirty="0">
                          <a:solidFill>
                            <a:srgbClr val="0000FF"/>
                          </a:solidFill>
                          <a:uFill>
                            <a:solidFill>
                              <a:srgbClr val="0078D3"/>
                            </a:solidFill>
                          </a:uFill>
                          <a:latin typeface="Arial Narrow" panose="020B0606020202030204" pitchFamily="34" charset="0"/>
                          <a:cs typeface="Segoe UI"/>
                        </a:rPr>
                        <a:t>l</a:t>
                      </a:r>
                      <a:r>
                        <a:rPr lang="en-US" sz="900" u="sng" spc="-10"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a:t>
                      </a:r>
                      <a:r>
                        <a:rPr lang="en-US" sz="900" u="sng"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Architected</a:t>
                      </a:r>
                      <a:r>
                        <a:rPr lang="en-US" sz="900" u="sng" spc="-45"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Framework</a:t>
                      </a:r>
                      <a:r>
                        <a:rPr lang="en-US" sz="900" u="sng" spc="-35"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(WAF)</a:t>
                      </a:r>
                      <a:r>
                        <a:rPr lang="en-US" sz="900" spc="-40" dirty="0">
                          <a:solidFill>
                            <a:srgbClr val="0078D3"/>
                          </a:solidFill>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0" dirty="0">
                          <a:latin typeface="Arial Narrow" panose="020B0606020202030204" pitchFamily="34" charset="0"/>
                          <a:cs typeface="Segoe UI"/>
                        </a:rPr>
                        <a:t> </a:t>
                      </a:r>
                      <a:r>
                        <a:rPr lang="en-US" sz="900" u="sng"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Azure</a:t>
                      </a:r>
                      <a:r>
                        <a:rPr lang="en-US" sz="900" u="sng" spc="-25"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 </a:t>
                      </a:r>
                      <a:r>
                        <a:rPr lang="en-US" sz="900" u="sng" spc="-10"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Migrate</a:t>
                      </a:r>
                      <a:r>
                        <a:rPr lang="en-US" sz="900" spc="-10" dirty="0">
                          <a:latin typeface="Arial Narrow" panose="020B0606020202030204" pitchFamily="34" charset="0"/>
                          <a:cs typeface="Segoe UI"/>
                        </a:rPr>
                        <a:t>.</a:t>
                      </a:r>
                      <a:endParaRPr lang="en-US" sz="900" dirty="0">
                        <a:latin typeface="Arial Narrow" panose="020B0606020202030204" pitchFamily="34" charset="0"/>
                        <a:cs typeface="Segoe UI"/>
                      </a:endParaRP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AE9F8"/>
                    </a:solidFill>
                  </a:tcPr>
                </a:tc>
                <a:tc>
                  <a:txBody>
                    <a:bodyPr/>
                    <a:lstStyle/>
                    <a:p>
                      <a:pPr algn="l" fontAlgn="t">
                        <a:buNone/>
                      </a:pPr>
                      <a:r>
                        <a:rPr lang="en-US" sz="900" b="1" i="0" u="none" strike="noStrike" dirty="0">
                          <a:solidFill>
                            <a:srgbClr val="000000"/>
                          </a:solidFill>
                          <a:effectLst/>
                          <a:latin typeface="Arial Narrow" panose="020B0606020202030204" pitchFamily="34" charset="0"/>
                        </a:rPr>
                        <a:t>Azure Accelerate:</a:t>
                      </a:r>
                      <a:r>
                        <a:rPr lang="en-US" sz="900" b="0" i="0" u="none" strike="noStrike" dirty="0">
                          <a:solidFill>
                            <a:srgbClr val="000000"/>
                          </a:solidFill>
                          <a:effectLst/>
                          <a:latin typeface="Arial Narrow" panose="020B0606020202030204" pitchFamily="34" charset="0"/>
                        </a:rPr>
                        <a:t> </a:t>
                      </a:r>
                      <a:r>
                        <a:rPr lang="en-US" sz="900" b="1" i="0" u="sng" strike="noStrike" dirty="0">
                          <a:solidFill>
                            <a:srgbClr val="000000"/>
                          </a:solidFill>
                          <a:effectLst/>
                          <a:latin typeface="Arial Narrow" panose="020B0606020202030204" pitchFamily="34" charset="0"/>
                        </a:rPr>
                        <a:t>Core Migrate &amp; Modernize</a:t>
                      </a:r>
                    </a:p>
                    <a:p>
                      <a:pPr marL="12700" marR="676910">
                        <a:lnSpc>
                          <a:spcPct val="100000"/>
                        </a:lnSpc>
                      </a:pPr>
                      <a:r>
                        <a:rPr lang="en-US" sz="900" dirty="0">
                          <a:latin typeface="Arial Narrow" panose="020B0606020202030204" pitchFamily="34" charset="0"/>
                          <a:cs typeface="Segoe UI"/>
                        </a:rPr>
                        <a:t>Helps</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accelerate</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simplify</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customer</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migration</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modernization</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projects.</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In</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this</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engagement,</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Rackspace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will</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provide</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expert</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guidance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execute</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Core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Migrate</a:t>
                      </a:r>
                      <a:r>
                        <a:rPr lang="en-US" sz="900" spc="-30" dirty="0">
                          <a:latin typeface="Arial Narrow" panose="020B0606020202030204" pitchFamily="34" charset="0"/>
                          <a:cs typeface="Segoe UI"/>
                        </a:rPr>
                        <a:t> </a:t>
                      </a:r>
                      <a:r>
                        <a:rPr lang="en-US" sz="900" spc="-10" dirty="0">
                          <a:latin typeface="Arial Narrow" panose="020B0606020202030204" pitchFamily="34" charset="0"/>
                          <a:cs typeface="Segoe UI"/>
                        </a:rPr>
                        <a:t>and/or </a:t>
                      </a:r>
                      <a:r>
                        <a:rPr lang="en-US" sz="900" dirty="0">
                          <a:latin typeface="Arial Narrow" panose="020B0606020202030204" pitchFamily="34" charset="0"/>
                          <a:cs typeface="Segoe UI"/>
                        </a:rPr>
                        <a:t>Modernization</a:t>
                      </a:r>
                      <a:r>
                        <a:rPr lang="en-US" sz="900" spc="-65" dirty="0">
                          <a:latin typeface="Arial Narrow" panose="020B0606020202030204" pitchFamily="34" charset="0"/>
                          <a:cs typeface="Segoe UI"/>
                        </a:rPr>
                        <a:t> </a:t>
                      </a:r>
                      <a:r>
                        <a:rPr lang="en-US" sz="900" spc="-10" dirty="0">
                          <a:latin typeface="Arial Narrow" panose="020B0606020202030204" pitchFamily="34" charset="0"/>
                          <a:cs typeface="Segoe UI"/>
                        </a:rPr>
                        <a:t>project.</a:t>
                      </a:r>
                      <a:endParaRPr lang="en-US" sz="900" dirty="0">
                        <a:latin typeface="Arial Narrow" panose="020B0606020202030204" pitchFamily="34" charset="0"/>
                        <a:cs typeface="Segoe UI"/>
                      </a:endParaRPr>
                    </a:p>
                    <a:p>
                      <a:pPr marL="12700" marR="5080">
                        <a:lnSpc>
                          <a:spcPct val="100000"/>
                        </a:lnSpc>
                      </a:pPr>
                      <a:r>
                        <a:rPr lang="en-US" sz="900" dirty="0">
                          <a:latin typeface="Arial Narrow" panose="020B0606020202030204" pitchFamily="34" charset="0"/>
                          <a:cs typeface="Segoe UI"/>
                        </a:rPr>
                        <a:t>It</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can</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include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migrating</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any</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following</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workloads</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Windows</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Server,</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Linux,</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SQL</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Server</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20" dirty="0">
                          <a:latin typeface="Arial Narrow" panose="020B0606020202030204" pitchFamily="34" charset="0"/>
                          <a:cs typeface="Segoe UI"/>
                        </a:rPr>
                        <a:t> </a:t>
                      </a:r>
                      <a:r>
                        <a:rPr lang="en-US" sz="900" spc="-10" dirty="0">
                          <a:latin typeface="Arial Narrow" panose="020B0606020202030204" pitchFamily="34" charset="0"/>
                          <a:cs typeface="Segoe UI"/>
                        </a:rPr>
                        <a:t>open-</a:t>
                      </a:r>
                      <a:r>
                        <a:rPr lang="en-US" sz="900" dirty="0">
                          <a:latin typeface="Arial Narrow" panose="020B0606020202030204" pitchFamily="34" charset="0"/>
                          <a:cs typeface="Segoe UI"/>
                        </a:rPr>
                        <a:t>source</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databases</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SQL,</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PostgreSQL, Azure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Cosmos DB,</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MySQL</a:t>
                      </a:r>
                      <a:r>
                        <a:rPr lang="en-US" sz="900" spc="-10" dirty="0">
                          <a:latin typeface="Arial Narrow" panose="020B0606020202030204" pitchFamily="34" charset="0"/>
                          <a:cs typeface="Segoe UI"/>
                        </a:rPr>
                        <a:t> </a:t>
                      </a:r>
                      <a:r>
                        <a:rPr lang="en-US" sz="900" spc="-20" dirty="0">
                          <a:latin typeface="Arial Narrow" panose="020B0606020202030204" pitchFamily="34" charset="0"/>
                          <a:cs typeface="Segoe UI"/>
                        </a:rPr>
                        <a:t>and/ </a:t>
                      </a:r>
                      <a:r>
                        <a:rPr lang="en-US" sz="900" dirty="0">
                          <a:latin typeface="Arial Narrow" panose="020B0606020202030204" pitchFamily="34" charset="0"/>
                          <a:cs typeface="Segoe UI"/>
                        </a:rPr>
                        <a:t>or</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modernization</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existing</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applications</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35" dirty="0">
                          <a:latin typeface="Arial Narrow" panose="020B0606020202030204" pitchFamily="34" charset="0"/>
                          <a:cs typeface="Segoe UI"/>
                        </a:rPr>
                        <a:t> </a:t>
                      </a:r>
                      <a:r>
                        <a:rPr lang="en-US" sz="900" spc="-10" dirty="0">
                          <a:latin typeface="Arial Narrow" panose="020B0606020202030204" pitchFamily="34" charset="0"/>
                          <a:cs typeface="Segoe UI"/>
                        </a:rPr>
                        <a:t>Azure.</a:t>
                      </a:r>
                      <a:endParaRPr lang="en-US" sz="900" dirty="0">
                        <a:latin typeface="Arial Narrow" panose="020B0606020202030204" pitchFamily="34" charset="0"/>
                        <a:cs typeface="Segoe UI"/>
                      </a:endParaRPr>
                    </a:p>
                    <a:p>
                      <a:pPr marL="12700" marR="77470">
                        <a:lnSpc>
                          <a:spcPct val="100000"/>
                        </a:lnSpc>
                      </a:pPr>
                      <a:r>
                        <a:rPr lang="en-US" sz="900" dirty="0">
                          <a:latin typeface="Arial Narrow" panose="020B0606020202030204" pitchFamily="34" charset="0"/>
                          <a:cs typeface="Segoe UI"/>
                        </a:rPr>
                        <a:t>Rackspace is required</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perform</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specific</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milestones</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in</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project</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which</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should</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include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following</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activities:</a:t>
                      </a:r>
                      <a:r>
                        <a:rPr lang="en-US" sz="900" spc="114" dirty="0">
                          <a:latin typeface="Arial Narrow" panose="020B0606020202030204" pitchFamily="34" charset="0"/>
                          <a:cs typeface="Segoe UI"/>
                        </a:rPr>
                        <a:t>  </a:t>
                      </a:r>
                    </a:p>
                    <a:p>
                      <a:pPr marL="241300" marR="77470" indent="-228600">
                        <a:lnSpc>
                          <a:spcPct val="100000"/>
                        </a:lnSpc>
                        <a:buAutoNum type="arabicPeriod"/>
                      </a:pPr>
                      <a:r>
                        <a:rPr lang="en-US" sz="900" dirty="0">
                          <a:latin typeface="Arial Narrow" panose="020B0606020202030204" pitchFamily="34" charset="0"/>
                          <a:cs typeface="Segoe UI"/>
                        </a:rPr>
                        <a:t>Infrastructure/ Application</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Compatibility</a:t>
                      </a:r>
                      <a:r>
                        <a:rPr lang="en-US" sz="900" spc="-5" dirty="0">
                          <a:latin typeface="Arial Narrow" panose="020B0606020202030204" pitchFamily="34" charset="0"/>
                          <a:cs typeface="Segoe UI"/>
                        </a:rPr>
                        <a:t> </a:t>
                      </a:r>
                      <a:r>
                        <a:rPr lang="en-US" sz="900" spc="-10" dirty="0">
                          <a:latin typeface="Arial Narrow" panose="020B0606020202030204" pitchFamily="34" charset="0"/>
                          <a:cs typeface="Segoe UI"/>
                        </a:rPr>
                        <a:t>Assessment/Review</a:t>
                      </a:r>
                      <a:r>
                        <a:rPr lang="en-US" sz="900" spc="25" dirty="0">
                          <a:latin typeface="Arial Narrow" panose="020B0606020202030204" pitchFamily="34" charset="0"/>
                          <a:cs typeface="Segoe UI"/>
                        </a:rPr>
                        <a:t> </a:t>
                      </a:r>
                    </a:p>
                    <a:p>
                      <a:pPr marL="241300" marR="77470" indent="-228600">
                        <a:lnSpc>
                          <a:spcPct val="100000"/>
                        </a:lnSpc>
                        <a:buAutoNum type="arabicPeriod"/>
                      </a:pPr>
                      <a:r>
                        <a:rPr lang="en-US" sz="900" dirty="0">
                          <a:latin typeface="Arial Narrow" panose="020B0606020202030204" pitchFamily="34" charset="0"/>
                          <a:cs typeface="Segoe UI"/>
                        </a:rPr>
                        <a:t>Landing</a:t>
                      </a:r>
                      <a:r>
                        <a:rPr lang="en-US" sz="900" spc="-10" dirty="0">
                          <a:latin typeface="Arial Narrow" panose="020B0606020202030204" pitchFamily="34" charset="0"/>
                          <a:cs typeface="Segoe UI"/>
                        </a:rPr>
                        <a:t> </a:t>
                      </a:r>
                      <a:r>
                        <a:rPr lang="en-US" sz="900" spc="-20" dirty="0">
                          <a:latin typeface="Arial Narrow" panose="020B0606020202030204" pitchFamily="34" charset="0"/>
                          <a:cs typeface="Segoe UI"/>
                        </a:rPr>
                        <a:t>Zone </a:t>
                      </a:r>
                      <a:r>
                        <a:rPr lang="en-US" sz="900" dirty="0">
                          <a:latin typeface="Arial Narrow" panose="020B0606020202030204" pitchFamily="34" charset="0"/>
                          <a:cs typeface="Segoe UI"/>
                        </a:rPr>
                        <a:t>Setup</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or</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Review</a:t>
                      </a:r>
                      <a:r>
                        <a:rPr lang="en-US" sz="900" spc="-10" dirty="0">
                          <a:latin typeface="Arial Narrow" panose="020B0606020202030204" pitchFamily="34" charset="0"/>
                          <a:cs typeface="Segoe UI"/>
                        </a:rPr>
                        <a:t> </a:t>
                      </a:r>
                    </a:p>
                    <a:p>
                      <a:pPr marL="241300" marR="77470" indent="-228600">
                        <a:lnSpc>
                          <a:spcPct val="100000"/>
                        </a:lnSpc>
                        <a:buAutoNum type="arabicPeriod"/>
                      </a:pPr>
                      <a:r>
                        <a:rPr lang="en-US" sz="900" dirty="0">
                          <a:latin typeface="Arial Narrow" panose="020B0606020202030204" pitchFamily="34" charset="0"/>
                          <a:cs typeface="Segoe UI"/>
                        </a:rPr>
                        <a:t>Deployment of</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Migration/</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Modernization</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activities</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including</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securing</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40" dirty="0">
                          <a:latin typeface="Arial Narrow" panose="020B0606020202030204" pitchFamily="34" charset="0"/>
                          <a:cs typeface="Segoe UI"/>
                        </a:rPr>
                        <a:t> </a:t>
                      </a:r>
                      <a:r>
                        <a:rPr lang="en-US" sz="900" spc="-10" dirty="0">
                          <a:latin typeface="Arial Narrow" panose="020B0606020202030204" pitchFamily="34" charset="0"/>
                          <a:cs typeface="Segoe UI"/>
                        </a:rPr>
                        <a:t>workloads.</a:t>
                      </a:r>
                      <a:endParaRPr lang="en-US" sz="900" dirty="0">
                        <a:latin typeface="Arial Narrow" panose="020B0606020202030204" pitchFamily="34" charset="0"/>
                        <a:cs typeface="Segoe UI"/>
                      </a:endParaRP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AE9F8"/>
                    </a:solidFill>
                  </a:tcPr>
                </a:tc>
                <a:tc>
                  <a:txBody>
                    <a:bodyPr/>
                    <a:lstStyle/>
                    <a:p>
                      <a:pPr algn="l" fontAlgn="t">
                        <a:buNone/>
                      </a:pPr>
                      <a:r>
                        <a:rPr lang="en-US" sz="900" b="0" i="0" u="none" strike="noStrike" dirty="0">
                          <a:solidFill>
                            <a:srgbClr val="000000"/>
                          </a:solidFill>
                          <a:effectLst/>
                          <a:latin typeface="Arial Narrow" panose="020B0606020202030204" pitchFamily="34" charset="0"/>
                        </a:rPr>
                        <a:t>Migrate Windows Server, SQL Server, Linux and open-source databases to Azure Virtual Machines, AzureSQL, Azure PostgreSQL, Azure CosmosDB, Azure MySQL</a:t>
                      </a:r>
                      <a:br>
                        <a:rPr lang="en-US" sz="900" b="0" i="0" u="none" strike="noStrike" dirty="0">
                          <a:solidFill>
                            <a:srgbClr val="000000"/>
                          </a:solidFill>
                          <a:effectLst/>
                          <a:latin typeface="Arial Narrow" panose="020B0606020202030204" pitchFamily="34" charset="0"/>
                        </a:rPr>
                      </a:br>
                      <a:endParaRPr lang="en-US" sz="900" b="0" i="0" u="none" strike="noStrike" dirty="0">
                        <a:solidFill>
                          <a:srgbClr val="000000"/>
                        </a:solidFill>
                        <a:effectLst/>
                        <a:latin typeface="Arial Narrow" panose="020B0606020202030204" pitchFamily="34" charset="0"/>
                      </a:endParaRPr>
                    </a:p>
                    <a:p>
                      <a:pPr algn="l" fontAlgn="t">
                        <a:buNone/>
                      </a:pPr>
                      <a:r>
                        <a:rPr lang="en-US" sz="900" b="0" i="0" u="none" strike="noStrike" dirty="0">
                          <a:solidFill>
                            <a:srgbClr val="000000"/>
                          </a:solidFill>
                          <a:effectLst/>
                          <a:latin typeface="Arial Narrow" panose="020B0606020202030204" pitchFamily="34" charset="0"/>
                        </a:rPr>
                        <a:t>Modernize existing applications to Azure</a:t>
                      </a: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AE9F8"/>
                    </a:solidFill>
                  </a:tcPr>
                </a:tc>
                <a:extLst>
                  <a:ext uri="{0D108BD9-81ED-4DB2-BD59-A6C34878D82A}">
                    <a16:rowId xmlns:a16="http://schemas.microsoft.com/office/drawing/2014/main" val="3092601458"/>
                  </a:ext>
                </a:extLst>
              </a:tr>
              <a:tr h="1275970">
                <a:tc>
                  <a:txBody>
                    <a:bodyPr/>
                    <a:lstStyle/>
                    <a:p>
                      <a:pPr algn="l" fontAlgn="t">
                        <a:buNone/>
                      </a:pPr>
                      <a:r>
                        <a:rPr lang="en-US" sz="900" b="1" i="0" u="none" strike="noStrike" dirty="0">
                          <a:solidFill>
                            <a:srgbClr val="000000"/>
                          </a:solidFill>
                          <a:effectLst/>
                          <a:latin typeface="Arial Narrow" panose="020B0606020202030204" pitchFamily="34" charset="0"/>
                        </a:rPr>
                        <a:t>Azure Accelerate: </a:t>
                      </a:r>
                      <a:r>
                        <a:rPr lang="en-US" sz="900" b="1" i="0" u="sng" strike="noStrike" dirty="0">
                          <a:solidFill>
                            <a:srgbClr val="000000"/>
                          </a:solidFill>
                          <a:effectLst/>
                          <a:latin typeface="Arial Narrow" panose="020B0606020202030204" pitchFamily="34" charset="0"/>
                        </a:rPr>
                        <a:t>Data Platform Pre-Sales (Assessment and POV)</a:t>
                      </a:r>
                    </a:p>
                    <a:p>
                      <a:pPr marL="12700" marR="5080">
                        <a:lnSpc>
                          <a:spcPct val="100000"/>
                        </a:lnSpc>
                        <a:spcBef>
                          <a:spcPts val="95"/>
                        </a:spcBef>
                      </a:pPr>
                      <a:r>
                        <a:rPr lang="en-US" sz="900" dirty="0">
                          <a:latin typeface="Arial Narrow" panose="020B0606020202030204" pitchFamily="34" charset="0"/>
                          <a:cs typeface="Segoe UI"/>
                        </a:rPr>
                        <a:t>Provides</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guidance,</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resources, and</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funding</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drive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consistent</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execution</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customer</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experience, accelerating</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demand,</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pipeline,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5" dirty="0">
                          <a:latin typeface="Arial Narrow" panose="020B0606020202030204" pitchFamily="34" charset="0"/>
                          <a:cs typeface="Segoe UI"/>
                        </a:rPr>
                        <a:t> </a:t>
                      </a:r>
                      <a:r>
                        <a:rPr lang="en-US" sz="900" spc="-10" dirty="0">
                          <a:latin typeface="Arial Narrow" panose="020B0606020202030204" pitchFamily="34" charset="0"/>
                          <a:cs typeface="Segoe UI"/>
                        </a:rPr>
                        <a:t>consumption</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Data</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Platform.</a:t>
                      </a:r>
                      <a:r>
                        <a:rPr lang="en-US" sz="900" spc="245" dirty="0">
                          <a:latin typeface="Arial Narrow" panose="020B0606020202030204" pitchFamily="34" charset="0"/>
                          <a:cs typeface="Segoe UI"/>
                        </a:rPr>
                        <a:t> </a:t>
                      </a:r>
                      <a:r>
                        <a:rPr lang="en-US" sz="900" dirty="0">
                          <a:latin typeface="Arial Narrow" panose="020B0606020202030204" pitchFamily="34" charset="0"/>
                          <a:cs typeface="Segoe UI"/>
                        </a:rPr>
                        <a:t>In</a:t>
                      </a:r>
                      <a:r>
                        <a:rPr lang="en-US" sz="900" spc="-35" dirty="0">
                          <a:latin typeface="Arial Narrow" panose="020B0606020202030204" pitchFamily="34" charset="0"/>
                          <a:cs typeface="Segoe UI"/>
                        </a:rPr>
                        <a:t> </a:t>
                      </a:r>
                      <a:r>
                        <a:rPr lang="en-US" sz="900" spc="-20" dirty="0">
                          <a:latin typeface="Arial Narrow" panose="020B0606020202030204" pitchFamily="34" charset="0"/>
                          <a:cs typeface="Segoe UI"/>
                        </a:rPr>
                        <a:t>this </a:t>
                      </a:r>
                      <a:r>
                        <a:rPr lang="en-US" sz="900" dirty="0">
                          <a:latin typeface="Arial Narrow" panose="020B0606020202030204" pitchFamily="34" charset="0"/>
                          <a:cs typeface="Segoe UI"/>
                        </a:rPr>
                        <a:t>engagement, Rackspace</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will</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conduct</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assessment</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&amp;</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provide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proof</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value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(POV)</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for</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customer’s</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Analytics</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project,</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demonstrating</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that</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offers</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right</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tools</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integrate</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Analytics.</a:t>
                      </a:r>
                      <a:r>
                        <a:rPr lang="en-US" sz="900" spc="-20" dirty="0">
                          <a:latin typeface="Arial Narrow" panose="020B0606020202030204" pitchFamily="34" charset="0"/>
                          <a:cs typeface="Segoe UI"/>
                        </a:rPr>
                        <a:t> </a:t>
                      </a:r>
                      <a:r>
                        <a:rPr lang="en-US" sz="900" spc="-25" dirty="0">
                          <a:latin typeface="Arial Narrow" panose="020B0606020202030204" pitchFamily="34" charset="0"/>
                          <a:cs typeface="Segoe UI"/>
                        </a:rPr>
                        <a:t>As </a:t>
                      </a:r>
                      <a:r>
                        <a:rPr lang="en-US" sz="900" dirty="0">
                          <a:latin typeface="Arial Narrow" panose="020B0606020202030204" pitchFamily="34" charset="0"/>
                          <a:cs typeface="Segoe UI"/>
                        </a:rPr>
                        <a:t>part</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this</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Assessment</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POV</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engagement,</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Rackspace</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will</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use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Microsoft</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Fabric</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(incl.</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Power</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BI)</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and/or</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Databricks</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build</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deploy</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customer POV</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project.</a:t>
                      </a:r>
                      <a:r>
                        <a:rPr lang="en-US" sz="900" spc="-20" dirty="0">
                          <a:latin typeface="Arial Narrow" panose="020B0606020202030204" pitchFamily="34" charset="0"/>
                          <a:cs typeface="Segoe UI"/>
                        </a:rPr>
                        <a:t> </a:t>
                      </a:r>
                    </a:p>
                    <a:p>
                      <a:pPr marL="12700" marR="5080">
                        <a:lnSpc>
                          <a:spcPct val="100000"/>
                        </a:lnSpc>
                        <a:spcBef>
                          <a:spcPts val="95"/>
                        </a:spcBef>
                      </a:pPr>
                      <a:r>
                        <a:rPr lang="en-US" sz="900" dirty="0">
                          <a:latin typeface="Arial Narrow" panose="020B0606020202030204" pitchFamily="34" charset="0"/>
                          <a:cs typeface="Segoe UI"/>
                        </a:rPr>
                        <a:t>Rackspace will</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use</a:t>
                      </a:r>
                      <a:r>
                        <a:rPr lang="en-US" sz="900" spc="-25" dirty="0">
                          <a:latin typeface="Arial Narrow" panose="020B0606020202030204" pitchFamily="34" charset="0"/>
                          <a:cs typeface="Segoe UI"/>
                        </a:rPr>
                        <a:t> </a:t>
                      </a:r>
                      <a:r>
                        <a:rPr lang="en-US" sz="900" u="sng"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Azure</a:t>
                      </a:r>
                      <a:r>
                        <a:rPr lang="en-US" sz="900" u="sng" spc="-20"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 </a:t>
                      </a:r>
                      <a:r>
                        <a:rPr lang="en-US" sz="900" u="sng" spc="-10"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Migrate</a:t>
                      </a:r>
                      <a:r>
                        <a:rPr lang="en-US" sz="900" spc="-10" dirty="0">
                          <a:solidFill>
                            <a:srgbClr val="0078D3"/>
                          </a:solidFill>
                          <a:latin typeface="Arial Narrow" panose="020B0606020202030204" pitchFamily="34" charset="0"/>
                          <a:cs typeface="Segoe UI"/>
                        </a:rPr>
                        <a:t> </a:t>
                      </a:r>
                      <a:r>
                        <a:rPr lang="en-US" sz="900" dirty="0">
                          <a:latin typeface="Arial Narrow" panose="020B0606020202030204" pitchFamily="34" charset="0"/>
                          <a:cs typeface="Segoe UI"/>
                        </a:rPr>
                        <a:t>or</a:t>
                      </a:r>
                      <a:r>
                        <a:rPr lang="en-US" sz="900" spc="-30" dirty="0">
                          <a:latin typeface="Arial Narrow" panose="020B0606020202030204" pitchFamily="34" charset="0"/>
                          <a:cs typeface="Segoe UI"/>
                        </a:rPr>
                        <a:t> </a:t>
                      </a:r>
                      <a:r>
                        <a:rPr lang="en-US" sz="900" u="sng" dirty="0">
                          <a:solidFill>
                            <a:srgbClr val="0000FF"/>
                          </a:solidFill>
                          <a:uFill>
                            <a:solidFill>
                              <a:srgbClr val="0078D3"/>
                            </a:solidFill>
                          </a:uFill>
                          <a:latin typeface="Arial Narrow" panose="020B0606020202030204" pitchFamily="34" charset="0"/>
                          <a:cs typeface="Segoe UI"/>
                          <a:hlinkClick r:id="rId4">
                            <a:extLst>
                              <a:ext uri="{A12FA001-AC4F-418D-AE19-62706E023703}">
                                <ahyp:hlinkClr xmlns:ahyp="http://schemas.microsoft.com/office/drawing/2018/hyperlinkcolor" val="tx"/>
                              </a:ext>
                            </a:extLst>
                          </a:hlinkClick>
                        </a:rPr>
                        <a:t>Dr.</a:t>
                      </a:r>
                      <a:r>
                        <a:rPr lang="en-US" sz="900" u="sng" spc="-35" dirty="0">
                          <a:solidFill>
                            <a:srgbClr val="0000FF"/>
                          </a:solidFill>
                          <a:uFill>
                            <a:solidFill>
                              <a:srgbClr val="0078D3"/>
                            </a:solidFill>
                          </a:uFill>
                          <a:latin typeface="Arial Narrow" panose="020B0606020202030204" pitchFamily="34" charset="0"/>
                          <a:cs typeface="Segoe UI"/>
                          <a:hlinkClick r:id="rId4">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4">
                            <a:extLst>
                              <a:ext uri="{A12FA001-AC4F-418D-AE19-62706E023703}">
                                <ahyp:hlinkClr xmlns:ahyp="http://schemas.microsoft.com/office/drawing/2018/hyperlinkcolor" val="tx"/>
                              </a:ext>
                            </a:extLst>
                          </a:hlinkClick>
                        </a:rPr>
                        <a:t>Migrate</a:t>
                      </a:r>
                      <a:r>
                        <a:rPr lang="en-US" sz="900" spc="-15" dirty="0">
                          <a:solidFill>
                            <a:srgbClr val="0078D3"/>
                          </a:solidFill>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create</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an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assessment</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report.</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Rackspace</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should</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use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following</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Microsoft</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guidance/tools</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in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delivering</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services: </a:t>
                      </a:r>
                      <a:r>
                        <a:rPr lang="en-US" sz="900" u="sng"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Cloud</a:t>
                      </a:r>
                      <a:r>
                        <a:rPr lang="en-US" sz="900" u="sng" spc="-35"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Adoption</a:t>
                      </a:r>
                      <a:r>
                        <a:rPr lang="en-US" sz="900" u="sng" spc="-30"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Framework (CAF)</a:t>
                      </a:r>
                      <a:r>
                        <a:rPr lang="en-US" sz="900" u="sng" dirty="0">
                          <a:uFill>
                            <a:solidFill>
                              <a:srgbClr val="000000"/>
                            </a:solidFill>
                          </a:uFill>
                          <a:latin typeface="Arial Narrow" panose="020B0606020202030204" pitchFamily="34" charset="0"/>
                          <a:cs typeface="Segoe UI"/>
                        </a:rPr>
                        <a:t>,</a:t>
                      </a:r>
                      <a:r>
                        <a:rPr lang="en-US" sz="900" spc="-25" dirty="0">
                          <a:latin typeface="Arial Narrow" panose="020B0606020202030204" pitchFamily="34" charset="0"/>
                          <a:cs typeface="Segoe UI"/>
                        </a:rPr>
                        <a:t> </a:t>
                      </a:r>
                      <a:r>
                        <a:rPr lang="en-US" sz="900" u="sng" spc="-10"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Well-</a:t>
                      </a:r>
                      <a:r>
                        <a:rPr lang="en-US" sz="900" u="sng"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Architected </a:t>
                      </a:r>
                      <a:r>
                        <a:rPr lang="en-US" sz="900" u="sng" spc="-10"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Framework</a:t>
                      </a:r>
                      <a:r>
                        <a:rPr lang="en-US" sz="900" spc="-10" dirty="0">
                          <a:solidFill>
                            <a:srgbClr val="0000FF"/>
                          </a:solidFill>
                          <a:latin typeface="Arial Narrow" panose="020B0606020202030204" pitchFamily="34" charset="0"/>
                          <a:cs typeface="Segoe UI"/>
                        </a:rPr>
                        <a:t> </a:t>
                      </a:r>
                      <a:r>
                        <a:rPr lang="en-US" sz="900" u="sng"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(WAF)</a:t>
                      </a:r>
                      <a:r>
                        <a:rPr lang="en-US" sz="900" spc="-25" dirty="0">
                          <a:solidFill>
                            <a:srgbClr val="0078D3"/>
                          </a:solidFill>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25" dirty="0">
                          <a:latin typeface="Arial Narrow" panose="020B0606020202030204" pitchFamily="34" charset="0"/>
                          <a:cs typeface="Segoe UI"/>
                        </a:rPr>
                        <a:t> </a:t>
                      </a:r>
                      <a:r>
                        <a:rPr lang="en-US" sz="900" u="sng"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Azure</a:t>
                      </a:r>
                      <a:r>
                        <a:rPr lang="en-US" sz="900" u="sng" spc="-10"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 Migrate</a:t>
                      </a:r>
                      <a:r>
                        <a:rPr lang="en-US" sz="900" spc="-10" dirty="0">
                          <a:latin typeface="Arial Narrow" panose="020B0606020202030204" pitchFamily="34" charset="0"/>
                          <a:cs typeface="Segoe UI"/>
                        </a:rPr>
                        <a:t>.</a:t>
                      </a:r>
                      <a:endParaRPr lang="en-US" sz="900" dirty="0">
                        <a:latin typeface="Arial Narrow" panose="020B0606020202030204" pitchFamily="34" charset="0"/>
                        <a:cs typeface="Segoe UI"/>
                      </a:endParaRP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FF1CB"/>
                    </a:solidFill>
                  </a:tcPr>
                </a:tc>
                <a:tc>
                  <a:txBody>
                    <a:bodyPr/>
                    <a:lstStyle/>
                    <a:p>
                      <a:pPr algn="l" fontAlgn="t">
                        <a:buNone/>
                      </a:pPr>
                      <a:r>
                        <a:rPr lang="en-US" sz="900" b="1" i="0" u="none" strike="noStrike" dirty="0">
                          <a:solidFill>
                            <a:srgbClr val="000000"/>
                          </a:solidFill>
                          <a:effectLst/>
                          <a:latin typeface="Arial Narrow" panose="020B0606020202030204" pitchFamily="34" charset="0"/>
                        </a:rPr>
                        <a:t>Azure Accelerate: </a:t>
                      </a:r>
                      <a:r>
                        <a:rPr lang="en-US" sz="900" b="1" i="0" u="sng" strike="noStrike" dirty="0">
                          <a:solidFill>
                            <a:srgbClr val="000000"/>
                          </a:solidFill>
                          <a:effectLst/>
                          <a:latin typeface="Arial Narrow" panose="020B0606020202030204" pitchFamily="34" charset="0"/>
                        </a:rPr>
                        <a:t>Data Platform</a:t>
                      </a:r>
                    </a:p>
                    <a:p>
                      <a:pPr marL="12700" marR="676910"/>
                      <a:r>
                        <a:rPr lang="en-US" sz="900" dirty="0">
                          <a:latin typeface="Arial Narrow" panose="020B0606020202030204" pitchFamily="34" charset="0"/>
                          <a:cs typeface="Segoe UI"/>
                        </a:rPr>
                        <a:t>Provides</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guidance,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resources, and</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funding</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drive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consistent</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execution</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customer</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experience,</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accelerating</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demand,</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pipeline,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5" dirty="0">
                          <a:latin typeface="Arial Narrow" panose="020B0606020202030204" pitchFamily="34" charset="0"/>
                          <a:cs typeface="Segoe UI"/>
                        </a:rPr>
                        <a:t> </a:t>
                      </a:r>
                      <a:r>
                        <a:rPr lang="en-US" sz="900" spc="-10" dirty="0">
                          <a:latin typeface="Arial Narrow" panose="020B0606020202030204" pitchFamily="34" charset="0"/>
                          <a:cs typeface="Segoe UI"/>
                        </a:rPr>
                        <a:t>consumption</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Data</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Platform.</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In</a:t>
                      </a:r>
                      <a:r>
                        <a:rPr lang="en-US" sz="900" spc="-30" dirty="0">
                          <a:latin typeface="Arial Narrow" panose="020B0606020202030204" pitchFamily="34" charset="0"/>
                          <a:cs typeface="Segoe UI"/>
                        </a:rPr>
                        <a:t> </a:t>
                      </a:r>
                      <a:r>
                        <a:rPr lang="en-US" sz="900" spc="-20" dirty="0">
                          <a:latin typeface="Arial Narrow" panose="020B0606020202030204" pitchFamily="34" charset="0"/>
                          <a:cs typeface="Segoe UI"/>
                        </a:rPr>
                        <a:t>this </a:t>
                      </a:r>
                      <a:r>
                        <a:rPr lang="en-US" sz="900" dirty="0">
                          <a:latin typeface="Arial Narrow" panose="020B0606020202030204" pitchFamily="34" charset="0"/>
                          <a:cs typeface="Segoe UI"/>
                        </a:rPr>
                        <a:t>engagement, Rackspace</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will</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provide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expert</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guidance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help</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with</a:t>
                      </a:r>
                      <a:r>
                        <a:rPr lang="en-US" sz="900" spc="-35" dirty="0">
                          <a:latin typeface="Arial Narrow" panose="020B0606020202030204" pitchFamily="34" charset="0"/>
                          <a:cs typeface="Segoe UI"/>
                        </a:rPr>
                        <a:t> </a:t>
                      </a:r>
                      <a:r>
                        <a:rPr lang="en-US" sz="900" spc="-10" dirty="0">
                          <a:latin typeface="Arial Narrow" panose="020B0606020202030204" pitchFamily="34" charset="0"/>
                          <a:cs typeface="Segoe UI"/>
                        </a:rPr>
                        <a:t>migrations </a:t>
                      </a:r>
                      <a:r>
                        <a:rPr lang="en-US" sz="900" dirty="0">
                          <a:latin typeface="Arial Narrow" panose="020B0606020202030204" pitchFamily="34" charset="0"/>
                          <a:cs typeface="Segoe UI"/>
                        </a:rPr>
                        <a:t>and</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modernization</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a</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customer’s data</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estate. </a:t>
                      </a:r>
                    </a:p>
                    <a:p>
                      <a:pPr marL="12700" marR="676910"/>
                      <a:r>
                        <a:rPr lang="en-US" sz="900" dirty="0">
                          <a:latin typeface="Arial Narrow" panose="020B0606020202030204" pitchFamily="34" charset="0"/>
                          <a:cs typeface="Segoe UI"/>
                        </a:rPr>
                        <a:t>The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following</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post-sales</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patterns</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are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supported:</a:t>
                      </a:r>
                      <a:r>
                        <a:rPr lang="en-US" sz="900" spc="-10" dirty="0">
                          <a:latin typeface="Arial Narrow" panose="020B0606020202030204" pitchFamily="34" charset="0"/>
                          <a:cs typeface="Segoe UI"/>
                        </a:rPr>
                        <a:t> </a:t>
                      </a:r>
                    </a:p>
                    <a:p>
                      <a:pPr marL="298450" marR="676910" indent="-285750">
                        <a:buAutoNum type="romanLcParenBoth"/>
                      </a:pPr>
                      <a:r>
                        <a:rPr lang="en-US" sz="900" dirty="0">
                          <a:latin typeface="Arial Narrow" panose="020B0606020202030204" pitchFamily="34" charset="0"/>
                          <a:cs typeface="Segoe UI"/>
                        </a:rPr>
                        <a:t>migration</a:t>
                      </a:r>
                      <a:r>
                        <a:rPr lang="en-US" sz="900" spc="-10" dirty="0">
                          <a:latin typeface="Arial Narrow" panose="020B0606020202030204" pitchFamily="34" charset="0"/>
                          <a:cs typeface="Segoe UI"/>
                        </a:rPr>
                        <a:t> </a:t>
                      </a:r>
                      <a:r>
                        <a:rPr lang="en-US" sz="900" spc="-25" dirty="0">
                          <a:latin typeface="Arial Narrow" panose="020B0606020202030204" pitchFamily="34" charset="0"/>
                          <a:cs typeface="Segoe UI"/>
                        </a:rPr>
                        <a:t>and </a:t>
                      </a:r>
                      <a:r>
                        <a:rPr lang="en-US" sz="900" dirty="0">
                          <a:latin typeface="Arial Narrow" panose="020B0606020202030204" pitchFamily="34" charset="0"/>
                          <a:cs typeface="Segoe UI"/>
                        </a:rPr>
                        <a:t>deployment services</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30" dirty="0">
                          <a:latin typeface="Arial Narrow" panose="020B0606020202030204" pitchFamily="34" charset="0"/>
                          <a:cs typeface="Segoe UI"/>
                        </a:rPr>
                        <a:t> </a:t>
                      </a:r>
                      <a:r>
                        <a:rPr lang="en-US" sz="900" spc="-10" dirty="0">
                          <a:latin typeface="Arial Narrow" panose="020B0606020202030204" pitchFamily="34" charset="0"/>
                          <a:cs typeface="Segoe UI"/>
                        </a:rPr>
                        <a:t>on-</a:t>
                      </a:r>
                      <a:r>
                        <a:rPr lang="en-US" sz="900" dirty="0">
                          <a:latin typeface="Arial Narrow" panose="020B0606020202030204" pitchFamily="34" charset="0"/>
                          <a:cs typeface="Segoe UI"/>
                        </a:rPr>
                        <a:t>premise or</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cloud</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data</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warehouse</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platforms</a:t>
                      </a:r>
                      <a:r>
                        <a:rPr lang="en-US" sz="900" spc="-10" dirty="0">
                          <a:latin typeface="Arial Narrow" panose="020B0606020202030204" pitchFamily="34" charset="0"/>
                          <a:cs typeface="Segoe UI"/>
                        </a:rPr>
                        <a:t> </a:t>
                      </a:r>
                    </a:p>
                    <a:p>
                      <a:pPr marL="298450" marR="676910" indent="-285750">
                        <a:buAutoNum type="romanLcParenBoth"/>
                      </a:pPr>
                      <a:r>
                        <a:rPr lang="en-US" sz="900" dirty="0">
                          <a:latin typeface="Arial Narrow" panose="020B0606020202030204" pitchFamily="34" charset="0"/>
                          <a:cs typeface="Segoe UI"/>
                        </a:rPr>
                        <a:t>new</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analytics use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cases.</a:t>
                      </a:r>
                      <a:r>
                        <a:rPr lang="en-US" sz="900" spc="254" dirty="0">
                          <a:latin typeface="Arial Narrow" panose="020B0606020202030204" pitchFamily="34" charset="0"/>
                          <a:cs typeface="Segoe UI"/>
                        </a:rPr>
                        <a:t> </a:t>
                      </a:r>
                    </a:p>
                    <a:p>
                      <a:pPr marL="12700" marR="676910"/>
                      <a:r>
                        <a:rPr lang="en-US" sz="900" dirty="0">
                          <a:latin typeface="Arial Narrow" panose="020B0606020202030204" pitchFamily="34" charset="0"/>
                          <a:cs typeface="Segoe UI"/>
                        </a:rPr>
                        <a:t>Project</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should</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be</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deploying</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key</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analytics services</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inclusive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Microsoft</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Fabric</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(incl.</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Power</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BI)</a:t>
                      </a:r>
                      <a:r>
                        <a:rPr lang="en-US" sz="900" spc="-45" dirty="0">
                          <a:latin typeface="Arial Narrow" panose="020B0606020202030204" pitchFamily="34" charset="0"/>
                          <a:cs typeface="Segoe UI"/>
                        </a:rPr>
                        <a:t> </a:t>
                      </a:r>
                      <a:r>
                        <a:rPr lang="en-US" sz="900" spc="-50" dirty="0">
                          <a:latin typeface="Arial Narrow" panose="020B0606020202030204" pitchFamily="34" charset="0"/>
                          <a:cs typeface="Segoe UI"/>
                        </a:rPr>
                        <a:t>&amp; </a:t>
                      </a:r>
                      <a:r>
                        <a:rPr lang="en-US" sz="900" dirty="0">
                          <a:latin typeface="Arial Narrow" panose="020B0606020202030204" pitchFamily="34" charset="0"/>
                          <a:cs typeface="Segoe UI"/>
                        </a:rPr>
                        <a:t>Azure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Databricks.</a:t>
                      </a:r>
                      <a:r>
                        <a:rPr lang="en-US" sz="900" spc="5" dirty="0">
                          <a:latin typeface="Arial Narrow" panose="020B0606020202030204" pitchFamily="34" charset="0"/>
                          <a:cs typeface="Segoe UI"/>
                        </a:rPr>
                        <a:t> </a:t>
                      </a:r>
                    </a:p>
                    <a:p>
                      <a:pPr marL="12700" marR="676910"/>
                      <a:r>
                        <a:rPr lang="en-US" sz="900" dirty="0">
                          <a:latin typeface="Arial Narrow" panose="020B0606020202030204" pitchFamily="34" charset="0"/>
                          <a:cs typeface="Segoe UI"/>
                        </a:rPr>
                        <a:t>Rackspace is required</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perform</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specific</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milestones</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in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project</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through</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following</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activities:</a:t>
                      </a:r>
                      <a:r>
                        <a:rPr lang="en-US" sz="900" spc="10" dirty="0">
                          <a:latin typeface="Arial Narrow" panose="020B0606020202030204" pitchFamily="34" charset="0"/>
                          <a:cs typeface="Segoe UI"/>
                        </a:rPr>
                        <a:t> </a:t>
                      </a:r>
                    </a:p>
                    <a:p>
                      <a:pPr marL="241300" marR="676910" indent="-228600">
                        <a:buAutoNum type="arabicPeriod"/>
                      </a:pPr>
                      <a:r>
                        <a:rPr lang="en-US" sz="900" dirty="0">
                          <a:latin typeface="Arial Narrow" panose="020B0606020202030204" pitchFamily="34" charset="0"/>
                          <a:cs typeface="Segoe UI"/>
                        </a:rPr>
                        <a:t>Landing</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zone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setup</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or</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review</a:t>
                      </a:r>
                      <a:r>
                        <a:rPr lang="en-US" sz="900" spc="-20" dirty="0">
                          <a:latin typeface="Arial Narrow" panose="020B0606020202030204" pitchFamily="34" charset="0"/>
                          <a:cs typeface="Segoe UI"/>
                        </a:rPr>
                        <a:t> </a:t>
                      </a:r>
                    </a:p>
                    <a:p>
                      <a:pPr marL="241300" marR="676910" indent="-228600">
                        <a:buAutoNum type="arabicPeriod"/>
                      </a:pPr>
                      <a:r>
                        <a:rPr lang="en-US" sz="900" dirty="0">
                          <a:latin typeface="Arial Narrow" panose="020B0606020202030204" pitchFamily="34" charset="0"/>
                          <a:cs typeface="Segoe UI"/>
                        </a:rPr>
                        <a:t>Deployment</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Microsoft</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Fabric</a:t>
                      </a:r>
                      <a:r>
                        <a:rPr lang="en-US" sz="900" spc="-20" dirty="0">
                          <a:latin typeface="Arial Narrow" panose="020B0606020202030204" pitchFamily="34" charset="0"/>
                          <a:cs typeface="Segoe UI"/>
                        </a:rPr>
                        <a:t> </a:t>
                      </a:r>
                      <a:r>
                        <a:rPr lang="en-US" sz="900" spc="-10" dirty="0">
                          <a:latin typeface="Arial Narrow" panose="020B0606020202030204" pitchFamily="34" charset="0"/>
                          <a:cs typeface="Segoe UI"/>
                        </a:rPr>
                        <a:t>and/or </a:t>
                      </a:r>
                      <a:r>
                        <a:rPr lang="en-US" sz="900" dirty="0">
                          <a:latin typeface="Arial Narrow" panose="020B0606020202030204" pitchFamily="34" charset="0"/>
                          <a:cs typeface="Segoe UI"/>
                        </a:rPr>
                        <a:t>Azure</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Databricks </a:t>
                      </a:r>
                      <a:r>
                        <a:rPr lang="en-US" sz="900" spc="-10" dirty="0">
                          <a:latin typeface="Arial Narrow" panose="020B0606020202030204" pitchFamily="34" charset="0"/>
                          <a:cs typeface="Segoe UI"/>
                        </a:rPr>
                        <a:t>services.</a:t>
                      </a:r>
                      <a:endParaRPr lang="en-US" sz="900" dirty="0">
                        <a:latin typeface="Arial Narrow" panose="020B0606020202030204" pitchFamily="34" charset="0"/>
                        <a:cs typeface="Segoe UI"/>
                      </a:endParaRP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FF1CB"/>
                    </a:solidFill>
                  </a:tcPr>
                </a:tc>
                <a:tc>
                  <a:txBody>
                    <a:bodyPr/>
                    <a:lstStyle/>
                    <a:p>
                      <a:pPr algn="l" fontAlgn="t">
                        <a:buNone/>
                      </a:pPr>
                      <a:r>
                        <a:rPr lang="en-US" sz="900" b="0" i="0" u="none" strike="noStrike" dirty="0">
                          <a:solidFill>
                            <a:srgbClr val="000000"/>
                          </a:solidFill>
                          <a:effectLst/>
                          <a:latin typeface="Arial Narrow" panose="020B0606020202030204" pitchFamily="34" charset="0"/>
                        </a:rPr>
                        <a:t>Microsoft Fabric, Azure Databricks</a:t>
                      </a: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FF1CB"/>
                    </a:solidFill>
                  </a:tcPr>
                </a:tc>
                <a:extLst>
                  <a:ext uri="{0D108BD9-81ED-4DB2-BD59-A6C34878D82A}">
                    <a16:rowId xmlns:a16="http://schemas.microsoft.com/office/drawing/2014/main" val="3324875805"/>
                  </a:ext>
                </a:extLst>
              </a:tr>
              <a:tr h="1047747">
                <a:tc>
                  <a:txBody>
                    <a:bodyPr/>
                    <a:lstStyle/>
                    <a:p>
                      <a:pPr algn="l" fontAlgn="t">
                        <a:buNone/>
                      </a:pPr>
                      <a:r>
                        <a:rPr lang="en-US" sz="900" b="1" i="0" u="none" strike="noStrike" dirty="0">
                          <a:solidFill>
                            <a:srgbClr val="000000"/>
                          </a:solidFill>
                          <a:effectLst/>
                          <a:latin typeface="Arial Narrow" panose="020B0606020202030204" pitchFamily="34" charset="0"/>
                        </a:rPr>
                        <a:t>Azure Accelerate: </a:t>
                      </a:r>
                      <a:r>
                        <a:rPr lang="en-US" sz="900" b="1" i="0" u="sng" strike="noStrike" dirty="0">
                          <a:solidFill>
                            <a:srgbClr val="000000"/>
                          </a:solidFill>
                          <a:effectLst/>
                          <a:latin typeface="Arial Narrow" panose="020B0606020202030204" pitchFamily="34" charset="0"/>
                        </a:rPr>
                        <a:t>AI Apps, Agents and Developer Pre-Sales (Assessment and POV)</a:t>
                      </a:r>
                    </a:p>
                    <a:p>
                      <a:pPr marL="12700" marR="5080">
                        <a:lnSpc>
                          <a:spcPct val="100000"/>
                        </a:lnSpc>
                        <a:spcBef>
                          <a:spcPts val="95"/>
                        </a:spcBef>
                      </a:pPr>
                      <a:r>
                        <a:rPr lang="en-US" sz="900" dirty="0">
                          <a:latin typeface="Arial Narrow" panose="020B0606020202030204" pitchFamily="34" charset="0"/>
                          <a:cs typeface="Segoe UI"/>
                        </a:rPr>
                        <a:t>In</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this</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engagement,</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Rackspace</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will</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deliver</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an</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Assessment</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Proof</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Value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build</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new</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AI-powered</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apps</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or</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modernize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customer’s existing</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apps</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using</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Application</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Platform,</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Managed</a:t>
                      </a:r>
                      <a:r>
                        <a:rPr lang="en-US" sz="900" spc="-20" dirty="0">
                          <a:latin typeface="Arial Narrow" panose="020B0606020202030204" pitchFamily="34" charset="0"/>
                          <a:cs typeface="Segoe UI"/>
                        </a:rPr>
                        <a:t> </a:t>
                      </a:r>
                      <a:r>
                        <a:rPr lang="en-US" sz="900" spc="-10" dirty="0">
                          <a:latin typeface="Arial Narrow" panose="020B0606020202030204" pitchFamily="34" charset="0"/>
                          <a:cs typeface="Segoe UI"/>
                        </a:rPr>
                        <a:t>Database </a:t>
                      </a:r>
                      <a:r>
                        <a:rPr lang="en-US" sz="900" dirty="0">
                          <a:latin typeface="Arial Narrow" panose="020B0606020202030204" pitchFamily="34" charset="0"/>
                          <a:cs typeface="Segoe UI"/>
                        </a:rPr>
                        <a:t>and/or</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AI</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services.</a:t>
                      </a:r>
                      <a:r>
                        <a:rPr lang="en-US" sz="900" spc="-10" dirty="0">
                          <a:latin typeface="Arial Narrow" panose="020B0606020202030204" pitchFamily="34" charset="0"/>
                          <a:cs typeface="Segoe UI"/>
                        </a:rPr>
                        <a:t> </a:t>
                      </a:r>
                    </a:p>
                    <a:p>
                      <a:pPr marL="12700" marR="5080">
                        <a:lnSpc>
                          <a:spcPct val="100000"/>
                        </a:lnSpc>
                        <a:spcBef>
                          <a:spcPts val="95"/>
                        </a:spcBef>
                      </a:pPr>
                      <a:r>
                        <a:rPr lang="en-US" sz="900" dirty="0">
                          <a:latin typeface="Arial Narrow" panose="020B0606020202030204" pitchFamily="34" charset="0"/>
                          <a:cs typeface="Segoe UI"/>
                        </a:rPr>
                        <a:t>Rackspace is required</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perform</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specific</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milestones</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in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project</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through</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following</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activities: </a:t>
                      </a:r>
                    </a:p>
                    <a:p>
                      <a:pPr marL="241300" marR="5080" indent="-228600">
                        <a:lnSpc>
                          <a:spcPct val="100000"/>
                        </a:lnSpc>
                        <a:spcBef>
                          <a:spcPts val="95"/>
                        </a:spcBef>
                        <a:buAutoNum type="arabicPeriod"/>
                      </a:pPr>
                      <a:r>
                        <a:rPr lang="en-US" sz="900" dirty="0">
                          <a:latin typeface="Arial Narrow" panose="020B0606020202030204" pitchFamily="34" charset="0"/>
                          <a:cs typeface="Segoe UI"/>
                        </a:rPr>
                        <a:t>Identify</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one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or</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few</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customer applications</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define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business</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needs</a:t>
                      </a:r>
                      <a:r>
                        <a:rPr lang="en-US" sz="900" spc="-10" dirty="0">
                          <a:latin typeface="Arial Narrow" panose="020B0606020202030204" pitchFamily="34" charset="0"/>
                          <a:cs typeface="Segoe UI"/>
                        </a:rPr>
                        <a:t> </a:t>
                      </a:r>
                      <a:r>
                        <a:rPr lang="en-US" sz="900" spc="-25" dirty="0">
                          <a:latin typeface="Arial Narrow" panose="020B0606020202030204" pitchFamily="34" charset="0"/>
                          <a:cs typeface="Segoe UI"/>
                        </a:rPr>
                        <a:t>for </a:t>
                      </a:r>
                      <a:r>
                        <a:rPr lang="en-US" sz="900" dirty="0">
                          <a:latin typeface="Arial Narrow" panose="020B0606020202030204" pitchFamily="34" charset="0"/>
                          <a:cs typeface="Segoe UI"/>
                        </a:rPr>
                        <a:t>innovation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for</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that</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app</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using</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app,</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data,</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agents</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AI</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services</a:t>
                      </a:r>
                      <a:r>
                        <a:rPr lang="en-US" sz="900" spc="-10" dirty="0">
                          <a:latin typeface="Arial Narrow" panose="020B0606020202030204" pitchFamily="34" charset="0"/>
                          <a:cs typeface="Segoe UI"/>
                        </a:rPr>
                        <a:t> </a:t>
                      </a:r>
                    </a:p>
                    <a:p>
                      <a:pPr marL="241300" marR="5080" indent="-228600">
                        <a:lnSpc>
                          <a:spcPct val="100000"/>
                        </a:lnSpc>
                        <a:spcBef>
                          <a:spcPts val="95"/>
                        </a:spcBef>
                        <a:buAutoNum type="arabicPeriod"/>
                      </a:pPr>
                      <a:r>
                        <a:rPr lang="en-US" sz="900" dirty="0">
                          <a:latin typeface="Arial Narrow" panose="020B0606020202030204" pitchFamily="34" charset="0"/>
                          <a:cs typeface="Segoe UI"/>
                        </a:rPr>
                        <a:t>Perform POV</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assessment</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deployment</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application(s)</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on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0" dirty="0">
                          <a:latin typeface="Arial Narrow" panose="020B0606020202030204" pitchFamily="34" charset="0"/>
                          <a:cs typeface="Segoe UI"/>
                        </a:rPr>
                        <a:t> </a:t>
                      </a:r>
                    </a:p>
                    <a:p>
                      <a:pPr marL="241300" marR="5080" indent="-228600">
                        <a:lnSpc>
                          <a:spcPct val="100000"/>
                        </a:lnSpc>
                        <a:spcBef>
                          <a:spcPts val="95"/>
                        </a:spcBef>
                        <a:buAutoNum type="arabicPeriod"/>
                      </a:pPr>
                      <a:r>
                        <a:rPr lang="en-US" sz="900" dirty="0">
                          <a:latin typeface="Arial Narrow" panose="020B0606020202030204" pitchFamily="34" charset="0"/>
                          <a:cs typeface="Segoe UI"/>
                        </a:rPr>
                        <a:t>Based</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on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outcome</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POV</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develop</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a:t>
                      </a:r>
                      <a:r>
                        <a:rPr lang="en-US" sz="900" spc="-20" dirty="0">
                          <a:latin typeface="Arial Narrow" panose="020B0606020202030204" pitchFamily="34" charset="0"/>
                          <a:cs typeface="Segoe UI"/>
                        </a:rPr>
                        <a:t> </a:t>
                      </a:r>
                      <a:r>
                        <a:rPr lang="en-US" sz="900" spc="-10" dirty="0">
                          <a:latin typeface="Arial Narrow" panose="020B0606020202030204" pitchFamily="34" charset="0"/>
                          <a:cs typeface="Segoe UI"/>
                        </a:rPr>
                        <a:t>comprehensive </a:t>
                      </a:r>
                      <a:r>
                        <a:rPr lang="en-US" sz="900" dirty="0">
                          <a:latin typeface="Arial Narrow" panose="020B0606020202030204" pitchFamily="34" charset="0"/>
                          <a:cs typeface="Segoe UI"/>
                        </a:rPr>
                        <a:t>deployment plan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assessment.</a:t>
                      </a:r>
                      <a:r>
                        <a:rPr lang="en-US" sz="900" spc="25" dirty="0">
                          <a:latin typeface="Arial Narrow" panose="020B0606020202030204" pitchFamily="34" charset="0"/>
                          <a:cs typeface="Segoe UI"/>
                        </a:rPr>
                        <a:t> </a:t>
                      </a:r>
                    </a:p>
                    <a:p>
                      <a:pPr marL="12700" marR="5080">
                        <a:lnSpc>
                          <a:spcPct val="100000"/>
                        </a:lnSpc>
                        <a:spcBef>
                          <a:spcPts val="95"/>
                        </a:spcBef>
                      </a:pPr>
                      <a:r>
                        <a:rPr lang="en-US" sz="900" dirty="0">
                          <a:latin typeface="Arial Narrow" panose="020B0606020202030204" pitchFamily="34" charset="0"/>
                          <a:cs typeface="Segoe UI"/>
                        </a:rPr>
                        <a:t>Rackspace will</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use</a:t>
                      </a:r>
                      <a:r>
                        <a:rPr lang="en-US" sz="900" spc="-25" dirty="0">
                          <a:latin typeface="Arial Narrow" panose="020B0606020202030204" pitchFamily="34" charset="0"/>
                          <a:cs typeface="Segoe UI"/>
                        </a:rPr>
                        <a:t> </a:t>
                      </a:r>
                      <a:r>
                        <a:rPr lang="en-US" sz="900" u="sng"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Azure</a:t>
                      </a:r>
                      <a:r>
                        <a:rPr lang="en-US" sz="900" u="sng" spc="-25"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Migrat</a:t>
                      </a:r>
                      <a:r>
                        <a:rPr lang="en-US" sz="900" u="sng" dirty="0">
                          <a:solidFill>
                            <a:srgbClr val="0000FF"/>
                          </a:solidFill>
                          <a:uFill>
                            <a:solidFill>
                              <a:srgbClr val="0078D3"/>
                            </a:solidFill>
                          </a:uFill>
                          <a:latin typeface="Arial Narrow" panose="020B0606020202030204" pitchFamily="34" charset="0"/>
                          <a:cs typeface="Segoe UI"/>
                        </a:rPr>
                        <a:t>e</a:t>
                      </a:r>
                      <a:r>
                        <a:rPr lang="en-US" sz="900" u="sng" spc="-30" dirty="0">
                          <a:solidFill>
                            <a:srgbClr val="0078D3"/>
                          </a:solidFill>
                          <a:uFill>
                            <a:solidFill>
                              <a:srgbClr val="0078D3"/>
                            </a:solidFill>
                          </a:uFill>
                          <a:latin typeface="Arial Narrow" panose="020B0606020202030204" pitchFamily="34" charset="0"/>
                          <a:cs typeface="Segoe UI"/>
                        </a:rPr>
                        <a:t> </a:t>
                      </a:r>
                      <a:r>
                        <a:rPr lang="en-US" sz="900" dirty="0">
                          <a:latin typeface="Arial Narrow" panose="020B0606020202030204" pitchFamily="34" charset="0"/>
                          <a:cs typeface="Segoe UI"/>
                        </a:rPr>
                        <a:t>or</a:t>
                      </a:r>
                      <a:r>
                        <a:rPr lang="en-US" sz="900" spc="-25" dirty="0">
                          <a:latin typeface="Arial Narrow" panose="020B0606020202030204" pitchFamily="34" charset="0"/>
                          <a:cs typeface="Segoe UI"/>
                        </a:rPr>
                        <a:t> </a:t>
                      </a:r>
                      <a:r>
                        <a:rPr lang="en-US" sz="900" u="sng" dirty="0">
                          <a:solidFill>
                            <a:srgbClr val="0000FF"/>
                          </a:solidFill>
                          <a:uFill>
                            <a:solidFill>
                              <a:srgbClr val="0078D3"/>
                            </a:solidFill>
                          </a:uFill>
                          <a:latin typeface="Arial Narrow" panose="020B0606020202030204" pitchFamily="34" charset="0"/>
                          <a:cs typeface="Segoe UI"/>
                          <a:hlinkClick r:id="rId4">
                            <a:extLst>
                              <a:ext uri="{A12FA001-AC4F-418D-AE19-62706E023703}">
                                <ahyp:hlinkClr xmlns:ahyp="http://schemas.microsoft.com/office/drawing/2018/hyperlinkcolor" val="tx"/>
                              </a:ext>
                            </a:extLst>
                          </a:hlinkClick>
                        </a:rPr>
                        <a:t>Dr.</a:t>
                      </a:r>
                      <a:r>
                        <a:rPr lang="en-US" sz="900" u="sng" spc="-35" dirty="0">
                          <a:solidFill>
                            <a:srgbClr val="0000FF"/>
                          </a:solidFill>
                          <a:uFill>
                            <a:solidFill>
                              <a:srgbClr val="0078D3"/>
                            </a:solidFill>
                          </a:uFill>
                          <a:latin typeface="Arial Narrow" panose="020B0606020202030204" pitchFamily="34" charset="0"/>
                          <a:cs typeface="Segoe UI"/>
                          <a:hlinkClick r:id="rId4">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4">
                            <a:extLst>
                              <a:ext uri="{A12FA001-AC4F-418D-AE19-62706E023703}">
                                <ahyp:hlinkClr xmlns:ahyp="http://schemas.microsoft.com/office/drawing/2018/hyperlinkcolor" val="tx"/>
                              </a:ext>
                            </a:extLst>
                          </a:hlinkClick>
                        </a:rPr>
                        <a:t>Migrate</a:t>
                      </a:r>
                      <a:r>
                        <a:rPr lang="en-US" sz="900" spc="-15" dirty="0">
                          <a:solidFill>
                            <a:srgbClr val="0000FF"/>
                          </a:solidFill>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create</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an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assessment</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report.</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Rackspace should</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use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following</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Microsoft</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guidance/tools</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in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delivering</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25" dirty="0">
                          <a:latin typeface="Arial Narrow" panose="020B0606020202030204" pitchFamily="34" charset="0"/>
                          <a:cs typeface="Segoe UI"/>
                        </a:rPr>
                        <a:t> </a:t>
                      </a:r>
                      <a:r>
                        <a:rPr lang="en-US" sz="900" spc="-10" dirty="0">
                          <a:latin typeface="Arial Narrow" panose="020B0606020202030204" pitchFamily="34" charset="0"/>
                          <a:cs typeface="Segoe UI"/>
                        </a:rPr>
                        <a:t>services: </a:t>
                      </a:r>
                      <a:r>
                        <a:rPr lang="en-US" sz="900" u="sng"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Cloud</a:t>
                      </a:r>
                      <a:r>
                        <a:rPr lang="en-US" sz="900" u="sng" spc="-35"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Adoption</a:t>
                      </a:r>
                      <a:r>
                        <a:rPr lang="en-US" sz="900" u="sng" spc="-50"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Framework</a:t>
                      </a:r>
                      <a:r>
                        <a:rPr lang="en-US" sz="900" u="sng" spc="-5"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5">
                            <a:extLst>
                              <a:ext uri="{A12FA001-AC4F-418D-AE19-62706E023703}">
                                <ahyp:hlinkClr xmlns:ahyp="http://schemas.microsoft.com/office/drawing/2018/hyperlinkcolor" val="tx"/>
                              </a:ext>
                            </a:extLst>
                          </a:hlinkClick>
                        </a:rPr>
                        <a:t>(CAF)</a:t>
                      </a:r>
                      <a:r>
                        <a:rPr lang="en-US" sz="900" u="sng" dirty="0">
                          <a:uFill>
                            <a:solidFill>
                              <a:srgbClr val="000000"/>
                            </a:solidFill>
                          </a:uFill>
                          <a:latin typeface="Arial Narrow" panose="020B0606020202030204" pitchFamily="34" charset="0"/>
                          <a:cs typeface="Segoe UI"/>
                        </a:rPr>
                        <a:t>,</a:t>
                      </a:r>
                      <a:r>
                        <a:rPr lang="en-US" sz="900" spc="-40" dirty="0">
                          <a:latin typeface="Arial Narrow" panose="020B0606020202030204" pitchFamily="34" charset="0"/>
                          <a:cs typeface="Segoe UI"/>
                        </a:rPr>
                        <a:t> </a:t>
                      </a:r>
                      <a:r>
                        <a:rPr lang="en-US" sz="900" u="sng" spc="-10"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Well-</a:t>
                      </a:r>
                      <a:r>
                        <a:rPr lang="en-US" sz="900" u="sng"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Architected</a:t>
                      </a:r>
                      <a:r>
                        <a:rPr lang="en-US" sz="900" u="sng" spc="-5"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Framework</a:t>
                      </a:r>
                      <a:r>
                        <a:rPr lang="en-US" sz="900" u="sng" spc="-10"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 </a:t>
                      </a:r>
                      <a:r>
                        <a:rPr lang="en-US" sz="900" u="sng" dirty="0">
                          <a:solidFill>
                            <a:srgbClr val="0000FF"/>
                          </a:solidFill>
                          <a:uFill>
                            <a:solidFill>
                              <a:srgbClr val="0078D3"/>
                            </a:solidFill>
                          </a:uFill>
                          <a:latin typeface="Arial Narrow" panose="020B0606020202030204" pitchFamily="34" charset="0"/>
                          <a:cs typeface="Segoe UI"/>
                          <a:hlinkClick r:id="rId6">
                            <a:extLst>
                              <a:ext uri="{A12FA001-AC4F-418D-AE19-62706E023703}">
                                <ahyp:hlinkClr xmlns:ahyp="http://schemas.microsoft.com/office/drawing/2018/hyperlinkcolor" val="tx"/>
                              </a:ext>
                            </a:extLst>
                          </a:hlinkClick>
                        </a:rPr>
                        <a:t>(WAF)</a:t>
                      </a:r>
                      <a:r>
                        <a:rPr lang="en-US" sz="900" spc="-30" dirty="0">
                          <a:solidFill>
                            <a:srgbClr val="0078D3"/>
                          </a:solidFill>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45" dirty="0">
                          <a:latin typeface="Arial Narrow" panose="020B0606020202030204" pitchFamily="34" charset="0"/>
                          <a:cs typeface="Segoe UI"/>
                        </a:rPr>
                        <a:t> </a:t>
                      </a:r>
                      <a:r>
                        <a:rPr lang="en-US" sz="900" u="sng"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Azure</a:t>
                      </a:r>
                      <a:r>
                        <a:rPr lang="en-US" sz="900" u="sng" spc="-45"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 </a:t>
                      </a:r>
                      <a:r>
                        <a:rPr lang="en-US" sz="900" u="sng" spc="-10" dirty="0">
                          <a:solidFill>
                            <a:srgbClr val="0000FF"/>
                          </a:solidFill>
                          <a:uFill>
                            <a:solidFill>
                              <a:srgbClr val="0078D3"/>
                            </a:solidFill>
                          </a:uFill>
                          <a:latin typeface="Arial Narrow" panose="020B0606020202030204" pitchFamily="34" charset="0"/>
                          <a:cs typeface="Segoe UI"/>
                          <a:hlinkClick r:id="rId3">
                            <a:extLst>
                              <a:ext uri="{A12FA001-AC4F-418D-AE19-62706E023703}">
                                <ahyp:hlinkClr xmlns:ahyp="http://schemas.microsoft.com/office/drawing/2018/hyperlinkcolor" val="tx"/>
                              </a:ext>
                            </a:extLst>
                          </a:hlinkClick>
                        </a:rPr>
                        <a:t>Migrate</a:t>
                      </a:r>
                      <a:r>
                        <a:rPr lang="en-US" sz="900" spc="-10" dirty="0">
                          <a:latin typeface="Arial Narrow" panose="020B0606020202030204" pitchFamily="34" charset="0"/>
                          <a:cs typeface="Segoe UI"/>
                        </a:rPr>
                        <a:t>.</a:t>
                      </a:r>
                      <a:endParaRPr lang="en-US" sz="900" dirty="0">
                        <a:latin typeface="Arial Narrow" panose="020B0606020202030204" pitchFamily="34" charset="0"/>
                        <a:cs typeface="Segoe UI"/>
                      </a:endParaRP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DDFF"/>
                    </a:solidFill>
                  </a:tcPr>
                </a:tc>
                <a:tc>
                  <a:txBody>
                    <a:bodyPr/>
                    <a:lstStyle/>
                    <a:p>
                      <a:pPr algn="l" fontAlgn="t">
                        <a:buNone/>
                      </a:pPr>
                      <a:r>
                        <a:rPr lang="en-US" sz="900" b="1" i="0" u="none" strike="noStrike" dirty="0">
                          <a:solidFill>
                            <a:srgbClr val="000000"/>
                          </a:solidFill>
                          <a:effectLst/>
                          <a:latin typeface="Arial Narrow" panose="020B0606020202030204" pitchFamily="34" charset="0"/>
                        </a:rPr>
                        <a:t>Azure Accelerate: </a:t>
                      </a:r>
                      <a:r>
                        <a:rPr lang="en-US" sz="900" b="1" i="0" u="sng" strike="noStrike" dirty="0">
                          <a:solidFill>
                            <a:srgbClr val="000000"/>
                          </a:solidFill>
                          <a:effectLst/>
                          <a:latin typeface="Arial Narrow" panose="020B0606020202030204" pitchFamily="34" charset="0"/>
                        </a:rPr>
                        <a:t>AI Apps, Agents and Developer</a:t>
                      </a:r>
                    </a:p>
                    <a:p>
                      <a:pPr marL="12700" marR="187325" algn="just">
                        <a:lnSpc>
                          <a:spcPct val="100000"/>
                        </a:lnSpc>
                        <a:spcBef>
                          <a:spcPts val="100"/>
                        </a:spcBef>
                      </a:pPr>
                      <a:r>
                        <a:rPr lang="en-US" sz="900" dirty="0">
                          <a:latin typeface="Arial Narrow" panose="020B0606020202030204" pitchFamily="34" charset="0"/>
                          <a:cs typeface="Segoe UI"/>
                        </a:rPr>
                        <a:t>Provides</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guidance,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resources,</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funding</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drive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consistent</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execution</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customer</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experience,</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accelerating</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demand,</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pipeline,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15" dirty="0">
                          <a:latin typeface="Arial Narrow" panose="020B0606020202030204" pitchFamily="34" charset="0"/>
                          <a:cs typeface="Segoe UI"/>
                        </a:rPr>
                        <a:t> </a:t>
                      </a:r>
                      <a:r>
                        <a:rPr lang="en-US" sz="900" spc="-10" dirty="0">
                          <a:latin typeface="Arial Narrow" panose="020B0606020202030204" pitchFamily="34" charset="0"/>
                          <a:cs typeface="Segoe UI"/>
                        </a:rPr>
                        <a:t>consumption</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AI</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and</a:t>
                      </a:r>
                      <a:r>
                        <a:rPr lang="en-US" sz="900" spc="-20" dirty="0">
                          <a:latin typeface="Arial Narrow" panose="020B0606020202030204" pitchFamily="34" charset="0"/>
                          <a:cs typeface="Segoe UI"/>
                        </a:rPr>
                        <a:t> </a:t>
                      </a:r>
                      <a:r>
                        <a:rPr lang="en-US" sz="900" spc="-10" dirty="0">
                          <a:latin typeface="Arial Narrow" panose="020B0606020202030204" pitchFamily="34" charset="0"/>
                          <a:cs typeface="Segoe UI"/>
                        </a:rPr>
                        <a:t>Developer services.</a:t>
                      </a:r>
                      <a:endParaRPr lang="en-US" sz="900" dirty="0">
                        <a:latin typeface="Arial Narrow" panose="020B0606020202030204" pitchFamily="34" charset="0"/>
                        <a:cs typeface="Segoe UI"/>
                      </a:endParaRPr>
                    </a:p>
                    <a:p>
                      <a:pPr marL="12700" marR="5080" algn="just">
                        <a:lnSpc>
                          <a:spcPct val="100000"/>
                        </a:lnSpc>
                      </a:pPr>
                      <a:r>
                        <a:rPr lang="en-US" sz="900" dirty="0">
                          <a:latin typeface="Arial Narrow" panose="020B0606020202030204" pitchFamily="34" charset="0"/>
                          <a:cs typeface="Segoe UI"/>
                        </a:rPr>
                        <a:t>The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following</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workloads</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or</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their</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combinations</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are</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supported:</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AI</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Foundry</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&amp;</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Platform (Agents</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&amp;</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Models),</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Kubernetes</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Service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(AKS),</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App</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Service,</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Open</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AI,</a:t>
                      </a:r>
                      <a:r>
                        <a:rPr lang="en-US" sz="900" spc="-45" dirty="0">
                          <a:latin typeface="Arial Narrow" panose="020B0606020202030204" pitchFamily="34" charset="0"/>
                          <a:cs typeface="Segoe UI"/>
                        </a:rPr>
                        <a:t> </a:t>
                      </a:r>
                      <a:r>
                        <a:rPr lang="en-US" sz="900" dirty="0">
                          <a:latin typeface="Arial Narrow" panose="020B0606020202030204" pitchFamily="34" charset="0"/>
                          <a:cs typeface="Segoe UI"/>
                        </a:rPr>
                        <a:t>Azure</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AI</a:t>
                      </a:r>
                      <a:r>
                        <a:rPr lang="en-US" sz="900" spc="-35" dirty="0">
                          <a:latin typeface="Arial Narrow" panose="020B0606020202030204" pitchFamily="34" charset="0"/>
                          <a:cs typeface="Segoe UI"/>
                        </a:rPr>
                        <a:t> </a:t>
                      </a:r>
                      <a:r>
                        <a:rPr lang="en-US" sz="900" spc="-10" dirty="0">
                          <a:latin typeface="Arial Narrow" panose="020B0606020202030204" pitchFamily="34" charset="0"/>
                          <a:cs typeface="Segoe UI"/>
                        </a:rPr>
                        <a:t>Services, </a:t>
                      </a:r>
                      <a:r>
                        <a:rPr lang="en-US" sz="900" dirty="0">
                          <a:latin typeface="Arial Narrow" panose="020B0606020202030204" pitchFamily="34" charset="0"/>
                          <a:cs typeface="Segoe UI"/>
                        </a:rPr>
                        <a:t>Developer</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(GitHub</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Enterprise,</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GitHub</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Advanced</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Security,</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GitHub</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Copilot,</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GitHub</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Actions,</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GitHub</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Codespaces</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etc.</a:t>
                      </a:r>
                      <a:r>
                        <a:rPr lang="en-US" sz="900" spc="-25" dirty="0">
                          <a:latin typeface="Arial Narrow" panose="020B0606020202030204" pitchFamily="34" charset="0"/>
                          <a:cs typeface="Segoe UI"/>
                        </a:rPr>
                        <a:t> </a:t>
                      </a:r>
                    </a:p>
                    <a:p>
                      <a:pPr marL="12700" marR="5080" algn="just">
                        <a:lnSpc>
                          <a:spcPct val="100000"/>
                        </a:lnSpc>
                      </a:pPr>
                      <a:r>
                        <a:rPr lang="en-US" sz="900" dirty="0">
                          <a:latin typeface="Arial Narrow" panose="020B0606020202030204" pitchFamily="34" charset="0"/>
                          <a:cs typeface="Segoe UI"/>
                        </a:rPr>
                        <a:t>Rackspace is required</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to</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perform</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specific</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milestones</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in</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the</a:t>
                      </a:r>
                      <a:r>
                        <a:rPr lang="en-US" sz="900" spc="-30" dirty="0">
                          <a:latin typeface="Arial Narrow" panose="020B0606020202030204" pitchFamily="34" charset="0"/>
                          <a:cs typeface="Segoe UI"/>
                        </a:rPr>
                        <a:t> </a:t>
                      </a:r>
                      <a:r>
                        <a:rPr lang="en-US" sz="900" dirty="0">
                          <a:latin typeface="Arial Narrow" panose="020B0606020202030204" pitchFamily="34" charset="0"/>
                          <a:cs typeface="Segoe UI"/>
                        </a:rPr>
                        <a:t>project</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through</a:t>
                      </a:r>
                      <a:r>
                        <a:rPr lang="en-US" sz="900" spc="-30" dirty="0">
                          <a:latin typeface="Arial Narrow" panose="020B0606020202030204" pitchFamily="34" charset="0"/>
                          <a:cs typeface="Segoe UI"/>
                        </a:rPr>
                        <a:t> </a:t>
                      </a:r>
                      <a:r>
                        <a:rPr lang="en-US" sz="900" spc="-25" dirty="0">
                          <a:latin typeface="Arial Narrow" panose="020B0606020202030204" pitchFamily="34" charset="0"/>
                          <a:cs typeface="Segoe UI"/>
                        </a:rPr>
                        <a:t>the </a:t>
                      </a:r>
                      <a:r>
                        <a:rPr lang="en-US" sz="900" dirty="0">
                          <a:latin typeface="Arial Narrow" panose="020B0606020202030204" pitchFamily="34" charset="0"/>
                          <a:cs typeface="Segoe UI"/>
                        </a:rPr>
                        <a:t>following</a:t>
                      </a:r>
                      <a:r>
                        <a:rPr lang="en-US" sz="900" spc="-40" dirty="0">
                          <a:latin typeface="Arial Narrow" panose="020B0606020202030204" pitchFamily="34" charset="0"/>
                          <a:cs typeface="Segoe UI"/>
                        </a:rPr>
                        <a:t> </a:t>
                      </a:r>
                      <a:r>
                        <a:rPr lang="en-US" sz="900" dirty="0">
                          <a:latin typeface="Arial Narrow" panose="020B0606020202030204" pitchFamily="34" charset="0"/>
                          <a:cs typeface="Segoe UI"/>
                        </a:rPr>
                        <a:t>activities:</a:t>
                      </a:r>
                      <a:r>
                        <a:rPr lang="en-US" sz="900" spc="-5" dirty="0">
                          <a:latin typeface="Arial Narrow" panose="020B0606020202030204" pitchFamily="34" charset="0"/>
                          <a:cs typeface="Segoe UI"/>
                        </a:rPr>
                        <a:t> </a:t>
                      </a:r>
                    </a:p>
                    <a:p>
                      <a:pPr marL="241300" marR="5080" indent="-228600" algn="just">
                        <a:lnSpc>
                          <a:spcPct val="100000"/>
                        </a:lnSpc>
                        <a:buAutoNum type="arabicPeriod"/>
                      </a:pPr>
                      <a:r>
                        <a:rPr lang="en-US" sz="900" dirty="0">
                          <a:latin typeface="Arial Narrow" panose="020B0606020202030204" pitchFamily="34" charset="0"/>
                          <a:cs typeface="Segoe UI"/>
                        </a:rPr>
                        <a:t>Landing</a:t>
                      </a:r>
                      <a:r>
                        <a:rPr lang="en-US" sz="900" spc="-15" dirty="0">
                          <a:latin typeface="Arial Narrow" panose="020B0606020202030204" pitchFamily="34" charset="0"/>
                          <a:cs typeface="Segoe UI"/>
                        </a:rPr>
                        <a:t> </a:t>
                      </a:r>
                      <a:r>
                        <a:rPr lang="en-US" sz="900" dirty="0">
                          <a:latin typeface="Arial Narrow" panose="020B0606020202030204" pitchFamily="34" charset="0"/>
                          <a:cs typeface="Segoe UI"/>
                        </a:rPr>
                        <a:t>zone</a:t>
                      </a:r>
                      <a:r>
                        <a:rPr lang="en-US" sz="900" spc="-35" dirty="0">
                          <a:latin typeface="Arial Narrow" panose="020B0606020202030204" pitchFamily="34" charset="0"/>
                          <a:cs typeface="Segoe UI"/>
                        </a:rPr>
                        <a:t> </a:t>
                      </a:r>
                      <a:r>
                        <a:rPr lang="en-US" sz="900" dirty="0">
                          <a:latin typeface="Arial Narrow" panose="020B0606020202030204" pitchFamily="34" charset="0"/>
                          <a:cs typeface="Segoe UI"/>
                        </a:rPr>
                        <a:t>setup</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or</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review</a:t>
                      </a:r>
                      <a:r>
                        <a:rPr lang="en-US" sz="900" spc="-20" dirty="0">
                          <a:latin typeface="Arial Narrow" panose="020B0606020202030204" pitchFamily="34" charset="0"/>
                          <a:cs typeface="Segoe UI"/>
                        </a:rPr>
                        <a:t> </a:t>
                      </a:r>
                    </a:p>
                    <a:p>
                      <a:pPr marL="241300" marR="5080" indent="-228600" algn="just">
                        <a:lnSpc>
                          <a:spcPct val="100000"/>
                        </a:lnSpc>
                        <a:buAutoNum type="arabicPeriod"/>
                      </a:pPr>
                      <a:r>
                        <a:rPr lang="en-US" sz="900" dirty="0">
                          <a:latin typeface="Arial Narrow" panose="020B0606020202030204" pitchFamily="34" charset="0"/>
                          <a:cs typeface="Segoe UI"/>
                        </a:rPr>
                        <a:t>Deployment</a:t>
                      </a:r>
                      <a:r>
                        <a:rPr lang="en-US" sz="900" spc="5" dirty="0">
                          <a:latin typeface="Arial Narrow" panose="020B0606020202030204" pitchFamily="34" charset="0"/>
                          <a:cs typeface="Segoe UI"/>
                        </a:rPr>
                        <a:t> </a:t>
                      </a:r>
                      <a:r>
                        <a:rPr lang="en-US" sz="900" dirty="0">
                          <a:latin typeface="Arial Narrow" panose="020B0606020202030204" pitchFamily="34" charset="0"/>
                          <a:cs typeface="Segoe UI"/>
                        </a:rPr>
                        <a:t>of</a:t>
                      </a:r>
                      <a:r>
                        <a:rPr lang="en-US" sz="900" spc="-25" dirty="0">
                          <a:latin typeface="Arial Narrow" panose="020B0606020202030204" pitchFamily="34" charset="0"/>
                          <a:cs typeface="Segoe UI"/>
                        </a:rPr>
                        <a:t> </a:t>
                      </a:r>
                      <a:r>
                        <a:rPr lang="en-US" sz="900" dirty="0">
                          <a:latin typeface="Arial Narrow" panose="020B0606020202030204" pitchFamily="34" charset="0"/>
                          <a:cs typeface="Segoe UI"/>
                        </a:rPr>
                        <a:t>new</a:t>
                      </a:r>
                      <a:r>
                        <a:rPr lang="en-US" sz="900" spc="-20" dirty="0">
                          <a:latin typeface="Arial Narrow" panose="020B0606020202030204" pitchFamily="34" charset="0"/>
                          <a:cs typeface="Segoe UI"/>
                        </a:rPr>
                        <a:t> </a:t>
                      </a:r>
                      <a:r>
                        <a:rPr lang="en-US" sz="900" dirty="0">
                          <a:latin typeface="Arial Narrow" panose="020B0606020202030204" pitchFamily="34" charset="0"/>
                          <a:cs typeface="Segoe UI"/>
                        </a:rPr>
                        <a:t>workloads</a:t>
                      </a:r>
                      <a:r>
                        <a:rPr lang="en-US" sz="900" spc="-10" dirty="0">
                          <a:latin typeface="Arial Narrow" panose="020B0606020202030204" pitchFamily="34" charset="0"/>
                          <a:cs typeface="Segoe UI"/>
                        </a:rPr>
                        <a:t> </a:t>
                      </a:r>
                      <a:r>
                        <a:rPr lang="en-US" sz="900" dirty="0">
                          <a:latin typeface="Arial Narrow" panose="020B0606020202030204" pitchFamily="34" charset="0"/>
                          <a:cs typeface="Segoe UI"/>
                        </a:rPr>
                        <a:t>listed</a:t>
                      </a:r>
                      <a:r>
                        <a:rPr lang="en-US" sz="900" spc="-30" dirty="0">
                          <a:latin typeface="Arial Narrow" panose="020B0606020202030204" pitchFamily="34" charset="0"/>
                          <a:cs typeface="Segoe UI"/>
                        </a:rPr>
                        <a:t> </a:t>
                      </a:r>
                      <a:r>
                        <a:rPr lang="en-US" sz="900" spc="-10" dirty="0">
                          <a:latin typeface="Arial Narrow" panose="020B0606020202030204" pitchFamily="34" charset="0"/>
                          <a:cs typeface="Segoe UI"/>
                        </a:rPr>
                        <a:t>above.</a:t>
                      </a:r>
                      <a:endParaRPr lang="en-US" sz="900" dirty="0">
                        <a:latin typeface="Arial Narrow" panose="020B0606020202030204" pitchFamily="34" charset="0"/>
                        <a:cs typeface="Segoe UI"/>
                      </a:endParaRP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DDFF"/>
                    </a:solidFill>
                  </a:tcPr>
                </a:tc>
                <a:tc>
                  <a:txBody>
                    <a:bodyPr/>
                    <a:lstStyle/>
                    <a:p>
                      <a:pPr algn="l" fontAlgn="t">
                        <a:buNone/>
                      </a:pPr>
                      <a:r>
                        <a:rPr lang="en-US" sz="900" b="0" i="0" u="none" strike="noStrike" dirty="0">
                          <a:solidFill>
                            <a:srgbClr val="000000"/>
                          </a:solidFill>
                          <a:effectLst/>
                          <a:latin typeface="Arial Narrow" panose="020B0606020202030204" pitchFamily="34" charset="0"/>
                        </a:rPr>
                        <a:t>Azure AI Foundry &amp; Platform (Agents and Models), Azure Kubernetes Service (AKS), Azure App Service, Azure Open AI, Azure AI Services, Developer (GitHub Enterprise, GitHub Advanced Security, GitHub Copilot, GitHub Actions, GitHub Codespaces etc.), plus complementary products</a:t>
                      </a: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DDFF"/>
                    </a:solidFill>
                  </a:tcPr>
                </a:tc>
                <a:extLst>
                  <a:ext uri="{0D108BD9-81ED-4DB2-BD59-A6C34878D82A}">
                    <a16:rowId xmlns:a16="http://schemas.microsoft.com/office/drawing/2014/main" val="1128710030"/>
                  </a:ext>
                </a:extLst>
              </a:tr>
            </a:tbl>
          </a:graphicData>
        </a:graphic>
      </p:graphicFrame>
      <p:grpSp>
        <p:nvGrpSpPr>
          <p:cNvPr id="4" name="object 26">
            <a:extLst>
              <a:ext uri="{FF2B5EF4-FFF2-40B4-BE49-F238E27FC236}">
                <a16:creationId xmlns:a16="http://schemas.microsoft.com/office/drawing/2014/main" id="{8C3C7839-7443-BAB2-BED3-E8F503DA5EAF}"/>
              </a:ext>
            </a:extLst>
          </p:cNvPr>
          <p:cNvGrpSpPr/>
          <p:nvPr/>
        </p:nvGrpSpPr>
        <p:grpSpPr>
          <a:xfrm>
            <a:off x="5503593" y="1150655"/>
            <a:ext cx="157373" cy="200722"/>
            <a:chOff x="1487932" y="2412619"/>
            <a:chExt cx="175260" cy="256540"/>
          </a:xfrm>
          <a:solidFill>
            <a:srgbClr val="C00000"/>
          </a:solidFill>
        </p:grpSpPr>
        <p:sp>
          <p:nvSpPr>
            <p:cNvPr id="5" name="object 27">
              <a:extLst>
                <a:ext uri="{FF2B5EF4-FFF2-40B4-BE49-F238E27FC236}">
                  <a16:creationId xmlns:a16="http://schemas.microsoft.com/office/drawing/2014/main" id="{67CC1A7F-F1A3-224C-F3AA-3ADC6F0227FD}"/>
                </a:ext>
              </a:extLst>
            </p:cNvPr>
            <p:cNvSpPr/>
            <p:nvPr/>
          </p:nvSpPr>
          <p:spPr>
            <a:xfrm>
              <a:off x="1487932" y="2412619"/>
              <a:ext cx="175260" cy="256540"/>
            </a:xfrm>
            <a:custGeom>
              <a:avLst/>
              <a:gdLst/>
              <a:ahLst/>
              <a:cxnLst/>
              <a:rect l="l" t="t" r="r" b="b"/>
              <a:pathLst>
                <a:path w="175260" h="256539">
                  <a:moveTo>
                    <a:pt x="145542" y="0"/>
                  </a:moveTo>
                  <a:lnTo>
                    <a:pt x="29083" y="0"/>
                  </a:lnTo>
                  <a:lnTo>
                    <a:pt x="17734" y="2295"/>
                  </a:lnTo>
                  <a:lnTo>
                    <a:pt x="8493" y="8556"/>
                  </a:lnTo>
                  <a:lnTo>
                    <a:pt x="2276" y="17841"/>
                  </a:lnTo>
                  <a:lnTo>
                    <a:pt x="0" y="29209"/>
                  </a:lnTo>
                  <a:lnTo>
                    <a:pt x="0" y="227456"/>
                  </a:lnTo>
                  <a:lnTo>
                    <a:pt x="2276" y="238752"/>
                  </a:lnTo>
                  <a:lnTo>
                    <a:pt x="8493" y="247999"/>
                  </a:lnTo>
                  <a:lnTo>
                    <a:pt x="17734" y="254246"/>
                  </a:lnTo>
                  <a:lnTo>
                    <a:pt x="29083" y="256539"/>
                  </a:lnTo>
                  <a:lnTo>
                    <a:pt x="145542" y="256539"/>
                  </a:lnTo>
                  <a:lnTo>
                    <a:pt x="156910" y="254246"/>
                  </a:lnTo>
                  <a:lnTo>
                    <a:pt x="166195" y="247999"/>
                  </a:lnTo>
                  <a:lnTo>
                    <a:pt x="172456" y="238752"/>
                  </a:lnTo>
                  <a:lnTo>
                    <a:pt x="174751" y="227456"/>
                  </a:lnTo>
                  <a:lnTo>
                    <a:pt x="174751" y="29209"/>
                  </a:lnTo>
                  <a:lnTo>
                    <a:pt x="172456" y="17841"/>
                  </a:lnTo>
                  <a:lnTo>
                    <a:pt x="166195" y="8556"/>
                  </a:lnTo>
                  <a:lnTo>
                    <a:pt x="156910" y="2295"/>
                  </a:lnTo>
                  <a:lnTo>
                    <a:pt x="145542" y="0"/>
                  </a:lnTo>
                  <a:close/>
                </a:path>
              </a:pathLst>
            </a:custGeom>
            <a:grpFill/>
          </p:spPr>
          <p:txBody>
            <a:bodyPr wrap="square" lIns="0" tIns="0" rIns="0" bIns="0" rtlCol="0"/>
            <a:lstStyle/>
            <a:p>
              <a:endParaRPr sz="1200" dirty="0"/>
            </a:p>
          </p:txBody>
        </p:sp>
        <p:sp>
          <p:nvSpPr>
            <p:cNvPr id="9" name="object 28">
              <a:extLst>
                <a:ext uri="{FF2B5EF4-FFF2-40B4-BE49-F238E27FC236}">
                  <a16:creationId xmlns:a16="http://schemas.microsoft.com/office/drawing/2014/main" id="{F92B5642-332C-2523-C821-AEBCFE7BBD73}"/>
                </a:ext>
              </a:extLst>
            </p:cNvPr>
            <p:cNvSpPr/>
            <p:nvPr/>
          </p:nvSpPr>
          <p:spPr>
            <a:xfrm>
              <a:off x="1536573" y="2453640"/>
              <a:ext cx="73025" cy="174625"/>
            </a:xfrm>
            <a:custGeom>
              <a:avLst/>
              <a:gdLst/>
              <a:ahLst/>
              <a:cxnLst/>
              <a:rect l="l" t="t" r="r" b="b"/>
              <a:pathLst>
                <a:path w="73025" h="174625">
                  <a:moveTo>
                    <a:pt x="0" y="0"/>
                  </a:moveTo>
                  <a:lnTo>
                    <a:pt x="72898" y="87249"/>
                  </a:lnTo>
                  <a:lnTo>
                    <a:pt x="0" y="174498"/>
                  </a:lnTo>
                </a:path>
              </a:pathLst>
            </a:custGeom>
            <a:grpFill/>
            <a:ln w="28575">
              <a:solidFill>
                <a:srgbClr val="FFFFFF"/>
              </a:solidFill>
            </a:ln>
          </p:spPr>
          <p:txBody>
            <a:bodyPr wrap="square" lIns="0" tIns="0" rIns="0" bIns="0" rtlCol="0"/>
            <a:lstStyle/>
            <a:p>
              <a:endParaRPr sz="1000" b="1" dirty="0"/>
            </a:p>
          </p:txBody>
        </p:sp>
      </p:grpSp>
    </p:spTree>
    <p:extLst>
      <p:ext uri="{BB962C8B-B14F-4D97-AF65-F5344CB8AC3E}">
        <p14:creationId xmlns:p14="http://schemas.microsoft.com/office/powerpoint/2010/main" val="2334001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10B67-D0BA-6ABB-152E-DCDB6A08B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1920E-3A72-41B7-0AEA-BF55BE49F4AA}"/>
              </a:ext>
            </a:extLst>
          </p:cNvPr>
          <p:cNvSpPr>
            <a:spLocks noGrp="1"/>
          </p:cNvSpPr>
          <p:nvPr>
            <p:ph type="title"/>
          </p:nvPr>
        </p:nvSpPr>
        <p:spPr>
          <a:xfrm>
            <a:off x="201193" y="39886"/>
            <a:ext cx="11568700" cy="929422"/>
          </a:xfrm>
        </p:spPr>
        <p:txBody>
          <a:bodyPr lIns="91440" tIns="45720" rIns="91440" bIns="45720" anchor="t"/>
          <a:lstStyle/>
          <a:p>
            <a:r>
              <a:rPr lang="en-US" b="1" dirty="0"/>
              <a:t>Example: Fictitious Customer Journey</a:t>
            </a:r>
            <a:br>
              <a:rPr lang="en-US" b="1" dirty="0"/>
            </a:br>
            <a:r>
              <a:rPr lang="fr-FR" sz="2000" b="1" i="1" dirty="0">
                <a:solidFill>
                  <a:schemeClr val="bg1">
                    <a:lumMod val="65000"/>
                  </a:schemeClr>
                </a:solidFill>
              </a:rPr>
              <a:t>Macaron Insurance’s Cloud &amp; AI Transformation</a:t>
            </a:r>
            <a:endParaRPr lang="en-US" b="1" i="1" dirty="0">
              <a:solidFill>
                <a:schemeClr val="bg1">
                  <a:lumMod val="65000"/>
                </a:schemeClr>
              </a:solidFill>
            </a:endParaRPr>
          </a:p>
        </p:txBody>
      </p:sp>
      <p:graphicFrame>
        <p:nvGraphicFramePr>
          <p:cNvPr id="11" name="Table 10">
            <a:extLst>
              <a:ext uri="{FF2B5EF4-FFF2-40B4-BE49-F238E27FC236}">
                <a16:creationId xmlns:a16="http://schemas.microsoft.com/office/drawing/2014/main" id="{9DEA7F16-B450-61F3-2EA6-CFD2E327E870}"/>
              </a:ext>
            </a:extLst>
          </p:cNvPr>
          <p:cNvGraphicFramePr>
            <a:graphicFrameLocks noGrp="1"/>
          </p:cNvGraphicFramePr>
          <p:nvPr>
            <p:extLst>
              <p:ext uri="{D42A27DB-BD31-4B8C-83A1-F6EECF244321}">
                <p14:modId xmlns:p14="http://schemas.microsoft.com/office/powerpoint/2010/main" val="3342339482"/>
              </p:ext>
            </p:extLst>
          </p:nvPr>
        </p:nvGraphicFramePr>
        <p:xfrm>
          <a:off x="53341" y="2188089"/>
          <a:ext cx="12082595" cy="4023360"/>
        </p:xfrm>
        <a:graphic>
          <a:graphicData uri="http://schemas.openxmlformats.org/drawingml/2006/table">
            <a:tbl>
              <a:tblPr/>
              <a:tblGrid>
                <a:gridCol w="1046108">
                  <a:extLst>
                    <a:ext uri="{9D8B030D-6E8A-4147-A177-3AD203B41FA5}">
                      <a16:colId xmlns:a16="http://schemas.microsoft.com/office/drawing/2014/main" val="769087236"/>
                    </a:ext>
                  </a:extLst>
                </a:gridCol>
                <a:gridCol w="1042344">
                  <a:extLst>
                    <a:ext uri="{9D8B030D-6E8A-4147-A177-3AD203B41FA5}">
                      <a16:colId xmlns:a16="http://schemas.microsoft.com/office/drawing/2014/main" val="3260773838"/>
                    </a:ext>
                  </a:extLst>
                </a:gridCol>
                <a:gridCol w="1763145">
                  <a:extLst>
                    <a:ext uri="{9D8B030D-6E8A-4147-A177-3AD203B41FA5}">
                      <a16:colId xmlns:a16="http://schemas.microsoft.com/office/drawing/2014/main" val="1438605975"/>
                    </a:ext>
                  </a:extLst>
                </a:gridCol>
                <a:gridCol w="5941191">
                  <a:extLst>
                    <a:ext uri="{9D8B030D-6E8A-4147-A177-3AD203B41FA5}">
                      <a16:colId xmlns:a16="http://schemas.microsoft.com/office/drawing/2014/main" val="3307649715"/>
                    </a:ext>
                  </a:extLst>
                </a:gridCol>
                <a:gridCol w="2289807">
                  <a:extLst>
                    <a:ext uri="{9D8B030D-6E8A-4147-A177-3AD203B41FA5}">
                      <a16:colId xmlns:a16="http://schemas.microsoft.com/office/drawing/2014/main" val="2230987895"/>
                    </a:ext>
                  </a:extLst>
                </a:gridCol>
              </a:tblGrid>
              <a:tr h="253534">
                <a:tc>
                  <a:txBody>
                    <a:bodyPr/>
                    <a:lstStyle/>
                    <a:p>
                      <a:pPr algn="ctr" fontAlgn="t">
                        <a:buNone/>
                      </a:pPr>
                      <a:r>
                        <a:rPr lang="en-US" sz="800" b="1" i="0" u="none" strike="noStrike" dirty="0">
                          <a:solidFill>
                            <a:srgbClr val="FFFFFF"/>
                          </a:solidFill>
                          <a:effectLst/>
                          <a:latin typeface="Aptos Narrow" panose="020B0004020202020204" pitchFamily="34" charset="0"/>
                        </a:rPr>
                        <a:t>Pre-Sales incentives </a:t>
                      </a:r>
                    </a:p>
                    <a:p>
                      <a:pPr algn="ctr" fontAlgn="t">
                        <a:buNone/>
                      </a:pPr>
                      <a:r>
                        <a:rPr lang="en-US" sz="800" b="1" i="0" u="none" strike="noStrike" dirty="0">
                          <a:solidFill>
                            <a:srgbClr val="FFFFFF"/>
                          </a:solidFill>
                          <a:effectLst/>
                          <a:latin typeface="Aptos Narrow" panose="020B0004020202020204" pitchFamily="34" charset="0"/>
                        </a:rPr>
                        <a:t>[PLAN]</a:t>
                      </a:r>
                    </a:p>
                  </a:txBody>
                  <a:tcPr marL="45720" marR="45720">
                    <a:lnL>
                      <a:noFill/>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algn="ctr" fontAlgn="t">
                        <a:buNone/>
                      </a:pPr>
                      <a:r>
                        <a:rPr lang="en-US" sz="800" b="1" i="0" u="none" strike="noStrike" dirty="0">
                          <a:solidFill>
                            <a:srgbClr val="FFFFFF"/>
                          </a:solidFill>
                          <a:effectLst/>
                          <a:latin typeface="Aptos Narrow" panose="020B0004020202020204" pitchFamily="34" charset="0"/>
                        </a:rPr>
                        <a:t>Post-Sales incentives</a:t>
                      </a:r>
                    </a:p>
                    <a:p>
                      <a:pPr algn="ctr" fontAlgn="t">
                        <a:buNone/>
                      </a:pPr>
                      <a:r>
                        <a:rPr lang="en-US" sz="800" b="1" i="0" u="none" strike="noStrike" dirty="0">
                          <a:solidFill>
                            <a:srgbClr val="FFFFFF"/>
                          </a:solidFill>
                          <a:effectLst/>
                          <a:latin typeface="Aptos Narrow" panose="020B0004020202020204" pitchFamily="34" charset="0"/>
                        </a:rPr>
                        <a:t>[IMPLEMENT]</a:t>
                      </a:r>
                      <a:endParaRPr lang="en-US" sz="800" b="0" i="0" u="none" strike="noStrike" dirty="0">
                        <a:solidFill>
                          <a:srgbClr val="FFFFFF"/>
                        </a:solidFill>
                        <a:effectLst/>
                        <a:latin typeface="Aptos Narrow" panose="020B0004020202020204" pitchFamily="34" charset="0"/>
                      </a:endParaRPr>
                    </a:p>
                  </a:txBody>
                  <a:tcPr marL="45720" marR="45720">
                    <a:lnL>
                      <a:noFill/>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algn="ctr" fontAlgn="t">
                        <a:buNone/>
                      </a:pPr>
                      <a:r>
                        <a:rPr lang="en-US" sz="800" b="1" i="0" u="none" strike="noStrike" dirty="0">
                          <a:solidFill>
                            <a:srgbClr val="FFFFFF"/>
                          </a:solidFill>
                          <a:effectLst/>
                          <a:latin typeface="Aptos Narrow" panose="020B0004020202020204" pitchFamily="34" charset="0"/>
                        </a:rPr>
                        <a:t>Supported Scenarios</a:t>
                      </a:r>
                    </a:p>
                  </a:txBody>
                  <a:tcPr marL="45720" marR="4572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800" b="1" i="0" u="none" strike="noStrike" dirty="0">
                          <a:solidFill>
                            <a:srgbClr val="FFFFFF"/>
                          </a:solidFill>
                          <a:effectLst/>
                          <a:latin typeface="Aptos Narrow" panose="020B0004020202020204" pitchFamily="34" charset="0"/>
                        </a:rPr>
                        <a:t>[PLAN]</a:t>
                      </a:r>
                    </a:p>
                    <a:p>
                      <a:pPr algn="ctr" fontAlgn="t">
                        <a:buNone/>
                      </a:pPr>
                      <a:r>
                        <a:rPr lang="en-US" sz="800" b="1" i="0" u="none" strike="noStrike" dirty="0">
                          <a:solidFill>
                            <a:srgbClr val="FFFFFF"/>
                          </a:solidFill>
                          <a:effectLst/>
                          <a:latin typeface="Aptos Narrow" panose="020B0004020202020204" pitchFamily="34" charset="0"/>
                        </a:rPr>
                        <a:t>Pre-Sales (Assessment and POV) Examples</a:t>
                      </a:r>
                    </a:p>
                  </a:txBody>
                  <a:tcPr marL="45720" marR="45720">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algn="ctr" fontAlgn="t">
                        <a:buNone/>
                      </a:pPr>
                      <a:r>
                        <a:rPr lang="en-US" sz="800" b="1" i="0" u="none" strike="noStrike" dirty="0">
                          <a:solidFill>
                            <a:srgbClr val="FFFFFF"/>
                          </a:solidFill>
                          <a:effectLst/>
                          <a:latin typeface="Aptos Narrow" panose="020B0004020202020204" pitchFamily="34" charset="0"/>
                        </a:rPr>
                        <a:t>TOTAL Funding </a:t>
                      </a:r>
                    </a:p>
                    <a:p>
                      <a:pPr algn="ctr" fontAlgn="t">
                        <a:buNone/>
                      </a:pPr>
                      <a:r>
                        <a:rPr lang="en-US" sz="800" b="1" i="0" u="none" strike="noStrike" dirty="0">
                          <a:solidFill>
                            <a:srgbClr val="FFFFFF"/>
                          </a:solidFill>
                          <a:effectLst/>
                          <a:latin typeface="Aptos Narrow" panose="020B0004020202020204" pitchFamily="34" charset="0"/>
                        </a:rPr>
                        <a:t>(</a:t>
                      </a:r>
                      <a:r>
                        <a:rPr lang="en-US" sz="800" b="1" i="0" u="sng" strike="noStrike" dirty="0">
                          <a:solidFill>
                            <a:srgbClr val="FFFFFF"/>
                          </a:solidFill>
                          <a:effectLst/>
                          <a:latin typeface="Aptos Narrow" panose="020B0004020202020204" pitchFamily="34" charset="0"/>
                        </a:rPr>
                        <a:t>Pre</a:t>
                      </a:r>
                      <a:r>
                        <a:rPr lang="en-US" sz="800" b="1" i="0" u="none" strike="noStrike" dirty="0">
                          <a:solidFill>
                            <a:srgbClr val="FFFFFF"/>
                          </a:solidFill>
                          <a:effectLst/>
                          <a:latin typeface="Aptos Narrow" panose="020B0004020202020204" pitchFamily="34" charset="0"/>
                        </a:rPr>
                        <a:t>-Sales + </a:t>
                      </a:r>
                      <a:r>
                        <a:rPr lang="en-US" sz="800" b="1" i="0" u="sng" strike="noStrike" dirty="0">
                          <a:solidFill>
                            <a:srgbClr val="FFFFFF"/>
                          </a:solidFill>
                          <a:effectLst/>
                          <a:latin typeface="Aptos Narrow" panose="020B0004020202020204" pitchFamily="34" charset="0"/>
                        </a:rPr>
                        <a:t>Post</a:t>
                      </a:r>
                      <a:r>
                        <a:rPr lang="en-US" sz="800" b="1" i="0" u="none" strike="noStrike" dirty="0">
                          <a:solidFill>
                            <a:srgbClr val="FFFFFF"/>
                          </a:solidFill>
                          <a:effectLst/>
                          <a:latin typeface="Aptos Narrow" panose="020B0004020202020204" pitchFamily="34" charset="0"/>
                        </a:rPr>
                        <a:t>-Sales)</a:t>
                      </a:r>
                    </a:p>
                  </a:txBody>
                  <a:tcPr marL="45720" marR="45720">
                    <a:lnL w="635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extLst>
                  <a:ext uri="{0D108BD9-81ED-4DB2-BD59-A6C34878D82A}">
                    <a16:rowId xmlns:a16="http://schemas.microsoft.com/office/drawing/2014/main" val="4234189396"/>
                  </a:ext>
                </a:extLst>
              </a:tr>
              <a:tr h="898893">
                <a:tc>
                  <a:txBody>
                    <a:bodyPr/>
                    <a:lstStyle/>
                    <a:p>
                      <a:pPr algn="l" fontAlgn="t">
                        <a:buNone/>
                      </a:pPr>
                      <a:r>
                        <a:rPr lang="en-US" sz="800" b="0" i="0" u="none" strike="noStrike" dirty="0">
                          <a:solidFill>
                            <a:srgbClr val="000000"/>
                          </a:solidFill>
                          <a:effectLst/>
                          <a:latin typeface="Aptos Narrow" panose="020B0004020202020204" pitchFamily="34" charset="0"/>
                        </a:rPr>
                        <a:t>Azure Accelerate: </a:t>
                      </a:r>
                      <a:r>
                        <a:rPr lang="en-US" sz="800" b="1" i="0" u="none" strike="noStrike" dirty="0">
                          <a:solidFill>
                            <a:srgbClr val="000000"/>
                          </a:solidFill>
                          <a:effectLst/>
                          <a:latin typeface="Aptos Narrow" panose="020B0004020202020204" pitchFamily="34" charset="0"/>
                        </a:rPr>
                        <a:t>Core Migrate &amp; Modernize Pre-Sales (Assessment and POV)</a:t>
                      </a:r>
                      <a:endParaRPr lang="en-US" sz="800" b="0" i="0" u="none" strike="noStrike" dirty="0">
                        <a:solidFill>
                          <a:srgbClr val="000000"/>
                        </a:solidFill>
                        <a:effectLst/>
                        <a:latin typeface="Aptos Narrow" panose="020B0004020202020204" pitchFamily="34" charset="0"/>
                      </a:endParaRP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AE9F8"/>
                    </a:solidFill>
                  </a:tcPr>
                </a:tc>
                <a:tc>
                  <a:txBody>
                    <a:bodyPr/>
                    <a:lstStyle/>
                    <a:p>
                      <a:pPr algn="l" fontAlgn="t">
                        <a:buNone/>
                      </a:pPr>
                      <a:r>
                        <a:rPr lang="en-US" sz="800" b="0" i="0" u="none" strike="noStrike" dirty="0">
                          <a:solidFill>
                            <a:srgbClr val="000000"/>
                          </a:solidFill>
                          <a:effectLst/>
                          <a:latin typeface="Aptos Narrow" panose="020B0004020202020204" pitchFamily="34" charset="0"/>
                        </a:rPr>
                        <a:t>Azure Accelerate: </a:t>
                      </a:r>
                      <a:r>
                        <a:rPr lang="en-US" sz="800" b="1" i="0" u="none" strike="noStrike" dirty="0">
                          <a:solidFill>
                            <a:srgbClr val="000000"/>
                          </a:solidFill>
                          <a:effectLst/>
                          <a:latin typeface="Aptos Narrow" panose="020B0004020202020204" pitchFamily="34" charset="0"/>
                        </a:rPr>
                        <a:t>Core Migrate &amp; Modernize</a:t>
                      </a:r>
                      <a:endParaRPr lang="en-US" sz="800" b="0" i="0" u="none" strike="noStrike" dirty="0">
                        <a:solidFill>
                          <a:srgbClr val="000000"/>
                        </a:solidFill>
                        <a:effectLst/>
                        <a:latin typeface="Aptos Narrow" panose="020B0004020202020204" pitchFamily="34" charset="0"/>
                      </a:endParaRP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AE9F8"/>
                    </a:solidFill>
                  </a:tcPr>
                </a:tc>
                <a:tc>
                  <a:txBody>
                    <a:bodyPr/>
                    <a:lstStyle/>
                    <a:p>
                      <a:pPr algn="l" fontAlgn="t">
                        <a:buNone/>
                      </a:pPr>
                      <a:r>
                        <a:rPr lang="en-US" sz="800" b="0" i="0" u="none" strike="noStrike" dirty="0">
                          <a:solidFill>
                            <a:srgbClr val="000000"/>
                          </a:solidFill>
                          <a:effectLst/>
                          <a:latin typeface="Aptos Narrow" panose="020B0004020202020204" pitchFamily="34" charset="0"/>
                        </a:rPr>
                        <a:t>Migrate Windows Server, SQL Server, Linux and open-source databases to Azure Virtual Machines, AzureSQL, Azure PostgreSQL, Azure CosmosDB, Azure MySQL</a:t>
                      </a:r>
                      <a:br>
                        <a:rPr lang="en-US" sz="800" b="0" i="0" u="none" strike="noStrike" dirty="0">
                          <a:solidFill>
                            <a:srgbClr val="000000"/>
                          </a:solidFill>
                          <a:effectLst/>
                          <a:latin typeface="Aptos Narrow" panose="020B0004020202020204" pitchFamily="34" charset="0"/>
                        </a:rPr>
                      </a:br>
                      <a:endParaRPr lang="en-US" sz="800" b="0" i="0" u="none" strike="noStrike" dirty="0">
                        <a:solidFill>
                          <a:srgbClr val="000000"/>
                        </a:solidFill>
                        <a:effectLst/>
                        <a:latin typeface="Aptos Narrow" panose="020B0004020202020204" pitchFamily="34" charset="0"/>
                      </a:endParaRPr>
                    </a:p>
                    <a:p>
                      <a:pPr algn="l" fontAlgn="t">
                        <a:buNone/>
                      </a:pPr>
                      <a:r>
                        <a:rPr lang="en-US" sz="800" b="0" i="0" u="none" strike="noStrike" dirty="0">
                          <a:solidFill>
                            <a:srgbClr val="000000"/>
                          </a:solidFill>
                          <a:effectLst/>
                          <a:latin typeface="Aptos Narrow" panose="020B0004020202020204" pitchFamily="34" charset="0"/>
                        </a:rPr>
                        <a:t>Modernize existing applications to Azure</a:t>
                      </a: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AE9F8"/>
                    </a:solidFill>
                  </a:tcPr>
                </a:tc>
                <a:tc>
                  <a:txBody>
                    <a:bodyPr/>
                    <a:lstStyle/>
                    <a:p>
                      <a:pPr marL="0" marR="0">
                        <a:buNone/>
                      </a:pPr>
                      <a:r>
                        <a:rPr lang="en-US" sz="800" b="1" i="0" dirty="0">
                          <a:solidFill>
                            <a:srgbClr val="000000"/>
                          </a:solidFill>
                          <a:effectLst/>
                          <a:latin typeface="Aptos Narrow" panose="020B0004020202020204" pitchFamily="34" charset="0"/>
                        </a:rPr>
                        <a:t>[Motion 1] </a:t>
                      </a:r>
                      <a:r>
                        <a:rPr lang="en-US" sz="800" dirty="0">
                          <a:solidFill>
                            <a:srgbClr val="000000"/>
                          </a:solidFill>
                          <a:effectLst/>
                          <a:latin typeface="Aptos Narrow" panose="020B0004020202020204" pitchFamily="34" charset="0"/>
                        </a:rPr>
                        <a:t>Rackspace begins with a full estate discovery using Azure Migrate or Dr. Migrate. Findings:</a:t>
                      </a:r>
                    </a:p>
                    <a:p>
                      <a:pPr marL="1028700" marR="0">
                        <a:buNone/>
                      </a:pPr>
                      <a:r>
                        <a:rPr lang="en-US" sz="800" dirty="0">
                          <a:solidFill>
                            <a:srgbClr val="000000"/>
                          </a:solidFill>
                          <a:effectLst/>
                          <a:latin typeface="Aptos Narrow" panose="020B0004020202020204" pitchFamily="34" charset="0"/>
                        </a:rPr>
                        <a:t>·       120 VMs, 65% Windows / 35% Linux</a:t>
                      </a:r>
                    </a:p>
                    <a:p>
                      <a:pPr marL="1028700" marR="0">
                        <a:buNone/>
                      </a:pPr>
                      <a:r>
                        <a:rPr lang="en-US" sz="800" dirty="0">
                          <a:solidFill>
                            <a:srgbClr val="000000"/>
                          </a:solidFill>
                          <a:effectLst/>
                          <a:latin typeface="Aptos Narrow" panose="020B0004020202020204" pitchFamily="34" charset="0"/>
                        </a:rPr>
                        <a:t>·       Legacy reporting server running EOL SQL</a:t>
                      </a:r>
                    </a:p>
                    <a:p>
                      <a:pPr marL="1028700" marR="0">
                        <a:buNone/>
                      </a:pPr>
                      <a:r>
                        <a:rPr lang="en-US" sz="800" dirty="0">
                          <a:solidFill>
                            <a:srgbClr val="000000"/>
                          </a:solidFill>
                          <a:effectLst/>
                          <a:latin typeface="Aptos Narrow" panose="020B0004020202020204" pitchFamily="34" charset="0"/>
                        </a:rPr>
                        <a:t>·       Aging firewall appliances limiting scalability</a:t>
                      </a:r>
                    </a:p>
                    <a:p>
                      <a:pPr marL="0" marR="0">
                        <a:buNone/>
                      </a:pPr>
                      <a:r>
                        <a:rPr lang="en-US" sz="800" dirty="0">
                          <a:solidFill>
                            <a:srgbClr val="000000"/>
                          </a:solidFill>
                          <a:effectLst/>
                          <a:latin typeface="Aptos Narrow" panose="020B0004020202020204" pitchFamily="34" charset="0"/>
                        </a:rPr>
                        <a:t> </a:t>
                      </a:r>
                    </a:p>
                    <a:p>
                      <a:pPr marL="0" marR="0">
                        <a:buNone/>
                      </a:pPr>
                      <a:r>
                        <a:rPr lang="en-US" sz="800" dirty="0">
                          <a:solidFill>
                            <a:srgbClr val="000000"/>
                          </a:solidFill>
                          <a:effectLst/>
                          <a:latin typeface="Aptos Narrow" panose="020B0004020202020204" pitchFamily="34" charset="0"/>
                        </a:rPr>
                        <a:t>POV: Rackspace uses Azure Migrate or Dr. Migrate to create an assessment report, documents their migration plan with phased approach and estimated timelines, and documents the planned use of CAF/WAF &amp; Azure Migrate. </a:t>
                      </a: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AE9F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chemeClr val="tx2"/>
                          </a:solidFill>
                          <a:effectLst/>
                          <a:latin typeface="Aptos Narrow" panose="020B0004020202020204" pitchFamily="34" charset="0"/>
                        </a:rPr>
                        <a:t>$70K Planned Year 1 ACR </a:t>
                      </a:r>
                      <a:r>
                        <a:rPr lang="en-US" sz="800" dirty="0">
                          <a:solidFill>
                            <a:srgbClr val="000000"/>
                          </a:solidFill>
                          <a:effectLst/>
                          <a:latin typeface="Aptos Narrow" panose="020B0004020202020204" pitchFamily="34" charset="0"/>
                        </a:rPr>
                        <a:t>from infra + DB move </a:t>
                      </a:r>
                      <a:r>
                        <a:rPr lang="en-US" sz="800" b="1" dirty="0">
                          <a:solidFill>
                            <a:srgbClr val="000000"/>
                          </a:solidFill>
                          <a:effectLst/>
                          <a:latin typeface="Aptos Narrow" panose="020B0004020202020204" pitchFamily="34" charset="0"/>
                        </a:rPr>
                        <a:t>= </a:t>
                      </a:r>
                      <a:r>
                        <a:rPr lang="en-US" sz="800" b="1" dirty="0">
                          <a:solidFill>
                            <a:srgbClr val="00B050"/>
                          </a:solidFill>
                          <a:effectLst/>
                          <a:latin typeface="Aptos Narrow" panose="020B0004020202020204" pitchFamily="34" charset="0"/>
                        </a:rPr>
                        <a:t>$30,000  </a:t>
                      </a:r>
                      <a:r>
                        <a:rPr lang="en-US" sz="800" b="1" dirty="0">
                          <a:solidFill>
                            <a:srgbClr val="000000"/>
                          </a:solidFill>
                          <a:effectLst/>
                          <a:latin typeface="Aptos Narrow" panose="020B0004020202020204" pitchFamily="34" charset="0"/>
                        </a:rPr>
                        <a:t>total funding </a:t>
                      </a:r>
                      <a:r>
                        <a:rPr lang="en-US" sz="800" b="0" dirty="0">
                          <a:solidFill>
                            <a:srgbClr val="000000"/>
                          </a:solidFill>
                          <a:effectLst/>
                          <a:latin typeface="Aptos Narrow" panose="020B0004020202020204" pitchFamily="34" charset="0"/>
                        </a:rPr>
                        <a:t>for</a:t>
                      </a:r>
                      <a:r>
                        <a:rPr lang="en-US" sz="800" b="1" dirty="0">
                          <a:solidFill>
                            <a:srgbClr val="000000"/>
                          </a:solidFill>
                          <a:effectLst/>
                          <a:latin typeface="Aptos Narrow" panose="020B0004020202020204" pitchFamily="34" charset="0"/>
                        </a:rPr>
                        <a:t> Pre-Sales +Post-Sales</a:t>
                      </a:r>
                      <a:endParaRPr lang="en-US" sz="800" dirty="0">
                        <a:solidFill>
                          <a:srgbClr val="000000"/>
                        </a:solidFill>
                        <a:effectLst/>
                        <a:latin typeface="Aptos Narrow"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b="1" dirty="0">
                        <a:solidFill>
                          <a:srgbClr val="000000"/>
                        </a:solidFill>
                        <a:effectLst/>
                        <a:latin typeface="Aptos Narrow"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effectLst/>
                          <a:latin typeface="Aptos Narrow" panose="020B0004020202020204" pitchFamily="34" charset="0"/>
                        </a:rPr>
                        <a:t> </a:t>
                      </a:r>
                      <a:r>
                        <a:rPr lang="en-US" sz="800" b="1" dirty="0">
                          <a:effectLst/>
                          <a:latin typeface="Aptos Narrow" panose="020B0004020202020204" pitchFamily="34" charset="0"/>
                        </a:rPr>
                        <a:t>$15,000</a:t>
                      </a:r>
                      <a:r>
                        <a:rPr lang="en-US" sz="800" dirty="0">
                          <a:effectLst/>
                          <a:latin typeface="Aptos Narrow" panose="020B0004020202020204" pitchFamily="34" charset="0"/>
                        </a:rPr>
                        <a:t> </a:t>
                      </a:r>
                      <a:r>
                        <a:rPr lang="en-US" sz="800" b="1" dirty="0">
                          <a:solidFill>
                            <a:srgbClr val="000000"/>
                          </a:solidFill>
                          <a:effectLst/>
                          <a:latin typeface="Aptos Narrow" panose="020B0004020202020204" pitchFamily="34" charset="0"/>
                        </a:rPr>
                        <a:t> funding </a:t>
                      </a:r>
                      <a:r>
                        <a:rPr lang="en-US" sz="800" b="0" dirty="0">
                          <a:solidFill>
                            <a:srgbClr val="000000"/>
                          </a:solidFill>
                          <a:effectLst/>
                          <a:latin typeface="Aptos Narrow" panose="020B0004020202020204" pitchFamily="34" charset="0"/>
                        </a:rPr>
                        <a:t>for </a:t>
                      </a:r>
                      <a:r>
                        <a:rPr lang="en-US" sz="800" b="1" u="sng" dirty="0">
                          <a:solidFill>
                            <a:srgbClr val="000000"/>
                          </a:solidFill>
                          <a:effectLst/>
                          <a:latin typeface="Aptos Narrow" panose="020B0004020202020204" pitchFamily="34" charset="0"/>
                        </a:rPr>
                        <a:t>Pre</a:t>
                      </a:r>
                      <a:r>
                        <a:rPr lang="en-US" sz="800" b="1" dirty="0">
                          <a:solidFill>
                            <a:srgbClr val="000000"/>
                          </a:solidFill>
                          <a:effectLst/>
                          <a:latin typeface="Aptos Narrow" panose="020B0004020202020204" pitchFamily="34" charset="0"/>
                        </a:rPr>
                        <a:t>-Sales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000000"/>
                          </a:solidFill>
                          <a:effectLst/>
                          <a:latin typeface="Aptos Narrow" panose="020B0004020202020204" pitchFamily="34" charset="0"/>
                        </a:rPr>
                        <a:t>+ </a:t>
                      </a:r>
                      <a:r>
                        <a:rPr lang="en-US" sz="800" b="1" dirty="0">
                          <a:effectLst/>
                          <a:latin typeface="Aptos Narrow" panose="020B0004020202020204" pitchFamily="34" charset="0"/>
                        </a:rPr>
                        <a:t>$15,000</a:t>
                      </a:r>
                      <a:r>
                        <a:rPr lang="en-US" sz="800" dirty="0">
                          <a:effectLst/>
                          <a:latin typeface="Aptos Narrow" panose="020B0004020202020204" pitchFamily="34" charset="0"/>
                        </a:rPr>
                        <a:t> </a:t>
                      </a:r>
                      <a:r>
                        <a:rPr lang="en-US" sz="800" b="1" dirty="0">
                          <a:solidFill>
                            <a:srgbClr val="000000"/>
                          </a:solidFill>
                          <a:effectLst/>
                          <a:latin typeface="Aptos Narrow" panose="020B0004020202020204" pitchFamily="34" charset="0"/>
                        </a:rPr>
                        <a:t> funding </a:t>
                      </a:r>
                      <a:r>
                        <a:rPr lang="en-US" sz="800" b="0" dirty="0">
                          <a:solidFill>
                            <a:srgbClr val="000000"/>
                          </a:solidFill>
                          <a:effectLst/>
                          <a:latin typeface="Aptos Narrow" panose="020B0004020202020204" pitchFamily="34" charset="0"/>
                        </a:rPr>
                        <a:t>for </a:t>
                      </a:r>
                      <a:r>
                        <a:rPr lang="en-US" sz="800" b="1" u="sng" dirty="0">
                          <a:solidFill>
                            <a:srgbClr val="000000"/>
                          </a:solidFill>
                          <a:effectLst/>
                          <a:latin typeface="Aptos Narrow" panose="020B0004020202020204" pitchFamily="34" charset="0"/>
                        </a:rPr>
                        <a:t>Post</a:t>
                      </a:r>
                      <a:r>
                        <a:rPr lang="en-US" sz="800" b="1" dirty="0">
                          <a:solidFill>
                            <a:srgbClr val="000000"/>
                          </a:solidFill>
                          <a:effectLst/>
                          <a:latin typeface="Aptos Narrow" panose="020B0004020202020204" pitchFamily="34" charset="0"/>
                        </a:rPr>
                        <a:t>-Sales</a:t>
                      </a:r>
                      <a:endParaRPr lang="en-US" sz="800" dirty="0">
                        <a:effectLst/>
                        <a:latin typeface="Aptos Narrow" panose="020B0004020202020204" pitchFamily="34" charset="0"/>
                      </a:endParaRPr>
                    </a:p>
                    <a:p>
                      <a:pPr marL="0" marR="0">
                        <a:buNone/>
                      </a:pPr>
                      <a:endParaRPr lang="en-US" sz="800" dirty="0">
                        <a:solidFill>
                          <a:srgbClr val="000000"/>
                        </a:solidFill>
                        <a:effectLst/>
                        <a:latin typeface="Aptos Narrow" panose="020B0004020202020204" pitchFamily="34" charset="0"/>
                      </a:endParaRPr>
                    </a:p>
                  </a:txBody>
                  <a:tcPr marL="45720" marR="45720">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AE9F8"/>
                    </a:solidFill>
                  </a:tcPr>
                </a:tc>
                <a:extLst>
                  <a:ext uri="{0D108BD9-81ED-4DB2-BD59-A6C34878D82A}">
                    <a16:rowId xmlns:a16="http://schemas.microsoft.com/office/drawing/2014/main" val="3092601458"/>
                  </a:ext>
                </a:extLst>
              </a:tr>
              <a:tr h="1083281">
                <a:tc>
                  <a:txBody>
                    <a:bodyPr/>
                    <a:lstStyle/>
                    <a:p>
                      <a:pPr algn="l" fontAlgn="t">
                        <a:buNone/>
                      </a:pPr>
                      <a:r>
                        <a:rPr lang="en-US" sz="800" b="0" i="0" u="none" strike="noStrike" dirty="0">
                          <a:solidFill>
                            <a:srgbClr val="000000"/>
                          </a:solidFill>
                          <a:effectLst/>
                          <a:latin typeface="Aptos Narrow" panose="020B0004020202020204" pitchFamily="34" charset="0"/>
                        </a:rPr>
                        <a:t>Azure Accelerate: </a:t>
                      </a:r>
                      <a:r>
                        <a:rPr lang="en-US" sz="800" b="1" i="0" u="none" strike="noStrike" dirty="0">
                          <a:solidFill>
                            <a:srgbClr val="000000"/>
                          </a:solidFill>
                          <a:effectLst/>
                          <a:latin typeface="Aptos Narrow" panose="020B0004020202020204" pitchFamily="34" charset="0"/>
                        </a:rPr>
                        <a:t>Data Platform Pre-Sales (Assessment and POV)</a:t>
                      </a:r>
                      <a:endParaRPr lang="en-US" sz="800" b="0" i="0" u="none" strike="noStrike" dirty="0">
                        <a:solidFill>
                          <a:srgbClr val="000000"/>
                        </a:solidFill>
                        <a:effectLst/>
                        <a:latin typeface="Aptos Narrow" panose="020B0004020202020204" pitchFamily="34" charset="0"/>
                      </a:endParaRP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FF1CB"/>
                    </a:solidFill>
                  </a:tcPr>
                </a:tc>
                <a:tc>
                  <a:txBody>
                    <a:bodyPr/>
                    <a:lstStyle/>
                    <a:p>
                      <a:pPr algn="l" fontAlgn="t">
                        <a:buNone/>
                      </a:pPr>
                      <a:r>
                        <a:rPr lang="en-US" sz="800" b="0" i="0" u="none" strike="noStrike" dirty="0">
                          <a:solidFill>
                            <a:srgbClr val="000000"/>
                          </a:solidFill>
                          <a:effectLst/>
                          <a:latin typeface="Aptos Narrow" panose="020B0004020202020204" pitchFamily="34" charset="0"/>
                        </a:rPr>
                        <a:t>Azure Accelerate: </a:t>
                      </a:r>
                      <a:r>
                        <a:rPr lang="en-US" sz="800" b="1" i="0" u="none" strike="noStrike" dirty="0">
                          <a:solidFill>
                            <a:srgbClr val="000000"/>
                          </a:solidFill>
                          <a:effectLst/>
                          <a:latin typeface="Aptos Narrow" panose="020B0004020202020204" pitchFamily="34" charset="0"/>
                        </a:rPr>
                        <a:t>Data Platform</a:t>
                      </a:r>
                      <a:endParaRPr lang="en-US" sz="800" b="0" i="0" u="none" strike="noStrike" dirty="0">
                        <a:solidFill>
                          <a:srgbClr val="000000"/>
                        </a:solidFill>
                        <a:effectLst/>
                        <a:latin typeface="Aptos Narrow" panose="020B0004020202020204" pitchFamily="34" charset="0"/>
                      </a:endParaRP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FF1CB"/>
                    </a:solidFill>
                  </a:tcPr>
                </a:tc>
                <a:tc>
                  <a:txBody>
                    <a:bodyPr/>
                    <a:lstStyle/>
                    <a:p>
                      <a:pPr algn="l" fontAlgn="t">
                        <a:buNone/>
                      </a:pPr>
                      <a:r>
                        <a:rPr lang="en-US" sz="800" b="0" i="0" u="none" strike="noStrike" dirty="0">
                          <a:solidFill>
                            <a:srgbClr val="000000"/>
                          </a:solidFill>
                          <a:effectLst/>
                          <a:latin typeface="Aptos Narrow" panose="020B0004020202020204" pitchFamily="34" charset="0"/>
                        </a:rPr>
                        <a:t>Microsoft Fabric, Azure Databricks</a:t>
                      </a: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FF1CB"/>
                    </a:solidFill>
                  </a:tcPr>
                </a:tc>
                <a:tc>
                  <a:txBody>
                    <a:bodyPr/>
                    <a:lstStyle/>
                    <a:p>
                      <a:pPr marL="0" marR="0">
                        <a:buNone/>
                      </a:pPr>
                      <a:r>
                        <a:rPr lang="en-US" sz="800" b="1" i="0" dirty="0">
                          <a:solidFill>
                            <a:srgbClr val="000000"/>
                          </a:solidFill>
                          <a:effectLst/>
                          <a:latin typeface="Aptos Narrow" panose="020B0004020202020204" pitchFamily="34" charset="0"/>
                        </a:rPr>
                        <a:t>[Motion 2] </a:t>
                      </a:r>
                      <a:r>
                        <a:rPr lang="en-US" sz="800" dirty="0">
                          <a:solidFill>
                            <a:srgbClr val="000000"/>
                          </a:solidFill>
                          <a:effectLst/>
                          <a:latin typeface="Aptos Narrow" panose="020B0004020202020204" pitchFamily="34" charset="0"/>
                        </a:rPr>
                        <a:t>Rackspace’s Fabric specialists interview Macaron Insurance’s reporting team and map the current SSRS/SSIS landscape.</a:t>
                      </a:r>
                    </a:p>
                    <a:p>
                      <a:pPr marL="0" marR="0">
                        <a:buNone/>
                      </a:pPr>
                      <a:r>
                        <a:rPr lang="en-US" sz="800" dirty="0">
                          <a:solidFill>
                            <a:srgbClr val="000000"/>
                          </a:solidFill>
                          <a:effectLst/>
                          <a:latin typeface="Aptos Narrow" panose="020B0004020202020204" pitchFamily="34" charset="0"/>
                        </a:rPr>
                        <a:t> </a:t>
                      </a:r>
                    </a:p>
                    <a:p>
                      <a:r>
                        <a:rPr lang="en-US" sz="800" dirty="0">
                          <a:solidFill>
                            <a:srgbClr val="000000"/>
                          </a:solidFill>
                          <a:effectLst/>
                          <a:latin typeface="Aptos Narrow" panose="020B0004020202020204" pitchFamily="34" charset="0"/>
                        </a:rPr>
                        <a:t>POV: Rackspace conducts an assessment &amp; provides a proof of value (POV) for </a:t>
                      </a:r>
                      <a:r>
                        <a:rPr lang="en-US" sz="800" dirty="0">
                          <a:solidFill>
                            <a:srgbClr val="000000"/>
                          </a:solidFill>
                          <a:latin typeface="Aptos Narrow" panose="020B0004020202020204" pitchFamily="34" charset="0"/>
                        </a:rPr>
                        <a:t>Macaron Insurance</a:t>
                      </a:r>
                      <a:r>
                        <a:rPr lang="en-US" sz="800" dirty="0">
                          <a:solidFill>
                            <a:srgbClr val="000000"/>
                          </a:solidFill>
                          <a:effectLst/>
                          <a:latin typeface="Aptos Narrow" panose="020B0004020202020204" pitchFamily="34" charset="0"/>
                        </a:rPr>
                        <a:t>'s Analytics project, demonstrating that Azure offers the right tools to integrate Azure Analytics. Rackspace uses Microsoft Fabric (incl. Power BI) and/or Azure Databricks and leverages CAF/WAF principles to build and deploy the customer POV project. Rackspace uses Azure Migrate or Dr. Migrate to create an assessment report. POV activities include:</a:t>
                      </a:r>
                    </a:p>
                    <a:p>
                      <a:pPr marL="0" marR="0">
                        <a:buNone/>
                      </a:pPr>
                      <a:r>
                        <a:rPr lang="en-US" sz="800" dirty="0">
                          <a:solidFill>
                            <a:srgbClr val="000000"/>
                          </a:solidFill>
                          <a:effectLst/>
                          <a:latin typeface="Aptos Narrow" panose="020B0004020202020204" pitchFamily="34" charset="0"/>
                        </a:rPr>
                        <a:t> </a:t>
                      </a:r>
                    </a:p>
                    <a:p>
                      <a:pPr marL="1028700" marR="0">
                        <a:buNone/>
                      </a:pPr>
                      <a:r>
                        <a:rPr lang="en-US" sz="800" dirty="0">
                          <a:solidFill>
                            <a:srgbClr val="000000"/>
                          </a:solidFill>
                          <a:effectLst/>
                          <a:latin typeface="Aptos Narrow" panose="020B0004020202020204" pitchFamily="34" charset="0"/>
                        </a:rPr>
                        <a:t>·       Ingest sample claims data into Microsoft Fabric</a:t>
                      </a:r>
                    </a:p>
                    <a:p>
                      <a:pPr marL="1028700" marR="0">
                        <a:buNone/>
                      </a:pPr>
                      <a:r>
                        <a:rPr lang="en-US" sz="800" dirty="0">
                          <a:solidFill>
                            <a:srgbClr val="000000"/>
                          </a:solidFill>
                          <a:effectLst/>
                          <a:latin typeface="Aptos Narrow" panose="020B0004020202020204" pitchFamily="34" charset="0"/>
                        </a:rPr>
                        <a:t>·       Build a Lakehouse with a pipeline feeding a Power BI model</a:t>
                      </a:r>
                    </a:p>
                    <a:p>
                      <a:pPr marL="1028700" marR="0">
                        <a:buNone/>
                      </a:pPr>
                      <a:r>
                        <a:rPr lang="en-US" sz="800" dirty="0">
                          <a:solidFill>
                            <a:srgbClr val="000000"/>
                          </a:solidFill>
                          <a:effectLst/>
                          <a:latin typeface="Aptos Narrow" panose="020B0004020202020204" pitchFamily="34" charset="0"/>
                        </a:rPr>
                        <a:t>·       Replace a static monthly report with near‑real‑time insights</a:t>
                      </a: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FF1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chemeClr val="tx2"/>
                          </a:solidFill>
                          <a:effectLst/>
                          <a:latin typeface="Aptos Narrow" panose="020B0004020202020204" pitchFamily="34" charset="0"/>
                        </a:rPr>
                        <a:t>$25K Planned Year 1 ACR </a:t>
                      </a:r>
                      <a:r>
                        <a:rPr lang="en-US" sz="800" b="1" dirty="0">
                          <a:solidFill>
                            <a:srgbClr val="000000"/>
                          </a:solidFill>
                          <a:effectLst/>
                          <a:latin typeface="Aptos Narrow" panose="020B0004020202020204" pitchFamily="34" charset="0"/>
                        </a:rPr>
                        <a:t>= </a:t>
                      </a:r>
                      <a:r>
                        <a:rPr lang="en-US" sz="800" b="1" dirty="0">
                          <a:solidFill>
                            <a:srgbClr val="00B050"/>
                          </a:solidFill>
                          <a:effectLst/>
                          <a:latin typeface="Aptos Narrow" panose="020B0004020202020204" pitchFamily="34" charset="0"/>
                        </a:rPr>
                        <a:t>$21,500 </a:t>
                      </a:r>
                      <a:r>
                        <a:rPr lang="en-US" sz="800" b="1" dirty="0">
                          <a:solidFill>
                            <a:srgbClr val="000000"/>
                          </a:solidFill>
                          <a:effectLst/>
                          <a:latin typeface="Aptos Narrow" panose="020B0004020202020204" pitchFamily="34" charset="0"/>
                        </a:rPr>
                        <a:t>total funding </a:t>
                      </a:r>
                      <a:r>
                        <a:rPr lang="en-US" sz="800" b="0" dirty="0">
                          <a:solidFill>
                            <a:srgbClr val="000000"/>
                          </a:solidFill>
                          <a:effectLst/>
                          <a:latin typeface="Aptos Narrow" panose="020B0004020202020204" pitchFamily="34" charset="0"/>
                        </a:rPr>
                        <a:t>for</a:t>
                      </a:r>
                      <a:r>
                        <a:rPr lang="en-US" sz="800" b="1" dirty="0">
                          <a:solidFill>
                            <a:srgbClr val="000000"/>
                          </a:solidFill>
                          <a:effectLst/>
                          <a:latin typeface="Aptos Narrow" panose="020B0004020202020204" pitchFamily="34" charset="0"/>
                        </a:rPr>
                        <a:t> </a:t>
                      </a:r>
                      <a:r>
                        <a:rPr lang="en-US" sz="800" b="1" u="sng" dirty="0">
                          <a:solidFill>
                            <a:srgbClr val="000000"/>
                          </a:solidFill>
                          <a:effectLst/>
                          <a:latin typeface="Aptos Narrow" panose="020B0004020202020204" pitchFamily="34" charset="0"/>
                        </a:rPr>
                        <a:t>Pre</a:t>
                      </a:r>
                      <a:r>
                        <a:rPr lang="en-US" sz="800" b="1" dirty="0">
                          <a:solidFill>
                            <a:srgbClr val="000000"/>
                          </a:solidFill>
                          <a:effectLst/>
                          <a:latin typeface="Aptos Narrow" panose="020B0004020202020204" pitchFamily="34" charset="0"/>
                        </a:rPr>
                        <a:t>-Sales + </a:t>
                      </a:r>
                      <a:r>
                        <a:rPr lang="en-US" sz="800" b="1" u="sng" dirty="0">
                          <a:solidFill>
                            <a:srgbClr val="000000"/>
                          </a:solidFill>
                          <a:effectLst/>
                          <a:latin typeface="Aptos Narrow" panose="020B0004020202020204" pitchFamily="34" charset="0"/>
                        </a:rPr>
                        <a:t>Post</a:t>
                      </a:r>
                      <a:r>
                        <a:rPr lang="en-US" sz="800" b="1" dirty="0">
                          <a:solidFill>
                            <a:srgbClr val="000000"/>
                          </a:solidFill>
                          <a:effectLst/>
                          <a:latin typeface="Aptos Narrow" panose="020B0004020202020204" pitchFamily="34" charset="0"/>
                        </a:rPr>
                        <a:t>-Sales</a:t>
                      </a:r>
                      <a:endParaRPr lang="en-US" sz="800" dirty="0">
                        <a:solidFill>
                          <a:srgbClr val="000000"/>
                        </a:solidFill>
                        <a:effectLst/>
                        <a:latin typeface="Aptos Narrow"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000000"/>
                          </a:solidFill>
                          <a:effectLst/>
                          <a:latin typeface="Aptos Narrow" panose="020B00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000000"/>
                          </a:solidFill>
                          <a:effectLst/>
                          <a:latin typeface="Aptos Narrow" panose="020B0004020202020204" pitchFamily="34" charset="0"/>
                        </a:rPr>
                        <a:t> </a:t>
                      </a:r>
                      <a:r>
                        <a:rPr lang="en-US" sz="800" b="1" kern="1200" dirty="0">
                          <a:solidFill>
                            <a:srgbClr val="000000"/>
                          </a:solidFill>
                          <a:effectLst/>
                          <a:latin typeface="Aptos Narrow" panose="020B0004020202020204" pitchFamily="34" charset="0"/>
                          <a:ea typeface="+mn-ea"/>
                          <a:cs typeface="+mn-cs"/>
                        </a:rPr>
                        <a:t>$15,000 </a:t>
                      </a:r>
                      <a:r>
                        <a:rPr lang="en-US" sz="800" b="1" dirty="0">
                          <a:solidFill>
                            <a:srgbClr val="000000"/>
                          </a:solidFill>
                          <a:effectLst/>
                          <a:latin typeface="Aptos Narrow" panose="020B0004020202020204" pitchFamily="34" charset="0"/>
                        </a:rPr>
                        <a:t>funding </a:t>
                      </a:r>
                      <a:r>
                        <a:rPr lang="en-US" sz="800" b="0" dirty="0">
                          <a:solidFill>
                            <a:srgbClr val="000000"/>
                          </a:solidFill>
                          <a:effectLst/>
                          <a:latin typeface="Aptos Narrow" panose="020B0004020202020204" pitchFamily="34" charset="0"/>
                        </a:rPr>
                        <a:t>for </a:t>
                      </a:r>
                      <a:r>
                        <a:rPr lang="en-US" sz="800" b="1" u="sng" dirty="0">
                          <a:solidFill>
                            <a:srgbClr val="000000"/>
                          </a:solidFill>
                          <a:effectLst/>
                          <a:latin typeface="Aptos Narrow" panose="020B0004020202020204" pitchFamily="34" charset="0"/>
                        </a:rPr>
                        <a:t>Pre</a:t>
                      </a:r>
                      <a:r>
                        <a:rPr lang="en-US" sz="800" b="1" dirty="0">
                          <a:solidFill>
                            <a:srgbClr val="000000"/>
                          </a:solidFill>
                          <a:effectLst/>
                          <a:latin typeface="Aptos Narrow" panose="020B0004020202020204" pitchFamily="34" charset="0"/>
                        </a:rPr>
                        <a:t>-Sales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000000"/>
                          </a:solidFill>
                          <a:effectLst/>
                          <a:latin typeface="Aptos Narrow" panose="020B0004020202020204" pitchFamily="34" charset="0"/>
                        </a:rPr>
                        <a:t>+ </a:t>
                      </a:r>
                      <a:r>
                        <a:rPr lang="en-US" sz="800" b="1" kern="1200" dirty="0">
                          <a:solidFill>
                            <a:srgbClr val="000000"/>
                          </a:solidFill>
                          <a:effectLst/>
                          <a:latin typeface="Aptos Narrow" panose="020B0004020202020204" pitchFamily="34" charset="0"/>
                          <a:ea typeface="+mn-ea"/>
                          <a:cs typeface="+mn-cs"/>
                        </a:rPr>
                        <a:t>$6,500   funding </a:t>
                      </a:r>
                      <a:r>
                        <a:rPr lang="en-US" sz="800" b="0" dirty="0">
                          <a:solidFill>
                            <a:srgbClr val="000000"/>
                          </a:solidFill>
                          <a:effectLst/>
                          <a:latin typeface="Aptos Narrow" panose="020B0004020202020204" pitchFamily="34" charset="0"/>
                        </a:rPr>
                        <a:t>for </a:t>
                      </a:r>
                      <a:r>
                        <a:rPr lang="en-US" sz="800" b="1" u="sng" dirty="0">
                          <a:solidFill>
                            <a:srgbClr val="000000"/>
                          </a:solidFill>
                          <a:effectLst/>
                          <a:latin typeface="Aptos Narrow" panose="020B0004020202020204" pitchFamily="34" charset="0"/>
                        </a:rPr>
                        <a:t>Post</a:t>
                      </a:r>
                      <a:r>
                        <a:rPr lang="en-US" sz="800" b="1" dirty="0">
                          <a:solidFill>
                            <a:srgbClr val="000000"/>
                          </a:solidFill>
                          <a:effectLst/>
                          <a:latin typeface="Aptos Narrow" panose="020B0004020202020204" pitchFamily="34" charset="0"/>
                        </a:rPr>
                        <a:t>-Sales</a:t>
                      </a:r>
                      <a:endParaRPr lang="en-US" sz="800" dirty="0">
                        <a:effectLst/>
                        <a:latin typeface="Aptos Narrow" panose="020B0004020202020204" pitchFamily="34" charset="0"/>
                      </a:endParaRPr>
                    </a:p>
                  </a:txBody>
                  <a:tcPr marL="45720" marR="45720">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DFF1CB"/>
                    </a:solidFill>
                  </a:tcPr>
                </a:tc>
                <a:extLst>
                  <a:ext uri="{0D108BD9-81ED-4DB2-BD59-A6C34878D82A}">
                    <a16:rowId xmlns:a16="http://schemas.microsoft.com/office/drawing/2014/main" val="3324875805"/>
                  </a:ext>
                </a:extLst>
              </a:tr>
              <a:tr h="1267669">
                <a:tc>
                  <a:txBody>
                    <a:bodyPr/>
                    <a:lstStyle/>
                    <a:p>
                      <a:pPr algn="l" fontAlgn="t">
                        <a:buNone/>
                      </a:pPr>
                      <a:r>
                        <a:rPr lang="en-US" sz="800" b="0" i="0" u="none" strike="noStrike" dirty="0">
                          <a:solidFill>
                            <a:srgbClr val="000000"/>
                          </a:solidFill>
                          <a:effectLst/>
                          <a:latin typeface="Aptos Narrow" panose="020B0004020202020204" pitchFamily="34" charset="0"/>
                        </a:rPr>
                        <a:t>Azure Accelerate: </a:t>
                      </a:r>
                      <a:r>
                        <a:rPr lang="en-US" sz="800" b="1" i="0" u="none" strike="noStrike" dirty="0">
                          <a:solidFill>
                            <a:srgbClr val="000000"/>
                          </a:solidFill>
                          <a:effectLst/>
                          <a:latin typeface="Aptos Narrow" panose="020B0004020202020204" pitchFamily="34" charset="0"/>
                        </a:rPr>
                        <a:t>AI Apps, Agents and Developer Pre-Sales (Assessment and POV)</a:t>
                      </a:r>
                      <a:endParaRPr lang="en-US" sz="800" b="0" i="0" u="none" strike="noStrike" dirty="0">
                        <a:solidFill>
                          <a:srgbClr val="000000"/>
                        </a:solidFill>
                        <a:effectLst/>
                        <a:latin typeface="Aptos Narrow" panose="020B0004020202020204" pitchFamily="34" charset="0"/>
                      </a:endParaRP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DDFF"/>
                    </a:solidFill>
                  </a:tcPr>
                </a:tc>
                <a:tc>
                  <a:txBody>
                    <a:bodyPr/>
                    <a:lstStyle/>
                    <a:p>
                      <a:pPr algn="l" fontAlgn="t">
                        <a:buNone/>
                      </a:pPr>
                      <a:r>
                        <a:rPr lang="en-US" sz="800" b="0" i="0" u="none" strike="noStrike" dirty="0">
                          <a:solidFill>
                            <a:srgbClr val="000000"/>
                          </a:solidFill>
                          <a:effectLst/>
                          <a:latin typeface="Aptos Narrow" panose="020B0004020202020204" pitchFamily="34" charset="0"/>
                        </a:rPr>
                        <a:t>Azure Accelerate: </a:t>
                      </a:r>
                      <a:r>
                        <a:rPr lang="en-US" sz="800" b="1" i="0" u="none" strike="noStrike" dirty="0">
                          <a:solidFill>
                            <a:srgbClr val="000000"/>
                          </a:solidFill>
                          <a:effectLst/>
                          <a:latin typeface="Aptos Narrow" panose="020B0004020202020204" pitchFamily="34" charset="0"/>
                        </a:rPr>
                        <a:t>AI Apps, Agents and Developer</a:t>
                      </a:r>
                      <a:endParaRPr lang="en-US" sz="800" b="0" i="0" u="none" strike="noStrike" dirty="0">
                        <a:solidFill>
                          <a:srgbClr val="000000"/>
                        </a:solidFill>
                        <a:effectLst/>
                        <a:latin typeface="Aptos Narrow" panose="020B0004020202020204" pitchFamily="34" charset="0"/>
                      </a:endParaRP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DDFF"/>
                    </a:solidFill>
                  </a:tcPr>
                </a:tc>
                <a:tc>
                  <a:txBody>
                    <a:bodyPr/>
                    <a:lstStyle/>
                    <a:p>
                      <a:pPr algn="l" fontAlgn="t">
                        <a:buNone/>
                      </a:pPr>
                      <a:r>
                        <a:rPr lang="en-US" sz="800" b="0" i="0" u="none" strike="noStrike" dirty="0">
                          <a:solidFill>
                            <a:srgbClr val="000000"/>
                          </a:solidFill>
                          <a:effectLst/>
                          <a:latin typeface="Aptos Narrow" panose="020B0004020202020204" pitchFamily="34" charset="0"/>
                        </a:rPr>
                        <a:t>Azure AI Foundry &amp; Platform (Agents and Models), Azure Kubernetes Service (AKS), Azure App Service, Azure Open AI, Azure AI Services, Developer (GitHub Enterprise, GitHub Advanced Security, GitHub Copilot, GitHub Actions, GitHub Codespaces etc.), plus complementary products</a:t>
                      </a: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DDFF"/>
                    </a:solidFill>
                  </a:tcPr>
                </a:tc>
                <a:tc>
                  <a:txBody>
                    <a:bodyPr/>
                    <a:lstStyle/>
                    <a:p>
                      <a:pPr marL="0" marR="0">
                        <a:buNone/>
                      </a:pPr>
                      <a:r>
                        <a:rPr lang="en-US" sz="800" b="1" i="0" dirty="0">
                          <a:solidFill>
                            <a:srgbClr val="000000"/>
                          </a:solidFill>
                          <a:effectLst/>
                          <a:latin typeface="Aptos Narrow" panose="020B0004020202020204" pitchFamily="34" charset="0"/>
                        </a:rPr>
                        <a:t>[Motion 3] </a:t>
                      </a:r>
                      <a:r>
                        <a:rPr lang="en-US" sz="800" dirty="0">
                          <a:solidFill>
                            <a:srgbClr val="000000"/>
                          </a:solidFill>
                          <a:effectLst/>
                          <a:latin typeface="Aptos Narrow" panose="020B0004020202020204" pitchFamily="34" charset="0"/>
                        </a:rPr>
                        <a:t>Macaron </a:t>
                      </a:r>
                      <a:r>
                        <a:rPr lang="en-US" sz="800" dirty="0">
                          <a:solidFill>
                            <a:srgbClr val="000000"/>
                          </a:solidFill>
                          <a:latin typeface="Aptos Narrow" panose="020B0004020202020204" pitchFamily="34" charset="0"/>
                        </a:rPr>
                        <a:t>Insurance </a:t>
                      </a:r>
                      <a:r>
                        <a:rPr lang="en-US" sz="800" dirty="0">
                          <a:solidFill>
                            <a:srgbClr val="000000"/>
                          </a:solidFill>
                          <a:effectLst/>
                          <a:latin typeface="Aptos Narrow" panose="020B0004020202020204" pitchFamily="34" charset="0"/>
                        </a:rPr>
                        <a:t>wants to reduce average claims handling time by automating document prep.</a:t>
                      </a:r>
                    </a:p>
                    <a:p>
                      <a:pPr marL="0" marR="0">
                        <a:buNone/>
                      </a:pPr>
                      <a:r>
                        <a:rPr lang="en-US" sz="800" dirty="0">
                          <a:solidFill>
                            <a:srgbClr val="000000"/>
                          </a:solidFill>
                          <a:effectLst/>
                          <a:latin typeface="Aptos Narrow" panose="020B0004020202020204" pitchFamily="34" charset="0"/>
                        </a:rPr>
                        <a:t> </a:t>
                      </a:r>
                    </a:p>
                    <a:p>
                      <a:pPr marL="0" marR="0">
                        <a:buNone/>
                      </a:pPr>
                      <a:r>
                        <a:rPr lang="en-US" sz="800" dirty="0">
                          <a:solidFill>
                            <a:srgbClr val="000000"/>
                          </a:solidFill>
                          <a:effectLst/>
                          <a:latin typeface="Aptos Narrow" panose="020B0004020202020204" pitchFamily="34" charset="0"/>
                        </a:rPr>
                        <a:t>POV: Rackspace performs specific milestones in the project through the following activities:</a:t>
                      </a:r>
                    </a:p>
                    <a:p>
                      <a:pPr marL="1028700" marR="0">
                        <a:buNone/>
                      </a:pPr>
                      <a:r>
                        <a:rPr lang="en-US" sz="800" dirty="0">
                          <a:solidFill>
                            <a:srgbClr val="000000"/>
                          </a:solidFill>
                          <a:effectLst/>
                          <a:latin typeface="Aptos Narrow" panose="020B0004020202020204" pitchFamily="34" charset="0"/>
                        </a:rPr>
                        <a:t>1.      Identifies a customer application or use case and define business needs for innovation for that app using Azure app, data, agents and AI services. In this case, the need for a claims summarizer agent was uncovered.</a:t>
                      </a:r>
                    </a:p>
                    <a:p>
                      <a:pPr marL="1028700" marR="0">
                        <a:buNone/>
                      </a:pPr>
                      <a:r>
                        <a:rPr lang="en-US" sz="800" dirty="0">
                          <a:solidFill>
                            <a:srgbClr val="000000"/>
                          </a:solidFill>
                          <a:effectLst/>
                          <a:latin typeface="Aptos Narrow" panose="020B0004020202020204" pitchFamily="34" charset="0"/>
                        </a:rPr>
                        <a:t>2.      Perform POV and assessment deployment of application(s) on Azure.</a:t>
                      </a:r>
                    </a:p>
                    <a:p>
                      <a:pPr marL="1028700" marR="0">
                        <a:buNone/>
                      </a:pPr>
                      <a:r>
                        <a:rPr lang="en-US" sz="800" dirty="0">
                          <a:solidFill>
                            <a:srgbClr val="000000"/>
                          </a:solidFill>
                          <a:effectLst/>
                          <a:latin typeface="Aptos Narrow" panose="020B0004020202020204" pitchFamily="34" charset="0"/>
                        </a:rPr>
                        <a:t>3.      Based on the outcome of POV develop a comprehensive deployment plan and assessment. Rackspace uses Azure Migrate or Dr. Migrate to create an assessment report and leverage CAF/WAF principles in any POV deployments.</a:t>
                      </a:r>
                    </a:p>
                    <a:p>
                      <a:pPr marL="0" marR="0">
                        <a:buNone/>
                      </a:pPr>
                      <a:r>
                        <a:rPr lang="en-US" sz="800" dirty="0">
                          <a:solidFill>
                            <a:srgbClr val="000000"/>
                          </a:solidFill>
                          <a:effectLst/>
                          <a:latin typeface="Aptos Narrow" panose="020B0004020202020204" pitchFamily="34" charset="0"/>
                        </a:rPr>
                        <a:t> </a:t>
                      </a:r>
                    </a:p>
                    <a:p>
                      <a:pPr marL="0" marR="0">
                        <a:buNone/>
                      </a:pPr>
                      <a:r>
                        <a:rPr lang="en-US" sz="800" dirty="0">
                          <a:solidFill>
                            <a:srgbClr val="000000"/>
                          </a:solidFill>
                          <a:effectLst/>
                          <a:latin typeface="Aptos Narrow" panose="020B0004020202020204" pitchFamily="34" charset="0"/>
                        </a:rPr>
                        <a:t>A small Azure OpenAI‑powered claims summarizer agent built in Azure AI Foundry demonstrates extraction of claimant details and summarizing police reports.</a:t>
                      </a:r>
                    </a:p>
                  </a:txBody>
                  <a:tcPr marL="45720" marR="45720">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DD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chemeClr val="tx2"/>
                          </a:solidFill>
                          <a:effectLst/>
                          <a:latin typeface="Aptos Narrow" panose="020B0004020202020204" pitchFamily="34" charset="0"/>
                        </a:rPr>
                        <a:t>$25K Planned Year 1 ACR</a:t>
                      </a:r>
                      <a:r>
                        <a:rPr lang="en-US" sz="800" dirty="0">
                          <a:solidFill>
                            <a:srgbClr val="000000"/>
                          </a:solidFill>
                          <a:effectLst/>
                          <a:latin typeface="Aptos Narrow" panose="020B0004020202020204" pitchFamily="34" charset="0"/>
                        </a:rPr>
                        <a:t> </a:t>
                      </a:r>
                      <a:r>
                        <a:rPr lang="en-US" sz="800" b="1" dirty="0">
                          <a:solidFill>
                            <a:srgbClr val="000000"/>
                          </a:solidFill>
                          <a:effectLst/>
                          <a:latin typeface="Aptos Narrow" panose="020B0004020202020204" pitchFamily="34" charset="0"/>
                        </a:rPr>
                        <a:t>= </a:t>
                      </a:r>
                      <a:r>
                        <a:rPr lang="en-US" sz="800" b="1" dirty="0">
                          <a:solidFill>
                            <a:srgbClr val="00B050"/>
                          </a:solidFill>
                          <a:effectLst/>
                          <a:latin typeface="Aptos Narrow" panose="020B0004020202020204" pitchFamily="34" charset="0"/>
                        </a:rPr>
                        <a:t>$21,500 </a:t>
                      </a:r>
                      <a:r>
                        <a:rPr lang="en-US" sz="800" b="1" dirty="0">
                          <a:solidFill>
                            <a:srgbClr val="000000"/>
                          </a:solidFill>
                          <a:effectLst/>
                          <a:latin typeface="Aptos Narrow" panose="020B0004020202020204" pitchFamily="34" charset="0"/>
                        </a:rPr>
                        <a:t>total funding </a:t>
                      </a:r>
                      <a:r>
                        <a:rPr lang="en-US" sz="800" b="0" dirty="0">
                          <a:solidFill>
                            <a:srgbClr val="000000"/>
                          </a:solidFill>
                          <a:effectLst/>
                          <a:latin typeface="Aptos Narrow" panose="020B0004020202020204" pitchFamily="34" charset="0"/>
                        </a:rPr>
                        <a:t>for</a:t>
                      </a:r>
                      <a:r>
                        <a:rPr lang="en-US" sz="800" b="1" dirty="0">
                          <a:solidFill>
                            <a:srgbClr val="000000"/>
                          </a:solidFill>
                          <a:effectLst/>
                          <a:latin typeface="Aptos Narrow" panose="020B0004020202020204" pitchFamily="34" charset="0"/>
                        </a:rPr>
                        <a:t> </a:t>
                      </a:r>
                      <a:r>
                        <a:rPr lang="en-US" sz="800" b="1" u="sng" dirty="0">
                          <a:solidFill>
                            <a:srgbClr val="000000"/>
                          </a:solidFill>
                          <a:effectLst/>
                          <a:latin typeface="Aptos Narrow" panose="020B0004020202020204" pitchFamily="34" charset="0"/>
                        </a:rPr>
                        <a:t>Pre</a:t>
                      </a:r>
                      <a:r>
                        <a:rPr lang="en-US" sz="800" b="1" dirty="0">
                          <a:solidFill>
                            <a:srgbClr val="000000"/>
                          </a:solidFill>
                          <a:effectLst/>
                          <a:latin typeface="Aptos Narrow" panose="020B0004020202020204" pitchFamily="34" charset="0"/>
                        </a:rPr>
                        <a:t>-Sales + </a:t>
                      </a:r>
                      <a:r>
                        <a:rPr lang="en-US" sz="800" b="1" u="sng" dirty="0">
                          <a:solidFill>
                            <a:srgbClr val="000000"/>
                          </a:solidFill>
                          <a:effectLst/>
                          <a:latin typeface="Aptos Narrow" panose="020B0004020202020204" pitchFamily="34" charset="0"/>
                        </a:rPr>
                        <a:t>Post</a:t>
                      </a:r>
                      <a:r>
                        <a:rPr lang="en-US" sz="800" b="1" dirty="0">
                          <a:solidFill>
                            <a:srgbClr val="000000"/>
                          </a:solidFill>
                          <a:effectLst/>
                          <a:latin typeface="Aptos Narrow" panose="020B0004020202020204" pitchFamily="34" charset="0"/>
                        </a:rPr>
                        <a:t>-Sales</a:t>
                      </a:r>
                      <a:endParaRPr lang="en-US" sz="800" dirty="0">
                        <a:solidFill>
                          <a:srgbClr val="000000"/>
                        </a:solidFill>
                        <a:effectLst/>
                        <a:latin typeface="Aptos Narrow"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000000"/>
                          </a:solidFill>
                          <a:effectLst/>
                          <a:latin typeface="Aptos Narrow" panose="020B00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000000"/>
                          </a:solidFill>
                          <a:effectLst/>
                          <a:latin typeface="Aptos Narrow" panose="020B0004020202020204" pitchFamily="34" charset="0"/>
                        </a:rPr>
                        <a:t> </a:t>
                      </a:r>
                      <a:r>
                        <a:rPr lang="en-US" sz="800" b="1" kern="1200" dirty="0">
                          <a:solidFill>
                            <a:srgbClr val="000000"/>
                          </a:solidFill>
                          <a:effectLst/>
                          <a:latin typeface="Aptos Narrow" panose="020B0004020202020204" pitchFamily="34" charset="0"/>
                          <a:ea typeface="+mn-ea"/>
                          <a:cs typeface="+mn-cs"/>
                        </a:rPr>
                        <a:t>$15,000 </a:t>
                      </a:r>
                      <a:r>
                        <a:rPr lang="en-US" sz="800" b="1" dirty="0">
                          <a:solidFill>
                            <a:srgbClr val="000000"/>
                          </a:solidFill>
                          <a:effectLst/>
                          <a:latin typeface="Aptos Narrow" panose="020B0004020202020204" pitchFamily="34" charset="0"/>
                        </a:rPr>
                        <a:t>funding </a:t>
                      </a:r>
                      <a:r>
                        <a:rPr lang="en-US" sz="800" b="0" dirty="0">
                          <a:solidFill>
                            <a:srgbClr val="000000"/>
                          </a:solidFill>
                          <a:effectLst/>
                          <a:latin typeface="Aptos Narrow" panose="020B0004020202020204" pitchFamily="34" charset="0"/>
                        </a:rPr>
                        <a:t>for </a:t>
                      </a:r>
                      <a:r>
                        <a:rPr lang="en-US" sz="800" b="1" u="sng" dirty="0">
                          <a:solidFill>
                            <a:srgbClr val="000000"/>
                          </a:solidFill>
                          <a:effectLst/>
                          <a:latin typeface="Aptos Narrow" panose="020B0004020202020204" pitchFamily="34" charset="0"/>
                        </a:rPr>
                        <a:t>Pre</a:t>
                      </a:r>
                      <a:r>
                        <a:rPr lang="en-US" sz="800" b="1" dirty="0">
                          <a:solidFill>
                            <a:srgbClr val="000000"/>
                          </a:solidFill>
                          <a:effectLst/>
                          <a:latin typeface="Aptos Narrow" panose="020B0004020202020204" pitchFamily="34" charset="0"/>
                        </a:rPr>
                        <a:t>-Sales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dirty="0">
                          <a:solidFill>
                            <a:srgbClr val="000000"/>
                          </a:solidFill>
                          <a:effectLst/>
                          <a:latin typeface="Aptos Narrow" panose="020B0004020202020204" pitchFamily="34" charset="0"/>
                        </a:rPr>
                        <a:t>+ </a:t>
                      </a:r>
                      <a:r>
                        <a:rPr lang="en-US" sz="800" b="1" kern="1200" dirty="0">
                          <a:solidFill>
                            <a:srgbClr val="000000"/>
                          </a:solidFill>
                          <a:effectLst/>
                          <a:latin typeface="Aptos Narrow" panose="020B0004020202020204" pitchFamily="34" charset="0"/>
                          <a:ea typeface="+mn-ea"/>
                          <a:cs typeface="+mn-cs"/>
                        </a:rPr>
                        <a:t>$6,500   funding </a:t>
                      </a:r>
                      <a:r>
                        <a:rPr lang="en-US" sz="800" b="0" dirty="0">
                          <a:solidFill>
                            <a:srgbClr val="000000"/>
                          </a:solidFill>
                          <a:effectLst/>
                          <a:latin typeface="Aptos Narrow" panose="020B0004020202020204" pitchFamily="34" charset="0"/>
                        </a:rPr>
                        <a:t>for </a:t>
                      </a:r>
                      <a:r>
                        <a:rPr lang="en-US" sz="800" b="1" u="sng" dirty="0">
                          <a:solidFill>
                            <a:srgbClr val="000000"/>
                          </a:solidFill>
                          <a:effectLst/>
                          <a:latin typeface="Aptos Narrow" panose="020B0004020202020204" pitchFamily="34" charset="0"/>
                        </a:rPr>
                        <a:t>Post</a:t>
                      </a:r>
                      <a:r>
                        <a:rPr lang="en-US" sz="800" b="1" dirty="0">
                          <a:solidFill>
                            <a:srgbClr val="000000"/>
                          </a:solidFill>
                          <a:effectLst/>
                          <a:latin typeface="Aptos Narrow" panose="020B0004020202020204" pitchFamily="34" charset="0"/>
                        </a:rPr>
                        <a:t>-Sales</a:t>
                      </a:r>
                      <a:endParaRPr lang="en-US" sz="800" dirty="0">
                        <a:solidFill>
                          <a:srgbClr val="000000"/>
                        </a:solidFill>
                        <a:effectLst/>
                        <a:latin typeface="Aptos Narrow" panose="020B0004020202020204" pitchFamily="34" charset="0"/>
                      </a:endParaRPr>
                    </a:p>
                    <a:p>
                      <a:pPr marL="0" marR="0">
                        <a:buNone/>
                      </a:pPr>
                      <a:endParaRPr lang="en-US" sz="800" dirty="0">
                        <a:solidFill>
                          <a:srgbClr val="000000"/>
                        </a:solidFill>
                        <a:effectLst/>
                        <a:latin typeface="Aptos Narrow" panose="020B0004020202020204" pitchFamily="34" charset="0"/>
                      </a:endParaRPr>
                    </a:p>
                  </a:txBody>
                  <a:tcPr marL="45720" marR="45720">
                    <a:lnL w="6350" cap="flat" cmpd="sng" algn="ctr">
                      <a:solidFill>
                        <a:srgbClr val="80808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80808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DDFF"/>
                    </a:solidFill>
                  </a:tcPr>
                </a:tc>
                <a:extLst>
                  <a:ext uri="{0D108BD9-81ED-4DB2-BD59-A6C34878D82A}">
                    <a16:rowId xmlns:a16="http://schemas.microsoft.com/office/drawing/2014/main" val="1128710030"/>
                  </a:ext>
                </a:extLst>
              </a:tr>
            </a:tbl>
          </a:graphicData>
        </a:graphic>
      </p:graphicFrame>
      <p:sp>
        <p:nvSpPr>
          <p:cNvPr id="3" name="Rectangle: Rounded Corners 2">
            <a:extLst>
              <a:ext uri="{FF2B5EF4-FFF2-40B4-BE49-F238E27FC236}">
                <a16:creationId xmlns:a16="http://schemas.microsoft.com/office/drawing/2014/main" id="{0DC9274A-3357-A085-9E30-7FAF6626F24D}"/>
              </a:ext>
            </a:extLst>
          </p:cNvPr>
          <p:cNvSpPr/>
          <p:nvPr/>
        </p:nvSpPr>
        <p:spPr>
          <a:xfrm>
            <a:off x="53339" y="1122601"/>
            <a:ext cx="12082596" cy="901677"/>
          </a:xfrm>
          <a:prstGeom prst="roundRect">
            <a:avLst/>
          </a:prstGeom>
          <a:solidFill>
            <a:srgbClr val="FFFFCC"/>
          </a:solidFill>
          <a:ln w="19050">
            <a:solidFill>
              <a:srgbClr val="EB0000"/>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r>
              <a:rPr lang="en-US" sz="1000" b="1" dirty="0">
                <a:solidFill>
                  <a:schemeClr val="tx1"/>
                </a:solidFill>
                <a:latin typeface="Aptos Narrow" panose="020B0004020202020204" pitchFamily="34" charset="0"/>
              </a:rPr>
              <a:t>Example </a:t>
            </a:r>
            <a:r>
              <a:rPr lang="en-US" sz="1000" b="1" dirty="0">
                <a:solidFill>
                  <a:srgbClr val="000000"/>
                </a:solidFill>
                <a:latin typeface="Aptos Narrow" panose="020B0004020202020204" pitchFamily="34" charset="0"/>
              </a:rPr>
              <a:t>Customer Overview: </a:t>
            </a:r>
            <a:r>
              <a:rPr lang="en-US" sz="1000" dirty="0">
                <a:solidFill>
                  <a:srgbClr val="000000"/>
                </a:solidFill>
                <a:latin typeface="Aptos Narrow" panose="020B0004020202020204" pitchFamily="34" charset="0"/>
              </a:rPr>
              <a:t>Macaron Insurance, a mid‑market regional insurer, operates 120 on‑prem VMs running claims, actuarial models, and reporting workloads. Their CIO has 3 priorities:</a:t>
            </a:r>
          </a:p>
          <a:p>
            <a:pPr fontAlgn="ctr">
              <a:buFont typeface="Arial" panose="020B0604020202020204" pitchFamily="34" charset="0"/>
              <a:buChar char="•"/>
            </a:pPr>
            <a:r>
              <a:rPr lang="en-US" sz="1000" dirty="0">
                <a:solidFill>
                  <a:srgbClr val="000000"/>
                </a:solidFill>
                <a:latin typeface="Aptos Narrow" panose="020B0004020202020204" pitchFamily="34" charset="0"/>
              </a:rPr>
              <a:t> Reduce datacenter spend</a:t>
            </a:r>
            <a:endParaRPr lang="en-US" sz="1000" dirty="0">
              <a:latin typeface="Aptos Narrow" panose="020B0004020202020204" pitchFamily="34" charset="0"/>
            </a:endParaRPr>
          </a:p>
          <a:p>
            <a:pPr fontAlgn="ctr">
              <a:buFont typeface="Arial" panose="020B0604020202020204" pitchFamily="34" charset="0"/>
              <a:buChar char="•"/>
            </a:pPr>
            <a:r>
              <a:rPr lang="en-US" sz="1000" dirty="0">
                <a:solidFill>
                  <a:srgbClr val="000000"/>
                </a:solidFill>
                <a:latin typeface="Aptos Narrow" panose="020B0004020202020204" pitchFamily="34" charset="0"/>
              </a:rPr>
              <a:t> Improve analytics agility</a:t>
            </a:r>
            <a:endParaRPr lang="en-US" sz="1000" dirty="0">
              <a:latin typeface="Aptos Narrow" panose="020B0004020202020204" pitchFamily="34" charset="0"/>
            </a:endParaRPr>
          </a:p>
          <a:p>
            <a:pPr fontAlgn="ctr">
              <a:buFont typeface="Arial" panose="020B0604020202020204" pitchFamily="34" charset="0"/>
              <a:buChar char="•"/>
            </a:pPr>
            <a:r>
              <a:rPr lang="en-US" sz="1000" dirty="0">
                <a:solidFill>
                  <a:srgbClr val="000000"/>
                </a:solidFill>
                <a:latin typeface="Aptos Narrow" panose="020B0004020202020204" pitchFamily="34" charset="0"/>
              </a:rPr>
              <a:t> Introduce AI responsibly into core workflows</a:t>
            </a:r>
          </a:p>
          <a:p>
            <a:r>
              <a:rPr lang="en-US" sz="1000" dirty="0">
                <a:solidFill>
                  <a:srgbClr val="000000"/>
                </a:solidFill>
                <a:latin typeface="Aptos Narrow" panose="020B0004020202020204" pitchFamily="34" charset="0"/>
              </a:rPr>
              <a:t>They agree to engage Rackspace, who recommends using Azure Accelerate across 3 motions: Core Migrate &amp; Modernize, Data Platform, and AI Apps, Agents &amp; Developer.</a:t>
            </a:r>
          </a:p>
        </p:txBody>
      </p:sp>
      <p:grpSp>
        <p:nvGrpSpPr>
          <p:cNvPr id="4" name="object 26">
            <a:extLst>
              <a:ext uri="{FF2B5EF4-FFF2-40B4-BE49-F238E27FC236}">
                <a16:creationId xmlns:a16="http://schemas.microsoft.com/office/drawing/2014/main" id="{5A0300D7-E88B-8979-1622-DB89FD3548E9}"/>
              </a:ext>
            </a:extLst>
          </p:cNvPr>
          <p:cNvGrpSpPr/>
          <p:nvPr/>
        </p:nvGrpSpPr>
        <p:grpSpPr>
          <a:xfrm>
            <a:off x="1009364" y="2345083"/>
            <a:ext cx="157373" cy="161745"/>
            <a:chOff x="1487932" y="2412619"/>
            <a:chExt cx="175260" cy="256540"/>
          </a:xfrm>
          <a:solidFill>
            <a:srgbClr val="C00000"/>
          </a:solidFill>
        </p:grpSpPr>
        <p:sp>
          <p:nvSpPr>
            <p:cNvPr id="5" name="object 27">
              <a:extLst>
                <a:ext uri="{FF2B5EF4-FFF2-40B4-BE49-F238E27FC236}">
                  <a16:creationId xmlns:a16="http://schemas.microsoft.com/office/drawing/2014/main" id="{ECF1D10C-5BF8-DF9B-6A34-CE2C2C4A4BF3}"/>
                </a:ext>
              </a:extLst>
            </p:cNvPr>
            <p:cNvSpPr/>
            <p:nvPr/>
          </p:nvSpPr>
          <p:spPr>
            <a:xfrm>
              <a:off x="1487932" y="2412619"/>
              <a:ext cx="175260" cy="256540"/>
            </a:xfrm>
            <a:custGeom>
              <a:avLst/>
              <a:gdLst/>
              <a:ahLst/>
              <a:cxnLst/>
              <a:rect l="l" t="t" r="r" b="b"/>
              <a:pathLst>
                <a:path w="175260" h="256539">
                  <a:moveTo>
                    <a:pt x="145542" y="0"/>
                  </a:moveTo>
                  <a:lnTo>
                    <a:pt x="29083" y="0"/>
                  </a:lnTo>
                  <a:lnTo>
                    <a:pt x="17734" y="2295"/>
                  </a:lnTo>
                  <a:lnTo>
                    <a:pt x="8493" y="8556"/>
                  </a:lnTo>
                  <a:lnTo>
                    <a:pt x="2276" y="17841"/>
                  </a:lnTo>
                  <a:lnTo>
                    <a:pt x="0" y="29209"/>
                  </a:lnTo>
                  <a:lnTo>
                    <a:pt x="0" y="227456"/>
                  </a:lnTo>
                  <a:lnTo>
                    <a:pt x="2276" y="238752"/>
                  </a:lnTo>
                  <a:lnTo>
                    <a:pt x="8493" y="247999"/>
                  </a:lnTo>
                  <a:lnTo>
                    <a:pt x="17734" y="254246"/>
                  </a:lnTo>
                  <a:lnTo>
                    <a:pt x="29083" y="256539"/>
                  </a:lnTo>
                  <a:lnTo>
                    <a:pt x="145542" y="256539"/>
                  </a:lnTo>
                  <a:lnTo>
                    <a:pt x="156910" y="254246"/>
                  </a:lnTo>
                  <a:lnTo>
                    <a:pt x="166195" y="247999"/>
                  </a:lnTo>
                  <a:lnTo>
                    <a:pt x="172456" y="238752"/>
                  </a:lnTo>
                  <a:lnTo>
                    <a:pt x="174751" y="227456"/>
                  </a:lnTo>
                  <a:lnTo>
                    <a:pt x="174751" y="29209"/>
                  </a:lnTo>
                  <a:lnTo>
                    <a:pt x="172456" y="17841"/>
                  </a:lnTo>
                  <a:lnTo>
                    <a:pt x="166195" y="8556"/>
                  </a:lnTo>
                  <a:lnTo>
                    <a:pt x="156910" y="2295"/>
                  </a:lnTo>
                  <a:lnTo>
                    <a:pt x="145542" y="0"/>
                  </a:lnTo>
                  <a:close/>
                </a:path>
              </a:pathLst>
            </a:custGeom>
            <a:grpFill/>
          </p:spPr>
          <p:txBody>
            <a:bodyPr wrap="square" lIns="0" tIns="0" rIns="0" bIns="0" rtlCol="0"/>
            <a:lstStyle/>
            <a:p>
              <a:endParaRPr sz="1200" dirty="0"/>
            </a:p>
          </p:txBody>
        </p:sp>
        <p:sp>
          <p:nvSpPr>
            <p:cNvPr id="9" name="object 28">
              <a:extLst>
                <a:ext uri="{FF2B5EF4-FFF2-40B4-BE49-F238E27FC236}">
                  <a16:creationId xmlns:a16="http://schemas.microsoft.com/office/drawing/2014/main" id="{7C21A1BC-947E-F0CB-6641-B293B1905E65}"/>
                </a:ext>
              </a:extLst>
            </p:cNvPr>
            <p:cNvSpPr/>
            <p:nvPr/>
          </p:nvSpPr>
          <p:spPr>
            <a:xfrm>
              <a:off x="1536573" y="2453640"/>
              <a:ext cx="73025" cy="174625"/>
            </a:xfrm>
            <a:custGeom>
              <a:avLst/>
              <a:gdLst/>
              <a:ahLst/>
              <a:cxnLst/>
              <a:rect l="l" t="t" r="r" b="b"/>
              <a:pathLst>
                <a:path w="73025" h="174625">
                  <a:moveTo>
                    <a:pt x="0" y="0"/>
                  </a:moveTo>
                  <a:lnTo>
                    <a:pt x="72898" y="87249"/>
                  </a:lnTo>
                  <a:lnTo>
                    <a:pt x="0" y="174498"/>
                  </a:lnTo>
                </a:path>
              </a:pathLst>
            </a:custGeom>
            <a:grpFill/>
            <a:ln w="28575">
              <a:solidFill>
                <a:srgbClr val="FFFFFF"/>
              </a:solidFill>
            </a:ln>
          </p:spPr>
          <p:txBody>
            <a:bodyPr wrap="square" lIns="0" tIns="0" rIns="0" bIns="0" rtlCol="0"/>
            <a:lstStyle/>
            <a:p>
              <a:endParaRPr sz="1000" b="1" dirty="0"/>
            </a:p>
          </p:txBody>
        </p:sp>
      </p:grpSp>
    </p:spTree>
    <p:extLst>
      <p:ext uri="{BB962C8B-B14F-4D97-AF65-F5344CB8AC3E}">
        <p14:creationId xmlns:p14="http://schemas.microsoft.com/office/powerpoint/2010/main" val="1565235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A1C0C-EB6C-59E0-AC2D-6DA2A7DDB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D4025-7F83-6A68-7605-B788CDB861A7}"/>
              </a:ext>
            </a:extLst>
          </p:cNvPr>
          <p:cNvSpPr>
            <a:spLocks noGrp="1"/>
          </p:cNvSpPr>
          <p:nvPr>
            <p:ph type="title"/>
          </p:nvPr>
        </p:nvSpPr>
        <p:spPr>
          <a:xfrm>
            <a:off x="334496" y="268589"/>
            <a:ext cx="11495554" cy="484043"/>
          </a:xfrm>
        </p:spPr>
        <p:txBody>
          <a:bodyPr/>
          <a:lstStyle/>
          <a:p>
            <a:r>
              <a:rPr lang="en-US" b="1" dirty="0"/>
              <a:t>Microsoft Azure Funding: Core Migrate &amp; Modernize  </a:t>
            </a:r>
          </a:p>
        </p:txBody>
      </p:sp>
      <p:sp>
        <p:nvSpPr>
          <p:cNvPr id="3" name="Slide Number Placeholder 2">
            <a:extLst>
              <a:ext uri="{FF2B5EF4-FFF2-40B4-BE49-F238E27FC236}">
                <a16:creationId xmlns:a16="http://schemas.microsoft.com/office/drawing/2014/main" id="{55C04323-05EE-17C4-6F41-0CDF0CF7E04B}"/>
              </a:ext>
            </a:extLst>
          </p:cNvPr>
          <p:cNvSpPr>
            <a:spLocks noGrp="1"/>
          </p:cNvSpPr>
          <p:nvPr>
            <p:ph type="sldNum" sz="quarter" idx="4"/>
          </p:nvPr>
        </p:nvSpPr>
        <p:spPr/>
        <p:txBody>
          <a:bodyPr/>
          <a:lstStyle/>
          <a:p>
            <a:fld id="{762E77F0-FB5B-4E8E-9BC9-34F14560A017}" type="slidenum">
              <a:rPr lang="en-US" smtClean="0"/>
              <a:pPr/>
              <a:t>13</a:t>
            </a:fld>
            <a:endParaRPr lang="en-US"/>
          </a:p>
        </p:txBody>
      </p:sp>
      <p:sp>
        <p:nvSpPr>
          <p:cNvPr id="5" name="object 38">
            <a:extLst>
              <a:ext uri="{FF2B5EF4-FFF2-40B4-BE49-F238E27FC236}">
                <a16:creationId xmlns:a16="http://schemas.microsoft.com/office/drawing/2014/main" id="{ECE00BA8-98FE-D56F-1900-3110D222C61F}"/>
              </a:ext>
            </a:extLst>
          </p:cNvPr>
          <p:cNvSpPr txBox="1"/>
          <p:nvPr/>
        </p:nvSpPr>
        <p:spPr>
          <a:xfrm>
            <a:off x="412341" y="1504623"/>
            <a:ext cx="11075035" cy="845744"/>
          </a:xfrm>
          <a:prstGeom prst="rect">
            <a:avLst/>
          </a:prstGeom>
        </p:spPr>
        <p:txBody>
          <a:bodyPr vert="horz" wrap="square" lIns="0" tIns="24765" rIns="0" bIns="0" rtlCol="0">
            <a:spAutoFit/>
          </a:bodyPr>
          <a:lstStyle/>
          <a:p>
            <a:pPr marL="12700">
              <a:lnSpc>
                <a:spcPct val="100000"/>
              </a:lnSpc>
              <a:spcBef>
                <a:spcPts val="195"/>
              </a:spcBef>
            </a:pPr>
            <a:r>
              <a:rPr lang="en-US" sz="1050" u="sng" dirty="0">
                <a:solidFill>
                  <a:schemeClr val="tx2"/>
                </a:solidFill>
                <a:latin typeface="Segoe UI Semibold"/>
                <a:cs typeface="Segoe UI Semibold"/>
              </a:rPr>
              <a:t>PRE</a:t>
            </a:r>
            <a:r>
              <a:rPr lang="en-US" sz="1050" dirty="0">
                <a:solidFill>
                  <a:schemeClr val="tx2"/>
                </a:solidFill>
                <a:latin typeface="Segoe UI Semibold"/>
                <a:cs typeface="Segoe UI Semibold"/>
              </a:rPr>
              <a:t>-SALES </a:t>
            </a:r>
            <a:r>
              <a:rPr sz="1050" dirty="0">
                <a:solidFill>
                  <a:schemeClr val="tx2"/>
                </a:solidFill>
                <a:latin typeface="Segoe UI Semibold"/>
                <a:cs typeface="Segoe UI Semibold"/>
              </a:rPr>
              <a:t>ENGAGEMENT</a:t>
            </a:r>
            <a:r>
              <a:rPr sz="1050" spc="25" dirty="0">
                <a:solidFill>
                  <a:schemeClr val="tx2"/>
                </a:solidFill>
                <a:latin typeface="Segoe UI Semibold"/>
                <a:cs typeface="Segoe UI Semibold"/>
              </a:rPr>
              <a:t> </a:t>
            </a:r>
            <a:r>
              <a:rPr sz="1050" spc="-10" dirty="0">
                <a:solidFill>
                  <a:schemeClr val="tx2"/>
                </a:solidFill>
                <a:latin typeface="Segoe UI Semibold"/>
                <a:cs typeface="Segoe UI Semibold"/>
              </a:rPr>
              <a:t>SUMMARY</a:t>
            </a:r>
            <a:endParaRPr sz="1050" dirty="0">
              <a:solidFill>
                <a:schemeClr val="tx2"/>
              </a:solidFill>
              <a:latin typeface="Segoe UI Semibold"/>
              <a:cs typeface="Segoe UI Semibold"/>
            </a:endParaRPr>
          </a:p>
          <a:p>
            <a:pPr marL="12700" marR="5080">
              <a:lnSpc>
                <a:spcPct val="100000"/>
              </a:lnSpc>
              <a:spcBef>
                <a:spcPts val="95"/>
              </a:spcBef>
            </a:pPr>
            <a:r>
              <a:rPr sz="1050" dirty="0">
                <a:latin typeface="Segoe UI"/>
                <a:cs typeface="Segoe UI"/>
              </a:rPr>
              <a:t>Enables</a:t>
            </a:r>
            <a:r>
              <a:rPr sz="1050" spc="-35" dirty="0">
                <a:latin typeface="Segoe UI"/>
                <a:cs typeface="Segoe UI"/>
              </a:rPr>
              <a:t> </a:t>
            </a:r>
            <a:r>
              <a:rPr sz="1050" dirty="0">
                <a:latin typeface="Segoe UI"/>
                <a:cs typeface="Segoe UI"/>
              </a:rPr>
              <a:t>customers</a:t>
            </a:r>
            <a:r>
              <a:rPr sz="1050" spc="-35" dirty="0">
                <a:latin typeface="Segoe UI"/>
                <a:cs typeface="Segoe UI"/>
              </a:rPr>
              <a:t> </a:t>
            </a:r>
            <a:r>
              <a:rPr sz="1050" dirty="0">
                <a:latin typeface="Segoe UI"/>
                <a:cs typeface="Segoe UI"/>
              </a:rPr>
              <a:t>to</a:t>
            </a:r>
            <a:r>
              <a:rPr sz="1050" spc="-25" dirty="0">
                <a:latin typeface="Segoe UI"/>
                <a:cs typeface="Segoe UI"/>
              </a:rPr>
              <a:t> </a:t>
            </a:r>
            <a:r>
              <a:rPr sz="1050" dirty="0">
                <a:latin typeface="Segoe UI"/>
                <a:cs typeface="Segoe UI"/>
              </a:rPr>
              <a:t>migrate</a:t>
            </a:r>
            <a:r>
              <a:rPr sz="1050" spc="-45" dirty="0">
                <a:latin typeface="Segoe UI"/>
                <a:cs typeface="Segoe UI"/>
              </a:rPr>
              <a:t> </a:t>
            </a:r>
            <a:r>
              <a:rPr sz="1050" dirty="0">
                <a:latin typeface="Segoe UI"/>
                <a:cs typeface="Segoe UI"/>
              </a:rPr>
              <a:t>and</a:t>
            </a:r>
            <a:r>
              <a:rPr sz="1050" spc="-15" dirty="0">
                <a:latin typeface="Segoe UI"/>
                <a:cs typeface="Segoe UI"/>
              </a:rPr>
              <a:t> </a:t>
            </a:r>
            <a:r>
              <a:rPr sz="1050" dirty="0">
                <a:latin typeface="Segoe UI"/>
                <a:cs typeface="Segoe UI"/>
              </a:rPr>
              <a:t>modernize</a:t>
            </a:r>
            <a:r>
              <a:rPr sz="1050" spc="-45" dirty="0">
                <a:latin typeface="Segoe UI"/>
                <a:cs typeface="Segoe UI"/>
              </a:rPr>
              <a:t> </a:t>
            </a:r>
            <a:r>
              <a:rPr sz="1050" dirty="0">
                <a:latin typeface="Segoe UI"/>
                <a:cs typeface="Segoe UI"/>
              </a:rPr>
              <a:t>existing</a:t>
            </a:r>
            <a:r>
              <a:rPr sz="1050" spc="-15" dirty="0">
                <a:latin typeface="Segoe UI"/>
                <a:cs typeface="Segoe UI"/>
              </a:rPr>
              <a:t> </a:t>
            </a:r>
            <a:r>
              <a:rPr sz="1050" dirty="0">
                <a:latin typeface="Segoe UI"/>
                <a:cs typeface="Segoe UI"/>
              </a:rPr>
              <a:t>applications,</a:t>
            </a:r>
            <a:r>
              <a:rPr sz="1050" spc="-45" dirty="0">
                <a:latin typeface="Segoe UI"/>
                <a:cs typeface="Segoe UI"/>
              </a:rPr>
              <a:t> </a:t>
            </a:r>
            <a:r>
              <a:rPr sz="1050" dirty="0">
                <a:latin typeface="Segoe UI"/>
                <a:cs typeface="Segoe UI"/>
              </a:rPr>
              <a:t>infrastructure</a:t>
            </a:r>
            <a:r>
              <a:rPr sz="1050" spc="-50" dirty="0">
                <a:latin typeface="Segoe UI"/>
                <a:cs typeface="Segoe UI"/>
              </a:rPr>
              <a:t> </a:t>
            </a:r>
            <a:r>
              <a:rPr sz="1050" dirty="0">
                <a:latin typeface="Segoe UI"/>
                <a:cs typeface="Segoe UI"/>
              </a:rPr>
              <a:t>and</a:t>
            </a:r>
            <a:r>
              <a:rPr sz="1050" spc="-15" dirty="0">
                <a:latin typeface="Segoe UI"/>
                <a:cs typeface="Segoe UI"/>
              </a:rPr>
              <a:t> </a:t>
            </a:r>
            <a:r>
              <a:rPr sz="1050" dirty="0">
                <a:latin typeface="Segoe UI"/>
                <a:cs typeface="Segoe UI"/>
              </a:rPr>
              <a:t>data</a:t>
            </a:r>
            <a:r>
              <a:rPr sz="1050" spc="-30" dirty="0">
                <a:latin typeface="Segoe UI"/>
                <a:cs typeface="Segoe UI"/>
              </a:rPr>
              <a:t> </a:t>
            </a:r>
            <a:r>
              <a:rPr sz="1050" dirty="0">
                <a:latin typeface="Segoe UI"/>
                <a:cs typeface="Segoe UI"/>
              </a:rPr>
              <a:t>workloads</a:t>
            </a:r>
            <a:r>
              <a:rPr sz="1050" spc="-35" dirty="0">
                <a:latin typeface="Segoe UI"/>
                <a:cs typeface="Segoe UI"/>
              </a:rPr>
              <a:t> </a:t>
            </a:r>
            <a:r>
              <a:rPr sz="1050" dirty="0">
                <a:latin typeface="Segoe UI"/>
                <a:cs typeface="Segoe UI"/>
              </a:rPr>
              <a:t>to</a:t>
            </a:r>
            <a:r>
              <a:rPr sz="1050" spc="-25" dirty="0">
                <a:latin typeface="Segoe UI"/>
                <a:cs typeface="Segoe UI"/>
              </a:rPr>
              <a:t> </a:t>
            </a:r>
            <a:r>
              <a:rPr sz="1050" dirty="0">
                <a:latin typeface="Segoe UI"/>
                <a:cs typeface="Segoe UI"/>
              </a:rPr>
              <a:t>Azure</a:t>
            </a:r>
            <a:r>
              <a:rPr sz="1050" spc="-30" dirty="0">
                <a:latin typeface="Segoe UI"/>
                <a:cs typeface="Segoe UI"/>
              </a:rPr>
              <a:t> </a:t>
            </a:r>
            <a:r>
              <a:rPr sz="1050" dirty="0">
                <a:latin typeface="Segoe UI"/>
                <a:cs typeface="Segoe UI"/>
              </a:rPr>
              <a:t>to</a:t>
            </a:r>
            <a:r>
              <a:rPr sz="1050" spc="-25" dirty="0">
                <a:latin typeface="Segoe UI"/>
                <a:cs typeface="Segoe UI"/>
              </a:rPr>
              <a:t> </a:t>
            </a:r>
            <a:r>
              <a:rPr sz="1050" dirty="0">
                <a:latin typeface="Segoe UI"/>
                <a:cs typeface="Segoe UI"/>
              </a:rPr>
              <a:t>drive</a:t>
            </a:r>
            <a:r>
              <a:rPr sz="1050" spc="-45" dirty="0">
                <a:latin typeface="Segoe UI"/>
                <a:cs typeface="Segoe UI"/>
              </a:rPr>
              <a:t> </a:t>
            </a:r>
            <a:r>
              <a:rPr sz="1050" dirty="0">
                <a:latin typeface="Segoe UI"/>
                <a:cs typeface="Segoe UI"/>
              </a:rPr>
              <a:t>scale,</a:t>
            </a:r>
            <a:r>
              <a:rPr sz="1050" spc="-10" dirty="0">
                <a:latin typeface="Segoe UI"/>
                <a:cs typeface="Segoe UI"/>
              </a:rPr>
              <a:t> </a:t>
            </a:r>
            <a:r>
              <a:rPr sz="1050" dirty="0">
                <a:latin typeface="Segoe UI"/>
                <a:cs typeface="Segoe UI"/>
              </a:rPr>
              <a:t>velocity</a:t>
            </a:r>
            <a:r>
              <a:rPr sz="1050" spc="-50" dirty="0">
                <a:latin typeface="Segoe UI"/>
                <a:cs typeface="Segoe UI"/>
              </a:rPr>
              <a:t> </a:t>
            </a:r>
            <a:r>
              <a:rPr sz="1050" dirty="0">
                <a:latin typeface="Segoe UI"/>
                <a:cs typeface="Segoe UI"/>
              </a:rPr>
              <a:t>and</a:t>
            </a:r>
            <a:r>
              <a:rPr sz="1050" spc="-10" dirty="0">
                <a:latin typeface="Segoe UI"/>
                <a:cs typeface="Segoe UI"/>
              </a:rPr>
              <a:t> </a:t>
            </a:r>
            <a:r>
              <a:rPr sz="1050" dirty="0">
                <a:latin typeface="Segoe UI"/>
                <a:cs typeface="Segoe UI"/>
              </a:rPr>
              <a:t>AI</a:t>
            </a:r>
            <a:r>
              <a:rPr sz="1050" spc="-20" dirty="0">
                <a:latin typeface="Segoe UI"/>
                <a:cs typeface="Segoe UI"/>
              </a:rPr>
              <a:t> </a:t>
            </a:r>
            <a:r>
              <a:rPr sz="1050" dirty="0">
                <a:latin typeface="Segoe UI"/>
                <a:cs typeface="Segoe UI"/>
              </a:rPr>
              <a:t>readiness.</a:t>
            </a:r>
            <a:r>
              <a:rPr sz="1050" spc="-20" dirty="0">
                <a:latin typeface="Segoe UI"/>
                <a:cs typeface="Segoe UI"/>
              </a:rPr>
              <a:t> </a:t>
            </a:r>
            <a:r>
              <a:rPr sz="1050" dirty="0">
                <a:latin typeface="Segoe UI"/>
                <a:cs typeface="Segoe UI"/>
              </a:rPr>
              <a:t>In</a:t>
            </a:r>
            <a:r>
              <a:rPr sz="1050" spc="-15" dirty="0">
                <a:latin typeface="Segoe UI"/>
                <a:cs typeface="Segoe UI"/>
              </a:rPr>
              <a:t> </a:t>
            </a:r>
            <a:r>
              <a:rPr sz="1050" dirty="0">
                <a:latin typeface="Segoe UI"/>
                <a:cs typeface="Segoe UI"/>
              </a:rPr>
              <a:t>this</a:t>
            </a:r>
            <a:r>
              <a:rPr sz="1050" spc="-10" dirty="0">
                <a:latin typeface="Segoe UI"/>
                <a:cs typeface="Segoe UI"/>
              </a:rPr>
              <a:t> </a:t>
            </a:r>
            <a:r>
              <a:rPr sz="1050" dirty="0">
                <a:latin typeface="Segoe UI"/>
                <a:cs typeface="Segoe UI"/>
              </a:rPr>
              <a:t>engagement,</a:t>
            </a:r>
            <a:r>
              <a:rPr sz="1050" spc="-45" dirty="0">
                <a:latin typeface="Segoe UI"/>
                <a:cs typeface="Segoe UI"/>
              </a:rPr>
              <a:t> </a:t>
            </a:r>
            <a:r>
              <a:rPr lang="en-US" sz="1050" dirty="0">
                <a:latin typeface="Segoe UI"/>
                <a:cs typeface="Segoe UI"/>
              </a:rPr>
              <a:t>Rackspace</a:t>
            </a:r>
            <a:r>
              <a:rPr sz="1050" spc="-35" dirty="0">
                <a:latin typeface="Segoe UI"/>
                <a:cs typeface="Segoe UI"/>
              </a:rPr>
              <a:t> </a:t>
            </a:r>
            <a:r>
              <a:rPr sz="1050" spc="-20" dirty="0">
                <a:latin typeface="Segoe UI"/>
                <a:cs typeface="Segoe UI"/>
              </a:rPr>
              <a:t>will </a:t>
            </a:r>
            <a:r>
              <a:rPr sz="1050" dirty="0">
                <a:latin typeface="Segoe UI"/>
                <a:cs typeface="Segoe UI"/>
              </a:rPr>
              <a:t>provide</a:t>
            </a:r>
            <a:r>
              <a:rPr sz="1050" spc="-40" dirty="0">
                <a:latin typeface="Segoe UI"/>
                <a:cs typeface="Segoe UI"/>
              </a:rPr>
              <a:t> </a:t>
            </a:r>
            <a:r>
              <a:rPr sz="1050" dirty="0">
                <a:latin typeface="Segoe UI"/>
                <a:cs typeface="Segoe UI"/>
              </a:rPr>
              <a:t>an</a:t>
            </a:r>
            <a:r>
              <a:rPr sz="1050" spc="-10" dirty="0">
                <a:latin typeface="Segoe UI"/>
                <a:cs typeface="Segoe UI"/>
              </a:rPr>
              <a:t> end-</a:t>
            </a:r>
            <a:r>
              <a:rPr sz="1050" dirty="0">
                <a:latin typeface="Segoe UI"/>
                <a:cs typeface="Segoe UI"/>
              </a:rPr>
              <a:t>to-end</a:t>
            </a:r>
            <a:r>
              <a:rPr sz="1050" spc="-35" dirty="0">
                <a:latin typeface="Segoe UI"/>
                <a:cs typeface="Segoe UI"/>
              </a:rPr>
              <a:t> </a:t>
            </a:r>
            <a:r>
              <a:rPr sz="1050" dirty="0">
                <a:latin typeface="Segoe UI"/>
                <a:cs typeface="Segoe UI"/>
              </a:rPr>
              <a:t>analysis</a:t>
            </a:r>
            <a:r>
              <a:rPr sz="1050" spc="-5" dirty="0">
                <a:latin typeface="Segoe UI"/>
                <a:cs typeface="Segoe UI"/>
              </a:rPr>
              <a:t> </a:t>
            </a:r>
            <a:r>
              <a:rPr sz="1050" dirty="0">
                <a:latin typeface="Segoe UI"/>
                <a:cs typeface="Segoe UI"/>
              </a:rPr>
              <a:t>and</a:t>
            </a:r>
            <a:r>
              <a:rPr sz="1050" spc="-10" dirty="0">
                <a:latin typeface="Segoe UI"/>
                <a:cs typeface="Segoe UI"/>
              </a:rPr>
              <a:t> </a:t>
            </a:r>
            <a:r>
              <a:rPr sz="1050" dirty="0">
                <a:latin typeface="Segoe UI"/>
                <a:cs typeface="Segoe UI"/>
              </a:rPr>
              <a:t>mapping</a:t>
            </a:r>
            <a:r>
              <a:rPr sz="1050" spc="-45" dirty="0">
                <a:latin typeface="Segoe UI"/>
                <a:cs typeface="Segoe UI"/>
              </a:rPr>
              <a:t> </a:t>
            </a:r>
            <a:r>
              <a:rPr sz="1050" dirty="0">
                <a:latin typeface="Segoe UI"/>
                <a:cs typeface="Segoe UI"/>
              </a:rPr>
              <a:t>of</a:t>
            </a:r>
            <a:r>
              <a:rPr sz="1050" spc="-20" dirty="0">
                <a:latin typeface="Segoe UI"/>
                <a:cs typeface="Segoe UI"/>
              </a:rPr>
              <a:t> </a:t>
            </a:r>
            <a:r>
              <a:rPr sz="1050" dirty="0">
                <a:latin typeface="Segoe UI"/>
                <a:cs typeface="Segoe UI"/>
              </a:rPr>
              <a:t>Customer’s</a:t>
            </a:r>
            <a:r>
              <a:rPr sz="1050" spc="-30" dirty="0">
                <a:latin typeface="Segoe UI"/>
                <a:cs typeface="Segoe UI"/>
              </a:rPr>
              <a:t> </a:t>
            </a:r>
            <a:r>
              <a:rPr sz="1050" dirty="0">
                <a:latin typeface="Segoe UI"/>
                <a:cs typeface="Segoe UI"/>
              </a:rPr>
              <a:t>IT infrastructure</a:t>
            </a:r>
            <a:r>
              <a:rPr sz="1050" spc="-35" dirty="0">
                <a:latin typeface="Segoe UI"/>
                <a:cs typeface="Segoe UI"/>
              </a:rPr>
              <a:t> </a:t>
            </a:r>
            <a:r>
              <a:rPr sz="1050" dirty="0">
                <a:latin typeface="Segoe UI"/>
                <a:cs typeface="Segoe UI"/>
              </a:rPr>
              <a:t>(both</a:t>
            </a:r>
            <a:r>
              <a:rPr sz="1050" spc="-35" dirty="0">
                <a:latin typeface="Segoe UI"/>
                <a:cs typeface="Segoe UI"/>
              </a:rPr>
              <a:t> </a:t>
            </a:r>
            <a:r>
              <a:rPr sz="1050" dirty="0">
                <a:latin typeface="Segoe UI"/>
                <a:cs typeface="Segoe UI"/>
              </a:rPr>
              <a:t>physical</a:t>
            </a:r>
            <a:r>
              <a:rPr sz="1050" spc="-15" dirty="0">
                <a:latin typeface="Segoe UI"/>
                <a:cs typeface="Segoe UI"/>
              </a:rPr>
              <a:t> </a:t>
            </a:r>
            <a:r>
              <a:rPr sz="1050" dirty="0">
                <a:latin typeface="Segoe UI"/>
                <a:cs typeface="Segoe UI"/>
              </a:rPr>
              <a:t>and</a:t>
            </a:r>
            <a:r>
              <a:rPr sz="1050" spc="-25" dirty="0">
                <a:latin typeface="Segoe UI"/>
                <a:cs typeface="Segoe UI"/>
              </a:rPr>
              <a:t> </a:t>
            </a:r>
            <a:r>
              <a:rPr sz="1050" dirty="0">
                <a:latin typeface="Segoe UI"/>
                <a:cs typeface="Segoe UI"/>
              </a:rPr>
              <a:t>virtual),</a:t>
            </a:r>
            <a:r>
              <a:rPr sz="1050" spc="-40" dirty="0">
                <a:latin typeface="Segoe UI"/>
                <a:cs typeface="Segoe UI"/>
              </a:rPr>
              <a:t> </a:t>
            </a:r>
            <a:r>
              <a:rPr sz="1050" dirty="0">
                <a:latin typeface="Segoe UI"/>
                <a:cs typeface="Segoe UI"/>
              </a:rPr>
              <a:t>taking</a:t>
            </a:r>
            <a:r>
              <a:rPr sz="1050" spc="-35" dirty="0">
                <a:latin typeface="Segoe UI"/>
                <a:cs typeface="Segoe UI"/>
              </a:rPr>
              <a:t> </a:t>
            </a:r>
            <a:r>
              <a:rPr sz="1050" dirty="0">
                <a:latin typeface="Segoe UI"/>
                <a:cs typeface="Segoe UI"/>
              </a:rPr>
              <a:t>into</a:t>
            </a:r>
            <a:r>
              <a:rPr sz="1050" spc="-20" dirty="0">
                <a:latin typeface="Segoe UI"/>
                <a:cs typeface="Segoe UI"/>
              </a:rPr>
              <a:t> </a:t>
            </a:r>
            <a:r>
              <a:rPr sz="1050" dirty="0">
                <a:latin typeface="Segoe UI"/>
                <a:cs typeface="Segoe UI"/>
              </a:rPr>
              <a:t>consideration</a:t>
            </a:r>
            <a:r>
              <a:rPr sz="1050" spc="-35" dirty="0">
                <a:latin typeface="Segoe UI"/>
                <a:cs typeface="Segoe UI"/>
              </a:rPr>
              <a:t> </a:t>
            </a:r>
            <a:r>
              <a:rPr sz="1050" dirty="0">
                <a:latin typeface="Segoe UI"/>
                <a:cs typeface="Segoe UI"/>
              </a:rPr>
              <a:t>customer</a:t>
            </a:r>
            <a:r>
              <a:rPr sz="1050" spc="-45" dirty="0">
                <a:latin typeface="Segoe UI"/>
                <a:cs typeface="Segoe UI"/>
              </a:rPr>
              <a:t> </a:t>
            </a:r>
            <a:r>
              <a:rPr sz="1050" dirty="0">
                <a:latin typeface="Segoe UI"/>
                <a:cs typeface="Segoe UI"/>
              </a:rPr>
              <a:t>plans,</a:t>
            </a:r>
            <a:r>
              <a:rPr sz="1050" spc="-15" dirty="0">
                <a:latin typeface="Segoe UI"/>
                <a:cs typeface="Segoe UI"/>
              </a:rPr>
              <a:t> </a:t>
            </a:r>
            <a:r>
              <a:rPr sz="1050" dirty="0">
                <a:latin typeface="Segoe UI"/>
                <a:cs typeface="Segoe UI"/>
              </a:rPr>
              <a:t>current</a:t>
            </a:r>
            <a:r>
              <a:rPr sz="1050" spc="-30" dirty="0">
                <a:latin typeface="Segoe UI"/>
                <a:cs typeface="Segoe UI"/>
              </a:rPr>
              <a:t> </a:t>
            </a:r>
            <a:r>
              <a:rPr sz="1050" dirty="0">
                <a:latin typeface="Segoe UI"/>
                <a:cs typeface="Segoe UI"/>
              </a:rPr>
              <a:t>deployment,</a:t>
            </a:r>
            <a:r>
              <a:rPr sz="1050" spc="-40" dirty="0">
                <a:latin typeface="Segoe UI"/>
                <a:cs typeface="Segoe UI"/>
              </a:rPr>
              <a:t> </a:t>
            </a:r>
            <a:r>
              <a:rPr sz="1050" dirty="0">
                <a:latin typeface="Segoe UI"/>
                <a:cs typeface="Segoe UI"/>
              </a:rPr>
              <a:t>usage,</a:t>
            </a:r>
            <a:r>
              <a:rPr sz="1050" spc="-25" dirty="0">
                <a:latin typeface="Segoe UI"/>
                <a:cs typeface="Segoe UI"/>
              </a:rPr>
              <a:t> </a:t>
            </a:r>
            <a:r>
              <a:rPr sz="1050" dirty="0">
                <a:latin typeface="Segoe UI"/>
                <a:cs typeface="Segoe UI"/>
              </a:rPr>
              <a:t>processes,</a:t>
            </a:r>
            <a:r>
              <a:rPr sz="1050" spc="-25" dirty="0">
                <a:latin typeface="Segoe UI"/>
                <a:cs typeface="Segoe UI"/>
              </a:rPr>
              <a:t> and </a:t>
            </a:r>
            <a:r>
              <a:rPr sz="1050" dirty="0">
                <a:latin typeface="Segoe UI"/>
                <a:cs typeface="Segoe UI"/>
              </a:rPr>
              <a:t>data.</a:t>
            </a:r>
            <a:r>
              <a:rPr sz="1050" spc="-45" dirty="0">
                <a:latin typeface="Segoe UI"/>
                <a:cs typeface="Segoe UI"/>
              </a:rPr>
              <a:t> </a:t>
            </a:r>
            <a:r>
              <a:rPr sz="1050" dirty="0">
                <a:latin typeface="Segoe UI"/>
                <a:cs typeface="Segoe UI"/>
              </a:rPr>
              <a:t>As</a:t>
            </a:r>
            <a:r>
              <a:rPr sz="1050" spc="-5" dirty="0">
                <a:latin typeface="Segoe UI"/>
                <a:cs typeface="Segoe UI"/>
              </a:rPr>
              <a:t> </a:t>
            </a:r>
            <a:r>
              <a:rPr sz="1050" dirty="0">
                <a:latin typeface="Segoe UI"/>
                <a:cs typeface="Segoe UI"/>
              </a:rPr>
              <a:t>part</a:t>
            </a:r>
            <a:r>
              <a:rPr sz="1050" spc="-35" dirty="0">
                <a:latin typeface="Segoe UI"/>
                <a:cs typeface="Segoe UI"/>
              </a:rPr>
              <a:t> </a:t>
            </a:r>
            <a:r>
              <a:rPr sz="1050" dirty="0">
                <a:latin typeface="Segoe UI"/>
                <a:cs typeface="Segoe UI"/>
              </a:rPr>
              <a:t>of</a:t>
            </a:r>
            <a:r>
              <a:rPr sz="1050" spc="-25" dirty="0">
                <a:latin typeface="Segoe UI"/>
                <a:cs typeface="Segoe UI"/>
              </a:rPr>
              <a:t> </a:t>
            </a:r>
            <a:r>
              <a:rPr sz="1050" dirty="0">
                <a:latin typeface="Segoe UI"/>
                <a:cs typeface="Segoe UI"/>
              </a:rPr>
              <a:t>this</a:t>
            </a:r>
            <a:r>
              <a:rPr sz="1050" spc="-10" dirty="0">
                <a:latin typeface="Segoe UI"/>
                <a:cs typeface="Segoe UI"/>
              </a:rPr>
              <a:t> </a:t>
            </a:r>
            <a:r>
              <a:rPr sz="1050" dirty="0">
                <a:latin typeface="Segoe UI"/>
                <a:cs typeface="Segoe UI"/>
              </a:rPr>
              <a:t>Assessment</a:t>
            </a:r>
            <a:r>
              <a:rPr sz="1050" spc="-10" dirty="0">
                <a:latin typeface="Segoe UI"/>
                <a:cs typeface="Segoe UI"/>
              </a:rPr>
              <a:t> </a:t>
            </a:r>
            <a:r>
              <a:rPr sz="1050" dirty="0">
                <a:latin typeface="Segoe UI"/>
                <a:cs typeface="Segoe UI"/>
              </a:rPr>
              <a:t>and</a:t>
            </a:r>
            <a:r>
              <a:rPr sz="1050" spc="-15" dirty="0">
                <a:latin typeface="Segoe UI"/>
                <a:cs typeface="Segoe UI"/>
              </a:rPr>
              <a:t> </a:t>
            </a:r>
            <a:r>
              <a:rPr sz="1050" dirty="0">
                <a:latin typeface="Segoe UI"/>
                <a:cs typeface="Segoe UI"/>
              </a:rPr>
              <a:t>POV,</a:t>
            </a:r>
            <a:r>
              <a:rPr sz="1050" spc="-25" dirty="0">
                <a:latin typeface="Segoe UI"/>
                <a:cs typeface="Segoe UI"/>
              </a:rPr>
              <a:t> </a:t>
            </a:r>
            <a:r>
              <a:rPr lang="en-US" sz="1050" dirty="0">
                <a:latin typeface="Segoe UI"/>
                <a:cs typeface="Segoe UI"/>
              </a:rPr>
              <a:t>Rackspace</a:t>
            </a:r>
            <a:r>
              <a:rPr sz="1050" spc="-35" dirty="0">
                <a:latin typeface="Segoe UI"/>
                <a:cs typeface="Segoe UI"/>
              </a:rPr>
              <a:t> </a:t>
            </a:r>
            <a:r>
              <a:rPr sz="1050" dirty="0">
                <a:latin typeface="Segoe UI"/>
                <a:cs typeface="Segoe UI"/>
              </a:rPr>
              <a:t>will</a:t>
            </a:r>
            <a:r>
              <a:rPr sz="1050" spc="-25" dirty="0">
                <a:latin typeface="Segoe UI"/>
                <a:cs typeface="Segoe UI"/>
              </a:rPr>
              <a:t> </a:t>
            </a:r>
            <a:r>
              <a:rPr sz="1050" dirty="0">
                <a:latin typeface="Segoe UI"/>
                <a:cs typeface="Segoe UI"/>
              </a:rPr>
              <a:t>use</a:t>
            </a:r>
            <a:r>
              <a:rPr sz="1050" spc="15" dirty="0">
                <a:latin typeface="Segoe UI"/>
                <a:cs typeface="Segoe UI"/>
              </a:rPr>
              <a:t> </a:t>
            </a:r>
            <a:r>
              <a:rPr sz="1050" u="sng"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Azure</a:t>
            </a:r>
            <a:r>
              <a:rPr sz="1050" u="sng" spc="-30"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 </a:t>
            </a:r>
            <a:r>
              <a:rPr sz="1050" u="sng"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Migrate</a:t>
            </a:r>
            <a:r>
              <a:rPr sz="1050" spc="-35" dirty="0">
                <a:solidFill>
                  <a:srgbClr val="0078D3"/>
                </a:solidFill>
                <a:latin typeface="Segoe UI"/>
                <a:cs typeface="Segoe UI"/>
              </a:rPr>
              <a:t> </a:t>
            </a:r>
            <a:r>
              <a:rPr sz="1050" dirty="0">
                <a:latin typeface="Segoe UI"/>
                <a:cs typeface="Segoe UI"/>
              </a:rPr>
              <a:t>or</a:t>
            </a:r>
            <a:r>
              <a:rPr sz="1050" spc="-25" dirty="0">
                <a:latin typeface="Segoe UI"/>
                <a:cs typeface="Segoe UI"/>
              </a:rPr>
              <a:t> </a:t>
            </a:r>
            <a:r>
              <a:rPr sz="1050" u="sng" dirty="0">
                <a:solidFill>
                  <a:srgbClr val="0000FF"/>
                </a:solidFill>
                <a:uFill>
                  <a:solidFill>
                    <a:srgbClr val="0078D3"/>
                  </a:solidFill>
                </a:uFill>
                <a:latin typeface="Segoe UI"/>
                <a:cs typeface="Segoe UI"/>
                <a:hlinkClick r:id="rId3">
                  <a:extLst>
                    <a:ext uri="{A12FA001-AC4F-418D-AE19-62706E023703}">
                      <ahyp:hlinkClr xmlns:ahyp="http://schemas.microsoft.com/office/drawing/2018/hyperlinkcolor" val="tx"/>
                    </a:ext>
                  </a:extLst>
                </a:hlinkClick>
              </a:rPr>
              <a:t>Dr.</a:t>
            </a:r>
            <a:r>
              <a:rPr sz="1050" u="sng" spc="-20" dirty="0">
                <a:solidFill>
                  <a:srgbClr val="0000FF"/>
                </a:solidFill>
                <a:uFill>
                  <a:solidFill>
                    <a:srgbClr val="0078D3"/>
                  </a:solidFill>
                </a:uFill>
                <a:latin typeface="Segoe UI"/>
                <a:cs typeface="Segoe UI"/>
                <a:hlinkClick r:id="rId3">
                  <a:extLst>
                    <a:ext uri="{A12FA001-AC4F-418D-AE19-62706E023703}">
                      <ahyp:hlinkClr xmlns:ahyp="http://schemas.microsoft.com/office/drawing/2018/hyperlinkcolor" val="tx"/>
                    </a:ext>
                  </a:extLst>
                </a:hlinkClick>
              </a:rPr>
              <a:t> </a:t>
            </a:r>
            <a:r>
              <a:rPr sz="1050" u="sng" dirty="0">
                <a:solidFill>
                  <a:srgbClr val="0000FF"/>
                </a:solidFill>
                <a:uFill>
                  <a:solidFill>
                    <a:srgbClr val="0078D3"/>
                  </a:solidFill>
                </a:uFill>
                <a:latin typeface="Segoe UI"/>
                <a:cs typeface="Segoe UI"/>
                <a:hlinkClick r:id="rId3">
                  <a:extLst>
                    <a:ext uri="{A12FA001-AC4F-418D-AE19-62706E023703}">
                      <ahyp:hlinkClr xmlns:ahyp="http://schemas.microsoft.com/office/drawing/2018/hyperlinkcolor" val="tx"/>
                    </a:ext>
                  </a:extLst>
                </a:hlinkClick>
              </a:rPr>
              <a:t>Migrate</a:t>
            </a:r>
            <a:r>
              <a:rPr sz="1050" spc="-35" dirty="0">
                <a:solidFill>
                  <a:srgbClr val="0078D3"/>
                </a:solidFill>
                <a:latin typeface="Segoe UI"/>
                <a:cs typeface="Segoe UI"/>
              </a:rPr>
              <a:t> </a:t>
            </a:r>
            <a:r>
              <a:rPr sz="1050" dirty="0">
                <a:latin typeface="Segoe UI"/>
                <a:cs typeface="Segoe UI"/>
              </a:rPr>
              <a:t>to</a:t>
            </a:r>
            <a:r>
              <a:rPr sz="1050" spc="-25" dirty="0">
                <a:latin typeface="Segoe UI"/>
                <a:cs typeface="Segoe UI"/>
              </a:rPr>
              <a:t> </a:t>
            </a:r>
            <a:r>
              <a:rPr sz="1050" dirty="0">
                <a:latin typeface="Segoe UI"/>
                <a:cs typeface="Segoe UI"/>
              </a:rPr>
              <a:t>create</a:t>
            </a:r>
            <a:r>
              <a:rPr sz="1050" spc="-40" dirty="0">
                <a:latin typeface="Segoe UI"/>
                <a:cs typeface="Segoe UI"/>
              </a:rPr>
              <a:t> </a:t>
            </a:r>
            <a:r>
              <a:rPr sz="1050" dirty="0">
                <a:latin typeface="Segoe UI"/>
                <a:cs typeface="Segoe UI"/>
              </a:rPr>
              <a:t>an assessment</a:t>
            </a:r>
            <a:r>
              <a:rPr sz="1050" spc="-15" dirty="0">
                <a:latin typeface="Segoe UI"/>
                <a:cs typeface="Segoe UI"/>
              </a:rPr>
              <a:t> </a:t>
            </a:r>
            <a:r>
              <a:rPr sz="1050" dirty="0">
                <a:latin typeface="Segoe UI"/>
                <a:cs typeface="Segoe UI"/>
              </a:rPr>
              <a:t>report.</a:t>
            </a:r>
            <a:r>
              <a:rPr sz="1050" spc="-35" dirty="0">
                <a:latin typeface="Segoe UI"/>
                <a:cs typeface="Segoe UI"/>
              </a:rPr>
              <a:t> </a:t>
            </a:r>
            <a:r>
              <a:rPr lang="en-US" sz="1050" dirty="0">
                <a:latin typeface="Segoe UI"/>
                <a:cs typeface="Segoe UI"/>
              </a:rPr>
              <a:t>Rackspace</a:t>
            </a:r>
            <a:r>
              <a:rPr sz="1050" spc="-45" dirty="0">
                <a:latin typeface="Segoe UI"/>
                <a:cs typeface="Segoe UI"/>
              </a:rPr>
              <a:t> </a:t>
            </a:r>
            <a:r>
              <a:rPr sz="1050" dirty="0">
                <a:latin typeface="Segoe UI"/>
                <a:cs typeface="Segoe UI"/>
              </a:rPr>
              <a:t>should</a:t>
            </a:r>
            <a:r>
              <a:rPr sz="1050" spc="-15" dirty="0">
                <a:latin typeface="Segoe UI"/>
                <a:cs typeface="Segoe UI"/>
              </a:rPr>
              <a:t> </a:t>
            </a:r>
            <a:r>
              <a:rPr sz="1050" dirty="0">
                <a:latin typeface="Segoe UI"/>
                <a:cs typeface="Segoe UI"/>
              </a:rPr>
              <a:t>use</a:t>
            </a:r>
            <a:r>
              <a:rPr sz="1050" spc="-5" dirty="0">
                <a:latin typeface="Segoe UI"/>
                <a:cs typeface="Segoe UI"/>
              </a:rPr>
              <a:t> </a:t>
            </a:r>
            <a:r>
              <a:rPr sz="1050" dirty="0">
                <a:latin typeface="Segoe UI"/>
                <a:cs typeface="Segoe UI"/>
              </a:rPr>
              <a:t>the</a:t>
            </a:r>
            <a:r>
              <a:rPr sz="1050" spc="-20" dirty="0">
                <a:latin typeface="Segoe UI"/>
                <a:cs typeface="Segoe UI"/>
              </a:rPr>
              <a:t> </a:t>
            </a:r>
            <a:r>
              <a:rPr sz="1050" dirty="0">
                <a:latin typeface="Segoe UI"/>
                <a:cs typeface="Segoe UI"/>
              </a:rPr>
              <a:t>following</a:t>
            </a:r>
            <a:r>
              <a:rPr sz="1050" spc="-45" dirty="0">
                <a:latin typeface="Segoe UI"/>
                <a:cs typeface="Segoe UI"/>
              </a:rPr>
              <a:t> </a:t>
            </a:r>
            <a:r>
              <a:rPr sz="1050" dirty="0">
                <a:latin typeface="Segoe UI"/>
                <a:cs typeface="Segoe UI"/>
              </a:rPr>
              <a:t>Microsoft</a:t>
            </a:r>
            <a:r>
              <a:rPr sz="1050" spc="-50" dirty="0">
                <a:latin typeface="Segoe UI"/>
                <a:cs typeface="Segoe UI"/>
              </a:rPr>
              <a:t> </a:t>
            </a:r>
            <a:r>
              <a:rPr sz="1050" dirty="0">
                <a:latin typeface="Segoe UI"/>
                <a:cs typeface="Segoe UI"/>
              </a:rPr>
              <a:t>guidance/tools</a:t>
            </a:r>
            <a:r>
              <a:rPr sz="1050" spc="-30" dirty="0">
                <a:latin typeface="Segoe UI"/>
                <a:cs typeface="Segoe UI"/>
              </a:rPr>
              <a:t> </a:t>
            </a:r>
            <a:r>
              <a:rPr sz="1050" spc="-25" dirty="0">
                <a:latin typeface="Segoe UI"/>
                <a:cs typeface="Segoe UI"/>
              </a:rPr>
              <a:t>in </a:t>
            </a:r>
            <a:r>
              <a:rPr sz="1050" dirty="0">
                <a:latin typeface="Segoe UI"/>
                <a:cs typeface="Segoe UI"/>
              </a:rPr>
              <a:t>delivering</a:t>
            </a:r>
            <a:r>
              <a:rPr sz="1050" spc="-45" dirty="0">
                <a:latin typeface="Segoe UI"/>
                <a:cs typeface="Segoe UI"/>
              </a:rPr>
              <a:t> </a:t>
            </a:r>
            <a:r>
              <a:rPr sz="1050" dirty="0">
                <a:latin typeface="Segoe UI"/>
                <a:cs typeface="Segoe UI"/>
              </a:rPr>
              <a:t>the</a:t>
            </a:r>
            <a:r>
              <a:rPr sz="1050" spc="-15" dirty="0">
                <a:latin typeface="Segoe UI"/>
                <a:cs typeface="Segoe UI"/>
              </a:rPr>
              <a:t> </a:t>
            </a:r>
            <a:r>
              <a:rPr sz="1050" dirty="0">
                <a:latin typeface="Segoe UI"/>
                <a:cs typeface="Segoe UI"/>
              </a:rPr>
              <a:t>services:</a:t>
            </a:r>
            <a:r>
              <a:rPr sz="1050" spc="-10" dirty="0">
                <a:latin typeface="Segoe UI"/>
                <a:cs typeface="Segoe UI"/>
              </a:rPr>
              <a:t> </a:t>
            </a:r>
            <a:r>
              <a:rPr sz="1050" u="sng"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Cloud</a:t>
            </a:r>
            <a:r>
              <a:rPr sz="1050" u="sng" spc="-25"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 </a:t>
            </a:r>
            <a:r>
              <a:rPr sz="1050" u="sng"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Adoption</a:t>
            </a:r>
            <a:r>
              <a:rPr sz="1050" u="sng" spc="-35"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 </a:t>
            </a:r>
            <a:r>
              <a:rPr sz="1050" u="sng"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Framework</a:t>
            </a:r>
            <a:r>
              <a:rPr sz="1050" u="sng" spc="-45"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 </a:t>
            </a:r>
            <a:r>
              <a:rPr sz="1050" u="sng"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(CAF)</a:t>
            </a:r>
            <a:r>
              <a:rPr sz="1050" u="sng" dirty="0">
                <a:uFill>
                  <a:solidFill>
                    <a:srgbClr val="000000"/>
                  </a:solidFill>
                </a:uFill>
                <a:latin typeface="Segoe UI"/>
                <a:cs typeface="Segoe UI"/>
              </a:rPr>
              <a:t>,</a:t>
            </a:r>
            <a:r>
              <a:rPr sz="1050" spc="-40" dirty="0">
                <a:latin typeface="Segoe UI"/>
                <a:cs typeface="Segoe UI"/>
              </a:rPr>
              <a:t> </a:t>
            </a:r>
            <a:r>
              <a:rPr sz="1050" u="sng" spc="-10"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Wel</a:t>
            </a:r>
            <a:r>
              <a:rPr sz="1050" u="sng" spc="-10" dirty="0">
                <a:solidFill>
                  <a:srgbClr val="0000FF"/>
                </a:solidFill>
                <a:uFill>
                  <a:solidFill>
                    <a:srgbClr val="0078D3"/>
                  </a:solidFill>
                </a:uFill>
                <a:latin typeface="Segoe UI"/>
                <a:cs typeface="Segoe UI"/>
              </a:rPr>
              <a:t>l</a:t>
            </a:r>
            <a:r>
              <a:rPr sz="1050" u="sng" spc="-10"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a:t>
            </a:r>
            <a:r>
              <a:rPr sz="1050" u="sng"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Architected</a:t>
            </a:r>
            <a:r>
              <a:rPr sz="1050" u="sng" spc="-45"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 </a:t>
            </a:r>
            <a:r>
              <a:rPr sz="1050" u="sng"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Framework</a:t>
            </a:r>
            <a:r>
              <a:rPr sz="1050" u="sng" spc="-35"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 </a:t>
            </a:r>
            <a:r>
              <a:rPr sz="1050" u="sng"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(WAF)</a:t>
            </a:r>
            <a:r>
              <a:rPr sz="1050" spc="-40" dirty="0">
                <a:solidFill>
                  <a:srgbClr val="0078D3"/>
                </a:solidFill>
                <a:latin typeface="Segoe UI"/>
                <a:cs typeface="Segoe UI"/>
              </a:rPr>
              <a:t> </a:t>
            </a:r>
            <a:r>
              <a:rPr sz="1050" dirty="0">
                <a:latin typeface="Segoe UI"/>
                <a:cs typeface="Segoe UI"/>
              </a:rPr>
              <a:t>and</a:t>
            </a:r>
            <a:r>
              <a:rPr sz="1050" spc="-10" dirty="0">
                <a:latin typeface="Segoe UI"/>
                <a:cs typeface="Segoe UI"/>
              </a:rPr>
              <a:t> </a:t>
            </a:r>
            <a:r>
              <a:rPr sz="1050" u="sng"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Azure</a:t>
            </a:r>
            <a:r>
              <a:rPr sz="1050" u="sng" spc="-25"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 </a:t>
            </a:r>
            <a:r>
              <a:rPr sz="1050" u="sng" spc="-10"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Migrate</a:t>
            </a:r>
            <a:r>
              <a:rPr sz="1050" spc="-10" dirty="0">
                <a:latin typeface="Segoe UI"/>
                <a:cs typeface="Segoe UI"/>
              </a:rPr>
              <a:t>.</a:t>
            </a:r>
            <a:endParaRPr sz="1050" dirty="0">
              <a:latin typeface="Segoe UI"/>
              <a:cs typeface="Segoe UI"/>
            </a:endParaRPr>
          </a:p>
        </p:txBody>
      </p:sp>
      <p:graphicFrame>
        <p:nvGraphicFramePr>
          <p:cNvPr id="6" name="object 49">
            <a:extLst>
              <a:ext uri="{FF2B5EF4-FFF2-40B4-BE49-F238E27FC236}">
                <a16:creationId xmlns:a16="http://schemas.microsoft.com/office/drawing/2014/main" id="{5782E13A-15B0-F5D7-5210-A6A5EBFD4194}"/>
              </a:ext>
            </a:extLst>
          </p:cNvPr>
          <p:cNvGraphicFramePr>
            <a:graphicFrameLocks noGrp="1"/>
          </p:cNvGraphicFramePr>
          <p:nvPr>
            <p:extLst>
              <p:ext uri="{D42A27DB-BD31-4B8C-83A1-F6EECF244321}">
                <p14:modId xmlns:p14="http://schemas.microsoft.com/office/powerpoint/2010/main" val="2948705383"/>
              </p:ext>
            </p:extLst>
          </p:nvPr>
        </p:nvGraphicFramePr>
        <p:xfrm>
          <a:off x="6577981" y="2450319"/>
          <a:ext cx="3355133" cy="579755"/>
        </p:xfrm>
        <a:graphic>
          <a:graphicData uri="http://schemas.openxmlformats.org/drawingml/2006/table">
            <a:tbl>
              <a:tblPr firstRow="1" bandRow="1">
                <a:tableStyleId>{2D5ABB26-0587-4C30-8999-92F81FD0307C}</a:tableStyleId>
              </a:tblPr>
              <a:tblGrid>
                <a:gridCol w="1284862">
                  <a:extLst>
                    <a:ext uri="{9D8B030D-6E8A-4147-A177-3AD203B41FA5}">
                      <a16:colId xmlns:a16="http://schemas.microsoft.com/office/drawing/2014/main" val="20001"/>
                    </a:ext>
                  </a:extLst>
                </a:gridCol>
                <a:gridCol w="726085">
                  <a:extLst>
                    <a:ext uri="{9D8B030D-6E8A-4147-A177-3AD203B41FA5}">
                      <a16:colId xmlns:a16="http://schemas.microsoft.com/office/drawing/2014/main" val="20002"/>
                    </a:ext>
                  </a:extLst>
                </a:gridCol>
                <a:gridCol w="741218">
                  <a:extLst>
                    <a:ext uri="{9D8B030D-6E8A-4147-A177-3AD203B41FA5}">
                      <a16:colId xmlns:a16="http://schemas.microsoft.com/office/drawing/2014/main" val="592214520"/>
                    </a:ext>
                  </a:extLst>
                </a:gridCol>
                <a:gridCol w="602968">
                  <a:extLst>
                    <a:ext uri="{9D8B030D-6E8A-4147-A177-3AD203B41FA5}">
                      <a16:colId xmlns:a16="http://schemas.microsoft.com/office/drawing/2014/main" val="1255408474"/>
                    </a:ext>
                  </a:extLst>
                </a:gridCol>
              </a:tblGrid>
              <a:tr h="111743">
                <a:tc>
                  <a:txBody>
                    <a:bodyPr/>
                    <a:lstStyle/>
                    <a:p>
                      <a:pPr marL="83820" marR="78105" indent="210185">
                        <a:lnSpc>
                          <a:spcPct val="100000"/>
                        </a:lnSpc>
                      </a:pPr>
                      <a:r>
                        <a:rPr lang="en-US" sz="900" b="1" dirty="0">
                          <a:solidFill>
                            <a:schemeClr val="tx1"/>
                          </a:solidFill>
                          <a:latin typeface="Segoe UI Semibold"/>
                          <a:cs typeface="Segoe UI Semibold"/>
                        </a:rPr>
                        <a:t>Project Size</a:t>
                      </a:r>
                    </a:p>
                  </a:txBody>
                  <a:tcPr marL="0" marR="0" marT="13970" marB="0">
                    <a:lnL w="6350">
                      <a:solidFill>
                        <a:srgbClr val="D9D9D9"/>
                      </a:solidFill>
                      <a:prstDash val="solid"/>
                    </a:lnL>
                    <a:lnR w="6350">
                      <a:solidFill>
                        <a:srgbClr val="D9D9D9"/>
                      </a:solidFill>
                      <a:prstDash val="solid"/>
                    </a:lnR>
                    <a:lnT w="6350">
                      <a:solidFill>
                        <a:srgbClr val="C3E4FF"/>
                      </a:solidFill>
                      <a:prstDash val="solid"/>
                    </a:lnT>
                    <a:solidFill>
                      <a:schemeClr val="bg1">
                        <a:lumMod val="75000"/>
                        <a:alpha val="50195"/>
                      </a:schemeClr>
                    </a:solidFill>
                  </a:tcPr>
                </a:tc>
                <a:tc>
                  <a:txBody>
                    <a:bodyPr/>
                    <a:lstStyle/>
                    <a:p>
                      <a:pPr marL="330835" marR="127635" indent="-193675">
                        <a:lnSpc>
                          <a:spcPct val="100000"/>
                        </a:lnSpc>
                      </a:pPr>
                      <a:r>
                        <a:rPr sz="900" b="1" spc="-10" dirty="0">
                          <a:solidFill>
                            <a:schemeClr val="tx1"/>
                          </a:solidFill>
                          <a:latin typeface="Segoe UI Semibold"/>
                          <a:cs typeface="Segoe UI Semibold"/>
                        </a:rPr>
                        <a:t>Payment</a:t>
                      </a:r>
                      <a:endParaRPr sz="900" b="1" dirty="0">
                        <a:solidFill>
                          <a:schemeClr val="tx1"/>
                        </a:solidFill>
                        <a:latin typeface="Segoe UI Semibold"/>
                        <a:cs typeface="Segoe UI Semibold"/>
                      </a:endParaRPr>
                    </a:p>
                  </a:txBody>
                  <a:tcPr marL="0" marR="0" marT="13970" marB="0">
                    <a:lnL w="6350">
                      <a:solidFill>
                        <a:srgbClr val="D9D9D9"/>
                      </a:solidFill>
                      <a:prstDash val="solid"/>
                    </a:lnL>
                    <a:lnR w="6350">
                      <a:solidFill>
                        <a:srgbClr val="D9D9D9"/>
                      </a:solidFill>
                      <a:prstDash val="solid"/>
                    </a:lnR>
                    <a:lnT w="6350">
                      <a:solidFill>
                        <a:srgbClr val="C3E4FF"/>
                      </a:solidFill>
                      <a:prstDash val="solid"/>
                    </a:lnT>
                    <a:solidFill>
                      <a:schemeClr val="bg1">
                        <a:lumMod val="75000"/>
                        <a:alpha val="50195"/>
                      </a:schemeClr>
                    </a:solidFill>
                  </a:tcPr>
                </a:tc>
                <a:tc>
                  <a:txBody>
                    <a:bodyPr/>
                    <a:lstStyle/>
                    <a:p>
                      <a:pPr marL="330835" marR="127635" indent="-193675">
                        <a:lnSpc>
                          <a:spcPct val="100000"/>
                        </a:lnSpc>
                      </a:pPr>
                      <a:r>
                        <a:rPr lang="en-US" sz="900" b="1" dirty="0">
                          <a:solidFill>
                            <a:schemeClr val="tx1"/>
                          </a:solidFill>
                          <a:latin typeface="Segoe UI Semibold"/>
                          <a:cs typeface="Segoe UI Semibold"/>
                        </a:rPr>
                        <a:t>Duration</a:t>
                      </a:r>
                      <a:endParaRPr sz="900" b="1" dirty="0">
                        <a:solidFill>
                          <a:schemeClr val="tx1"/>
                        </a:solidFill>
                        <a:latin typeface="Segoe UI Semibold"/>
                        <a:cs typeface="Segoe UI Semibold"/>
                      </a:endParaRPr>
                    </a:p>
                  </a:txBody>
                  <a:tcPr marL="0" marR="0" marT="13970" marB="0">
                    <a:lnL w="6350" cap="flat" cmpd="sng" algn="ctr">
                      <a:solidFill>
                        <a:srgbClr val="D9D9D9"/>
                      </a:solidFill>
                      <a:prstDash val="solid"/>
                      <a:round/>
                      <a:headEnd type="none" w="med" len="med"/>
                      <a:tailEnd type="none" w="med" len="med"/>
                    </a:lnL>
                    <a:lnR w="6350">
                      <a:solidFill>
                        <a:srgbClr val="D9D9D9"/>
                      </a:solidFill>
                      <a:prstDash val="solid"/>
                    </a:lnR>
                    <a:lnT w="6350">
                      <a:solidFill>
                        <a:srgbClr val="C3E4FF"/>
                      </a:solidFill>
                      <a:prstDash val="solid"/>
                    </a:lnT>
                    <a:solidFill>
                      <a:schemeClr val="bg1">
                        <a:lumMod val="75000"/>
                        <a:alpha val="50195"/>
                      </a:schemeClr>
                    </a:solidFill>
                  </a:tcPr>
                </a:tc>
                <a:tc>
                  <a:txBody>
                    <a:bodyPr/>
                    <a:lstStyle/>
                    <a:p>
                      <a:pPr marL="330835" marR="127635" indent="-193675">
                        <a:lnSpc>
                          <a:spcPct val="100000"/>
                        </a:lnSpc>
                      </a:pPr>
                      <a:r>
                        <a:rPr lang="en-US" sz="900" b="1" dirty="0">
                          <a:solidFill>
                            <a:schemeClr val="tx1"/>
                          </a:solidFill>
                          <a:latin typeface="Segoe UI Semibold"/>
                          <a:cs typeface="Segoe UI Semibold"/>
                        </a:rPr>
                        <a:t>Phase</a:t>
                      </a:r>
                      <a:endParaRPr sz="900" b="1" dirty="0">
                        <a:solidFill>
                          <a:schemeClr val="tx1"/>
                        </a:solidFill>
                        <a:latin typeface="Segoe UI Semibold"/>
                        <a:cs typeface="Segoe UI Semibold"/>
                      </a:endParaRPr>
                    </a:p>
                  </a:txBody>
                  <a:tcPr marL="0" marR="0" marT="13970" marB="0">
                    <a:lnL w="6350" cap="flat" cmpd="sng" algn="ctr">
                      <a:solidFill>
                        <a:srgbClr val="D9D9D9"/>
                      </a:solidFill>
                      <a:prstDash val="solid"/>
                      <a:round/>
                      <a:headEnd type="none" w="med" len="med"/>
                      <a:tailEnd type="none" w="med" len="med"/>
                    </a:lnL>
                    <a:lnR w="6350">
                      <a:solidFill>
                        <a:srgbClr val="D9D9D9"/>
                      </a:solidFill>
                      <a:prstDash val="solid"/>
                    </a:lnR>
                    <a:lnT w="6350">
                      <a:solidFill>
                        <a:srgbClr val="C3E4FF"/>
                      </a:solidFill>
                      <a:prstDash val="solid"/>
                    </a:lnT>
                    <a:solidFill>
                      <a:schemeClr val="bg1">
                        <a:lumMod val="75000"/>
                        <a:alpha val="50195"/>
                      </a:schemeClr>
                    </a:solidFill>
                  </a:tcPr>
                </a:tc>
                <a:extLst>
                  <a:ext uri="{0D108BD9-81ED-4DB2-BD59-A6C34878D82A}">
                    <a16:rowId xmlns:a16="http://schemas.microsoft.com/office/drawing/2014/main" val="10000"/>
                  </a:ext>
                </a:extLst>
              </a:tr>
              <a:tr h="0">
                <a:tc>
                  <a:txBody>
                    <a:bodyPr/>
                    <a:lstStyle/>
                    <a:p>
                      <a:pPr algn="ctr">
                        <a:lnSpc>
                          <a:spcPct val="100000"/>
                        </a:lnSpc>
                      </a:pPr>
                      <a:r>
                        <a:rPr sz="800" dirty="0">
                          <a:latin typeface="Segoe UI Semibold"/>
                          <a:cs typeface="Segoe UI Semibold"/>
                        </a:rPr>
                        <a:t>Standard:</a:t>
                      </a:r>
                      <a:r>
                        <a:rPr sz="800" spc="-15" dirty="0">
                          <a:latin typeface="Segoe UI Semibold"/>
                          <a:cs typeface="Segoe UI Semibold"/>
                        </a:rPr>
                        <a:t> </a:t>
                      </a:r>
                      <a:r>
                        <a:rPr sz="800" dirty="0">
                          <a:latin typeface="Segoe UI Semibold"/>
                          <a:cs typeface="Segoe UI Semibold"/>
                        </a:rPr>
                        <a:t>$15K</a:t>
                      </a:r>
                      <a:r>
                        <a:rPr sz="800" spc="-15" dirty="0">
                          <a:latin typeface="Segoe UI Semibold"/>
                          <a:cs typeface="Segoe UI Semibold"/>
                        </a:rPr>
                        <a:t> </a:t>
                      </a:r>
                      <a:r>
                        <a:rPr sz="800" dirty="0">
                          <a:latin typeface="Segoe UI Semibold"/>
                          <a:cs typeface="Segoe UI Semibold"/>
                        </a:rPr>
                        <a:t>-</a:t>
                      </a:r>
                      <a:r>
                        <a:rPr sz="800" spc="-10" dirty="0">
                          <a:latin typeface="Segoe UI Semibold"/>
                          <a:cs typeface="Segoe UI Semibold"/>
                        </a:rPr>
                        <a:t> $250K</a:t>
                      </a:r>
                      <a:endParaRPr sz="800" dirty="0">
                        <a:latin typeface="Segoe UI Semibold"/>
                        <a:cs typeface="Segoe UI Semibold"/>
                      </a:endParaRPr>
                    </a:p>
                  </a:txBody>
                  <a:tcPr marL="0" marR="0" marT="31115" marB="0">
                    <a:lnL w="6350">
                      <a:solidFill>
                        <a:srgbClr val="D9D9D9"/>
                      </a:solidFill>
                      <a:prstDash val="solid"/>
                    </a:lnL>
                    <a:lnR w="6350">
                      <a:solidFill>
                        <a:srgbClr val="D9D9D9"/>
                      </a:solidFill>
                      <a:prstDash val="solid"/>
                    </a:lnR>
                    <a:lnB w="6350" cap="flat" cmpd="sng" algn="ctr">
                      <a:solidFill>
                        <a:srgbClr val="D9D9D9"/>
                      </a:solidFill>
                      <a:prstDash val="sysDash"/>
                      <a:round/>
                      <a:headEnd type="none" w="med" len="med"/>
                      <a:tailEnd type="none" w="med" len="med"/>
                    </a:lnB>
                  </a:tcPr>
                </a:tc>
                <a:tc>
                  <a:txBody>
                    <a:bodyPr/>
                    <a:lstStyle/>
                    <a:p>
                      <a:pPr marL="635" algn="ctr">
                        <a:lnSpc>
                          <a:spcPct val="100000"/>
                        </a:lnSpc>
                      </a:pPr>
                      <a:r>
                        <a:rPr sz="800" spc="-10" dirty="0">
                          <a:latin typeface="Segoe UI Semibold"/>
                          <a:cs typeface="Segoe UI Semibold"/>
                        </a:rPr>
                        <a:t>$15,000</a:t>
                      </a:r>
                      <a:endParaRPr sz="800" dirty="0">
                        <a:latin typeface="Segoe UI Semibold"/>
                        <a:cs typeface="Segoe UI Semibold"/>
                      </a:endParaRPr>
                    </a:p>
                  </a:txBody>
                  <a:tcPr marL="0" marR="0" marT="31115" marB="0">
                    <a:lnL w="6350">
                      <a:solidFill>
                        <a:srgbClr val="D9D9D9"/>
                      </a:solidFill>
                      <a:prstDash val="solid"/>
                    </a:lnL>
                    <a:lnR w="6350">
                      <a:solidFill>
                        <a:srgbClr val="D9D9D9"/>
                      </a:solidFill>
                      <a:prstDash val="solid"/>
                    </a:lnR>
                    <a:lnB w="6350">
                      <a:solidFill>
                        <a:srgbClr val="D9D9D9"/>
                      </a:solidFill>
                      <a:prstDash val="sysDash"/>
                    </a:lnB>
                  </a:tcPr>
                </a:tc>
                <a:tc>
                  <a:txBody>
                    <a:bodyPr/>
                    <a:lstStyle/>
                    <a:p>
                      <a:pPr marL="635" algn="ctr">
                        <a:lnSpc>
                          <a:spcPct val="100000"/>
                        </a:lnSpc>
                      </a:pPr>
                      <a:r>
                        <a:rPr lang="en-US" sz="800" dirty="0">
                          <a:latin typeface="Segoe UI Semibold"/>
                          <a:cs typeface="Segoe UI Semibold"/>
                        </a:rPr>
                        <a:t>120 Days</a:t>
                      </a:r>
                    </a:p>
                  </a:txBody>
                  <a:tcPr marL="0" marR="0" marT="31115" marB="0">
                    <a:lnL w="6350" cap="flat" cmpd="sng" algn="ctr">
                      <a:solidFill>
                        <a:srgbClr val="D9D9D9"/>
                      </a:solidFill>
                      <a:prstDash val="solid"/>
                      <a:round/>
                      <a:headEnd type="none" w="med" len="med"/>
                      <a:tailEnd type="none" w="med" len="med"/>
                    </a:lnL>
                    <a:lnR w="6350">
                      <a:solidFill>
                        <a:srgbClr val="D9D9D9"/>
                      </a:solidFill>
                      <a:prstDash val="solid"/>
                    </a:lnR>
                    <a:lnB w="6350" cap="flat" cmpd="sng" algn="ctr">
                      <a:solidFill>
                        <a:srgbClr val="D9D9D9"/>
                      </a:solidFill>
                      <a:prstDash val="sysDash"/>
                      <a:round/>
                      <a:headEnd type="none" w="med" len="med"/>
                      <a:tailEnd type="none" w="med" len="med"/>
                    </a:lnB>
                  </a:tcPr>
                </a:tc>
                <a:tc>
                  <a:txBody>
                    <a:bodyPr/>
                    <a:lstStyle/>
                    <a:p>
                      <a:pPr marL="635" algn="ctr">
                        <a:lnSpc>
                          <a:spcPct val="100000"/>
                        </a:lnSpc>
                      </a:pPr>
                      <a:r>
                        <a:rPr lang="en-US" sz="800" dirty="0">
                          <a:latin typeface="Segoe UI Semibold"/>
                          <a:cs typeface="Segoe UI Semibold"/>
                        </a:rPr>
                        <a:t>Pre-sales</a:t>
                      </a:r>
                    </a:p>
                  </a:txBody>
                  <a:tcPr marL="0" marR="0" marT="31115" marB="0">
                    <a:lnL w="6350" cap="flat" cmpd="sng" algn="ctr">
                      <a:solidFill>
                        <a:srgbClr val="D9D9D9"/>
                      </a:solidFill>
                      <a:prstDash val="solid"/>
                      <a:round/>
                      <a:headEnd type="none" w="med" len="med"/>
                      <a:tailEnd type="none" w="med" len="med"/>
                    </a:lnL>
                    <a:lnR w="6350">
                      <a:solidFill>
                        <a:srgbClr val="D9D9D9"/>
                      </a:solidFill>
                      <a:prstDash val="solid"/>
                    </a:lnR>
                    <a:lnB w="6350" cap="flat" cmpd="sng" algn="ctr">
                      <a:solidFill>
                        <a:srgbClr val="D9D9D9"/>
                      </a:solidFill>
                      <a:prstDash val="sysDash"/>
                      <a:round/>
                      <a:headEnd type="none" w="med" len="med"/>
                      <a:tailEnd type="none" w="med" len="med"/>
                    </a:lnB>
                  </a:tcPr>
                </a:tc>
                <a:extLst>
                  <a:ext uri="{0D108BD9-81ED-4DB2-BD59-A6C34878D82A}">
                    <a16:rowId xmlns:a16="http://schemas.microsoft.com/office/drawing/2014/main" val="10001"/>
                  </a:ext>
                </a:extLst>
              </a:tr>
              <a:tr h="88394">
                <a:tc>
                  <a:txBody>
                    <a:bodyPr/>
                    <a:lstStyle/>
                    <a:p>
                      <a:pPr algn="ctr">
                        <a:lnSpc>
                          <a:spcPct val="100000"/>
                        </a:lnSpc>
                      </a:pPr>
                      <a:r>
                        <a:rPr sz="800" dirty="0">
                          <a:latin typeface="Segoe UI Semibold"/>
                          <a:cs typeface="Segoe UI Semibold"/>
                        </a:rPr>
                        <a:t>Large:</a:t>
                      </a:r>
                      <a:r>
                        <a:rPr sz="800" spc="-30" dirty="0">
                          <a:latin typeface="Segoe UI Semibold"/>
                          <a:cs typeface="Segoe UI Semibold"/>
                        </a:rPr>
                        <a:t> </a:t>
                      </a:r>
                      <a:r>
                        <a:rPr sz="800" spc="-10" dirty="0">
                          <a:latin typeface="Segoe UI Semibold"/>
                          <a:cs typeface="Segoe UI Semibold"/>
                        </a:rPr>
                        <a:t>&gt;$250K+</a:t>
                      </a:r>
                      <a:endParaRPr sz="800" dirty="0">
                        <a:latin typeface="Segoe UI Semibold"/>
                        <a:cs typeface="Segoe UI Semibold"/>
                      </a:endParaRPr>
                    </a:p>
                  </a:txBody>
                  <a:tcPr marL="0" marR="0" marT="31750" marB="0">
                    <a:lnL w="6350">
                      <a:solidFill>
                        <a:srgbClr val="D9D9D9"/>
                      </a:solidFill>
                      <a:prstDash val="solid"/>
                    </a:lnL>
                    <a:lnR w="6350">
                      <a:solidFill>
                        <a:srgbClr val="D9D9D9"/>
                      </a:solidFill>
                      <a:prstDash val="solid"/>
                    </a:lnR>
                    <a:lnT w="6350" cap="flat" cmpd="sng" algn="ctr">
                      <a:solidFill>
                        <a:srgbClr val="D9D9D9"/>
                      </a:solidFill>
                      <a:prstDash val="sysDash"/>
                      <a:round/>
                      <a:headEnd type="none" w="med" len="med"/>
                      <a:tailEnd type="none" w="med" len="med"/>
                    </a:lnT>
                    <a:lnB w="6350">
                      <a:solidFill>
                        <a:srgbClr val="D9D9D9"/>
                      </a:solidFill>
                      <a:prstDash val="sysDash"/>
                    </a:lnB>
                  </a:tcPr>
                </a:tc>
                <a:tc>
                  <a:txBody>
                    <a:bodyPr/>
                    <a:lstStyle/>
                    <a:p>
                      <a:pPr marL="635" algn="ctr">
                        <a:lnSpc>
                          <a:spcPct val="100000"/>
                        </a:lnSpc>
                      </a:pPr>
                      <a:r>
                        <a:rPr sz="800" spc="-10" dirty="0">
                          <a:latin typeface="Segoe UI Semibold"/>
                          <a:cs typeface="Segoe UI Semibold"/>
                        </a:rPr>
                        <a:t>$25,000</a:t>
                      </a:r>
                      <a:endParaRPr sz="800" dirty="0">
                        <a:latin typeface="Segoe UI Semibold"/>
                        <a:cs typeface="Segoe UI Semibold"/>
                      </a:endParaRPr>
                    </a:p>
                  </a:txBody>
                  <a:tcPr marL="0" marR="0" marT="31750" marB="0">
                    <a:lnL w="6350">
                      <a:solidFill>
                        <a:srgbClr val="D9D9D9"/>
                      </a:solidFill>
                      <a:prstDash val="solid"/>
                    </a:lnL>
                    <a:lnR w="6350">
                      <a:solidFill>
                        <a:srgbClr val="D9D9D9"/>
                      </a:solidFill>
                      <a:prstDash val="solid"/>
                    </a:lnR>
                    <a:lnT w="6350">
                      <a:solidFill>
                        <a:srgbClr val="D9D9D9"/>
                      </a:solidFill>
                      <a:prstDash val="sysDash"/>
                    </a:lnT>
                    <a:lnB w="6350">
                      <a:solidFill>
                        <a:srgbClr val="D9D9D9"/>
                      </a:solidFill>
                      <a:prstDash val="sysDash"/>
                    </a:lnB>
                  </a:tcPr>
                </a:tc>
                <a:tc>
                  <a:txBody>
                    <a:bodyPr/>
                    <a:lstStyle/>
                    <a:p>
                      <a:pPr marL="635" marR="0" lvl="0" indent="0" algn="ctr" defTabSz="914400" rtl="0" eaLnBrk="1" fontAlgn="auto" latinLnBrk="0" hangingPunct="1">
                        <a:lnSpc>
                          <a:spcPct val="100000"/>
                        </a:lnSpc>
                        <a:spcBef>
                          <a:spcPts val="0"/>
                        </a:spcBef>
                        <a:spcAft>
                          <a:spcPts val="0"/>
                        </a:spcAft>
                        <a:buClrTx/>
                        <a:buSzTx/>
                        <a:buFontTx/>
                        <a:buNone/>
                        <a:tabLst/>
                        <a:defRPr/>
                      </a:pPr>
                      <a:r>
                        <a:rPr lang="en-US" sz="800" dirty="0">
                          <a:latin typeface="Segoe UI Semibold"/>
                          <a:cs typeface="Segoe UI Semibold"/>
                        </a:rPr>
                        <a:t>120 Days</a:t>
                      </a:r>
                    </a:p>
                    <a:p>
                      <a:pPr marL="635" algn="ctr">
                        <a:lnSpc>
                          <a:spcPct val="100000"/>
                        </a:lnSpc>
                      </a:pPr>
                      <a:endParaRPr sz="800" dirty="0">
                        <a:latin typeface="Segoe UI Semibold"/>
                        <a:cs typeface="Segoe UI Semibold"/>
                      </a:endParaRPr>
                    </a:p>
                  </a:txBody>
                  <a:tcPr marL="0" marR="0" marT="31750" marB="0">
                    <a:lnL w="6350" cap="flat" cmpd="sng" algn="ctr">
                      <a:solidFill>
                        <a:srgbClr val="D9D9D9"/>
                      </a:solidFill>
                      <a:prstDash val="solid"/>
                      <a:round/>
                      <a:headEnd type="none" w="med" len="med"/>
                      <a:tailEnd type="none" w="med" len="med"/>
                    </a:lnL>
                    <a:lnR w="6350">
                      <a:solidFill>
                        <a:srgbClr val="D9D9D9"/>
                      </a:solidFill>
                      <a:prstDash val="solid"/>
                    </a:lnR>
                    <a:lnT w="6350" cap="flat" cmpd="sng" algn="ctr">
                      <a:solidFill>
                        <a:srgbClr val="D9D9D9"/>
                      </a:solidFill>
                      <a:prstDash val="sysDash"/>
                      <a:round/>
                      <a:headEnd type="none" w="med" len="med"/>
                      <a:tailEnd type="none" w="med" len="med"/>
                    </a:lnT>
                    <a:lnB w="6350">
                      <a:solidFill>
                        <a:srgbClr val="D9D9D9"/>
                      </a:solidFill>
                      <a:prstDash val="sysDash"/>
                    </a:lnB>
                  </a:tcPr>
                </a:tc>
                <a:tc>
                  <a:txBody>
                    <a:bodyPr/>
                    <a:lstStyle/>
                    <a:p>
                      <a:pPr marL="635" algn="ctr">
                        <a:lnSpc>
                          <a:spcPct val="100000"/>
                        </a:lnSpc>
                      </a:pPr>
                      <a:r>
                        <a:rPr lang="en-US" sz="800" dirty="0">
                          <a:latin typeface="Segoe UI Semibold"/>
                          <a:cs typeface="Segoe UI Semibold"/>
                        </a:rPr>
                        <a:t>Pre-sales</a:t>
                      </a:r>
                    </a:p>
                  </a:txBody>
                  <a:tcPr marL="0" marR="0" marT="31750" marB="0">
                    <a:lnL w="6350" cap="flat" cmpd="sng" algn="ctr">
                      <a:solidFill>
                        <a:srgbClr val="D9D9D9"/>
                      </a:solidFill>
                      <a:prstDash val="solid"/>
                      <a:round/>
                      <a:headEnd type="none" w="med" len="med"/>
                      <a:tailEnd type="none" w="med" len="med"/>
                    </a:lnL>
                    <a:lnR w="6350">
                      <a:solidFill>
                        <a:srgbClr val="D9D9D9"/>
                      </a:solidFill>
                      <a:prstDash val="solid"/>
                    </a:lnR>
                    <a:lnT w="6350" cap="flat" cmpd="sng" algn="ctr">
                      <a:solidFill>
                        <a:srgbClr val="D9D9D9"/>
                      </a:solidFill>
                      <a:prstDash val="sysDash"/>
                      <a:round/>
                      <a:headEnd type="none" w="med" len="med"/>
                      <a:tailEnd type="none" w="med" len="med"/>
                    </a:lnT>
                    <a:lnB w="6350">
                      <a:solidFill>
                        <a:srgbClr val="D9D9D9"/>
                      </a:solidFill>
                      <a:prstDash val="sysDash"/>
                    </a:lnB>
                  </a:tcPr>
                </a:tc>
                <a:extLst>
                  <a:ext uri="{0D108BD9-81ED-4DB2-BD59-A6C34878D82A}">
                    <a16:rowId xmlns:a16="http://schemas.microsoft.com/office/drawing/2014/main" val="10002"/>
                  </a:ext>
                </a:extLst>
              </a:tr>
            </a:tbl>
          </a:graphicData>
        </a:graphic>
      </p:graphicFrame>
      <p:sp>
        <p:nvSpPr>
          <p:cNvPr id="7" name="Title 1">
            <a:extLst>
              <a:ext uri="{FF2B5EF4-FFF2-40B4-BE49-F238E27FC236}">
                <a16:creationId xmlns:a16="http://schemas.microsoft.com/office/drawing/2014/main" id="{5E925A3A-097E-71DC-58C1-D7457AC43357}"/>
              </a:ext>
            </a:extLst>
          </p:cNvPr>
          <p:cNvSpPr txBox="1">
            <a:spLocks/>
          </p:cNvSpPr>
          <p:nvPr/>
        </p:nvSpPr>
        <p:spPr>
          <a:xfrm>
            <a:off x="331316" y="1111257"/>
            <a:ext cx="11568700" cy="387440"/>
          </a:xfrm>
        </p:spPr>
        <p:txBody>
          <a:bodyPr/>
          <a:lst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a:lstStyle>
          <a:p>
            <a:r>
              <a:rPr lang="en-US" sz="2200" dirty="0"/>
              <a:t>Azure Accelerate: Core Migrate &amp; Modernize Pre- Sales (Assessment and POV)</a:t>
            </a:r>
          </a:p>
        </p:txBody>
      </p:sp>
      <p:cxnSp>
        <p:nvCxnSpPr>
          <p:cNvPr id="8" name="Straight Connector 7">
            <a:extLst>
              <a:ext uri="{FF2B5EF4-FFF2-40B4-BE49-F238E27FC236}">
                <a16:creationId xmlns:a16="http://schemas.microsoft.com/office/drawing/2014/main" id="{01886CDC-776B-A957-71FF-B3AE6CBCD3F4}"/>
              </a:ext>
            </a:extLst>
          </p:cNvPr>
          <p:cNvCxnSpPr>
            <a:cxnSpLocks/>
          </p:cNvCxnSpPr>
          <p:nvPr/>
        </p:nvCxnSpPr>
        <p:spPr>
          <a:xfrm>
            <a:off x="415971" y="3147918"/>
            <a:ext cx="11448000" cy="0"/>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B0D0D24-E838-B363-F6E6-B1199C84BBA9}"/>
              </a:ext>
            </a:extLst>
          </p:cNvPr>
          <p:cNvSpPr/>
          <p:nvPr/>
        </p:nvSpPr>
        <p:spPr>
          <a:xfrm>
            <a:off x="10866477" y="42528"/>
            <a:ext cx="1268819" cy="329184"/>
          </a:xfrm>
          <a:prstGeom prst="rect">
            <a:avLst/>
          </a:prstGeom>
          <a:solidFill>
            <a:srgbClr val="00FFFF"/>
          </a:solidFill>
          <a:ln>
            <a:solidFill>
              <a:srgbClr val="FFFF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Customer-Facing</a:t>
            </a:r>
          </a:p>
        </p:txBody>
      </p:sp>
      <p:sp>
        <p:nvSpPr>
          <p:cNvPr id="4" name="Rectangle: Rounded Corners 3">
            <a:extLst>
              <a:ext uri="{FF2B5EF4-FFF2-40B4-BE49-F238E27FC236}">
                <a16:creationId xmlns:a16="http://schemas.microsoft.com/office/drawing/2014/main" id="{33A4A335-2B51-F1DF-A9BC-828A3D11F737}"/>
              </a:ext>
            </a:extLst>
          </p:cNvPr>
          <p:cNvSpPr/>
          <p:nvPr/>
        </p:nvSpPr>
        <p:spPr>
          <a:xfrm>
            <a:off x="10058399" y="2628401"/>
            <a:ext cx="2113429" cy="1021567"/>
          </a:xfrm>
          <a:prstGeom prst="roundRect">
            <a:avLst/>
          </a:prstGeom>
          <a:solidFill>
            <a:srgbClr val="FFFFCC"/>
          </a:solidFill>
          <a:ln w="19050">
            <a:solidFill>
              <a:srgbClr val="EB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rPr>
              <a:t>The project sizes are </a:t>
            </a:r>
            <a:r>
              <a:rPr kumimoji="0" lang="en-US" sz="1100" b="1" i="0" u="none" strike="noStrike" kern="1200" cap="none" spc="0" normalizeH="0" baseline="0" noProof="0" dirty="0">
                <a:ln>
                  <a:noFill/>
                </a:ln>
                <a:solidFill>
                  <a:srgbClr val="000000"/>
                </a:solidFill>
                <a:effectLst/>
                <a:uLnTx/>
                <a:uFillTx/>
                <a:latin typeface="Aptos Narrow" panose="020B0004020202020204" pitchFamily="34" charset="0"/>
              </a:rPr>
              <a:t>the planned Azure consumption in year 1 </a:t>
            </a: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rPr>
              <a:t>measured from project completion/ deployment date / claim submission date.</a:t>
            </a:r>
          </a:p>
        </p:txBody>
      </p:sp>
      <p:sp>
        <p:nvSpPr>
          <p:cNvPr id="10" name="object 38">
            <a:extLst>
              <a:ext uri="{FF2B5EF4-FFF2-40B4-BE49-F238E27FC236}">
                <a16:creationId xmlns:a16="http://schemas.microsoft.com/office/drawing/2014/main" id="{C5A0903B-A02C-DD8A-E368-94EC1AB55EF5}"/>
              </a:ext>
            </a:extLst>
          </p:cNvPr>
          <p:cNvSpPr txBox="1"/>
          <p:nvPr/>
        </p:nvSpPr>
        <p:spPr>
          <a:xfrm>
            <a:off x="407725" y="3638729"/>
            <a:ext cx="11411078" cy="1653658"/>
          </a:xfrm>
          <a:prstGeom prst="rect">
            <a:avLst/>
          </a:prstGeom>
        </p:spPr>
        <p:txBody>
          <a:bodyPr vert="horz" wrap="square" lIns="0" tIns="24765" rIns="0" bIns="0" rtlCol="0">
            <a:spAutoFit/>
          </a:bodyPr>
          <a:lstStyle/>
          <a:p>
            <a:pPr marL="12700">
              <a:lnSpc>
                <a:spcPct val="100000"/>
              </a:lnSpc>
              <a:spcBef>
                <a:spcPts val="195"/>
              </a:spcBef>
            </a:pPr>
            <a:r>
              <a:rPr lang="en-US" sz="1050" u="sng" dirty="0">
                <a:solidFill>
                  <a:schemeClr val="tx2"/>
                </a:solidFill>
                <a:latin typeface="Segoe UI Semibold"/>
                <a:cs typeface="Segoe UI Semibold"/>
              </a:rPr>
              <a:t>POST</a:t>
            </a:r>
            <a:r>
              <a:rPr lang="en-US" sz="1050" dirty="0">
                <a:solidFill>
                  <a:schemeClr val="tx2"/>
                </a:solidFill>
                <a:latin typeface="Segoe UI Semibold"/>
                <a:cs typeface="Segoe UI Semibold"/>
              </a:rPr>
              <a:t>-SALES </a:t>
            </a:r>
            <a:r>
              <a:rPr sz="1050" dirty="0">
                <a:solidFill>
                  <a:schemeClr val="tx2"/>
                </a:solidFill>
                <a:latin typeface="Segoe UI Semibold"/>
                <a:cs typeface="Segoe UI Semibold"/>
              </a:rPr>
              <a:t>ENGAGEMENT</a:t>
            </a:r>
            <a:r>
              <a:rPr sz="1050" spc="25" dirty="0">
                <a:solidFill>
                  <a:schemeClr val="tx2"/>
                </a:solidFill>
                <a:latin typeface="Segoe UI Semibold"/>
                <a:cs typeface="Segoe UI Semibold"/>
              </a:rPr>
              <a:t> </a:t>
            </a:r>
            <a:r>
              <a:rPr sz="1050" spc="-10" dirty="0">
                <a:solidFill>
                  <a:schemeClr val="tx2"/>
                </a:solidFill>
                <a:latin typeface="Segoe UI Semibold"/>
                <a:cs typeface="Segoe UI Semibold"/>
              </a:rPr>
              <a:t>SUMMARY</a:t>
            </a:r>
            <a:endParaRPr sz="1050" dirty="0">
              <a:solidFill>
                <a:schemeClr val="tx2"/>
              </a:solidFill>
              <a:latin typeface="Segoe UI Semibold"/>
              <a:cs typeface="Segoe UI Semibold"/>
            </a:endParaRPr>
          </a:p>
          <a:p>
            <a:pPr marL="12700" marR="676910">
              <a:lnSpc>
                <a:spcPct val="100000"/>
              </a:lnSpc>
            </a:pPr>
            <a:r>
              <a:rPr lang="en-US" sz="1050" dirty="0">
                <a:latin typeface="Segoe UI"/>
                <a:cs typeface="Segoe UI"/>
              </a:rPr>
              <a:t>Helps</a:t>
            </a:r>
            <a:r>
              <a:rPr lang="en-US" sz="1050" spc="-30" dirty="0">
                <a:latin typeface="Segoe UI"/>
                <a:cs typeface="Segoe UI"/>
              </a:rPr>
              <a:t> </a:t>
            </a:r>
            <a:r>
              <a:rPr lang="en-US" sz="1050" dirty="0">
                <a:latin typeface="Segoe UI"/>
                <a:cs typeface="Segoe UI"/>
              </a:rPr>
              <a:t>accelerate</a:t>
            </a:r>
            <a:r>
              <a:rPr lang="en-US" sz="1050" spc="10" dirty="0">
                <a:latin typeface="Segoe UI"/>
                <a:cs typeface="Segoe UI"/>
              </a:rPr>
              <a:t> </a:t>
            </a:r>
            <a:r>
              <a:rPr lang="en-US" sz="1050" dirty="0">
                <a:latin typeface="Segoe UI"/>
                <a:cs typeface="Segoe UI"/>
              </a:rPr>
              <a:t>and</a:t>
            </a:r>
            <a:r>
              <a:rPr lang="en-US" sz="1050" spc="-40" dirty="0">
                <a:latin typeface="Segoe UI"/>
                <a:cs typeface="Segoe UI"/>
              </a:rPr>
              <a:t> </a:t>
            </a:r>
            <a:r>
              <a:rPr lang="en-US" sz="1050" dirty="0">
                <a:latin typeface="Segoe UI"/>
                <a:cs typeface="Segoe UI"/>
              </a:rPr>
              <a:t>simplify</a:t>
            </a:r>
            <a:r>
              <a:rPr lang="en-US" sz="1050" spc="-30" dirty="0">
                <a:latin typeface="Segoe UI"/>
                <a:cs typeface="Segoe UI"/>
              </a:rPr>
              <a:t> </a:t>
            </a:r>
            <a:r>
              <a:rPr lang="en-US" sz="1050" dirty="0">
                <a:latin typeface="Segoe UI"/>
                <a:cs typeface="Segoe UI"/>
              </a:rPr>
              <a:t>customer</a:t>
            </a:r>
            <a:r>
              <a:rPr lang="en-US" sz="1050" spc="-5" dirty="0">
                <a:latin typeface="Segoe UI"/>
                <a:cs typeface="Segoe UI"/>
              </a:rPr>
              <a:t> </a:t>
            </a:r>
            <a:r>
              <a:rPr lang="en-US" sz="1050" dirty="0">
                <a:latin typeface="Segoe UI"/>
                <a:cs typeface="Segoe UI"/>
              </a:rPr>
              <a:t>migration</a:t>
            </a:r>
            <a:r>
              <a:rPr lang="en-US" sz="1050" spc="-30" dirty="0">
                <a:latin typeface="Segoe UI"/>
                <a:cs typeface="Segoe UI"/>
              </a:rPr>
              <a:t> </a:t>
            </a:r>
            <a:r>
              <a:rPr lang="en-US" sz="1050" dirty="0">
                <a:latin typeface="Segoe UI"/>
                <a:cs typeface="Segoe UI"/>
              </a:rPr>
              <a:t>and</a:t>
            </a:r>
            <a:r>
              <a:rPr lang="en-US" sz="1050" spc="-25" dirty="0">
                <a:latin typeface="Segoe UI"/>
                <a:cs typeface="Segoe UI"/>
              </a:rPr>
              <a:t> </a:t>
            </a:r>
            <a:r>
              <a:rPr lang="en-US" sz="1050" dirty="0">
                <a:latin typeface="Segoe UI"/>
                <a:cs typeface="Segoe UI"/>
              </a:rPr>
              <a:t>modernization</a:t>
            </a:r>
            <a:r>
              <a:rPr lang="en-US" sz="1050" spc="-30" dirty="0">
                <a:latin typeface="Segoe UI"/>
                <a:cs typeface="Segoe UI"/>
              </a:rPr>
              <a:t> </a:t>
            </a:r>
            <a:r>
              <a:rPr lang="en-US" sz="1050" dirty="0">
                <a:latin typeface="Segoe UI"/>
                <a:cs typeface="Segoe UI"/>
              </a:rPr>
              <a:t>projects.</a:t>
            </a:r>
            <a:r>
              <a:rPr lang="en-US" sz="1050" spc="-30" dirty="0">
                <a:latin typeface="Segoe UI"/>
                <a:cs typeface="Segoe UI"/>
              </a:rPr>
              <a:t> </a:t>
            </a:r>
            <a:r>
              <a:rPr lang="en-US" sz="1050" dirty="0">
                <a:latin typeface="Segoe UI"/>
                <a:cs typeface="Segoe UI"/>
              </a:rPr>
              <a:t>In</a:t>
            </a:r>
            <a:r>
              <a:rPr lang="en-US" sz="1050" spc="-40" dirty="0">
                <a:latin typeface="Segoe UI"/>
                <a:cs typeface="Segoe UI"/>
              </a:rPr>
              <a:t> </a:t>
            </a:r>
            <a:r>
              <a:rPr lang="en-US" sz="1050" dirty="0">
                <a:latin typeface="Segoe UI"/>
                <a:cs typeface="Segoe UI"/>
              </a:rPr>
              <a:t>this</a:t>
            </a:r>
            <a:r>
              <a:rPr lang="en-US" sz="1050" spc="-40" dirty="0">
                <a:latin typeface="Segoe UI"/>
                <a:cs typeface="Segoe UI"/>
              </a:rPr>
              <a:t> </a:t>
            </a:r>
            <a:r>
              <a:rPr lang="en-US" sz="1050" dirty="0">
                <a:latin typeface="Segoe UI"/>
                <a:cs typeface="Segoe UI"/>
              </a:rPr>
              <a:t>engagement,</a:t>
            </a:r>
            <a:r>
              <a:rPr lang="en-US" sz="1050" spc="-5" dirty="0">
                <a:latin typeface="Segoe UI"/>
                <a:cs typeface="Segoe UI"/>
              </a:rPr>
              <a:t> </a:t>
            </a:r>
            <a:r>
              <a:rPr lang="en-US" sz="1050" dirty="0">
                <a:latin typeface="Segoe UI"/>
                <a:cs typeface="Segoe UI"/>
              </a:rPr>
              <a:t>Rackspace</a:t>
            </a:r>
            <a:r>
              <a:rPr lang="en-US" sz="1050" spc="-20" dirty="0">
                <a:latin typeface="Segoe UI"/>
                <a:cs typeface="Segoe UI"/>
              </a:rPr>
              <a:t> </a:t>
            </a:r>
            <a:r>
              <a:rPr lang="en-US" sz="1050" dirty="0">
                <a:latin typeface="Segoe UI"/>
                <a:cs typeface="Segoe UI"/>
              </a:rPr>
              <a:t>will</a:t>
            </a:r>
            <a:r>
              <a:rPr lang="en-US" sz="1050" spc="-45" dirty="0">
                <a:latin typeface="Segoe UI"/>
                <a:cs typeface="Segoe UI"/>
              </a:rPr>
              <a:t> </a:t>
            </a:r>
            <a:r>
              <a:rPr lang="en-US" sz="1050" dirty="0">
                <a:latin typeface="Segoe UI"/>
                <a:cs typeface="Segoe UI"/>
              </a:rPr>
              <a:t>provide</a:t>
            </a:r>
            <a:r>
              <a:rPr lang="en-US" sz="1050" spc="-40" dirty="0">
                <a:latin typeface="Segoe UI"/>
                <a:cs typeface="Segoe UI"/>
              </a:rPr>
              <a:t> </a:t>
            </a:r>
            <a:r>
              <a:rPr lang="en-US" sz="1050" dirty="0">
                <a:latin typeface="Segoe UI"/>
                <a:cs typeface="Segoe UI"/>
              </a:rPr>
              <a:t>expert</a:t>
            </a:r>
            <a:r>
              <a:rPr lang="en-US" sz="1050" spc="-15" dirty="0">
                <a:latin typeface="Segoe UI"/>
                <a:cs typeface="Segoe UI"/>
              </a:rPr>
              <a:t> </a:t>
            </a:r>
            <a:r>
              <a:rPr lang="en-US" sz="1050" dirty="0">
                <a:latin typeface="Segoe UI"/>
                <a:cs typeface="Segoe UI"/>
              </a:rPr>
              <a:t>guidance</a:t>
            </a:r>
            <a:r>
              <a:rPr lang="en-US" sz="1050" spc="-25" dirty="0">
                <a:latin typeface="Segoe UI"/>
                <a:cs typeface="Segoe UI"/>
              </a:rPr>
              <a:t> </a:t>
            </a:r>
            <a:r>
              <a:rPr lang="en-US" sz="1050" dirty="0">
                <a:latin typeface="Segoe UI"/>
                <a:cs typeface="Segoe UI"/>
              </a:rPr>
              <a:t>to</a:t>
            </a:r>
            <a:r>
              <a:rPr lang="en-US" sz="1050" spc="-35" dirty="0">
                <a:latin typeface="Segoe UI"/>
                <a:cs typeface="Segoe UI"/>
              </a:rPr>
              <a:t> </a:t>
            </a:r>
            <a:r>
              <a:rPr lang="en-US" sz="1050" dirty="0">
                <a:latin typeface="Segoe UI"/>
                <a:cs typeface="Segoe UI"/>
              </a:rPr>
              <a:t>execute</a:t>
            </a:r>
            <a:r>
              <a:rPr lang="en-US" sz="1050" spc="-10" dirty="0">
                <a:latin typeface="Segoe UI"/>
                <a:cs typeface="Segoe UI"/>
              </a:rPr>
              <a:t> </a:t>
            </a:r>
            <a:r>
              <a:rPr lang="en-US" sz="1050" dirty="0">
                <a:latin typeface="Segoe UI"/>
                <a:cs typeface="Segoe UI"/>
              </a:rPr>
              <a:t>a</a:t>
            </a:r>
            <a:r>
              <a:rPr lang="en-US" sz="1050" spc="-30" dirty="0">
                <a:latin typeface="Segoe UI"/>
                <a:cs typeface="Segoe UI"/>
              </a:rPr>
              <a:t> </a:t>
            </a:r>
            <a:r>
              <a:rPr lang="en-US" sz="1050" dirty="0">
                <a:latin typeface="Segoe UI"/>
                <a:cs typeface="Segoe UI"/>
              </a:rPr>
              <a:t>Core</a:t>
            </a:r>
            <a:r>
              <a:rPr lang="en-US" sz="1050" spc="-20" dirty="0">
                <a:latin typeface="Segoe UI"/>
                <a:cs typeface="Segoe UI"/>
              </a:rPr>
              <a:t> </a:t>
            </a:r>
            <a:r>
              <a:rPr lang="en-US" sz="1050" dirty="0">
                <a:latin typeface="Segoe UI"/>
                <a:cs typeface="Segoe UI"/>
              </a:rPr>
              <a:t>Migrate</a:t>
            </a:r>
            <a:r>
              <a:rPr lang="en-US" sz="1050" spc="-30" dirty="0">
                <a:latin typeface="Segoe UI"/>
                <a:cs typeface="Segoe UI"/>
              </a:rPr>
              <a:t> </a:t>
            </a:r>
            <a:r>
              <a:rPr lang="en-US" sz="1050" spc="-10" dirty="0">
                <a:latin typeface="Segoe UI"/>
                <a:cs typeface="Segoe UI"/>
              </a:rPr>
              <a:t>and/or </a:t>
            </a:r>
            <a:r>
              <a:rPr lang="en-US" sz="1050" dirty="0">
                <a:latin typeface="Segoe UI"/>
                <a:cs typeface="Segoe UI"/>
              </a:rPr>
              <a:t>Modernization</a:t>
            </a:r>
            <a:r>
              <a:rPr lang="en-US" sz="1050" spc="-65" dirty="0">
                <a:latin typeface="Segoe UI"/>
                <a:cs typeface="Segoe UI"/>
              </a:rPr>
              <a:t> </a:t>
            </a:r>
            <a:r>
              <a:rPr lang="en-US" sz="1050" spc="-10" dirty="0">
                <a:latin typeface="Segoe UI"/>
                <a:cs typeface="Segoe UI"/>
              </a:rPr>
              <a:t>project.</a:t>
            </a:r>
            <a:endParaRPr lang="en-US" sz="1050" dirty="0">
              <a:latin typeface="Segoe UI"/>
              <a:cs typeface="Segoe UI"/>
            </a:endParaRPr>
          </a:p>
          <a:p>
            <a:pPr marL="12700" marR="5080">
              <a:lnSpc>
                <a:spcPct val="100000"/>
              </a:lnSpc>
            </a:pPr>
            <a:r>
              <a:rPr lang="en-US" sz="1050" dirty="0">
                <a:latin typeface="Segoe UI"/>
                <a:cs typeface="Segoe UI"/>
              </a:rPr>
              <a:t>It</a:t>
            </a:r>
            <a:r>
              <a:rPr lang="en-US" sz="1050" spc="-35" dirty="0">
                <a:latin typeface="Segoe UI"/>
                <a:cs typeface="Segoe UI"/>
              </a:rPr>
              <a:t> </a:t>
            </a:r>
            <a:r>
              <a:rPr lang="en-US" sz="1050" dirty="0">
                <a:latin typeface="Segoe UI"/>
                <a:cs typeface="Segoe UI"/>
              </a:rPr>
              <a:t>can</a:t>
            </a:r>
            <a:r>
              <a:rPr lang="en-US" sz="1050" spc="-20" dirty="0">
                <a:latin typeface="Segoe UI"/>
                <a:cs typeface="Segoe UI"/>
              </a:rPr>
              <a:t> </a:t>
            </a:r>
            <a:r>
              <a:rPr lang="en-US" sz="1050" dirty="0">
                <a:latin typeface="Segoe UI"/>
                <a:cs typeface="Segoe UI"/>
              </a:rPr>
              <a:t>include</a:t>
            </a:r>
            <a:r>
              <a:rPr lang="en-US" sz="1050" spc="-35" dirty="0">
                <a:latin typeface="Segoe UI"/>
                <a:cs typeface="Segoe UI"/>
              </a:rPr>
              <a:t> </a:t>
            </a:r>
            <a:r>
              <a:rPr lang="en-US" sz="1050" dirty="0">
                <a:latin typeface="Segoe UI"/>
                <a:cs typeface="Segoe UI"/>
              </a:rPr>
              <a:t>migrating</a:t>
            </a:r>
            <a:r>
              <a:rPr lang="en-US" sz="1050" spc="-5" dirty="0">
                <a:latin typeface="Segoe UI"/>
                <a:cs typeface="Segoe UI"/>
              </a:rPr>
              <a:t> </a:t>
            </a:r>
            <a:r>
              <a:rPr lang="en-US" sz="1050" dirty="0">
                <a:latin typeface="Segoe UI"/>
                <a:cs typeface="Segoe UI"/>
              </a:rPr>
              <a:t>any</a:t>
            </a:r>
            <a:r>
              <a:rPr lang="en-US" sz="1050" spc="-25" dirty="0">
                <a:latin typeface="Segoe UI"/>
                <a:cs typeface="Segoe UI"/>
              </a:rPr>
              <a:t> </a:t>
            </a:r>
            <a:r>
              <a:rPr lang="en-US" sz="1050" dirty="0">
                <a:latin typeface="Segoe UI"/>
                <a:cs typeface="Segoe UI"/>
              </a:rPr>
              <a:t>of</a:t>
            </a:r>
            <a:r>
              <a:rPr lang="en-US" sz="1050" spc="-30" dirty="0">
                <a:latin typeface="Segoe UI"/>
                <a:cs typeface="Segoe UI"/>
              </a:rPr>
              <a:t> </a:t>
            </a:r>
            <a:r>
              <a:rPr lang="en-US" sz="1050" dirty="0">
                <a:latin typeface="Segoe UI"/>
                <a:cs typeface="Segoe UI"/>
              </a:rPr>
              <a:t>the</a:t>
            </a:r>
            <a:r>
              <a:rPr lang="en-US" sz="1050" spc="-30" dirty="0">
                <a:latin typeface="Segoe UI"/>
                <a:cs typeface="Segoe UI"/>
              </a:rPr>
              <a:t> </a:t>
            </a:r>
            <a:r>
              <a:rPr lang="en-US" sz="1050" dirty="0">
                <a:latin typeface="Segoe UI"/>
                <a:cs typeface="Segoe UI"/>
              </a:rPr>
              <a:t>following</a:t>
            </a:r>
            <a:r>
              <a:rPr lang="en-US" sz="1050" spc="-30" dirty="0">
                <a:latin typeface="Segoe UI"/>
                <a:cs typeface="Segoe UI"/>
              </a:rPr>
              <a:t> </a:t>
            </a:r>
            <a:r>
              <a:rPr lang="en-US" sz="1050" dirty="0">
                <a:latin typeface="Segoe UI"/>
                <a:cs typeface="Segoe UI"/>
              </a:rPr>
              <a:t>workloads</a:t>
            </a:r>
            <a:r>
              <a:rPr lang="en-US" sz="1050" spc="-10" dirty="0">
                <a:latin typeface="Segoe UI"/>
                <a:cs typeface="Segoe UI"/>
              </a:rPr>
              <a:t> </a:t>
            </a:r>
            <a:r>
              <a:rPr lang="en-US" sz="1050" dirty="0">
                <a:latin typeface="Segoe UI"/>
                <a:cs typeface="Segoe UI"/>
              </a:rPr>
              <a:t>to</a:t>
            </a:r>
            <a:r>
              <a:rPr lang="en-US" sz="1050" spc="-30" dirty="0">
                <a:latin typeface="Segoe UI"/>
                <a:cs typeface="Segoe UI"/>
              </a:rPr>
              <a:t> </a:t>
            </a:r>
            <a:r>
              <a:rPr lang="en-US" sz="1050" dirty="0">
                <a:latin typeface="Segoe UI"/>
                <a:cs typeface="Segoe UI"/>
              </a:rPr>
              <a:t>Azure:</a:t>
            </a:r>
            <a:r>
              <a:rPr lang="en-US" sz="1050" spc="-35" dirty="0">
                <a:latin typeface="Segoe UI"/>
                <a:cs typeface="Segoe UI"/>
              </a:rPr>
              <a:t> </a:t>
            </a:r>
            <a:r>
              <a:rPr lang="en-US" sz="1050" dirty="0">
                <a:latin typeface="Segoe UI"/>
                <a:cs typeface="Segoe UI"/>
              </a:rPr>
              <a:t>Windows</a:t>
            </a:r>
            <a:r>
              <a:rPr lang="en-US" sz="1050" spc="-30" dirty="0">
                <a:latin typeface="Segoe UI"/>
                <a:cs typeface="Segoe UI"/>
              </a:rPr>
              <a:t> </a:t>
            </a:r>
            <a:r>
              <a:rPr lang="en-US" sz="1050" dirty="0">
                <a:latin typeface="Segoe UI"/>
                <a:cs typeface="Segoe UI"/>
              </a:rPr>
              <a:t>Server,</a:t>
            </a:r>
            <a:r>
              <a:rPr lang="en-US" sz="1050" spc="-10" dirty="0">
                <a:latin typeface="Segoe UI"/>
                <a:cs typeface="Segoe UI"/>
              </a:rPr>
              <a:t> </a:t>
            </a:r>
            <a:r>
              <a:rPr lang="en-US" sz="1050" dirty="0">
                <a:latin typeface="Segoe UI"/>
                <a:cs typeface="Segoe UI"/>
              </a:rPr>
              <a:t>Linux,</a:t>
            </a:r>
            <a:r>
              <a:rPr lang="en-US" sz="1050" spc="-30" dirty="0">
                <a:latin typeface="Segoe UI"/>
                <a:cs typeface="Segoe UI"/>
              </a:rPr>
              <a:t> </a:t>
            </a:r>
            <a:r>
              <a:rPr lang="en-US" sz="1050" dirty="0">
                <a:latin typeface="Segoe UI"/>
                <a:cs typeface="Segoe UI"/>
              </a:rPr>
              <a:t>SQL</a:t>
            </a:r>
            <a:r>
              <a:rPr lang="en-US" sz="1050" spc="-20" dirty="0">
                <a:latin typeface="Segoe UI"/>
                <a:cs typeface="Segoe UI"/>
              </a:rPr>
              <a:t> </a:t>
            </a:r>
            <a:r>
              <a:rPr lang="en-US" sz="1050" dirty="0">
                <a:latin typeface="Segoe UI"/>
                <a:cs typeface="Segoe UI"/>
              </a:rPr>
              <a:t>Server</a:t>
            </a:r>
            <a:r>
              <a:rPr lang="en-US" sz="1050" spc="-5" dirty="0">
                <a:latin typeface="Segoe UI"/>
                <a:cs typeface="Segoe UI"/>
              </a:rPr>
              <a:t> </a:t>
            </a:r>
            <a:r>
              <a:rPr lang="en-US" sz="1050" dirty="0">
                <a:latin typeface="Segoe UI"/>
                <a:cs typeface="Segoe UI"/>
              </a:rPr>
              <a:t>and</a:t>
            </a:r>
            <a:r>
              <a:rPr lang="en-US" sz="1050" spc="-20" dirty="0">
                <a:latin typeface="Segoe UI"/>
                <a:cs typeface="Segoe UI"/>
              </a:rPr>
              <a:t> </a:t>
            </a:r>
            <a:r>
              <a:rPr lang="en-US" sz="1050" spc="-10" dirty="0">
                <a:latin typeface="Segoe UI"/>
                <a:cs typeface="Segoe UI"/>
              </a:rPr>
              <a:t>open-</a:t>
            </a:r>
            <a:r>
              <a:rPr lang="en-US" sz="1050" dirty="0">
                <a:latin typeface="Segoe UI"/>
                <a:cs typeface="Segoe UI"/>
              </a:rPr>
              <a:t>source</a:t>
            </a:r>
            <a:r>
              <a:rPr lang="en-US" sz="1050" spc="-15" dirty="0">
                <a:latin typeface="Segoe UI"/>
                <a:cs typeface="Segoe UI"/>
              </a:rPr>
              <a:t> </a:t>
            </a:r>
            <a:r>
              <a:rPr lang="en-US" sz="1050" dirty="0">
                <a:latin typeface="Segoe UI"/>
                <a:cs typeface="Segoe UI"/>
              </a:rPr>
              <a:t>databases</a:t>
            </a:r>
            <a:r>
              <a:rPr lang="en-US" sz="1050" spc="10" dirty="0">
                <a:latin typeface="Segoe UI"/>
                <a:cs typeface="Segoe UI"/>
              </a:rPr>
              <a:t> </a:t>
            </a:r>
            <a:r>
              <a:rPr lang="en-US" sz="1050" dirty="0">
                <a:latin typeface="Segoe UI"/>
                <a:cs typeface="Segoe UI"/>
              </a:rPr>
              <a:t>(Azure</a:t>
            </a:r>
            <a:r>
              <a:rPr lang="en-US" sz="1050" spc="-35" dirty="0">
                <a:latin typeface="Segoe UI"/>
                <a:cs typeface="Segoe UI"/>
              </a:rPr>
              <a:t> </a:t>
            </a:r>
            <a:r>
              <a:rPr lang="en-US" sz="1050" dirty="0">
                <a:latin typeface="Segoe UI"/>
                <a:cs typeface="Segoe UI"/>
              </a:rPr>
              <a:t>SQL,</a:t>
            </a:r>
            <a:r>
              <a:rPr lang="en-US" sz="1050" spc="-20" dirty="0">
                <a:latin typeface="Segoe UI"/>
                <a:cs typeface="Segoe UI"/>
              </a:rPr>
              <a:t> </a:t>
            </a:r>
            <a:r>
              <a:rPr lang="en-US" sz="1050" dirty="0">
                <a:latin typeface="Segoe UI"/>
                <a:cs typeface="Segoe UI"/>
              </a:rPr>
              <a:t>Azure</a:t>
            </a:r>
            <a:r>
              <a:rPr lang="en-US" sz="1050" spc="-30" dirty="0">
                <a:latin typeface="Segoe UI"/>
                <a:cs typeface="Segoe UI"/>
              </a:rPr>
              <a:t> </a:t>
            </a:r>
            <a:r>
              <a:rPr lang="en-US" sz="1050" dirty="0">
                <a:latin typeface="Segoe UI"/>
                <a:cs typeface="Segoe UI"/>
              </a:rPr>
              <a:t>PostgreSQL, Azure</a:t>
            </a:r>
            <a:r>
              <a:rPr lang="en-US" sz="1050" spc="-35" dirty="0">
                <a:latin typeface="Segoe UI"/>
                <a:cs typeface="Segoe UI"/>
              </a:rPr>
              <a:t> </a:t>
            </a:r>
            <a:r>
              <a:rPr lang="en-US" sz="1050" dirty="0">
                <a:latin typeface="Segoe UI"/>
                <a:cs typeface="Segoe UI"/>
              </a:rPr>
              <a:t>Cosmos DB,</a:t>
            </a:r>
            <a:r>
              <a:rPr lang="en-US" sz="1050" spc="-35" dirty="0">
                <a:latin typeface="Segoe UI"/>
                <a:cs typeface="Segoe UI"/>
              </a:rPr>
              <a:t> </a:t>
            </a:r>
            <a:r>
              <a:rPr lang="en-US" sz="1050" dirty="0">
                <a:latin typeface="Segoe UI"/>
                <a:cs typeface="Segoe UI"/>
              </a:rPr>
              <a:t>Azure</a:t>
            </a:r>
            <a:r>
              <a:rPr lang="en-US" sz="1050" spc="-30" dirty="0">
                <a:latin typeface="Segoe UI"/>
                <a:cs typeface="Segoe UI"/>
              </a:rPr>
              <a:t> </a:t>
            </a:r>
            <a:r>
              <a:rPr lang="en-US" sz="1050" dirty="0">
                <a:latin typeface="Segoe UI"/>
                <a:cs typeface="Segoe UI"/>
              </a:rPr>
              <a:t>MySQL</a:t>
            </a:r>
            <a:r>
              <a:rPr lang="en-US" sz="1050" spc="-10" dirty="0">
                <a:latin typeface="Segoe UI"/>
                <a:cs typeface="Segoe UI"/>
              </a:rPr>
              <a:t> </a:t>
            </a:r>
            <a:r>
              <a:rPr lang="en-US" sz="1050" spc="-20" dirty="0">
                <a:latin typeface="Segoe UI"/>
                <a:cs typeface="Segoe UI"/>
              </a:rPr>
              <a:t>and/ </a:t>
            </a:r>
            <a:r>
              <a:rPr lang="en-US" sz="1050" dirty="0">
                <a:latin typeface="Segoe UI"/>
                <a:cs typeface="Segoe UI"/>
              </a:rPr>
              <a:t>or</a:t>
            </a:r>
            <a:r>
              <a:rPr lang="en-US" sz="1050" spc="-40" dirty="0">
                <a:latin typeface="Segoe UI"/>
                <a:cs typeface="Segoe UI"/>
              </a:rPr>
              <a:t> </a:t>
            </a:r>
            <a:r>
              <a:rPr lang="en-US" sz="1050" dirty="0">
                <a:latin typeface="Segoe UI"/>
                <a:cs typeface="Segoe UI"/>
              </a:rPr>
              <a:t>modernization</a:t>
            </a:r>
            <a:r>
              <a:rPr lang="en-US" sz="1050" spc="-25" dirty="0">
                <a:latin typeface="Segoe UI"/>
                <a:cs typeface="Segoe UI"/>
              </a:rPr>
              <a:t> </a:t>
            </a:r>
            <a:r>
              <a:rPr lang="en-US" sz="1050" dirty="0">
                <a:latin typeface="Segoe UI"/>
                <a:cs typeface="Segoe UI"/>
              </a:rPr>
              <a:t>of</a:t>
            </a:r>
            <a:r>
              <a:rPr lang="en-US" sz="1050" spc="-35" dirty="0">
                <a:latin typeface="Segoe UI"/>
                <a:cs typeface="Segoe UI"/>
              </a:rPr>
              <a:t> </a:t>
            </a:r>
            <a:r>
              <a:rPr lang="en-US" sz="1050" dirty="0">
                <a:latin typeface="Segoe UI"/>
                <a:cs typeface="Segoe UI"/>
              </a:rPr>
              <a:t>existing</a:t>
            </a:r>
            <a:r>
              <a:rPr lang="en-US" sz="1050" spc="-25" dirty="0">
                <a:latin typeface="Segoe UI"/>
                <a:cs typeface="Segoe UI"/>
              </a:rPr>
              <a:t> </a:t>
            </a:r>
            <a:r>
              <a:rPr lang="en-US" sz="1050" dirty="0">
                <a:latin typeface="Segoe UI"/>
                <a:cs typeface="Segoe UI"/>
              </a:rPr>
              <a:t>applications</a:t>
            </a:r>
            <a:r>
              <a:rPr lang="en-US" sz="1050" spc="-20" dirty="0">
                <a:latin typeface="Segoe UI"/>
                <a:cs typeface="Segoe UI"/>
              </a:rPr>
              <a:t> </a:t>
            </a:r>
            <a:r>
              <a:rPr lang="en-US" sz="1050" dirty="0">
                <a:latin typeface="Segoe UI"/>
                <a:cs typeface="Segoe UI"/>
              </a:rPr>
              <a:t>to</a:t>
            </a:r>
            <a:r>
              <a:rPr lang="en-US" sz="1050" spc="-35" dirty="0">
                <a:latin typeface="Segoe UI"/>
                <a:cs typeface="Segoe UI"/>
              </a:rPr>
              <a:t> </a:t>
            </a:r>
            <a:r>
              <a:rPr lang="en-US" sz="1050" spc="-10" dirty="0">
                <a:latin typeface="Segoe UI"/>
                <a:cs typeface="Segoe UI"/>
              </a:rPr>
              <a:t>Azure.</a:t>
            </a:r>
            <a:endParaRPr lang="en-US" sz="1050" dirty="0">
              <a:latin typeface="Segoe UI"/>
              <a:cs typeface="Segoe UI"/>
            </a:endParaRPr>
          </a:p>
          <a:p>
            <a:pPr marL="12700" marR="77470">
              <a:lnSpc>
                <a:spcPct val="100000"/>
              </a:lnSpc>
            </a:pPr>
            <a:r>
              <a:rPr lang="en-US" sz="1050" dirty="0">
                <a:latin typeface="Segoe UI"/>
                <a:cs typeface="Segoe UI"/>
              </a:rPr>
              <a:t>Rackspace is required</a:t>
            </a:r>
            <a:r>
              <a:rPr lang="en-US" sz="1050" spc="-15" dirty="0">
                <a:latin typeface="Segoe UI"/>
                <a:cs typeface="Segoe UI"/>
              </a:rPr>
              <a:t> </a:t>
            </a:r>
            <a:r>
              <a:rPr lang="en-US" sz="1050" dirty="0">
                <a:latin typeface="Segoe UI"/>
                <a:cs typeface="Segoe UI"/>
              </a:rPr>
              <a:t>to</a:t>
            </a:r>
            <a:r>
              <a:rPr lang="en-US" sz="1050" spc="-25" dirty="0">
                <a:latin typeface="Segoe UI"/>
                <a:cs typeface="Segoe UI"/>
              </a:rPr>
              <a:t> </a:t>
            </a:r>
            <a:r>
              <a:rPr lang="en-US" sz="1050" dirty="0">
                <a:latin typeface="Segoe UI"/>
                <a:cs typeface="Segoe UI"/>
              </a:rPr>
              <a:t>perform</a:t>
            </a:r>
            <a:r>
              <a:rPr lang="en-US" sz="1050" spc="-10" dirty="0">
                <a:latin typeface="Segoe UI"/>
                <a:cs typeface="Segoe UI"/>
              </a:rPr>
              <a:t> </a:t>
            </a:r>
            <a:r>
              <a:rPr lang="en-US" sz="1050" dirty="0">
                <a:latin typeface="Segoe UI"/>
                <a:cs typeface="Segoe UI"/>
              </a:rPr>
              <a:t>specific</a:t>
            </a:r>
            <a:r>
              <a:rPr lang="en-US" sz="1050" spc="-15" dirty="0">
                <a:latin typeface="Segoe UI"/>
                <a:cs typeface="Segoe UI"/>
              </a:rPr>
              <a:t> </a:t>
            </a:r>
            <a:r>
              <a:rPr lang="en-US" sz="1050" dirty="0">
                <a:latin typeface="Segoe UI"/>
                <a:cs typeface="Segoe UI"/>
              </a:rPr>
              <a:t>milestones</a:t>
            </a:r>
            <a:r>
              <a:rPr lang="en-US" sz="1050" spc="5" dirty="0">
                <a:latin typeface="Segoe UI"/>
                <a:cs typeface="Segoe UI"/>
              </a:rPr>
              <a:t> </a:t>
            </a:r>
            <a:r>
              <a:rPr lang="en-US" sz="1050" dirty="0">
                <a:latin typeface="Segoe UI"/>
                <a:cs typeface="Segoe UI"/>
              </a:rPr>
              <a:t>in</a:t>
            </a:r>
            <a:r>
              <a:rPr lang="en-US" sz="1050" spc="-40" dirty="0">
                <a:latin typeface="Segoe UI"/>
                <a:cs typeface="Segoe UI"/>
              </a:rPr>
              <a:t> </a:t>
            </a:r>
            <a:r>
              <a:rPr lang="en-US" sz="1050" dirty="0">
                <a:latin typeface="Segoe UI"/>
                <a:cs typeface="Segoe UI"/>
              </a:rPr>
              <a:t>the</a:t>
            </a:r>
            <a:r>
              <a:rPr lang="en-US" sz="1050" spc="-25" dirty="0">
                <a:latin typeface="Segoe UI"/>
                <a:cs typeface="Segoe UI"/>
              </a:rPr>
              <a:t> </a:t>
            </a:r>
            <a:r>
              <a:rPr lang="en-US" sz="1050" dirty="0">
                <a:latin typeface="Segoe UI"/>
                <a:cs typeface="Segoe UI"/>
              </a:rPr>
              <a:t>project</a:t>
            </a:r>
            <a:r>
              <a:rPr lang="en-US" sz="1050" spc="-15" dirty="0">
                <a:latin typeface="Segoe UI"/>
                <a:cs typeface="Segoe UI"/>
              </a:rPr>
              <a:t> </a:t>
            </a:r>
            <a:r>
              <a:rPr lang="en-US" sz="1050" dirty="0">
                <a:latin typeface="Segoe UI"/>
                <a:cs typeface="Segoe UI"/>
              </a:rPr>
              <a:t>which</a:t>
            </a:r>
            <a:r>
              <a:rPr lang="en-US" sz="1050" spc="-25" dirty="0">
                <a:latin typeface="Segoe UI"/>
                <a:cs typeface="Segoe UI"/>
              </a:rPr>
              <a:t> </a:t>
            </a:r>
            <a:r>
              <a:rPr lang="en-US" sz="1050" dirty="0">
                <a:latin typeface="Segoe UI"/>
                <a:cs typeface="Segoe UI"/>
              </a:rPr>
              <a:t>should</a:t>
            </a:r>
            <a:r>
              <a:rPr lang="en-US" sz="1050" spc="-25" dirty="0">
                <a:latin typeface="Segoe UI"/>
                <a:cs typeface="Segoe UI"/>
              </a:rPr>
              <a:t> </a:t>
            </a:r>
            <a:r>
              <a:rPr lang="en-US" sz="1050" dirty="0">
                <a:latin typeface="Segoe UI"/>
                <a:cs typeface="Segoe UI"/>
              </a:rPr>
              <a:t>include</a:t>
            </a:r>
            <a:r>
              <a:rPr lang="en-US" sz="1050" spc="-25" dirty="0">
                <a:latin typeface="Segoe UI"/>
                <a:cs typeface="Segoe UI"/>
              </a:rPr>
              <a:t> </a:t>
            </a:r>
            <a:r>
              <a:rPr lang="en-US" sz="1050" dirty="0">
                <a:latin typeface="Segoe UI"/>
                <a:cs typeface="Segoe UI"/>
              </a:rPr>
              <a:t>the</a:t>
            </a:r>
            <a:r>
              <a:rPr lang="en-US" sz="1050" spc="-30" dirty="0">
                <a:latin typeface="Segoe UI"/>
                <a:cs typeface="Segoe UI"/>
              </a:rPr>
              <a:t> </a:t>
            </a:r>
            <a:r>
              <a:rPr lang="en-US" sz="1050" dirty="0">
                <a:latin typeface="Segoe UI"/>
                <a:cs typeface="Segoe UI"/>
              </a:rPr>
              <a:t>following</a:t>
            </a:r>
            <a:r>
              <a:rPr lang="en-US" sz="1050" spc="-25" dirty="0">
                <a:latin typeface="Segoe UI"/>
                <a:cs typeface="Segoe UI"/>
              </a:rPr>
              <a:t> </a:t>
            </a:r>
            <a:r>
              <a:rPr lang="en-US" sz="1050" dirty="0">
                <a:latin typeface="Segoe UI"/>
                <a:cs typeface="Segoe UI"/>
              </a:rPr>
              <a:t>activities:</a:t>
            </a:r>
            <a:r>
              <a:rPr lang="en-US" sz="1050" spc="114" dirty="0">
                <a:latin typeface="Segoe UI"/>
                <a:cs typeface="Segoe UI"/>
              </a:rPr>
              <a:t>  </a:t>
            </a:r>
          </a:p>
          <a:p>
            <a:pPr marL="241300" marR="77470" indent="-228600">
              <a:lnSpc>
                <a:spcPct val="100000"/>
              </a:lnSpc>
              <a:buAutoNum type="arabicPeriod"/>
            </a:pPr>
            <a:r>
              <a:rPr lang="en-US" sz="1050" dirty="0">
                <a:latin typeface="Segoe UI"/>
                <a:cs typeface="Segoe UI"/>
              </a:rPr>
              <a:t>Infrastructure/ Application</a:t>
            </a:r>
            <a:r>
              <a:rPr lang="en-US" sz="1050" spc="-20" dirty="0">
                <a:latin typeface="Segoe UI"/>
                <a:cs typeface="Segoe UI"/>
              </a:rPr>
              <a:t> </a:t>
            </a:r>
            <a:r>
              <a:rPr lang="en-US" sz="1050" dirty="0">
                <a:latin typeface="Segoe UI"/>
                <a:cs typeface="Segoe UI"/>
              </a:rPr>
              <a:t>Compatibility</a:t>
            </a:r>
            <a:r>
              <a:rPr lang="en-US" sz="1050" spc="-5" dirty="0">
                <a:latin typeface="Segoe UI"/>
                <a:cs typeface="Segoe UI"/>
              </a:rPr>
              <a:t> </a:t>
            </a:r>
            <a:r>
              <a:rPr lang="en-US" sz="1050" spc="-10" dirty="0">
                <a:latin typeface="Segoe UI"/>
                <a:cs typeface="Segoe UI"/>
              </a:rPr>
              <a:t>Assessment/Review</a:t>
            </a:r>
            <a:r>
              <a:rPr lang="en-US" sz="1050" spc="25" dirty="0">
                <a:latin typeface="Segoe UI"/>
                <a:cs typeface="Segoe UI"/>
              </a:rPr>
              <a:t> </a:t>
            </a:r>
          </a:p>
          <a:p>
            <a:pPr marL="241300" marR="77470" indent="-228600">
              <a:lnSpc>
                <a:spcPct val="100000"/>
              </a:lnSpc>
              <a:buAutoNum type="arabicPeriod"/>
            </a:pPr>
            <a:r>
              <a:rPr lang="en-US" sz="1050" dirty="0">
                <a:latin typeface="Segoe UI"/>
                <a:cs typeface="Segoe UI"/>
              </a:rPr>
              <a:t>Landing</a:t>
            </a:r>
            <a:r>
              <a:rPr lang="en-US" sz="1050" spc="-10" dirty="0">
                <a:latin typeface="Segoe UI"/>
                <a:cs typeface="Segoe UI"/>
              </a:rPr>
              <a:t> </a:t>
            </a:r>
            <a:r>
              <a:rPr lang="en-US" sz="1050" spc="-20" dirty="0">
                <a:latin typeface="Segoe UI"/>
                <a:cs typeface="Segoe UI"/>
              </a:rPr>
              <a:t>Zone </a:t>
            </a:r>
            <a:r>
              <a:rPr lang="en-US" sz="1050" dirty="0">
                <a:latin typeface="Segoe UI"/>
                <a:cs typeface="Segoe UI"/>
              </a:rPr>
              <a:t>Setup</a:t>
            </a:r>
            <a:r>
              <a:rPr lang="en-US" sz="1050" spc="-25" dirty="0">
                <a:latin typeface="Segoe UI"/>
                <a:cs typeface="Segoe UI"/>
              </a:rPr>
              <a:t> </a:t>
            </a:r>
            <a:r>
              <a:rPr lang="en-US" sz="1050" dirty="0">
                <a:latin typeface="Segoe UI"/>
                <a:cs typeface="Segoe UI"/>
              </a:rPr>
              <a:t>or</a:t>
            </a:r>
            <a:r>
              <a:rPr lang="en-US" sz="1050" spc="-35" dirty="0">
                <a:latin typeface="Segoe UI"/>
                <a:cs typeface="Segoe UI"/>
              </a:rPr>
              <a:t> </a:t>
            </a:r>
            <a:r>
              <a:rPr lang="en-US" sz="1050" dirty="0">
                <a:latin typeface="Segoe UI"/>
                <a:cs typeface="Segoe UI"/>
              </a:rPr>
              <a:t>Review</a:t>
            </a:r>
            <a:r>
              <a:rPr lang="en-US" sz="1050" spc="-10" dirty="0">
                <a:latin typeface="Segoe UI"/>
                <a:cs typeface="Segoe UI"/>
              </a:rPr>
              <a:t> </a:t>
            </a:r>
          </a:p>
          <a:p>
            <a:pPr marL="241300" marR="77470" indent="-228600">
              <a:lnSpc>
                <a:spcPct val="100000"/>
              </a:lnSpc>
              <a:buAutoNum type="arabicPeriod"/>
            </a:pPr>
            <a:r>
              <a:rPr lang="en-US" sz="1050" dirty="0">
                <a:latin typeface="Segoe UI"/>
                <a:cs typeface="Segoe UI"/>
              </a:rPr>
              <a:t>Deployment of</a:t>
            </a:r>
            <a:r>
              <a:rPr lang="en-US" sz="1050" spc="-30" dirty="0">
                <a:latin typeface="Segoe UI"/>
                <a:cs typeface="Segoe UI"/>
              </a:rPr>
              <a:t> </a:t>
            </a:r>
            <a:r>
              <a:rPr lang="en-US" sz="1050" dirty="0">
                <a:latin typeface="Segoe UI"/>
                <a:cs typeface="Segoe UI"/>
              </a:rPr>
              <a:t>Migration/</a:t>
            </a:r>
            <a:r>
              <a:rPr lang="en-US" sz="1050" spc="-30" dirty="0">
                <a:latin typeface="Segoe UI"/>
                <a:cs typeface="Segoe UI"/>
              </a:rPr>
              <a:t> </a:t>
            </a:r>
            <a:r>
              <a:rPr lang="en-US" sz="1050" dirty="0">
                <a:latin typeface="Segoe UI"/>
                <a:cs typeface="Segoe UI"/>
              </a:rPr>
              <a:t>Modernization</a:t>
            </a:r>
            <a:r>
              <a:rPr lang="en-US" sz="1050" spc="-10" dirty="0">
                <a:latin typeface="Segoe UI"/>
                <a:cs typeface="Segoe UI"/>
              </a:rPr>
              <a:t> </a:t>
            </a:r>
            <a:r>
              <a:rPr lang="en-US" sz="1050" dirty="0">
                <a:latin typeface="Segoe UI"/>
                <a:cs typeface="Segoe UI"/>
              </a:rPr>
              <a:t>activities</a:t>
            </a:r>
            <a:r>
              <a:rPr lang="en-US" sz="1050" spc="-25" dirty="0">
                <a:latin typeface="Segoe UI"/>
                <a:cs typeface="Segoe UI"/>
              </a:rPr>
              <a:t> </a:t>
            </a:r>
            <a:r>
              <a:rPr lang="en-US" sz="1050" dirty="0">
                <a:latin typeface="Segoe UI"/>
                <a:cs typeface="Segoe UI"/>
              </a:rPr>
              <a:t>including</a:t>
            </a:r>
            <a:r>
              <a:rPr lang="en-US" sz="1050" spc="-30" dirty="0">
                <a:latin typeface="Segoe UI"/>
                <a:cs typeface="Segoe UI"/>
              </a:rPr>
              <a:t> </a:t>
            </a:r>
            <a:r>
              <a:rPr lang="en-US" sz="1050" dirty="0">
                <a:latin typeface="Segoe UI"/>
                <a:cs typeface="Segoe UI"/>
              </a:rPr>
              <a:t>securing</a:t>
            </a:r>
            <a:r>
              <a:rPr lang="en-US" sz="1050" spc="-20" dirty="0">
                <a:latin typeface="Segoe UI"/>
                <a:cs typeface="Segoe UI"/>
              </a:rPr>
              <a:t> </a:t>
            </a:r>
            <a:r>
              <a:rPr lang="en-US" sz="1050" dirty="0">
                <a:latin typeface="Segoe UI"/>
                <a:cs typeface="Segoe UI"/>
              </a:rPr>
              <a:t>the</a:t>
            </a:r>
            <a:r>
              <a:rPr lang="en-US" sz="1050" spc="-25" dirty="0">
                <a:latin typeface="Segoe UI"/>
                <a:cs typeface="Segoe UI"/>
              </a:rPr>
              <a:t> </a:t>
            </a:r>
            <a:r>
              <a:rPr lang="en-US" sz="1050" dirty="0">
                <a:latin typeface="Segoe UI"/>
                <a:cs typeface="Segoe UI"/>
              </a:rPr>
              <a:t>Azure</a:t>
            </a:r>
            <a:r>
              <a:rPr lang="en-US" sz="1050" spc="-40" dirty="0">
                <a:latin typeface="Segoe UI"/>
                <a:cs typeface="Segoe UI"/>
              </a:rPr>
              <a:t> </a:t>
            </a:r>
            <a:r>
              <a:rPr lang="en-US" sz="1050" spc="-10" dirty="0">
                <a:latin typeface="Segoe UI"/>
                <a:cs typeface="Segoe UI"/>
              </a:rPr>
              <a:t>workloads.</a:t>
            </a:r>
            <a:endParaRPr lang="en-US" sz="1050" dirty="0">
              <a:latin typeface="Segoe UI"/>
              <a:cs typeface="Segoe UI"/>
            </a:endParaRPr>
          </a:p>
          <a:p>
            <a:pPr marL="12700" marR="5080">
              <a:lnSpc>
                <a:spcPct val="100000"/>
              </a:lnSpc>
              <a:spcBef>
                <a:spcPts val="95"/>
              </a:spcBef>
            </a:pPr>
            <a:endParaRPr sz="1050" dirty="0">
              <a:latin typeface="Segoe UI"/>
              <a:cs typeface="Segoe UI"/>
            </a:endParaRPr>
          </a:p>
        </p:txBody>
      </p:sp>
      <p:sp>
        <p:nvSpPr>
          <p:cNvPr id="11" name="Title 1">
            <a:extLst>
              <a:ext uri="{FF2B5EF4-FFF2-40B4-BE49-F238E27FC236}">
                <a16:creationId xmlns:a16="http://schemas.microsoft.com/office/drawing/2014/main" id="{03501E42-75A9-011C-6F8D-C5D973ED2137}"/>
              </a:ext>
            </a:extLst>
          </p:cNvPr>
          <p:cNvSpPr txBox="1">
            <a:spLocks/>
          </p:cNvSpPr>
          <p:nvPr/>
        </p:nvSpPr>
        <p:spPr>
          <a:xfrm>
            <a:off x="326699" y="3208384"/>
            <a:ext cx="11568700" cy="387440"/>
          </a:xfrm>
        </p:spPr>
        <p:txBody>
          <a:bodyPr/>
          <a:lst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a:lstStyle>
          <a:p>
            <a:r>
              <a:rPr lang="en-US" sz="2200" dirty="0"/>
              <a:t>Azure Accelerate: Core Migrate &amp; Modernize</a:t>
            </a:r>
          </a:p>
        </p:txBody>
      </p:sp>
      <p:graphicFrame>
        <p:nvGraphicFramePr>
          <p:cNvPr id="12" name="object 49">
            <a:extLst>
              <a:ext uri="{FF2B5EF4-FFF2-40B4-BE49-F238E27FC236}">
                <a16:creationId xmlns:a16="http://schemas.microsoft.com/office/drawing/2014/main" id="{2CE42DEC-2BF4-FFAE-5684-C79DAE997594}"/>
              </a:ext>
            </a:extLst>
          </p:cNvPr>
          <p:cNvGraphicFramePr>
            <a:graphicFrameLocks noGrp="1"/>
          </p:cNvGraphicFramePr>
          <p:nvPr>
            <p:extLst>
              <p:ext uri="{D42A27DB-BD31-4B8C-83A1-F6EECF244321}">
                <p14:modId xmlns:p14="http://schemas.microsoft.com/office/powerpoint/2010/main" val="1253377181"/>
              </p:ext>
            </p:extLst>
          </p:nvPr>
        </p:nvGraphicFramePr>
        <p:xfrm>
          <a:off x="6577981" y="4829628"/>
          <a:ext cx="5209636" cy="1816408"/>
        </p:xfrm>
        <a:graphic>
          <a:graphicData uri="http://schemas.openxmlformats.org/drawingml/2006/table">
            <a:tbl>
              <a:tblPr firstRow="1" bandRow="1">
                <a:tableStyleId>{2D5ABB26-0587-4C30-8999-92F81FD0307C}</a:tableStyleId>
              </a:tblPr>
              <a:tblGrid>
                <a:gridCol w="3092265">
                  <a:extLst>
                    <a:ext uri="{9D8B030D-6E8A-4147-A177-3AD203B41FA5}">
                      <a16:colId xmlns:a16="http://schemas.microsoft.com/office/drawing/2014/main" val="20000"/>
                    </a:ext>
                  </a:extLst>
                </a:gridCol>
                <a:gridCol w="681037">
                  <a:extLst>
                    <a:ext uri="{9D8B030D-6E8A-4147-A177-3AD203B41FA5}">
                      <a16:colId xmlns:a16="http://schemas.microsoft.com/office/drawing/2014/main" val="20001"/>
                    </a:ext>
                  </a:extLst>
                </a:gridCol>
                <a:gridCol w="718167">
                  <a:extLst>
                    <a:ext uri="{9D8B030D-6E8A-4147-A177-3AD203B41FA5}">
                      <a16:colId xmlns:a16="http://schemas.microsoft.com/office/drawing/2014/main" val="1725608647"/>
                    </a:ext>
                  </a:extLst>
                </a:gridCol>
                <a:gridCol w="718167">
                  <a:extLst>
                    <a:ext uri="{9D8B030D-6E8A-4147-A177-3AD203B41FA5}">
                      <a16:colId xmlns:a16="http://schemas.microsoft.com/office/drawing/2014/main" val="1388840556"/>
                    </a:ext>
                  </a:extLst>
                </a:gridCol>
              </a:tblGrid>
              <a:tr h="209254">
                <a:tc>
                  <a:txBody>
                    <a:bodyPr/>
                    <a:lstStyle/>
                    <a:p>
                      <a:pPr marL="40640">
                        <a:lnSpc>
                          <a:spcPct val="100000"/>
                        </a:lnSpc>
                      </a:pPr>
                      <a:r>
                        <a:rPr sz="900" dirty="0">
                          <a:solidFill>
                            <a:schemeClr val="tx1"/>
                          </a:solidFill>
                          <a:latin typeface="Segoe UI Semibold"/>
                          <a:cs typeface="Segoe UI Semibold"/>
                        </a:rPr>
                        <a:t>Project</a:t>
                      </a:r>
                      <a:r>
                        <a:rPr sz="900" spc="-45" dirty="0">
                          <a:solidFill>
                            <a:schemeClr val="tx1"/>
                          </a:solidFill>
                          <a:latin typeface="Segoe UI Semibold"/>
                          <a:cs typeface="Segoe UI Semibold"/>
                        </a:rPr>
                        <a:t> </a:t>
                      </a:r>
                      <a:r>
                        <a:rPr sz="900" spc="-20" dirty="0">
                          <a:solidFill>
                            <a:schemeClr val="tx1"/>
                          </a:solidFill>
                          <a:latin typeface="Segoe UI Semibold"/>
                          <a:cs typeface="Segoe UI Semibold"/>
                        </a:rPr>
                        <a:t>Size</a:t>
                      </a:r>
                      <a:endParaRPr sz="900" dirty="0">
                        <a:solidFill>
                          <a:schemeClr val="tx1"/>
                        </a:solidFill>
                        <a:latin typeface="Segoe UI Semibold"/>
                        <a:cs typeface="Segoe UI Semibold"/>
                      </a:endParaRPr>
                    </a:p>
                  </a:txBody>
                  <a:tcPr marL="0" marR="0" marT="3175" marB="0">
                    <a:lnL w="6350">
                      <a:solidFill>
                        <a:srgbClr val="C3E4FF"/>
                      </a:solidFill>
                      <a:prstDash val="solid"/>
                    </a:lnL>
                    <a:lnR w="6350">
                      <a:solidFill>
                        <a:srgbClr val="D9D9D9"/>
                      </a:solidFill>
                      <a:prstDash val="solid"/>
                    </a:lnR>
                    <a:lnT w="6350">
                      <a:solidFill>
                        <a:srgbClr val="C3E4FF"/>
                      </a:solidFill>
                      <a:prstDash val="solid"/>
                    </a:lnT>
                    <a:solidFill>
                      <a:schemeClr val="accent1">
                        <a:alpha val="50195"/>
                      </a:schemeClr>
                    </a:solidFill>
                  </a:tcPr>
                </a:tc>
                <a:tc>
                  <a:txBody>
                    <a:bodyPr/>
                    <a:lstStyle/>
                    <a:p>
                      <a:pPr marL="635" algn="ctr">
                        <a:lnSpc>
                          <a:spcPct val="100000"/>
                        </a:lnSpc>
                      </a:pPr>
                      <a:r>
                        <a:rPr sz="900" dirty="0">
                          <a:solidFill>
                            <a:schemeClr val="tx1"/>
                          </a:solidFill>
                          <a:latin typeface="Segoe UI Semibold"/>
                          <a:cs typeface="Segoe UI Semibold"/>
                        </a:rPr>
                        <a:t>Payment</a:t>
                      </a:r>
                    </a:p>
                  </a:txBody>
                  <a:tcPr marL="0" marR="0" marT="3175" marB="0">
                    <a:lnL w="6350">
                      <a:solidFill>
                        <a:srgbClr val="D9D9D9"/>
                      </a:solidFill>
                      <a:prstDash val="solid"/>
                    </a:lnL>
                    <a:lnR w="6350" cap="flat" cmpd="sng" algn="ctr">
                      <a:solidFill>
                        <a:srgbClr val="D9D9D9"/>
                      </a:solidFill>
                      <a:prstDash val="solid"/>
                      <a:round/>
                      <a:headEnd type="none" w="med" len="med"/>
                      <a:tailEnd type="none" w="med" len="med"/>
                    </a:lnR>
                    <a:lnT w="6350">
                      <a:solidFill>
                        <a:srgbClr val="C3E4FF"/>
                      </a:solidFill>
                      <a:prstDash val="solid"/>
                    </a:lnT>
                    <a:solidFill>
                      <a:schemeClr val="accent1">
                        <a:alpha val="50195"/>
                      </a:schemeClr>
                    </a:solidFill>
                  </a:tcPr>
                </a:tc>
                <a:tc>
                  <a:txBody>
                    <a:bodyPr/>
                    <a:lstStyle/>
                    <a:p>
                      <a:pPr marL="635" algn="ctr">
                        <a:lnSpc>
                          <a:spcPct val="100000"/>
                        </a:lnSpc>
                      </a:pPr>
                      <a:r>
                        <a:rPr lang="en-US" sz="900" dirty="0">
                          <a:solidFill>
                            <a:schemeClr val="tx1"/>
                          </a:solidFill>
                          <a:latin typeface="Segoe UI Semibold"/>
                          <a:cs typeface="Segoe UI Semibold"/>
                        </a:rPr>
                        <a:t>Duration</a:t>
                      </a:r>
                      <a:endParaRPr sz="900" dirty="0">
                        <a:solidFill>
                          <a:schemeClr val="tx1"/>
                        </a:solidFill>
                        <a:latin typeface="Segoe UI Semibold"/>
                        <a:cs typeface="Segoe UI Semibold"/>
                      </a:endParaRPr>
                    </a:p>
                  </a:txBody>
                  <a:tcPr marL="0" marR="0" marT="317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a:solidFill>
                        <a:srgbClr val="C3E4FF"/>
                      </a:solidFill>
                      <a:prstDash val="solid"/>
                    </a:lnT>
                    <a:solidFill>
                      <a:schemeClr val="accent1">
                        <a:alpha val="50195"/>
                      </a:schemeClr>
                    </a:solidFill>
                  </a:tcPr>
                </a:tc>
                <a:tc>
                  <a:txBody>
                    <a:bodyPr/>
                    <a:lstStyle/>
                    <a:p>
                      <a:pPr marL="635" algn="ctr">
                        <a:lnSpc>
                          <a:spcPct val="100000"/>
                        </a:lnSpc>
                      </a:pPr>
                      <a:r>
                        <a:rPr lang="en-US" sz="900" dirty="0">
                          <a:solidFill>
                            <a:schemeClr val="tx1"/>
                          </a:solidFill>
                          <a:latin typeface="Segoe UI Semibold"/>
                          <a:cs typeface="Segoe UI Semibold"/>
                        </a:rPr>
                        <a:t>Phase</a:t>
                      </a:r>
                      <a:endParaRPr sz="900" dirty="0">
                        <a:solidFill>
                          <a:schemeClr val="tx1"/>
                        </a:solidFill>
                        <a:latin typeface="Segoe UI Semibold"/>
                        <a:cs typeface="Segoe UI Semibold"/>
                      </a:endParaRPr>
                    </a:p>
                  </a:txBody>
                  <a:tcPr marL="0" marR="0" marT="317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a:solidFill>
                        <a:srgbClr val="C3E4FF"/>
                      </a:solidFill>
                      <a:prstDash val="solid"/>
                    </a:lnT>
                    <a:solidFill>
                      <a:schemeClr val="accent1">
                        <a:alpha val="50195"/>
                      </a:schemeClr>
                    </a:solidFill>
                  </a:tcPr>
                </a:tc>
                <a:extLst>
                  <a:ext uri="{0D108BD9-81ED-4DB2-BD59-A6C34878D82A}">
                    <a16:rowId xmlns:a16="http://schemas.microsoft.com/office/drawing/2014/main" val="10000"/>
                  </a:ext>
                </a:extLst>
              </a:tr>
              <a:tr h="191686">
                <a:tc>
                  <a:txBody>
                    <a:bodyPr/>
                    <a:lstStyle/>
                    <a:p>
                      <a:pPr marL="36195">
                        <a:lnSpc>
                          <a:spcPct val="100000"/>
                        </a:lnSpc>
                        <a:spcBef>
                          <a:spcPts val="355"/>
                        </a:spcBef>
                      </a:pPr>
                      <a:r>
                        <a:rPr sz="800" dirty="0">
                          <a:latin typeface="Segoe UI Semibold"/>
                          <a:cs typeface="Segoe UI Semibold"/>
                        </a:rPr>
                        <a:t>XXS</a:t>
                      </a:r>
                      <a:endParaRPr lang="en-US" sz="800" dirty="0">
                        <a:latin typeface="Segoe UI Semibold"/>
                        <a:cs typeface="Segoe UI Semibold"/>
                      </a:endParaRPr>
                    </a:p>
                    <a:p>
                      <a:pPr marL="36195">
                        <a:lnSpc>
                          <a:spcPct val="100000"/>
                        </a:lnSpc>
                        <a:spcBef>
                          <a:spcPts val="305"/>
                        </a:spcBef>
                      </a:pPr>
                      <a:r>
                        <a:rPr lang="en-US" sz="700" dirty="0">
                          <a:latin typeface="Segoe UI"/>
                          <a:cs typeface="Segoe UI"/>
                        </a:rPr>
                        <a:t>Project</a:t>
                      </a:r>
                      <a:r>
                        <a:rPr lang="en-US" sz="700" spc="-15" dirty="0">
                          <a:latin typeface="Segoe UI"/>
                          <a:cs typeface="Segoe UI"/>
                        </a:rPr>
                        <a:t> </a:t>
                      </a:r>
                      <a:r>
                        <a:rPr lang="en-US" sz="700" dirty="0">
                          <a:latin typeface="Segoe UI"/>
                          <a:cs typeface="Segoe UI"/>
                        </a:rPr>
                        <a:t>size:</a:t>
                      </a:r>
                      <a:r>
                        <a:rPr lang="en-US" sz="700" spc="-25" dirty="0">
                          <a:latin typeface="Segoe UI"/>
                          <a:cs typeface="Segoe UI"/>
                        </a:rPr>
                        <a:t> </a:t>
                      </a:r>
                      <a:r>
                        <a:rPr lang="en-US" sz="700" b="1" dirty="0">
                          <a:latin typeface="Segoe UI"/>
                          <a:cs typeface="Segoe UI"/>
                        </a:rPr>
                        <a:t>$5K</a:t>
                      </a:r>
                      <a:r>
                        <a:rPr lang="en-US" sz="700" b="1" spc="-35" dirty="0">
                          <a:latin typeface="Segoe UI"/>
                          <a:cs typeface="Segoe UI"/>
                        </a:rPr>
                        <a:t> </a:t>
                      </a:r>
                      <a:r>
                        <a:rPr lang="en-US" sz="700" b="1" dirty="0">
                          <a:latin typeface="Segoe UI"/>
                          <a:cs typeface="Segoe UI"/>
                        </a:rPr>
                        <a:t>–</a:t>
                      </a:r>
                      <a:r>
                        <a:rPr lang="en-US" sz="700" b="1" spc="-30" dirty="0">
                          <a:latin typeface="Segoe UI"/>
                          <a:cs typeface="Segoe UI"/>
                        </a:rPr>
                        <a:t> </a:t>
                      </a:r>
                      <a:r>
                        <a:rPr lang="en-US" sz="700" b="1" dirty="0">
                          <a:latin typeface="Segoe UI"/>
                          <a:cs typeface="Segoe UI"/>
                        </a:rPr>
                        <a:t>$15K/year</a:t>
                      </a:r>
                      <a:r>
                        <a:rPr lang="en-US" sz="700" b="1" spc="-15" dirty="0">
                          <a:latin typeface="Segoe UI"/>
                          <a:cs typeface="Segoe UI"/>
                        </a:rPr>
                        <a:t> </a:t>
                      </a:r>
                      <a:r>
                        <a:rPr lang="en-US" sz="700" dirty="0">
                          <a:latin typeface="Segoe UI"/>
                          <a:cs typeface="Segoe UI"/>
                        </a:rPr>
                        <a:t>planned</a:t>
                      </a:r>
                      <a:r>
                        <a:rPr lang="en-US" sz="700" spc="-25" dirty="0">
                          <a:latin typeface="Segoe UI"/>
                          <a:cs typeface="Segoe UI"/>
                        </a:rPr>
                        <a:t> </a:t>
                      </a:r>
                      <a:r>
                        <a:rPr lang="en-US" sz="700" dirty="0">
                          <a:latin typeface="Segoe UI"/>
                          <a:cs typeface="Segoe UI"/>
                        </a:rPr>
                        <a:t>Azure</a:t>
                      </a:r>
                      <a:r>
                        <a:rPr lang="en-US" sz="700" spc="-20" dirty="0">
                          <a:latin typeface="Segoe UI"/>
                          <a:cs typeface="Segoe UI"/>
                        </a:rPr>
                        <a:t> </a:t>
                      </a:r>
                      <a:r>
                        <a:rPr lang="en-US" sz="700" spc="-10" dirty="0">
                          <a:latin typeface="Segoe UI"/>
                          <a:cs typeface="Segoe UI"/>
                        </a:rPr>
                        <a:t>consumption</a:t>
                      </a:r>
                      <a:endParaRPr lang="en-US" sz="700" dirty="0">
                        <a:latin typeface="Segoe UI"/>
                        <a:cs typeface="Segoe UI"/>
                      </a:endParaRPr>
                    </a:p>
                  </a:txBody>
                  <a:tcPr marL="0" marR="0" marT="45085" marB="0">
                    <a:lnL w="6350">
                      <a:solidFill>
                        <a:srgbClr val="D9D9D9"/>
                      </a:solidFill>
                      <a:prstDash val="solid"/>
                    </a:lnL>
                    <a:lnR w="6350">
                      <a:solidFill>
                        <a:srgbClr val="D9D9D9"/>
                      </a:solidFill>
                      <a:prstDash val="solid"/>
                    </a:lnR>
                    <a:lnB w="12700">
                      <a:solidFill>
                        <a:srgbClr val="E6E6E6"/>
                      </a:solidFill>
                      <a:prstDash val="sysDot"/>
                    </a:lnB>
                  </a:tcPr>
                </a:tc>
                <a:tc>
                  <a:txBody>
                    <a:bodyPr/>
                    <a:lstStyle/>
                    <a:p>
                      <a:pPr algn="ctr">
                        <a:lnSpc>
                          <a:spcPct val="100000"/>
                        </a:lnSpc>
                        <a:spcBef>
                          <a:spcPts val="860"/>
                        </a:spcBef>
                      </a:pPr>
                      <a:r>
                        <a:rPr sz="900" dirty="0">
                          <a:latin typeface="Segoe UI Semibold"/>
                          <a:cs typeface="Segoe UI Semibold"/>
                        </a:rPr>
                        <a:t>$2,000</a:t>
                      </a:r>
                    </a:p>
                  </a:txBody>
                  <a:tcPr marL="0" marR="0" marT="109220" marB="0">
                    <a:lnL w="6350">
                      <a:solidFill>
                        <a:srgbClr val="D9D9D9"/>
                      </a:solidFill>
                      <a:prstDash val="solid"/>
                    </a:lnL>
                    <a:lnR w="6350" cap="flat" cmpd="sng" algn="ctr">
                      <a:solidFill>
                        <a:srgbClr val="D9D9D9"/>
                      </a:solidFill>
                      <a:prstDash val="solid"/>
                      <a:round/>
                      <a:headEnd type="none" w="med" len="med"/>
                      <a:tailEnd type="none" w="med" len="med"/>
                    </a:lnR>
                    <a:lnB w="12700">
                      <a:solidFill>
                        <a:srgbClr val="E6E6E6"/>
                      </a:solidFill>
                      <a:prstDash val="sysDot"/>
                    </a:lnB>
                  </a:tcPr>
                </a:tc>
                <a:tc>
                  <a:txBody>
                    <a:bodyPr/>
                    <a:lstStyle/>
                    <a:p>
                      <a:pPr marR="24765" algn="ctr">
                        <a:lnSpc>
                          <a:spcPct val="100000"/>
                        </a:lnSpc>
                        <a:spcBef>
                          <a:spcPts val="860"/>
                        </a:spcBef>
                      </a:pPr>
                      <a:r>
                        <a:rPr sz="900" dirty="0">
                          <a:latin typeface="Segoe UI Semibold"/>
                          <a:cs typeface="Segoe UI Semibold"/>
                        </a:rPr>
                        <a:t>120</a:t>
                      </a:r>
                      <a:r>
                        <a:rPr sz="900" spc="-25" dirty="0">
                          <a:latin typeface="Segoe UI Semibold"/>
                          <a:cs typeface="Segoe UI Semibold"/>
                        </a:rPr>
                        <a:t> </a:t>
                      </a:r>
                      <a:r>
                        <a:rPr sz="900" spc="-20" dirty="0">
                          <a:latin typeface="Segoe UI Semibold"/>
                          <a:cs typeface="Segoe UI Semibold"/>
                        </a:rPr>
                        <a:t>days</a:t>
                      </a:r>
                      <a:endParaRPr sz="900" dirty="0">
                        <a:latin typeface="Segoe UI Semibold"/>
                        <a:cs typeface="Segoe UI Semibold"/>
                      </a:endParaRPr>
                    </a:p>
                  </a:txBody>
                  <a:tcPr marL="0" marR="0" marT="109220"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B w="12700" cap="flat" cmpd="sng" algn="ctr">
                      <a:solidFill>
                        <a:srgbClr val="E6E6E6"/>
                      </a:solidFill>
                      <a:prstDash val="sysDot"/>
                      <a:round/>
                      <a:headEnd type="none" w="med" len="med"/>
                      <a:tailEnd type="none" w="med" len="med"/>
                    </a:lnB>
                  </a:tcPr>
                </a:tc>
                <a:tc>
                  <a:txBody>
                    <a:bodyPr/>
                    <a:lstStyle/>
                    <a:p>
                      <a:pPr>
                        <a:lnSpc>
                          <a:spcPct val="100000"/>
                        </a:lnSpc>
                        <a:spcBef>
                          <a:spcPts val="210"/>
                        </a:spcBef>
                      </a:pPr>
                      <a:endParaRPr sz="900" dirty="0">
                        <a:latin typeface="Times New Roman"/>
                        <a:cs typeface="Times New Roman"/>
                      </a:endParaRPr>
                    </a:p>
                    <a:p>
                      <a:pPr marL="3175" algn="ctr">
                        <a:lnSpc>
                          <a:spcPct val="100000"/>
                        </a:lnSpc>
                      </a:pPr>
                      <a:r>
                        <a:rPr sz="900" spc="-10" dirty="0">
                          <a:latin typeface="Segoe UI Semibold"/>
                          <a:cs typeface="Segoe UI Semibold"/>
                        </a:rPr>
                        <a:t>P</a:t>
                      </a:r>
                      <a:r>
                        <a:rPr lang="en-US" sz="900" spc="-10" dirty="0">
                          <a:latin typeface="Segoe UI Semibold"/>
                          <a:cs typeface="Segoe UI Semibold"/>
                        </a:rPr>
                        <a:t>ost</a:t>
                      </a:r>
                      <a:r>
                        <a:rPr sz="900" spc="-10" dirty="0">
                          <a:latin typeface="Segoe UI Semibold"/>
                          <a:cs typeface="Segoe UI Semibold"/>
                        </a:rPr>
                        <a:t>-sales</a:t>
                      </a:r>
                      <a:endParaRPr sz="900" dirty="0">
                        <a:latin typeface="Segoe UI Semibold"/>
                        <a:cs typeface="Segoe UI Semibold"/>
                      </a:endParaRPr>
                    </a:p>
                  </a:txBody>
                  <a:tcPr marL="0" marR="0" marT="26670" marB="0">
                    <a:lnL w="6350" cap="flat" cmpd="sng" algn="ctr">
                      <a:solidFill>
                        <a:srgbClr val="D9D9D9"/>
                      </a:solidFill>
                      <a:prstDash val="solid"/>
                      <a:round/>
                      <a:headEnd type="none" w="med" len="med"/>
                      <a:tailEnd type="none" w="med" len="med"/>
                    </a:lnL>
                    <a:lnR w="6350">
                      <a:solidFill>
                        <a:srgbClr val="D9D9D9"/>
                      </a:solidFill>
                      <a:prstDash val="solid"/>
                    </a:lnR>
                    <a:lnB w="12700" cap="flat" cmpd="sng" algn="ctr">
                      <a:solidFill>
                        <a:srgbClr val="E6E6E6"/>
                      </a:solidFill>
                      <a:prstDash val="sysDot"/>
                      <a:round/>
                      <a:headEnd type="none" w="med" len="med"/>
                      <a:tailEnd type="none" w="med" len="med"/>
                    </a:lnB>
                  </a:tcPr>
                </a:tc>
                <a:extLst>
                  <a:ext uri="{0D108BD9-81ED-4DB2-BD59-A6C34878D82A}">
                    <a16:rowId xmlns:a16="http://schemas.microsoft.com/office/drawing/2014/main" val="10001"/>
                  </a:ext>
                </a:extLst>
              </a:tr>
              <a:tr h="257273">
                <a:tc>
                  <a:txBody>
                    <a:bodyPr/>
                    <a:lstStyle/>
                    <a:p>
                      <a:pPr marL="36195">
                        <a:lnSpc>
                          <a:spcPct val="100000"/>
                        </a:lnSpc>
                        <a:spcBef>
                          <a:spcPts val="355"/>
                        </a:spcBef>
                      </a:pPr>
                      <a:r>
                        <a:rPr sz="800" dirty="0">
                          <a:latin typeface="Segoe UI Semibold"/>
                          <a:cs typeface="Segoe UI Semibold"/>
                        </a:rPr>
                        <a:t>XS</a:t>
                      </a:r>
                    </a:p>
                    <a:p>
                      <a:pPr marL="36195">
                        <a:lnSpc>
                          <a:spcPct val="100000"/>
                        </a:lnSpc>
                        <a:spcBef>
                          <a:spcPts val="305"/>
                        </a:spcBef>
                      </a:pPr>
                      <a:r>
                        <a:rPr sz="700" dirty="0">
                          <a:latin typeface="Segoe UI"/>
                          <a:cs typeface="Segoe UI"/>
                        </a:rPr>
                        <a:t>Project</a:t>
                      </a:r>
                      <a:r>
                        <a:rPr sz="700" spc="-15" dirty="0">
                          <a:latin typeface="Segoe UI"/>
                          <a:cs typeface="Segoe UI"/>
                        </a:rPr>
                        <a:t> </a:t>
                      </a:r>
                      <a:r>
                        <a:rPr sz="700" dirty="0">
                          <a:latin typeface="Segoe UI"/>
                          <a:cs typeface="Segoe UI"/>
                        </a:rPr>
                        <a:t>size:</a:t>
                      </a:r>
                      <a:r>
                        <a:rPr sz="700" spc="-25" dirty="0">
                          <a:latin typeface="Segoe UI"/>
                          <a:cs typeface="Segoe UI"/>
                        </a:rPr>
                        <a:t> </a:t>
                      </a:r>
                      <a:r>
                        <a:rPr sz="700" dirty="0">
                          <a:latin typeface="Segoe UI"/>
                          <a:cs typeface="Segoe UI"/>
                        </a:rPr>
                        <a:t>&gt;</a:t>
                      </a:r>
                      <a:r>
                        <a:rPr sz="700" b="1" dirty="0">
                          <a:latin typeface="Segoe UI"/>
                          <a:cs typeface="Segoe UI"/>
                        </a:rPr>
                        <a:t>$15K</a:t>
                      </a:r>
                      <a:r>
                        <a:rPr sz="700" b="1" spc="-35" dirty="0">
                          <a:latin typeface="Segoe UI"/>
                          <a:cs typeface="Segoe UI"/>
                        </a:rPr>
                        <a:t> </a:t>
                      </a:r>
                      <a:r>
                        <a:rPr sz="700" b="1" dirty="0">
                          <a:latin typeface="Segoe UI"/>
                          <a:cs typeface="Segoe UI"/>
                        </a:rPr>
                        <a:t>–</a:t>
                      </a:r>
                      <a:r>
                        <a:rPr sz="700" b="1" spc="-35" dirty="0">
                          <a:latin typeface="Segoe UI"/>
                          <a:cs typeface="Segoe UI"/>
                        </a:rPr>
                        <a:t> </a:t>
                      </a:r>
                      <a:r>
                        <a:rPr sz="700" b="1" dirty="0">
                          <a:latin typeface="Segoe UI"/>
                          <a:cs typeface="Segoe UI"/>
                        </a:rPr>
                        <a:t>$50K/year</a:t>
                      </a:r>
                      <a:r>
                        <a:rPr sz="700" b="1" spc="-15" dirty="0">
                          <a:latin typeface="Segoe UI"/>
                          <a:cs typeface="Segoe UI"/>
                        </a:rPr>
                        <a:t> </a:t>
                      </a:r>
                      <a:r>
                        <a:rPr sz="700" dirty="0">
                          <a:latin typeface="Segoe UI"/>
                          <a:cs typeface="Segoe UI"/>
                        </a:rPr>
                        <a:t>planned</a:t>
                      </a:r>
                      <a:r>
                        <a:rPr sz="700" spc="-25" dirty="0">
                          <a:latin typeface="Segoe UI"/>
                          <a:cs typeface="Segoe UI"/>
                        </a:rPr>
                        <a:t> </a:t>
                      </a:r>
                      <a:r>
                        <a:rPr sz="700" dirty="0">
                          <a:latin typeface="Segoe UI"/>
                          <a:cs typeface="Segoe UI"/>
                        </a:rPr>
                        <a:t>Azure</a:t>
                      </a:r>
                      <a:r>
                        <a:rPr sz="700" spc="-20" dirty="0">
                          <a:latin typeface="Segoe UI"/>
                          <a:cs typeface="Segoe UI"/>
                        </a:rPr>
                        <a:t> </a:t>
                      </a:r>
                      <a:r>
                        <a:rPr sz="700" spc="-10" dirty="0">
                          <a:latin typeface="Segoe UI"/>
                          <a:cs typeface="Segoe UI"/>
                        </a:rPr>
                        <a:t>consumption</a:t>
                      </a:r>
                      <a:endParaRPr sz="700" dirty="0">
                        <a:latin typeface="Segoe UI"/>
                        <a:cs typeface="Segoe UI"/>
                      </a:endParaRPr>
                    </a:p>
                  </a:txBody>
                  <a:tcPr marL="0" marR="0" marT="45085" marB="0">
                    <a:lnL w="6350">
                      <a:solidFill>
                        <a:srgbClr val="D9D9D9"/>
                      </a:solidFill>
                      <a:prstDash val="solid"/>
                    </a:lnL>
                    <a:lnR w="6350">
                      <a:solidFill>
                        <a:srgbClr val="D9D9D9"/>
                      </a:solidFill>
                      <a:prstDash val="solid"/>
                    </a:lnR>
                    <a:lnT w="12700">
                      <a:solidFill>
                        <a:srgbClr val="E6E6E6"/>
                      </a:solidFill>
                      <a:prstDash val="sysDot"/>
                    </a:lnT>
                    <a:lnB w="12700">
                      <a:solidFill>
                        <a:srgbClr val="E6E6E6"/>
                      </a:solidFill>
                      <a:prstDash val="sysDot"/>
                    </a:lnB>
                  </a:tcPr>
                </a:tc>
                <a:tc>
                  <a:txBody>
                    <a:bodyPr/>
                    <a:lstStyle/>
                    <a:p>
                      <a:pPr algn="ctr">
                        <a:lnSpc>
                          <a:spcPct val="100000"/>
                        </a:lnSpc>
                        <a:spcBef>
                          <a:spcPts val="865"/>
                        </a:spcBef>
                      </a:pPr>
                      <a:r>
                        <a:rPr sz="900" dirty="0">
                          <a:latin typeface="Segoe UI Semibold"/>
                          <a:cs typeface="Segoe UI Semibold"/>
                        </a:rPr>
                        <a:t>$6,500</a:t>
                      </a:r>
                    </a:p>
                  </a:txBody>
                  <a:tcPr marL="0" marR="0" marT="109855" marB="0">
                    <a:lnL w="6350">
                      <a:solidFill>
                        <a:srgbClr val="D9D9D9"/>
                      </a:solidFill>
                      <a:prstDash val="solid"/>
                    </a:lnL>
                    <a:lnR w="6350" cap="flat" cmpd="sng" algn="ctr">
                      <a:solidFill>
                        <a:srgbClr val="D9D9D9"/>
                      </a:solidFill>
                      <a:prstDash val="solid"/>
                      <a:round/>
                      <a:headEnd type="none" w="med" len="med"/>
                      <a:tailEnd type="none" w="med" len="med"/>
                    </a:lnR>
                    <a:lnT w="12700">
                      <a:solidFill>
                        <a:srgbClr val="E6E6E6"/>
                      </a:solidFill>
                      <a:prstDash val="sysDot"/>
                    </a:lnT>
                    <a:lnB w="12700">
                      <a:solidFill>
                        <a:srgbClr val="E6E6E6"/>
                      </a:solidFill>
                      <a:prstDash val="sysDot"/>
                    </a:lnB>
                  </a:tcPr>
                </a:tc>
                <a:tc>
                  <a:txBody>
                    <a:bodyPr/>
                    <a:lstStyle/>
                    <a:p>
                      <a:pPr marR="24765" algn="ctr">
                        <a:lnSpc>
                          <a:spcPct val="100000"/>
                        </a:lnSpc>
                        <a:spcBef>
                          <a:spcPts val="865"/>
                        </a:spcBef>
                      </a:pPr>
                      <a:r>
                        <a:rPr sz="900" dirty="0">
                          <a:latin typeface="Segoe UI Semibold"/>
                          <a:cs typeface="Segoe UI Semibold"/>
                        </a:rPr>
                        <a:t>120</a:t>
                      </a:r>
                      <a:r>
                        <a:rPr sz="900" spc="-25" dirty="0">
                          <a:latin typeface="Segoe UI Semibold"/>
                          <a:cs typeface="Segoe UI Semibold"/>
                        </a:rPr>
                        <a:t> </a:t>
                      </a:r>
                      <a:r>
                        <a:rPr sz="900" spc="-20" dirty="0">
                          <a:latin typeface="Segoe UI Semibold"/>
                          <a:cs typeface="Segoe UI Semibold"/>
                        </a:rPr>
                        <a:t>days</a:t>
                      </a:r>
                      <a:endParaRPr sz="900" dirty="0">
                        <a:latin typeface="Segoe UI Semibold"/>
                        <a:cs typeface="Segoe UI Semibold"/>
                      </a:endParaRPr>
                    </a:p>
                  </a:txBody>
                  <a:tcPr marL="0" marR="0" marT="10985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12700" cap="flat" cmpd="sng" algn="ctr">
                      <a:solidFill>
                        <a:srgbClr val="E6E6E6"/>
                      </a:solidFill>
                      <a:prstDash val="sysDot"/>
                      <a:round/>
                      <a:headEnd type="none" w="med" len="med"/>
                      <a:tailEnd type="none" w="med" len="med"/>
                    </a:lnT>
                    <a:lnB w="12700" cap="flat" cmpd="sng" algn="ctr">
                      <a:solidFill>
                        <a:srgbClr val="E6E6E6"/>
                      </a:solidFill>
                      <a:prstDash val="sysDot"/>
                      <a:round/>
                      <a:headEnd type="none" w="med" len="med"/>
                      <a:tailEnd type="none" w="med" len="med"/>
                    </a:lnB>
                  </a:tcPr>
                </a:tc>
                <a:tc>
                  <a:txBody>
                    <a:bodyPr/>
                    <a:lstStyle/>
                    <a:p>
                      <a:pPr marL="3175"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000000"/>
                          </a:solidFill>
                          <a:effectLst/>
                          <a:uLnTx/>
                          <a:uFillTx/>
                          <a:latin typeface="Segoe UI Semibold"/>
                          <a:ea typeface="+mn-ea"/>
                          <a:cs typeface="Segoe UI Semibold"/>
                        </a:rPr>
                        <a:t>Post-sales</a:t>
                      </a:r>
                      <a:endPar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a:endParaRPr>
                    </a:p>
                  </a:txBody>
                  <a:tcPr marL="0" marR="0" marT="109855" marB="0">
                    <a:lnL w="6350" cap="flat" cmpd="sng" algn="ctr">
                      <a:solidFill>
                        <a:srgbClr val="D9D9D9"/>
                      </a:solidFill>
                      <a:prstDash val="solid"/>
                      <a:round/>
                      <a:headEnd type="none" w="med" len="med"/>
                      <a:tailEnd type="none" w="med" len="med"/>
                    </a:lnL>
                    <a:lnR w="6350">
                      <a:solidFill>
                        <a:srgbClr val="D9D9D9"/>
                      </a:solidFill>
                      <a:prstDash val="solid"/>
                    </a:lnR>
                    <a:lnT w="12700" cap="flat" cmpd="sng" algn="ctr">
                      <a:solidFill>
                        <a:srgbClr val="E6E6E6"/>
                      </a:solidFill>
                      <a:prstDash val="sysDot"/>
                      <a:round/>
                      <a:headEnd type="none" w="med" len="med"/>
                      <a:tailEnd type="none" w="med" len="med"/>
                    </a:lnT>
                    <a:lnB w="12700" cap="flat" cmpd="sng" algn="ctr">
                      <a:solidFill>
                        <a:srgbClr val="E6E6E6"/>
                      </a:solidFill>
                      <a:prstDash val="sysDot"/>
                      <a:round/>
                      <a:headEnd type="none" w="med" len="med"/>
                      <a:tailEnd type="none" w="med" len="med"/>
                    </a:lnB>
                  </a:tcPr>
                </a:tc>
                <a:extLst>
                  <a:ext uri="{0D108BD9-81ED-4DB2-BD59-A6C34878D82A}">
                    <a16:rowId xmlns:a16="http://schemas.microsoft.com/office/drawing/2014/main" val="10002"/>
                  </a:ext>
                </a:extLst>
              </a:tr>
              <a:tr h="257663">
                <a:tc>
                  <a:txBody>
                    <a:bodyPr/>
                    <a:lstStyle/>
                    <a:p>
                      <a:pPr marL="36195">
                        <a:lnSpc>
                          <a:spcPct val="100000"/>
                        </a:lnSpc>
                        <a:spcBef>
                          <a:spcPts val="359"/>
                        </a:spcBef>
                      </a:pPr>
                      <a:r>
                        <a:rPr lang="en-US" sz="800" dirty="0">
                          <a:latin typeface="Segoe UI Semibold"/>
                          <a:cs typeface="Segoe UI Semibold"/>
                        </a:rPr>
                        <a:t>S</a:t>
                      </a:r>
                    </a:p>
                    <a:p>
                      <a:pPr marL="36195">
                        <a:lnSpc>
                          <a:spcPct val="100000"/>
                        </a:lnSpc>
                        <a:spcBef>
                          <a:spcPts val="359"/>
                        </a:spcBef>
                      </a:pPr>
                      <a:r>
                        <a:rPr sz="700" dirty="0">
                          <a:latin typeface="Segoe UI"/>
                          <a:cs typeface="Segoe UI"/>
                        </a:rPr>
                        <a:t>Project</a:t>
                      </a:r>
                      <a:r>
                        <a:rPr sz="700" spc="-15" dirty="0">
                          <a:latin typeface="Segoe UI"/>
                          <a:cs typeface="Segoe UI"/>
                        </a:rPr>
                        <a:t> </a:t>
                      </a:r>
                      <a:r>
                        <a:rPr sz="700" dirty="0">
                          <a:latin typeface="Segoe UI"/>
                          <a:cs typeface="Segoe UI"/>
                        </a:rPr>
                        <a:t>size:</a:t>
                      </a:r>
                      <a:r>
                        <a:rPr sz="700" spc="-30" dirty="0">
                          <a:latin typeface="Segoe UI"/>
                          <a:cs typeface="Segoe UI"/>
                        </a:rPr>
                        <a:t> </a:t>
                      </a:r>
                      <a:r>
                        <a:rPr sz="700" dirty="0">
                          <a:latin typeface="Segoe UI"/>
                          <a:cs typeface="Segoe UI"/>
                        </a:rPr>
                        <a:t>&gt;</a:t>
                      </a:r>
                      <a:r>
                        <a:rPr sz="700" b="1" dirty="0">
                          <a:latin typeface="Segoe UI"/>
                          <a:cs typeface="Segoe UI"/>
                        </a:rPr>
                        <a:t>$50K</a:t>
                      </a:r>
                      <a:r>
                        <a:rPr sz="700" b="1" spc="-35" dirty="0">
                          <a:latin typeface="Segoe UI"/>
                          <a:cs typeface="Segoe UI"/>
                        </a:rPr>
                        <a:t> </a:t>
                      </a:r>
                      <a:r>
                        <a:rPr sz="700" b="1" dirty="0">
                          <a:latin typeface="Segoe UI"/>
                          <a:cs typeface="Segoe UI"/>
                        </a:rPr>
                        <a:t>–</a:t>
                      </a:r>
                      <a:r>
                        <a:rPr sz="700" b="1" spc="-30" dirty="0">
                          <a:latin typeface="Segoe UI"/>
                          <a:cs typeface="Segoe UI"/>
                        </a:rPr>
                        <a:t> </a:t>
                      </a:r>
                      <a:r>
                        <a:rPr sz="700" b="1" dirty="0">
                          <a:latin typeface="Segoe UI"/>
                          <a:cs typeface="Segoe UI"/>
                        </a:rPr>
                        <a:t>$100K/year</a:t>
                      </a:r>
                      <a:r>
                        <a:rPr sz="700" b="1" spc="-20" dirty="0">
                          <a:latin typeface="Segoe UI"/>
                          <a:cs typeface="Segoe UI"/>
                        </a:rPr>
                        <a:t> </a:t>
                      </a:r>
                      <a:r>
                        <a:rPr sz="700" dirty="0">
                          <a:latin typeface="Segoe UI"/>
                          <a:cs typeface="Segoe UI"/>
                        </a:rPr>
                        <a:t>planned</a:t>
                      </a:r>
                      <a:r>
                        <a:rPr sz="700" spc="-20" dirty="0">
                          <a:latin typeface="Segoe UI"/>
                          <a:cs typeface="Segoe UI"/>
                        </a:rPr>
                        <a:t> </a:t>
                      </a:r>
                      <a:r>
                        <a:rPr sz="700" dirty="0">
                          <a:latin typeface="Segoe UI"/>
                          <a:cs typeface="Segoe UI"/>
                        </a:rPr>
                        <a:t>Azure</a:t>
                      </a:r>
                      <a:r>
                        <a:rPr sz="700" spc="-25" dirty="0">
                          <a:latin typeface="Segoe UI"/>
                          <a:cs typeface="Segoe UI"/>
                        </a:rPr>
                        <a:t> </a:t>
                      </a:r>
                      <a:r>
                        <a:rPr sz="700" spc="-10" dirty="0">
                          <a:latin typeface="Segoe UI"/>
                          <a:cs typeface="Segoe UI"/>
                        </a:rPr>
                        <a:t>consumption</a:t>
                      </a:r>
                      <a:endParaRPr sz="700" dirty="0">
                        <a:latin typeface="Segoe UI"/>
                        <a:cs typeface="Segoe UI"/>
                      </a:endParaRPr>
                    </a:p>
                  </a:txBody>
                  <a:tcPr marL="0" marR="0" marT="45719" marB="0">
                    <a:lnL w="6350">
                      <a:solidFill>
                        <a:srgbClr val="D9D9D9"/>
                      </a:solidFill>
                      <a:prstDash val="solid"/>
                    </a:lnL>
                    <a:lnR w="6350">
                      <a:solidFill>
                        <a:srgbClr val="D9D9D9"/>
                      </a:solidFill>
                      <a:prstDash val="solid"/>
                    </a:lnR>
                    <a:lnT w="12700">
                      <a:solidFill>
                        <a:srgbClr val="E6E6E6"/>
                      </a:solidFill>
                      <a:prstDash val="sysDot"/>
                    </a:lnT>
                    <a:lnB w="6350">
                      <a:solidFill>
                        <a:srgbClr val="D9D9D9"/>
                      </a:solidFill>
                      <a:prstDash val="sysDash"/>
                    </a:lnB>
                  </a:tcPr>
                </a:tc>
                <a:tc>
                  <a:txBody>
                    <a:bodyPr/>
                    <a:lstStyle/>
                    <a:p>
                      <a:pPr algn="ctr">
                        <a:lnSpc>
                          <a:spcPct val="100000"/>
                        </a:lnSpc>
                        <a:spcBef>
                          <a:spcPts val="860"/>
                        </a:spcBef>
                      </a:pPr>
                      <a:r>
                        <a:rPr sz="900" dirty="0">
                          <a:latin typeface="Segoe UI Semibold"/>
                          <a:cs typeface="Segoe UI Semibold"/>
                        </a:rPr>
                        <a:t>$15,000</a:t>
                      </a:r>
                    </a:p>
                  </a:txBody>
                  <a:tcPr marL="0" marR="0" marT="109220" marB="0">
                    <a:lnL w="6350">
                      <a:solidFill>
                        <a:srgbClr val="D9D9D9"/>
                      </a:solidFill>
                      <a:prstDash val="solid"/>
                    </a:lnL>
                    <a:lnR w="6350" cap="flat" cmpd="sng" algn="ctr">
                      <a:solidFill>
                        <a:srgbClr val="D9D9D9"/>
                      </a:solidFill>
                      <a:prstDash val="solid"/>
                      <a:round/>
                      <a:headEnd type="none" w="med" len="med"/>
                      <a:tailEnd type="none" w="med" len="med"/>
                    </a:lnR>
                    <a:lnT w="12700">
                      <a:solidFill>
                        <a:srgbClr val="E6E6E6"/>
                      </a:solidFill>
                      <a:prstDash val="sysDot"/>
                    </a:lnT>
                    <a:lnB w="6350">
                      <a:solidFill>
                        <a:srgbClr val="D9D9D9"/>
                      </a:solidFill>
                      <a:prstDash val="sysDash"/>
                    </a:lnB>
                  </a:tcPr>
                </a:tc>
                <a:tc>
                  <a:txBody>
                    <a:bodyPr/>
                    <a:lstStyle/>
                    <a:p>
                      <a:pPr marR="24765" algn="ctr">
                        <a:lnSpc>
                          <a:spcPct val="100000"/>
                        </a:lnSpc>
                        <a:spcBef>
                          <a:spcPts val="860"/>
                        </a:spcBef>
                      </a:pPr>
                      <a:r>
                        <a:rPr sz="900" dirty="0">
                          <a:latin typeface="Segoe UI Semibold"/>
                          <a:cs typeface="Segoe UI Semibold"/>
                        </a:rPr>
                        <a:t>120</a:t>
                      </a:r>
                      <a:r>
                        <a:rPr sz="900" spc="-25" dirty="0">
                          <a:latin typeface="Segoe UI Semibold"/>
                          <a:cs typeface="Segoe UI Semibold"/>
                        </a:rPr>
                        <a:t> </a:t>
                      </a:r>
                      <a:r>
                        <a:rPr sz="900" spc="-20" dirty="0">
                          <a:latin typeface="Segoe UI Semibold"/>
                          <a:cs typeface="Segoe UI Semibold"/>
                        </a:rPr>
                        <a:t>days</a:t>
                      </a:r>
                      <a:endParaRPr sz="900" dirty="0">
                        <a:latin typeface="Segoe UI Semibold"/>
                        <a:cs typeface="Segoe UI Semibold"/>
                      </a:endParaRPr>
                    </a:p>
                  </a:txBody>
                  <a:tcPr marL="0" marR="0" marT="109220"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12700" cap="flat" cmpd="sng" algn="ctr">
                      <a:solidFill>
                        <a:srgbClr val="E6E6E6"/>
                      </a:solidFill>
                      <a:prstDash val="sysDot"/>
                      <a:round/>
                      <a:headEnd type="none" w="med" len="med"/>
                      <a:tailEnd type="none" w="med" len="med"/>
                    </a:lnT>
                    <a:lnB w="6350" cap="flat" cmpd="sng" algn="ctr">
                      <a:solidFill>
                        <a:srgbClr val="D9D9D9"/>
                      </a:solidFill>
                      <a:prstDash val="sysDash"/>
                      <a:round/>
                      <a:headEnd type="none" w="med" len="med"/>
                      <a:tailEnd type="none" w="med" len="med"/>
                    </a:lnB>
                  </a:tcPr>
                </a:tc>
                <a:tc>
                  <a:txBody>
                    <a:bodyPr/>
                    <a:lstStyle/>
                    <a:p>
                      <a:pPr marL="3175"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000000"/>
                          </a:solidFill>
                          <a:effectLst/>
                          <a:uLnTx/>
                          <a:uFillTx/>
                          <a:latin typeface="Segoe UI Semibold"/>
                          <a:ea typeface="+mn-ea"/>
                          <a:cs typeface="Segoe UI Semibold"/>
                        </a:rPr>
                        <a:t>Post-sales</a:t>
                      </a:r>
                      <a:endPar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a:endParaRPr>
                    </a:p>
                  </a:txBody>
                  <a:tcPr marL="0" marR="0" marT="109220" marB="0">
                    <a:lnL w="6350" cap="flat" cmpd="sng" algn="ctr">
                      <a:solidFill>
                        <a:srgbClr val="D9D9D9"/>
                      </a:solidFill>
                      <a:prstDash val="solid"/>
                      <a:round/>
                      <a:headEnd type="none" w="med" len="med"/>
                      <a:tailEnd type="none" w="med" len="med"/>
                    </a:lnL>
                    <a:lnR w="6350">
                      <a:solidFill>
                        <a:srgbClr val="D9D9D9"/>
                      </a:solidFill>
                      <a:prstDash val="solid"/>
                    </a:lnR>
                    <a:lnT w="12700" cap="flat" cmpd="sng" algn="ctr">
                      <a:solidFill>
                        <a:srgbClr val="E6E6E6"/>
                      </a:solidFill>
                      <a:prstDash val="sysDot"/>
                      <a:round/>
                      <a:headEnd type="none" w="med" len="med"/>
                      <a:tailEnd type="none" w="med" len="med"/>
                    </a:lnT>
                    <a:lnB w="6350" cap="flat" cmpd="sng" algn="ctr">
                      <a:solidFill>
                        <a:srgbClr val="D9D9D9"/>
                      </a:solidFill>
                      <a:prstDash val="sysDash"/>
                      <a:round/>
                      <a:headEnd type="none" w="med" len="med"/>
                      <a:tailEnd type="none" w="med" len="med"/>
                    </a:lnB>
                  </a:tcPr>
                </a:tc>
                <a:extLst>
                  <a:ext uri="{0D108BD9-81ED-4DB2-BD59-A6C34878D82A}">
                    <a16:rowId xmlns:a16="http://schemas.microsoft.com/office/drawing/2014/main" val="10003"/>
                  </a:ext>
                </a:extLst>
              </a:tr>
              <a:tr h="257664">
                <a:tc>
                  <a:txBody>
                    <a:bodyPr/>
                    <a:lstStyle/>
                    <a:p>
                      <a:pPr marL="36195">
                        <a:lnSpc>
                          <a:spcPct val="100000"/>
                        </a:lnSpc>
                        <a:spcBef>
                          <a:spcPts val="360"/>
                        </a:spcBef>
                      </a:pPr>
                      <a:r>
                        <a:rPr lang="en-US" sz="800" dirty="0">
                          <a:latin typeface="Segoe UI Semibold"/>
                          <a:cs typeface="Segoe UI Semibold"/>
                        </a:rPr>
                        <a:t>M</a:t>
                      </a:r>
                      <a:endParaRPr sz="800" dirty="0">
                        <a:latin typeface="Segoe UI Semibold"/>
                        <a:cs typeface="Segoe UI Semibold"/>
                      </a:endParaRPr>
                    </a:p>
                    <a:p>
                      <a:pPr marL="36195">
                        <a:lnSpc>
                          <a:spcPct val="100000"/>
                        </a:lnSpc>
                        <a:spcBef>
                          <a:spcPts val="305"/>
                        </a:spcBef>
                      </a:pPr>
                      <a:r>
                        <a:rPr sz="700" dirty="0">
                          <a:latin typeface="Segoe UI"/>
                          <a:cs typeface="Segoe UI"/>
                        </a:rPr>
                        <a:t>Project</a:t>
                      </a:r>
                      <a:r>
                        <a:rPr sz="700" spc="-20" dirty="0">
                          <a:latin typeface="Segoe UI"/>
                          <a:cs typeface="Segoe UI"/>
                        </a:rPr>
                        <a:t> </a:t>
                      </a:r>
                      <a:r>
                        <a:rPr sz="700" dirty="0">
                          <a:latin typeface="Segoe UI"/>
                          <a:cs typeface="Segoe UI"/>
                        </a:rPr>
                        <a:t>size:</a:t>
                      </a:r>
                      <a:r>
                        <a:rPr sz="700" spc="-25" dirty="0">
                          <a:latin typeface="Segoe UI"/>
                          <a:cs typeface="Segoe UI"/>
                        </a:rPr>
                        <a:t> </a:t>
                      </a:r>
                      <a:r>
                        <a:rPr sz="700" dirty="0">
                          <a:latin typeface="Segoe UI"/>
                          <a:cs typeface="Segoe UI"/>
                        </a:rPr>
                        <a:t>&gt;</a:t>
                      </a:r>
                      <a:r>
                        <a:rPr sz="700" b="1" dirty="0">
                          <a:latin typeface="Segoe UI"/>
                          <a:cs typeface="Segoe UI"/>
                        </a:rPr>
                        <a:t>$100K</a:t>
                      </a:r>
                      <a:r>
                        <a:rPr sz="700" b="1" spc="-30" dirty="0">
                          <a:latin typeface="Segoe UI"/>
                          <a:cs typeface="Segoe UI"/>
                        </a:rPr>
                        <a:t> </a:t>
                      </a:r>
                      <a:r>
                        <a:rPr sz="700" b="1" dirty="0">
                          <a:latin typeface="Segoe UI"/>
                          <a:cs typeface="Segoe UI"/>
                        </a:rPr>
                        <a:t>–</a:t>
                      </a:r>
                      <a:r>
                        <a:rPr sz="700" b="1" spc="-30" dirty="0">
                          <a:latin typeface="Segoe UI"/>
                          <a:cs typeface="Segoe UI"/>
                        </a:rPr>
                        <a:t> </a:t>
                      </a:r>
                      <a:r>
                        <a:rPr sz="700" b="1" dirty="0">
                          <a:latin typeface="Segoe UI"/>
                          <a:cs typeface="Segoe UI"/>
                        </a:rPr>
                        <a:t>$250K/year</a:t>
                      </a:r>
                      <a:r>
                        <a:rPr sz="700" b="1" spc="-20" dirty="0">
                          <a:latin typeface="Segoe UI"/>
                          <a:cs typeface="Segoe UI"/>
                        </a:rPr>
                        <a:t> </a:t>
                      </a:r>
                      <a:r>
                        <a:rPr sz="700" dirty="0">
                          <a:latin typeface="Segoe UI"/>
                          <a:cs typeface="Segoe UI"/>
                        </a:rPr>
                        <a:t>planned</a:t>
                      </a:r>
                      <a:r>
                        <a:rPr sz="700" spc="-25" dirty="0">
                          <a:latin typeface="Segoe UI"/>
                          <a:cs typeface="Segoe UI"/>
                        </a:rPr>
                        <a:t> </a:t>
                      </a:r>
                      <a:r>
                        <a:rPr sz="700" dirty="0">
                          <a:latin typeface="Segoe UI"/>
                          <a:cs typeface="Segoe UI"/>
                        </a:rPr>
                        <a:t>Azure</a:t>
                      </a:r>
                      <a:r>
                        <a:rPr sz="700" spc="-35" dirty="0">
                          <a:latin typeface="Segoe UI"/>
                          <a:cs typeface="Segoe UI"/>
                        </a:rPr>
                        <a:t> </a:t>
                      </a:r>
                      <a:r>
                        <a:rPr sz="700" spc="-10" dirty="0">
                          <a:latin typeface="Segoe UI"/>
                          <a:cs typeface="Segoe UI"/>
                        </a:rPr>
                        <a:t>consumption</a:t>
                      </a:r>
                      <a:endParaRPr sz="700" dirty="0">
                        <a:latin typeface="Segoe UI"/>
                        <a:cs typeface="Segoe UI"/>
                      </a:endParaRPr>
                    </a:p>
                  </a:txBody>
                  <a:tcPr marL="0" marR="0" marB="0">
                    <a:lnL w="6350">
                      <a:solidFill>
                        <a:srgbClr val="D9D9D9"/>
                      </a:solidFill>
                      <a:prstDash val="solid"/>
                    </a:lnL>
                    <a:lnR w="6350">
                      <a:solidFill>
                        <a:srgbClr val="D9D9D9"/>
                      </a:solidFill>
                      <a:prstDash val="solid"/>
                    </a:lnR>
                    <a:lnT w="6350">
                      <a:solidFill>
                        <a:srgbClr val="D9D9D9"/>
                      </a:solidFill>
                      <a:prstDash val="sysDash"/>
                    </a:lnT>
                    <a:lnB w="6350">
                      <a:solidFill>
                        <a:srgbClr val="D9D9D9"/>
                      </a:solidFill>
                      <a:prstDash val="sysDash"/>
                    </a:lnB>
                  </a:tcPr>
                </a:tc>
                <a:tc>
                  <a:txBody>
                    <a:bodyPr/>
                    <a:lstStyle/>
                    <a:p>
                      <a:pPr algn="ctr">
                        <a:lnSpc>
                          <a:spcPct val="100000"/>
                        </a:lnSpc>
                        <a:spcBef>
                          <a:spcPts val="865"/>
                        </a:spcBef>
                      </a:pPr>
                      <a:r>
                        <a:rPr sz="900" dirty="0">
                          <a:latin typeface="Segoe UI Semibold"/>
                          <a:cs typeface="Segoe UI Semibold"/>
                        </a:rPr>
                        <a:t>$35,000</a:t>
                      </a:r>
                    </a:p>
                  </a:txBody>
                  <a:tcPr marL="0" marR="0" marT="109855" marB="0">
                    <a:lnL w="6350">
                      <a:solidFill>
                        <a:srgbClr val="D9D9D9"/>
                      </a:solidFill>
                      <a:prstDash val="solid"/>
                    </a:lnL>
                    <a:lnR w="6350" cap="flat" cmpd="sng" algn="ctr">
                      <a:solidFill>
                        <a:srgbClr val="D9D9D9"/>
                      </a:solidFill>
                      <a:prstDash val="solid"/>
                      <a:round/>
                      <a:headEnd type="none" w="med" len="med"/>
                      <a:tailEnd type="none" w="med" len="med"/>
                    </a:lnR>
                    <a:lnT w="6350">
                      <a:solidFill>
                        <a:srgbClr val="D9D9D9"/>
                      </a:solidFill>
                      <a:prstDash val="sysDash"/>
                    </a:lnT>
                    <a:lnB w="6350">
                      <a:solidFill>
                        <a:srgbClr val="D9D9D9"/>
                      </a:solidFill>
                      <a:prstDash val="sysDash"/>
                    </a:lnB>
                  </a:tcPr>
                </a:tc>
                <a:tc>
                  <a:txBody>
                    <a:bodyPr/>
                    <a:lstStyle/>
                    <a:p>
                      <a:pPr marL="635" algn="ctr">
                        <a:lnSpc>
                          <a:spcPct val="100000"/>
                        </a:lnSpc>
                        <a:spcBef>
                          <a:spcPts val="865"/>
                        </a:spcBef>
                      </a:pPr>
                      <a:r>
                        <a:rPr sz="900" dirty="0">
                          <a:latin typeface="Segoe UI Semibold"/>
                          <a:cs typeface="Segoe UI Semibold"/>
                        </a:rPr>
                        <a:t>200</a:t>
                      </a:r>
                      <a:r>
                        <a:rPr sz="900" spc="-20" dirty="0">
                          <a:latin typeface="Segoe UI Semibold"/>
                          <a:cs typeface="Segoe UI Semibold"/>
                        </a:rPr>
                        <a:t> days</a:t>
                      </a:r>
                      <a:endParaRPr sz="900" dirty="0">
                        <a:latin typeface="Segoe UI Semibold"/>
                        <a:cs typeface="Segoe UI Semibold"/>
                      </a:endParaRPr>
                    </a:p>
                  </a:txBody>
                  <a:tcPr marL="0" marR="0" marT="10985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ysDash"/>
                      <a:round/>
                      <a:headEnd type="none" w="med" len="med"/>
                      <a:tailEnd type="none" w="med" len="med"/>
                    </a:lnT>
                    <a:lnB w="6350" cap="flat" cmpd="sng" algn="ctr">
                      <a:solidFill>
                        <a:srgbClr val="D9D9D9"/>
                      </a:solidFill>
                      <a:prstDash val="sysDash"/>
                      <a:round/>
                      <a:headEnd type="none" w="med" len="med"/>
                      <a:tailEnd type="none" w="med" len="med"/>
                    </a:lnB>
                  </a:tcPr>
                </a:tc>
                <a:tc>
                  <a:txBody>
                    <a:bodyPr/>
                    <a:lstStyle/>
                    <a:p>
                      <a:pPr marL="3175"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000000"/>
                          </a:solidFill>
                          <a:effectLst/>
                          <a:uLnTx/>
                          <a:uFillTx/>
                          <a:latin typeface="Segoe UI Semibold"/>
                          <a:ea typeface="+mn-ea"/>
                          <a:cs typeface="Segoe UI Semibold"/>
                        </a:rPr>
                        <a:t>Post-sales</a:t>
                      </a:r>
                      <a:endPar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a:endParaRPr>
                    </a:p>
                  </a:txBody>
                  <a:tcPr marL="0" marR="0" marT="109855" marB="0">
                    <a:lnL w="6350" cap="flat" cmpd="sng" algn="ctr">
                      <a:solidFill>
                        <a:srgbClr val="D9D9D9"/>
                      </a:solidFill>
                      <a:prstDash val="solid"/>
                      <a:round/>
                      <a:headEnd type="none" w="med" len="med"/>
                      <a:tailEnd type="none" w="med" len="med"/>
                    </a:lnL>
                    <a:lnR w="6350">
                      <a:solidFill>
                        <a:srgbClr val="D9D9D9"/>
                      </a:solidFill>
                      <a:prstDash val="solid"/>
                    </a:lnR>
                    <a:lnT w="6350" cap="flat" cmpd="sng" algn="ctr">
                      <a:solidFill>
                        <a:srgbClr val="D9D9D9"/>
                      </a:solidFill>
                      <a:prstDash val="sysDash"/>
                      <a:round/>
                      <a:headEnd type="none" w="med" len="med"/>
                      <a:tailEnd type="none" w="med" len="med"/>
                    </a:lnT>
                    <a:lnB w="6350" cap="flat" cmpd="sng" algn="ctr">
                      <a:solidFill>
                        <a:srgbClr val="D9D9D9"/>
                      </a:solidFill>
                      <a:prstDash val="sysDash"/>
                      <a:round/>
                      <a:headEnd type="none" w="med" len="med"/>
                      <a:tailEnd type="none" w="med" len="med"/>
                    </a:lnB>
                  </a:tcPr>
                </a:tc>
                <a:extLst>
                  <a:ext uri="{0D108BD9-81ED-4DB2-BD59-A6C34878D82A}">
                    <a16:rowId xmlns:a16="http://schemas.microsoft.com/office/drawing/2014/main" val="10004"/>
                  </a:ext>
                </a:extLst>
              </a:tr>
              <a:tr h="346045">
                <a:tc>
                  <a:txBody>
                    <a:bodyPr/>
                    <a:lstStyle/>
                    <a:p>
                      <a:pPr marL="36195">
                        <a:lnSpc>
                          <a:spcPct val="100000"/>
                        </a:lnSpc>
                        <a:spcBef>
                          <a:spcPts val="359"/>
                        </a:spcBef>
                      </a:pPr>
                      <a:r>
                        <a:rPr lang="en-US" sz="800" dirty="0">
                          <a:latin typeface="Segoe UI Semibold"/>
                          <a:cs typeface="Segoe UI Semibold"/>
                        </a:rPr>
                        <a:t>L</a:t>
                      </a:r>
                    </a:p>
                    <a:p>
                      <a:pPr marL="36195">
                        <a:lnSpc>
                          <a:spcPct val="100000"/>
                        </a:lnSpc>
                        <a:spcBef>
                          <a:spcPts val="359"/>
                        </a:spcBef>
                      </a:pPr>
                      <a:r>
                        <a:rPr sz="700" dirty="0">
                          <a:latin typeface="Segoe UI"/>
                          <a:cs typeface="Segoe UI"/>
                        </a:rPr>
                        <a:t>Project</a:t>
                      </a:r>
                      <a:r>
                        <a:rPr sz="700" spc="-15" dirty="0">
                          <a:latin typeface="Segoe UI"/>
                          <a:cs typeface="Segoe UI"/>
                        </a:rPr>
                        <a:t> </a:t>
                      </a:r>
                      <a:r>
                        <a:rPr sz="700" dirty="0">
                          <a:latin typeface="Segoe UI"/>
                          <a:cs typeface="Segoe UI"/>
                        </a:rPr>
                        <a:t>size:</a:t>
                      </a:r>
                      <a:r>
                        <a:rPr sz="700" spc="-25" dirty="0">
                          <a:latin typeface="Segoe UI"/>
                          <a:cs typeface="Segoe UI"/>
                        </a:rPr>
                        <a:t> </a:t>
                      </a:r>
                      <a:r>
                        <a:rPr sz="700" dirty="0">
                          <a:latin typeface="Segoe UI"/>
                          <a:cs typeface="Segoe UI"/>
                        </a:rPr>
                        <a:t>&gt;</a:t>
                      </a:r>
                      <a:r>
                        <a:rPr sz="700" b="1" dirty="0">
                          <a:latin typeface="Segoe UI"/>
                          <a:cs typeface="Segoe UI"/>
                        </a:rPr>
                        <a:t>$250K</a:t>
                      </a:r>
                      <a:r>
                        <a:rPr sz="700" b="1" spc="-25" dirty="0">
                          <a:latin typeface="Segoe UI"/>
                          <a:cs typeface="Segoe UI"/>
                        </a:rPr>
                        <a:t> </a:t>
                      </a:r>
                      <a:r>
                        <a:rPr sz="700" b="1" dirty="0">
                          <a:latin typeface="Segoe UI"/>
                          <a:cs typeface="Segoe UI"/>
                        </a:rPr>
                        <a:t>–</a:t>
                      </a:r>
                      <a:r>
                        <a:rPr sz="700" b="1" spc="-30" dirty="0">
                          <a:latin typeface="Segoe UI"/>
                          <a:cs typeface="Segoe UI"/>
                        </a:rPr>
                        <a:t> </a:t>
                      </a:r>
                      <a:r>
                        <a:rPr sz="700" b="1" dirty="0">
                          <a:latin typeface="Segoe UI"/>
                          <a:cs typeface="Segoe UI"/>
                        </a:rPr>
                        <a:t>$500K+</a:t>
                      </a:r>
                      <a:r>
                        <a:rPr sz="700" b="1" spc="-15" dirty="0">
                          <a:latin typeface="Segoe UI"/>
                          <a:cs typeface="Segoe UI"/>
                        </a:rPr>
                        <a:t> </a:t>
                      </a:r>
                      <a:r>
                        <a:rPr sz="700" b="1" dirty="0">
                          <a:latin typeface="Segoe UI"/>
                          <a:cs typeface="Segoe UI"/>
                        </a:rPr>
                        <a:t>/year</a:t>
                      </a:r>
                      <a:r>
                        <a:rPr sz="700" b="1" spc="-30" dirty="0">
                          <a:latin typeface="Segoe UI"/>
                          <a:cs typeface="Segoe UI"/>
                        </a:rPr>
                        <a:t> </a:t>
                      </a:r>
                      <a:r>
                        <a:rPr sz="700" dirty="0">
                          <a:latin typeface="Segoe UI"/>
                          <a:cs typeface="Segoe UI"/>
                        </a:rPr>
                        <a:t>planned</a:t>
                      </a:r>
                      <a:r>
                        <a:rPr sz="700" spc="-20" dirty="0">
                          <a:latin typeface="Segoe UI"/>
                          <a:cs typeface="Segoe UI"/>
                        </a:rPr>
                        <a:t> </a:t>
                      </a:r>
                      <a:r>
                        <a:rPr sz="700" dirty="0">
                          <a:latin typeface="Segoe UI"/>
                          <a:cs typeface="Segoe UI"/>
                        </a:rPr>
                        <a:t>Azure</a:t>
                      </a:r>
                      <a:r>
                        <a:rPr sz="700" spc="-20" dirty="0">
                          <a:latin typeface="Segoe UI"/>
                          <a:cs typeface="Segoe UI"/>
                        </a:rPr>
                        <a:t> </a:t>
                      </a:r>
                      <a:r>
                        <a:rPr sz="700" spc="-10" dirty="0">
                          <a:latin typeface="Segoe UI"/>
                          <a:cs typeface="Segoe UI"/>
                        </a:rPr>
                        <a:t>consumption</a:t>
                      </a:r>
                      <a:endParaRPr sz="700" dirty="0">
                        <a:latin typeface="Segoe UI"/>
                        <a:cs typeface="Segoe UI"/>
                      </a:endParaRPr>
                    </a:p>
                  </a:txBody>
                  <a:tcPr marL="0" marR="0" marT="45719" marB="0">
                    <a:lnL w="6350">
                      <a:solidFill>
                        <a:srgbClr val="D9D9D9"/>
                      </a:solidFill>
                      <a:prstDash val="solid"/>
                    </a:lnL>
                    <a:lnR w="6350">
                      <a:solidFill>
                        <a:srgbClr val="D9D9D9"/>
                      </a:solidFill>
                      <a:prstDash val="solid"/>
                    </a:lnR>
                    <a:lnT w="6350">
                      <a:solidFill>
                        <a:srgbClr val="D9D9D9"/>
                      </a:solidFill>
                      <a:prstDash val="sysDash"/>
                    </a:lnT>
                    <a:lnB w="6350">
                      <a:solidFill>
                        <a:srgbClr val="D9D9D9"/>
                      </a:solidFill>
                      <a:prstDash val="sysDash"/>
                    </a:lnB>
                  </a:tcPr>
                </a:tc>
                <a:tc>
                  <a:txBody>
                    <a:bodyPr/>
                    <a:lstStyle/>
                    <a:p>
                      <a:pPr algn="ctr">
                        <a:lnSpc>
                          <a:spcPct val="100000"/>
                        </a:lnSpc>
                        <a:spcBef>
                          <a:spcPts val="865"/>
                        </a:spcBef>
                      </a:pPr>
                      <a:r>
                        <a:rPr sz="900" spc="-10" dirty="0">
                          <a:latin typeface="Segoe UI Semibold"/>
                          <a:cs typeface="Segoe UI Semibold"/>
                        </a:rPr>
                        <a:t>$75,000</a:t>
                      </a:r>
                      <a:endParaRPr sz="900" dirty="0">
                        <a:latin typeface="Segoe UI Semibold"/>
                        <a:cs typeface="Segoe UI Semibold"/>
                      </a:endParaRPr>
                    </a:p>
                  </a:txBody>
                  <a:tcPr marL="0" marR="0" marT="109855" marB="0">
                    <a:lnL w="6350">
                      <a:solidFill>
                        <a:srgbClr val="D9D9D9"/>
                      </a:solidFill>
                      <a:prstDash val="solid"/>
                    </a:lnL>
                    <a:lnR w="6350" cap="flat" cmpd="sng" algn="ctr">
                      <a:solidFill>
                        <a:srgbClr val="D9D9D9"/>
                      </a:solidFill>
                      <a:prstDash val="solid"/>
                      <a:round/>
                      <a:headEnd type="none" w="med" len="med"/>
                      <a:tailEnd type="none" w="med" len="med"/>
                    </a:lnR>
                    <a:lnT w="6350">
                      <a:solidFill>
                        <a:srgbClr val="D9D9D9"/>
                      </a:solidFill>
                      <a:prstDash val="sysDash"/>
                    </a:lnT>
                    <a:lnB w="6350">
                      <a:solidFill>
                        <a:srgbClr val="D9D9D9"/>
                      </a:solidFill>
                      <a:prstDash val="sysDash"/>
                    </a:lnB>
                  </a:tcPr>
                </a:tc>
                <a:tc>
                  <a:txBody>
                    <a:bodyPr/>
                    <a:lstStyle/>
                    <a:p>
                      <a:pPr marL="635" algn="ctr">
                        <a:lnSpc>
                          <a:spcPct val="100000"/>
                        </a:lnSpc>
                        <a:spcBef>
                          <a:spcPts val="865"/>
                        </a:spcBef>
                      </a:pPr>
                      <a:r>
                        <a:rPr sz="900" dirty="0">
                          <a:latin typeface="Segoe UI Semibold"/>
                          <a:cs typeface="Segoe UI Semibold"/>
                        </a:rPr>
                        <a:t>260</a:t>
                      </a:r>
                      <a:r>
                        <a:rPr sz="900" spc="-15" dirty="0">
                          <a:latin typeface="Segoe UI Semibold"/>
                          <a:cs typeface="Segoe UI Semibold"/>
                        </a:rPr>
                        <a:t> </a:t>
                      </a:r>
                      <a:r>
                        <a:rPr sz="900" spc="-20" dirty="0">
                          <a:latin typeface="Segoe UI Semibold"/>
                          <a:cs typeface="Segoe UI Semibold"/>
                        </a:rPr>
                        <a:t>days</a:t>
                      </a:r>
                      <a:endParaRPr sz="900" dirty="0">
                        <a:latin typeface="Segoe UI Semibold"/>
                        <a:cs typeface="Segoe UI Semibold"/>
                      </a:endParaRPr>
                    </a:p>
                  </a:txBody>
                  <a:tcPr marL="0" marR="0" marT="10985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ysDash"/>
                      <a:round/>
                      <a:headEnd type="none" w="med" len="med"/>
                      <a:tailEnd type="none" w="med" len="med"/>
                    </a:lnT>
                    <a:lnB w="6350">
                      <a:solidFill>
                        <a:srgbClr val="D9D9D9"/>
                      </a:solidFill>
                      <a:prstDash val="sysDash"/>
                    </a:lnB>
                  </a:tcPr>
                </a:tc>
                <a:tc>
                  <a:txBody>
                    <a:bodyPr/>
                    <a:lstStyle/>
                    <a:p>
                      <a:pPr marL="3175"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000000"/>
                          </a:solidFill>
                          <a:effectLst/>
                          <a:uLnTx/>
                          <a:uFillTx/>
                          <a:latin typeface="Segoe UI Semibold"/>
                          <a:ea typeface="+mn-ea"/>
                          <a:cs typeface="Segoe UI Semibold"/>
                        </a:rPr>
                        <a:t>Post-sales</a:t>
                      </a:r>
                      <a:endPar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a:endParaRPr>
                    </a:p>
                  </a:txBody>
                  <a:tcPr marL="0" marR="0" marT="109855" marB="0">
                    <a:lnL w="6350" cap="flat" cmpd="sng" algn="ctr">
                      <a:solidFill>
                        <a:srgbClr val="D9D9D9"/>
                      </a:solidFill>
                      <a:prstDash val="solid"/>
                      <a:round/>
                      <a:headEnd type="none" w="med" len="med"/>
                      <a:tailEnd type="none" w="med" len="med"/>
                    </a:lnL>
                    <a:lnR w="6350">
                      <a:solidFill>
                        <a:srgbClr val="D9D9D9"/>
                      </a:solidFill>
                      <a:prstDash val="solid"/>
                    </a:lnR>
                    <a:lnT w="6350" cap="flat" cmpd="sng" algn="ctr">
                      <a:solidFill>
                        <a:srgbClr val="D9D9D9"/>
                      </a:solidFill>
                      <a:prstDash val="sysDash"/>
                      <a:round/>
                      <a:headEnd type="none" w="med" len="med"/>
                      <a:tailEnd type="none" w="med" len="med"/>
                    </a:lnT>
                    <a:lnB w="6350">
                      <a:solidFill>
                        <a:srgbClr val="D9D9D9"/>
                      </a:solidFill>
                      <a:prstDash val="sysDash"/>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17714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EC16E-A371-A197-20B3-6F1B9F124C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9617B-C306-548D-A7BA-F4267BFC23F3}"/>
              </a:ext>
            </a:extLst>
          </p:cNvPr>
          <p:cNvSpPr>
            <a:spLocks noGrp="1"/>
          </p:cNvSpPr>
          <p:nvPr>
            <p:ph type="title"/>
          </p:nvPr>
        </p:nvSpPr>
        <p:spPr>
          <a:xfrm>
            <a:off x="334496" y="268589"/>
            <a:ext cx="11495554" cy="484043"/>
          </a:xfrm>
        </p:spPr>
        <p:txBody>
          <a:bodyPr/>
          <a:lstStyle/>
          <a:p>
            <a:r>
              <a:rPr lang="en-US" b="1" dirty="0"/>
              <a:t>Microsoft Azure Funding: Data Platform </a:t>
            </a:r>
          </a:p>
        </p:txBody>
      </p:sp>
      <p:sp>
        <p:nvSpPr>
          <p:cNvPr id="3" name="Slide Number Placeholder 2">
            <a:extLst>
              <a:ext uri="{FF2B5EF4-FFF2-40B4-BE49-F238E27FC236}">
                <a16:creationId xmlns:a16="http://schemas.microsoft.com/office/drawing/2014/main" id="{99C5FAF7-905B-565B-E8BA-FAFD36A86D9C}"/>
              </a:ext>
            </a:extLst>
          </p:cNvPr>
          <p:cNvSpPr>
            <a:spLocks noGrp="1"/>
          </p:cNvSpPr>
          <p:nvPr>
            <p:ph type="sldNum" sz="quarter" idx="4"/>
          </p:nvPr>
        </p:nvSpPr>
        <p:spPr/>
        <p:txBody>
          <a:bodyPr/>
          <a:lstStyle/>
          <a:p>
            <a:fld id="{762E77F0-FB5B-4E8E-9BC9-34F14560A017}" type="slidenum">
              <a:rPr lang="en-US" smtClean="0"/>
              <a:pPr/>
              <a:t>14</a:t>
            </a:fld>
            <a:endParaRPr lang="en-US"/>
          </a:p>
        </p:txBody>
      </p:sp>
      <p:sp>
        <p:nvSpPr>
          <p:cNvPr id="5" name="object 38">
            <a:extLst>
              <a:ext uri="{FF2B5EF4-FFF2-40B4-BE49-F238E27FC236}">
                <a16:creationId xmlns:a16="http://schemas.microsoft.com/office/drawing/2014/main" id="{798684EE-91EF-5C1B-8CB1-7F44EF6AB6EA}"/>
              </a:ext>
            </a:extLst>
          </p:cNvPr>
          <p:cNvSpPr txBox="1"/>
          <p:nvPr/>
        </p:nvSpPr>
        <p:spPr>
          <a:xfrm>
            <a:off x="412341" y="1504623"/>
            <a:ext cx="11075035" cy="1032975"/>
          </a:xfrm>
          <a:prstGeom prst="rect">
            <a:avLst/>
          </a:prstGeom>
        </p:spPr>
        <p:txBody>
          <a:bodyPr vert="horz" wrap="square" lIns="0" tIns="24765" rIns="0" bIns="0" rtlCol="0">
            <a:spAutoFit/>
          </a:bodyPr>
          <a:lstStyle/>
          <a:p>
            <a:pPr marL="12700">
              <a:lnSpc>
                <a:spcPct val="100000"/>
              </a:lnSpc>
              <a:spcBef>
                <a:spcPts val="195"/>
              </a:spcBef>
            </a:pPr>
            <a:r>
              <a:rPr lang="en-US" sz="1050" u="sng" dirty="0">
                <a:solidFill>
                  <a:schemeClr val="tx2"/>
                </a:solidFill>
                <a:latin typeface="Segoe UI Semibold"/>
                <a:cs typeface="Segoe UI Semibold"/>
              </a:rPr>
              <a:t>PRE</a:t>
            </a:r>
            <a:r>
              <a:rPr lang="en-US" sz="1050" dirty="0">
                <a:solidFill>
                  <a:schemeClr val="tx2"/>
                </a:solidFill>
                <a:latin typeface="Segoe UI Semibold"/>
                <a:cs typeface="Segoe UI Semibold"/>
              </a:rPr>
              <a:t>-SALES </a:t>
            </a:r>
            <a:r>
              <a:rPr sz="1050" dirty="0">
                <a:solidFill>
                  <a:schemeClr val="tx2"/>
                </a:solidFill>
                <a:latin typeface="Segoe UI Semibold"/>
                <a:cs typeface="Segoe UI Semibold"/>
              </a:rPr>
              <a:t>ENGAGEMENT</a:t>
            </a:r>
            <a:r>
              <a:rPr sz="1050" spc="25" dirty="0">
                <a:solidFill>
                  <a:schemeClr val="tx2"/>
                </a:solidFill>
                <a:latin typeface="Segoe UI Semibold"/>
                <a:cs typeface="Segoe UI Semibold"/>
              </a:rPr>
              <a:t> </a:t>
            </a:r>
            <a:r>
              <a:rPr sz="1050" spc="-10" dirty="0">
                <a:solidFill>
                  <a:schemeClr val="tx2"/>
                </a:solidFill>
                <a:latin typeface="Segoe UI Semibold"/>
                <a:cs typeface="Segoe UI Semibold"/>
              </a:rPr>
              <a:t>SUMMARY</a:t>
            </a:r>
            <a:endParaRPr sz="1050" dirty="0">
              <a:solidFill>
                <a:schemeClr val="tx2"/>
              </a:solidFill>
              <a:latin typeface="Segoe UI Semibold"/>
              <a:cs typeface="Segoe UI Semibold"/>
            </a:endParaRPr>
          </a:p>
          <a:p>
            <a:pPr marL="12700" marR="5080">
              <a:lnSpc>
                <a:spcPct val="100000"/>
              </a:lnSpc>
              <a:spcBef>
                <a:spcPts val="95"/>
              </a:spcBef>
            </a:pPr>
            <a:r>
              <a:rPr lang="en-US" sz="1050" dirty="0">
                <a:latin typeface="Segoe UI"/>
                <a:cs typeface="Segoe UI"/>
              </a:rPr>
              <a:t>Provides</a:t>
            </a:r>
            <a:r>
              <a:rPr lang="en-US" sz="1050" spc="-20" dirty="0">
                <a:latin typeface="Segoe UI"/>
                <a:cs typeface="Segoe UI"/>
              </a:rPr>
              <a:t> </a:t>
            </a:r>
            <a:r>
              <a:rPr lang="en-US" sz="1050" dirty="0">
                <a:latin typeface="Segoe UI"/>
                <a:cs typeface="Segoe UI"/>
              </a:rPr>
              <a:t>guidance,</a:t>
            </a:r>
            <a:r>
              <a:rPr lang="en-US" sz="1050" spc="-15" dirty="0">
                <a:latin typeface="Segoe UI"/>
                <a:cs typeface="Segoe UI"/>
              </a:rPr>
              <a:t> </a:t>
            </a:r>
            <a:r>
              <a:rPr lang="en-US" sz="1050" dirty="0">
                <a:latin typeface="Segoe UI"/>
                <a:cs typeface="Segoe UI"/>
              </a:rPr>
              <a:t>resources, and</a:t>
            </a:r>
            <a:r>
              <a:rPr lang="en-US" sz="1050" spc="-30" dirty="0">
                <a:latin typeface="Segoe UI"/>
                <a:cs typeface="Segoe UI"/>
              </a:rPr>
              <a:t> </a:t>
            </a:r>
            <a:r>
              <a:rPr lang="en-US" sz="1050" dirty="0">
                <a:latin typeface="Segoe UI"/>
                <a:cs typeface="Segoe UI"/>
              </a:rPr>
              <a:t>funding</a:t>
            </a:r>
            <a:r>
              <a:rPr lang="en-US" sz="1050" spc="-35" dirty="0">
                <a:latin typeface="Segoe UI"/>
                <a:cs typeface="Segoe UI"/>
              </a:rPr>
              <a:t> </a:t>
            </a:r>
            <a:r>
              <a:rPr lang="en-US" sz="1050" dirty="0">
                <a:latin typeface="Segoe UI"/>
                <a:cs typeface="Segoe UI"/>
              </a:rPr>
              <a:t>to</a:t>
            </a:r>
            <a:r>
              <a:rPr lang="en-US" sz="1050" spc="-20" dirty="0">
                <a:latin typeface="Segoe UI"/>
                <a:cs typeface="Segoe UI"/>
              </a:rPr>
              <a:t> </a:t>
            </a:r>
            <a:r>
              <a:rPr lang="en-US" sz="1050" dirty="0">
                <a:latin typeface="Segoe UI"/>
                <a:cs typeface="Segoe UI"/>
              </a:rPr>
              <a:t>drive</a:t>
            </a:r>
            <a:r>
              <a:rPr lang="en-US" sz="1050" spc="-20" dirty="0">
                <a:latin typeface="Segoe UI"/>
                <a:cs typeface="Segoe UI"/>
              </a:rPr>
              <a:t> </a:t>
            </a:r>
            <a:r>
              <a:rPr lang="en-US" sz="1050" dirty="0">
                <a:latin typeface="Segoe UI"/>
                <a:cs typeface="Segoe UI"/>
              </a:rPr>
              <a:t>consistent</a:t>
            </a:r>
            <a:r>
              <a:rPr lang="en-US" sz="1050" spc="-20" dirty="0">
                <a:latin typeface="Segoe UI"/>
                <a:cs typeface="Segoe UI"/>
              </a:rPr>
              <a:t> </a:t>
            </a:r>
            <a:r>
              <a:rPr lang="en-US" sz="1050" dirty="0">
                <a:latin typeface="Segoe UI"/>
                <a:cs typeface="Segoe UI"/>
              </a:rPr>
              <a:t>execution</a:t>
            </a:r>
            <a:r>
              <a:rPr lang="en-US" sz="1050" spc="-5" dirty="0">
                <a:latin typeface="Segoe UI"/>
                <a:cs typeface="Segoe UI"/>
              </a:rPr>
              <a:t> </a:t>
            </a:r>
            <a:r>
              <a:rPr lang="en-US" sz="1050" dirty="0">
                <a:latin typeface="Segoe UI"/>
                <a:cs typeface="Segoe UI"/>
              </a:rPr>
              <a:t>and</a:t>
            </a:r>
            <a:r>
              <a:rPr lang="en-US" sz="1050" spc="-15" dirty="0">
                <a:latin typeface="Segoe UI"/>
                <a:cs typeface="Segoe UI"/>
              </a:rPr>
              <a:t> </a:t>
            </a:r>
            <a:r>
              <a:rPr lang="en-US" sz="1050" dirty="0">
                <a:latin typeface="Segoe UI"/>
                <a:cs typeface="Segoe UI"/>
              </a:rPr>
              <a:t>customer</a:t>
            </a:r>
            <a:r>
              <a:rPr lang="en-US" sz="1050" spc="5" dirty="0">
                <a:latin typeface="Segoe UI"/>
                <a:cs typeface="Segoe UI"/>
              </a:rPr>
              <a:t> </a:t>
            </a:r>
            <a:r>
              <a:rPr lang="en-US" sz="1050" dirty="0">
                <a:latin typeface="Segoe UI"/>
                <a:cs typeface="Segoe UI"/>
              </a:rPr>
              <a:t>experience, accelerating</a:t>
            </a:r>
            <a:r>
              <a:rPr lang="en-US" sz="1050" spc="15" dirty="0">
                <a:latin typeface="Segoe UI"/>
                <a:cs typeface="Segoe UI"/>
              </a:rPr>
              <a:t> </a:t>
            </a:r>
            <a:r>
              <a:rPr lang="en-US" sz="1050" dirty="0">
                <a:latin typeface="Segoe UI"/>
                <a:cs typeface="Segoe UI"/>
              </a:rPr>
              <a:t>the</a:t>
            </a:r>
            <a:r>
              <a:rPr lang="en-US" sz="1050" spc="-35" dirty="0">
                <a:latin typeface="Segoe UI"/>
                <a:cs typeface="Segoe UI"/>
              </a:rPr>
              <a:t> </a:t>
            </a:r>
            <a:r>
              <a:rPr lang="en-US" sz="1050" dirty="0">
                <a:latin typeface="Segoe UI"/>
                <a:cs typeface="Segoe UI"/>
              </a:rPr>
              <a:t>demand,</a:t>
            </a:r>
            <a:r>
              <a:rPr lang="en-US" sz="1050" spc="5" dirty="0">
                <a:latin typeface="Segoe UI"/>
                <a:cs typeface="Segoe UI"/>
              </a:rPr>
              <a:t> </a:t>
            </a:r>
            <a:r>
              <a:rPr lang="en-US" sz="1050" dirty="0">
                <a:latin typeface="Segoe UI"/>
                <a:cs typeface="Segoe UI"/>
              </a:rPr>
              <a:t>pipeline,</a:t>
            </a:r>
            <a:r>
              <a:rPr lang="en-US" sz="1050" spc="-30" dirty="0">
                <a:latin typeface="Segoe UI"/>
                <a:cs typeface="Segoe UI"/>
              </a:rPr>
              <a:t> </a:t>
            </a:r>
            <a:r>
              <a:rPr lang="en-US" sz="1050" dirty="0">
                <a:latin typeface="Segoe UI"/>
                <a:cs typeface="Segoe UI"/>
              </a:rPr>
              <a:t>and</a:t>
            </a:r>
            <a:r>
              <a:rPr lang="en-US" sz="1050" spc="-15" dirty="0">
                <a:latin typeface="Segoe UI"/>
                <a:cs typeface="Segoe UI"/>
              </a:rPr>
              <a:t> </a:t>
            </a:r>
            <a:r>
              <a:rPr lang="en-US" sz="1050" spc="-10" dirty="0">
                <a:latin typeface="Segoe UI"/>
                <a:cs typeface="Segoe UI"/>
              </a:rPr>
              <a:t>consumption</a:t>
            </a:r>
            <a:r>
              <a:rPr lang="en-US" sz="1050" spc="-20" dirty="0">
                <a:latin typeface="Segoe UI"/>
                <a:cs typeface="Segoe UI"/>
              </a:rPr>
              <a:t> </a:t>
            </a:r>
            <a:r>
              <a:rPr lang="en-US" sz="1050" dirty="0">
                <a:latin typeface="Segoe UI"/>
                <a:cs typeface="Segoe UI"/>
              </a:rPr>
              <a:t>of</a:t>
            </a:r>
            <a:r>
              <a:rPr lang="en-US" sz="1050" spc="-25" dirty="0">
                <a:latin typeface="Segoe UI"/>
                <a:cs typeface="Segoe UI"/>
              </a:rPr>
              <a:t> </a:t>
            </a:r>
            <a:r>
              <a:rPr lang="en-US" sz="1050" dirty="0">
                <a:latin typeface="Segoe UI"/>
                <a:cs typeface="Segoe UI"/>
              </a:rPr>
              <a:t>Azure</a:t>
            </a:r>
            <a:r>
              <a:rPr lang="en-US" sz="1050" spc="-35" dirty="0">
                <a:latin typeface="Segoe UI"/>
                <a:cs typeface="Segoe UI"/>
              </a:rPr>
              <a:t> </a:t>
            </a:r>
            <a:r>
              <a:rPr lang="en-US" sz="1050" dirty="0">
                <a:latin typeface="Segoe UI"/>
                <a:cs typeface="Segoe UI"/>
              </a:rPr>
              <a:t>Data</a:t>
            </a:r>
            <a:r>
              <a:rPr lang="en-US" sz="1050" spc="-10" dirty="0">
                <a:latin typeface="Segoe UI"/>
                <a:cs typeface="Segoe UI"/>
              </a:rPr>
              <a:t> </a:t>
            </a:r>
            <a:r>
              <a:rPr lang="en-US" sz="1050" dirty="0">
                <a:latin typeface="Segoe UI"/>
                <a:cs typeface="Segoe UI"/>
              </a:rPr>
              <a:t>Platform.</a:t>
            </a:r>
            <a:r>
              <a:rPr lang="en-US" sz="1050" spc="245" dirty="0">
                <a:latin typeface="Segoe UI"/>
                <a:cs typeface="Segoe UI"/>
              </a:rPr>
              <a:t> </a:t>
            </a:r>
            <a:r>
              <a:rPr lang="en-US" sz="1050" dirty="0">
                <a:latin typeface="Segoe UI"/>
                <a:cs typeface="Segoe UI"/>
              </a:rPr>
              <a:t>In</a:t>
            </a:r>
            <a:r>
              <a:rPr lang="en-US" sz="1050" spc="-35" dirty="0">
                <a:latin typeface="Segoe UI"/>
                <a:cs typeface="Segoe UI"/>
              </a:rPr>
              <a:t> </a:t>
            </a:r>
            <a:r>
              <a:rPr lang="en-US" sz="1050" spc="-20" dirty="0">
                <a:latin typeface="Segoe UI"/>
                <a:cs typeface="Segoe UI"/>
              </a:rPr>
              <a:t>this </a:t>
            </a:r>
            <a:r>
              <a:rPr lang="en-US" sz="1050" dirty="0">
                <a:latin typeface="Segoe UI"/>
                <a:cs typeface="Segoe UI"/>
              </a:rPr>
              <a:t>engagement, Rackspace</a:t>
            </a:r>
            <a:r>
              <a:rPr lang="en-US" sz="1050" spc="-15" dirty="0">
                <a:latin typeface="Segoe UI"/>
                <a:cs typeface="Segoe UI"/>
              </a:rPr>
              <a:t> </a:t>
            </a:r>
            <a:r>
              <a:rPr lang="en-US" sz="1050" dirty="0">
                <a:latin typeface="Segoe UI"/>
                <a:cs typeface="Segoe UI"/>
              </a:rPr>
              <a:t>will</a:t>
            </a:r>
            <a:r>
              <a:rPr lang="en-US" sz="1050" spc="-30" dirty="0">
                <a:latin typeface="Segoe UI"/>
                <a:cs typeface="Segoe UI"/>
              </a:rPr>
              <a:t> </a:t>
            </a:r>
            <a:r>
              <a:rPr lang="en-US" sz="1050" dirty="0">
                <a:latin typeface="Segoe UI"/>
                <a:cs typeface="Segoe UI"/>
              </a:rPr>
              <a:t>conduct</a:t>
            </a:r>
            <a:r>
              <a:rPr lang="en-US" sz="1050" spc="-25" dirty="0">
                <a:latin typeface="Segoe UI"/>
                <a:cs typeface="Segoe UI"/>
              </a:rPr>
              <a:t> </a:t>
            </a:r>
            <a:r>
              <a:rPr lang="en-US" sz="1050" dirty="0">
                <a:latin typeface="Segoe UI"/>
                <a:cs typeface="Segoe UI"/>
              </a:rPr>
              <a:t>an</a:t>
            </a:r>
            <a:r>
              <a:rPr lang="en-US" sz="1050" spc="-35" dirty="0">
                <a:latin typeface="Segoe UI"/>
                <a:cs typeface="Segoe UI"/>
              </a:rPr>
              <a:t> </a:t>
            </a:r>
            <a:r>
              <a:rPr lang="en-US" sz="1050" dirty="0">
                <a:latin typeface="Segoe UI"/>
                <a:cs typeface="Segoe UI"/>
              </a:rPr>
              <a:t>assessment</a:t>
            </a:r>
            <a:r>
              <a:rPr lang="en-US" sz="1050" spc="20" dirty="0">
                <a:latin typeface="Segoe UI"/>
                <a:cs typeface="Segoe UI"/>
              </a:rPr>
              <a:t> </a:t>
            </a:r>
            <a:r>
              <a:rPr lang="en-US" sz="1050" dirty="0">
                <a:latin typeface="Segoe UI"/>
                <a:cs typeface="Segoe UI"/>
              </a:rPr>
              <a:t>&amp;</a:t>
            </a:r>
            <a:r>
              <a:rPr lang="en-US" sz="1050" spc="-25" dirty="0">
                <a:latin typeface="Segoe UI"/>
                <a:cs typeface="Segoe UI"/>
              </a:rPr>
              <a:t> </a:t>
            </a:r>
            <a:r>
              <a:rPr lang="en-US" sz="1050" dirty="0">
                <a:latin typeface="Segoe UI"/>
                <a:cs typeface="Segoe UI"/>
              </a:rPr>
              <a:t>provide</a:t>
            </a:r>
            <a:r>
              <a:rPr lang="en-US" sz="1050" spc="-35" dirty="0">
                <a:latin typeface="Segoe UI"/>
                <a:cs typeface="Segoe UI"/>
              </a:rPr>
              <a:t> </a:t>
            </a:r>
            <a:r>
              <a:rPr lang="en-US" sz="1050" dirty="0">
                <a:latin typeface="Segoe UI"/>
                <a:cs typeface="Segoe UI"/>
              </a:rPr>
              <a:t>a</a:t>
            </a:r>
            <a:r>
              <a:rPr lang="en-US" sz="1050" spc="-35" dirty="0">
                <a:latin typeface="Segoe UI"/>
                <a:cs typeface="Segoe UI"/>
              </a:rPr>
              <a:t> </a:t>
            </a:r>
            <a:r>
              <a:rPr lang="en-US" sz="1050" dirty="0">
                <a:latin typeface="Segoe UI"/>
                <a:cs typeface="Segoe UI"/>
              </a:rPr>
              <a:t>proof</a:t>
            </a:r>
            <a:r>
              <a:rPr lang="en-US" sz="1050" spc="-30" dirty="0">
                <a:latin typeface="Segoe UI"/>
                <a:cs typeface="Segoe UI"/>
              </a:rPr>
              <a:t> </a:t>
            </a:r>
            <a:r>
              <a:rPr lang="en-US" sz="1050" dirty="0">
                <a:latin typeface="Segoe UI"/>
                <a:cs typeface="Segoe UI"/>
              </a:rPr>
              <a:t>of</a:t>
            </a:r>
            <a:r>
              <a:rPr lang="en-US" sz="1050" spc="-30" dirty="0">
                <a:latin typeface="Segoe UI"/>
                <a:cs typeface="Segoe UI"/>
              </a:rPr>
              <a:t> </a:t>
            </a:r>
            <a:r>
              <a:rPr lang="en-US" sz="1050" dirty="0">
                <a:latin typeface="Segoe UI"/>
                <a:cs typeface="Segoe UI"/>
              </a:rPr>
              <a:t>value</a:t>
            </a:r>
            <a:r>
              <a:rPr lang="en-US" sz="1050" spc="-25" dirty="0">
                <a:latin typeface="Segoe UI"/>
                <a:cs typeface="Segoe UI"/>
              </a:rPr>
              <a:t> </a:t>
            </a:r>
            <a:r>
              <a:rPr lang="en-US" sz="1050" dirty="0">
                <a:latin typeface="Segoe UI"/>
                <a:cs typeface="Segoe UI"/>
              </a:rPr>
              <a:t>(POV)</a:t>
            </a:r>
            <a:r>
              <a:rPr lang="en-US" sz="1050" spc="-35" dirty="0">
                <a:latin typeface="Segoe UI"/>
                <a:cs typeface="Segoe UI"/>
              </a:rPr>
              <a:t> </a:t>
            </a:r>
            <a:r>
              <a:rPr lang="en-US" sz="1050" dirty="0">
                <a:latin typeface="Segoe UI"/>
                <a:cs typeface="Segoe UI"/>
              </a:rPr>
              <a:t>for</a:t>
            </a:r>
            <a:r>
              <a:rPr lang="en-US" sz="1050" spc="-25" dirty="0">
                <a:latin typeface="Segoe UI"/>
                <a:cs typeface="Segoe UI"/>
              </a:rPr>
              <a:t> </a:t>
            </a:r>
            <a:r>
              <a:rPr lang="en-US" sz="1050" dirty="0">
                <a:latin typeface="Segoe UI"/>
                <a:cs typeface="Segoe UI"/>
              </a:rPr>
              <a:t>a</a:t>
            </a:r>
            <a:r>
              <a:rPr lang="en-US" sz="1050" spc="-25" dirty="0">
                <a:latin typeface="Segoe UI"/>
                <a:cs typeface="Segoe UI"/>
              </a:rPr>
              <a:t> </a:t>
            </a:r>
            <a:r>
              <a:rPr lang="en-US" sz="1050" dirty="0">
                <a:latin typeface="Segoe UI"/>
                <a:cs typeface="Segoe UI"/>
              </a:rPr>
              <a:t>customer’s</a:t>
            </a:r>
            <a:r>
              <a:rPr lang="en-US" sz="1050" spc="5" dirty="0">
                <a:latin typeface="Segoe UI"/>
                <a:cs typeface="Segoe UI"/>
              </a:rPr>
              <a:t> </a:t>
            </a:r>
            <a:r>
              <a:rPr lang="en-US" sz="1050" dirty="0">
                <a:latin typeface="Segoe UI"/>
                <a:cs typeface="Segoe UI"/>
              </a:rPr>
              <a:t>Analytics</a:t>
            </a:r>
            <a:r>
              <a:rPr lang="en-US" sz="1050" spc="-15" dirty="0">
                <a:latin typeface="Segoe UI"/>
                <a:cs typeface="Segoe UI"/>
              </a:rPr>
              <a:t> </a:t>
            </a:r>
            <a:r>
              <a:rPr lang="en-US" sz="1050" dirty="0">
                <a:latin typeface="Segoe UI"/>
                <a:cs typeface="Segoe UI"/>
              </a:rPr>
              <a:t>project,</a:t>
            </a:r>
            <a:r>
              <a:rPr lang="en-US" sz="1050" spc="-20" dirty="0">
                <a:latin typeface="Segoe UI"/>
                <a:cs typeface="Segoe UI"/>
              </a:rPr>
              <a:t> </a:t>
            </a:r>
            <a:r>
              <a:rPr lang="en-US" sz="1050" dirty="0">
                <a:latin typeface="Segoe UI"/>
                <a:cs typeface="Segoe UI"/>
              </a:rPr>
              <a:t>demonstrating</a:t>
            </a:r>
            <a:r>
              <a:rPr lang="en-US" sz="1050" spc="-5" dirty="0">
                <a:latin typeface="Segoe UI"/>
                <a:cs typeface="Segoe UI"/>
              </a:rPr>
              <a:t> </a:t>
            </a:r>
            <a:r>
              <a:rPr lang="en-US" sz="1050" dirty="0">
                <a:latin typeface="Segoe UI"/>
                <a:cs typeface="Segoe UI"/>
              </a:rPr>
              <a:t>that</a:t>
            </a:r>
            <a:r>
              <a:rPr lang="en-US" sz="1050" spc="-20" dirty="0">
                <a:latin typeface="Segoe UI"/>
                <a:cs typeface="Segoe UI"/>
              </a:rPr>
              <a:t> </a:t>
            </a:r>
            <a:r>
              <a:rPr lang="en-US" sz="1050" dirty="0">
                <a:latin typeface="Segoe UI"/>
                <a:cs typeface="Segoe UI"/>
              </a:rPr>
              <a:t>Azure</a:t>
            </a:r>
            <a:r>
              <a:rPr lang="en-US" sz="1050" spc="-35" dirty="0">
                <a:latin typeface="Segoe UI"/>
                <a:cs typeface="Segoe UI"/>
              </a:rPr>
              <a:t> </a:t>
            </a:r>
            <a:r>
              <a:rPr lang="en-US" sz="1050" dirty="0">
                <a:latin typeface="Segoe UI"/>
                <a:cs typeface="Segoe UI"/>
              </a:rPr>
              <a:t>offers</a:t>
            </a:r>
            <a:r>
              <a:rPr lang="en-US" sz="1050" spc="-10" dirty="0">
                <a:latin typeface="Segoe UI"/>
                <a:cs typeface="Segoe UI"/>
              </a:rPr>
              <a:t> </a:t>
            </a:r>
            <a:r>
              <a:rPr lang="en-US" sz="1050" dirty="0">
                <a:latin typeface="Segoe UI"/>
                <a:cs typeface="Segoe UI"/>
              </a:rPr>
              <a:t>the</a:t>
            </a:r>
            <a:r>
              <a:rPr lang="en-US" sz="1050" spc="-35" dirty="0">
                <a:latin typeface="Segoe UI"/>
                <a:cs typeface="Segoe UI"/>
              </a:rPr>
              <a:t> </a:t>
            </a:r>
            <a:r>
              <a:rPr lang="en-US" sz="1050" dirty="0">
                <a:latin typeface="Segoe UI"/>
                <a:cs typeface="Segoe UI"/>
              </a:rPr>
              <a:t>right</a:t>
            </a:r>
            <a:r>
              <a:rPr lang="en-US" sz="1050" spc="-30" dirty="0">
                <a:latin typeface="Segoe UI"/>
                <a:cs typeface="Segoe UI"/>
              </a:rPr>
              <a:t> </a:t>
            </a:r>
            <a:r>
              <a:rPr lang="en-US" sz="1050" dirty="0">
                <a:latin typeface="Segoe UI"/>
                <a:cs typeface="Segoe UI"/>
              </a:rPr>
              <a:t>tools</a:t>
            </a:r>
            <a:r>
              <a:rPr lang="en-US" sz="1050" spc="-35" dirty="0">
                <a:latin typeface="Segoe UI"/>
                <a:cs typeface="Segoe UI"/>
              </a:rPr>
              <a:t> </a:t>
            </a:r>
            <a:r>
              <a:rPr lang="en-US" sz="1050" dirty="0">
                <a:latin typeface="Segoe UI"/>
                <a:cs typeface="Segoe UI"/>
              </a:rPr>
              <a:t>to</a:t>
            </a:r>
            <a:r>
              <a:rPr lang="en-US" sz="1050" spc="-30" dirty="0">
                <a:latin typeface="Segoe UI"/>
                <a:cs typeface="Segoe UI"/>
              </a:rPr>
              <a:t> </a:t>
            </a:r>
            <a:r>
              <a:rPr lang="en-US" sz="1050" dirty="0">
                <a:latin typeface="Segoe UI"/>
                <a:cs typeface="Segoe UI"/>
              </a:rPr>
              <a:t>integrate</a:t>
            </a:r>
            <a:r>
              <a:rPr lang="en-US" sz="1050" spc="-15" dirty="0">
                <a:latin typeface="Segoe UI"/>
                <a:cs typeface="Segoe UI"/>
              </a:rPr>
              <a:t> </a:t>
            </a:r>
            <a:r>
              <a:rPr lang="en-US" sz="1050" dirty="0">
                <a:latin typeface="Segoe UI"/>
                <a:cs typeface="Segoe UI"/>
              </a:rPr>
              <a:t>Azure</a:t>
            </a:r>
            <a:r>
              <a:rPr lang="en-US" sz="1050" spc="-20" dirty="0">
                <a:latin typeface="Segoe UI"/>
                <a:cs typeface="Segoe UI"/>
              </a:rPr>
              <a:t> </a:t>
            </a:r>
            <a:r>
              <a:rPr lang="en-US" sz="1050" dirty="0">
                <a:latin typeface="Segoe UI"/>
                <a:cs typeface="Segoe UI"/>
              </a:rPr>
              <a:t>Analytics.</a:t>
            </a:r>
            <a:r>
              <a:rPr lang="en-US" sz="1050" spc="-20" dirty="0">
                <a:latin typeface="Segoe UI"/>
                <a:cs typeface="Segoe UI"/>
              </a:rPr>
              <a:t> </a:t>
            </a:r>
            <a:r>
              <a:rPr lang="en-US" sz="1050" spc="-25" dirty="0">
                <a:latin typeface="Segoe UI"/>
                <a:cs typeface="Segoe UI"/>
              </a:rPr>
              <a:t>As </a:t>
            </a:r>
            <a:r>
              <a:rPr lang="en-US" sz="1050" dirty="0">
                <a:latin typeface="Segoe UI"/>
                <a:cs typeface="Segoe UI"/>
              </a:rPr>
              <a:t>part</a:t>
            </a:r>
            <a:r>
              <a:rPr lang="en-US" sz="1050" spc="-20" dirty="0">
                <a:latin typeface="Segoe UI"/>
                <a:cs typeface="Segoe UI"/>
              </a:rPr>
              <a:t> </a:t>
            </a:r>
            <a:r>
              <a:rPr lang="en-US" sz="1050" dirty="0">
                <a:latin typeface="Segoe UI"/>
                <a:cs typeface="Segoe UI"/>
              </a:rPr>
              <a:t>of</a:t>
            </a:r>
            <a:r>
              <a:rPr lang="en-US" sz="1050" spc="-30" dirty="0">
                <a:latin typeface="Segoe UI"/>
                <a:cs typeface="Segoe UI"/>
              </a:rPr>
              <a:t> </a:t>
            </a:r>
            <a:r>
              <a:rPr lang="en-US" sz="1050" dirty="0">
                <a:latin typeface="Segoe UI"/>
                <a:cs typeface="Segoe UI"/>
              </a:rPr>
              <a:t>this</a:t>
            </a:r>
            <a:r>
              <a:rPr lang="en-US" sz="1050" spc="-30" dirty="0">
                <a:latin typeface="Segoe UI"/>
                <a:cs typeface="Segoe UI"/>
              </a:rPr>
              <a:t> </a:t>
            </a:r>
            <a:r>
              <a:rPr lang="en-US" sz="1050" dirty="0">
                <a:latin typeface="Segoe UI"/>
                <a:cs typeface="Segoe UI"/>
              </a:rPr>
              <a:t>Assessment</a:t>
            </a:r>
            <a:r>
              <a:rPr lang="en-US" sz="1050" spc="10" dirty="0">
                <a:latin typeface="Segoe UI"/>
                <a:cs typeface="Segoe UI"/>
              </a:rPr>
              <a:t> </a:t>
            </a:r>
            <a:r>
              <a:rPr lang="en-US" sz="1050" dirty="0">
                <a:latin typeface="Segoe UI"/>
                <a:cs typeface="Segoe UI"/>
              </a:rPr>
              <a:t>and</a:t>
            </a:r>
            <a:r>
              <a:rPr lang="en-US" sz="1050" spc="-20" dirty="0">
                <a:latin typeface="Segoe UI"/>
                <a:cs typeface="Segoe UI"/>
              </a:rPr>
              <a:t> </a:t>
            </a:r>
            <a:r>
              <a:rPr lang="en-US" sz="1050" dirty="0">
                <a:latin typeface="Segoe UI"/>
                <a:cs typeface="Segoe UI"/>
              </a:rPr>
              <a:t>POV</a:t>
            </a:r>
            <a:r>
              <a:rPr lang="en-US" sz="1050" spc="-20" dirty="0">
                <a:latin typeface="Segoe UI"/>
                <a:cs typeface="Segoe UI"/>
              </a:rPr>
              <a:t> </a:t>
            </a:r>
            <a:r>
              <a:rPr lang="en-US" sz="1050" dirty="0">
                <a:latin typeface="Segoe UI"/>
                <a:cs typeface="Segoe UI"/>
              </a:rPr>
              <a:t>engagement,</a:t>
            </a:r>
            <a:r>
              <a:rPr lang="en-US" sz="1050" spc="5" dirty="0">
                <a:latin typeface="Segoe UI"/>
                <a:cs typeface="Segoe UI"/>
              </a:rPr>
              <a:t> </a:t>
            </a:r>
            <a:r>
              <a:rPr lang="en-US" sz="1050" dirty="0">
                <a:latin typeface="Segoe UI"/>
                <a:cs typeface="Segoe UI"/>
              </a:rPr>
              <a:t>Rackspace</a:t>
            </a:r>
            <a:r>
              <a:rPr lang="en-US" sz="1050" spc="-10" dirty="0">
                <a:latin typeface="Segoe UI"/>
                <a:cs typeface="Segoe UI"/>
              </a:rPr>
              <a:t> </a:t>
            </a:r>
            <a:r>
              <a:rPr lang="en-US" sz="1050" dirty="0">
                <a:latin typeface="Segoe UI"/>
                <a:cs typeface="Segoe UI"/>
              </a:rPr>
              <a:t>will</a:t>
            </a:r>
            <a:r>
              <a:rPr lang="en-US" sz="1050" spc="-35" dirty="0">
                <a:latin typeface="Segoe UI"/>
                <a:cs typeface="Segoe UI"/>
              </a:rPr>
              <a:t> </a:t>
            </a:r>
            <a:r>
              <a:rPr lang="en-US" sz="1050" dirty="0">
                <a:latin typeface="Segoe UI"/>
                <a:cs typeface="Segoe UI"/>
              </a:rPr>
              <a:t>use</a:t>
            </a:r>
            <a:r>
              <a:rPr lang="en-US" sz="1050" spc="-25" dirty="0">
                <a:latin typeface="Segoe UI"/>
                <a:cs typeface="Segoe UI"/>
              </a:rPr>
              <a:t> </a:t>
            </a:r>
            <a:r>
              <a:rPr lang="en-US" sz="1050" dirty="0">
                <a:latin typeface="Segoe UI"/>
                <a:cs typeface="Segoe UI"/>
              </a:rPr>
              <a:t>Microsoft</a:t>
            </a:r>
            <a:r>
              <a:rPr lang="en-US" sz="1050" spc="-15" dirty="0">
                <a:latin typeface="Segoe UI"/>
                <a:cs typeface="Segoe UI"/>
              </a:rPr>
              <a:t> </a:t>
            </a:r>
            <a:r>
              <a:rPr lang="en-US" sz="1050" dirty="0">
                <a:latin typeface="Segoe UI"/>
                <a:cs typeface="Segoe UI"/>
              </a:rPr>
              <a:t>Fabric</a:t>
            </a:r>
            <a:r>
              <a:rPr lang="en-US" sz="1050" spc="-25" dirty="0">
                <a:latin typeface="Segoe UI"/>
                <a:cs typeface="Segoe UI"/>
              </a:rPr>
              <a:t> </a:t>
            </a:r>
            <a:r>
              <a:rPr lang="en-US" sz="1050" dirty="0">
                <a:latin typeface="Segoe UI"/>
                <a:cs typeface="Segoe UI"/>
              </a:rPr>
              <a:t>(incl.</a:t>
            </a:r>
            <a:r>
              <a:rPr lang="en-US" sz="1050" spc="-40" dirty="0">
                <a:latin typeface="Segoe UI"/>
                <a:cs typeface="Segoe UI"/>
              </a:rPr>
              <a:t> </a:t>
            </a:r>
            <a:r>
              <a:rPr lang="en-US" sz="1050" dirty="0">
                <a:latin typeface="Segoe UI"/>
                <a:cs typeface="Segoe UI"/>
              </a:rPr>
              <a:t>Power</a:t>
            </a:r>
            <a:r>
              <a:rPr lang="en-US" sz="1050" spc="-5" dirty="0">
                <a:latin typeface="Segoe UI"/>
                <a:cs typeface="Segoe UI"/>
              </a:rPr>
              <a:t> </a:t>
            </a:r>
            <a:r>
              <a:rPr lang="en-US" sz="1050" dirty="0">
                <a:latin typeface="Segoe UI"/>
                <a:cs typeface="Segoe UI"/>
              </a:rPr>
              <a:t>BI)</a:t>
            </a:r>
            <a:r>
              <a:rPr lang="en-US" sz="1050" spc="-35" dirty="0">
                <a:latin typeface="Segoe UI"/>
                <a:cs typeface="Segoe UI"/>
              </a:rPr>
              <a:t> </a:t>
            </a:r>
            <a:r>
              <a:rPr lang="en-US" sz="1050" dirty="0">
                <a:latin typeface="Segoe UI"/>
                <a:cs typeface="Segoe UI"/>
              </a:rPr>
              <a:t>and/or</a:t>
            </a:r>
            <a:r>
              <a:rPr lang="en-US" sz="1050" spc="-15" dirty="0">
                <a:latin typeface="Segoe UI"/>
                <a:cs typeface="Segoe UI"/>
              </a:rPr>
              <a:t> </a:t>
            </a:r>
            <a:r>
              <a:rPr lang="en-US" sz="1050" dirty="0">
                <a:latin typeface="Segoe UI"/>
                <a:cs typeface="Segoe UI"/>
              </a:rPr>
              <a:t>Azure</a:t>
            </a:r>
            <a:r>
              <a:rPr lang="en-US" sz="1050" spc="-30" dirty="0">
                <a:latin typeface="Segoe UI"/>
                <a:cs typeface="Segoe UI"/>
              </a:rPr>
              <a:t> </a:t>
            </a:r>
            <a:r>
              <a:rPr lang="en-US" sz="1050" dirty="0">
                <a:latin typeface="Segoe UI"/>
                <a:cs typeface="Segoe UI"/>
              </a:rPr>
              <a:t>Databricks</a:t>
            </a:r>
            <a:r>
              <a:rPr lang="en-US" sz="1050" spc="10" dirty="0">
                <a:latin typeface="Segoe UI"/>
                <a:cs typeface="Segoe UI"/>
              </a:rPr>
              <a:t> </a:t>
            </a:r>
            <a:r>
              <a:rPr lang="en-US" sz="1050" dirty="0">
                <a:latin typeface="Segoe UI"/>
                <a:cs typeface="Segoe UI"/>
              </a:rPr>
              <a:t>to</a:t>
            </a:r>
            <a:r>
              <a:rPr lang="en-US" sz="1050" spc="-25" dirty="0">
                <a:latin typeface="Segoe UI"/>
                <a:cs typeface="Segoe UI"/>
              </a:rPr>
              <a:t> </a:t>
            </a:r>
            <a:r>
              <a:rPr lang="en-US" sz="1050" dirty="0">
                <a:latin typeface="Segoe UI"/>
                <a:cs typeface="Segoe UI"/>
              </a:rPr>
              <a:t>build</a:t>
            </a:r>
            <a:r>
              <a:rPr lang="en-US" sz="1050" spc="-40" dirty="0">
                <a:latin typeface="Segoe UI"/>
                <a:cs typeface="Segoe UI"/>
              </a:rPr>
              <a:t> </a:t>
            </a:r>
            <a:r>
              <a:rPr lang="en-US" sz="1050" dirty="0">
                <a:latin typeface="Segoe UI"/>
                <a:cs typeface="Segoe UI"/>
              </a:rPr>
              <a:t>and</a:t>
            </a:r>
            <a:r>
              <a:rPr lang="en-US" sz="1050" spc="-30" dirty="0">
                <a:latin typeface="Segoe UI"/>
                <a:cs typeface="Segoe UI"/>
              </a:rPr>
              <a:t> </a:t>
            </a:r>
            <a:r>
              <a:rPr lang="en-US" sz="1050" dirty="0">
                <a:latin typeface="Segoe UI"/>
                <a:cs typeface="Segoe UI"/>
              </a:rPr>
              <a:t>deploy</a:t>
            </a:r>
            <a:r>
              <a:rPr lang="en-US" sz="1050" spc="-20" dirty="0">
                <a:latin typeface="Segoe UI"/>
                <a:cs typeface="Segoe UI"/>
              </a:rPr>
              <a:t> </a:t>
            </a:r>
            <a:r>
              <a:rPr lang="en-US" sz="1050" dirty="0">
                <a:latin typeface="Segoe UI"/>
                <a:cs typeface="Segoe UI"/>
              </a:rPr>
              <a:t>the</a:t>
            </a:r>
            <a:r>
              <a:rPr lang="en-US" sz="1050" spc="-20" dirty="0">
                <a:latin typeface="Segoe UI"/>
                <a:cs typeface="Segoe UI"/>
              </a:rPr>
              <a:t> </a:t>
            </a:r>
            <a:r>
              <a:rPr lang="en-US" sz="1050" dirty="0">
                <a:latin typeface="Segoe UI"/>
                <a:cs typeface="Segoe UI"/>
              </a:rPr>
              <a:t>customer POV</a:t>
            </a:r>
            <a:r>
              <a:rPr lang="en-US" sz="1050" spc="-20" dirty="0">
                <a:latin typeface="Segoe UI"/>
                <a:cs typeface="Segoe UI"/>
              </a:rPr>
              <a:t> </a:t>
            </a:r>
            <a:r>
              <a:rPr lang="en-US" sz="1050" dirty="0">
                <a:latin typeface="Segoe UI"/>
                <a:cs typeface="Segoe UI"/>
              </a:rPr>
              <a:t>project.</a:t>
            </a:r>
            <a:r>
              <a:rPr lang="en-US" sz="1050" spc="-20" dirty="0">
                <a:latin typeface="Segoe UI"/>
                <a:cs typeface="Segoe UI"/>
              </a:rPr>
              <a:t> </a:t>
            </a:r>
          </a:p>
          <a:p>
            <a:pPr marL="12700" marR="5080">
              <a:lnSpc>
                <a:spcPct val="100000"/>
              </a:lnSpc>
              <a:spcBef>
                <a:spcPts val="95"/>
              </a:spcBef>
            </a:pPr>
            <a:r>
              <a:rPr lang="en-US" sz="1050" dirty="0">
                <a:latin typeface="Segoe UI"/>
                <a:cs typeface="Segoe UI"/>
              </a:rPr>
              <a:t>Rackspace will</a:t>
            </a:r>
            <a:r>
              <a:rPr lang="en-US" sz="1050" spc="-35" dirty="0">
                <a:latin typeface="Segoe UI"/>
                <a:cs typeface="Segoe UI"/>
              </a:rPr>
              <a:t> </a:t>
            </a:r>
            <a:r>
              <a:rPr lang="en-US" sz="1050" dirty="0">
                <a:latin typeface="Segoe UI"/>
                <a:cs typeface="Segoe UI"/>
              </a:rPr>
              <a:t>use</a:t>
            </a:r>
            <a:r>
              <a:rPr lang="en-US" sz="1050" spc="-25" dirty="0">
                <a:latin typeface="Segoe UI"/>
                <a:cs typeface="Segoe UI"/>
              </a:rPr>
              <a:t> </a:t>
            </a:r>
            <a:r>
              <a:rPr lang="en-US" sz="1050" u="sng"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Azure</a:t>
            </a:r>
            <a:r>
              <a:rPr lang="en-US" sz="1050" u="sng" spc="-20"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 </a:t>
            </a:r>
            <a:r>
              <a:rPr lang="en-US" sz="1050" u="sng" spc="-10"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Migrate</a:t>
            </a:r>
            <a:r>
              <a:rPr lang="en-US" sz="1050" spc="-10" dirty="0">
                <a:solidFill>
                  <a:srgbClr val="0078D3"/>
                </a:solidFill>
                <a:latin typeface="Segoe UI"/>
                <a:cs typeface="Segoe UI"/>
              </a:rPr>
              <a:t> </a:t>
            </a:r>
            <a:r>
              <a:rPr lang="en-US" sz="1050" dirty="0">
                <a:latin typeface="Segoe UI"/>
                <a:cs typeface="Segoe UI"/>
              </a:rPr>
              <a:t>or</a:t>
            </a:r>
            <a:r>
              <a:rPr lang="en-US" sz="1050" spc="-30" dirty="0">
                <a:latin typeface="Segoe UI"/>
                <a:cs typeface="Segoe UI"/>
              </a:rPr>
              <a:t> </a:t>
            </a:r>
            <a:r>
              <a:rPr lang="en-US" sz="1050" u="sng" dirty="0">
                <a:solidFill>
                  <a:srgbClr val="0000FF"/>
                </a:solidFill>
                <a:uFill>
                  <a:solidFill>
                    <a:srgbClr val="0078D3"/>
                  </a:solidFill>
                </a:uFill>
                <a:latin typeface="Segoe UI"/>
                <a:cs typeface="Segoe UI"/>
                <a:hlinkClick r:id="rId3">
                  <a:extLst>
                    <a:ext uri="{A12FA001-AC4F-418D-AE19-62706E023703}">
                      <ahyp:hlinkClr xmlns:ahyp="http://schemas.microsoft.com/office/drawing/2018/hyperlinkcolor" val="tx"/>
                    </a:ext>
                  </a:extLst>
                </a:hlinkClick>
              </a:rPr>
              <a:t>Dr.</a:t>
            </a:r>
            <a:r>
              <a:rPr lang="en-US" sz="1050" u="sng" spc="-35" dirty="0">
                <a:solidFill>
                  <a:srgbClr val="0000FF"/>
                </a:solidFill>
                <a:uFill>
                  <a:solidFill>
                    <a:srgbClr val="0078D3"/>
                  </a:solidFill>
                </a:uFill>
                <a:latin typeface="Segoe UI"/>
                <a:cs typeface="Segoe UI"/>
                <a:hlinkClick r:id="rId3">
                  <a:extLst>
                    <a:ext uri="{A12FA001-AC4F-418D-AE19-62706E023703}">
                      <ahyp:hlinkClr xmlns:ahyp="http://schemas.microsoft.com/office/drawing/2018/hyperlinkcolor" val="tx"/>
                    </a:ext>
                  </a:extLst>
                </a:hlinkClick>
              </a:rPr>
              <a:t> </a:t>
            </a:r>
            <a:r>
              <a:rPr lang="en-US" sz="1050" u="sng" dirty="0">
                <a:solidFill>
                  <a:srgbClr val="0000FF"/>
                </a:solidFill>
                <a:uFill>
                  <a:solidFill>
                    <a:srgbClr val="0078D3"/>
                  </a:solidFill>
                </a:uFill>
                <a:latin typeface="Segoe UI"/>
                <a:cs typeface="Segoe UI"/>
                <a:hlinkClick r:id="rId3">
                  <a:extLst>
                    <a:ext uri="{A12FA001-AC4F-418D-AE19-62706E023703}">
                      <ahyp:hlinkClr xmlns:ahyp="http://schemas.microsoft.com/office/drawing/2018/hyperlinkcolor" val="tx"/>
                    </a:ext>
                  </a:extLst>
                </a:hlinkClick>
              </a:rPr>
              <a:t>Migrate</a:t>
            </a:r>
            <a:r>
              <a:rPr lang="en-US" sz="1050" spc="-15" dirty="0">
                <a:solidFill>
                  <a:srgbClr val="0078D3"/>
                </a:solidFill>
                <a:latin typeface="Segoe UI"/>
                <a:cs typeface="Segoe UI"/>
              </a:rPr>
              <a:t> </a:t>
            </a:r>
            <a:r>
              <a:rPr lang="en-US" sz="1050" dirty="0">
                <a:latin typeface="Segoe UI"/>
                <a:cs typeface="Segoe UI"/>
              </a:rPr>
              <a:t>to</a:t>
            </a:r>
            <a:r>
              <a:rPr lang="en-US" sz="1050" spc="-35" dirty="0">
                <a:latin typeface="Segoe UI"/>
                <a:cs typeface="Segoe UI"/>
              </a:rPr>
              <a:t> </a:t>
            </a:r>
            <a:r>
              <a:rPr lang="en-US" sz="1050" dirty="0">
                <a:latin typeface="Segoe UI"/>
                <a:cs typeface="Segoe UI"/>
              </a:rPr>
              <a:t>create</a:t>
            </a:r>
            <a:r>
              <a:rPr lang="en-US" sz="1050" spc="-5" dirty="0">
                <a:latin typeface="Segoe UI"/>
                <a:cs typeface="Segoe UI"/>
              </a:rPr>
              <a:t> </a:t>
            </a:r>
            <a:r>
              <a:rPr lang="en-US" sz="1050" dirty="0">
                <a:latin typeface="Segoe UI"/>
                <a:cs typeface="Segoe UI"/>
              </a:rPr>
              <a:t>an</a:t>
            </a:r>
            <a:r>
              <a:rPr lang="en-US" sz="1050" spc="-35" dirty="0">
                <a:latin typeface="Segoe UI"/>
                <a:cs typeface="Segoe UI"/>
              </a:rPr>
              <a:t> </a:t>
            </a:r>
            <a:r>
              <a:rPr lang="en-US" sz="1050" dirty="0">
                <a:latin typeface="Segoe UI"/>
                <a:cs typeface="Segoe UI"/>
              </a:rPr>
              <a:t>assessment</a:t>
            </a:r>
            <a:r>
              <a:rPr lang="en-US" sz="1050" spc="15" dirty="0">
                <a:latin typeface="Segoe UI"/>
                <a:cs typeface="Segoe UI"/>
              </a:rPr>
              <a:t> </a:t>
            </a:r>
            <a:r>
              <a:rPr lang="en-US" sz="1050" dirty="0">
                <a:latin typeface="Segoe UI"/>
                <a:cs typeface="Segoe UI"/>
              </a:rPr>
              <a:t>report.</a:t>
            </a:r>
            <a:r>
              <a:rPr lang="en-US" sz="1050" spc="-25" dirty="0">
                <a:latin typeface="Segoe UI"/>
                <a:cs typeface="Segoe UI"/>
              </a:rPr>
              <a:t> </a:t>
            </a:r>
            <a:r>
              <a:rPr lang="en-US" sz="1050" dirty="0">
                <a:latin typeface="Segoe UI"/>
                <a:cs typeface="Segoe UI"/>
              </a:rPr>
              <a:t>Rackspace</a:t>
            </a:r>
            <a:r>
              <a:rPr lang="en-US" sz="1050" spc="-5" dirty="0">
                <a:latin typeface="Segoe UI"/>
                <a:cs typeface="Segoe UI"/>
              </a:rPr>
              <a:t> </a:t>
            </a:r>
            <a:r>
              <a:rPr lang="en-US" sz="1050" dirty="0">
                <a:latin typeface="Segoe UI"/>
                <a:cs typeface="Segoe UI"/>
              </a:rPr>
              <a:t>should</a:t>
            </a:r>
            <a:r>
              <a:rPr lang="en-US" sz="1050" spc="-30" dirty="0">
                <a:latin typeface="Segoe UI"/>
                <a:cs typeface="Segoe UI"/>
              </a:rPr>
              <a:t> </a:t>
            </a:r>
            <a:r>
              <a:rPr lang="en-US" sz="1050" dirty="0">
                <a:latin typeface="Segoe UI"/>
                <a:cs typeface="Segoe UI"/>
              </a:rPr>
              <a:t>use</a:t>
            </a:r>
            <a:r>
              <a:rPr lang="en-US" sz="1050" spc="-30" dirty="0">
                <a:latin typeface="Segoe UI"/>
                <a:cs typeface="Segoe UI"/>
              </a:rPr>
              <a:t> </a:t>
            </a:r>
            <a:r>
              <a:rPr lang="en-US" sz="1050" dirty="0">
                <a:latin typeface="Segoe UI"/>
                <a:cs typeface="Segoe UI"/>
              </a:rPr>
              <a:t>the</a:t>
            </a:r>
            <a:r>
              <a:rPr lang="en-US" sz="1050" spc="-25" dirty="0">
                <a:latin typeface="Segoe UI"/>
                <a:cs typeface="Segoe UI"/>
              </a:rPr>
              <a:t> </a:t>
            </a:r>
            <a:r>
              <a:rPr lang="en-US" sz="1050" dirty="0">
                <a:latin typeface="Segoe UI"/>
                <a:cs typeface="Segoe UI"/>
              </a:rPr>
              <a:t>following</a:t>
            </a:r>
            <a:r>
              <a:rPr lang="en-US" sz="1050" spc="-40" dirty="0">
                <a:latin typeface="Segoe UI"/>
                <a:cs typeface="Segoe UI"/>
              </a:rPr>
              <a:t> </a:t>
            </a:r>
            <a:r>
              <a:rPr lang="en-US" sz="1050" dirty="0">
                <a:latin typeface="Segoe UI"/>
                <a:cs typeface="Segoe UI"/>
              </a:rPr>
              <a:t>Microsoft</a:t>
            </a:r>
            <a:r>
              <a:rPr lang="en-US" sz="1050" spc="-25" dirty="0">
                <a:latin typeface="Segoe UI"/>
                <a:cs typeface="Segoe UI"/>
              </a:rPr>
              <a:t> </a:t>
            </a:r>
            <a:r>
              <a:rPr lang="en-US" sz="1050" dirty="0">
                <a:latin typeface="Segoe UI"/>
                <a:cs typeface="Segoe UI"/>
              </a:rPr>
              <a:t>guidance/tools</a:t>
            </a:r>
            <a:r>
              <a:rPr lang="en-US" sz="1050" spc="-15" dirty="0">
                <a:latin typeface="Segoe UI"/>
                <a:cs typeface="Segoe UI"/>
              </a:rPr>
              <a:t> </a:t>
            </a:r>
            <a:r>
              <a:rPr lang="en-US" sz="1050" dirty="0">
                <a:latin typeface="Segoe UI"/>
                <a:cs typeface="Segoe UI"/>
              </a:rPr>
              <a:t>in</a:t>
            </a:r>
            <a:r>
              <a:rPr lang="en-US" sz="1050" spc="-35" dirty="0">
                <a:latin typeface="Segoe UI"/>
                <a:cs typeface="Segoe UI"/>
              </a:rPr>
              <a:t> </a:t>
            </a:r>
            <a:r>
              <a:rPr lang="en-US" sz="1050" dirty="0">
                <a:latin typeface="Segoe UI"/>
                <a:cs typeface="Segoe UI"/>
              </a:rPr>
              <a:t>delivering</a:t>
            </a:r>
            <a:r>
              <a:rPr lang="en-US" sz="1050" spc="-35" dirty="0">
                <a:latin typeface="Segoe UI"/>
                <a:cs typeface="Segoe UI"/>
              </a:rPr>
              <a:t> </a:t>
            </a:r>
            <a:r>
              <a:rPr lang="en-US" sz="1050" dirty="0">
                <a:latin typeface="Segoe UI"/>
                <a:cs typeface="Segoe UI"/>
              </a:rPr>
              <a:t>the</a:t>
            </a:r>
            <a:r>
              <a:rPr lang="en-US" sz="1050" spc="-25" dirty="0">
                <a:latin typeface="Segoe UI"/>
                <a:cs typeface="Segoe UI"/>
              </a:rPr>
              <a:t> </a:t>
            </a:r>
            <a:r>
              <a:rPr lang="en-US" sz="1050" dirty="0">
                <a:latin typeface="Segoe UI"/>
                <a:cs typeface="Segoe UI"/>
              </a:rPr>
              <a:t>services: </a:t>
            </a:r>
            <a:r>
              <a:rPr lang="en-US" sz="1050" u="sng"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Cloud</a:t>
            </a:r>
            <a:r>
              <a:rPr lang="en-US" sz="1050" u="sng" spc="-35"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 </a:t>
            </a:r>
            <a:r>
              <a:rPr lang="en-US" sz="1050" u="sng"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Adoption</a:t>
            </a:r>
            <a:r>
              <a:rPr lang="en-US" sz="1050" u="sng" spc="-30"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 </a:t>
            </a:r>
            <a:r>
              <a:rPr lang="en-US" sz="1050" u="sng"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Framework (CAF)</a:t>
            </a:r>
            <a:r>
              <a:rPr lang="en-US" sz="1050" u="sng" dirty="0">
                <a:uFill>
                  <a:solidFill>
                    <a:srgbClr val="000000"/>
                  </a:solidFill>
                </a:uFill>
                <a:latin typeface="Segoe UI"/>
                <a:cs typeface="Segoe UI"/>
              </a:rPr>
              <a:t>,</a:t>
            </a:r>
            <a:r>
              <a:rPr lang="en-US" sz="1050" spc="-25" dirty="0">
                <a:latin typeface="Segoe UI"/>
                <a:cs typeface="Segoe UI"/>
              </a:rPr>
              <a:t> </a:t>
            </a:r>
            <a:r>
              <a:rPr lang="en-US" sz="1050" u="sng" spc="-10"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Well-</a:t>
            </a:r>
            <a:r>
              <a:rPr lang="en-US" sz="1050" u="sng"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Architected </a:t>
            </a:r>
            <a:r>
              <a:rPr lang="en-US" sz="1050" u="sng" spc="-10"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Framework</a:t>
            </a:r>
            <a:r>
              <a:rPr lang="en-US" sz="1050" spc="-10" dirty="0">
                <a:solidFill>
                  <a:srgbClr val="0000FF"/>
                </a:solidFill>
                <a:latin typeface="Segoe UI"/>
                <a:cs typeface="Segoe UI"/>
              </a:rPr>
              <a:t> </a:t>
            </a:r>
            <a:r>
              <a:rPr lang="en-US" sz="1050" u="sng"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(WAF)</a:t>
            </a:r>
            <a:r>
              <a:rPr lang="en-US" sz="1050" spc="-25" dirty="0">
                <a:solidFill>
                  <a:srgbClr val="0078D3"/>
                </a:solidFill>
                <a:latin typeface="Segoe UI"/>
                <a:cs typeface="Segoe UI"/>
              </a:rPr>
              <a:t> </a:t>
            </a:r>
            <a:r>
              <a:rPr lang="en-US" sz="1050" dirty="0">
                <a:latin typeface="Segoe UI"/>
                <a:cs typeface="Segoe UI"/>
              </a:rPr>
              <a:t>and</a:t>
            </a:r>
            <a:r>
              <a:rPr lang="en-US" sz="1050" spc="-25" dirty="0">
                <a:latin typeface="Segoe UI"/>
                <a:cs typeface="Segoe UI"/>
              </a:rPr>
              <a:t> </a:t>
            </a:r>
            <a:r>
              <a:rPr lang="en-US" sz="1050" u="sng"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Azure</a:t>
            </a:r>
            <a:r>
              <a:rPr lang="en-US" sz="1050" u="sng" spc="-10"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 Migrate</a:t>
            </a:r>
            <a:r>
              <a:rPr lang="en-US" sz="1050" spc="-10" dirty="0">
                <a:latin typeface="Segoe UI"/>
                <a:cs typeface="Segoe UI"/>
              </a:rPr>
              <a:t>.</a:t>
            </a:r>
            <a:endParaRPr sz="1050" dirty="0">
              <a:latin typeface="Segoe UI"/>
              <a:cs typeface="Segoe UI"/>
            </a:endParaRPr>
          </a:p>
        </p:txBody>
      </p:sp>
      <p:graphicFrame>
        <p:nvGraphicFramePr>
          <p:cNvPr id="6" name="object 49">
            <a:extLst>
              <a:ext uri="{FF2B5EF4-FFF2-40B4-BE49-F238E27FC236}">
                <a16:creationId xmlns:a16="http://schemas.microsoft.com/office/drawing/2014/main" id="{35E1DF75-CE82-A07B-C491-D30BFFB165A4}"/>
              </a:ext>
            </a:extLst>
          </p:cNvPr>
          <p:cNvGraphicFramePr>
            <a:graphicFrameLocks noGrp="1"/>
          </p:cNvGraphicFramePr>
          <p:nvPr>
            <p:extLst>
              <p:ext uri="{D42A27DB-BD31-4B8C-83A1-F6EECF244321}">
                <p14:modId xmlns:p14="http://schemas.microsoft.com/office/powerpoint/2010/main" val="107391644"/>
              </p:ext>
            </p:extLst>
          </p:nvPr>
        </p:nvGraphicFramePr>
        <p:xfrm>
          <a:off x="6640010" y="2450319"/>
          <a:ext cx="3355133" cy="579755"/>
        </p:xfrm>
        <a:graphic>
          <a:graphicData uri="http://schemas.openxmlformats.org/drawingml/2006/table">
            <a:tbl>
              <a:tblPr firstRow="1" bandRow="1">
                <a:tableStyleId>{2D5ABB26-0587-4C30-8999-92F81FD0307C}</a:tableStyleId>
              </a:tblPr>
              <a:tblGrid>
                <a:gridCol w="1284862">
                  <a:extLst>
                    <a:ext uri="{9D8B030D-6E8A-4147-A177-3AD203B41FA5}">
                      <a16:colId xmlns:a16="http://schemas.microsoft.com/office/drawing/2014/main" val="20001"/>
                    </a:ext>
                  </a:extLst>
                </a:gridCol>
                <a:gridCol w="726085">
                  <a:extLst>
                    <a:ext uri="{9D8B030D-6E8A-4147-A177-3AD203B41FA5}">
                      <a16:colId xmlns:a16="http://schemas.microsoft.com/office/drawing/2014/main" val="20002"/>
                    </a:ext>
                  </a:extLst>
                </a:gridCol>
                <a:gridCol w="741218">
                  <a:extLst>
                    <a:ext uri="{9D8B030D-6E8A-4147-A177-3AD203B41FA5}">
                      <a16:colId xmlns:a16="http://schemas.microsoft.com/office/drawing/2014/main" val="592214520"/>
                    </a:ext>
                  </a:extLst>
                </a:gridCol>
                <a:gridCol w="602968">
                  <a:extLst>
                    <a:ext uri="{9D8B030D-6E8A-4147-A177-3AD203B41FA5}">
                      <a16:colId xmlns:a16="http://schemas.microsoft.com/office/drawing/2014/main" val="1255408474"/>
                    </a:ext>
                  </a:extLst>
                </a:gridCol>
              </a:tblGrid>
              <a:tr h="111743">
                <a:tc>
                  <a:txBody>
                    <a:bodyPr/>
                    <a:lstStyle/>
                    <a:p>
                      <a:pPr marL="83820" marR="78105" indent="210185">
                        <a:lnSpc>
                          <a:spcPct val="100000"/>
                        </a:lnSpc>
                      </a:pPr>
                      <a:r>
                        <a:rPr lang="en-US" sz="900" b="1" dirty="0">
                          <a:solidFill>
                            <a:schemeClr val="tx1"/>
                          </a:solidFill>
                          <a:latin typeface="Segoe UI Semibold"/>
                          <a:cs typeface="Segoe UI Semibold"/>
                        </a:rPr>
                        <a:t>Project Size</a:t>
                      </a:r>
                    </a:p>
                  </a:txBody>
                  <a:tcPr marL="0" marR="0" marT="13970" marB="0">
                    <a:lnL w="6350">
                      <a:solidFill>
                        <a:srgbClr val="D9D9D9"/>
                      </a:solidFill>
                      <a:prstDash val="solid"/>
                    </a:lnL>
                    <a:lnR w="6350">
                      <a:solidFill>
                        <a:srgbClr val="D9D9D9"/>
                      </a:solidFill>
                      <a:prstDash val="solid"/>
                    </a:lnR>
                    <a:lnT w="6350">
                      <a:solidFill>
                        <a:srgbClr val="C3E4FF"/>
                      </a:solidFill>
                      <a:prstDash val="solid"/>
                    </a:lnT>
                    <a:solidFill>
                      <a:schemeClr val="bg1">
                        <a:lumMod val="75000"/>
                        <a:alpha val="50195"/>
                      </a:schemeClr>
                    </a:solidFill>
                  </a:tcPr>
                </a:tc>
                <a:tc>
                  <a:txBody>
                    <a:bodyPr/>
                    <a:lstStyle/>
                    <a:p>
                      <a:pPr marL="330835" marR="127635" indent="-193675">
                        <a:lnSpc>
                          <a:spcPct val="100000"/>
                        </a:lnSpc>
                      </a:pPr>
                      <a:r>
                        <a:rPr sz="900" b="1" spc="-10" dirty="0">
                          <a:solidFill>
                            <a:schemeClr val="tx1"/>
                          </a:solidFill>
                          <a:latin typeface="Segoe UI Semibold"/>
                          <a:cs typeface="Segoe UI Semibold"/>
                        </a:rPr>
                        <a:t>Payment</a:t>
                      </a:r>
                      <a:endParaRPr sz="900" b="1" dirty="0">
                        <a:solidFill>
                          <a:schemeClr val="tx1"/>
                        </a:solidFill>
                        <a:latin typeface="Segoe UI Semibold"/>
                        <a:cs typeface="Segoe UI Semibold"/>
                      </a:endParaRPr>
                    </a:p>
                  </a:txBody>
                  <a:tcPr marL="0" marR="0" marT="13970" marB="0">
                    <a:lnL w="6350">
                      <a:solidFill>
                        <a:srgbClr val="D9D9D9"/>
                      </a:solidFill>
                      <a:prstDash val="solid"/>
                    </a:lnL>
                    <a:lnR w="6350">
                      <a:solidFill>
                        <a:srgbClr val="D9D9D9"/>
                      </a:solidFill>
                      <a:prstDash val="solid"/>
                    </a:lnR>
                    <a:lnT w="6350">
                      <a:solidFill>
                        <a:srgbClr val="C3E4FF"/>
                      </a:solidFill>
                      <a:prstDash val="solid"/>
                    </a:lnT>
                    <a:solidFill>
                      <a:schemeClr val="bg1">
                        <a:lumMod val="75000"/>
                        <a:alpha val="50195"/>
                      </a:schemeClr>
                    </a:solidFill>
                  </a:tcPr>
                </a:tc>
                <a:tc>
                  <a:txBody>
                    <a:bodyPr/>
                    <a:lstStyle/>
                    <a:p>
                      <a:pPr marL="330835" marR="127635" indent="-193675">
                        <a:lnSpc>
                          <a:spcPct val="100000"/>
                        </a:lnSpc>
                      </a:pPr>
                      <a:r>
                        <a:rPr lang="en-US" sz="900" b="1" dirty="0">
                          <a:solidFill>
                            <a:schemeClr val="tx1"/>
                          </a:solidFill>
                          <a:latin typeface="Segoe UI Semibold"/>
                          <a:cs typeface="Segoe UI Semibold"/>
                        </a:rPr>
                        <a:t>Duration</a:t>
                      </a:r>
                      <a:endParaRPr sz="900" b="1" dirty="0">
                        <a:solidFill>
                          <a:schemeClr val="tx1"/>
                        </a:solidFill>
                        <a:latin typeface="Segoe UI Semibold"/>
                        <a:cs typeface="Segoe UI Semibold"/>
                      </a:endParaRPr>
                    </a:p>
                  </a:txBody>
                  <a:tcPr marL="0" marR="0" marT="13970" marB="0">
                    <a:lnL w="6350" cap="flat" cmpd="sng" algn="ctr">
                      <a:solidFill>
                        <a:srgbClr val="D9D9D9"/>
                      </a:solidFill>
                      <a:prstDash val="solid"/>
                      <a:round/>
                      <a:headEnd type="none" w="med" len="med"/>
                      <a:tailEnd type="none" w="med" len="med"/>
                    </a:lnL>
                    <a:lnR w="6350">
                      <a:solidFill>
                        <a:srgbClr val="D9D9D9"/>
                      </a:solidFill>
                      <a:prstDash val="solid"/>
                    </a:lnR>
                    <a:lnT w="6350">
                      <a:solidFill>
                        <a:srgbClr val="C3E4FF"/>
                      </a:solidFill>
                      <a:prstDash val="solid"/>
                    </a:lnT>
                    <a:solidFill>
                      <a:schemeClr val="bg1">
                        <a:lumMod val="75000"/>
                        <a:alpha val="50195"/>
                      </a:schemeClr>
                    </a:solidFill>
                  </a:tcPr>
                </a:tc>
                <a:tc>
                  <a:txBody>
                    <a:bodyPr/>
                    <a:lstStyle/>
                    <a:p>
                      <a:pPr marL="330835" marR="127635" indent="-193675">
                        <a:lnSpc>
                          <a:spcPct val="100000"/>
                        </a:lnSpc>
                      </a:pPr>
                      <a:r>
                        <a:rPr lang="en-US" sz="900" b="1" dirty="0">
                          <a:solidFill>
                            <a:schemeClr val="tx1"/>
                          </a:solidFill>
                          <a:latin typeface="Segoe UI Semibold"/>
                          <a:cs typeface="Segoe UI Semibold"/>
                        </a:rPr>
                        <a:t>Phase</a:t>
                      </a:r>
                      <a:endParaRPr sz="900" b="1" dirty="0">
                        <a:solidFill>
                          <a:schemeClr val="tx1"/>
                        </a:solidFill>
                        <a:latin typeface="Segoe UI Semibold"/>
                        <a:cs typeface="Segoe UI Semibold"/>
                      </a:endParaRPr>
                    </a:p>
                  </a:txBody>
                  <a:tcPr marL="0" marR="0" marT="13970" marB="0">
                    <a:lnL w="6350" cap="flat" cmpd="sng" algn="ctr">
                      <a:solidFill>
                        <a:srgbClr val="D9D9D9"/>
                      </a:solidFill>
                      <a:prstDash val="solid"/>
                      <a:round/>
                      <a:headEnd type="none" w="med" len="med"/>
                      <a:tailEnd type="none" w="med" len="med"/>
                    </a:lnL>
                    <a:lnR w="6350">
                      <a:solidFill>
                        <a:srgbClr val="D9D9D9"/>
                      </a:solidFill>
                      <a:prstDash val="solid"/>
                    </a:lnR>
                    <a:lnT w="6350">
                      <a:solidFill>
                        <a:srgbClr val="C3E4FF"/>
                      </a:solidFill>
                      <a:prstDash val="solid"/>
                    </a:lnT>
                    <a:solidFill>
                      <a:schemeClr val="bg1">
                        <a:lumMod val="75000"/>
                        <a:alpha val="50195"/>
                      </a:schemeClr>
                    </a:solidFill>
                  </a:tcPr>
                </a:tc>
                <a:extLst>
                  <a:ext uri="{0D108BD9-81ED-4DB2-BD59-A6C34878D82A}">
                    <a16:rowId xmlns:a16="http://schemas.microsoft.com/office/drawing/2014/main" val="10000"/>
                  </a:ext>
                </a:extLst>
              </a:tr>
              <a:tr h="0">
                <a:tc>
                  <a:txBody>
                    <a:bodyPr/>
                    <a:lstStyle/>
                    <a:p>
                      <a:pPr algn="ctr">
                        <a:lnSpc>
                          <a:spcPct val="100000"/>
                        </a:lnSpc>
                      </a:pPr>
                      <a:r>
                        <a:rPr sz="800" dirty="0">
                          <a:latin typeface="Segoe UI Semibold"/>
                          <a:cs typeface="Segoe UI Semibold"/>
                        </a:rPr>
                        <a:t>Standard:</a:t>
                      </a:r>
                      <a:r>
                        <a:rPr sz="800" spc="-15" dirty="0">
                          <a:latin typeface="Segoe UI Semibold"/>
                          <a:cs typeface="Segoe UI Semibold"/>
                        </a:rPr>
                        <a:t> </a:t>
                      </a:r>
                      <a:r>
                        <a:rPr sz="800" dirty="0">
                          <a:latin typeface="Segoe UI Semibold"/>
                          <a:cs typeface="Segoe UI Semibold"/>
                        </a:rPr>
                        <a:t>$15K</a:t>
                      </a:r>
                      <a:r>
                        <a:rPr sz="800" spc="-15" dirty="0">
                          <a:latin typeface="Segoe UI Semibold"/>
                          <a:cs typeface="Segoe UI Semibold"/>
                        </a:rPr>
                        <a:t> </a:t>
                      </a:r>
                      <a:r>
                        <a:rPr sz="800" dirty="0">
                          <a:latin typeface="Segoe UI Semibold"/>
                          <a:cs typeface="Segoe UI Semibold"/>
                        </a:rPr>
                        <a:t>-</a:t>
                      </a:r>
                      <a:r>
                        <a:rPr sz="800" spc="-10" dirty="0">
                          <a:latin typeface="Segoe UI Semibold"/>
                          <a:cs typeface="Segoe UI Semibold"/>
                        </a:rPr>
                        <a:t> $250K</a:t>
                      </a:r>
                      <a:endParaRPr sz="800" dirty="0">
                        <a:latin typeface="Segoe UI Semibold"/>
                        <a:cs typeface="Segoe UI Semibold"/>
                      </a:endParaRPr>
                    </a:p>
                  </a:txBody>
                  <a:tcPr marL="0" marR="0" marT="31115" marB="0">
                    <a:lnL w="6350">
                      <a:solidFill>
                        <a:srgbClr val="D9D9D9"/>
                      </a:solidFill>
                      <a:prstDash val="solid"/>
                    </a:lnL>
                    <a:lnR w="6350">
                      <a:solidFill>
                        <a:srgbClr val="D9D9D9"/>
                      </a:solidFill>
                      <a:prstDash val="solid"/>
                    </a:lnR>
                    <a:lnB w="6350" cap="flat" cmpd="sng" algn="ctr">
                      <a:solidFill>
                        <a:srgbClr val="D9D9D9"/>
                      </a:solidFill>
                      <a:prstDash val="sysDash"/>
                      <a:round/>
                      <a:headEnd type="none" w="med" len="med"/>
                      <a:tailEnd type="none" w="med" len="med"/>
                    </a:lnB>
                  </a:tcPr>
                </a:tc>
                <a:tc>
                  <a:txBody>
                    <a:bodyPr/>
                    <a:lstStyle/>
                    <a:p>
                      <a:pPr marL="635" algn="ctr">
                        <a:lnSpc>
                          <a:spcPct val="100000"/>
                        </a:lnSpc>
                      </a:pPr>
                      <a:r>
                        <a:rPr sz="800" spc="-10" dirty="0">
                          <a:latin typeface="Segoe UI Semibold"/>
                          <a:cs typeface="Segoe UI Semibold"/>
                        </a:rPr>
                        <a:t>$15,000</a:t>
                      </a:r>
                      <a:endParaRPr sz="800" dirty="0">
                        <a:latin typeface="Segoe UI Semibold"/>
                        <a:cs typeface="Segoe UI Semibold"/>
                      </a:endParaRPr>
                    </a:p>
                  </a:txBody>
                  <a:tcPr marL="0" marR="0" marT="31115" marB="0">
                    <a:lnL w="6350">
                      <a:solidFill>
                        <a:srgbClr val="D9D9D9"/>
                      </a:solidFill>
                      <a:prstDash val="solid"/>
                    </a:lnL>
                    <a:lnR w="6350">
                      <a:solidFill>
                        <a:srgbClr val="D9D9D9"/>
                      </a:solidFill>
                      <a:prstDash val="solid"/>
                    </a:lnR>
                    <a:lnB w="6350">
                      <a:solidFill>
                        <a:srgbClr val="D9D9D9"/>
                      </a:solidFill>
                      <a:prstDash val="sysDash"/>
                    </a:lnB>
                  </a:tcPr>
                </a:tc>
                <a:tc>
                  <a:txBody>
                    <a:bodyPr/>
                    <a:lstStyle/>
                    <a:p>
                      <a:pPr marL="635" algn="ctr">
                        <a:lnSpc>
                          <a:spcPct val="100000"/>
                        </a:lnSpc>
                      </a:pPr>
                      <a:r>
                        <a:rPr lang="en-US" sz="800" dirty="0">
                          <a:latin typeface="Segoe UI Semibold"/>
                          <a:cs typeface="Segoe UI Semibold"/>
                        </a:rPr>
                        <a:t>120 Days</a:t>
                      </a:r>
                    </a:p>
                  </a:txBody>
                  <a:tcPr marL="0" marR="0" marT="31115" marB="0">
                    <a:lnL w="6350" cap="flat" cmpd="sng" algn="ctr">
                      <a:solidFill>
                        <a:srgbClr val="D9D9D9"/>
                      </a:solidFill>
                      <a:prstDash val="solid"/>
                      <a:round/>
                      <a:headEnd type="none" w="med" len="med"/>
                      <a:tailEnd type="none" w="med" len="med"/>
                    </a:lnL>
                    <a:lnR w="6350">
                      <a:solidFill>
                        <a:srgbClr val="D9D9D9"/>
                      </a:solidFill>
                      <a:prstDash val="solid"/>
                    </a:lnR>
                    <a:lnB w="6350" cap="flat" cmpd="sng" algn="ctr">
                      <a:solidFill>
                        <a:srgbClr val="D9D9D9"/>
                      </a:solidFill>
                      <a:prstDash val="sysDash"/>
                      <a:round/>
                      <a:headEnd type="none" w="med" len="med"/>
                      <a:tailEnd type="none" w="med" len="med"/>
                    </a:lnB>
                  </a:tcPr>
                </a:tc>
                <a:tc>
                  <a:txBody>
                    <a:bodyPr/>
                    <a:lstStyle/>
                    <a:p>
                      <a:pPr marL="635" algn="ctr">
                        <a:lnSpc>
                          <a:spcPct val="100000"/>
                        </a:lnSpc>
                      </a:pPr>
                      <a:r>
                        <a:rPr lang="en-US" sz="800" dirty="0">
                          <a:latin typeface="Segoe UI Semibold"/>
                          <a:cs typeface="Segoe UI Semibold"/>
                        </a:rPr>
                        <a:t>Pre-sales</a:t>
                      </a:r>
                    </a:p>
                  </a:txBody>
                  <a:tcPr marL="0" marR="0" marT="31115" marB="0">
                    <a:lnL w="6350" cap="flat" cmpd="sng" algn="ctr">
                      <a:solidFill>
                        <a:srgbClr val="D9D9D9"/>
                      </a:solidFill>
                      <a:prstDash val="solid"/>
                      <a:round/>
                      <a:headEnd type="none" w="med" len="med"/>
                      <a:tailEnd type="none" w="med" len="med"/>
                    </a:lnL>
                    <a:lnR w="6350">
                      <a:solidFill>
                        <a:srgbClr val="D9D9D9"/>
                      </a:solidFill>
                      <a:prstDash val="solid"/>
                    </a:lnR>
                    <a:lnB w="6350" cap="flat" cmpd="sng" algn="ctr">
                      <a:solidFill>
                        <a:srgbClr val="D9D9D9"/>
                      </a:solidFill>
                      <a:prstDash val="sysDash"/>
                      <a:round/>
                      <a:headEnd type="none" w="med" len="med"/>
                      <a:tailEnd type="none" w="med" len="med"/>
                    </a:lnB>
                  </a:tcPr>
                </a:tc>
                <a:extLst>
                  <a:ext uri="{0D108BD9-81ED-4DB2-BD59-A6C34878D82A}">
                    <a16:rowId xmlns:a16="http://schemas.microsoft.com/office/drawing/2014/main" val="10001"/>
                  </a:ext>
                </a:extLst>
              </a:tr>
              <a:tr h="88394">
                <a:tc>
                  <a:txBody>
                    <a:bodyPr/>
                    <a:lstStyle/>
                    <a:p>
                      <a:pPr algn="ctr">
                        <a:lnSpc>
                          <a:spcPct val="100000"/>
                        </a:lnSpc>
                      </a:pPr>
                      <a:r>
                        <a:rPr sz="800" dirty="0">
                          <a:latin typeface="Segoe UI Semibold"/>
                          <a:cs typeface="Segoe UI Semibold"/>
                        </a:rPr>
                        <a:t>Large:</a:t>
                      </a:r>
                      <a:r>
                        <a:rPr sz="800" spc="-30" dirty="0">
                          <a:latin typeface="Segoe UI Semibold"/>
                          <a:cs typeface="Segoe UI Semibold"/>
                        </a:rPr>
                        <a:t> </a:t>
                      </a:r>
                      <a:r>
                        <a:rPr sz="800" spc="-10" dirty="0">
                          <a:latin typeface="Segoe UI Semibold"/>
                          <a:cs typeface="Segoe UI Semibold"/>
                        </a:rPr>
                        <a:t>&gt;$250K+</a:t>
                      </a:r>
                      <a:endParaRPr sz="800" dirty="0">
                        <a:latin typeface="Segoe UI Semibold"/>
                        <a:cs typeface="Segoe UI Semibold"/>
                      </a:endParaRPr>
                    </a:p>
                  </a:txBody>
                  <a:tcPr marL="0" marR="0" marT="31750" marB="0">
                    <a:lnL w="6350">
                      <a:solidFill>
                        <a:srgbClr val="D9D9D9"/>
                      </a:solidFill>
                      <a:prstDash val="solid"/>
                    </a:lnL>
                    <a:lnR w="6350">
                      <a:solidFill>
                        <a:srgbClr val="D9D9D9"/>
                      </a:solidFill>
                      <a:prstDash val="solid"/>
                    </a:lnR>
                    <a:lnT w="6350" cap="flat" cmpd="sng" algn="ctr">
                      <a:solidFill>
                        <a:srgbClr val="D9D9D9"/>
                      </a:solidFill>
                      <a:prstDash val="sysDash"/>
                      <a:round/>
                      <a:headEnd type="none" w="med" len="med"/>
                      <a:tailEnd type="none" w="med" len="med"/>
                    </a:lnT>
                    <a:lnB w="6350">
                      <a:solidFill>
                        <a:srgbClr val="D9D9D9"/>
                      </a:solidFill>
                      <a:prstDash val="sysDash"/>
                    </a:lnB>
                  </a:tcPr>
                </a:tc>
                <a:tc>
                  <a:txBody>
                    <a:bodyPr/>
                    <a:lstStyle/>
                    <a:p>
                      <a:pPr marL="635" algn="ctr">
                        <a:lnSpc>
                          <a:spcPct val="100000"/>
                        </a:lnSpc>
                      </a:pPr>
                      <a:r>
                        <a:rPr sz="800" spc="-10" dirty="0">
                          <a:latin typeface="Segoe UI Semibold"/>
                          <a:cs typeface="Segoe UI Semibold"/>
                        </a:rPr>
                        <a:t>$25,000</a:t>
                      </a:r>
                      <a:endParaRPr sz="800" dirty="0">
                        <a:latin typeface="Segoe UI Semibold"/>
                        <a:cs typeface="Segoe UI Semibold"/>
                      </a:endParaRPr>
                    </a:p>
                  </a:txBody>
                  <a:tcPr marL="0" marR="0" marT="31750" marB="0">
                    <a:lnL w="6350">
                      <a:solidFill>
                        <a:srgbClr val="D9D9D9"/>
                      </a:solidFill>
                      <a:prstDash val="solid"/>
                    </a:lnL>
                    <a:lnR w="6350">
                      <a:solidFill>
                        <a:srgbClr val="D9D9D9"/>
                      </a:solidFill>
                      <a:prstDash val="solid"/>
                    </a:lnR>
                    <a:lnT w="6350">
                      <a:solidFill>
                        <a:srgbClr val="D9D9D9"/>
                      </a:solidFill>
                      <a:prstDash val="sysDash"/>
                    </a:lnT>
                    <a:lnB w="6350">
                      <a:solidFill>
                        <a:srgbClr val="D9D9D9"/>
                      </a:solidFill>
                      <a:prstDash val="sysDash"/>
                    </a:lnB>
                  </a:tcPr>
                </a:tc>
                <a:tc>
                  <a:txBody>
                    <a:bodyPr/>
                    <a:lstStyle/>
                    <a:p>
                      <a:pPr marL="635" marR="0" lvl="0" indent="0" algn="ctr" defTabSz="914400" rtl="0" eaLnBrk="1" fontAlgn="auto" latinLnBrk="0" hangingPunct="1">
                        <a:lnSpc>
                          <a:spcPct val="100000"/>
                        </a:lnSpc>
                        <a:spcBef>
                          <a:spcPts val="0"/>
                        </a:spcBef>
                        <a:spcAft>
                          <a:spcPts val="0"/>
                        </a:spcAft>
                        <a:buClrTx/>
                        <a:buSzTx/>
                        <a:buFontTx/>
                        <a:buNone/>
                        <a:tabLst/>
                        <a:defRPr/>
                      </a:pPr>
                      <a:r>
                        <a:rPr lang="en-US" sz="800" dirty="0">
                          <a:latin typeface="Segoe UI Semibold"/>
                          <a:cs typeface="Segoe UI Semibold"/>
                        </a:rPr>
                        <a:t>120 Days</a:t>
                      </a:r>
                    </a:p>
                    <a:p>
                      <a:pPr marL="635" algn="ctr">
                        <a:lnSpc>
                          <a:spcPct val="100000"/>
                        </a:lnSpc>
                      </a:pPr>
                      <a:endParaRPr sz="800" dirty="0">
                        <a:latin typeface="Segoe UI Semibold"/>
                        <a:cs typeface="Segoe UI Semibold"/>
                      </a:endParaRPr>
                    </a:p>
                  </a:txBody>
                  <a:tcPr marL="0" marR="0" marT="31750" marB="0">
                    <a:lnL w="6350" cap="flat" cmpd="sng" algn="ctr">
                      <a:solidFill>
                        <a:srgbClr val="D9D9D9"/>
                      </a:solidFill>
                      <a:prstDash val="solid"/>
                      <a:round/>
                      <a:headEnd type="none" w="med" len="med"/>
                      <a:tailEnd type="none" w="med" len="med"/>
                    </a:lnL>
                    <a:lnR w="6350">
                      <a:solidFill>
                        <a:srgbClr val="D9D9D9"/>
                      </a:solidFill>
                      <a:prstDash val="solid"/>
                    </a:lnR>
                    <a:lnT w="6350" cap="flat" cmpd="sng" algn="ctr">
                      <a:solidFill>
                        <a:srgbClr val="D9D9D9"/>
                      </a:solidFill>
                      <a:prstDash val="sysDash"/>
                      <a:round/>
                      <a:headEnd type="none" w="med" len="med"/>
                      <a:tailEnd type="none" w="med" len="med"/>
                    </a:lnT>
                    <a:lnB w="6350">
                      <a:solidFill>
                        <a:srgbClr val="D9D9D9"/>
                      </a:solidFill>
                      <a:prstDash val="sysDash"/>
                    </a:lnB>
                  </a:tcPr>
                </a:tc>
                <a:tc>
                  <a:txBody>
                    <a:bodyPr/>
                    <a:lstStyle/>
                    <a:p>
                      <a:pPr marL="635" algn="ctr">
                        <a:lnSpc>
                          <a:spcPct val="100000"/>
                        </a:lnSpc>
                      </a:pPr>
                      <a:r>
                        <a:rPr lang="en-US" sz="800" dirty="0">
                          <a:latin typeface="Segoe UI Semibold"/>
                          <a:cs typeface="Segoe UI Semibold"/>
                        </a:rPr>
                        <a:t>Pre-sales</a:t>
                      </a:r>
                    </a:p>
                  </a:txBody>
                  <a:tcPr marL="0" marR="0" marT="31750" marB="0">
                    <a:lnL w="6350" cap="flat" cmpd="sng" algn="ctr">
                      <a:solidFill>
                        <a:srgbClr val="D9D9D9"/>
                      </a:solidFill>
                      <a:prstDash val="solid"/>
                      <a:round/>
                      <a:headEnd type="none" w="med" len="med"/>
                      <a:tailEnd type="none" w="med" len="med"/>
                    </a:lnL>
                    <a:lnR w="6350">
                      <a:solidFill>
                        <a:srgbClr val="D9D9D9"/>
                      </a:solidFill>
                      <a:prstDash val="solid"/>
                    </a:lnR>
                    <a:lnT w="6350" cap="flat" cmpd="sng" algn="ctr">
                      <a:solidFill>
                        <a:srgbClr val="D9D9D9"/>
                      </a:solidFill>
                      <a:prstDash val="sysDash"/>
                      <a:round/>
                      <a:headEnd type="none" w="med" len="med"/>
                      <a:tailEnd type="none" w="med" len="med"/>
                    </a:lnT>
                    <a:lnB w="6350">
                      <a:solidFill>
                        <a:srgbClr val="D9D9D9"/>
                      </a:solidFill>
                      <a:prstDash val="sysDash"/>
                    </a:lnB>
                  </a:tcPr>
                </a:tc>
                <a:extLst>
                  <a:ext uri="{0D108BD9-81ED-4DB2-BD59-A6C34878D82A}">
                    <a16:rowId xmlns:a16="http://schemas.microsoft.com/office/drawing/2014/main" val="10002"/>
                  </a:ext>
                </a:extLst>
              </a:tr>
            </a:tbl>
          </a:graphicData>
        </a:graphic>
      </p:graphicFrame>
      <p:sp>
        <p:nvSpPr>
          <p:cNvPr id="7" name="Title 1">
            <a:extLst>
              <a:ext uri="{FF2B5EF4-FFF2-40B4-BE49-F238E27FC236}">
                <a16:creationId xmlns:a16="http://schemas.microsoft.com/office/drawing/2014/main" id="{8A344266-34B3-1066-2CAD-4AC28B8E8033}"/>
              </a:ext>
            </a:extLst>
          </p:cNvPr>
          <p:cNvSpPr txBox="1">
            <a:spLocks/>
          </p:cNvSpPr>
          <p:nvPr/>
        </p:nvSpPr>
        <p:spPr>
          <a:xfrm>
            <a:off x="331316" y="1111257"/>
            <a:ext cx="11568700" cy="387440"/>
          </a:xfrm>
        </p:spPr>
        <p:txBody>
          <a:bodyPr/>
          <a:lst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a:lstStyle>
          <a:p>
            <a:r>
              <a:rPr lang="en-US" sz="2200" dirty="0"/>
              <a:t>Azure Accelerate: Data Platform Pre-Sales (Assessment and POV)</a:t>
            </a:r>
          </a:p>
        </p:txBody>
      </p:sp>
      <p:cxnSp>
        <p:nvCxnSpPr>
          <p:cNvPr id="8" name="Straight Connector 7">
            <a:extLst>
              <a:ext uri="{FF2B5EF4-FFF2-40B4-BE49-F238E27FC236}">
                <a16:creationId xmlns:a16="http://schemas.microsoft.com/office/drawing/2014/main" id="{B35EE145-55E7-E23F-CE1C-FC39B37329E1}"/>
              </a:ext>
            </a:extLst>
          </p:cNvPr>
          <p:cNvCxnSpPr>
            <a:cxnSpLocks/>
          </p:cNvCxnSpPr>
          <p:nvPr/>
        </p:nvCxnSpPr>
        <p:spPr>
          <a:xfrm>
            <a:off x="415971" y="3147918"/>
            <a:ext cx="11448000" cy="0"/>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BCE7363-9951-BBC2-E3FC-98453A840410}"/>
              </a:ext>
            </a:extLst>
          </p:cNvPr>
          <p:cNvSpPr/>
          <p:nvPr/>
        </p:nvSpPr>
        <p:spPr>
          <a:xfrm>
            <a:off x="10866477" y="42528"/>
            <a:ext cx="1268819" cy="329184"/>
          </a:xfrm>
          <a:prstGeom prst="rect">
            <a:avLst/>
          </a:prstGeom>
          <a:solidFill>
            <a:srgbClr val="00FFFF"/>
          </a:solidFill>
          <a:ln>
            <a:solidFill>
              <a:srgbClr val="FFFF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Customer-Facing</a:t>
            </a:r>
          </a:p>
        </p:txBody>
      </p:sp>
      <p:sp>
        <p:nvSpPr>
          <p:cNvPr id="4" name="Rectangle: Rounded Corners 3">
            <a:extLst>
              <a:ext uri="{FF2B5EF4-FFF2-40B4-BE49-F238E27FC236}">
                <a16:creationId xmlns:a16="http://schemas.microsoft.com/office/drawing/2014/main" id="{93E7C28C-380A-BCD0-E7CC-8BEF20A42D5B}"/>
              </a:ext>
            </a:extLst>
          </p:cNvPr>
          <p:cNvSpPr/>
          <p:nvPr/>
        </p:nvSpPr>
        <p:spPr>
          <a:xfrm>
            <a:off x="10058399" y="2628401"/>
            <a:ext cx="2113429" cy="1021567"/>
          </a:xfrm>
          <a:prstGeom prst="roundRect">
            <a:avLst/>
          </a:prstGeom>
          <a:solidFill>
            <a:srgbClr val="FFFFCC"/>
          </a:solidFill>
          <a:ln w="19050">
            <a:solidFill>
              <a:srgbClr val="EB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rPr>
              <a:t>The project sizes are </a:t>
            </a:r>
            <a:r>
              <a:rPr kumimoji="0" lang="en-US" sz="1100" b="1" i="0" u="none" strike="noStrike" kern="1200" cap="none" spc="0" normalizeH="0" baseline="0" noProof="0" dirty="0">
                <a:ln>
                  <a:noFill/>
                </a:ln>
                <a:solidFill>
                  <a:srgbClr val="000000"/>
                </a:solidFill>
                <a:effectLst/>
                <a:uLnTx/>
                <a:uFillTx/>
                <a:latin typeface="Aptos Narrow" panose="020B0004020202020204" pitchFamily="34" charset="0"/>
              </a:rPr>
              <a:t>the planned Azure consumption in year 1 </a:t>
            </a: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rPr>
              <a:t>measured from project completion/ deployment date / claim submission date.</a:t>
            </a:r>
          </a:p>
        </p:txBody>
      </p:sp>
      <p:sp>
        <p:nvSpPr>
          <p:cNvPr id="10" name="object 38">
            <a:extLst>
              <a:ext uri="{FF2B5EF4-FFF2-40B4-BE49-F238E27FC236}">
                <a16:creationId xmlns:a16="http://schemas.microsoft.com/office/drawing/2014/main" id="{C82793FD-6F14-2565-BA82-1AD3F119340D}"/>
              </a:ext>
            </a:extLst>
          </p:cNvPr>
          <p:cNvSpPr txBox="1"/>
          <p:nvPr/>
        </p:nvSpPr>
        <p:spPr>
          <a:xfrm>
            <a:off x="407725" y="3638729"/>
            <a:ext cx="11411078" cy="1815241"/>
          </a:xfrm>
          <a:prstGeom prst="rect">
            <a:avLst/>
          </a:prstGeom>
        </p:spPr>
        <p:txBody>
          <a:bodyPr vert="horz" wrap="square" lIns="0" tIns="24765" rIns="0" bIns="0" rtlCol="0">
            <a:spAutoFit/>
          </a:bodyPr>
          <a:lstStyle/>
          <a:p>
            <a:pPr marL="12700">
              <a:lnSpc>
                <a:spcPct val="100000"/>
              </a:lnSpc>
              <a:spcBef>
                <a:spcPts val="195"/>
              </a:spcBef>
            </a:pPr>
            <a:r>
              <a:rPr lang="en-US" sz="1050" u="sng" dirty="0">
                <a:solidFill>
                  <a:schemeClr val="tx2"/>
                </a:solidFill>
                <a:latin typeface="Segoe UI Semibold"/>
                <a:cs typeface="Segoe UI Semibold"/>
              </a:rPr>
              <a:t>POST</a:t>
            </a:r>
            <a:r>
              <a:rPr lang="en-US" sz="1050" dirty="0">
                <a:solidFill>
                  <a:schemeClr val="tx2"/>
                </a:solidFill>
                <a:latin typeface="Segoe UI Semibold"/>
                <a:cs typeface="Segoe UI Semibold"/>
              </a:rPr>
              <a:t>-SALES </a:t>
            </a:r>
            <a:r>
              <a:rPr sz="1050" dirty="0">
                <a:solidFill>
                  <a:schemeClr val="tx2"/>
                </a:solidFill>
                <a:latin typeface="Segoe UI Semibold"/>
                <a:cs typeface="Segoe UI Semibold"/>
              </a:rPr>
              <a:t>ENGAGEMENT</a:t>
            </a:r>
            <a:r>
              <a:rPr sz="1050" spc="25" dirty="0">
                <a:solidFill>
                  <a:schemeClr val="tx2"/>
                </a:solidFill>
                <a:latin typeface="Segoe UI Semibold"/>
                <a:cs typeface="Segoe UI Semibold"/>
              </a:rPr>
              <a:t> </a:t>
            </a:r>
            <a:r>
              <a:rPr sz="1050" spc="-10" dirty="0">
                <a:solidFill>
                  <a:schemeClr val="tx2"/>
                </a:solidFill>
                <a:latin typeface="Segoe UI Semibold"/>
                <a:cs typeface="Segoe UI Semibold"/>
              </a:rPr>
              <a:t>SUMMARY</a:t>
            </a:r>
            <a:endParaRPr sz="1050" dirty="0">
              <a:solidFill>
                <a:schemeClr val="tx2"/>
              </a:solidFill>
              <a:latin typeface="Segoe UI Semibold"/>
              <a:cs typeface="Segoe UI Semibold"/>
            </a:endParaRPr>
          </a:p>
          <a:p>
            <a:pPr marL="12700" marR="676910"/>
            <a:r>
              <a:rPr lang="en-US" sz="1050" dirty="0">
                <a:latin typeface="Segoe UI"/>
                <a:cs typeface="Segoe UI"/>
              </a:rPr>
              <a:t>Provides</a:t>
            </a:r>
            <a:r>
              <a:rPr lang="en-US" sz="1050" spc="-20" dirty="0">
                <a:latin typeface="Segoe UI"/>
                <a:cs typeface="Segoe UI"/>
              </a:rPr>
              <a:t> </a:t>
            </a:r>
            <a:r>
              <a:rPr lang="en-US" sz="1050" dirty="0">
                <a:latin typeface="Segoe UI"/>
                <a:cs typeface="Segoe UI"/>
              </a:rPr>
              <a:t>guidance,</a:t>
            </a:r>
            <a:r>
              <a:rPr lang="en-US" sz="1050" spc="-20" dirty="0">
                <a:latin typeface="Segoe UI"/>
                <a:cs typeface="Segoe UI"/>
              </a:rPr>
              <a:t> </a:t>
            </a:r>
            <a:r>
              <a:rPr lang="en-US" sz="1050" dirty="0">
                <a:latin typeface="Segoe UI"/>
                <a:cs typeface="Segoe UI"/>
              </a:rPr>
              <a:t>resources, and</a:t>
            </a:r>
            <a:r>
              <a:rPr lang="en-US" sz="1050" spc="-35" dirty="0">
                <a:latin typeface="Segoe UI"/>
                <a:cs typeface="Segoe UI"/>
              </a:rPr>
              <a:t> </a:t>
            </a:r>
            <a:r>
              <a:rPr lang="en-US" sz="1050" dirty="0">
                <a:latin typeface="Segoe UI"/>
                <a:cs typeface="Segoe UI"/>
              </a:rPr>
              <a:t>funding</a:t>
            </a:r>
            <a:r>
              <a:rPr lang="en-US" sz="1050" spc="-35" dirty="0">
                <a:latin typeface="Segoe UI"/>
                <a:cs typeface="Segoe UI"/>
              </a:rPr>
              <a:t> </a:t>
            </a:r>
            <a:r>
              <a:rPr lang="en-US" sz="1050" dirty="0">
                <a:latin typeface="Segoe UI"/>
                <a:cs typeface="Segoe UI"/>
              </a:rPr>
              <a:t>to</a:t>
            </a:r>
            <a:r>
              <a:rPr lang="en-US" sz="1050" spc="-15" dirty="0">
                <a:latin typeface="Segoe UI"/>
                <a:cs typeface="Segoe UI"/>
              </a:rPr>
              <a:t> </a:t>
            </a:r>
            <a:r>
              <a:rPr lang="en-US" sz="1050" dirty="0">
                <a:latin typeface="Segoe UI"/>
                <a:cs typeface="Segoe UI"/>
              </a:rPr>
              <a:t>drive</a:t>
            </a:r>
            <a:r>
              <a:rPr lang="en-US" sz="1050" spc="-35" dirty="0">
                <a:latin typeface="Segoe UI"/>
                <a:cs typeface="Segoe UI"/>
              </a:rPr>
              <a:t> </a:t>
            </a:r>
            <a:r>
              <a:rPr lang="en-US" sz="1050" dirty="0">
                <a:latin typeface="Segoe UI"/>
                <a:cs typeface="Segoe UI"/>
              </a:rPr>
              <a:t>consistent</a:t>
            </a:r>
            <a:r>
              <a:rPr lang="en-US" sz="1050" spc="-10" dirty="0">
                <a:latin typeface="Segoe UI"/>
                <a:cs typeface="Segoe UI"/>
              </a:rPr>
              <a:t> </a:t>
            </a:r>
            <a:r>
              <a:rPr lang="en-US" sz="1050" dirty="0">
                <a:latin typeface="Segoe UI"/>
                <a:cs typeface="Segoe UI"/>
              </a:rPr>
              <a:t>execution</a:t>
            </a:r>
            <a:r>
              <a:rPr lang="en-US" sz="1050" spc="-5" dirty="0">
                <a:latin typeface="Segoe UI"/>
                <a:cs typeface="Segoe UI"/>
              </a:rPr>
              <a:t> </a:t>
            </a:r>
            <a:r>
              <a:rPr lang="en-US" sz="1050" dirty="0">
                <a:latin typeface="Segoe UI"/>
                <a:cs typeface="Segoe UI"/>
              </a:rPr>
              <a:t>and</a:t>
            </a:r>
            <a:r>
              <a:rPr lang="en-US" sz="1050" spc="-20" dirty="0">
                <a:latin typeface="Segoe UI"/>
                <a:cs typeface="Segoe UI"/>
              </a:rPr>
              <a:t> </a:t>
            </a:r>
            <a:r>
              <a:rPr lang="en-US" sz="1050" dirty="0">
                <a:latin typeface="Segoe UI"/>
                <a:cs typeface="Segoe UI"/>
              </a:rPr>
              <a:t>customer</a:t>
            </a:r>
            <a:r>
              <a:rPr lang="en-US" sz="1050" spc="-10" dirty="0">
                <a:latin typeface="Segoe UI"/>
                <a:cs typeface="Segoe UI"/>
              </a:rPr>
              <a:t> </a:t>
            </a:r>
            <a:r>
              <a:rPr lang="en-US" sz="1050" dirty="0">
                <a:latin typeface="Segoe UI"/>
                <a:cs typeface="Segoe UI"/>
              </a:rPr>
              <a:t>experience,</a:t>
            </a:r>
            <a:r>
              <a:rPr lang="en-US" sz="1050" spc="10" dirty="0">
                <a:latin typeface="Segoe UI"/>
                <a:cs typeface="Segoe UI"/>
              </a:rPr>
              <a:t> </a:t>
            </a:r>
            <a:r>
              <a:rPr lang="en-US" sz="1050" dirty="0">
                <a:latin typeface="Segoe UI"/>
                <a:cs typeface="Segoe UI"/>
              </a:rPr>
              <a:t>accelerating</a:t>
            </a:r>
            <a:r>
              <a:rPr lang="en-US" sz="1050" spc="15" dirty="0">
                <a:latin typeface="Segoe UI"/>
                <a:cs typeface="Segoe UI"/>
              </a:rPr>
              <a:t> </a:t>
            </a:r>
            <a:r>
              <a:rPr lang="en-US" sz="1050" dirty="0">
                <a:latin typeface="Segoe UI"/>
                <a:cs typeface="Segoe UI"/>
              </a:rPr>
              <a:t>the</a:t>
            </a:r>
            <a:r>
              <a:rPr lang="en-US" sz="1050" spc="-35" dirty="0">
                <a:latin typeface="Segoe UI"/>
                <a:cs typeface="Segoe UI"/>
              </a:rPr>
              <a:t> </a:t>
            </a:r>
            <a:r>
              <a:rPr lang="en-US" sz="1050" dirty="0">
                <a:latin typeface="Segoe UI"/>
                <a:cs typeface="Segoe UI"/>
              </a:rPr>
              <a:t>demand,</a:t>
            </a:r>
            <a:r>
              <a:rPr lang="en-US" sz="1050" spc="-10" dirty="0">
                <a:latin typeface="Segoe UI"/>
                <a:cs typeface="Segoe UI"/>
              </a:rPr>
              <a:t> </a:t>
            </a:r>
            <a:r>
              <a:rPr lang="en-US" sz="1050" dirty="0">
                <a:latin typeface="Segoe UI"/>
                <a:cs typeface="Segoe UI"/>
              </a:rPr>
              <a:t>pipeline,</a:t>
            </a:r>
            <a:r>
              <a:rPr lang="en-US" sz="1050" spc="-35" dirty="0">
                <a:latin typeface="Segoe UI"/>
                <a:cs typeface="Segoe UI"/>
              </a:rPr>
              <a:t> </a:t>
            </a:r>
            <a:r>
              <a:rPr lang="en-US" sz="1050" dirty="0">
                <a:latin typeface="Segoe UI"/>
                <a:cs typeface="Segoe UI"/>
              </a:rPr>
              <a:t>and</a:t>
            </a:r>
            <a:r>
              <a:rPr lang="en-US" sz="1050" spc="-15" dirty="0">
                <a:latin typeface="Segoe UI"/>
                <a:cs typeface="Segoe UI"/>
              </a:rPr>
              <a:t> </a:t>
            </a:r>
            <a:r>
              <a:rPr lang="en-US" sz="1050" spc="-10" dirty="0">
                <a:latin typeface="Segoe UI"/>
                <a:cs typeface="Segoe UI"/>
              </a:rPr>
              <a:t>consumption</a:t>
            </a:r>
            <a:r>
              <a:rPr lang="en-US" sz="1050" spc="-20" dirty="0">
                <a:latin typeface="Segoe UI"/>
                <a:cs typeface="Segoe UI"/>
              </a:rPr>
              <a:t> </a:t>
            </a:r>
            <a:r>
              <a:rPr lang="en-US" sz="1050" dirty="0">
                <a:latin typeface="Segoe UI"/>
                <a:cs typeface="Segoe UI"/>
              </a:rPr>
              <a:t>of</a:t>
            </a:r>
            <a:r>
              <a:rPr lang="en-US" sz="1050" spc="-30" dirty="0">
                <a:latin typeface="Segoe UI"/>
                <a:cs typeface="Segoe UI"/>
              </a:rPr>
              <a:t> </a:t>
            </a:r>
            <a:r>
              <a:rPr lang="en-US" sz="1050" dirty="0">
                <a:latin typeface="Segoe UI"/>
                <a:cs typeface="Segoe UI"/>
              </a:rPr>
              <a:t>Azure</a:t>
            </a:r>
            <a:r>
              <a:rPr lang="en-US" sz="1050" spc="-35" dirty="0">
                <a:latin typeface="Segoe UI"/>
                <a:cs typeface="Segoe UI"/>
              </a:rPr>
              <a:t> </a:t>
            </a:r>
            <a:r>
              <a:rPr lang="en-US" sz="1050" dirty="0">
                <a:latin typeface="Segoe UI"/>
                <a:cs typeface="Segoe UI"/>
              </a:rPr>
              <a:t>Data</a:t>
            </a:r>
            <a:r>
              <a:rPr lang="en-US" sz="1050" spc="-10" dirty="0">
                <a:latin typeface="Segoe UI"/>
                <a:cs typeface="Segoe UI"/>
              </a:rPr>
              <a:t> </a:t>
            </a:r>
            <a:r>
              <a:rPr lang="en-US" sz="1050" dirty="0">
                <a:latin typeface="Segoe UI"/>
                <a:cs typeface="Segoe UI"/>
              </a:rPr>
              <a:t>Platform.</a:t>
            </a:r>
            <a:r>
              <a:rPr lang="en-US" sz="1050" spc="-10" dirty="0">
                <a:latin typeface="Segoe UI"/>
                <a:cs typeface="Segoe UI"/>
              </a:rPr>
              <a:t> </a:t>
            </a:r>
            <a:r>
              <a:rPr lang="en-US" sz="1050" dirty="0">
                <a:latin typeface="Segoe UI"/>
                <a:cs typeface="Segoe UI"/>
              </a:rPr>
              <a:t>In</a:t>
            </a:r>
            <a:r>
              <a:rPr lang="en-US" sz="1050" spc="-30" dirty="0">
                <a:latin typeface="Segoe UI"/>
                <a:cs typeface="Segoe UI"/>
              </a:rPr>
              <a:t> </a:t>
            </a:r>
            <a:r>
              <a:rPr lang="en-US" sz="1050" spc="-20" dirty="0">
                <a:latin typeface="Segoe UI"/>
                <a:cs typeface="Segoe UI"/>
              </a:rPr>
              <a:t>this </a:t>
            </a:r>
            <a:r>
              <a:rPr lang="en-US" sz="1050" dirty="0">
                <a:latin typeface="Segoe UI"/>
                <a:cs typeface="Segoe UI"/>
              </a:rPr>
              <a:t>engagement, Rackspace</a:t>
            </a:r>
            <a:r>
              <a:rPr lang="en-US" sz="1050" spc="-5" dirty="0">
                <a:latin typeface="Segoe UI"/>
                <a:cs typeface="Segoe UI"/>
              </a:rPr>
              <a:t> </a:t>
            </a:r>
            <a:r>
              <a:rPr lang="en-US" sz="1050" dirty="0">
                <a:latin typeface="Segoe UI"/>
                <a:cs typeface="Segoe UI"/>
              </a:rPr>
              <a:t>will</a:t>
            </a:r>
            <a:r>
              <a:rPr lang="en-US" sz="1050" spc="-35" dirty="0">
                <a:latin typeface="Segoe UI"/>
                <a:cs typeface="Segoe UI"/>
              </a:rPr>
              <a:t> </a:t>
            </a:r>
            <a:r>
              <a:rPr lang="en-US" sz="1050" dirty="0">
                <a:latin typeface="Segoe UI"/>
                <a:cs typeface="Segoe UI"/>
              </a:rPr>
              <a:t>provide</a:t>
            </a:r>
            <a:r>
              <a:rPr lang="en-US" sz="1050" spc="-35" dirty="0">
                <a:latin typeface="Segoe UI"/>
                <a:cs typeface="Segoe UI"/>
              </a:rPr>
              <a:t> </a:t>
            </a:r>
            <a:r>
              <a:rPr lang="en-US" sz="1050" dirty="0">
                <a:latin typeface="Segoe UI"/>
                <a:cs typeface="Segoe UI"/>
              </a:rPr>
              <a:t>expert</a:t>
            </a:r>
            <a:r>
              <a:rPr lang="en-US" sz="1050" spc="-10" dirty="0">
                <a:latin typeface="Segoe UI"/>
                <a:cs typeface="Segoe UI"/>
              </a:rPr>
              <a:t> </a:t>
            </a:r>
            <a:r>
              <a:rPr lang="en-US" sz="1050" dirty="0">
                <a:latin typeface="Segoe UI"/>
                <a:cs typeface="Segoe UI"/>
              </a:rPr>
              <a:t>guidance</a:t>
            </a:r>
            <a:r>
              <a:rPr lang="en-US" sz="1050" spc="-20" dirty="0">
                <a:latin typeface="Segoe UI"/>
                <a:cs typeface="Segoe UI"/>
              </a:rPr>
              <a:t> </a:t>
            </a:r>
            <a:r>
              <a:rPr lang="en-US" sz="1050" dirty="0">
                <a:latin typeface="Segoe UI"/>
                <a:cs typeface="Segoe UI"/>
              </a:rPr>
              <a:t>to</a:t>
            </a:r>
            <a:r>
              <a:rPr lang="en-US" sz="1050" spc="-30" dirty="0">
                <a:latin typeface="Segoe UI"/>
                <a:cs typeface="Segoe UI"/>
              </a:rPr>
              <a:t> </a:t>
            </a:r>
            <a:r>
              <a:rPr lang="en-US" sz="1050" dirty="0">
                <a:latin typeface="Segoe UI"/>
                <a:cs typeface="Segoe UI"/>
              </a:rPr>
              <a:t>help</a:t>
            </a:r>
            <a:r>
              <a:rPr lang="en-US" sz="1050" spc="-30" dirty="0">
                <a:latin typeface="Segoe UI"/>
                <a:cs typeface="Segoe UI"/>
              </a:rPr>
              <a:t> </a:t>
            </a:r>
            <a:r>
              <a:rPr lang="en-US" sz="1050" dirty="0">
                <a:latin typeface="Segoe UI"/>
                <a:cs typeface="Segoe UI"/>
              </a:rPr>
              <a:t>with</a:t>
            </a:r>
            <a:r>
              <a:rPr lang="en-US" sz="1050" spc="-35" dirty="0">
                <a:latin typeface="Segoe UI"/>
                <a:cs typeface="Segoe UI"/>
              </a:rPr>
              <a:t> </a:t>
            </a:r>
            <a:r>
              <a:rPr lang="en-US" sz="1050" spc="-10" dirty="0">
                <a:latin typeface="Segoe UI"/>
                <a:cs typeface="Segoe UI"/>
              </a:rPr>
              <a:t>migrations </a:t>
            </a:r>
            <a:r>
              <a:rPr lang="en-US" sz="1050" dirty="0">
                <a:latin typeface="Segoe UI"/>
                <a:cs typeface="Segoe UI"/>
              </a:rPr>
              <a:t>and</a:t>
            </a:r>
            <a:r>
              <a:rPr lang="en-US" sz="1050" spc="-40" dirty="0">
                <a:latin typeface="Segoe UI"/>
                <a:cs typeface="Segoe UI"/>
              </a:rPr>
              <a:t> </a:t>
            </a:r>
            <a:r>
              <a:rPr lang="en-US" sz="1050" dirty="0">
                <a:latin typeface="Segoe UI"/>
                <a:cs typeface="Segoe UI"/>
              </a:rPr>
              <a:t>modernization</a:t>
            </a:r>
            <a:r>
              <a:rPr lang="en-US" sz="1050" spc="-20" dirty="0">
                <a:latin typeface="Segoe UI"/>
                <a:cs typeface="Segoe UI"/>
              </a:rPr>
              <a:t> </a:t>
            </a:r>
            <a:r>
              <a:rPr lang="en-US" sz="1050" dirty="0">
                <a:latin typeface="Segoe UI"/>
                <a:cs typeface="Segoe UI"/>
              </a:rPr>
              <a:t>of</a:t>
            </a:r>
            <a:r>
              <a:rPr lang="en-US" sz="1050" spc="-30" dirty="0">
                <a:latin typeface="Segoe UI"/>
                <a:cs typeface="Segoe UI"/>
              </a:rPr>
              <a:t> </a:t>
            </a:r>
            <a:r>
              <a:rPr lang="en-US" sz="1050" dirty="0">
                <a:latin typeface="Segoe UI"/>
                <a:cs typeface="Segoe UI"/>
              </a:rPr>
              <a:t>a</a:t>
            </a:r>
            <a:r>
              <a:rPr lang="en-US" sz="1050" spc="-20" dirty="0">
                <a:latin typeface="Segoe UI"/>
                <a:cs typeface="Segoe UI"/>
              </a:rPr>
              <a:t> </a:t>
            </a:r>
            <a:r>
              <a:rPr lang="en-US" sz="1050" dirty="0">
                <a:latin typeface="Segoe UI"/>
                <a:cs typeface="Segoe UI"/>
              </a:rPr>
              <a:t>customer’s data</a:t>
            </a:r>
            <a:r>
              <a:rPr lang="en-US" sz="1050" spc="-25" dirty="0">
                <a:latin typeface="Segoe UI"/>
                <a:cs typeface="Segoe UI"/>
              </a:rPr>
              <a:t> </a:t>
            </a:r>
            <a:r>
              <a:rPr lang="en-US" sz="1050" dirty="0">
                <a:latin typeface="Segoe UI"/>
                <a:cs typeface="Segoe UI"/>
              </a:rPr>
              <a:t>estate. </a:t>
            </a:r>
          </a:p>
          <a:p>
            <a:pPr marL="12700" marR="676910"/>
            <a:r>
              <a:rPr lang="en-US" sz="1050" dirty="0">
                <a:latin typeface="Segoe UI"/>
                <a:cs typeface="Segoe UI"/>
              </a:rPr>
              <a:t>The</a:t>
            </a:r>
            <a:r>
              <a:rPr lang="en-US" sz="1050" spc="-25" dirty="0">
                <a:latin typeface="Segoe UI"/>
                <a:cs typeface="Segoe UI"/>
              </a:rPr>
              <a:t> </a:t>
            </a:r>
            <a:r>
              <a:rPr lang="en-US" sz="1050" dirty="0">
                <a:latin typeface="Segoe UI"/>
                <a:cs typeface="Segoe UI"/>
              </a:rPr>
              <a:t>following</a:t>
            </a:r>
            <a:r>
              <a:rPr lang="en-US" sz="1050" spc="-40" dirty="0">
                <a:latin typeface="Segoe UI"/>
                <a:cs typeface="Segoe UI"/>
              </a:rPr>
              <a:t> </a:t>
            </a:r>
            <a:r>
              <a:rPr lang="en-US" sz="1050" dirty="0">
                <a:latin typeface="Segoe UI"/>
                <a:cs typeface="Segoe UI"/>
              </a:rPr>
              <a:t>post-sales</a:t>
            </a:r>
            <a:r>
              <a:rPr lang="en-US" sz="1050" spc="-5" dirty="0">
                <a:latin typeface="Segoe UI"/>
                <a:cs typeface="Segoe UI"/>
              </a:rPr>
              <a:t> </a:t>
            </a:r>
            <a:r>
              <a:rPr lang="en-US" sz="1050" dirty="0">
                <a:latin typeface="Segoe UI"/>
                <a:cs typeface="Segoe UI"/>
              </a:rPr>
              <a:t>patterns</a:t>
            </a:r>
            <a:r>
              <a:rPr lang="en-US" sz="1050" spc="-10" dirty="0">
                <a:latin typeface="Segoe UI"/>
                <a:cs typeface="Segoe UI"/>
              </a:rPr>
              <a:t> </a:t>
            </a:r>
            <a:r>
              <a:rPr lang="en-US" sz="1050" dirty="0">
                <a:latin typeface="Segoe UI"/>
                <a:cs typeface="Segoe UI"/>
              </a:rPr>
              <a:t>are</a:t>
            </a:r>
            <a:r>
              <a:rPr lang="en-US" sz="1050" spc="-20" dirty="0">
                <a:latin typeface="Segoe UI"/>
                <a:cs typeface="Segoe UI"/>
              </a:rPr>
              <a:t> </a:t>
            </a:r>
            <a:r>
              <a:rPr lang="en-US" sz="1050" dirty="0">
                <a:latin typeface="Segoe UI"/>
                <a:cs typeface="Segoe UI"/>
              </a:rPr>
              <a:t>supported:</a:t>
            </a:r>
            <a:r>
              <a:rPr lang="en-US" sz="1050" spc="-10" dirty="0">
                <a:latin typeface="Segoe UI"/>
                <a:cs typeface="Segoe UI"/>
              </a:rPr>
              <a:t> </a:t>
            </a:r>
          </a:p>
          <a:p>
            <a:pPr marL="298450" marR="676910" indent="-285750">
              <a:buAutoNum type="romanLcParenBoth"/>
            </a:pPr>
            <a:r>
              <a:rPr lang="en-US" sz="1050" dirty="0">
                <a:latin typeface="Segoe UI"/>
                <a:cs typeface="Segoe UI"/>
              </a:rPr>
              <a:t>migration</a:t>
            </a:r>
            <a:r>
              <a:rPr lang="en-US" sz="1050" spc="-10" dirty="0">
                <a:latin typeface="Segoe UI"/>
                <a:cs typeface="Segoe UI"/>
              </a:rPr>
              <a:t> </a:t>
            </a:r>
            <a:r>
              <a:rPr lang="en-US" sz="1050" spc="-25" dirty="0">
                <a:latin typeface="Segoe UI"/>
                <a:cs typeface="Segoe UI"/>
              </a:rPr>
              <a:t>and </a:t>
            </a:r>
            <a:r>
              <a:rPr lang="en-US" sz="1050" dirty="0">
                <a:latin typeface="Segoe UI"/>
                <a:cs typeface="Segoe UI"/>
              </a:rPr>
              <a:t>deployment services</a:t>
            </a:r>
            <a:r>
              <a:rPr lang="en-US" sz="1050" spc="-10" dirty="0">
                <a:latin typeface="Segoe UI"/>
                <a:cs typeface="Segoe UI"/>
              </a:rPr>
              <a:t> </a:t>
            </a:r>
            <a:r>
              <a:rPr lang="en-US" sz="1050" dirty="0">
                <a:latin typeface="Segoe UI"/>
                <a:cs typeface="Segoe UI"/>
              </a:rPr>
              <a:t>of</a:t>
            </a:r>
            <a:r>
              <a:rPr lang="en-US" sz="1050" spc="-30" dirty="0">
                <a:latin typeface="Segoe UI"/>
                <a:cs typeface="Segoe UI"/>
              </a:rPr>
              <a:t> </a:t>
            </a:r>
            <a:r>
              <a:rPr lang="en-US" sz="1050" spc="-10" dirty="0">
                <a:latin typeface="Segoe UI"/>
                <a:cs typeface="Segoe UI"/>
              </a:rPr>
              <a:t>on-</a:t>
            </a:r>
            <a:r>
              <a:rPr lang="en-US" sz="1050" dirty="0">
                <a:latin typeface="Segoe UI"/>
                <a:cs typeface="Segoe UI"/>
              </a:rPr>
              <a:t>premise or</a:t>
            </a:r>
            <a:r>
              <a:rPr lang="en-US" sz="1050" spc="-30" dirty="0">
                <a:latin typeface="Segoe UI"/>
                <a:cs typeface="Segoe UI"/>
              </a:rPr>
              <a:t> </a:t>
            </a:r>
            <a:r>
              <a:rPr lang="en-US" sz="1050" dirty="0">
                <a:latin typeface="Segoe UI"/>
                <a:cs typeface="Segoe UI"/>
              </a:rPr>
              <a:t>cloud</a:t>
            </a:r>
            <a:r>
              <a:rPr lang="en-US" sz="1050" spc="-25" dirty="0">
                <a:latin typeface="Segoe UI"/>
                <a:cs typeface="Segoe UI"/>
              </a:rPr>
              <a:t> </a:t>
            </a:r>
            <a:r>
              <a:rPr lang="en-US" sz="1050" dirty="0">
                <a:latin typeface="Segoe UI"/>
                <a:cs typeface="Segoe UI"/>
              </a:rPr>
              <a:t>data</a:t>
            </a:r>
            <a:r>
              <a:rPr lang="en-US" sz="1050" spc="-20" dirty="0">
                <a:latin typeface="Segoe UI"/>
                <a:cs typeface="Segoe UI"/>
              </a:rPr>
              <a:t> </a:t>
            </a:r>
            <a:r>
              <a:rPr lang="en-US" sz="1050" dirty="0">
                <a:latin typeface="Segoe UI"/>
                <a:cs typeface="Segoe UI"/>
              </a:rPr>
              <a:t>warehouse</a:t>
            </a:r>
            <a:r>
              <a:rPr lang="en-US" sz="1050" spc="-5" dirty="0">
                <a:latin typeface="Segoe UI"/>
                <a:cs typeface="Segoe UI"/>
              </a:rPr>
              <a:t> </a:t>
            </a:r>
            <a:r>
              <a:rPr lang="en-US" sz="1050" dirty="0">
                <a:latin typeface="Segoe UI"/>
                <a:cs typeface="Segoe UI"/>
              </a:rPr>
              <a:t>platforms</a:t>
            </a:r>
            <a:r>
              <a:rPr lang="en-US" sz="1050" spc="-10" dirty="0">
                <a:latin typeface="Segoe UI"/>
                <a:cs typeface="Segoe UI"/>
              </a:rPr>
              <a:t> </a:t>
            </a:r>
          </a:p>
          <a:p>
            <a:pPr marL="298450" marR="676910" indent="-285750">
              <a:buAutoNum type="romanLcParenBoth"/>
            </a:pPr>
            <a:r>
              <a:rPr lang="en-US" sz="1050" dirty="0">
                <a:latin typeface="Segoe UI"/>
                <a:cs typeface="Segoe UI"/>
              </a:rPr>
              <a:t>new</a:t>
            </a:r>
            <a:r>
              <a:rPr lang="en-US" sz="1050" spc="-20" dirty="0">
                <a:latin typeface="Segoe UI"/>
                <a:cs typeface="Segoe UI"/>
              </a:rPr>
              <a:t> </a:t>
            </a:r>
            <a:r>
              <a:rPr lang="en-US" sz="1050" dirty="0">
                <a:latin typeface="Segoe UI"/>
                <a:cs typeface="Segoe UI"/>
              </a:rPr>
              <a:t>analytics use</a:t>
            </a:r>
            <a:r>
              <a:rPr lang="en-US" sz="1050" spc="-25" dirty="0">
                <a:latin typeface="Segoe UI"/>
                <a:cs typeface="Segoe UI"/>
              </a:rPr>
              <a:t> </a:t>
            </a:r>
            <a:r>
              <a:rPr lang="en-US" sz="1050" dirty="0">
                <a:latin typeface="Segoe UI"/>
                <a:cs typeface="Segoe UI"/>
              </a:rPr>
              <a:t>cases.</a:t>
            </a:r>
            <a:r>
              <a:rPr lang="en-US" sz="1050" spc="254" dirty="0">
                <a:latin typeface="Segoe UI"/>
                <a:cs typeface="Segoe UI"/>
              </a:rPr>
              <a:t> </a:t>
            </a:r>
          </a:p>
          <a:p>
            <a:pPr marL="12700" marR="676910"/>
            <a:r>
              <a:rPr lang="en-US" sz="1050" dirty="0">
                <a:latin typeface="Segoe UI"/>
                <a:cs typeface="Segoe UI"/>
              </a:rPr>
              <a:t>Project</a:t>
            </a:r>
            <a:r>
              <a:rPr lang="en-US" sz="1050" spc="-10" dirty="0">
                <a:latin typeface="Segoe UI"/>
                <a:cs typeface="Segoe UI"/>
              </a:rPr>
              <a:t> </a:t>
            </a:r>
            <a:r>
              <a:rPr lang="en-US" sz="1050" dirty="0">
                <a:latin typeface="Segoe UI"/>
                <a:cs typeface="Segoe UI"/>
              </a:rPr>
              <a:t>should</a:t>
            </a:r>
            <a:r>
              <a:rPr lang="en-US" sz="1050" spc="-30" dirty="0">
                <a:latin typeface="Segoe UI"/>
                <a:cs typeface="Segoe UI"/>
              </a:rPr>
              <a:t> </a:t>
            </a:r>
            <a:r>
              <a:rPr lang="en-US" sz="1050" dirty="0">
                <a:latin typeface="Segoe UI"/>
                <a:cs typeface="Segoe UI"/>
              </a:rPr>
              <a:t>be</a:t>
            </a:r>
            <a:r>
              <a:rPr lang="en-US" sz="1050" spc="-15" dirty="0">
                <a:latin typeface="Segoe UI"/>
                <a:cs typeface="Segoe UI"/>
              </a:rPr>
              <a:t> </a:t>
            </a:r>
            <a:r>
              <a:rPr lang="en-US" sz="1050" dirty="0">
                <a:latin typeface="Segoe UI"/>
                <a:cs typeface="Segoe UI"/>
              </a:rPr>
              <a:t>deploying</a:t>
            </a:r>
            <a:r>
              <a:rPr lang="en-US" sz="1050" spc="-30" dirty="0">
                <a:latin typeface="Segoe UI"/>
                <a:cs typeface="Segoe UI"/>
              </a:rPr>
              <a:t> </a:t>
            </a:r>
            <a:r>
              <a:rPr lang="en-US" sz="1050" dirty="0">
                <a:latin typeface="Segoe UI"/>
                <a:cs typeface="Segoe UI"/>
              </a:rPr>
              <a:t>key</a:t>
            </a:r>
            <a:r>
              <a:rPr lang="en-US" sz="1050" spc="-10" dirty="0">
                <a:latin typeface="Segoe UI"/>
                <a:cs typeface="Segoe UI"/>
              </a:rPr>
              <a:t> </a:t>
            </a:r>
            <a:r>
              <a:rPr lang="en-US" sz="1050" dirty="0">
                <a:latin typeface="Segoe UI"/>
                <a:cs typeface="Segoe UI"/>
              </a:rPr>
              <a:t>analytics services</a:t>
            </a:r>
            <a:r>
              <a:rPr lang="en-US" sz="1050" spc="-15" dirty="0">
                <a:latin typeface="Segoe UI"/>
                <a:cs typeface="Segoe UI"/>
              </a:rPr>
              <a:t> </a:t>
            </a:r>
            <a:r>
              <a:rPr lang="en-US" sz="1050" dirty="0">
                <a:latin typeface="Segoe UI"/>
                <a:cs typeface="Segoe UI"/>
              </a:rPr>
              <a:t>inclusive</a:t>
            </a:r>
            <a:r>
              <a:rPr lang="en-US" sz="1050" spc="-30" dirty="0">
                <a:latin typeface="Segoe UI"/>
                <a:cs typeface="Segoe UI"/>
              </a:rPr>
              <a:t> </a:t>
            </a:r>
            <a:r>
              <a:rPr lang="en-US" sz="1050" dirty="0">
                <a:latin typeface="Segoe UI"/>
                <a:cs typeface="Segoe UI"/>
              </a:rPr>
              <a:t>of</a:t>
            </a:r>
            <a:r>
              <a:rPr lang="en-US" sz="1050" spc="-15" dirty="0">
                <a:latin typeface="Segoe UI"/>
                <a:cs typeface="Segoe UI"/>
              </a:rPr>
              <a:t> </a:t>
            </a:r>
            <a:r>
              <a:rPr lang="en-US" sz="1050" dirty="0">
                <a:latin typeface="Segoe UI"/>
                <a:cs typeface="Segoe UI"/>
              </a:rPr>
              <a:t>Microsoft</a:t>
            </a:r>
            <a:r>
              <a:rPr lang="en-US" sz="1050" spc="-20" dirty="0">
                <a:latin typeface="Segoe UI"/>
                <a:cs typeface="Segoe UI"/>
              </a:rPr>
              <a:t> </a:t>
            </a:r>
            <a:r>
              <a:rPr lang="en-US" sz="1050" dirty="0">
                <a:latin typeface="Segoe UI"/>
                <a:cs typeface="Segoe UI"/>
              </a:rPr>
              <a:t>Fabric</a:t>
            </a:r>
            <a:r>
              <a:rPr lang="en-US" sz="1050" spc="-25" dirty="0">
                <a:latin typeface="Segoe UI"/>
                <a:cs typeface="Segoe UI"/>
              </a:rPr>
              <a:t> </a:t>
            </a:r>
            <a:r>
              <a:rPr lang="en-US" sz="1050" dirty="0">
                <a:latin typeface="Segoe UI"/>
                <a:cs typeface="Segoe UI"/>
              </a:rPr>
              <a:t>(incl.</a:t>
            </a:r>
            <a:r>
              <a:rPr lang="en-US" sz="1050" spc="-30" dirty="0">
                <a:latin typeface="Segoe UI"/>
                <a:cs typeface="Segoe UI"/>
              </a:rPr>
              <a:t> </a:t>
            </a:r>
            <a:r>
              <a:rPr lang="en-US" sz="1050" dirty="0">
                <a:latin typeface="Segoe UI"/>
                <a:cs typeface="Segoe UI"/>
              </a:rPr>
              <a:t>Power</a:t>
            </a:r>
            <a:r>
              <a:rPr lang="en-US" sz="1050" spc="-5" dirty="0">
                <a:latin typeface="Segoe UI"/>
                <a:cs typeface="Segoe UI"/>
              </a:rPr>
              <a:t> </a:t>
            </a:r>
            <a:r>
              <a:rPr lang="en-US" sz="1050" dirty="0">
                <a:latin typeface="Segoe UI"/>
                <a:cs typeface="Segoe UI"/>
              </a:rPr>
              <a:t>BI)</a:t>
            </a:r>
            <a:r>
              <a:rPr lang="en-US" sz="1050" spc="-45" dirty="0">
                <a:latin typeface="Segoe UI"/>
                <a:cs typeface="Segoe UI"/>
              </a:rPr>
              <a:t> </a:t>
            </a:r>
            <a:r>
              <a:rPr lang="en-US" sz="1050" spc="-50" dirty="0">
                <a:latin typeface="Segoe UI"/>
                <a:cs typeface="Segoe UI"/>
              </a:rPr>
              <a:t>&amp; </a:t>
            </a:r>
            <a:r>
              <a:rPr lang="en-US" sz="1050" dirty="0">
                <a:latin typeface="Segoe UI"/>
                <a:cs typeface="Segoe UI"/>
              </a:rPr>
              <a:t>Azure</a:t>
            </a:r>
            <a:r>
              <a:rPr lang="en-US" sz="1050" spc="-35" dirty="0">
                <a:latin typeface="Segoe UI"/>
                <a:cs typeface="Segoe UI"/>
              </a:rPr>
              <a:t> </a:t>
            </a:r>
            <a:r>
              <a:rPr lang="en-US" sz="1050" dirty="0">
                <a:latin typeface="Segoe UI"/>
                <a:cs typeface="Segoe UI"/>
              </a:rPr>
              <a:t>Databricks.</a:t>
            </a:r>
            <a:r>
              <a:rPr lang="en-US" sz="1050" spc="5" dirty="0">
                <a:latin typeface="Segoe UI"/>
                <a:cs typeface="Segoe UI"/>
              </a:rPr>
              <a:t> </a:t>
            </a:r>
          </a:p>
          <a:p>
            <a:pPr marL="12700" marR="676910"/>
            <a:r>
              <a:rPr lang="en-US" sz="1050" dirty="0">
                <a:latin typeface="Segoe UI"/>
                <a:cs typeface="Segoe UI"/>
              </a:rPr>
              <a:t>Rackspace is required</a:t>
            </a:r>
            <a:r>
              <a:rPr lang="en-US" sz="1050" spc="-10" dirty="0">
                <a:latin typeface="Segoe UI"/>
                <a:cs typeface="Segoe UI"/>
              </a:rPr>
              <a:t> </a:t>
            </a:r>
            <a:r>
              <a:rPr lang="en-US" sz="1050" dirty="0">
                <a:latin typeface="Segoe UI"/>
                <a:cs typeface="Segoe UI"/>
              </a:rPr>
              <a:t>to</a:t>
            </a:r>
            <a:r>
              <a:rPr lang="en-US" sz="1050" spc="-25" dirty="0">
                <a:latin typeface="Segoe UI"/>
                <a:cs typeface="Segoe UI"/>
              </a:rPr>
              <a:t> </a:t>
            </a:r>
            <a:r>
              <a:rPr lang="en-US" sz="1050" dirty="0">
                <a:latin typeface="Segoe UI"/>
                <a:cs typeface="Segoe UI"/>
              </a:rPr>
              <a:t>perform</a:t>
            </a:r>
            <a:r>
              <a:rPr lang="en-US" sz="1050" spc="-10" dirty="0">
                <a:latin typeface="Segoe UI"/>
                <a:cs typeface="Segoe UI"/>
              </a:rPr>
              <a:t> </a:t>
            </a:r>
            <a:r>
              <a:rPr lang="en-US" sz="1050" dirty="0">
                <a:latin typeface="Segoe UI"/>
                <a:cs typeface="Segoe UI"/>
              </a:rPr>
              <a:t>specific</a:t>
            </a:r>
            <a:r>
              <a:rPr lang="en-US" sz="1050" spc="-25" dirty="0">
                <a:latin typeface="Segoe UI"/>
                <a:cs typeface="Segoe UI"/>
              </a:rPr>
              <a:t> </a:t>
            </a:r>
            <a:r>
              <a:rPr lang="en-US" sz="1050" dirty="0">
                <a:latin typeface="Segoe UI"/>
                <a:cs typeface="Segoe UI"/>
              </a:rPr>
              <a:t>milestones</a:t>
            </a:r>
            <a:r>
              <a:rPr lang="en-US" sz="1050" spc="5" dirty="0">
                <a:latin typeface="Segoe UI"/>
                <a:cs typeface="Segoe UI"/>
              </a:rPr>
              <a:t> </a:t>
            </a:r>
            <a:r>
              <a:rPr lang="en-US" sz="1050" dirty="0">
                <a:latin typeface="Segoe UI"/>
                <a:cs typeface="Segoe UI"/>
              </a:rPr>
              <a:t>in</a:t>
            </a:r>
            <a:r>
              <a:rPr lang="en-US" sz="1050" spc="-35" dirty="0">
                <a:latin typeface="Segoe UI"/>
                <a:cs typeface="Segoe UI"/>
              </a:rPr>
              <a:t> </a:t>
            </a:r>
            <a:r>
              <a:rPr lang="en-US" sz="1050" dirty="0">
                <a:latin typeface="Segoe UI"/>
                <a:cs typeface="Segoe UI"/>
              </a:rPr>
              <a:t>the</a:t>
            </a:r>
            <a:r>
              <a:rPr lang="en-US" sz="1050" spc="-30" dirty="0">
                <a:latin typeface="Segoe UI"/>
                <a:cs typeface="Segoe UI"/>
              </a:rPr>
              <a:t> </a:t>
            </a:r>
            <a:r>
              <a:rPr lang="en-US" sz="1050" dirty="0">
                <a:latin typeface="Segoe UI"/>
                <a:cs typeface="Segoe UI"/>
              </a:rPr>
              <a:t>project</a:t>
            </a:r>
            <a:r>
              <a:rPr lang="en-US" sz="1050" spc="-15" dirty="0">
                <a:latin typeface="Segoe UI"/>
                <a:cs typeface="Segoe UI"/>
              </a:rPr>
              <a:t> </a:t>
            </a:r>
            <a:r>
              <a:rPr lang="en-US" sz="1050" dirty="0">
                <a:latin typeface="Segoe UI"/>
                <a:cs typeface="Segoe UI"/>
              </a:rPr>
              <a:t>through</a:t>
            </a:r>
            <a:r>
              <a:rPr lang="en-US" sz="1050" spc="-30" dirty="0">
                <a:latin typeface="Segoe UI"/>
                <a:cs typeface="Segoe UI"/>
              </a:rPr>
              <a:t> </a:t>
            </a:r>
            <a:r>
              <a:rPr lang="en-US" sz="1050" dirty="0">
                <a:latin typeface="Segoe UI"/>
                <a:cs typeface="Segoe UI"/>
              </a:rPr>
              <a:t>the</a:t>
            </a:r>
            <a:r>
              <a:rPr lang="en-US" sz="1050" spc="-20" dirty="0">
                <a:latin typeface="Segoe UI"/>
                <a:cs typeface="Segoe UI"/>
              </a:rPr>
              <a:t> </a:t>
            </a:r>
            <a:r>
              <a:rPr lang="en-US" sz="1050" dirty="0">
                <a:latin typeface="Segoe UI"/>
                <a:cs typeface="Segoe UI"/>
              </a:rPr>
              <a:t>following</a:t>
            </a:r>
            <a:r>
              <a:rPr lang="en-US" sz="1050" spc="-35" dirty="0">
                <a:latin typeface="Segoe UI"/>
                <a:cs typeface="Segoe UI"/>
              </a:rPr>
              <a:t> </a:t>
            </a:r>
            <a:r>
              <a:rPr lang="en-US" sz="1050" dirty="0">
                <a:latin typeface="Segoe UI"/>
                <a:cs typeface="Segoe UI"/>
              </a:rPr>
              <a:t>activities:</a:t>
            </a:r>
            <a:r>
              <a:rPr lang="en-US" sz="1050" spc="10" dirty="0">
                <a:latin typeface="Segoe UI"/>
                <a:cs typeface="Segoe UI"/>
              </a:rPr>
              <a:t> </a:t>
            </a:r>
          </a:p>
          <a:p>
            <a:pPr marL="241300" marR="676910" indent="-228600">
              <a:buAutoNum type="arabicPeriod"/>
            </a:pPr>
            <a:r>
              <a:rPr lang="en-US" sz="1050" dirty="0">
                <a:latin typeface="Segoe UI"/>
                <a:cs typeface="Segoe UI"/>
              </a:rPr>
              <a:t>Landing</a:t>
            </a:r>
            <a:r>
              <a:rPr lang="en-US" sz="1050" spc="-10" dirty="0">
                <a:latin typeface="Segoe UI"/>
                <a:cs typeface="Segoe UI"/>
              </a:rPr>
              <a:t> </a:t>
            </a:r>
            <a:r>
              <a:rPr lang="en-US" sz="1050" dirty="0">
                <a:latin typeface="Segoe UI"/>
                <a:cs typeface="Segoe UI"/>
              </a:rPr>
              <a:t>zone</a:t>
            </a:r>
            <a:r>
              <a:rPr lang="en-US" sz="1050" spc="-30" dirty="0">
                <a:latin typeface="Segoe UI"/>
                <a:cs typeface="Segoe UI"/>
              </a:rPr>
              <a:t> </a:t>
            </a:r>
            <a:r>
              <a:rPr lang="en-US" sz="1050" dirty="0">
                <a:latin typeface="Segoe UI"/>
                <a:cs typeface="Segoe UI"/>
              </a:rPr>
              <a:t>setup</a:t>
            </a:r>
            <a:r>
              <a:rPr lang="en-US" sz="1050" spc="-10" dirty="0">
                <a:latin typeface="Segoe UI"/>
                <a:cs typeface="Segoe UI"/>
              </a:rPr>
              <a:t> </a:t>
            </a:r>
            <a:r>
              <a:rPr lang="en-US" sz="1050" dirty="0">
                <a:latin typeface="Segoe UI"/>
                <a:cs typeface="Segoe UI"/>
              </a:rPr>
              <a:t>or</a:t>
            </a:r>
            <a:r>
              <a:rPr lang="en-US" sz="1050" spc="-25" dirty="0">
                <a:latin typeface="Segoe UI"/>
                <a:cs typeface="Segoe UI"/>
              </a:rPr>
              <a:t> </a:t>
            </a:r>
            <a:r>
              <a:rPr lang="en-US" sz="1050" dirty="0">
                <a:latin typeface="Segoe UI"/>
                <a:cs typeface="Segoe UI"/>
              </a:rPr>
              <a:t>review</a:t>
            </a:r>
            <a:r>
              <a:rPr lang="en-US" sz="1050" spc="-20" dirty="0">
                <a:latin typeface="Segoe UI"/>
                <a:cs typeface="Segoe UI"/>
              </a:rPr>
              <a:t> </a:t>
            </a:r>
          </a:p>
          <a:p>
            <a:pPr marL="241300" marR="676910" indent="-228600">
              <a:buAutoNum type="arabicPeriod"/>
            </a:pPr>
            <a:r>
              <a:rPr lang="en-US" sz="1050" dirty="0">
                <a:latin typeface="Segoe UI"/>
                <a:cs typeface="Segoe UI"/>
              </a:rPr>
              <a:t>Deployment</a:t>
            </a:r>
            <a:r>
              <a:rPr lang="en-US" sz="1050" spc="-10" dirty="0">
                <a:latin typeface="Segoe UI"/>
                <a:cs typeface="Segoe UI"/>
              </a:rPr>
              <a:t> </a:t>
            </a:r>
            <a:r>
              <a:rPr lang="en-US" sz="1050" dirty="0">
                <a:latin typeface="Segoe UI"/>
                <a:cs typeface="Segoe UI"/>
              </a:rPr>
              <a:t>of</a:t>
            </a:r>
            <a:r>
              <a:rPr lang="en-US" sz="1050" spc="-25" dirty="0">
                <a:latin typeface="Segoe UI"/>
                <a:cs typeface="Segoe UI"/>
              </a:rPr>
              <a:t> </a:t>
            </a:r>
            <a:r>
              <a:rPr lang="en-US" sz="1050" dirty="0">
                <a:latin typeface="Segoe UI"/>
                <a:cs typeface="Segoe UI"/>
              </a:rPr>
              <a:t>Microsoft</a:t>
            </a:r>
            <a:r>
              <a:rPr lang="en-US" sz="1050" spc="-20" dirty="0">
                <a:latin typeface="Segoe UI"/>
                <a:cs typeface="Segoe UI"/>
              </a:rPr>
              <a:t> </a:t>
            </a:r>
            <a:r>
              <a:rPr lang="en-US" sz="1050" dirty="0">
                <a:latin typeface="Segoe UI"/>
                <a:cs typeface="Segoe UI"/>
              </a:rPr>
              <a:t>Fabric</a:t>
            </a:r>
            <a:r>
              <a:rPr lang="en-US" sz="1050" spc="-20" dirty="0">
                <a:latin typeface="Segoe UI"/>
                <a:cs typeface="Segoe UI"/>
              </a:rPr>
              <a:t> </a:t>
            </a:r>
            <a:r>
              <a:rPr lang="en-US" sz="1050" spc="-10" dirty="0">
                <a:latin typeface="Segoe UI"/>
                <a:cs typeface="Segoe UI"/>
              </a:rPr>
              <a:t>and/or </a:t>
            </a:r>
            <a:r>
              <a:rPr lang="en-US" sz="1050" dirty="0">
                <a:latin typeface="Segoe UI"/>
                <a:cs typeface="Segoe UI"/>
              </a:rPr>
              <a:t>Azure</a:t>
            </a:r>
            <a:r>
              <a:rPr lang="en-US" sz="1050" spc="-45" dirty="0">
                <a:latin typeface="Segoe UI"/>
                <a:cs typeface="Segoe UI"/>
              </a:rPr>
              <a:t> </a:t>
            </a:r>
            <a:r>
              <a:rPr lang="en-US" sz="1050" dirty="0">
                <a:latin typeface="Segoe UI"/>
                <a:cs typeface="Segoe UI"/>
              </a:rPr>
              <a:t>Databricks </a:t>
            </a:r>
            <a:r>
              <a:rPr lang="en-US" sz="1050" spc="-10" dirty="0">
                <a:latin typeface="Segoe UI"/>
                <a:cs typeface="Segoe UI"/>
              </a:rPr>
              <a:t>services.</a:t>
            </a:r>
            <a:endParaRPr lang="en-US" sz="1050" dirty="0">
              <a:latin typeface="Segoe UI"/>
              <a:cs typeface="Segoe UI"/>
            </a:endParaRPr>
          </a:p>
          <a:p>
            <a:pPr marL="12700" marR="5080">
              <a:lnSpc>
                <a:spcPct val="100000"/>
              </a:lnSpc>
              <a:spcBef>
                <a:spcPts val="95"/>
              </a:spcBef>
            </a:pPr>
            <a:endParaRPr sz="1050" dirty="0">
              <a:latin typeface="Segoe UI"/>
              <a:cs typeface="Segoe UI"/>
            </a:endParaRPr>
          </a:p>
        </p:txBody>
      </p:sp>
      <p:sp>
        <p:nvSpPr>
          <p:cNvPr id="11" name="Title 1">
            <a:extLst>
              <a:ext uri="{FF2B5EF4-FFF2-40B4-BE49-F238E27FC236}">
                <a16:creationId xmlns:a16="http://schemas.microsoft.com/office/drawing/2014/main" id="{4B3658E3-259E-0770-1F4E-C0EE568B5195}"/>
              </a:ext>
            </a:extLst>
          </p:cNvPr>
          <p:cNvSpPr txBox="1">
            <a:spLocks/>
          </p:cNvSpPr>
          <p:nvPr/>
        </p:nvSpPr>
        <p:spPr>
          <a:xfrm>
            <a:off x="326699" y="3215699"/>
            <a:ext cx="11568700" cy="387440"/>
          </a:xfrm>
        </p:spPr>
        <p:txBody>
          <a:bodyPr/>
          <a:lst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a:lstStyle>
          <a:p>
            <a:r>
              <a:rPr lang="en-US" sz="2200" dirty="0"/>
              <a:t>Azure Accelerate: Data Platform</a:t>
            </a:r>
          </a:p>
        </p:txBody>
      </p:sp>
      <p:graphicFrame>
        <p:nvGraphicFramePr>
          <p:cNvPr id="12" name="object 49">
            <a:extLst>
              <a:ext uri="{FF2B5EF4-FFF2-40B4-BE49-F238E27FC236}">
                <a16:creationId xmlns:a16="http://schemas.microsoft.com/office/drawing/2014/main" id="{D75546D1-D01A-5F59-2758-BA670B646249}"/>
              </a:ext>
            </a:extLst>
          </p:cNvPr>
          <p:cNvGraphicFramePr>
            <a:graphicFrameLocks noGrp="1"/>
          </p:cNvGraphicFramePr>
          <p:nvPr>
            <p:extLst>
              <p:ext uri="{D42A27DB-BD31-4B8C-83A1-F6EECF244321}">
                <p14:modId xmlns:p14="http://schemas.microsoft.com/office/powerpoint/2010/main" val="1064822586"/>
              </p:ext>
            </p:extLst>
          </p:nvPr>
        </p:nvGraphicFramePr>
        <p:xfrm>
          <a:off x="6536101" y="4829628"/>
          <a:ext cx="5209636" cy="1795482"/>
        </p:xfrm>
        <a:graphic>
          <a:graphicData uri="http://schemas.openxmlformats.org/drawingml/2006/table">
            <a:tbl>
              <a:tblPr firstRow="1" bandRow="1">
                <a:tableStyleId>{2D5ABB26-0587-4C30-8999-92F81FD0307C}</a:tableStyleId>
              </a:tblPr>
              <a:tblGrid>
                <a:gridCol w="3092265">
                  <a:extLst>
                    <a:ext uri="{9D8B030D-6E8A-4147-A177-3AD203B41FA5}">
                      <a16:colId xmlns:a16="http://schemas.microsoft.com/office/drawing/2014/main" val="20000"/>
                    </a:ext>
                  </a:extLst>
                </a:gridCol>
                <a:gridCol w="681037">
                  <a:extLst>
                    <a:ext uri="{9D8B030D-6E8A-4147-A177-3AD203B41FA5}">
                      <a16:colId xmlns:a16="http://schemas.microsoft.com/office/drawing/2014/main" val="20001"/>
                    </a:ext>
                  </a:extLst>
                </a:gridCol>
                <a:gridCol w="718167">
                  <a:extLst>
                    <a:ext uri="{9D8B030D-6E8A-4147-A177-3AD203B41FA5}">
                      <a16:colId xmlns:a16="http://schemas.microsoft.com/office/drawing/2014/main" val="1725608647"/>
                    </a:ext>
                  </a:extLst>
                </a:gridCol>
                <a:gridCol w="718167">
                  <a:extLst>
                    <a:ext uri="{9D8B030D-6E8A-4147-A177-3AD203B41FA5}">
                      <a16:colId xmlns:a16="http://schemas.microsoft.com/office/drawing/2014/main" val="1388840556"/>
                    </a:ext>
                  </a:extLst>
                </a:gridCol>
              </a:tblGrid>
              <a:tr h="209254">
                <a:tc>
                  <a:txBody>
                    <a:bodyPr/>
                    <a:lstStyle/>
                    <a:p>
                      <a:pPr marL="40640">
                        <a:lnSpc>
                          <a:spcPct val="100000"/>
                        </a:lnSpc>
                      </a:pPr>
                      <a:r>
                        <a:rPr sz="900" dirty="0">
                          <a:solidFill>
                            <a:schemeClr val="tx1"/>
                          </a:solidFill>
                          <a:latin typeface="Segoe UI Semibold"/>
                          <a:cs typeface="Segoe UI Semibold"/>
                        </a:rPr>
                        <a:t>Project</a:t>
                      </a:r>
                      <a:r>
                        <a:rPr sz="900" spc="-45" dirty="0">
                          <a:solidFill>
                            <a:schemeClr val="tx1"/>
                          </a:solidFill>
                          <a:latin typeface="Segoe UI Semibold"/>
                          <a:cs typeface="Segoe UI Semibold"/>
                        </a:rPr>
                        <a:t> </a:t>
                      </a:r>
                      <a:r>
                        <a:rPr sz="900" spc="-20" dirty="0">
                          <a:solidFill>
                            <a:schemeClr val="tx1"/>
                          </a:solidFill>
                          <a:latin typeface="Segoe UI Semibold"/>
                          <a:cs typeface="Segoe UI Semibold"/>
                        </a:rPr>
                        <a:t>Size</a:t>
                      </a:r>
                      <a:endParaRPr sz="900" dirty="0">
                        <a:solidFill>
                          <a:schemeClr val="tx1"/>
                        </a:solidFill>
                        <a:latin typeface="Segoe UI Semibold"/>
                        <a:cs typeface="Segoe UI Semibold"/>
                      </a:endParaRPr>
                    </a:p>
                  </a:txBody>
                  <a:tcPr marL="0" marR="0" marT="3175" marB="0">
                    <a:lnL w="6350">
                      <a:solidFill>
                        <a:srgbClr val="C3E4FF"/>
                      </a:solidFill>
                      <a:prstDash val="solid"/>
                    </a:lnL>
                    <a:lnR w="6350">
                      <a:solidFill>
                        <a:srgbClr val="D9D9D9"/>
                      </a:solidFill>
                      <a:prstDash val="solid"/>
                    </a:lnR>
                    <a:lnT w="6350">
                      <a:solidFill>
                        <a:srgbClr val="C3E4FF"/>
                      </a:solidFill>
                      <a:prstDash val="solid"/>
                    </a:lnT>
                    <a:solidFill>
                      <a:schemeClr val="accent1">
                        <a:alpha val="50195"/>
                      </a:schemeClr>
                    </a:solidFill>
                  </a:tcPr>
                </a:tc>
                <a:tc>
                  <a:txBody>
                    <a:bodyPr/>
                    <a:lstStyle/>
                    <a:p>
                      <a:pPr marL="635" algn="ctr">
                        <a:lnSpc>
                          <a:spcPct val="100000"/>
                        </a:lnSpc>
                      </a:pPr>
                      <a:r>
                        <a:rPr sz="900" dirty="0">
                          <a:solidFill>
                            <a:schemeClr val="tx1"/>
                          </a:solidFill>
                          <a:latin typeface="Segoe UI Semibold"/>
                          <a:cs typeface="Segoe UI Semibold"/>
                        </a:rPr>
                        <a:t>Payment</a:t>
                      </a:r>
                    </a:p>
                  </a:txBody>
                  <a:tcPr marL="0" marR="0" marT="3175" marB="0">
                    <a:lnL w="6350">
                      <a:solidFill>
                        <a:srgbClr val="D9D9D9"/>
                      </a:solidFill>
                      <a:prstDash val="solid"/>
                    </a:lnL>
                    <a:lnR w="6350" cap="flat" cmpd="sng" algn="ctr">
                      <a:solidFill>
                        <a:srgbClr val="D9D9D9"/>
                      </a:solidFill>
                      <a:prstDash val="solid"/>
                      <a:round/>
                      <a:headEnd type="none" w="med" len="med"/>
                      <a:tailEnd type="none" w="med" len="med"/>
                    </a:lnR>
                    <a:lnT w="6350">
                      <a:solidFill>
                        <a:srgbClr val="C3E4FF"/>
                      </a:solidFill>
                      <a:prstDash val="solid"/>
                    </a:lnT>
                    <a:solidFill>
                      <a:schemeClr val="accent1">
                        <a:alpha val="50195"/>
                      </a:schemeClr>
                    </a:solidFill>
                  </a:tcPr>
                </a:tc>
                <a:tc>
                  <a:txBody>
                    <a:bodyPr/>
                    <a:lstStyle/>
                    <a:p>
                      <a:pPr marL="635" algn="ctr">
                        <a:lnSpc>
                          <a:spcPct val="100000"/>
                        </a:lnSpc>
                      </a:pPr>
                      <a:r>
                        <a:rPr lang="en-US" sz="900" dirty="0">
                          <a:solidFill>
                            <a:schemeClr val="tx1"/>
                          </a:solidFill>
                          <a:latin typeface="Segoe UI Semibold"/>
                          <a:cs typeface="Segoe UI Semibold"/>
                        </a:rPr>
                        <a:t>Duration</a:t>
                      </a:r>
                      <a:endParaRPr sz="900" dirty="0">
                        <a:solidFill>
                          <a:schemeClr val="tx1"/>
                        </a:solidFill>
                        <a:latin typeface="Segoe UI Semibold"/>
                        <a:cs typeface="Segoe UI Semibold"/>
                      </a:endParaRPr>
                    </a:p>
                  </a:txBody>
                  <a:tcPr marL="0" marR="0" marT="317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a:solidFill>
                        <a:srgbClr val="C3E4FF"/>
                      </a:solidFill>
                      <a:prstDash val="solid"/>
                    </a:lnT>
                    <a:solidFill>
                      <a:schemeClr val="accent1">
                        <a:alpha val="50195"/>
                      </a:schemeClr>
                    </a:solidFill>
                  </a:tcPr>
                </a:tc>
                <a:tc>
                  <a:txBody>
                    <a:bodyPr/>
                    <a:lstStyle/>
                    <a:p>
                      <a:pPr marL="635" algn="ctr">
                        <a:lnSpc>
                          <a:spcPct val="100000"/>
                        </a:lnSpc>
                      </a:pPr>
                      <a:r>
                        <a:rPr lang="en-US" sz="900" dirty="0">
                          <a:solidFill>
                            <a:schemeClr val="tx1"/>
                          </a:solidFill>
                          <a:latin typeface="Segoe UI Semibold"/>
                          <a:cs typeface="Segoe UI Semibold"/>
                        </a:rPr>
                        <a:t>Phase</a:t>
                      </a:r>
                      <a:endParaRPr sz="900" dirty="0">
                        <a:solidFill>
                          <a:schemeClr val="tx1"/>
                        </a:solidFill>
                        <a:latin typeface="Segoe UI Semibold"/>
                        <a:cs typeface="Segoe UI Semibold"/>
                      </a:endParaRPr>
                    </a:p>
                  </a:txBody>
                  <a:tcPr marL="0" marR="0" marT="317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a:solidFill>
                        <a:srgbClr val="C3E4FF"/>
                      </a:solidFill>
                      <a:prstDash val="solid"/>
                    </a:lnT>
                    <a:solidFill>
                      <a:schemeClr val="accent1">
                        <a:alpha val="50195"/>
                      </a:schemeClr>
                    </a:solidFill>
                  </a:tcPr>
                </a:tc>
                <a:extLst>
                  <a:ext uri="{0D108BD9-81ED-4DB2-BD59-A6C34878D82A}">
                    <a16:rowId xmlns:a16="http://schemas.microsoft.com/office/drawing/2014/main" val="10000"/>
                  </a:ext>
                </a:extLst>
              </a:tr>
              <a:tr h="191686">
                <a:tc>
                  <a:txBody>
                    <a:bodyPr/>
                    <a:lstStyle/>
                    <a:p>
                      <a:pPr marL="36195">
                        <a:lnSpc>
                          <a:spcPct val="100000"/>
                        </a:lnSpc>
                        <a:spcBef>
                          <a:spcPts val="355"/>
                        </a:spcBef>
                      </a:pPr>
                      <a:r>
                        <a:rPr sz="800" dirty="0">
                          <a:latin typeface="Segoe UI Semibold"/>
                          <a:cs typeface="Segoe UI Semibold"/>
                        </a:rPr>
                        <a:t>XXS</a:t>
                      </a:r>
                      <a:endParaRPr lang="en-US" sz="800" dirty="0">
                        <a:latin typeface="Segoe UI Semibold"/>
                        <a:cs typeface="Segoe UI Semibold"/>
                      </a:endParaRPr>
                    </a:p>
                    <a:p>
                      <a:pPr marL="36195">
                        <a:lnSpc>
                          <a:spcPct val="100000"/>
                        </a:lnSpc>
                        <a:spcBef>
                          <a:spcPts val="305"/>
                        </a:spcBef>
                      </a:pPr>
                      <a:r>
                        <a:rPr lang="en-US" sz="700" dirty="0">
                          <a:latin typeface="Segoe UI"/>
                          <a:cs typeface="Segoe UI"/>
                        </a:rPr>
                        <a:t>Project</a:t>
                      </a:r>
                      <a:r>
                        <a:rPr lang="en-US" sz="700" spc="-15" dirty="0">
                          <a:latin typeface="Segoe UI"/>
                          <a:cs typeface="Segoe UI"/>
                        </a:rPr>
                        <a:t> </a:t>
                      </a:r>
                      <a:r>
                        <a:rPr lang="en-US" sz="700" dirty="0">
                          <a:latin typeface="Segoe UI"/>
                          <a:cs typeface="Segoe UI"/>
                        </a:rPr>
                        <a:t>size:</a:t>
                      </a:r>
                      <a:r>
                        <a:rPr lang="en-US" sz="700" spc="-25" dirty="0">
                          <a:latin typeface="Segoe UI"/>
                          <a:cs typeface="Segoe UI"/>
                        </a:rPr>
                        <a:t> </a:t>
                      </a:r>
                      <a:r>
                        <a:rPr lang="en-US" sz="700" b="1" dirty="0">
                          <a:latin typeface="Segoe UI"/>
                          <a:cs typeface="Segoe UI"/>
                        </a:rPr>
                        <a:t>$5K</a:t>
                      </a:r>
                      <a:r>
                        <a:rPr lang="en-US" sz="700" b="1" spc="-35" dirty="0">
                          <a:latin typeface="Segoe UI"/>
                          <a:cs typeface="Segoe UI"/>
                        </a:rPr>
                        <a:t> </a:t>
                      </a:r>
                      <a:r>
                        <a:rPr lang="en-US" sz="700" b="1" dirty="0">
                          <a:latin typeface="Segoe UI"/>
                          <a:cs typeface="Segoe UI"/>
                        </a:rPr>
                        <a:t>–</a:t>
                      </a:r>
                      <a:r>
                        <a:rPr lang="en-US" sz="700" b="1" spc="-30" dirty="0">
                          <a:latin typeface="Segoe UI"/>
                          <a:cs typeface="Segoe UI"/>
                        </a:rPr>
                        <a:t> </a:t>
                      </a:r>
                      <a:r>
                        <a:rPr lang="en-US" sz="700" b="1" dirty="0">
                          <a:latin typeface="Segoe UI"/>
                          <a:cs typeface="Segoe UI"/>
                        </a:rPr>
                        <a:t>$15K/year</a:t>
                      </a:r>
                      <a:r>
                        <a:rPr lang="en-US" sz="700" b="1" spc="-15" dirty="0">
                          <a:latin typeface="Segoe UI"/>
                          <a:cs typeface="Segoe UI"/>
                        </a:rPr>
                        <a:t> </a:t>
                      </a:r>
                      <a:r>
                        <a:rPr lang="en-US" sz="700" dirty="0">
                          <a:latin typeface="Segoe UI"/>
                          <a:cs typeface="Segoe UI"/>
                        </a:rPr>
                        <a:t>planned</a:t>
                      </a:r>
                      <a:r>
                        <a:rPr lang="en-US" sz="700" spc="-25" dirty="0">
                          <a:latin typeface="Segoe UI"/>
                          <a:cs typeface="Segoe UI"/>
                        </a:rPr>
                        <a:t> </a:t>
                      </a:r>
                      <a:r>
                        <a:rPr lang="en-US" sz="700" dirty="0">
                          <a:latin typeface="Segoe UI"/>
                          <a:cs typeface="Segoe UI"/>
                        </a:rPr>
                        <a:t>Azure</a:t>
                      </a:r>
                      <a:r>
                        <a:rPr lang="en-US" sz="700" spc="-20" dirty="0">
                          <a:latin typeface="Segoe UI"/>
                          <a:cs typeface="Segoe UI"/>
                        </a:rPr>
                        <a:t> </a:t>
                      </a:r>
                      <a:r>
                        <a:rPr lang="en-US" sz="700" spc="-10" dirty="0">
                          <a:latin typeface="Segoe UI"/>
                          <a:cs typeface="Segoe UI"/>
                        </a:rPr>
                        <a:t>consumption</a:t>
                      </a:r>
                      <a:endParaRPr lang="en-US" sz="700" dirty="0">
                        <a:latin typeface="Segoe UI"/>
                        <a:cs typeface="Segoe UI"/>
                      </a:endParaRPr>
                    </a:p>
                  </a:txBody>
                  <a:tcPr marL="0" marR="0" marT="45085" marB="0">
                    <a:lnL w="6350">
                      <a:solidFill>
                        <a:srgbClr val="D9D9D9"/>
                      </a:solidFill>
                      <a:prstDash val="solid"/>
                    </a:lnL>
                    <a:lnR w="6350">
                      <a:solidFill>
                        <a:srgbClr val="D9D9D9"/>
                      </a:solidFill>
                      <a:prstDash val="solid"/>
                    </a:lnR>
                    <a:lnB w="12700">
                      <a:solidFill>
                        <a:srgbClr val="E6E6E6"/>
                      </a:solidFill>
                      <a:prstDash val="sysDot"/>
                    </a:lnB>
                  </a:tcPr>
                </a:tc>
                <a:tc>
                  <a:txBody>
                    <a:bodyPr/>
                    <a:lstStyle/>
                    <a:p>
                      <a:pPr algn="ctr">
                        <a:lnSpc>
                          <a:spcPct val="100000"/>
                        </a:lnSpc>
                        <a:spcBef>
                          <a:spcPts val="860"/>
                        </a:spcBef>
                      </a:pPr>
                      <a:r>
                        <a:rPr sz="900" dirty="0">
                          <a:latin typeface="Segoe UI Semibold"/>
                          <a:cs typeface="Segoe UI Semibold"/>
                        </a:rPr>
                        <a:t>$2,000</a:t>
                      </a:r>
                    </a:p>
                  </a:txBody>
                  <a:tcPr marL="0" marR="0" marT="109220" marB="0">
                    <a:lnL w="6350">
                      <a:solidFill>
                        <a:srgbClr val="D9D9D9"/>
                      </a:solidFill>
                      <a:prstDash val="solid"/>
                    </a:lnL>
                    <a:lnR w="6350" cap="flat" cmpd="sng" algn="ctr">
                      <a:solidFill>
                        <a:srgbClr val="D9D9D9"/>
                      </a:solidFill>
                      <a:prstDash val="solid"/>
                      <a:round/>
                      <a:headEnd type="none" w="med" len="med"/>
                      <a:tailEnd type="none" w="med" len="med"/>
                    </a:lnR>
                    <a:lnB w="12700">
                      <a:solidFill>
                        <a:srgbClr val="E6E6E6"/>
                      </a:solidFill>
                      <a:prstDash val="sysDot"/>
                    </a:lnB>
                  </a:tcPr>
                </a:tc>
                <a:tc>
                  <a:txBody>
                    <a:bodyPr/>
                    <a:lstStyle/>
                    <a:p>
                      <a:pPr marR="24765" algn="ctr">
                        <a:lnSpc>
                          <a:spcPct val="100000"/>
                        </a:lnSpc>
                        <a:spcBef>
                          <a:spcPts val="860"/>
                        </a:spcBef>
                      </a:pPr>
                      <a:r>
                        <a:rPr sz="900" dirty="0">
                          <a:latin typeface="Segoe UI Semibold"/>
                          <a:cs typeface="Segoe UI Semibold"/>
                        </a:rPr>
                        <a:t>120</a:t>
                      </a:r>
                      <a:r>
                        <a:rPr sz="900" spc="-25" dirty="0">
                          <a:latin typeface="Segoe UI Semibold"/>
                          <a:cs typeface="Segoe UI Semibold"/>
                        </a:rPr>
                        <a:t> </a:t>
                      </a:r>
                      <a:r>
                        <a:rPr sz="900" spc="-20" dirty="0">
                          <a:latin typeface="Segoe UI Semibold"/>
                          <a:cs typeface="Segoe UI Semibold"/>
                        </a:rPr>
                        <a:t>days</a:t>
                      </a:r>
                      <a:endParaRPr sz="900" dirty="0">
                        <a:latin typeface="Segoe UI Semibold"/>
                        <a:cs typeface="Segoe UI Semibold"/>
                      </a:endParaRPr>
                    </a:p>
                  </a:txBody>
                  <a:tcPr marL="0" marR="0" marT="109220"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B w="12700" cap="flat" cmpd="sng" algn="ctr">
                      <a:solidFill>
                        <a:srgbClr val="E6E6E6"/>
                      </a:solidFill>
                      <a:prstDash val="sysDot"/>
                      <a:round/>
                      <a:headEnd type="none" w="med" len="med"/>
                      <a:tailEnd type="none" w="med" len="med"/>
                    </a:lnB>
                  </a:tcPr>
                </a:tc>
                <a:tc>
                  <a:txBody>
                    <a:bodyPr/>
                    <a:lstStyle/>
                    <a:p>
                      <a:pPr>
                        <a:lnSpc>
                          <a:spcPct val="100000"/>
                        </a:lnSpc>
                        <a:spcBef>
                          <a:spcPts val="210"/>
                        </a:spcBef>
                      </a:pPr>
                      <a:endParaRPr sz="900" dirty="0">
                        <a:latin typeface="Times New Roman"/>
                        <a:cs typeface="Times New Roman"/>
                      </a:endParaRPr>
                    </a:p>
                    <a:p>
                      <a:pPr marL="3175" algn="ctr">
                        <a:lnSpc>
                          <a:spcPct val="100000"/>
                        </a:lnSpc>
                      </a:pPr>
                      <a:r>
                        <a:rPr sz="900" spc="-10" dirty="0">
                          <a:latin typeface="Segoe UI Semibold"/>
                          <a:cs typeface="Segoe UI Semibold"/>
                        </a:rPr>
                        <a:t>P</a:t>
                      </a:r>
                      <a:r>
                        <a:rPr lang="en-US" sz="900" spc="-10" dirty="0">
                          <a:latin typeface="Segoe UI Semibold"/>
                          <a:cs typeface="Segoe UI Semibold"/>
                        </a:rPr>
                        <a:t>ost</a:t>
                      </a:r>
                      <a:r>
                        <a:rPr sz="900" spc="-10" dirty="0">
                          <a:latin typeface="Segoe UI Semibold"/>
                          <a:cs typeface="Segoe UI Semibold"/>
                        </a:rPr>
                        <a:t>-sales</a:t>
                      </a:r>
                      <a:endParaRPr sz="900" dirty="0">
                        <a:latin typeface="Segoe UI Semibold"/>
                        <a:cs typeface="Segoe UI Semibold"/>
                      </a:endParaRPr>
                    </a:p>
                  </a:txBody>
                  <a:tcPr marL="0" marR="0" marT="26670" marB="0">
                    <a:lnL w="6350" cap="flat" cmpd="sng" algn="ctr">
                      <a:solidFill>
                        <a:srgbClr val="D9D9D9"/>
                      </a:solidFill>
                      <a:prstDash val="solid"/>
                      <a:round/>
                      <a:headEnd type="none" w="med" len="med"/>
                      <a:tailEnd type="none" w="med" len="med"/>
                    </a:lnL>
                    <a:lnR w="6350">
                      <a:solidFill>
                        <a:srgbClr val="D9D9D9"/>
                      </a:solidFill>
                      <a:prstDash val="solid"/>
                    </a:lnR>
                    <a:lnB w="12700" cap="flat" cmpd="sng" algn="ctr">
                      <a:solidFill>
                        <a:srgbClr val="E6E6E6"/>
                      </a:solidFill>
                      <a:prstDash val="sysDot"/>
                      <a:round/>
                      <a:headEnd type="none" w="med" len="med"/>
                      <a:tailEnd type="none" w="med" len="med"/>
                    </a:lnB>
                  </a:tcPr>
                </a:tc>
                <a:extLst>
                  <a:ext uri="{0D108BD9-81ED-4DB2-BD59-A6C34878D82A}">
                    <a16:rowId xmlns:a16="http://schemas.microsoft.com/office/drawing/2014/main" val="10001"/>
                  </a:ext>
                </a:extLst>
              </a:tr>
              <a:tr h="257273">
                <a:tc>
                  <a:txBody>
                    <a:bodyPr/>
                    <a:lstStyle/>
                    <a:p>
                      <a:pPr marL="36195">
                        <a:lnSpc>
                          <a:spcPct val="100000"/>
                        </a:lnSpc>
                        <a:spcBef>
                          <a:spcPts val="355"/>
                        </a:spcBef>
                      </a:pPr>
                      <a:r>
                        <a:rPr sz="800" dirty="0">
                          <a:latin typeface="Segoe UI Semibold"/>
                          <a:cs typeface="Segoe UI Semibold"/>
                        </a:rPr>
                        <a:t>XS</a:t>
                      </a:r>
                    </a:p>
                    <a:p>
                      <a:pPr marL="36195">
                        <a:lnSpc>
                          <a:spcPct val="100000"/>
                        </a:lnSpc>
                        <a:spcBef>
                          <a:spcPts val="305"/>
                        </a:spcBef>
                      </a:pPr>
                      <a:r>
                        <a:rPr sz="700" dirty="0">
                          <a:latin typeface="Segoe UI"/>
                          <a:cs typeface="Segoe UI"/>
                        </a:rPr>
                        <a:t>Project</a:t>
                      </a:r>
                      <a:r>
                        <a:rPr sz="700" spc="-15" dirty="0">
                          <a:latin typeface="Segoe UI"/>
                          <a:cs typeface="Segoe UI"/>
                        </a:rPr>
                        <a:t> </a:t>
                      </a:r>
                      <a:r>
                        <a:rPr sz="700" dirty="0">
                          <a:latin typeface="Segoe UI"/>
                          <a:cs typeface="Segoe UI"/>
                        </a:rPr>
                        <a:t>size:</a:t>
                      </a:r>
                      <a:r>
                        <a:rPr sz="700" spc="-25" dirty="0">
                          <a:latin typeface="Segoe UI"/>
                          <a:cs typeface="Segoe UI"/>
                        </a:rPr>
                        <a:t> </a:t>
                      </a:r>
                      <a:r>
                        <a:rPr sz="700" dirty="0">
                          <a:latin typeface="Segoe UI"/>
                          <a:cs typeface="Segoe UI"/>
                        </a:rPr>
                        <a:t>&gt;</a:t>
                      </a:r>
                      <a:r>
                        <a:rPr sz="700" b="1" dirty="0">
                          <a:latin typeface="Segoe UI"/>
                          <a:cs typeface="Segoe UI"/>
                        </a:rPr>
                        <a:t>$15K</a:t>
                      </a:r>
                      <a:r>
                        <a:rPr sz="700" b="1" spc="-35" dirty="0">
                          <a:latin typeface="Segoe UI"/>
                          <a:cs typeface="Segoe UI"/>
                        </a:rPr>
                        <a:t> </a:t>
                      </a:r>
                      <a:r>
                        <a:rPr sz="700" b="1" dirty="0">
                          <a:latin typeface="Segoe UI"/>
                          <a:cs typeface="Segoe UI"/>
                        </a:rPr>
                        <a:t>–</a:t>
                      </a:r>
                      <a:r>
                        <a:rPr sz="700" b="1" spc="-35" dirty="0">
                          <a:latin typeface="Segoe UI"/>
                          <a:cs typeface="Segoe UI"/>
                        </a:rPr>
                        <a:t> </a:t>
                      </a:r>
                      <a:r>
                        <a:rPr sz="700" b="1" dirty="0">
                          <a:latin typeface="Segoe UI"/>
                          <a:cs typeface="Segoe UI"/>
                        </a:rPr>
                        <a:t>$50K/year</a:t>
                      </a:r>
                      <a:r>
                        <a:rPr sz="700" b="1" spc="-15" dirty="0">
                          <a:latin typeface="Segoe UI"/>
                          <a:cs typeface="Segoe UI"/>
                        </a:rPr>
                        <a:t> </a:t>
                      </a:r>
                      <a:r>
                        <a:rPr sz="700" dirty="0">
                          <a:latin typeface="Segoe UI"/>
                          <a:cs typeface="Segoe UI"/>
                        </a:rPr>
                        <a:t>planned</a:t>
                      </a:r>
                      <a:r>
                        <a:rPr sz="700" spc="-25" dirty="0">
                          <a:latin typeface="Segoe UI"/>
                          <a:cs typeface="Segoe UI"/>
                        </a:rPr>
                        <a:t> </a:t>
                      </a:r>
                      <a:r>
                        <a:rPr sz="700" dirty="0">
                          <a:latin typeface="Segoe UI"/>
                          <a:cs typeface="Segoe UI"/>
                        </a:rPr>
                        <a:t>Azure</a:t>
                      </a:r>
                      <a:r>
                        <a:rPr sz="700" spc="-20" dirty="0">
                          <a:latin typeface="Segoe UI"/>
                          <a:cs typeface="Segoe UI"/>
                        </a:rPr>
                        <a:t> </a:t>
                      </a:r>
                      <a:r>
                        <a:rPr sz="700" spc="-10" dirty="0">
                          <a:latin typeface="Segoe UI"/>
                          <a:cs typeface="Segoe UI"/>
                        </a:rPr>
                        <a:t>consumption</a:t>
                      </a:r>
                      <a:endParaRPr sz="700" dirty="0">
                        <a:latin typeface="Segoe UI"/>
                        <a:cs typeface="Segoe UI"/>
                      </a:endParaRPr>
                    </a:p>
                  </a:txBody>
                  <a:tcPr marL="0" marR="0" marT="45085" marB="0">
                    <a:lnL w="6350">
                      <a:solidFill>
                        <a:srgbClr val="D9D9D9"/>
                      </a:solidFill>
                      <a:prstDash val="solid"/>
                    </a:lnL>
                    <a:lnR w="6350">
                      <a:solidFill>
                        <a:srgbClr val="D9D9D9"/>
                      </a:solidFill>
                      <a:prstDash val="solid"/>
                    </a:lnR>
                    <a:lnT w="12700">
                      <a:solidFill>
                        <a:srgbClr val="E6E6E6"/>
                      </a:solidFill>
                      <a:prstDash val="sysDot"/>
                    </a:lnT>
                    <a:lnB w="12700">
                      <a:solidFill>
                        <a:srgbClr val="E6E6E6"/>
                      </a:solidFill>
                      <a:prstDash val="sysDot"/>
                    </a:lnB>
                  </a:tcPr>
                </a:tc>
                <a:tc>
                  <a:txBody>
                    <a:bodyPr/>
                    <a:lstStyle/>
                    <a:p>
                      <a:pPr algn="ctr">
                        <a:lnSpc>
                          <a:spcPct val="100000"/>
                        </a:lnSpc>
                        <a:spcBef>
                          <a:spcPts val="865"/>
                        </a:spcBef>
                      </a:pPr>
                      <a:r>
                        <a:rPr sz="900" dirty="0">
                          <a:latin typeface="Segoe UI Semibold"/>
                          <a:cs typeface="Segoe UI Semibold"/>
                        </a:rPr>
                        <a:t>$6,500</a:t>
                      </a:r>
                    </a:p>
                  </a:txBody>
                  <a:tcPr marL="0" marR="0" marT="109855" marB="0">
                    <a:lnL w="6350">
                      <a:solidFill>
                        <a:srgbClr val="D9D9D9"/>
                      </a:solidFill>
                      <a:prstDash val="solid"/>
                    </a:lnL>
                    <a:lnR w="6350" cap="flat" cmpd="sng" algn="ctr">
                      <a:solidFill>
                        <a:srgbClr val="D9D9D9"/>
                      </a:solidFill>
                      <a:prstDash val="solid"/>
                      <a:round/>
                      <a:headEnd type="none" w="med" len="med"/>
                      <a:tailEnd type="none" w="med" len="med"/>
                    </a:lnR>
                    <a:lnT w="12700">
                      <a:solidFill>
                        <a:srgbClr val="E6E6E6"/>
                      </a:solidFill>
                      <a:prstDash val="sysDot"/>
                    </a:lnT>
                    <a:lnB w="12700">
                      <a:solidFill>
                        <a:srgbClr val="E6E6E6"/>
                      </a:solidFill>
                      <a:prstDash val="sysDot"/>
                    </a:lnB>
                  </a:tcPr>
                </a:tc>
                <a:tc>
                  <a:txBody>
                    <a:bodyPr/>
                    <a:lstStyle/>
                    <a:p>
                      <a:pPr marR="24765" algn="ctr">
                        <a:lnSpc>
                          <a:spcPct val="100000"/>
                        </a:lnSpc>
                        <a:spcBef>
                          <a:spcPts val="865"/>
                        </a:spcBef>
                      </a:pPr>
                      <a:r>
                        <a:rPr sz="900" dirty="0">
                          <a:latin typeface="Segoe UI Semibold"/>
                          <a:cs typeface="Segoe UI Semibold"/>
                        </a:rPr>
                        <a:t>120</a:t>
                      </a:r>
                      <a:r>
                        <a:rPr sz="900" spc="-25" dirty="0">
                          <a:latin typeface="Segoe UI Semibold"/>
                          <a:cs typeface="Segoe UI Semibold"/>
                        </a:rPr>
                        <a:t> </a:t>
                      </a:r>
                      <a:r>
                        <a:rPr sz="900" spc="-20" dirty="0">
                          <a:latin typeface="Segoe UI Semibold"/>
                          <a:cs typeface="Segoe UI Semibold"/>
                        </a:rPr>
                        <a:t>days</a:t>
                      </a:r>
                      <a:endParaRPr sz="900" dirty="0">
                        <a:latin typeface="Segoe UI Semibold"/>
                        <a:cs typeface="Segoe UI Semibold"/>
                      </a:endParaRPr>
                    </a:p>
                  </a:txBody>
                  <a:tcPr marL="0" marR="0" marT="10985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12700" cap="flat" cmpd="sng" algn="ctr">
                      <a:solidFill>
                        <a:srgbClr val="E6E6E6"/>
                      </a:solidFill>
                      <a:prstDash val="sysDot"/>
                      <a:round/>
                      <a:headEnd type="none" w="med" len="med"/>
                      <a:tailEnd type="none" w="med" len="med"/>
                    </a:lnT>
                    <a:lnB w="12700" cap="flat" cmpd="sng" algn="ctr">
                      <a:solidFill>
                        <a:srgbClr val="E6E6E6"/>
                      </a:solidFill>
                      <a:prstDash val="sysDot"/>
                      <a:round/>
                      <a:headEnd type="none" w="med" len="med"/>
                      <a:tailEnd type="none" w="med" len="med"/>
                    </a:lnB>
                  </a:tcPr>
                </a:tc>
                <a:tc>
                  <a:txBody>
                    <a:bodyPr/>
                    <a:lstStyle/>
                    <a:p>
                      <a:pPr marL="3175"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000000"/>
                          </a:solidFill>
                          <a:effectLst/>
                          <a:uLnTx/>
                          <a:uFillTx/>
                          <a:latin typeface="Segoe UI Semibold"/>
                          <a:ea typeface="+mn-ea"/>
                          <a:cs typeface="Segoe UI Semibold"/>
                        </a:rPr>
                        <a:t>Post-sales</a:t>
                      </a:r>
                      <a:endPar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a:endParaRPr>
                    </a:p>
                  </a:txBody>
                  <a:tcPr marL="0" marR="0" marT="109855" marB="0">
                    <a:lnL w="6350" cap="flat" cmpd="sng" algn="ctr">
                      <a:solidFill>
                        <a:srgbClr val="D9D9D9"/>
                      </a:solidFill>
                      <a:prstDash val="solid"/>
                      <a:round/>
                      <a:headEnd type="none" w="med" len="med"/>
                      <a:tailEnd type="none" w="med" len="med"/>
                    </a:lnL>
                    <a:lnR w="6350">
                      <a:solidFill>
                        <a:srgbClr val="D9D9D9"/>
                      </a:solidFill>
                      <a:prstDash val="solid"/>
                    </a:lnR>
                    <a:lnT w="12700" cap="flat" cmpd="sng" algn="ctr">
                      <a:solidFill>
                        <a:srgbClr val="E6E6E6"/>
                      </a:solidFill>
                      <a:prstDash val="sysDot"/>
                      <a:round/>
                      <a:headEnd type="none" w="med" len="med"/>
                      <a:tailEnd type="none" w="med" len="med"/>
                    </a:lnT>
                    <a:lnB w="12700" cap="flat" cmpd="sng" algn="ctr">
                      <a:solidFill>
                        <a:srgbClr val="E6E6E6"/>
                      </a:solidFill>
                      <a:prstDash val="sysDot"/>
                      <a:round/>
                      <a:headEnd type="none" w="med" len="med"/>
                      <a:tailEnd type="none" w="med" len="med"/>
                    </a:lnB>
                  </a:tcPr>
                </a:tc>
                <a:extLst>
                  <a:ext uri="{0D108BD9-81ED-4DB2-BD59-A6C34878D82A}">
                    <a16:rowId xmlns:a16="http://schemas.microsoft.com/office/drawing/2014/main" val="10002"/>
                  </a:ext>
                </a:extLst>
              </a:tr>
              <a:tr h="257663">
                <a:tc>
                  <a:txBody>
                    <a:bodyPr/>
                    <a:lstStyle/>
                    <a:p>
                      <a:pPr marL="36195">
                        <a:lnSpc>
                          <a:spcPct val="100000"/>
                        </a:lnSpc>
                        <a:spcBef>
                          <a:spcPts val="359"/>
                        </a:spcBef>
                      </a:pPr>
                      <a:r>
                        <a:rPr lang="en-US" sz="800" dirty="0">
                          <a:latin typeface="Segoe UI Semibold"/>
                          <a:cs typeface="Segoe UI Semibold"/>
                        </a:rPr>
                        <a:t>S</a:t>
                      </a:r>
                    </a:p>
                    <a:p>
                      <a:pPr marL="36195">
                        <a:lnSpc>
                          <a:spcPct val="100000"/>
                        </a:lnSpc>
                        <a:spcBef>
                          <a:spcPts val="359"/>
                        </a:spcBef>
                      </a:pPr>
                      <a:r>
                        <a:rPr sz="700" dirty="0">
                          <a:latin typeface="Segoe UI"/>
                          <a:cs typeface="Segoe UI"/>
                        </a:rPr>
                        <a:t>Project</a:t>
                      </a:r>
                      <a:r>
                        <a:rPr sz="700" spc="-15" dirty="0">
                          <a:latin typeface="Segoe UI"/>
                          <a:cs typeface="Segoe UI"/>
                        </a:rPr>
                        <a:t> </a:t>
                      </a:r>
                      <a:r>
                        <a:rPr sz="700" dirty="0">
                          <a:latin typeface="Segoe UI"/>
                          <a:cs typeface="Segoe UI"/>
                        </a:rPr>
                        <a:t>size:</a:t>
                      </a:r>
                      <a:r>
                        <a:rPr sz="700" spc="-30" dirty="0">
                          <a:latin typeface="Segoe UI"/>
                          <a:cs typeface="Segoe UI"/>
                        </a:rPr>
                        <a:t> </a:t>
                      </a:r>
                      <a:r>
                        <a:rPr sz="700" dirty="0">
                          <a:latin typeface="Segoe UI"/>
                          <a:cs typeface="Segoe UI"/>
                        </a:rPr>
                        <a:t>&gt;</a:t>
                      </a:r>
                      <a:r>
                        <a:rPr sz="700" b="1" dirty="0">
                          <a:latin typeface="Segoe UI"/>
                          <a:cs typeface="Segoe UI"/>
                        </a:rPr>
                        <a:t>$50K</a:t>
                      </a:r>
                      <a:r>
                        <a:rPr sz="700" b="1" spc="-35" dirty="0">
                          <a:latin typeface="Segoe UI"/>
                          <a:cs typeface="Segoe UI"/>
                        </a:rPr>
                        <a:t> </a:t>
                      </a:r>
                      <a:r>
                        <a:rPr sz="700" b="1" dirty="0">
                          <a:latin typeface="Segoe UI"/>
                          <a:cs typeface="Segoe UI"/>
                        </a:rPr>
                        <a:t>–</a:t>
                      </a:r>
                      <a:r>
                        <a:rPr sz="700" b="1" spc="-30" dirty="0">
                          <a:latin typeface="Segoe UI"/>
                          <a:cs typeface="Segoe UI"/>
                        </a:rPr>
                        <a:t> </a:t>
                      </a:r>
                      <a:r>
                        <a:rPr sz="700" b="1" dirty="0">
                          <a:latin typeface="Segoe UI"/>
                          <a:cs typeface="Segoe UI"/>
                        </a:rPr>
                        <a:t>$100K/year</a:t>
                      </a:r>
                      <a:r>
                        <a:rPr sz="700" b="1" spc="-20" dirty="0">
                          <a:latin typeface="Segoe UI"/>
                          <a:cs typeface="Segoe UI"/>
                        </a:rPr>
                        <a:t> </a:t>
                      </a:r>
                      <a:r>
                        <a:rPr sz="700" dirty="0">
                          <a:latin typeface="Segoe UI"/>
                          <a:cs typeface="Segoe UI"/>
                        </a:rPr>
                        <a:t>planned</a:t>
                      </a:r>
                      <a:r>
                        <a:rPr sz="700" spc="-20" dirty="0">
                          <a:latin typeface="Segoe UI"/>
                          <a:cs typeface="Segoe UI"/>
                        </a:rPr>
                        <a:t> </a:t>
                      </a:r>
                      <a:r>
                        <a:rPr sz="700" dirty="0">
                          <a:latin typeface="Segoe UI"/>
                          <a:cs typeface="Segoe UI"/>
                        </a:rPr>
                        <a:t>Azure</a:t>
                      </a:r>
                      <a:r>
                        <a:rPr sz="700" spc="-25" dirty="0">
                          <a:latin typeface="Segoe UI"/>
                          <a:cs typeface="Segoe UI"/>
                        </a:rPr>
                        <a:t> </a:t>
                      </a:r>
                      <a:r>
                        <a:rPr sz="700" spc="-10" dirty="0">
                          <a:latin typeface="Segoe UI"/>
                          <a:cs typeface="Segoe UI"/>
                        </a:rPr>
                        <a:t>consumption</a:t>
                      </a:r>
                      <a:endParaRPr sz="700" dirty="0">
                        <a:latin typeface="Segoe UI"/>
                        <a:cs typeface="Segoe UI"/>
                      </a:endParaRPr>
                    </a:p>
                  </a:txBody>
                  <a:tcPr marL="0" marR="0" marT="45719" marB="0">
                    <a:lnL w="6350">
                      <a:solidFill>
                        <a:srgbClr val="D9D9D9"/>
                      </a:solidFill>
                      <a:prstDash val="solid"/>
                    </a:lnL>
                    <a:lnR w="6350">
                      <a:solidFill>
                        <a:srgbClr val="D9D9D9"/>
                      </a:solidFill>
                      <a:prstDash val="solid"/>
                    </a:lnR>
                    <a:lnT w="12700">
                      <a:solidFill>
                        <a:srgbClr val="E6E6E6"/>
                      </a:solidFill>
                      <a:prstDash val="sysDot"/>
                    </a:lnT>
                    <a:lnB w="6350">
                      <a:solidFill>
                        <a:srgbClr val="D9D9D9"/>
                      </a:solidFill>
                      <a:prstDash val="sysDash"/>
                    </a:lnB>
                  </a:tcPr>
                </a:tc>
                <a:tc>
                  <a:txBody>
                    <a:bodyPr/>
                    <a:lstStyle/>
                    <a:p>
                      <a:pPr algn="ctr">
                        <a:lnSpc>
                          <a:spcPct val="100000"/>
                        </a:lnSpc>
                        <a:spcBef>
                          <a:spcPts val="860"/>
                        </a:spcBef>
                      </a:pPr>
                      <a:r>
                        <a:rPr sz="900" dirty="0">
                          <a:latin typeface="Segoe UI Semibold"/>
                          <a:cs typeface="Segoe UI Semibold"/>
                        </a:rPr>
                        <a:t>$15,000</a:t>
                      </a:r>
                    </a:p>
                  </a:txBody>
                  <a:tcPr marL="0" marR="0" marT="109220" marB="0">
                    <a:lnL w="6350">
                      <a:solidFill>
                        <a:srgbClr val="D9D9D9"/>
                      </a:solidFill>
                      <a:prstDash val="solid"/>
                    </a:lnL>
                    <a:lnR w="6350" cap="flat" cmpd="sng" algn="ctr">
                      <a:solidFill>
                        <a:srgbClr val="D9D9D9"/>
                      </a:solidFill>
                      <a:prstDash val="solid"/>
                      <a:round/>
                      <a:headEnd type="none" w="med" len="med"/>
                      <a:tailEnd type="none" w="med" len="med"/>
                    </a:lnR>
                    <a:lnT w="12700">
                      <a:solidFill>
                        <a:srgbClr val="E6E6E6"/>
                      </a:solidFill>
                      <a:prstDash val="sysDot"/>
                    </a:lnT>
                    <a:lnB w="6350">
                      <a:solidFill>
                        <a:srgbClr val="D9D9D9"/>
                      </a:solidFill>
                      <a:prstDash val="sysDash"/>
                    </a:lnB>
                  </a:tcPr>
                </a:tc>
                <a:tc>
                  <a:txBody>
                    <a:bodyPr/>
                    <a:lstStyle/>
                    <a:p>
                      <a:pPr marR="24765" algn="ctr">
                        <a:lnSpc>
                          <a:spcPct val="100000"/>
                        </a:lnSpc>
                        <a:spcBef>
                          <a:spcPts val="860"/>
                        </a:spcBef>
                      </a:pPr>
                      <a:r>
                        <a:rPr sz="900" dirty="0">
                          <a:latin typeface="Segoe UI Semibold"/>
                          <a:cs typeface="Segoe UI Semibold"/>
                        </a:rPr>
                        <a:t>120</a:t>
                      </a:r>
                      <a:r>
                        <a:rPr sz="900" spc="-25" dirty="0">
                          <a:latin typeface="Segoe UI Semibold"/>
                          <a:cs typeface="Segoe UI Semibold"/>
                        </a:rPr>
                        <a:t> </a:t>
                      </a:r>
                      <a:r>
                        <a:rPr sz="900" spc="-20" dirty="0">
                          <a:latin typeface="Segoe UI Semibold"/>
                          <a:cs typeface="Segoe UI Semibold"/>
                        </a:rPr>
                        <a:t>days</a:t>
                      </a:r>
                      <a:endParaRPr sz="900" dirty="0">
                        <a:latin typeface="Segoe UI Semibold"/>
                        <a:cs typeface="Segoe UI Semibold"/>
                      </a:endParaRPr>
                    </a:p>
                  </a:txBody>
                  <a:tcPr marL="0" marR="0" marT="109220"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12700" cap="flat" cmpd="sng" algn="ctr">
                      <a:solidFill>
                        <a:srgbClr val="E6E6E6"/>
                      </a:solidFill>
                      <a:prstDash val="sysDot"/>
                      <a:round/>
                      <a:headEnd type="none" w="med" len="med"/>
                      <a:tailEnd type="none" w="med" len="med"/>
                    </a:lnT>
                    <a:lnB w="6350" cap="flat" cmpd="sng" algn="ctr">
                      <a:solidFill>
                        <a:srgbClr val="D9D9D9"/>
                      </a:solidFill>
                      <a:prstDash val="sysDash"/>
                      <a:round/>
                      <a:headEnd type="none" w="med" len="med"/>
                      <a:tailEnd type="none" w="med" len="med"/>
                    </a:lnB>
                  </a:tcPr>
                </a:tc>
                <a:tc>
                  <a:txBody>
                    <a:bodyPr/>
                    <a:lstStyle/>
                    <a:p>
                      <a:pPr marL="3175"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000000"/>
                          </a:solidFill>
                          <a:effectLst/>
                          <a:uLnTx/>
                          <a:uFillTx/>
                          <a:latin typeface="Segoe UI Semibold"/>
                          <a:ea typeface="+mn-ea"/>
                          <a:cs typeface="Segoe UI Semibold"/>
                        </a:rPr>
                        <a:t>Post-sales</a:t>
                      </a:r>
                      <a:endPar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a:endParaRPr>
                    </a:p>
                  </a:txBody>
                  <a:tcPr marL="0" marR="0" marT="109220" marB="0">
                    <a:lnL w="6350" cap="flat" cmpd="sng" algn="ctr">
                      <a:solidFill>
                        <a:srgbClr val="D9D9D9"/>
                      </a:solidFill>
                      <a:prstDash val="solid"/>
                      <a:round/>
                      <a:headEnd type="none" w="med" len="med"/>
                      <a:tailEnd type="none" w="med" len="med"/>
                    </a:lnL>
                    <a:lnR w="6350">
                      <a:solidFill>
                        <a:srgbClr val="D9D9D9"/>
                      </a:solidFill>
                      <a:prstDash val="solid"/>
                    </a:lnR>
                    <a:lnT w="12700" cap="flat" cmpd="sng" algn="ctr">
                      <a:solidFill>
                        <a:srgbClr val="E6E6E6"/>
                      </a:solidFill>
                      <a:prstDash val="sysDot"/>
                      <a:round/>
                      <a:headEnd type="none" w="med" len="med"/>
                      <a:tailEnd type="none" w="med" len="med"/>
                    </a:lnT>
                    <a:lnB w="6350" cap="flat" cmpd="sng" algn="ctr">
                      <a:solidFill>
                        <a:srgbClr val="D9D9D9"/>
                      </a:solidFill>
                      <a:prstDash val="sysDash"/>
                      <a:round/>
                      <a:headEnd type="none" w="med" len="med"/>
                      <a:tailEnd type="none" w="med" len="med"/>
                    </a:lnB>
                  </a:tcPr>
                </a:tc>
                <a:extLst>
                  <a:ext uri="{0D108BD9-81ED-4DB2-BD59-A6C34878D82A}">
                    <a16:rowId xmlns:a16="http://schemas.microsoft.com/office/drawing/2014/main" val="10003"/>
                  </a:ext>
                </a:extLst>
              </a:tr>
              <a:tr h="257664">
                <a:tc>
                  <a:txBody>
                    <a:bodyPr/>
                    <a:lstStyle/>
                    <a:p>
                      <a:pPr marL="36195">
                        <a:lnSpc>
                          <a:spcPct val="100000"/>
                        </a:lnSpc>
                        <a:spcBef>
                          <a:spcPts val="360"/>
                        </a:spcBef>
                      </a:pPr>
                      <a:r>
                        <a:rPr lang="en-US" sz="800" dirty="0">
                          <a:latin typeface="Segoe UI Semibold"/>
                          <a:cs typeface="Segoe UI Semibold"/>
                        </a:rPr>
                        <a:t>M</a:t>
                      </a:r>
                      <a:endParaRPr sz="800" dirty="0">
                        <a:latin typeface="Segoe UI Semibold"/>
                        <a:cs typeface="Segoe UI Semibold"/>
                      </a:endParaRPr>
                    </a:p>
                    <a:p>
                      <a:pPr marL="36195">
                        <a:lnSpc>
                          <a:spcPct val="100000"/>
                        </a:lnSpc>
                        <a:spcBef>
                          <a:spcPts val="305"/>
                        </a:spcBef>
                      </a:pPr>
                      <a:r>
                        <a:rPr sz="700" dirty="0">
                          <a:latin typeface="Segoe UI"/>
                          <a:cs typeface="Segoe UI"/>
                        </a:rPr>
                        <a:t>Project</a:t>
                      </a:r>
                      <a:r>
                        <a:rPr sz="700" spc="-20" dirty="0">
                          <a:latin typeface="Segoe UI"/>
                          <a:cs typeface="Segoe UI"/>
                        </a:rPr>
                        <a:t> </a:t>
                      </a:r>
                      <a:r>
                        <a:rPr sz="700" dirty="0">
                          <a:latin typeface="Segoe UI"/>
                          <a:cs typeface="Segoe UI"/>
                        </a:rPr>
                        <a:t>size:</a:t>
                      </a:r>
                      <a:r>
                        <a:rPr sz="700" spc="-25" dirty="0">
                          <a:latin typeface="Segoe UI"/>
                          <a:cs typeface="Segoe UI"/>
                        </a:rPr>
                        <a:t> </a:t>
                      </a:r>
                      <a:r>
                        <a:rPr sz="700" dirty="0">
                          <a:latin typeface="Segoe UI"/>
                          <a:cs typeface="Segoe UI"/>
                        </a:rPr>
                        <a:t>&gt;</a:t>
                      </a:r>
                      <a:r>
                        <a:rPr sz="700" b="1" dirty="0">
                          <a:latin typeface="Segoe UI"/>
                          <a:cs typeface="Segoe UI"/>
                        </a:rPr>
                        <a:t>$100K</a:t>
                      </a:r>
                      <a:r>
                        <a:rPr sz="700" b="1" spc="-30" dirty="0">
                          <a:latin typeface="Segoe UI"/>
                          <a:cs typeface="Segoe UI"/>
                        </a:rPr>
                        <a:t> </a:t>
                      </a:r>
                      <a:r>
                        <a:rPr sz="700" b="1" dirty="0">
                          <a:latin typeface="Segoe UI"/>
                          <a:cs typeface="Segoe UI"/>
                        </a:rPr>
                        <a:t>–</a:t>
                      </a:r>
                      <a:r>
                        <a:rPr sz="700" b="1" spc="-30" dirty="0">
                          <a:latin typeface="Segoe UI"/>
                          <a:cs typeface="Segoe UI"/>
                        </a:rPr>
                        <a:t> </a:t>
                      </a:r>
                      <a:r>
                        <a:rPr sz="700" b="1" dirty="0">
                          <a:latin typeface="Segoe UI"/>
                          <a:cs typeface="Segoe UI"/>
                        </a:rPr>
                        <a:t>$250K/year</a:t>
                      </a:r>
                      <a:r>
                        <a:rPr sz="700" b="1" spc="-20" dirty="0">
                          <a:latin typeface="Segoe UI"/>
                          <a:cs typeface="Segoe UI"/>
                        </a:rPr>
                        <a:t> </a:t>
                      </a:r>
                      <a:r>
                        <a:rPr sz="700" dirty="0">
                          <a:latin typeface="Segoe UI"/>
                          <a:cs typeface="Segoe UI"/>
                        </a:rPr>
                        <a:t>planned</a:t>
                      </a:r>
                      <a:r>
                        <a:rPr sz="700" spc="-25" dirty="0">
                          <a:latin typeface="Segoe UI"/>
                          <a:cs typeface="Segoe UI"/>
                        </a:rPr>
                        <a:t> </a:t>
                      </a:r>
                      <a:r>
                        <a:rPr sz="700" dirty="0">
                          <a:latin typeface="Segoe UI"/>
                          <a:cs typeface="Segoe UI"/>
                        </a:rPr>
                        <a:t>Azure</a:t>
                      </a:r>
                      <a:r>
                        <a:rPr sz="700" spc="-35" dirty="0">
                          <a:latin typeface="Segoe UI"/>
                          <a:cs typeface="Segoe UI"/>
                        </a:rPr>
                        <a:t> </a:t>
                      </a:r>
                      <a:r>
                        <a:rPr sz="700" spc="-10" dirty="0">
                          <a:latin typeface="Segoe UI"/>
                          <a:cs typeface="Segoe UI"/>
                        </a:rPr>
                        <a:t>consumption</a:t>
                      </a:r>
                      <a:endParaRPr sz="700" dirty="0">
                        <a:latin typeface="Segoe UI"/>
                        <a:cs typeface="Segoe UI"/>
                      </a:endParaRPr>
                    </a:p>
                  </a:txBody>
                  <a:tcPr marL="0" marR="0" marB="0">
                    <a:lnL w="6350">
                      <a:solidFill>
                        <a:srgbClr val="D9D9D9"/>
                      </a:solidFill>
                      <a:prstDash val="solid"/>
                    </a:lnL>
                    <a:lnR w="6350">
                      <a:solidFill>
                        <a:srgbClr val="D9D9D9"/>
                      </a:solidFill>
                      <a:prstDash val="solid"/>
                    </a:lnR>
                    <a:lnT w="6350">
                      <a:solidFill>
                        <a:srgbClr val="D9D9D9"/>
                      </a:solidFill>
                      <a:prstDash val="sysDash"/>
                    </a:lnT>
                    <a:lnB w="6350">
                      <a:solidFill>
                        <a:srgbClr val="D9D9D9"/>
                      </a:solidFill>
                      <a:prstDash val="sysDash"/>
                    </a:lnB>
                  </a:tcPr>
                </a:tc>
                <a:tc>
                  <a:txBody>
                    <a:bodyPr/>
                    <a:lstStyle/>
                    <a:p>
                      <a:pPr algn="ctr">
                        <a:lnSpc>
                          <a:spcPct val="100000"/>
                        </a:lnSpc>
                        <a:spcBef>
                          <a:spcPts val="865"/>
                        </a:spcBef>
                      </a:pPr>
                      <a:r>
                        <a:rPr sz="900" dirty="0">
                          <a:latin typeface="Segoe UI Semibold"/>
                          <a:cs typeface="Segoe UI Semibold"/>
                        </a:rPr>
                        <a:t>$35,000</a:t>
                      </a:r>
                    </a:p>
                  </a:txBody>
                  <a:tcPr marL="0" marR="0" marT="109855" marB="0">
                    <a:lnL w="6350">
                      <a:solidFill>
                        <a:srgbClr val="D9D9D9"/>
                      </a:solidFill>
                      <a:prstDash val="solid"/>
                    </a:lnL>
                    <a:lnR w="6350" cap="flat" cmpd="sng" algn="ctr">
                      <a:solidFill>
                        <a:srgbClr val="D9D9D9"/>
                      </a:solidFill>
                      <a:prstDash val="solid"/>
                      <a:round/>
                      <a:headEnd type="none" w="med" len="med"/>
                      <a:tailEnd type="none" w="med" len="med"/>
                    </a:lnR>
                    <a:lnT w="6350">
                      <a:solidFill>
                        <a:srgbClr val="D9D9D9"/>
                      </a:solidFill>
                      <a:prstDash val="sysDash"/>
                    </a:lnT>
                    <a:lnB w="6350">
                      <a:solidFill>
                        <a:srgbClr val="D9D9D9"/>
                      </a:solidFill>
                      <a:prstDash val="sysDash"/>
                    </a:lnB>
                  </a:tcPr>
                </a:tc>
                <a:tc>
                  <a:txBody>
                    <a:bodyPr/>
                    <a:lstStyle/>
                    <a:p>
                      <a:pPr marL="635" algn="ctr">
                        <a:lnSpc>
                          <a:spcPct val="100000"/>
                        </a:lnSpc>
                        <a:spcBef>
                          <a:spcPts val="865"/>
                        </a:spcBef>
                      </a:pPr>
                      <a:r>
                        <a:rPr sz="900" dirty="0">
                          <a:latin typeface="Segoe UI Semibold"/>
                          <a:cs typeface="Segoe UI Semibold"/>
                        </a:rPr>
                        <a:t>200</a:t>
                      </a:r>
                      <a:r>
                        <a:rPr sz="900" spc="-20" dirty="0">
                          <a:latin typeface="Segoe UI Semibold"/>
                          <a:cs typeface="Segoe UI Semibold"/>
                        </a:rPr>
                        <a:t> days</a:t>
                      </a:r>
                      <a:endParaRPr sz="900" dirty="0">
                        <a:latin typeface="Segoe UI Semibold"/>
                        <a:cs typeface="Segoe UI Semibold"/>
                      </a:endParaRPr>
                    </a:p>
                  </a:txBody>
                  <a:tcPr marL="0" marR="0" marT="10985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ysDash"/>
                      <a:round/>
                      <a:headEnd type="none" w="med" len="med"/>
                      <a:tailEnd type="none" w="med" len="med"/>
                    </a:lnT>
                    <a:lnB w="6350" cap="flat" cmpd="sng" algn="ctr">
                      <a:solidFill>
                        <a:srgbClr val="D9D9D9"/>
                      </a:solidFill>
                      <a:prstDash val="sysDash"/>
                      <a:round/>
                      <a:headEnd type="none" w="med" len="med"/>
                      <a:tailEnd type="none" w="med" len="med"/>
                    </a:lnB>
                  </a:tcPr>
                </a:tc>
                <a:tc>
                  <a:txBody>
                    <a:bodyPr/>
                    <a:lstStyle/>
                    <a:p>
                      <a:pPr marL="3175"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000000"/>
                          </a:solidFill>
                          <a:effectLst/>
                          <a:uLnTx/>
                          <a:uFillTx/>
                          <a:latin typeface="Segoe UI Semibold"/>
                          <a:ea typeface="+mn-ea"/>
                          <a:cs typeface="Segoe UI Semibold"/>
                        </a:rPr>
                        <a:t>Post-sales</a:t>
                      </a:r>
                      <a:endPar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a:endParaRPr>
                    </a:p>
                  </a:txBody>
                  <a:tcPr marL="0" marR="0" marT="109855" marB="0">
                    <a:lnL w="6350" cap="flat" cmpd="sng" algn="ctr">
                      <a:solidFill>
                        <a:srgbClr val="D9D9D9"/>
                      </a:solidFill>
                      <a:prstDash val="solid"/>
                      <a:round/>
                      <a:headEnd type="none" w="med" len="med"/>
                      <a:tailEnd type="none" w="med" len="med"/>
                    </a:lnL>
                    <a:lnR w="6350">
                      <a:solidFill>
                        <a:srgbClr val="D9D9D9"/>
                      </a:solidFill>
                      <a:prstDash val="solid"/>
                    </a:lnR>
                    <a:lnT w="6350" cap="flat" cmpd="sng" algn="ctr">
                      <a:solidFill>
                        <a:srgbClr val="D9D9D9"/>
                      </a:solidFill>
                      <a:prstDash val="sysDash"/>
                      <a:round/>
                      <a:headEnd type="none" w="med" len="med"/>
                      <a:tailEnd type="none" w="med" len="med"/>
                    </a:lnT>
                    <a:lnB w="6350" cap="flat" cmpd="sng" algn="ctr">
                      <a:solidFill>
                        <a:srgbClr val="D9D9D9"/>
                      </a:solidFill>
                      <a:prstDash val="sysDash"/>
                      <a:round/>
                      <a:headEnd type="none" w="med" len="med"/>
                      <a:tailEnd type="none" w="med" len="med"/>
                    </a:lnB>
                  </a:tcPr>
                </a:tc>
                <a:extLst>
                  <a:ext uri="{0D108BD9-81ED-4DB2-BD59-A6C34878D82A}">
                    <a16:rowId xmlns:a16="http://schemas.microsoft.com/office/drawing/2014/main" val="10004"/>
                  </a:ext>
                </a:extLst>
              </a:tr>
              <a:tr h="257663">
                <a:tc>
                  <a:txBody>
                    <a:bodyPr/>
                    <a:lstStyle/>
                    <a:p>
                      <a:pPr marL="36195">
                        <a:lnSpc>
                          <a:spcPct val="100000"/>
                        </a:lnSpc>
                        <a:spcBef>
                          <a:spcPts val="359"/>
                        </a:spcBef>
                      </a:pPr>
                      <a:r>
                        <a:rPr lang="en-US" sz="800" dirty="0">
                          <a:latin typeface="Segoe UI Semibold"/>
                          <a:cs typeface="Segoe UI Semibold"/>
                        </a:rPr>
                        <a:t>L</a:t>
                      </a:r>
                    </a:p>
                    <a:p>
                      <a:pPr marL="36195">
                        <a:lnSpc>
                          <a:spcPct val="100000"/>
                        </a:lnSpc>
                        <a:spcBef>
                          <a:spcPts val="359"/>
                        </a:spcBef>
                      </a:pPr>
                      <a:r>
                        <a:rPr sz="700" dirty="0">
                          <a:latin typeface="Segoe UI"/>
                          <a:cs typeface="Segoe UI"/>
                        </a:rPr>
                        <a:t>Project</a:t>
                      </a:r>
                      <a:r>
                        <a:rPr sz="700" spc="-15" dirty="0">
                          <a:latin typeface="Segoe UI"/>
                          <a:cs typeface="Segoe UI"/>
                        </a:rPr>
                        <a:t> </a:t>
                      </a:r>
                      <a:r>
                        <a:rPr sz="700" dirty="0">
                          <a:latin typeface="Segoe UI"/>
                          <a:cs typeface="Segoe UI"/>
                        </a:rPr>
                        <a:t>size:</a:t>
                      </a:r>
                      <a:r>
                        <a:rPr sz="700" spc="-25" dirty="0">
                          <a:latin typeface="Segoe UI"/>
                          <a:cs typeface="Segoe UI"/>
                        </a:rPr>
                        <a:t> </a:t>
                      </a:r>
                      <a:r>
                        <a:rPr sz="700" dirty="0">
                          <a:latin typeface="Segoe UI"/>
                          <a:cs typeface="Segoe UI"/>
                        </a:rPr>
                        <a:t>&gt;</a:t>
                      </a:r>
                      <a:r>
                        <a:rPr sz="700" b="1" dirty="0">
                          <a:latin typeface="Segoe UI"/>
                          <a:cs typeface="Segoe UI"/>
                        </a:rPr>
                        <a:t>$250K</a:t>
                      </a:r>
                      <a:r>
                        <a:rPr sz="700" b="1" spc="-25" dirty="0">
                          <a:latin typeface="Segoe UI"/>
                          <a:cs typeface="Segoe UI"/>
                        </a:rPr>
                        <a:t> </a:t>
                      </a:r>
                      <a:r>
                        <a:rPr sz="700" b="1" dirty="0">
                          <a:latin typeface="Segoe UI"/>
                          <a:cs typeface="Segoe UI"/>
                        </a:rPr>
                        <a:t>–</a:t>
                      </a:r>
                      <a:r>
                        <a:rPr sz="700" b="1" spc="-30" dirty="0">
                          <a:latin typeface="Segoe UI"/>
                          <a:cs typeface="Segoe UI"/>
                        </a:rPr>
                        <a:t> </a:t>
                      </a:r>
                      <a:r>
                        <a:rPr sz="700" b="1" dirty="0">
                          <a:latin typeface="Segoe UI"/>
                          <a:cs typeface="Segoe UI"/>
                        </a:rPr>
                        <a:t>$500K+</a:t>
                      </a:r>
                      <a:r>
                        <a:rPr sz="700" b="1" spc="-15" dirty="0">
                          <a:latin typeface="Segoe UI"/>
                          <a:cs typeface="Segoe UI"/>
                        </a:rPr>
                        <a:t> </a:t>
                      </a:r>
                      <a:r>
                        <a:rPr sz="700" b="1" dirty="0">
                          <a:latin typeface="Segoe UI"/>
                          <a:cs typeface="Segoe UI"/>
                        </a:rPr>
                        <a:t>/year</a:t>
                      </a:r>
                      <a:r>
                        <a:rPr sz="700" b="1" spc="-30" dirty="0">
                          <a:latin typeface="Segoe UI"/>
                          <a:cs typeface="Segoe UI"/>
                        </a:rPr>
                        <a:t> </a:t>
                      </a:r>
                      <a:r>
                        <a:rPr sz="700" dirty="0">
                          <a:latin typeface="Segoe UI"/>
                          <a:cs typeface="Segoe UI"/>
                        </a:rPr>
                        <a:t>planned</a:t>
                      </a:r>
                      <a:r>
                        <a:rPr sz="700" spc="-20" dirty="0">
                          <a:latin typeface="Segoe UI"/>
                          <a:cs typeface="Segoe UI"/>
                        </a:rPr>
                        <a:t> </a:t>
                      </a:r>
                      <a:r>
                        <a:rPr sz="700" dirty="0">
                          <a:latin typeface="Segoe UI"/>
                          <a:cs typeface="Segoe UI"/>
                        </a:rPr>
                        <a:t>Azure</a:t>
                      </a:r>
                      <a:r>
                        <a:rPr sz="700" spc="-20" dirty="0">
                          <a:latin typeface="Segoe UI"/>
                          <a:cs typeface="Segoe UI"/>
                        </a:rPr>
                        <a:t> </a:t>
                      </a:r>
                      <a:r>
                        <a:rPr sz="700" spc="-10" dirty="0">
                          <a:latin typeface="Segoe UI"/>
                          <a:cs typeface="Segoe UI"/>
                        </a:rPr>
                        <a:t>consumption</a:t>
                      </a:r>
                      <a:endParaRPr sz="700" dirty="0">
                        <a:latin typeface="Segoe UI"/>
                        <a:cs typeface="Segoe UI"/>
                      </a:endParaRPr>
                    </a:p>
                  </a:txBody>
                  <a:tcPr marL="0" marR="0" marT="45719" marB="0">
                    <a:lnL w="6350">
                      <a:solidFill>
                        <a:srgbClr val="D9D9D9"/>
                      </a:solidFill>
                      <a:prstDash val="solid"/>
                    </a:lnL>
                    <a:lnR w="6350">
                      <a:solidFill>
                        <a:srgbClr val="D9D9D9"/>
                      </a:solidFill>
                      <a:prstDash val="solid"/>
                    </a:lnR>
                    <a:lnT w="6350">
                      <a:solidFill>
                        <a:srgbClr val="D9D9D9"/>
                      </a:solidFill>
                      <a:prstDash val="sysDash"/>
                    </a:lnT>
                    <a:lnB w="6350">
                      <a:solidFill>
                        <a:srgbClr val="D9D9D9"/>
                      </a:solidFill>
                      <a:prstDash val="sysDash"/>
                    </a:lnB>
                  </a:tcPr>
                </a:tc>
                <a:tc>
                  <a:txBody>
                    <a:bodyPr/>
                    <a:lstStyle/>
                    <a:p>
                      <a:pPr algn="ctr">
                        <a:lnSpc>
                          <a:spcPct val="100000"/>
                        </a:lnSpc>
                        <a:spcBef>
                          <a:spcPts val="865"/>
                        </a:spcBef>
                      </a:pPr>
                      <a:r>
                        <a:rPr sz="900" spc="-10" dirty="0">
                          <a:latin typeface="Segoe UI Semibold"/>
                          <a:cs typeface="Segoe UI Semibold"/>
                        </a:rPr>
                        <a:t>$75,000</a:t>
                      </a:r>
                      <a:endParaRPr sz="900" dirty="0">
                        <a:latin typeface="Segoe UI Semibold"/>
                        <a:cs typeface="Segoe UI Semibold"/>
                      </a:endParaRPr>
                    </a:p>
                  </a:txBody>
                  <a:tcPr marL="0" marR="0" marT="109855" marB="0">
                    <a:lnL w="6350">
                      <a:solidFill>
                        <a:srgbClr val="D9D9D9"/>
                      </a:solidFill>
                      <a:prstDash val="solid"/>
                    </a:lnL>
                    <a:lnR w="6350" cap="flat" cmpd="sng" algn="ctr">
                      <a:solidFill>
                        <a:srgbClr val="D9D9D9"/>
                      </a:solidFill>
                      <a:prstDash val="solid"/>
                      <a:round/>
                      <a:headEnd type="none" w="med" len="med"/>
                      <a:tailEnd type="none" w="med" len="med"/>
                    </a:lnR>
                    <a:lnT w="6350">
                      <a:solidFill>
                        <a:srgbClr val="D9D9D9"/>
                      </a:solidFill>
                      <a:prstDash val="sysDash"/>
                    </a:lnT>
                    <a:lnB w="6350">
                      <a:solidFill>
                        <a:srgbClr val="D9D9D9"/>
                      </a:solidFill>
                      <a:prstDash val="sysDash"/>
                    </a:lnB>
                  </a:tcPr>
                </a:tc>
                <a:tc>
                  <a:txBody>
                    <a:bodyPr/>
                    <a:lstStyle/>
                    <a:p>
                      <a:pPr marL="635" algn="ctr">
                        <a:lnSpc>
                          <a:spcPct val="100000"/>
                        </a:lnSpc>
                        <a:spcBef>
                          <a:spcPts val="865"/>
                        </a:spcBef>
                      </a:pPr>
                      <a:r>
                        <a:rPr sz="900" dirty="0">
                          <a:latin typeface="Segoe UI Semibold"/>
                          <a:cs typeface="Segoe UI Semibold"/>
                        </a:rPr>
                        <a:t>260</a:t>
                      </a:r>
                      <a:r>
                        <a:rPr sz="900" spc="-15" dirty="0">
                          <a:latin typeface="Segoe UI Semibold"/>
                          <a:cs typeface="Segoe UI Semibold"/>
                        </a:rPr>
                        <a:t> </a:t>
                      </a:r>
                      <a:r>
                        <a:rPr sz="900" spc="-20" dirty="0">
                          <a:latin typeface="Segoe UI Semibold"/>
                          <a:cs typeface="Segoe UI Semibold"/>
                        </a:rPr>
                        <a:t>days</a:t>
                      </a:r>
                      <a:endParaRPr sz="900" dirty="0">
                        <a:latin typeface="Segoe UI Semibold"/>
                        <a:cs typeface="Segoe UI Semibold"/>
                      </a:endParaRPr>
                    </a:p>
                  </a:txBody>
                  <a:tcPr marL="0" marR="0" marT="10985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ysDash"/>
                      <a:round/>
                      <a:headEnd type="none" w="med" len="med"/>
                      <a:tailEnd type="none" w="med" len="med"/>
                    </a:lnT>
                    <a:lnB w="6350">
                      <a:solidFill>
                        <a:srgbClr val="D9D9D9"/>
                      </a:solidFill>
                      <a:prstDash val="sysDash"/>
                    </a:lnB>
                  </a:tcPr>
                </a:tc>
                <a:tc>
                  <a:txBody>
                    <a:bodyPr/>
                    <a:lstStyle/>
                    <a:p>
                      <a:pPr marL="3175"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000000"/>
                          </a:solidFill>
                          <a:effectLst/>
                          <a:uLnTx/>
                          <a:uFillTx/>
                          <a:latin typeface="Segoe UI Semibold"/>
                          <a:ea typeface="+mn-ea"/>
                          <a:cs typeface="Segoe UI Semibold"/>
                        </a:rPr>
                        <a:t>Post-sales</a:t>
                      </a:r>
                      <a:endPar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a:endParaRPr>
                    </a:p>
                  </a:txBody>
                  <a:tcPr marL="0" marR="0" marT="109855" marB="0">
                    <a:lnL w="6350" cap="flat" cmpd="sng" algn="ctr">
                      <a:solidFill>
                        <a:srgbClr val="D9D9D9"/>
                      </a:solidFill>
                      <a:prstDash val="solid"/>
                      <a:round/>
                      <a:headEnd type="none" w="med" len="med"/>
                      <a:tailEnd type="none" w="med" len="med"/>
                    </a:lnL>
                    <a:lnR w="6350">
                      <a:solidFill>
                        <a:srgbClr val="D9D9D9"/>
                      </a:solidFill>
                      <a:prstDash val="solid"/>
                    </a:lnR>
                    <a:lnT w="6350" cap="flat" cmpd="sng" algn="ctr">
                      <a:solidFill>
                        <a:srgbClr val="D9D9D9"/>
                      </a:solidFill>
                      <a:prstDash val="sysDash"/>
                      <a:round/>
                      <a:headEnd type="none" w="med" len="med"/>
                      <a:tailEnd type="none" w="med" len="med"/>
                    </a:lnT>
                    <a:lnB w="6350">
                      <a:solidFill>
                        <a:srgbClr val="D9D9D9"/>
                      </a:solidFill>
                      <a:prstDash val="sysDash"/>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19169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3E1DD-99FF-80A3-3405-00CE4F167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2D3CD-64DD-00F5-CE4D-32BC506CD8D9}"/>
              </a:ext>
            </a:extLst>
          </p:cNvPr>
          <p:cNvSpPr>
            <a:spLocks noGrp="1"/>
          </p:cNvSpPr>
          <p:nvPr>
            <p:ph type="title"/>
          </p:nvPr>
        </p:nvSpPr>
        <p:spPr>
          <a:xfrm>
            <a:off x="334496" y="268589"/>
            <a:ext cx="11495554" cy="484043"/>
          </a:xfrm>
        </p:spPr>
        <p:txBody>
          <a:bodyPr/>
          <a:lstStyle/>
          <a:p>
            <a:r>
              <a:rPr lang="en-US" b="1" dirty="0"/>
              <a:t>Microsoft Azure Funding: AI Apps, Agents and Developer</a:t>
            </a:r>
          </a:p>
        </p:txBody>
      </p:sp>
      <p:sp>
        <p:nvSpPr>
          <p:cNvPr id="3" name="Slide Number Placeholder 2">
            <a:extLst>
              <a:ext uri="{FF2B5EF4-FFF2-40B4-BE49-F238E27FC236}">
                <a16:creationId xmlns:a16="http://schemas.microsoft.com/office/drawing/2014/main" id="{D254EF3E-76AC-77D4-80E6-7DDB2305A82E}"/>
              </a:ext>
            </a:extLst>
          </p:cNvPr>
          <p:cNvSpPr>
            <a:spLocks noGrp="1"/>
          </p:cNvSpPr>
          <p:nvPr>
            <p:ph type="sldNum" sz="quarter" idx="4"/>
          </p:nvPr>
        </p:nvSpPr>
        <p:spPr/>
        <p:txBody>
          <a:bodyPr/>
          <a:lstStyle/>
          <a:p>
            <a:fld id="{762E77F0-FB5B-4E8E-9BC9-34F14560A017}" type="slidenum">
              <a:rPr lang="en-US" smtClean="0"/>
              <a:pPr/>
              <a:t>15</a:t>
            </a:fld>
            <a:endParaRPr lang="en-US"/>
          </a:p>
        </p:txBody>
      </p:sp>
      <p:sp>
        <p:nvSpPr>
          <p:cNvPr id="5" name="object 38">
            <a:extLst>
              <a:ext uri="{FF2B5EF4-FFF2-40B4-BE49-F238E27FC236}">
                <a16:creationId xmlns:a16="http://schemas.microsoft.com/office/drawing/2014/main" id="{9F50D607-2FDB-A8EA-7C3F-951B3CEE82C4}"/>
              </a:ext>
            </a:extLst>
          </p:cNvPr>
          <p:cNvSpPr txBox="1"/>
          <p:nvPr/>
        </p:nvSpPr>
        <p:spPr>
          <a:xfrm>
            <a:off x="412341" y="1504623"/>
            <a:ext cx="11075035" cy="1556195"/>
          </a:xfrm>
          <a:prstGeom prst="rect">
            <a:avLst/>
          </a:prstGeom>
        </p:spPr>
        <p:txBody>
          <a:bodyPr vert="horz" wrap="square" lIns="0" tIns="24765" rIns="0" bIns="0" rtlCol="0">
            <a:spAutoFit/>
          </a:bodyPr>
          <a:lstStyle/>
          <a:p>
            <a:pPr marL="12700">
              <a:lnSpc>
                <a:spcPct val="100000"/>
              </a:lnSpc>
              <a:spcBef>
                <a:spcPts val="195"/>
              </a:spcBef>
            </a:pPr>
            <a:r>
              <a:rPr lang="en-US" sz="1050" u="sng" dirty="0">
                <a:solidFill>
                  <a:schemeClr val="tx2"/>
                </a:solidFill>
                <a:latin typeface="Segoe UI Semibold"/>
                <a:cs typeface="Segoe UI Semibold"/>
              </a:rPr>
              <a:t>PRE</a:t>
            </a:r>
            <a:r>
              <a:rPr lang="en-US" sz="1050" dirty="0">
                <a:solidFill>
                  <a:schemeClr val="tx2"/>
                </a:solidFill>
                <a:latin typeface="Segoe UI Semibold"/>
                <a:cs typeface="Segoe UI Semibold"/>
              </a:rPr>
              <a:t>-SALES </a:t>
            </a:r>
            <a:r>
              <a:rPr sz="1050" dirty="0">
                <a:solidFill>
                  <a:schemeClr val="tx2"/>
                </a:solidFill>
                <a:latin typeface="Segoe UI Semibold"/>
                <a:cs typeface="Segoe UI Semibold"/>
              </a:rPr>
              <a:t>ENGAGEMENT</a:t>
            </a:r>
            <a:r>
              <a:rPr sz="1050" spc="25" dirty="0">
                <a:solidFill>
                  <a:schemeClr val="tx2"/>
                </a:solidFill>
                <a:latin typeface="Segoe UI Semibold"/>
                <a:cs typeface="Segoe UI Semibold"/>
              </a:rPr>
              <a:t> </a:t>
            </a:r>
            <a:r>
              <a:rPr sz="1050" spc="-10" dirty="0">
                <a:solidFill>
                  <a:schemeClr val="tx2"/>
                </a:solidFill>
                <a:latin typeface="Segoe UI Semibold"/>
                <a:cs typeface="Segoe UI Semibold"/>
              </a:rPr>
              <a:t>SUMMARY</a:t>
            </a:r>
            <a:endParaRPr sz="1050" dirty="0">
              <a:solidFill>
                <a:schemeClr val="tx2"/>
              </a:solidFill>
              <a:latin typeface="Segoe UI Semibold"/>
              <a:cs typeface="Segoe UI Semibold"/>
            </a:endParaRPr>
          </a:p>
          <a:p>
            <a:pPr marL="12700" marR="5080">
              <a:lnSpc>
                <a:spcPct val="100000"/>
              </a:lnSpc>
              <a:spcBef>
                <a:spcPts val="95"/>
              </a:spcBef>
            </a:pPr>
            <a:r>
              <a:rPr lang="en-US" sz="1050" dirty="0">
                <a:latin typeface="Segoe UI"/>
                <a:cs typeface="Segoe UI"/>
              </a:rPr>
              <a:t>In</a:t>
            </a:r>
            <a:r>
              <a:rPr lang="en-US" sz="1050" spc="-40" dirty="0">
                <a:latin typeface="Segoe UI"/>
                <a:cs typeface="Segoe UI"/>
              </a:rPr>
              <a:t> </a:t>
            </a:r>
            <a:r>
              <a:rPr lang="en-US" sz="1050" dirty="0">
                <a:latin typeface="Segoe UI"/>
                <a:cs typeface="Segoe UI"/>
              </a:rPr>
              <a:t>this</a:t>
            </a:r>
            <a:r>
              <a:rPr lang="en-US" sz="1050" spc="-35" dirty="0">
                <a:latin typeface="Segoe UI"/>
                <a:cs typeface="Segoe UI"/>
              </a:rPr>
              <a:t> </a:t>
            </a:r>
            <a:r>
              <a:rPr lang="en-US" sz="1050" dirty="0">
                <a:latin typeface="Segoe UI"/>
                <a:cs typeface="Segoe UI"/>
              </a:rPr>
              <a:t>engagement,</a:t>
            </a:r>
            <a:r>
              <a:rPr lang="en-US" sz="1050" spc="-5" dirty="0">
                <a:latin typeface="Segoe UI"/>
                <a:cs typeface="Segoe UI"/>
              </a:rPr>
              <a:t> </a:t>
            </a:r>
            <a:r>
              <a:rPr lang="en-US" sz="1050" dirty="0">
                <a:latin typeface="Segoe UI"/>
                <a:cs typeface="Segoe UI"/>
              </a:rPr>
              <a:t>Rackspace</a:t>
            </a:r>
            <a:r>
              <a:rPr lang="en-US" sz="1050" spc="-15" dirty="0">
                <a:latin typeface="Segoe UI"/>
                <a:cs typeface="Segoe UI"/>
              </a:rPr>
              <a:t> </a:t>
            </a:r>
            <a:r>
              <a:rPr lang="en-US" sz="1050" dirty="0">
                <a:latin typeface="Segoe UI"/>
                <a:cs typeface="Segoe UI"/>
              </a:rPr>
              <a:t>will</a:t>
            </a:r>
            <a:r>
              <a:rPr lang="en-US" sz="1050" spc="-35" dirty="0">
                <a:latin typeface="Segoe UI"/>
                <a:cs typeface="Segoe UI"/>
              </a:rPr>
              <a:t> </a:t>
            </a:r>
            <a:r>
              <a:rPr lang="en-US" sz="1050" dirty="0">
                <a:latin typeface="Segoe UI"/>
                <a:cs typeface="Segoe UI"/>
              </a:rPr>
              <a:t>deliver</a:t>
            </a:r>
            <a:r>
              <a:rPr lang="en-US" sz="1050" spc="-20" dirty="0">
                <a:latin typeface="Segoe UI"/>
                <a:cs typeface="Segoe UI"/>
              </a:rPr>
              <a:t> </a:t>
            </a:r>
            <a:r>
              <a:rPr lang="en-US" sz="1050" dirty="0">
                <a:latin typeface="Segoe UI"/>
                <a:cs typeface="Segoe UI"/>
              </a:rPr>
              <a:t>an</a:t>
            </a:r>
            <a:r>
              <a:rPr lang="en-US" sz="1050" spc="-40" dirty="0">
                <a:latin typeface="Segoe UI"/>
                <a:cs typeface="Segoe UI"/>
              </a:rPr>
              <a:t> </a:t>
            </a:r>
            <a:r>
              <a:rPr lang="en-US" sz="1050" dirty="0">
                <a:latin typeface="Segoe UI"/>
                <a:cs typeface="Segoe UI"/>
              </a:rPr>
              <a:t>Assessment</a:t>
            </a:r>
            <a:r>
              <a:rPr lang="en-US" sz="1050" spc="10" dirty="0">
                <a:latin typeface="Segoe UI"/>
                <a:cs typeface="Segoe UI"/>
              </a:rPr>
              <a:t> </a:t>
            </a:r>
            <a:r>
              <a:rPr lang="en-US" sz="1050" dirty="0">
                <a:latin typeface="Segoe UI"/>
                <a:cs typeface="Segoe UI"/>
              </a:rPr>
              <a:t>and</a:t>
            </a:r>
            <a:r>
              <a:rPr lang="en-US" sz="1050" spc="-25" dirty="0">
                <a:latin typeface="Segoe UI"/>
                <a:cs typeface="Segoe UI"/>
              </a:rPr>
              <a:t> </a:t>
            </a:r>
            <a:r>
              <a:rPr lang="en-US" sz="1050" dirty="0">
                <a:latin typeface="Segoe UI"/>
                <a:cs typeface="Segoe UI"/>
              </a:rPr>
              <a:t>Proof</a:t>
            </a:r>
            <a:r>
              <a:rPr lang="en-US" sz="1050" spc="-25" dirty="0">
                <a:latin typeface="Segoe UI"/>
                <a:cs typeface="Segoe UI"/>
              </a:rPr>
              <a:t> </a:t>
            </a:r>
            <a:r>
              <a:rPr lang="en-US" sz="1050" dirty="0">
                <a:latin typeface="Segoe UI"/>
                <a:cs typeface="Segoe UI"/>
              </a:rPr>
              <a:t>of</a:t>
            </a:r>
            <a:r>
              <a:rPr lang="en-US" sz="1050" spc="-40" dirty="0">
                <a:latin typeface="Segoe UI"/>
                <a:cs typeface="Segoe UI"/>
              </a:rPr>
              <a:t> </a:t>
            </a:r>
            <a:r>
              <a:rPr lang="en-US" sz="1050" dirty="0">
                <a:latin typeface="Segoe UI"/>
                <a:cs typeface="Segoe UI"/>
              </a:rPr>
              <a:t>Value</a:t>
            </a:r>
            <a:r>
              <a:rPr lang="en-US" sz="1050" spc="-20" dirty="0">
                <a:latin typeface="Segoe UI"/>
                <a:cs typeface="Segoe UI"/>
              </a:rPr>
              <a:t> </a:t>
            </a:r>
            <a:r>
              <a:rPr lang="en-US" sz="1050" dirty="0">
                <a:latin typeface="Segoe UI"/>
                <a:cs typeface="Segoe UI"/>
              </a:rPr>
              <a:t>to</a:t>
            </a:r>
            <a:r>
              <a:rPr lang="en-US" sz="1050" spc="-35" dirty="0">
                <a:latin typeface="Segoe UI"/>
                <a:cs typeface="Segoe UI"/>
              </a:rPr>
              <a:t> </a:t>
            </a:r>
            <a:r>
              <a:rPr lang="en-US" sz="1050" dirty="0">
                <a:latin typeface="Segoe UI"/>
                <a:cs typeface="Segoe UI"/>
              </a:rPr>
              <a:t>build</a:t>
            </a:r>
            <a:r>
              <a:rPr lang="en-US" sz="1050" spc="-40" dirty="0">
                <a:latin typeface="Segoe UI"/>
                <a:cs typeface="Segoe UI"/>
              </a:rPr>
              <a:t> </a:t>
            </a:r>
            <a:r>
              <a:rPr lang="en-US" sz="1050" dirty="0">
                <a:latin typeface="Segoe UI"/>
                <a:cs typeface="Segoe UI"/>
              </a:rPr>
              <a:t>new</a:t>
            </a:r>
            <a:r>
              <a:rPr lang="en-US" sz="1050" spc="-25" dirty="0">
                <a:latin typeface="Segoe UI"/>
                <a:cs typeface="Segoe UI"/>
              </a:rPr>
              <a:t> </a:t>
            </a:r>
            <a:r>
              <a:rPr lang="en-US" sz="1050" dirty="0">
                <a:latin typeface="Segoe UI"/>
                <a:cs typeface="Segoe UI"/>
              </a:rPr>
              <a:t>AI-powered</a:t>
            </a:r>
            <a:r>
              <a:rPr lang="en-US" sz="1050" spc="-10" dirty="0">
                <a:latin typeface="Segoe UI"/>
                <a:cs typeface="Segoe UI"/>
              </a:rPr>
              <a:t> </a:t>
            </a:r>
            <a:r>
              <a:rPr lang="en-US" sz="1050" dirty="0">
                <a:latin typeface="Segoe UI"/>
                <a:cs typeface="Segoe UI"/>
              </a:rPr>
              <a:t>apps</a:t>
            </a:r>
            <a:r>
              <a:rPr lang="en-US" sz="1050" spc="-25" dirty="0">
                <a:latin typeface="Segoe UI"/>
                <a:cs typeface="Segoe UI"/>
              </a:rPr>
              <a:t> </a:t>
            </a:r>
            <a:r>
              <a:rPr lang="en-US" sz="1050" dirty="0">
                <a:latin typeface="Segoe UI"/>
                <a:cs typeface="Segoe UI"/>
              </a:rPr>
              <a:t>or</a:t>
            </a:r>
            <a:r>
              <a:rPr lang="en-US" sz="1050" spc="-30" dirty="0">
                <a:latin typeface="Segoe UI"/>
                <a:cs typeface="Segoe UI"/>
              </a:rPr>
              <a:t> </a:t>
            </a:r>
            <a:r>
              <a:rPr lang="en-US" sz="1050" dirty="0">
                <a:latin typeface="Segoe UI"/>
                <a:cs typeface="Segoe UI"/>
              </a:rPr>
              <a:t>modernize</a:t>
            </a:r>
            <a:r>
              <a:rPr lang="en-US" sz="1050" spc="-20" dirty="0">
                <a:latin typeface="Segoe UI"/>
                <a:cs typeface="Segoe UI"/>
              </a:rPr>
              <a:t> </a:t>
            </a:r>
            <a:r>
              <a:rPr lang="en-US" sz="1050" dirty="0">
                <a:latin typeface="Segoe UI"/>
                <a:cs typeface="Segoe UI"/>
              </a:rPr>
              <a:t>customer’s existing</a:t>
            </a:r>
            <a:r>
              <a:rPr lang="en-US" sz="1050" spc="-15" dirty="0">
                <a:latin typeface="Segoe UI"/>
                <a:cs typeface="Segoe UI"/>
              </a:rPr>
              <a:t> </a:t>
            </a:r>
            <a:r>
              <a:rPr lang="en-US" sz="1050" dirty="0">
                <a:latin typeface="Segoe UI"/>
                <a:cs typeface="Segoe UI"/>
              </a:rPr>
              <a:t>apps</a:t>
            </a:r>
            <a:r>
              <a:rPr lang="en-US" sz="1050" spc="-25" dirty="0">
                <a:latin typeface="Segoe UI"/>
                <a:cs typeface="Segoe UI"/>
              </a:rPr>
              <a:t> </a:t>
            </a:r>
            <a:r>
              <a:rPr lang="en-US" sz="1050" dirty="0">
                <a:latin typeface="Segoe UI"/>
                <a:cs typeface="Segoe UI"/>
              </a:rPr>
              <a:t>using</a:t>
            </a:r>
            <a:r>
              <a:rPr lang="en-US" sz="1050" spc="-40" dirty="0">
                <a:latin typeface="Segoe UI"/>
                <a:cs typeface="Segoe UI"/>
              </a:rPr>
              <a:t> </a:t>
            </a:r>
            <a:r>
              <a:rPr lang="en-US" sz="1050" dirty="0">
                <a:latin typeface="Segoe UI"/>
                <a:cs typeface="Segoe UI"/>
              </a:rPr>
              <a:t>Azure</a:t>
            </a:r>
            <a:r>
              <a:rPr lang="en-US" sz="1050" spc="-25" dirty="0">
                <a:latin typeface="Segoe UI"/>
                <a:cs typeface="Segoe UI"/>
              </a:rPr>
              <a:t> </a:t>
            </a:r>
            <a:r>
              <a:rPr lang="en-US" sz="1050" dirty="0">
                <a:latin typeface="Segoe UI"/>
                <a:cs typeface="Segoe UI"/>
              </a:rPr>
              <a:t>Application</a:t>
            </a:r>
            <a:r>
              <a:rPr lang="en-US" sz="1050" spc="-30" dirty="0">
                <a:latin typeface="Segoe UI"/>
                <a:cs typeface="Segoe UI"/>
              </a:rPr>
              <a:t> </a:t>
            </a:r>
            <a:r>
              <a:rPr lang="en-US" sz="1050" dirty="0">
                <a:latin typeface="Segoe UI"/>
                <a:cs typeface="Segoe UI"/>
              </a:rPr>
              <a:t>Platform,</a:t>
            </a:r>
            <a:r>
              <a:rPr lang="en-US" sz="1050" spc="-5" dirty="0">
                <a:latin typeface="Segoe UI"/>
                <a:cs typeface="Segoe UI"/>
              </a:rPr>
              <a:t> </a:t>
            </a:r>
            <a:r>
              <a:rPr lang="en-US" sz="1050" dirty="0">
                <a:latin typeface="Segoe UI"/>
                <a:cs typeface="Segoe UI"/>
              </a:rPr>
              <a:t>Managed</a:t>
            </a:r>
            <a:r>
              <a:rPr lang="en-US" sz="1050" spc="-20" dirty="0">
                <a:latin typeface="Segoe UI"/>
                <a:cs typeface="Segoe UI"/>
              </a:rPr>
              <a:t> </a:t>
            </a:r>
            <a:r>
              <a:rPr lang="en-US" sz="1050" spc="-10" dirty="0">
                <a:latin typeface="Segoe UI"/>
                <a:cs typeface="Segoe UI"/>
              </a:rPr>
              <a:t>Database </a:t>
            </a:r>
            <a:r>
              <a:rPr lang="en-US" sz="1050" dirty="0">
                <a:latin typeface="Segoe UI"/>
                <a:cs typeface="Segoe UI"/>
              </a:rPr>
              <a:t>and/or</a:t>
            </a:r>
            <a:r>
              <a:rPr lang="en-US" sz="1050" spc="-20" dirty="0">
                <a:latin typeface="Segoe UI"/>
                <a:cs typeface="Segoe UI"/>
              </a:rPr>
              <a:t> </a:t>
            </a:r>
            <a:r>
              <a:rPr lang="en-US" sz="1050" dirty="0">
                <a:latin typeface="Segoe UI"/>
                <a:cs typeface="Segoe UI"/>
              </a:rPr>
              <a:t>Azure</a:t>
            </a:r>
            <a:r>
              <a:rPr lang="en-US" sz="1050" spc="-35" dirty="0">
                <a:latin typeface="Segoe UI"/>
                <a:cs typeface="Segoe UI"/>
              </a:rPr>
              <a:t> </a:t>
            </a:r>
            <a:r>
              <a:rPr lang="en-US" sz="1050" dirty="0">
                <a:latin typeface="Segoe UI"/>
                <a:cs typeface="Segoe UI"/>
              </a:rPr>
              <a:t>AI</a:t>
            </a:r>
            <a:r>
              <a:rPr lang="en-US" sz="1050" spc="-25" dirty="0">
                <a:latin typeface="Segoe UI"/>
                <a:cs typeface="Segoe UI"/>
              </a:rPr>
              <a:t> </a:t>
            </a:r>
            <a:r>
              <a:rPr lang="en-US" sz="1050" dirty="0">
                <a:latin typeface="Segoe UI"/>
                <a:cs typeface="Segoe UI"/>
              </a:rPr>
              <a:t>services.</a:t>
            </a:r>
            <a:r>
              <a:rPr lang="en-US" sz="1050" spc="-10" dirty="0">
                <a:latin typeface="Segoe UI"/>
                <a:cs typeface="Segoe UI"/>
              </a:rPr>
              <a:t> </a:t>
            </a:r>
          </a:p>
          <a:p>
            <a:pPr marL="12700" marR="5080">
              <a:lnSpc>
                <a:spcPct val="100000"/>
              </a:lnSpc>
              <a:spcBef>
                <a:spcPts val="95"/>
              </a:spcBef>
            </a:pPr>
            <a:r>
              <a:rPr lang="en-US" sz="1050" dirty="0">
                <a:latin typeface="Segoe UI"/>
                <a:cs typeface="Segoe UI"/>
              </a:rPr>
              <a:t>Rackspace is required</a:t>
            </a:r>
            <a:r>
              <a:rPr lang="en-US" sz="1050" spc="-20" dirty="0">
                <a:latin typeface="Segoe UI"/>
                <a:cs typeface="Segoe UI"/>
              </a:rPr>
              <a:t> </a:t>
            </a:r>
            <a:r>
              <a:rPr lang="en-US" sz="1050" dirty="0">
                <a:latin typeface="Segoe UI"/>
                <a:cs typeface="Segoe UI"/>
              </a:rPr>
              <a:t>to</a:t>
            </a:r>
            <a:r>
              <a:rPr lang="en-US" sz="1050" spc="-30" dirty="0">
                <a:latin typeface="Segoe UI"/>
                <a:cs typeface="Segoe UI"/>
              </a:rPr>
              <a:t> </a:t>
            </a:r>
            <a:r>
              <a:rPr lang="en-US" sz="1050" dirty="0">
                <a:latin typeface="Segoe UI"/>
                <a:cs typeface="Segoe UI"/>
              </a:rPr>
              <a:t>perform</a:t>
            </a:r>
            <a:r>
              <a:rPr lang="en-US" sz="1050" spc="-10" dirty="0">
                <a:latin typeface="Segoe UI"/>
                <a:cs typeface="Segoe UI"/>
              </a:rPr>
              <a:t> </a:t>
            </a:r>
            <a:r>
              <a:rPr lang="en-US" sz="1050" dirty="0">
                <a:latin typeface="Segoe UI"/>
                <a:cs typeface="Segoe UI"/>
              </a:rPr>
              <a:t>specific</a:t>
            </a:r>
            <a:r>
              <a:rPr lang="en-US" sz="1050" spc="-20" dirty="0">
                <a:latin typeface="Segoe UI"/>
                <a:cs typeface="Segoe UI"/>
              </a:rPr>
              <a:t> </a:t>
            </a:r>
            <a:r>
              <a:rPr lang="en-US" sz="1050" dirty="0">
                <a:latin typeface="Segoe UI"/>
                <a:cs typeface="Segoe UI"/>
              </a:rPr>
              <a:t>milestones</a:t>
            </a:r>
            <a:r>
              <a:rPr lang="en-US" sz="1050" spc="-10" dirty="0">
                <a:latin typeface="Segoe UI"/>
                <a:cs typeface="Segoe UI"/>
              </a:rPr>
              <a:t> </a:t>
            </a:r>
            <a:r>
              <a:rPr lang="en-US" sz="1050" dirty="0">
                <a:latin typeface="Segoe UI"/>
                <a:cs typeface="Segoe UI"/>
              </a:rPr>
              <a:t>in</a:t>
            </a:r>
            <a:r>
              <a:rPr lang="en-US" sz="1050" spc="-35" dirty="0">
                <a:latin typeface="Segoe UI"/>
                <a:cs typeface="Segoe UI"/>
              </a:rPr>
              <a:t> </a:t>
            </a:r>
            <a:r>
              <a:rPr lang="en-US" sz="1050" dirty="0">
                <a:latin typeface="Segoe UI"/>
                <a:cs typeface="Segoe UI"/>
              </a:rPr>
              <a:t>the</a:t>
            </a:r>
            <a:r>
              <a:rPr lang="en-US" sz="1050" spc="-25" dirty="0">
                <a:latin typeface="Segoe UI"/>
                <a:cs typeface="Segoe UI"/>
              </a:rPr>
              <a:t> </a:t>
            </a:r>
            <a:r>
              <a:rPr lang="en-US" sz="1050" dirty="0">
                <a:latin typeface="Segoe UI"/>
                <a:cs typeface="Segoe UI"/>
              </a:rPr>
              <a:t>project</a:t>
            </a:r>
            <a:r>
              <a:rPr lang="en-US" sz="1050" spc="-20" dirty="0">
                <a:latin typeface="Segoe UI"/>
                <a:cs typeface="Segoe UI"/>
              </a:rPr>
              <a:t> </a:t>
            </a:r>
            <a:r>
              <a:rPr lang="en-US" sz="1050" dirty="0">
                <a:latin typeface="Segoe UI"/>
                <a:cs typeface="Segoe UI"/>
              </a:rPr>
              <a:t>through</a:t>
            </a:r>
            <a:r>
              <a:rPr lang="en-US" sz="1050" spc="-30" dirty="0">
                <a:latin typeface="Segoe UI"/>
                <a:cs typeface="Segoe UI"/>
              </a:rPr>
              <a:t> </a:t>
            </a:r>
            <a:r>
              <a:rPr lang="en-US" sz="1050" dirty="0">
                <a:latin typeface="Segoe UI"/>
                <a:cs typeface="Segoe UI"/>
              </a:rPr>
              <a:t>the</a:t>
            </a:r>
            <a:r>
              <a:rPr lang="en-US" sz="1050" spc="-35" dirty="0">
                <a:latin typeface="Segoe UI"/>
                <a:cs typeface="Segoe UI"/>
              </a:rPr>
              <a:t> </a:t>
            </a:r>
            <a:r>
              <a:rPr lang="en-US" sz="1050" dirty="0">
                <a:latin typeface="Segoe UI"/>
                <a:cs typeface="Segoe UI"/>
              </a:rPr>
              <a:t>following</a:t>
            </a:r>
            <a:r>
              <a:rPr lang="en-US" sz="1050" spc="-30" dirty="0">
                <a:latin typeface="Segoe UI"/>
                <a:cs typeface="Segoe UI"/>
              </a:rPr>
              <a:t> </a:t>
            </a:r>
            <a:r>
              <a:rPr lang="en-US" sz="1050" dirty="0">
                <a:latin typeface="Segoe UI"/>
                <a:cs typeface="Segoe UI"/>
              </a:rPr>
              <a:t>activities: </a:t>
            </a:r>
          </a:p>
          <a:p>
            <a:pPr marL="241300" marR="5080" indent="-228600">
              <a:lnSpc>
                <a:spcPct val="100000"/>
              </a:lnSpc>
              <a:spcBef>
                <a:spcPts val="95"/>
              </a:spcBef>
              <a:buAutoNum type="arabicPeriod"/>
            </a:pPr>
            <a:r>
              <a:rPr lang="en-US" sz="1050" dirty="0">
                <a:latin typeface="Segoe UI"/>
                <a:cs typeface="Segoe UI"/>
              </a:rPr>
              <a:t>Identify</a:t>
            </a:r>
            <a:r>
              <a:rPr lang="en-US" sz="1050" spc="-25" dirty="0">
                <a:latin typeface="Segoe UI"/>
                <a:cs typeface="Segoe UI"/>
              </a:rPr>
              <a:t> </a:t>
            </a:r>
            <a:r>
              <a:rPr lang="en-US" sz="1050" dirty="0">
                <a:latin typeface="Segoe UI"/>
                <a:cs typeface="Segoe UI"/>
              </a:rPr>
              <a:t>one</a:t>
            </a:r>
            <a:r>
              <a:rPr lang="en-US" sz="1050" spc="-25" dirty="0">
                <a:latin typeface="Segoe UI"/>
                <a:cs typeface="Segoe UI"/>
              </a:rPr>
              <a:t> </a:t>
            </a:r>
            <a:r>
              <a:rPr lang="en-US" sz="1050" dirty="0">
                <a:latin typeface="Segoe UI"/>
                <a:cs typeface="Segoe UI"/>
              </a:rPr>
              <a:t>or</a:t>
            </a:r>
            <a:r>
              <a:rPr lang="en-US" sz="1050" spc="-30" dirty="0">
                <a:latin typeface="Segoe UI"/>
                <a:cs typeface="Segoe UI"/>
              </a:rPr>
              <a:t> </a:t>
            </a:r>
            <a:r>
              <a:rPr lang="en-US" sz="1050" dirty="0">
                <a:latin typeface="Segoe UI"/>
                <a:cs typeface="Segoe UI"/>
              </a:rPr>
              <a:t>few</a:t>
            </a:r>
            <a:r>
              <a:rPr lang="en-US" sz="1050" spc="-20" dirty="0">
                <a:latin typeface="Segoe UI"/>
                <a:cs typeface="Segoe UI"/>
              </a:rPr>
              <a:t> </a:t>
            </a:r>
            <a:r>
              <a:rPr lang="en-US" sz="1050" dirty="0">
                <a:latin typeface="Segoe UI"/>
                <a:cs typeface="Segoe UI"/>
              </a:rPr>
              <a:t>customer applications</a:t>
            </a:r>
            <a:r>
              <a:rPr lang="en-US" sz="1050" spc="-25" dirty="0">
                <a:latin typeface="Segoe UI"/>
                <a:cs typeface="Segoe UI"/>
              </a:rPr>
              <a:t> </a:t>
            </a:r>
            <a:r>
              <a:rPr lang="en-US" sz="1050" dirty="0">
                <a:latin typeface="Segoe UI"/>
                <a:cs typeface="Segoe UI"/>
              </a:rPr>
              <a:t>and</a:t>
            </a:r>
            <a:r>
              <a:rPr lang="en-US" sz="1050" spc="-20" dirty="0">
                <a:latin typeface="Segoe UI"/>
                <a:cs typeface="Segoe UI"/>
              </a:rPr>
              <a:t> </a:t>
            </a:r>
            <a:r>
              <a:rPr lang="en-US" sz="1050" dirty="0">
                <a:latin typeface="Segoe UI"/>
                <a:cs typeface="Segoe UI"/>
              </a:rPr>
              <a:t>define</a:t>
            </a:r>
            <a:r>
              <a:rPr lang="en-US" sz="1050" spc="-30" dirty="0">
                <a:latin typeface="Segoe UI"/>
                <a:cs typeface="Segoe UI"/>
              </a:rPr>
              <a:t> </a:t>
            </a:r>
            <a:r>
              <a:rPr lang="en-US" sz="1050" dirty="0">
                <a:latin typeface="Segoe UI"/>
                <a:cs typeface="Segoe UI"/>
              </a:rPr>
              <a:t>business</a:t>
            </a:r>
            <a:r>
              <a:rPr lang="en-US" sz="1050" spc="-25" dirty="0">
                <a:latin typeface="Segoe UI"/>
                <a:cs typeface="Segoe UI"/>
              </a:rPr>
              <a:t> </a:t>
            </a:r>
            <a:r>
              <a:rPr lang="en-US" sz="1050" dirty="0">
                <a:latin typeface="Segoe UI"/>
                <a:cs typeface="Segoe UI"/>
              </a:rPr>
              <a:t>needs</a:t>
            </a:r>
            <a:r>
              <a:rPr lang="en-US" sz="1050" spc="-10" dirty="0">
                <a:latin typeface="Segoe UI"/>
                <a:cs typeface="Segoe UI"/>
              </a:rPr>
              <a:t> </a:t>
            </a:r>
            <a:r>
              <a:rPr lang="en-US" sz="1050" spc="-25" dirty="0">
                <a:latin typeface="Segoe UI"/>
                <a:cs typeface="Segoe UI"/>
              </a:rPr>
              <a:t>for </a:t>
            </a:r>
            <a:r>
              <a:rPr lang="en-US" sz="1050" dirty="0">
                <a:latin typeface="Segoe UI"/>
                <a:cs typeface="Segoe UI"/>
              </a:rPr>
              <a:t>innovation</a:t>
            </a:r>
            <a:r>
              <a:rPr lang="en-US" sz="1050" spc="-35" dirty="0">
                <a:latin typeface="Segoe UI"/>
                <a:cs typeface="Segoe UI"/>
              </a:rPr>
              <a:t> </a:t>
            </a:r>
            <a:r>
              <a:rPr lang="en-US" sz="1050" dirty="0">
                <a:latin typeface="Segoe UI"/>
                <a:cs typeface="Segoe UI"/>
              </a:rPr>
              <a:t>for</a:t>
            </a:r>
            <a:r>
              <a:rPr lang="en-US" sz="1050" spc="-15" dirty="0">
                <a:latin typeface="Segoe UI"/>
                <a:cs typeface="Segoe UI"/>
              </a:rPr>
              <a:t> </a:t>
            </a:r>
            <a:r>
              <a:rPr lang="en-US" sz="1050" dirty="0">
                <a:latin typeface="Segoe UI"/>
                <a:cs typeface="Segoe UI"/>
              </a:rPr>
              <a:t>that</a:t>
            </a:r>
            <a:r>
              <a:rPr lang="en-US" sz="1050" spc="-30" dirty="0">
                <a:latin typeface="Segoe UI"/>
                <a:cs typeface="Segoe UI"/>
              </a:rPr>
              <a:t> </a:t>
            </a:r>
            <a:r>
              <a:rPr lang="en-US" sz="1050" dirty="0">
                <a:latin typeface="Segoe UI"/>
                <a:cs typeface="Segoe UI"/>
              </a:rPr>
              <a:t>app</a:t>
            </a:r>
            <a:r>
              <a:rPr lang="en-US" sz="1050" spc="-15" dirty="0">
                <a:latin typeface="Segoe UI"/>
                <a:cs typeface="Segoe UI"/>
              </a:rPr>
              <a:t> </a:t>
            </a:r>
            <a:r>
              <a:rPr lang="en-US" sz="1050" dirty="0">
                <a:latin typeface="Segoe UI"/>
                <a:cs typeface="Segoe UI"/>
              </a:rPr>
              <a:t>using</a:t>
            </a:r>
            <a:r>
              <a:rPr lang="en-US" sz="1050" spc="-25" dirty="0">
                <a:latin typeface="Segoe UI"/>
                <a:cs typeface="Segoe UI"/>
              </a:rPr>
              <a:t> </a:t>
            </a:r>
            <a:r>
              <a:rPr lang="en-US" sz="1050" dirty="0">
                <a:latin typeface="Segoe UI"/>
                <a:cs typeface="Segoe UI"/>
              </a:rPr>
              <a:t>Azure</a:t>
            </a:r>
            <a:r>
              <a:rPr lang="en-US" sz="1050" spc="-30" dirty="0">
                <a:latin typeface="Segoe UI"/>
                <a:cs typeface="Segoe UI"/>
              </a:rPr>
              <a:t> </a:t>
            </a:r>
            <a:r>
              <a:rPr lang="en-US" sz="1050" dirty="0">
                <a:latin typeface="Segoe UI"/>
                <a:cs typeface="Segoe UI"/>
              </a:rPr>
              <a:t>app,</a:t>
            </a:r>
            <a:r>
              <a:rPr lang="en-US" sz="1050" spc="-25" dirty="0">
                <a:latin typeface="Segoe UI"/>
                <a:cs typeface="Segoe UI"/>
              </a:rPr>
              <a:t> </a:t>
            </a:r>
            <a:r>
              <a:rPr lang="en-US" sz="1050" dirty="0">
                <a:latin typeface="Segoe UI"/>
                <a:cs typeface="Segoe UI"/>
              </a:rPr>
              <a:t>data,</a:t>
            </a:r>
            <a:r>
              <a:rPr lang="en-US" sz="1050" spc="-15" dirty="0">
                <a:latin typeface="Segoe UI"/>
                <a:cs typeface="Segoe UI"/>
              </a:rPr>
              <a:t> </a:t>
            </a:r>
            <a:r>
              <a:rPr lang="en-US" sz="1050" dirty="0">
                <a:latin typeface="Segoe UI"/>
                <a:cs typeface="Segoe UI"/>
              </a:rPr>
              <a:t>agents</a:t>
            </a:r>
            <a:r>
              <a:rPr lang="en-US" sz="1050" spc="-10" dirty="0">
                <a:latin typeface="Segoe UI"/>
                <a:cs typeface="Segoe UI"/>
              </a:rPr>
              <a:t> </a:t>
            </a:r>
            <a:r>
              <a:rPr lang="en-US" sz="1050" dirty="0">
                <a:latin typeface="Segoe UI"/>
                <a:cs typeface="Segoe UI"/>
              </a:rPr>
              <a:t>and</a:t>
            </a:r>
            <a:r>
              <a:rPr lang="en-US" sz="1050" spc="-15" dirty="0">
                <a:latin typeface="Segoe UI"/>
                <a:cs typeface="Segoe UI"/>
              </a:rPr>
              <a:t> </a:t>
            </a:r>
            <a:r>
              <a:rPr lang="en-US" sz="1050" dirty="0">
                <a:latin typeface="Segoe UI"/>
                <a:cs typeface="Segoe UI"/>
              </a:rPr>
              <a:t>AI</a:t>
            </a:r>
            <a:r>
              <a:rPr lang="en-US" sz="1050" spc="-30" dirty="0">
                <a:latin typeface="Segoe UI"/>
                <a:cs typeface="Segoe UI"/>
              </a:rPr>
              <a:t> </a:t>
            </a:r>
            <a:r>
              <a:rPr lang="en-US" sz="1050" dirty="0">
                <a:latin typeface="Segoe UI"/>
                <a:cs typeface="Segoe UI"/>
              </a:rPr>
              <a:t>services</a:t>
            </a:r>
            <a:r>
              <a:rPr lang="en-US" sz="1050" spc="-10" dirty="0">
                <a:latin typeface="Segoe UI"/>
                <a:cs typeface="Segoe UI"/>
              </a:rPr>
              <a:t> </a:t>
            </a:r>
          </a:p>
          <a:p>
            <a:pPr marL="241300" marR="5080" indent="-228600">
              <a:lnSpc>
                <a:spcPct val="100000"/>
              </a:lnSpc>
              <a:spcBef>
                <a:spcPts val="95"/>
              </a:spcBef>
              <a:buAutoNum type="arabicPeriod"/>
            </a:pPr>
            <a:r>
              <a:rPr lang="en-US" sz="1050" dirty="0">
                <a:latin typeface="Segoe UI"/>
                <a:cs typeface="Segoe UI"/>
              </a:rPr>
              <a:t>Perform POV</a:t>
            </a:r>
            <a:r>
              <a:rPr lang="en-US" sz="1050" spc="-20" dirty="0">
                <a:latin typeface="Segoe UI"/>
                <a:cs typeface="Segoe UI"/>
              </a:rPr>
              <a:t> </a:t>
            </a:r>
            <a:r>
              <a:rPr lang="en-US" sz="1050" dirty="0">
                <a:latin typeface="Segoe UI"/>
                <a:cs typeface="Segoe UI"/>
              </a:rPr>
              <a:t>and</a:t>
            </a:r>
            <a:r>
              <a:rPr lang="en-US" sz="1050" spc="-15" dirty="0">
                <a:latin typeface="Segoe UI"/>
                <a:cs typeface="Segoe UI"/>
              </a:rPr>
              <a:t> </a:t>
            </a:r>
            <a:r>
              <a:rPr lang="en-US" sz="1050" dirty="0">
                <a:latin typeface="Segoe UI"/>
                <a:cs typeface="Segoe UI"/>
              </a:rPr>
              <a:t>assessment</a:t>
            </a:r>
            <a:r>
              <a:rPr lang="en-US" sz="1050" spc="20" dirty="0">
                <a:latin typeface="Segoe UI"/>
                <a:cs typeface="Segoe UI"/>
              </a:rPr>
              <a:t> </a:t>
            </a:r>
            <a:r>
              <a:rPr lang="en-US" sz="1050" dirty="0">
                <a:latin typeface="Segoe UI"/>
                <a:cs typeface="Segoe UI"/>
              </a:rPr>
              <a:t>deployment</a:t>
            </a:r>
            <a:r>
              <a:rPr lang="en-US" sz="1050" spc="-5" dirty="0">
                <a:latin typeface="Segoe UI"/>
                <a:cs typeface="Segoe UI"/>
              </a:rPr>
              <a:t> </a:t>
            </a:r>
            <a:r>
              <a:rPr lang="en-US" sz="1050" dirty="0">
                <a:latin typeface="Segoe UI"/>
                <a:cs typeface="Segoe UI"/>
              </a:rPr>
              <a:t>of</a:t>
            </a:r>
            <a:r>
              <a:rPr lang="en-US" sz="1050" spc="-25" dirty="0">
                <a:latin typeface="Segoe UI"/>
                <a:cs typeface="Segoe UI"/>
              </a:rPr>
              <a:t> </a:t>
            </a:r>
            <a:r>
              <a:rPr lang="en-US" sz="1050" dirty="0">
                <a:latin typeface="Segoe UI"/>
                <a:cs typeface="Segoe UI"/>
              </a:rPr>
              <a:t>application(s)</a:t>
            </a:r>
            <a:r>
              <a:rPr lang="en-US" sz="1050" spc="-5" dirty="0">
                <a:latin typeface="Segoe UI"/>
                <a:cs typeface="Segoe UI"/>
              </a:rPr>
              <a:t> </a:t>
            </a:r>
            <a:r>
              <a:rPr lang="en-US" sz="1050" dirty="0">
                <a:latin typeface="Segoe UI"/>
                <a:cs typeface="Segoe UI"/>
              </a:rPr>
              <a:t>on</a:t>
            </a:r>
            <a:r>
              <a:rPr lang="en-US" sz="1050" spc="-35" dirty="0">
                <a:latin typeface="Segoe UI"/>
                <a:cs typeface="Segoe UI"/>
              </a:rPr>
              <a:t> </a:t>
            </a:r>
            <a:r>
              <a:rPr lang="en-US" sz="1050" dirty="0">
                <a:latin typeface="Segoe UI"/>
                <a:cs typeface="Segoe UI"/>
              </a:rPr>
              <a:t>Azure.</a:t>
            </a:r>
            <a:r>
              <a:rPr lang="en-US" sz="1050" spc="-30" dirty="0">
                <a:latin typeface="Segoe UI"/>
                <a:cs typeface="Segoe UI"/>
              </a:rPr>
              <a:t> </a:t>
            </a:r>
          </a:p>
          <a:p>
            <a:pPr marL="241300" marR="5080" indent="-228600">
              <a:lnSpc>
                <a:spcPct val="100000"/>
              </a:lnSpc>
              <a:spcBef>
                <a:spcPts val="95"/>
              </a:spcBef>
              <a:buAutoNum type="arabicPeriod"/>
            </a:pPr>
            <a:r>
              <a:rPr lang="en-US" sz="1050" dirty="0">
                <a:latin typeface="Segoe UI"/>
                <a:cs typeface="Segoe UI"/>
              </a:rPr>
              <a:t>Based</a:t>
            </a:r>
            <a:r>
              <a:rPr lang="en-US" sz="1050" spc="-5" dirty="0">
                <a:latin typeface="Segoe UI"/>
                <a:cs typeface="Segoe UI"/>
              </a:rPr>
              <a:t> </a:t>
            </a:r>
            <a:r>
              <a:rPr lang="en-US" sz="1050" dirty="0">
                <a:latin typeface="Segoe UI"/>
                <a:cs typeface="Segoe UI"/>
              </a:rPr>
              <a:t>on</a:t>
            </a:r>
            <a:r>
              <a:rPr lang="en-US" sz="1050" spc="-35" dirty="0">
                <a:latin typeface="Segoe UI"/>
                <a:cs typeface="Segoe UI"/>
              </a:rPr>
              <a:t> </a:t>
            </a:r>
            <a:r>
              <a:rPr lang="en-US" sz="1050" dirty="0">
                <a:latin typeface="Segoe UI"/>
                <a:cs typeface="Segoe UI"/>
              </a:rPr>
              <a:t>the</a:t>
            </a:r>
            <a:r>
              <a:rPr lang="en-US" sz="1050" spc="-20" dirty="0">
                <a:latin typeface="Segoe UI"/>
                <a:cs typeface="Segoe UI"/>
              </a:rPr>
              <a:t> </a:t>
            </a:r>
            <a:r>
              <a:rPr lang="en-US" sz="1050" dirty="0">
                <a:latin typeface="Segoe UI"/>
                <a:cs typeface="Segoe UI"/>
              </a:rPr>
              <a:t>outcome</a:t>
            </a:r>
            <a:r>
              <a:rPr lang="en-US" sz="1050" spc="-15" dirty="0">
                <a:latin typeface="Segoe UI"/>
                <a:cs typeface="Segoe UI"/>
              </a:rPr>
              <a:t> </a:t>
            </a:r>
            <a:r>
              <a:rPr lang="en-US" sz="1050" dirty="0">
                <a:latin typeface="Segoe UI"/>
                <a:cs typeface="Segoe UI"/>
              </a:rPr>
              <a:t>of</a:t>
            </a:r>
            <a:r>
              <a:rPr lang="en-US" sz="1050" spc="-25" dirty="0">
                <a:latin typeface="Segoe UI"/>
                <a:cs typeface="Segoe UI"/>
              </a:rPr>
              <a:t> </a:t>
            </a:r>
            <a:r>
              <a:rPr lang="en-US" sz="1050" dirty="0">
                <a:latin typeface="Segoe UI"/>
                <a:cs typeface="Segoe UI"/>
              </a:rPr>
              <a:t>POV</a:t>
            </a:r>
            <a:r>
              <a:rPr lang="en-US" sz="1050" spc="-20" dirty="0">
                <a:latin typeface="Segoe UI"/>
                <a:cs typeface="Segoe UI"/>
              </a:rPr>
              <a:t> </a:t>
            </a:r>
            <a:r>
              <a:rPr lang="en-US" sz="1050" dirty="0">
                <a:latin typeface="Segoe UI"/>
                <a:cs typeface="Segoe UI"/>
              </a:rPr>
              <a:t>develop</a:t>
            </a:r>
            <a:r>
              <a:rPr lang="en-US" sz="1050" spc="-10" dirty="0">
                <a:latin typeface="Segoe UI"/>
                <a:cs typeface="Segoe UI"/>
              </a:rPr>
              <a:t> </a:t>
            </a:r>
            <a:r>
              <a:rPr lang="en-US" sz="1050" dirty="0">
                <a:latin typeface="Segoe UI"/>
                <a:cs typeface="Segoe UI"/>
              </a:rPr>
              <a:t>a</a:t>
            </a:r>
            <a:r>
              <a:rPr lang="en-US" sz="1050" spc="-20" dirty="0">
                <a:latin typeface="Segoe UI"/>
                <a:cs typeface="Segoe UI"/>
              </a:rPr>
              <a:t> </a:t>
            </a:r>
            <a:r>
              <a:rPr lang="en-US" sz="1050" spc="-10" dirty="0">
                <a:latin typeface="Segoe UI"/>
                <a:cs typeface="Segoe UI"/>
              </a:rPr>
              <a:t>comprehensive </a:t>
            </a:r>
            <a:r>
              <a:rPr lang="en-US" sz="1050" dirty="0">
                <a:latin typeface="Segoe UI"/>
                <a:cs typeface="Segoe UI"/>
              </a:rPr>
              <a:t>deployment plan</a:t>
            </a:r>
            <a:r>
              <a:rPr lang="en-US" sz="1050" spc="-35" dirty="0">
                <a:latin typeface="Segoe UI"/>
                <a:cs typeface="Segoe UI"/>
              </a:rPr>
              <a:t> </a:t>
            </a:r>
            <a:r>
              <a:rPr lang="en-US" sz="1050" dirty="0">
                <a:latin typeface="Segoe UI"/>
                <a:cs typeface="Segoe UI"/>
              </a:rPr>
              <a:t>and</a:t>
            </a:r>
            <a:r>
              <a:rPr lang="en-US" sz="1050" spc="-30" dirty="0">
                <a:latin typeface="Segoe UI"/>
                <a:cs typeface="Segoe UI"/>
              </a:rPr>
              <a:t> </a:t>
            </a:r>
            <a:r>
              <a:rPr lang="en-US" sz="1050" dirty="0">
                <a:latin typeface="Segoe UI"/>
                <a:cs typeface="Segoe UI"/>
              </a:rPr>
              <a:t>assessment.</a:t>
            </a:r>
            <a:r>
              <a:rPr lang="en-US" sz="1050" spc="25" dirty="0">
                <a:latin typeface="Segoe UI"/>
                <a:cs typeface="Segoe UI"/>
              </a:rPr>
              <a:t> </a:t>
            </a:r>
          </a:p>
          <a:p>
            <a:pPr marL="12700" marR="5080">
              <a:lnSpc>
                <a:spcPct val="100000"/>
              </a:lnSpc>
              <a:spcBef>
                <a:spcPts val="95"/>
              </a:spcBef>
            </a:pPr>
            <a:r>
              <a:rPr lang="en-US" sz="1050" dirty="0">
                <a:latin typeface="Segoe UI"/>
                <a:cs typeface="Segoe UI"/>
              </a:rPr>
              <a:t>Rackspace will</a:t>
            </a:r>
            <a:r>
              <a:rPr lang="en-US" sz="1050" spc="-40" dirty="0">
                <a:latin typeface="Segoe UI"/>
                <a:cs typeface="Segoe UI"/>
              </a:rPr>
              <a:t> </a:t>
            </a:r>
            <a:r>
              <a:rPr lang="en-US" sz="1050" dirty="0">
                <a:latin typeface="Segoe UI"/>
                <a:cs typeface="Segoe UI"/>
              </a:rPr>
              <a:t>use</a:t>
            </a:r>
            <a:r>
              <a:rPr lang="en-US" sz="1050" spc="-25" dirty="0">
                <a:latin typeface="Segoe UI"/>
                <a:cs typeface="Segoe UI"/>
              </a:rPr>
              <a:t> </a:t>
            </a:r>
            <a:r>
              <a:rPr lang="en-US" sz="1050" u="sng"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Azure</a:t>
            </a:r>
            <a:r>
              <a:rPr lang="en-US" sz="1050" u="sng" spc="-25"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 </a:t>
            </a:r>
            <a:r>
              <a:rPr lang="en-US" sz="1050" u="sng"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Migrat</a:t>
            </a:r>
            <a:r>
              <a:rPr lang="en-US" sz="1050" u="sng" dirty="0">
                <a:solidFill>
                  <a:srgbClr val="0000FF"/>
                </a:solidFill>
                <a:uFill>
                  <a:solidFill>
                    <a:srgbClr val="0078D3"/>
                  </a:solidFill>
                </a:uFill>
                <a:latin typeface="Segoe UI"/>
                <a:cs typeface="Segoe UI"/>
              </a:rPr>
              <a:t>e</a:t>
            </a:r>
            <a:r>
              <a:rPr lang="en-US" sz="1050" u="sng" spc="-30" dirty="0">
                <a:solidFill>
                  <a:srgbClr val="0078D3"/>
                </a:solidFill>
                <a:uFill>
                  <a:solidFill>
                    <a:srgbClr val="0078D3"/>
                  </a:solidFill>
                </a:uFill>
                <a:latin typeface="Segoe UI"/>
                <a:cs typeface="Segoe UI"/>
              </a:rPr>
              <a:t> </a:t>
            </a:r>
            <a:r>
              <a:rPr lang="en-US" sz="1050" dirty="0">
                <a:latin typeface="Segoe UI"/>
                <a:cs typeface="Segoe UI"/>
              </a:rPr>
              <a:t>or</a:t>
            </a:r>
            <a:r>
              <a:rPr lang="en-US" sz="1050" spc="-25" dirty="0">
                <a:latin typeface="Segoe UI"/>
                <a:cs typeface="Segoe UI"/>
              </a:rPr>
              <a:t> </a:t>
            </a:r>
            <a:r>
              <a:rPr lang="en-US" sz="1050" u="sng" dirty="0">
                <a:solidFill>
                  <a:srgbClr val="0000FF"/>
                </a:solidFill>
                <a:uFill>
                  <a:solidFill>
                    <a:srgbClr val="0078D3"/>
                  </a:solidFill>
                </a:uFill>
                <a:latin typeface="Segoe UI"/>
                <a:cs typeface="Segoe UI"/>
                <a:hlinkClick r:id="rId3">
                  <a:extLst>
                    <a:ext uri="{A12FA001-AC4F-418D-AE19-62706E023703}">
                      <ahyp:hlinkClr xmlns:ahyp="http://schemas.microsoft.com/office/drawing/2018/hyperlinkcolor" val="tx"/>
                    </a:ext>
                  </a:extLst>
                </a:hlinkClick>
              </a:rPr>
              <a:t>Dr.</a:t>
            </a:r>
            <a:r>
              <a:rPr lang="en-US" sz="1050" u="sng" spc="-35" dirty="0">
                <a:solidFill>
                  <a:srgbClr val="0000FF"/>
                </a:solidFill>
                <a:uFill>
                  <a:solidFill>
                    <a:srgbClr val="0078D3"/>
                  </a:solidFill>
                </a:uFill>
                <a:latin typeface="Segoe UI"/>
                <a:cs typeface="Segoe UI"/>
                <a:hlinkClick r:id="rId3">
                  <a:extLst>
                    <a:ext uri="{A12FA001-AC4F-418D-AE19-62706E023703}">
                      <ahyp:hlinkClr xmlns:ahyp="http://schemas.microsoft.com/office/drawing/2018/hyperlinkcolor" val="tx"/>
                    </a:ext>
                  </a:extLst>
                </a:hlinkClick>
              </a:rPr>
              <a:t> </a:t>
            </a:r>
            <a:r>
              <a:rPr lang="en-US" sz="1050" u="sng" dirty="0">
                <a:solidFill>
                  <a:srgbClr val="0000FF"/>
                </a:solidFill>
                <a:uFill>
                  <a:solidFill>
                    <a:srgbClr val="0078D3"/>
                  </a:solidFill>
                </a:uFill>
                <a:latin typeface="Segoe UI"/>
                <a:cs typeface="Segoe UI"/>
                <a:hlinkClick r:id="rId3">
                  <a:extLst>
                    <a:ext uri="{A12FA001-AC4F-418D-AE19-62706E023703}">
                      <ahyp:hlinkClr xmlns:ahyp="http://schemas.microsoft.com/office/drawing/2018/hyperlinkcolor" val="tx"/>
                    </a:ext>
                  </a:extLst>
                </a:hlinkClick>
              </a:rPr>
              <a:t>Migrate</a:t>
            </a:r>
            <a:r>
              <a:rPr lang="en-US" sz="1050" spc="-15" dirty="0">
                <a:solidFill>
                  <a:srgbClr val="0000FF"/>
                </a:solidFill>
                <a:latin typeface="Segoe UI"/>
                <a:cs typeface="Segoe UI"/>
              </a:rPr>
              <a:t> </a:t>
            </a:r>
            <a:r>
              <a:rPr lang="en-US" sz="1050" dirty="0">
                <a:latin typeface="Segoe UI"/>
                <a:cs typeface="Segoe UI"/>
              </a:rPr>
              <a:t>to</a:t>
            </a:r>
            <a:r>
              <a:rPr lang="en-US" sz="1050" spc="-30" dirty="0">
                <a:latin typeface="Segoe UI"/>
                <a:cs typeface="Segoe UI"/>
              </a:rPr>
              <a:t> </a:t>
            </a:r>
            <a:r>
              <a:rPr lang="en-US" sz="1050" dirty="0">
                <a:latin typeface="Segoe UI"/>
                <a:cs typeface="Segoe UI"/>
              </a:rPr>
              <a:t>create</a:t>
            </a:r>
            <a:r>
              <a:rPr lang="en-US" sz="1050" spc="-5" dirty="0">
                <a:latin typeface="Segoe UI"/>
                <a:cs typeface="Segoe UI"/>
              </a:rPr>
              <a:t> </a:t>
            </a:r>
            <a:r>
              <a:rPr lang="en-US" sz="1050" dirty="0">
                <a:latin typeface="Segoe UI"/>
                <a:cs typeface="Segoe UI"/>
              </a:rPr>
              <a:t>an</a:t>
            </a:r>
            <a:r>
              <a:rPr lang="en-US" sz="1050" spc="-35" dirty="0">
                <a:latin typeface="Segoe UI"/>
                <a:cs typeface="Segoe UI"/>
              </a:rPr>
              <a:t> </a:t>
            </a:r>
            <a:r>
              <a:rPr lang="en-US" sz="1050" dirty="0">
                <a:latin typeface="Segoe UI"/>
                <a:cs typeface="Segoe UI"/>
              </a:rPr>
              <a:t>assessment</a:t>
            </a:r>
            <a:r>
              <a:rPr lang="en-US" sz="1050" spc="20" dirty="0">
                <a:latin typeface="Segoe UI"/>
                <a:cs typeface="Segoe UI"/>
              </a:rPr>
              <a:t> </a:t>
            </a:r>
            <a:r>
              <a:rPr lang="en-US" sz="1050" dirty="0">
                <a:latin typeface="Segoe UI"/>
                <a:cs typeface="Segoe UI"/>
              </a:rPr>
              <a:t>report.</a:t>
            </a:r>
            <a:r>
              <a:rPr lang="en-US" sz="1050" spc="-10" dirty="0">
                <a:latin typeface="Segoe UI"/>
                <a:cs typeface="Segoe UI"/>
              </a:rPr>
              <a:t> </a:t>
            </a:r>
            <a:r>
              <a:rPr lang="en-US" sz="1050" dirty="0">
                <a:latin typeface="Segoe UI"/>
                <a:cs typeface="Segoe UI"/>
              </a:rPr>
              <a:t>Rackspace should</a:t>
            </a:r>
            <a:r>
              <a:rPr lang="en-US" sz="1050" spc="-40" dirty="0">
                <a:latin typeface="Segoe UI"/>
                <a:cs typeface="Segoe UI"/>
              </a:rPr>
              <a:t> </a:t>
            </a:r>
            <a:r>
              <a:rPr lang="en-US" sz="1050" dirty="0">
                <a:latin typeface="Segoe UI"/>
                <a:cs typeface="Segoe UI"/>
              </a:rPr>
              <a:t>use</a:t>
            </a:r>
            <a:r>
              <a:rPr lang="en-US" sz="1050" spc="-25" dirty="0">
                <a:latin typeface="Segoe UI"/>
                <a:cs typeface="Segoe UI"/>
              </a:rPr>
              <a:t> </a:t>
            </a:r>
            <a:r>
              <a:rPr lang="en-US" sz="1050" dirty="0">
                <a:latin typeface="Segoe UI"/>
                <a:cs typeface="Segoe UI"/>
              </a:rPr>
              <a:t>the</a:t>
            </a:r>
            <a:r>
              <a:rPr lang="en-US" sz="1050" spc="-25" dirty="0">
                <a:latin typeface="Segoe UI"/>
                <a:cs typeface="Segoe UI"/>
              </a:rPr>
              <a:t> </a:t>
            </a:r>
            <a:r>
              <a:rPr lang="en-US" sz="1050" dirty="0">
                <a:latin typeface="Segoe UI"/>
                <a:cs typeface="Segoe UI"/>
              </a:rPr>
              <a:t>following</a:t>
            </a:r>
            <a:r>
              <a:rPr lang="en-US" sz="1050" spc="-30" dirty="0">
                <a:latin typeface="Segoe UI"/>
                <a:cs typeface="Segoe UI"/>
              </a:rPr>
              <a:t> </a:t>
            </a:r>
            <a:r>
              <a:rPr lang="en-US" sz="1050" dirty="0">
                <a:latin typeface="Segoe UI"/>
                <a:cs typeface="Segoe UI"/>
              </a:rPr>
              <a:t>Microsoft</a:t>
            </a:r>
            <a:r>
              <a:rPr lang="en-US" sz="1050" spc="-30" dirty="0">
                <a:latin typeface="Segoe UI"/>
                <a:cs typeface="Segoe UI"/>
              </a:rPr>
              <a:t> </a:t>
            </a:r>
            <a:r>
              <a:rPr lang="en-US" sz="1050" dirty="0">
                <a:latin typeface="Segoe UI"/>
                <a:cs typeface="Segoe UI"/>
              </a:rPr>
              <a:t>guidance/tools</a:t>
            </a:r>
            <a:r>
              <a:rPr lang="en-US" sz="1050" spc="-15" dirty="0">
                <a:latin typeface="Segoe UI"/>
                <a:cs typeface="Segoe UI"/>
              </a:rPr>
              <a:t> </a:t>
            </a:r>
            <a:r>
              <a:rPr lang="en-US" sz="1050" dirty="0">
                <a:latin typeface="Segoe UI"/>
                <a:cs typeface="Segoe UI"/>
              </a:rPr>
              <a:t>in</a:t>
            </a:r>
            <a:r>
              <a:rPr lang="en-US" sz="1050" spc="-35" dirty="0">
                <a:latin typeface="Segoe UI"/>
                <a:cs typeface="Segoe UI"/>
              </a:rPr>
              <a:t> </a:t>
            </a:r>
            <a:r>
              <a:rPr lang="en-US" sz="1050" dirty="0">
                <a:latin typeface="Segoe UI"/>
                <a:cs typeface="Segoe UI"/>
              </a:rPr>
              <a:t>delivering</a:t>
            </a:r>
            <a:r>
              <a:rPr lang="en-US" sz="1050" spc="-30" dirty="0">
                <a:latin typeface="Segoe UI"/>
                <a:cs typeface="Segoe UI"/>
              </a:rPr>
              <a:t> </a:t>
            </a:r>
            <a:r>
              <a:rPr lang="en-US" sz="1050" dirty="0">
                <a:latin typeface="Segoe UI"/>
                <a:cs typeface="Segoe UI"/>
              </a:rPr>
              <a:t>the</a:t>
            </a:r>
            <a:r>
              <a:rPr lang="en-US" sz="1050" spc="-25" dirty="0">
                <a:latin typeface="Segoe UI"/>
                <a:cs typeface="Segoe UI"/>
              </a:rPr>
              <a:t> </a:t>
            </a:r>
            <a:r>
              <a:rPr lang="en-US" sz="1050" spc="-10" dirty="0">
                <a:latin typeface="Segoe UI"/>
                <a:cs typeface="Segoe UI"/>
              </a:rPr>
              <a:t>services: </a:t>
            </a:r>
            <a:r>
              <a:rPr lang="en-US" sz="1050" u="sng"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Cloud</a:t>
            </a:r>
            <a:r>
              <a:rPr lang="en-US" sz="1050" u="sng" spc="-35"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 </a:t>
            </a:r>
            <a:r>
              <a:rPr lang="en-US" sz="1050" u="sng"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Adoption</a:t>
            </a:r>
            <a:r>
              <a:rPr lang="en-US" sz="1050" u="sng" spc="-50"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 </a:t>
            </a:r>
            <a:r>
              <a:rPr lang="en-US" sz="1050" u="sng"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Framework</a:t>
            </a:r>
            <a:r>
              <a:rPr lang="en-US" sz="1050" u="sng" spc="-5"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 </a:t>
            </a:r>
            <a:r>
              <a:rPr lang="en-US" sz="1050" u="sng" dirty="0">
                <a:solidFill>
                  <a:srgbClr val="0000FF"/>
                </a:solidFill>
                <a:uFill>
                  <a:solidFill>
                    <a:srgbClr val="0078D3"/>
                  </a:solidFill>
                </a:uFill>
                <a:latin typeface="Segoe UI"/>
                <a:cs typeface="Segoe UI"/>
                <a:hlinkClick r:id="rId4">
                  <a:extLst>
                    <a:ext uri="{A12FA001-AC4F-418D-AE19-62706E023703}">
                      <ahyp:hlinkClr xmlns:ahyp="http://schemas.microsoft.com/office/drawing/2018/hyperlinkcolor" val="tx"/>
                    </a:ext>
                  </a:extLst>
                </a:hlinkClick>
              </a:rPr>
              <a:t>(CAF)</a:t>
            </a:r>
            <a:r>
              <a:rPr lang="en-US" sz="1050" u="sng" dirty="0">
                <a:uFill>
                  <a:solidFill>
                    <a:srgbClr val="000000"/>
                  </a:solidFill>
                </a:uFill>
                <a:latin typeface="Segoe UI"/>
                <a:cs typeface="Segoe UI"/>
              </a:rPr>
              <a:t>,</a:t>
            </a:r>
            <a:r>
              <a:rPr lang="en-US" sz="1050" spc="-40" dirty="0">
                <a:latin typeface="Segoe UI"/>
                <a:cs typeface="Segoe UI"/>
              </a:rPr>
              <a:t> </a:t>
            </a:r>
            <a:r>
              <a:rPr lang="en-US" sz="1050" u="sng" spc="-10"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Well-</a:t>
            </a:r>
            <a:r>
              <a:rPr lang="en-US" sz="1050" u="sng"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Architected</a:t>
            </a:r>
            <a:r>
              <a:rPr lang="en-US" sz="1050" u="sng" spc="-5"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 </a:t>
            </a:r>
            <a:r>
              <a:rPr lang="en-US" sz="1050" u="sng"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Framework</a:t>
            </a:r>
            <a:r>
              <a:rPr lang="en-US" sz="1050" u="sng" spc="-10"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 </a:t>
            </a:r>
            <a:r>
              <a:rPr lang="en-US" sz="1050" u="sng" dirty="0">
                <a:solidFill>
                  <a:srgbClr val="0000FF"/>
                </a:solidFill>
                <a:uFill>
                  <a:solidFill>
                    <a:srgbClr val="0078D3"/>
                  </a:solidFill>
                </a:uFill>
                <a:latin typeface="Segoe UI"/>
                <a:cs typeface="Segoe UI"/>
                <a:hlinkClick r:id="rId5">
                  <a:extLst>
                    <a:ext uri="{A12FA001-AC4F-418D-AE19-62706E023703}">
                      <ahyp:hlinkClr xmlns:ahyp="http://schemas.microsoft.com/office/drawing/2018/hyperlinkcolor" val="tx"/>
                    </a:ext>
                  </a:extLst>
                </a:hlinkClick>
              </a:rPr>
              <a:t>(WAF)</a:t>
            </a:r>
            <a:r>
              <a:rPr lang="en-US" sz="1050" spc="-30" dirty="0">
                <a:solidFill>
                  <a:srgbClr val="0078D3"/>
                </a:solidFill>
                <a:latin typeface="Segoe UI"/>
                <a:cs typeface="Segoe UI"/>
              </a:rPr>
              <a:t> </a:t>
            </a:r>
            <a:r>
              <a:rPr lang="en-US" sz="1050" dirty="0">
                <a:latin typeface="Segoe UI"/>
                <a:cs typeface="Segoe UI"/>
              </a:rPr>
              <a:t>and</a:t>
            </a:r>
            <a:r>
              <a:rPr lang="en-US" sz="1050" spc="-45" dirty="0">
                <a:latin typeface="Segoe UI"/>
                <a:cs typeface="Segoe UI"/>
              </a:rPr>
              <a:t> </a:t>
            </a:r>
            <a:r>
              <a:rPr lang="en-US" sz="1050" u="sng"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Azure</a:t>
            </a:r>
            <a:r>
              <a:rPr lang="en-US" sz="1050" u="sng" spc="-45"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 </a:t>
            </a:r>
            <a:r>
              <a:rPr lang="en-US" sz="1050" u="sng" spc="-10" dirty="0">
                <a:solidFill>
                  <a:srgbClr val="0000FF"/>
                </a:solidFill>
                <a:uFill>
                  <a:solidFill>
                    <a:srgbClr val="0078D3"/>
                  </a:solidFill>
                </a:uFill>
                <a:latin typeface="Segoe UI"/>
                <a:cs typeface="Segoe UI"/>
                <a:hlinkClick r:id="rId2">
                  <a:extLst>
                    <a:ext uri="{A12FA001-AC4F-418D-AE19-62706E023703}">
                      <ahyp:hlinkClr xmlns:ahyp="http://schemas.microsoft.com/office/drawing/2018/hyperlinkcolor" val="tx"/>
                    </a:ext>
                  </a:extLst>
                </a:hlinkClick>
              </a:rPr>
              <a:t>Migrate</a:t>
            </a:r>
            <a:r>
              <a:rPr lang="en-US" sz="1050" spc="-10" dirty="0">
                <a:latin typeface="Segoe UI"/>
                <a:cs typeface="Segoe UI"/>
              </a:rPr>
              <a:t>.</a:t>
            </a:r>
            <a:endParaRPr sz="1050" dirty="0">
              <a:latin typeface="Segoe UI"/>
              <a:cs typeface="Segoe UI"/>
            </a:endParaRPr>
          </a:p>
        </p:txBody>
      </p:sp>
      <p:graphicFrame>
        <p:nvGraphicFramePr>
          <p:cNvPr id="6" name="object 49">
            <a:extLst>
              <a:ext uri="{FF2B5EF4-FFF2-40B4-BE49-F238E27FC236}">
                <a16:creationId xmlns:a16="http://schemas.microsoft.com/office/drawing/2014/main" id="{1866872C-32B1-34FF-D08E-3F1830D51B3F}"/>
              </a:ext>
            </a:extLst>
          </p:cNvPr>
          <p:cNvGraphicFramePr>
            <a:graphicFrameLocks noGrp="1"/>
          </p:cNvGraphicFramePr>
          <p:nvPr>
            <p:extLst>
              <p:ext uri="{D42A27DB-BD31-4B8C-83A1-F6EECF244321}">
                <p14:modId xmlns:p14="http://schemas.microsoft.com/office/powerpoint/2010/main" val="464477949"/>
              </p:ext>
            </p:extLst>
          </p:nvPr>
        </p:nvGraphicFramePr>
        <p:xfrm>
          <a:off x="6550058" y="2964837"/>
          <a:ext cx="3355133" cy="579755"/>
        </p:xfrm>
        <a:graphic>
          <a:graphicData uri="http://schemas.openxmlformats.org/drawingml/2006/table">
            <a:tbl>
              <a:tblPr firstRow="1" bandRow="1">
                <a:tableStyleId>{2D5ABB26-0587-4C30-8999-92F81FD0307C}</a:tableStyleId>
              </a:tblPr>
              <a:tblGrid>
                <a:gridCol w="1284862">
                  <a:extLst>
                    <a:ext uri="{9D8B030D-6E8A-4147-A177-3AD203B41FA5}">
                      <a16:colId xmlns:a16="http://schemas.microsoft.com/office/drawing/2014/main" val="20001"/>
                    </a:ext>
                  </a:extLst>
                </a:gridCol>
                <a:gridCol w="726085">
                  <a:extLst>
                    <a:ext uri="{9D8B030D-6E8A-4147-A177-3AD203B41FA5}">
                      <a16:colId xmlns:a16="http://schemas.microsoft.com/office/drawing/2014/main" val="20002"/>
                    </a:ext>
                  </a:extLst>
                </a:gridCol>
                <a:gridCol w="741218">
                  <a:extLst>
                    <a:ext uri="{9D8B030D-6E8A-4147-A177-3AD203B41FA5}">
                      <a16:colId xmlns:a16="http://schemas.microsoft.com/office/drawing/2014/main" val="592214520"/>
                    </a:ext>
                  </a:extLst>
                </a:gridCol>
                <a:gridCol w="602968">
                  <a:extLst>
                    <a:ext uri="{9D8B030D-6E8A-4147-A177-3AD203B41FA5}">
                      <a16:colId xmlns:a16="http://schemas.microsoft.com/office/drawing/2014/main" val="1255408474"/>
                    </a:ext>
                  </a:extLst>
                </a:gridCol>
              </a:tblGrid>
              <a:tr h="111743">
                <a:tc>
                  <a:txBody>
                    <a:bodyPr/>
                    <a:lstStyle/>
                    <a:p>
                      <a:pPr marL="83820" marR="78105" indent="210185">
                        <a:lnSpc>
                          <a:spcPct val="100000"/>
                        </a:lnSpc>
                      </a:pPr>
                      <a:r>
                        <a:rPr lang="en-US" sz="900" b="1" dirty="0">
                          <a:solidFill>
                            <a:schemeClr val="tx1"/>
                          </a:solidFill>
                          <a:latin typeface="Segoe UI Semibold"/>
                          <a:cs typeface="Segoe UI Semibold"/>
                        </a:rPr>
                        <a:t>Project Size</a:t>
                      </a:r>
                    </a:p>
                  </a:txBody>
                  <a:tcPr marL="0" marR="0" marT="13970" marB="0">
                    <a:lnL w="6350">
                      <a:solidFill>
                        <a:srgbClr val="D9D9D9"/>
                      </a:solidFill>
                      <a:prstDash val="solid"/>
                    </a:lnL>
                    <a:lnR w="6350">
                      <a:solidFill>
                        <a:srgbClr val="D9D9D9"/>
                      </a:solidFill>
                      <a:prstDash val="solid"/>
                    </a:lnR>
                    <a:lnT w="6350">
                      <a:solidFill>
                        <a:srgbClr val="C3E4FF"/>
                      </a:solidFill>
                      <a:prstDash val="solid"/>
                    </a:lnT>
                    <a:solidFill>
                      <a:schemeClr val="bg1">
                        <a:lumMod val="75000"/>
                        <a:alpha val="50195"/>
                      </a:schemeClr>
                    </a:solidFill>
                  </a:tcPr>
                </a:tc>
                <a:tc>
                  <a:txBody>
                    <a:bodyPr/>
                    <a:lstStyle/>
                    <a:p>
                      <a:pPr marL="330835" marR="127635" indent="-193675">
                        <a:lnSpc>
                          <a:spcPct val="100000"/>
                        </a:lnSpc>
                      </a:pPr>
                      <a:r>
                        <a:rPr sz="900" b="1" spc="-10" dirty="0">
                          <a:solidFill>
                            <a:schemeClr val="tx1"/>
                          </a:solidFill>
                          <a:latin typeface="Segoe UI Semibold"/>
                          <a:cs typeface="Segoe UI Semibold"/>
                        </a:rPr>
                        <a:t>Payment</a:t>
                      </a:r>
                      <a:endParaRPr sz="900" b="1" dirty="0">
                        <a:solidFill>
                          <a:schemeClr val="tx1"/>
                        </a:solidFill>
                        <a:latin typeface="Segoe UI Semibold"/>
                        <a:cs typeface="Segoe UI Semibold"/>
                      </a:endParaRPr>
                    </a:p>
                  </a:txBody>
                  <a:tcPr marL="0" marR="0" marT="13970" marB="0">
                    <a:lnL w="6350">
                      <a:solidFill>
                        <a:srgbClr val="D9D9D9"/>
                      </a:solidFill>
                      <a:prstDash val="solid"/>
                    </a:lnL>
                    <a:lnR w="6350">
                      <a:solidFill>
                        <a:srgbClr val="D9D9D9"/>
                      </a:solidFill>
                      <a:prstDash val="solid"/>
                    </a:lnR>
                    <a:lnT w="6350">
                      <a:solidFill>
                        <a:srgbClr val="C3E4FF"/>
                      </a:solidFill>
                      <a:prstDash val="solid"/>
                    </a:lnT>
                    <a:solidFill>
                      <a:schemeClr val="bg1">
                        <a:lumMod val="75000"/>
                        <a:alpha val="50195"/>
                      </a:schemeClr>
                    </a:solidFill>
                  </a:tcPr>
                </a:tc>
                <a:tc>
                  <a:txBody>
                    <a:bodyPr/>
                    <a:lstStyle/>
                    <a:p>
                      <a:pPr marL="330835" marR="127635" indent="-193675">
                        <a:lnSpc>
                          <a:spcPct val="100000"/>
                        </a:lnSpc>
                      </a:pPr>
                      <a:r>
                        <a:rPr lang="en-US" sz="900" b="1" dirty="0">
                          <a:solidFill>
                            <a:schemeClr val="tx1"/>
                          </a:solidFill>
                          <a:latin typeface="Segoe UI Semibold"/>
                          <a:cs typeface="Segoe UI Semibold"/>
                        </a:rPr>
                        <a:t>Duration</a:t>
                      </a:r>
                      <a:endParaRPr sz="900" b="1" dirty="0">
                        <a:solidFill>
                          <a:schemeClr val="tx1"/>
                        </a:solidFill>
                        <a:latin typeface="Segoe UI Semibold"/>
                        <a:cs typeface="Segoe UI Semibold"/>
                      </a:endParaRPr>
                    </a:p>
                  </a:txBody>
                  <a:tcPr marL="0" marR="0" marT="13970" marB="0">
                    <a:lnL w="6350" cap="flat" cmpd="sng" algn="ctr">
                      <a:solidFill>
                        <a:srgbClr val="D9D9D9"/>
                      </a:solidFill>
                      <a:prstDash val="solid"/>
                      <a:round/>
                      <a:headEnd type="none" w="med" len="med"/>
                      <a:tailEnd type="none" w="med" len="med"/>
                    </a:lnL>
                    <a:lnR w="6350">
                      <a:solidFill>
                        <a:srgbClr val="D9D9D9"/>
                      </a:solidFill>
                      <a:prstDash val="solid"/>
                    </a:lnR>
                    <a:lnT w="6350">
                      <a:solidFill>
                        <a:srgbClr val="C3E4FF"/>
                      </a:solidFill>
                      <a:prstDash val="solid"/>
                    </a:lnT>
                    <a:solidFill>
                      <a:schemeClr val="bg1">
                        <a:lumMod val="75000"/>
                        <a:alpha val="50195"/>
                      </a:schemeClr>
                    </a:solidFill>
                  </a:tcPr>
                </a:tc>
                <a:tc>
                  <a:txBody>
                    <a:bodyPr/>
                    <a:lstStyle/>
                    <a:p>
                      <a:pPr marL="330835" marR="127635" indent="-193675">
                        <a:lnSpc>
                          <a:spcPct val="100000"/>
                        </a:lnSpc>
                      </a:pPr>
                      <a:r>
                        <a:rPr lang="en-US" sz="900" b="1" dirty="0">
                          <a:solidFill>
                            <a:schemeClr val="tx1"/>
                          </a:solidFill>
                          <a:latin typeface="Segoe UI Semibold"/>
                          <a:cs typeface="Segoe UI Semibold"/>
                        </a:rPr>
                        <a:t>Phase</a:t>
                      </a:r>
                      <a:endParaRPr sz="900" b="1" dirty="0">
                        <a:solidFill>
                          <a:schemeClr val="tx1"/>
                        </a:solidFill>
                        <a:latin typeface="Segoe UI Semibold"/>
                        <a:cs typeface="Segoe UI Semibold"/>
                      </a:endParaRPr>
                    </a:p>
                  </a:txBody>
                  <a:tcPr marL="0" marR="0" marT="13970" marB="0">
                    <a:lnL w="6350" cap="flat" cmpd="sng" algn="ctr">
                      <a:solidFill>
                        <a:srgbClr val="D9D9D9"/>
                      </a:solidFill>
                      <a:prstDash val="solid"/>
                      <a:round/>
                      <a:headEnd type="none" w="med" len="med"/>
                      <a:tailEnd type="none" w="med" len="med"/>
                    </a:lnL>
                    <a:lnR w="6350">
                      <a:solidFill>
                        <a:srgbClr val="D9D9D9"/>
                      </a:solidFill>
                      <a:prstDash val="solid"/>
                    </a:lnR>
                    <a:lnT w="6350">
                      <a:solidFill>
                        <a:srgbClr val="C3E4FF"/>
                      </a:solidFill>
                      <a:prstDash val="solid"/>
                    </a:lnT>
                    <a:solidFill>
                      <a:schemeClr val="bg1">
                        <a:lumMod val="75000"/>
                        <a:alpha val="50195"/>
                      </a:schemeClr>
                    </a:solidFill>
                  </a:tcPr>
                </a:tc>
                <a:extLst>
                  <a:ext uri="{0D108BD9-81ED-4DB2-BD59-A6C34878D82A}">
                    <a16:rowId xmlns:a16="http://schemas.microsoft.com/office/drawing/2014/main" val="10000"/>
                  </a:ext>
                </a:extLst>
              </a:tr>
              <a:tr h="0">
                <a:tc>
                  <a:txBody>
                    <a:bodyPr/>
                    <a:lstStyle/>
                    <a:p>
                      <a:pPr algn="ctr">
                        <a:lnSpc>
                          <a:spcPct val="100000"/>
                        </a:lnSpc>
                      </a:pPr>
                      <a:r>
                        <a:rPr sz="800" dirty="0">
                          <a:latin typeface="Segoe UI Semibold"/>
                          <a:cs typeface="Segoe UI Semibold"/>
                        </a:rPr>
                        <a:t>Standard:</a:t>
                      </a:r>
                      <a:r>
                        <a:rPr sz="800" spc="-15" dirty="0">
                          <a:latin typeface="Segoe UI Semibold"/>
                          <a:cs typeface="Segoe UI Semibold"/>
                        </a:rPr>
                        <a:t> </a:t>
                      </a:r>
                      <a:r>
                        <a:rPr sz="800" dirty="0">
                          <a:latin typeface="Segoe UI Semibold"/>
                          <a:cs typeface="Segoe UI Semibold"/>
                        </a:rPr>
                        <a:t>$15K</a:t>
                      </a:r>
                      <a:r>
                        <a:rPr sz="800" spc="-15" dirty="0">
                          <a:latin typeface="Segoe UI Semibold"/>
                          <a:cs typeface="Segoe UI Semibold"/>
                        </a:rPr>
                        <a:t> </a:t>
                      </a:r>
                      <a:r>
                        <a:rPr sz="800" dirty="0">
                          <a:latin typeface="Segoe UI Semibold"/>
                          <a:cs typeface="Segoe UI Semibold"/>
                        </a:rPr>
                        <a:t>-</a:t>
                      </a:r>
                      <a:r>
                        <a:rPr sz="800" spc="-10" dirty="0">
                          <a:latin typeface="Segoe UI Semibold"/>
                          <a:cs typeface="Segoe UI Semibold"/>
                        </a:rPr>
                        <a:t> $250K</a:t>
                      </a:r>
                      <a:endParaRPr sz="800" dirty="0">
                        <a:latin typeface="Segoe UI Semibold"/>
                        <a:cs typeface="Segoe UI Semibold"/>
                      </a:endParaRPr>
                    </a:p>
                  </a:txBody>
                  <a:tcPr marL="0" marR="0" marT="31115" marB="0">
                    <a:lnL w="6350">
                      <a:solidFill>
                        <a:srgbClr val="D9D9D9"/>
                      </a:solidFill>
                      <a:prstDash val="solid"/>
                    </a:lnL>
                    <a:lnR w="6350">
                      <a:solidFill>
                        <a:srgbClr val="D9D9D9"/>
                      </a:solidFill>
                      <a:prstDash val="solid"/>
                    </a:lnR>
                    <a:lnB w="6350" cap="flat" cmpd="sng" algn="ctr">
                      <a:solidFill>
                        <a:srgbClr val="D9D9D9"/>
                      </a:solidFill>
                      <a:prstDash val="sysDash"/>
                      <a:round/>
                      <a:headEnd type="none" w="med" len="med"/>
                      <a:tailEnd type="none" w="med" len="med"/>
                    </a:lnB>
                  </a:tcPr>
                </a:tc>
                <a:tc>
                  <a:txBody>
                    <a:bodyPr/>
                    <a:lstStyle/>
                    <a:p>
                      <a:pPr marL="635" algn="ctr">
                        <a:lnSpc>
                          <a:spcPct val="100000"/>
                        </a:lnSpc>
                      </a:pPr>
                      <a:r>
                        <a:rPr sz="800" spc="-10" dirty="0">
                          <a:latin typeface="Segoe UI Semibold"/>
                          <a:cs typeface="Segoe UI Semibold"/>
                        </a:rPr>
                        <a:t>$15,000</a:t>
                      </a:r>
                      <a:endParaRPr sz="800" dirty="0">
                        <a:latin typeface="Segoe UI Semibold"/>
                        <a:cs typeface="Segoe UI Semibold"/>
                      </a:endParaRPr>
                    </a:p>
                  </a:txBody>
                  <a:tcPr marL="0" marR="0" marT="31115" marB="0">
                    <a:lnL w="6350">
                      <a:solidFill>
                        <a:srgbClr val="D9D9D9"/>
                      </a:solidFill>
                      <a:prstDash val="solid"/>
                    </a:lnL>
                    <a:lnR w="6350">
                      <a:solidFill>
                        <a:srgbClr val="D9D9D9"/>
                      </a:solidFill>
                      <a:prstDash val="solid"/>
                    </a:lnR>
                    <a:lnB w="6350">
                      <a:solidFill>
                        <a:srgbClr val="D9D9D9"/>
                      </a:solidFill>
                      <a:prstDash val="sysDash"/>
                    </a:lnB>
                  </a:tcPr>
                </a:tc>
                <a:tc>
                  <a:txBody>
                    <a:bodyPr/>
                    <a:lstStyle/>
                    <a:p>
                      <a:pPr marL="635" algn="ctr">
                        <a:lnSpc>
                          <a:spcPct val="100000"/>
                        </a:lnSpc>
                      </a:pPr>
                      <a:r>
                        <a:rPr lang="en-US" sz="800" dirty="0">
                          <a:latin typeface="Segoe UI Semibold"/>
                          <a:cs typeface="Segoe UI Semibold"/>
                        </a:rPr>
                        <a:t>120 Days</a:t>
                      </a:r>
                    </a:p>
                  </a:txBody>
                  <a:tcPr marL="0" marR="0" marT="31115" marB="0">
                    <a:lnL w="6350" cap="flat" cmpd="sng" algn="ctr">
                      <a:solidFill>
                        <a:srgbClr val="D9D9D9"/>
                      </a:solidFill>
                      <a:prstDash val="solid"/>
                      <a:round/>
                      <a:headEnd type="none" w="med" len="med"/>
                      <a:tailEnd type="none" w="med" len="med"/>
                    </a:lnL>
                    <a:lnR w="6350">
                      <a:solidFill>
                        <a:srgbClr val="D9D9D9"/>
                      </a:solidFill>
                      <a:prstDash val="solid"/>
                    </a:lnR>
                    <a:lnB w="6350" cap="flat" cmpd="sng" algn="ctr">
                      <a:solidFill>
                        <a:srgbClr val="D9D9D9"/>
                      </a:solidFill>
                      <a:prstDash val="sysDash"/>
                      <a:round/>
                      <a:headEnd type="none" w="med" len="med"/>
                      <a:tailEnd type="none" w="med" len="med"/>
                    </a:lnB>
                  </a:tcPr>
                </a:tc>
                <a:tc>
                  <a:txBody>
                    <a:bodyPr/>
                    <a:lstStyle/>
                    <a:p>
                      <a:pPr marL="635" algn="ctr">
                        <a:lnSpc>
                          <a:spcPct val="100000"/>
                        </a:lnSpc>
                      </a:pPr>
                      <a:r>
                        <a:rPr lang="en-US" sz="800" dirty="0">
                          <a:latin typeface="Segoe UI Semibold"/>
                          <a:cs typeface="Segoe UI Semibold"/>
                        </a:rPr>
                        <a:t>Pre-sales</a:t>
                      </a:r>
                    </a:p>
                  </a:txBody>
                  <a:tcPr marL="0" marR="0" marT="31115" marB="0">
                    <a:lnL w="6350" cap="flat" cmpd="sng" algn="ctr">
                      <a:solidFill>
                        <a:srgbClr val="D9D9D9"/>
                      </a:solidFill>
                      <a:prstDash val="solid"/>
                      <a:round/>
                      <a:headEnd type="none" w="med" len="med"/>
                      <a:tailEnd type="none" w="med" len="med"/>
                    </a:lnL>
                    <a:lnR w="6350">
                      <a:solidFill>
                        <a:srgbClr val="D9D9D9"/>
                      </a:solidFill>
                      <a:prstDash val="solid"/>
                    </a:lnR>
                    <a:lnB w="6350" cap="flat" cmpd="sng" algn="ctr">
                      <a:solidFill>
                        <a:srgbClr val="D9D9D9"/>
                      </a:solidFill>
                      <a:prstDash val="sysDash"/>
                      <a:round/>
                      <a:headEnd type="none" w="med" len="med"/>
                      <a:tailEnd type="none" w="med" len="med"/>
                    </a:lnB>
                  </a:tcPr>
                </a:tc>
                <a:extLst>
                  <a:ext uri="{0D108BD9-81ED-4DB2-BD59-A6C34878D82A}">
                    <a16:rowId xmlns:a16="http://schemas.microsoft.com/office/drawing/2014/main" val="10001"/>
                  </a:ext>
                </a:extLst>
              </a:tr>
              <a:tr h="88394">
                <a:tc>
                  <a:txBody>
                    <a:bodyPr/>
                    <a:lstStyle/>
                    <a:p>
                      <a:pPr algn="ctr">
                        <a:lnSpc>
                          <a:spcPct val="100000"/>
                        </a:lnSpc>
                      </a:pPr>
                      <a:r>
                        <a:rPr sz="800" dirty="0">
                          <a:latin typeface="Segoe UI Semibold"/>
                          <a:cs typeface="Segoe UI Semibold"/>
                        </a:rPr>
                        <a:t>Large:</a:t>
                      </a:r>
                      <a:r>
                        <a:rPr sz="800" spc="-30" dirty="0">
                          <a:latin typeface="Segoe UI Semibold"/>
                          <a:cs typeface="Segoe UI Semibold"/>
                        </a:rPr>
                        <a:t> </a:t>
                      </a:r>
                      <a:r>
                        <a:rPr sz="800" spc="-10" dirty="0">
                          <a:latin typeface="Segoe UI Semibold"/>
                          <a:cs typeface="Segoe UI Semibold"/>
                        </a:rPr>
                        <a:t>&gt;$250K+</a:t>
                      </a:r>
                      <a:endParaRPr sz="800" dirty="0">
                        <a:latin typeface="Segoe UI Semibold"/>
                        <a:cs typeface="Segoe UI Semibold"/>
                      </a:endParaRPr>
                    </a:p>
                  </a:txBody>
                  <a:tcPr marL="0" marR="0" marT="31750" marB="0">
                    <a:lnL w="6350">
                      <a:solidFill>
                        <a:srgbClr val="D9D9D9"/>
                      </a:solidFill>
                      <a:prstDash val="solid"/>
                    </a:lnL>
                    <a:lnR w="6350">
                      <a:solidFill>
                        <a:srgbClr val="D9D9D9"/>
                      </a:solidFill>
                      <a:prstDash val="solid"/>
                    </a:lnR>
                    <a:lnT w="6350" cap="flat" cmpd="sng" algn="ctr">
                      <a:solidFill>
                        <a:srgbClr val="D9D9D9"/>
                      </a:solidFill>
                      <a:prstDash val="sysDash"/>
                      <a:round/>
                      <a:headEnd type="none" w="med" len="med"/>
                      <a:tailEnd type="none" w="med" len="med"/>
                    </a:lnT>
                    <a:lnB w="6350">
                      <a:solidFill>
                        <a:srgbClr val="D9D9D9"/>
                      </a:solidFill>
                      <a:prstDash val="sysDash"/>
                    </a:lnB>
                  </a:tcPr>
                </a:tc>
                <a:tc>
                  <a:txBody>
                    <a:bodyPr/>
                    <a:lstStyle/>
                    <a:p>
                      <a:pPr marL="635" algn="ctr">
                        <a:lnSpc>
                          <a:spcPct val="100000"/>
                        </a:lnSpc>
                      </a:pPr>
                      <a:r>
                        <a:rPr sz="800" spc="-10" dirty="0">
                          <a:latin typeface="Segoe UI Semibold"/>
                          <a:cs typeface="Segoe UI Semibold"/>
                        </a:rPr>
                        <a:t>$25,000</a:t>
                      </a:r>
                      <a:endParaRPr sz="800" dirty="0">
                        <a:latin typeface="Segoe UI Semibold"/>
                        <a:cs typeface="Segoe UI Semibold"/>
                      </a:endParaRPr>
                    </a:p>
                  </a:txBody>
                  <a:tcPr marL="0" marR="0" marT="31750" marB="0">
                    <a:lnL w="6350">
                      <a:solidFill>
                        <a:srgbClr val="D9D9D9"/>
                      </a:solidFill>
                      <a:prstDash val="solid"/>
                    </a:lnL>
                    <a:lnR w="6350">
                      <a:solidFill>
                        <a:srgbClr val="D9D9D9"/>
                      </a:solidFill>
                      <a:prstDash val="solid"/>
                    </a:lnR>
                    <a:lnT w="6350">
                      <a:solidFill>
                        <a:srgbClr val="D9D9D9"/>
                      </a:solidFill>
                      <a:prstDash val="sysDash"/>
                    </a:lnT>
                    <a:lnB w="6350">
                      <a:solidFill>
                        <a:srgbClr val="D9D9D9"/>
                      </a:solidFill>
                      <a:prstDash val="sysDash"/>
                    </a:lnB>
                  </a:tcPr>
                </a:tc>
                <a:tc>
                  <a:txBody>
                    <a:bodyPr/>
                    <a:lstStyle/>
                    <a:p>
                      <a:pPr marL="635" marR="0" lvl="0" indent="0" algn="ctr" defTabSz="914400" rtl="0" eaLnBrk="1" fontAlgn="auto" latinLnBrk="0" hangingPunct="1">
                        <a:lnSpc>
                          <a:spcPct val="100000"/>
                        </a:lnSpc>
                        <a:spcBef>
                          <a:spcPts val="0"/>
                        </a:spcBef>
                        <a:spcAft>
                          <a:spcPts val="0"/>
                        </a:spcAft>
                        <a:buClrTx/>
                        <a:buSzTx/>
                        <a:buFontTx/>
                        <a:buNone/>
                        <a:tabLst/>
                        <a:defRPr/>
                      </a:pPr>
                      <a:r>
                        <a:rPr lang="en-US" sz="800" dirty="0">
                          <a:latin typeface="Segoe UI Semibold"/>
                          <a:cs typeface="Segoe UI Semibold"/>
                        </a:rPr>
                        <a:t>120 Days</a:t>
                      </a:r>
                    </a:p>
                    <a:p>
                      <a:pPr marL="635" algn="ctr">
                        <a:lnSpc>
                          <a:spcPct val="100000"/>
                        </a:lnSpc>
                      </a:pPr>
                      <a:endParaRPr sz="800" dirty="0">
                        <a:latin typeface="Segoe UI Semibold"/>
                        <a:cs typeface="Segoe UI Semibold"/>
                      </a:endParaRPr>
                    </a:p>
                  </a:txBody>
                  <a:tcPr marL="0" marR="0" marT="31750" marB="0">
                    <a:lnL w="6350" cap="flat" cmpd="sng" algn="ctr">
                      <a:solidFill>
                        <a:srgbClr val="D9D9D9"/>
                      </a:solidFill>
                      <a:prstDash val="solid"/>
                      <a:round/>
                      <a:headEnd type="none" w="med" len="med"/>
                      <a:tailEnd type="none" w="med" len="med"/>
                    </a:lnL>
                    <a:lnR w="6350">
                      <a:solidFill>
                        <a:srgbClr val="D9D9D9"/>
                      </a:solidFill>
                      <a:prstDash val="solid"/>
                    </a:lnR>
                    <a:lnT w="6350" cap="flat" cmpd="sng" algn="ctr">
                      <a:solidFill>
                        <a:srgbClr val="D9D9D9"/>
                      </a:solidFill>
                      <a:prstDash val="sysDash"/>
                      <a:round/>
                      <a:headEnd type="none" w="med" len="med"/>
                      <a:tailEnd type="none" w="med" len="med"/>
                    </a:lnT>
                    <a:lnB w="6350">
                      <a:solidFill>
                        <a:srgbClr val="D9D9D9"/>
                      </a:solidFill>
                      <a:prstDash val="sysDash"/>
                    </a:lnB>
                  </a:tcPr>
                </a:tc>
                <a:tc>
                  <a:txBody>
                    <a:bodyPr/>
                    <a:lstStyle/>
                    <a:p>
                      <a:pPr marL="635" algn="ctr">
                        <a:lnSpc>
                          <a:spcPct val="100000"/>
                        </a:lnSpc>
                      </a:pPr>
                      <a:r>
                        <a:rPr lang="en-US" sz="800" dirty="0">
                          <a:latin typeface="Segoe UI Semibold"/>
                          <a:cs typeface="Segoe UI Semibold"/>
                        </a:rPr>
                        <a:t>Pre-sales</a:t>
                      </a:r>
                    </a:p>
                  </a:txBody>
                  <a:tcPr marL="0" marR="0" marT="31750" marB="0">
                    <a:lnL w="6350" cap="flat" cmpd="sng" algn="ctr">
                      <a:solidFill>
                        <a:srgbClr val="D9D9D9"/>
                      </a:solidFill>
                      <a:prstDash val="solid"/>
                      <a:round/>
                      <a:headEnd type="none" w="med" len="med"/>
                      <a:tailEnd type="none" w="med" len="med"/>
                    </a:lnL>
                    <a:lnR w="6350">
                      <a:solidFill>
                        <a:srgbClr val="D9D9D9"/>
                      </a:solidFill>
                      <a:prstDash val="solid"/>
                    </a:lnR>
                    <a:lnT w="6350" cap="flat" cmpd="sng" algn="ctr">
                      <a:solidFill>
                        <a:srgbClr val="D9D9D9"/>
                      </a:solidFill>
                      <a:prstDash val="sysDash"/>
                      <a:round/>
                      <a:headEnd type="none" w="med" len="med"/>
                      <a:tailEnd type="none" w="med" len="med"/>
                    </a:lnT>
                    <a:lnB w="6350">
                      <a:solidFill>
                        <a:srgbClr val="D9D9D9"/>
                      </a:solidFill>
                      <a:prstDash val="sysDash"/>
                    </a:lnB>
                  </a:tcPr>
                </a:tc>
                <a:extLst>
                  <a:ext uri="{0D108BD9-81ED-4DB2-BD59-A6C34878D82A}">
                    <a16:rowId xmlns:a16="http://schemas.microsoft.com/office/drawing/2014/main" val="10002"/>
                  </a:ext>
                </a:extLst>
              </a:tr>
            </a:tbl>
          </a:graphicData>
        </a:graphic>
      </p:graphicFrame>
      <p:sp>
        <p:nvSpPr>
          <p:cNvPr id="7" name="Title 1">
            <a:extLst>
              <a:ext uri="{FF2B5EF4-FFF2-40B4-BE49-F238E27FC236}">
                <a16:creationId xmlns:a16="http://schemas.microsoft.com/office/drawing/2014/main" id="{885C6CB5-8EE6-FCB0-A776-B4CFBAC4E550}"/>
              </a:ext>
            </a:extLst>
          </p:cNvPr>
          <p:cNvSpPr txBox="1">
            <a:spLocks/>
          </p:cNvSpPr>
          <p:nvPr/>
        </p:nvSpPr>
        <p:spPr>
          <a:xfrm>
            <a:off x="331316" y="1096627"/>
            <a:ext cx="11568700" cy="387440"/>
          </a:xfrm>
        </p:spPr>
        <p:txBody>
          <a:bodyPr/>
          <a:lst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a:lstStyle>
          <a:p>
            <a:r>
              <a:rPr lang="en-US" sz="2200" dirty="0"/>
              <a:t>Azure Accelerate: AI Apps, Agents and Developer Pre-Sales (Assessment and POV)</a:t>
            </a:r>
          </a:p>
        </p:txBody>
      </p:sp>
      <p:cxnSp>
        <p:nvCxnSpPr>
          <p:cNvPr id="8" name="Straight Connector 7">
            <a:extLst>
              <a:ext uri="{FF2B5EF4-FFF2-40B4-BE49-F238E27FC236}">
                <a16:creationId xmlns:a16="http://schemas.microsoft.com/office/drawing/2014/main" id="{A8E2265B-5ABF-D8FA-2C33-C8F107A6FC4D}"/>
              </a:ext>
            </a:extLst>
          </p:cNvPr>
          <p:cNvCxnSpPr>
            <a:cxnSpLocks/>
          </p:cNvCxnSpPr>
          <p:nvPr/>
        </p:nvCxnSpPr>
        <p:spPr>
          <a:xfrm>
            <a:off x="415971" y="3608772"/>
            <a:ext cx="11448000" cy="0"/>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DBC4AE3-2591-2A5C-D29F-881DCE23E8A5}"/>
              </a:ext>
            </a:extLst>
          </p:cNvPr>
          <p:cNvSpPr/>
          <p:nvPr/>
        </p:nvSpPr>
        <p:spPr>
          <a:xfrm>
            <a:off x="10866477" y="42528"/>
            <a:ext cx="1268819" cy="329184"/>
          </a:xfrm>
          <a:prstGeom prst="rect">
            <a:avLst/>
          </a:prstGeom>
          <a:solidFill>
            <a:srgbClr val="00FFFF"/>
          </a:solidFill>
          <a:ln>
            <a:solidFill>
              <a:srgbClr val="FFFF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Customer-Facing</a:t>
            </a:r>
          </a:p>
        </p:txBody>
      </p:sp>
      <p:sp>
        <p:nvSpPr>
          <p:cNvPr id="4" name="Rectangle: Rounded Corners 3">
            <a:extLst>
              <a:ext uri="{FF2B5EF4-FFF2-40B4-BE49-F238E27FC236}">
                <a16:creationId xmlns:a16="http://schemas.microsoft.com/office/drawing/2014/main" id="{AC9A6D0D-329B-C5A8-BAF8-4598F0BF7E1E}"/>
              </a:ext>
            </a:extLst>
          </p:cNvPr>
          <p:cNvSpPr/>
          <p:nvPr/>
        </p:nvSpPr>
        <p:spPr>
          <a:xfrm>
            <a:off x="10204450" y="3098301"/>
            <a:ext cx="1967378" cy="1021567"/>
          </a:xfrm>
          <a:prstGeom prst="roundRect">
            <a:avLst/>
          </a:prstGeom>
          <a:solidFill>
            <a:srgbClr val="FFFFCC"/>
          </a:solidFill>
          <a:ln w="19050">
            <a:solidFill>
              <a:srgbClr val="EB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rPr>
              <a:t>The project sizes are </a:t>
            </a:r>
            <a:r>
              <a:rPr kumimoji="0" lang="en-US" sz="1100" b="1" i="0" u="none" strike="noStrike" kern="1200" cap="none" spc="0" normalizeH="0" baseline="0" noProof="0" dirty="0">
                <a:ln>
                  <a:noFill/>
                </a:ln>
                <a:solidFill>
                  <a:srgbClr val="000000"/>
                </a:solidFill>
                <a:effectLst/>
                <a:uLnTx/>
                <a:uFillTx/>
                <a:latin typeface="Aptos Narrow" panose="020B0004020202020204" pitchFamily="34" charset="0"/>
              </a:rPr>
              <a:t>the planned Azure consumption in year 1 </a:t>
            </a:r>
            <a:r>
              <a:rPr kumimoji="0" lang="en-US" sz="1100" b="0" i="0" u="none" strike="noStrike" kern="1200" cap="none" spc="0" normalizeH="0" baseline="0" noProof="0" dirty="0">
                <a:ln>
                  <a:noFill/>
                </a:ln>
                <a:solidFill>
                  <a:srgbClr val="000000"/>
                </a:solidFill>
                <a:effectLst/>
                <a:uLnTx/>
                <a:uFillTx/>
                <a:latin typeface="Aptos Narrow" panose="020B0004020202020204" pitchFamily="34" charset="0"/>
              </a:rPr>
              <a:t>measured from project completion/ deployment date / claim submission date.</a:t>
            </a:r>
          </a:p>
        </p:txBody>
      </p:sp>
      <p:sp>
        <p:nvSpPr>
          <p:cNvPr id="10" name="object 38">
            <a:extLst>
              <a:ext uri="{FF2B5EF4-FFF2-40B4-BE49-F238E27FC236}">
                <a16:creationId xmlns:a16="http://schemas.microsoft.com/office/drawing/2014/main" id="{76B0DEFB-7D7D-0384-EEAD-BD0EC3E9B97A}"/>
              </a:ext>
            </a:extLst>
          </p:cNvPr>
          <p:cNvSpPr txBox="1"/>
          <p:nvPr/>
        </p:nvSpPr>
        <p:spPr>
          <a:xfrm>
            <a:off x="407725" y="3989859"/>
            <a:ext cx="11411078" cy="1504899"/>
          </a:xfrm>
          <a:prstGeom prst="rect">
            <a:avLst/>
          </a:prstGeom>
        </p:spPr>
        <p:txBody>
          <a:bodyPr vert="horz" wrap="square" lIns="0" tIns="24765" rIns="0" bIns="0" rtlCol="0">
            <a:spAutoFit/>
          </a:bodyPr>
          <a:lstStyle/>
          <a:p>
            <a:pPr marL="12700">
              <a:lnSpc>
                <a:spcPct val="100000"/>
              </a:lnSpc>
              <a:spcBef>
                <a:spcPts val="195"/>
              </a:spcBef>
            </a:pPr>
            <a:r>
              <a:rPr lang="en-US" sz="1050" u="sng" dirty="0">
                <a:solidFill>
                  <a:schemeClr val="tx2"/>
                </a:solidFill>
                <a:latin typeface="Segoe UI Semibold"/>
                <a:cs typeface="Segoe UI Semibold"/>
              </a:rPr>
              <a:t>POST</a:t>
            </a:r>
            <a:r>
              <a:rPr lang="en-US" sz="1050" dirty="0">
                <a:solidFill>
                  <a:schemeClr val="tx2"/>
                </a:solidFill>
                <a:latin typeface="Segoe UI Semibold"/>
                <a:cs typeface="Segoe UI Semibold"/>
              </a:rPr>
              <a:t>-SALES </a:t>
            </a:r>
            <a:r>
              <a:rPr sz="1050" dirty="0">
                <a:solidFill>
                  <a:schemeClr val="tx2"/>
                </a:solidFill>
                <a:latin typeface="Segoe UI Semibold"/>
                <a:cs typeface="Segoe UI Semibold"/>
              </a:rPr>
              <a:t>ENGAGEMENT</a:t>
            </a:r>
            <a:r>
              <a:rPr sz="1050" spc="25" dirty="0">
                <a:solidFill>
                  <a:schemeClr val="tx2"/>
                </a:solidFill>
                <a:latin typeface="Segoe UI Semibold"/>
                <a:cs typeface="Segoe UI Semibold"/>
              </a:rPr>
              <a:t> </a:t>
            </a:r>
            <a:r>
              <a:rPr sz="1050" spc="-10" dirty="0">
                <a:solidFill>
                  <a:schemeClr val="tx2"/>
                </a:solidFill>
                <a:latin typeface="Segoe UI Semibold"/>
                <a:cs typeface="Segoe UI Semibold"/>
              </a:rPr>
              <a:t>SUMMARY</a:t>
            </a:r>
            <a:endParaRPr sz="1050" dirty="0">
              <a:solidFill>
                <a:schemeClr val="tx2"/>
              </a:solidFill>
              <a:latin typeface="Segoe UI Semibold"/>
              <a:cs typeface="Segoe UI Semibold"/>
            </a:endParaRPr>
          </a:p>
          <a:p>
            <a:pPr marL="12700" marR="187325" algn="just">
              <a:lnSpc>
                <a:spcPct val="100000"/>
              </a:lnSpc>
              <a:spcBef>
                <a:spcPts val="100"/>
              </a:spcBef>
            </a:pPr>
            <a:r>
              <a:rPr lang="en-US" sz="1050" dirty="0">
                <a:latin typeface="Segoe UI"/>
                <a:cs typeface="Segoe UI"/>
              </a:rPr>
              <a:t>Provides</a:t>
            </a:r>
            <a:r>
              <a:rPr lang="en-US" sz="1050" spc="-20" dirty="0">
                <a:latin typeface="Segoe UI"/>
                <a:cs typeface="Segoe UI"/>
              </a:rPr>
              <a:t> </a:t>
            </a:r>
            <a:r>
              <a:rPr lang="en-US" sz="1050" dirty="0">
                <a:latin typeface="Segoe UI"/>
                <a:cs typeface="Segoe UI"/>
              </a:rPr>
              <a:t>guidance,</a:t>
            </a:r>
            <a:r>
              <a:rPr lang="en-US" sz="1050" spc="-20" dirty="0">
                <a:latin typeface="Segoe UI"/>
                <a:cs typeface="Segoe UI"/>
              </a:rPr>
              <a:t> </a:t>
            </a:r>
            <a:r>
              <a:rPr lang="en-US" sz="1050" dirty="0">
                <a:latin typeface="Segoe UI"/>
                <a:cs typeface="Segoe UI"/>
              </a:rPr>
              <a:t>resources,</a:t>
            </a:r>
            <a:r>
              <a:rPr lang="en-US" sz="1050" spc="5" dirty="0">
                <a:latin typeface="Segoe UI"/>
                <a:cs typeface="Segoe UI"/>
              </a:rPr>
              <a:t> </a:t>
            </a:r>
            <a:r>
              <a:rPr lang="en-US" sz="1050" dirty="0">
                <a:latin typeface="Segoe UI"/>
                <a:cs typeface="Segoe UI"/>
              </a:rPr>
              <a:t>and</a:t>
            </a:r>
            <a:r>
              <a:rPr lang="en-US" sz="1050" spc="-30" dirty="0">
                <a:latin typeface="Segoe UI"/>
                <a:cs typeface="Segoe UI"/>
              </a:rPr>
              <a:t> </a:t>
            </a:r>
            <a:r>
              <a:rPr lang="en-US" sz="1050" dirty="0">
                <a:latin typeface="Segoe UI"/>
                <a:cs typeface="Segoe UI"/>
              </a:rPr>
              <a:t>funding</a:t>
            </a:r>
            <a:r>
              <a:rPr lang="en-US" sz="1050" spc="-40" dirty="0">
                <a:latin typeface="Segoe UI"/>
                <a:cs typeface="Segoe UI"/>
              </a:rPr>
              <a:t> </a:t>
            </a:r>
            <a:r>
              <a:rPr lang="en-US" sz="1050" dirty="0">
                <a:latin typeface="Segoe UI"/>
                <a:cs typeface="Segoe UI"/>
              </a:rPr>
              <a:t>to</a:t>
            </a:r>
            <a:r>
              <a:rPr lang="en-US" sz="1050" spc="-10" dirty="0">
                <a:latin typeface="Segoe UI"/>
                <a:cs typeface="Segoe UI"/>
              </a:rPr>
              <a:t> </a:t>
            </a:r>
            <a:r>
              <a:rPr lang="en-US" sz="1050" dirty="0">
                <a:latin typeface="Segoe UI"/>
                <a:cs typeface="Segoe UI"/>
              </a:rPr>
              <a:t>drive</a:t>
            </a:r>
            <a:r>
              <a:rPr lang="en-US" sz="1050" spc="-30" dirty="0">
                <a:latin typeface="Segoe UI"/>
                <a:cs typeface="Segoe UI"/>
              </a:rPr>
              <a:t> </a:t>
            </a:r>
            <a:r>
              <a:rPr lang="en-US" sz="1050" dirty="0">
                <a:latin typeface="Segoe UI"/>
                <a:cs typeface="Segoe UI"/>
              </a:rPr>
              <a:t>consistent</a:t>
            </a:r>
            <a:r>
              <a:rPr lang="en-US" sz="1050" spc="-10" dirty="0">
                <a:latin typeface="Segoe UI"/>
                <a:cs typeface="Segoe UI"/>
              </a:rPr>
              <a:t> </a:t>
            </a:r>
            <a:r>
              <a:rPr lang="en-US" sz="1050" dirty="0">
                <a:latin typeface="Segoe UI"/>
                <a:cs typeface="Segoe UI"/>
              </a:rPr>
              <a:t>execution</a:t>
            </a:r>
            <a:r>
              <a:rPr lang="en-US" sz="1050" spc="-10" dirty="0">
                <a:latin typeface="Segoe UI"/>
                <a:cs typeface="Segoe UI"/>
              </a:rPr>
              <a:t> </a:t>
            </a:r>
            <a:r>
              <a:rPr lang="en-US" sz="1050" dirty="0">
                <a:latin typeface="Segoe UI"/>
                <a:cs typeface="Segoe UI"/>
              </a:rPr>
              <a:t>and</a:t>
            </a:r>
            <a:r>
              <a:rPr lang="en-US" sz="1050" spc="-15" dirty="0">
                <a:latin typeface="Segoe UI"/>
                <a:cs typeface="Segoe UI"/>
              </a:rPr>
              <a:t> </a:t>
            </a:r>
            <a:r>
              <a:rPr lang="en-US" sz="1050" dirty="0">
                <a:latin typeface="Segoe UI"/>
                <a:cs typeface="Segoe UI"/>
              </a:rPr>
              <a:t>customer</a:t>
            </a:r>
            <a:r>
              <a:rPr lang="en-US" sz="1050" spc="-10" dirty="0">
                <a:latin typeface="Segoe UI"/>
                <a:cs typeface="Segoe UI"/>
              </a:rPr>
              <a:t> </a:t>
            </a:r>
            <a:r>
              <a:rPr lang="en-US" sz="1050" dirty="0">
                <a:latin typeface="Segoe UI"/>
                <a:cs typeface="Segoe UI"/>
              </a:rPr>
              <a:t>experience,</a:t>
            </a:r>
            <a:r>
              <a:rPr lang="en-US" sz="1050" spc="15" dirty="0">
                <a:latin typeface="Segoe UI"/>
                <a:cs typeface="Segoe UI"/>
              </a:rPr>
              <a:t> </a:t>
            </a:r>
            <a:r>
              <a:rPr lang="en-US" sz="1050" dirty="0">
                <a:latin typeface="Segoe UI"/>
                <a:cs typeface="Segoe UI"/>
              </a:rPr>
              <a:t>accelerating</a:t>
            </a:r>
            <a:r>
              <a:rPr lang="en-US" sz="1050" spc="10" dirty="0">
                <a:latin typeface="Segoe UI"/>
                <a:cs typeface="Segoe UI"/>
              </a:rPr>
              <a:t> </a:t>
            </a:r>
            <a:r>
              <a:rPr lang="en-US" sz="1050" dirty="0">
                <a:latin typeface="Segoe UI"/>
                <a:cs typeface="Segoe UI"/>
              </a:rPr>
              <a:t>the</a:t>
            </a:r>
            <a:r>
              <a:rPr lang="en-US" sz="1050" spc="-30" dirty="0">
                <a:latin typeface="Segoe UI"/>
                <a:cs typeface="Segoe UI"/>
              </a:rPr>
              <a:t> </a:t>
            </a:r>
            <a:r>
              <a:rPr lang="en-US" sz="1050" dirty="0">
                <a:latin typeface="Segoe UI"/>
                <a:cs typeface="Segoe UI"/>
              </a:rPr>
              <a:t>demand,</a:t>
            </a:r>
            <a:r>
              <a:rPr lang="en-US" sz="1050" spc="-10" dirty="0">
                <a:latin typeface="Segoe UI"/>
                <a:cs typeface="Segoe UI"/>
              </a:rPr>
              <a:t> </a:t>
            </a:r>
            <a:r>
              <a:rPr lang="en-US" sz="1050" dirty="0">
                <a:latin typeface="Segoe UI"/>
                <a:cs typeface="Segoe UI"/>
              </a:rPr>
              <a:t>pipeline,</a:t>
            </a:r>
            <a:r>
              <a:rPr lang="en-US" sz="1050" spc="-35" dirty="0">
                <a:latin typeface="Segoe UI"/>
                <a:cs typeface="Segoe UI"/>
              </a:rPr>
              <a:t> </a:t>
            </a:r>
            <a:r>
              <a:rPr lang="en-US" sz="1050" dirty="0">
                <a:latin typeface="Segoe UI"/>
                <a:cs typeface="Segoe UI"/>
              </a:rPr>
              <a:t>and</a:t>
            </a:r>
            <a:r>
              <a:rPr lang="en-US" sz="1050" spc="-15" dirty="0">
                <a:latin typeface="Segoe UI"/>
                <a:cs typeface="Segoe UI"/>
              </a:rPr>
              <a:t> </a:t>
            </a:r>
            <a:r>
              <a:rPr lang="en-US" sz="1050" spc="-10" dirty="0">
                <a:latin typeface="Segoe UI"/>
                <a:cs typeface="Segoe UI"/>
              </a:rPr>
              <a:t>consumption</a:t>
            </a:r>
            <a:r>
              <a:rPr lang="en-US" sz="1050" spc="-20" dirty="0">
                <a:latin typeface="Segoe UI"/>
                <a:cs typeface="Segoe UI"/>
              </a:rPr>
              <a:t> </a:t>
            </a:r>
            <a:r>
              <a:rPr lang="en-US" sz="1050" dirty="0">
                <a:latin typeface="Segoe UI"/>
                <a:cs typeface="Segoe UI"/>
              </a:rPr>
              <a:t>of</a:t>
            </a:r>
            <a:r>
              <a:rPr lang="en-US" sz="1050" spc="-25" dirty="0">
                <a:latin typeface="Segoe UI"/>
                <a:cs typeface="Segoe UI"/>
              </a:rPr>
              <a:t> </a:t>
            </a:r>
            <a:r>
              <a:rPr lang="en-US" sz="1050" dirty="0">
                <a:latin typeface="Segoe UI"/>
                <a:cs typeface="Segoe UI"/>
              </a:rPr>
              <a:t>Azure</a:t>
            </a:r>
            <a:r>
              <a:rPr lang="en-US" sz="1050" spc="-35" dirty="0">
                <a:latin typeface="Segoe UI"/>
                <a:cs typeface="Segoe UI"/>
              </a:rPr>
              <a:t> </a:t>
            </a:r>
            <a:r>
              <a:rPr lang="en-US" sz="1050" dirty="0">
                <a:latin typeface="Segoe UI"/>
                <a:cs typeface="Segoe UI"/>
              </a:rPr>
              <a:t>AI</a:t>
            </a:r>
            <a:r>
              <a:rPr lang="en-US" sz="1050" spc="-30" dirty="0">
                <a:latin typeface="Segoe UI"/>
                <a:cs typeface="Segoe UI"/>
              </a:rPr>
              <a:t> </a:t>
            </a:r>
            <a:r>
              <a:rPr lang="en-US" sz="1050" dirty="0">
                <a:latin typeface="Segoe UI"/>
                <a:cs typeface="Segoe UI"/>
              </a:rPr>
              <a:t>and</a:t>
            </a:r>
            <a:r>
              <a:rPr lang="en-US" sz="1050" spc="-20" dirty="0">
                <a:latin typeface="Segoe UI"/>
                <a:cs typeface="Segoe UI"/>
              </a:rPr>
              <a:t> </a:t>
            </a:r>
            <a:r>
              <a:rPr lang="en-US" sz="1050" spc="-10" dirty="0">
                <a:latin typeface="Segoe UI"/>
                <a:cs typeface="Segoe UI"/>
              </a:rPr>
              <a:t>Developer services.</a:t>
            </a:r>
            <a:endParaRPr lang="en-US" sz="1050" dirty="0">
              <a:latin typeface="Segoe UI"/>
              <a:cs typeface="Segoe UI"/>
            </a:endParaRPr>
          </a:p>
          <a:p>
            <a:pPr marL="12700" marR="5080" algn="just">
              <a:lnSpc>
                <a:spcPct val="100000"/>
              </a:lnSpc>
            </a:pPr>
            <a:r>
              <a:rPr lang="en-US" sz="1050" dirty="0">
                <a:latin typeface="Segoe UI"/>
                <a:cs typeface="Segoe UI"/>
              </a:rPr>
              <a:t>The</a:t>
            </a:r>
            <a:r>
              <a:rPr lang="en-US" sz="1050" spc="-30" dirty="0">
                <a:latin typeface="Segoe UI"/>
                <a:cs typeface="Segoe UI"/>
              </a:rPr>
              <a:t> </a:t>
            </a:r>
            <a:r>
              <a:rPr lang="en-US" sz="1050" dirty="0">
                <a:latin typeface="Segoe UI"/>
                <a:cs typeface="Segoe UI"/>
              </a:rPr>
              <a:t>following</a:t>
            </a:r>
            <a:r>
              <a:rPr lang="en-US" sz="1050" spc="-25" dirty="0">
                <a:latin typeface="Segoe UI"/>
                <a:cs typeface="Segoe UI"/>
              </a:rPr>
              <a:t> </a:t>
            </a:r>
            <a:r>
              <a:rPr lang="en-US" sz="1050" dirty="0">
                <a:latin typeface="Segoe UI"/>
                <a:cs typeface="Segoe UI"/>
              </a:rPr>
              <a:t>workloads</a:t>
            </a:r>
            <a:r>
              <a:rPr lang="en-US" sz="1050" spc="-15" dirty="0">
                <a:latin typeface="Segoe UI"/>
                <a:cs typeface="Segoe UI"/>
              </a:rPr>
              <a:t> </a:t>
            </a:r>
            <a:r>
              <a:rPr lang="en-US" sz="1050" dirty="0">
                <a:latin typeface="Segoe UI"/>
                <a:cs typeface="Segoe UI"/>
              </a:rPr>
              <a:t>or</a:t>
            </a:r>
            <a:r>
              <a:rPr lang="en-US" sz="1050" spc="-30" dirty="0">
                <a:latin typeface="Segoe UI"/>
                <a:cs typeface="Segoe UI"/>
              </a:rPr>
              <a:t> </a:t>
            </a:r>
            <a:r>
              <a:rPr lang="en-US" sz="1050" dirty="0">
                <a:latin typeface="Segoe UI"/>
                <a:cs typeface="Segoe UI"/>
              </a:rPr>
              <a:t>their</a:t>
            </a:r>
            <a:r>
              <a:rPr lang="en-US" sz="1050" spc="-35" dirty="0">
                <a:latin typeface="Segoe UI"/>
                <a:cs typeface="Segoe UI"/>
              </a:rPr>
              <a:t> </a:t>
            </a:r>
            <a:r>
              <a:rPr lang="en-US" sz="1050" dirty="0">
                <a:latin typeface="Segoe UI"/>
                <a:cs typeface="Segoe UI"/>
              </a:rPr>
              <a:t>combinations</a:t>
            </a:r>
            <a:r>
              <a:rPr lang="en-US" sz="1050" spc="-10" dirty="0">
                <a:latin typeface="Segoe UI"/>
                <a:cs typeface="Segoe UI"/>
              </a:rPr>
              <a:t> </a:t>
            </a:r>
            <a:r>
              <a:rPr lang="en-US" sz="1050" dirty="0">
                <a:latin typeface="Segoe UI"/>
                <a:cs typeface="Segoe UI"/>
              </a:rPr>
              <a:t>are</a:t>
            </a:r>
            <a:r>
              <a:rPr lang="en-US" sz="1050" spc="-15" dirty="0">
                <a:latin typeface="Segoe UI"/>
                <a:cs typeface="Segoe UI"/>
              </a:rPr>
              <a:t> </a:t>
            </a:r>
            <a:r>
              <a:rPr lang="en-US" sz="1050" dirty="0">
                <a:latin typeface="Segoe UI"/>
                <a:cs typeface="Segoe UI"/>
              </a:rPr>
              <a:t>supported:</a:t>
            </a:r>
            <a:r>
              <a:rPr lang="en-US" sz="1050" spc="-20" dirty="0">
                <a:latin typeface="Segoe UI"/>
                <a:cs typeface="Segoe UI"/>
              </a:rPr>
              <a:t> </a:t>
            </a:r>
            <a:r>
              <a:rPr lang="en-US" sz="1050" dirty="0">
                <a:latin typeface="Segoe UI"/>
                <a:cs typeface="Segoe UI"/>
              </a:rPr>
              <a:t>Azure</a:t>
            </a:r>
            <a:r>
              <a:rPr lang="en-US" sz="1050" spc="-35" dirty="0">
                <a:latin typeface="Segoe UI"/>
                <a:cs typeface="Segoe UI"/>
              </a:rPr>
              <a:t> </a:t>
            </a:r>
            <a:r>
              <a:rPr lang="en-US" sz="1050" dirty="0">
                <a:latin typeface="Segoe UI"/>
                <a:cs typeface="Segoe UI"/>
              </a:rPr>
              <a:t>AI</a:t>
            </a:r>
            <a:r>
              <a:rPr lang="en-US" sz="1050" spc="-35" dirty="0">
                <a:latin typeface="Segoe UI"/>
                <a:cs typeface="Segoe UI"/>
              </a:rPr>
              <a:t> </a:t>
            </a:r>
            <a:r>
              <a:rPr lang="en-US" sz="1050" dirty="0">
                <a:latin typeface="Segoe UI"/>
                <a:cs typeface="Segoe UI"/>
              </a:rPr>
              <a:t>Foundry</a:t>
            </a:r>
            <a:r>
              <a:rPr lang="en-US" sz="1050" spc="-35" dirty="0">
                <a:latin typeface="Segoe UI"/>
                <a:cs typeface="Segoe UI"/>
              </a:rPr>
              <a:t> </a:t>
            </a:r>
            <a:r>
              <a:rPr lang="en-US" sz="1050" dirty="0">
                <a:latin typeface="Segoe UI"/>
                <a:cs typeface="Segoe UI"/>
              </a:rPr>
              <a:t>&amp;</a:t>
            </a:r>
            <a:r>
              <a:rPr lang="en-US" sz="1050" spc="-35" dirty="0">
                <a:latin typeface="Segoe UI"/>
                <a:cs typeface="Segoe UI"/>
              </a:rPr>
              <a:t> </a:t>
            </a:r>
            <a:r>
              <a:rPr lang="en-US" sz="1050" dirty="0">
                <a:latin typeface="Segoe UI"/>
                <a:cs typeface="Segoe UI"/>
              </a:rPr>
              <a:t>Platform (Agents</a:t>
            </a:r>
            <a:r>
              <a:rPr lang="en-US" sz="1050" spc="-25" dirty="0">
                <a:latin typeface="Segoe UI"/>
                <a:cs typeface="Segoe UI"/>
              </a:rPr>
              <a:t> </a:t>
            </a:r>
            <a:r>
              <a:rPr lang="en-US" sz="1050" dirty="0">
                <a:latin typeface="Segoe UI"/>
                <a:cs typeface="Segoe UI"/>
              </a:rPr>
              <a:t>&amp;</a:t>
            </a:r>
            <a:r>
              <a:rPr lang="en-US" sz="1050" spc="-25" dirty="0">
                <a:latin typeface="Segoe UI"/>
                <a:cs typeface="Segoe UI"/>
              </a:rPr>
              <a:t> </a:t>
            </a:r>
            <a:r>
              <a:rPr lang="en-US" sz="1050" dirty="0">
                <a:latin typeface="Segoe UI"/>
                <a:cs typeface="Segoe UI"/>
              </a:rPr>
              <a:t>Models),</a:t>
            </a:r>
            <a:r>
              <a:rPr lang="en-US" sz="1050" spc="-35" dirty="0">
                <a:latin typeface="Segoe UI"/>
                <a:cs typeface="Segoe UI"/>
              </a:rPr>
              <a:t> </a:t>
            </a:r>
            <a:r>
              <a:rPr lang="en-US" sz="1050" dirty="0">
                <a:latin typeface="Segoe UI"/>
                <a:cs typeface="Segoe UI"/>
              </a:rPr>
              <a:t>Azure</a:t>
            </a:r>
            <a:r>
              <a:rPr lang="en-US" sz="1050" spc="-20" dirty="0">
                <a:latin typeface="Segoe UI"/>
                <a:cs typeface="Segoe UI"/>
              </a:rPr>
              <a:t> </a:t>
            </a:r>
            <a:r>
              <a:rPr lang="en-US" sz="1050" dirty="0">
                <a:latin typeface="Segoe UI"/>
                <a:cs typeface="Segoe UI"/>
              </a:rPr>
              <a:t>Kubernetes</a:t>
            </a:r>
            <a:r>
              <a:rPr lang="en-US" sz="1050" spc="30" dirty="0">
                <a:latin typeface="Segoe UI"/>
                <a:cs typeface="Segoe UI"/>
              </a:rPr>
              <a:t> </a:t>
            </a:r>
            <a:r>
              <a:rPr lang="en-US" sz="1050" dirty="0">
                <a:latin typeface="Segoe UI"/>
                <a:cs typeface="Segoe UI"/>
              </a:rPr>
              <a:t>Service</a:t>
            </a:r>
            <a:r>
              <a:rPr lang="en-US" sz="1050" spc="-20" dirty="0">
                <a:latin typeface="Segoe UI"/>
                <a:cs typeface="Segoe UI"/>
              </a:rPr>
              <a:t> </a:t>
            </a:r>
            <a:r>
              <a:rPr lang="en-US" sz="1050" dirty="0">
                <a:latin typeface="Segoe UI"/>
                <a:cs typeface="Segoe UI"/>
              </a:rPr>
              <a:t>(AKS),</a:t>
            </a:r>
            <a:r>
              <a:rPr lang="en-US" sz="1050" spc="-20" dirty="0">
                <a:latin typeface="Segoe UI"/>
                <a:cs typeface="Segoe UI"/>
              </a:rPr>
              <a:t> </a:t>
            </a:r>
            <a:r>
              <a:rPr lang="en-US" sz="1050" dirty="0">
                <a:latin typeface="Segoe UI"/>
                <a:cs typeface="Segoe UI"/>
              </a:rPr>
              <a:t>Azure</a:t>
            </a:r>
            <a:r>
              <a:rPr lang="en-US" sz="1050" spc="-35" dirty="0">
                <a:latin typeface="Segoe UI"/>
                <a:cs typeface="Segoe UI"/>
              </a:rPr>
              <a:t> </a:t>
            </a:r>
            <a:r>
              <a:rPr lang="en-US" sz="1050" dirty="0">
                <a:latin typeface="Segoe UI"/>
                <a:cs typeface="Segoe UI"/>
              </a:rPr>
              <a:t>App</a:t>
            </a:r>
            <a:r>
              <a:rPr lang="en-US" sz="1050" spc="-25" dirty="0">
                <a:latin typeface="Segoe UI"/>
                <a:cs typeface="Segoe UI"/>
              </a:rPr>
              <a:t> </a:t>
            </a:r>
            <a:r>
              <a:rPr lang="en-US" sz="1050" dirty="0">
                <a:latin typeface="Segoe UI"/>
                <a:cs typeface="Segoe UI"/>
              </a:rPr>
              <a:t>Service,</a:t>
            </a:r>
            <a:r>
              <a:rPr lang="en-US" sz="1050" spc="-5" dirty="0">
                <a:latin typeface="Segoe UI"/>
                <a:cs typeface="Segoe UI"/>
              </a:rPr>
              <a:t> </a:t>
            </a:r>
            <a:r>
              <a:rPr lang="en-US" sz="1050" dirty="0">
                <a:latin typeface="Segoe UI"/>
                <a:cs typeface="Segoe UI"/>
              </a:rPr>
              <a:t>Azure</a:t>
            </a:r>
            <a:r>
              <a:rPr lang="en-US" sz="1050" spc="-20" dirty="0">
                <a:latin typeface="Segoe UI"/>
                <a:cs typeface="Segoe UI"/>
              </a:rPr>
              <a:t> </a:t>
            </a:r>
            <a:r>
              <a:rPr lang="en-US" sz="1050" dirty="0">
                <a:latin typeface="Segoe UI"/>
                <a:cs typeface="Segoe UI"/>
              </a:rPr>
              <a:t>Open</a:t>
            </a:r>
            <a:r>
              <a:rPr lang="en-US" sz="1050" spc="-35" dirty="0">
                <a:latin typeface="Segoe UI"/>
                <a:cs typeface="Segoe UI"/>
              </a:rPr>
              <a:t> </a:t>
            </a:r>
            <a:r>
              <a:rPr lang="en-US" sz="1050" dirty="0">
                <a:latin typeface="Segoe UI"/>
                <a:cs typeface="Segoe UI"/>
              </a:rPr>
              <a:t>AI,</a:t>
            </a:r>
            <a:r>
              <a:rPr lang="en-US" sz="1050" spc="-45" dirty="0">
                <a:latin typeface="Segoe UI"/>
                <a:cs typeface="Segoe UI"/>
              </a:rPr>
              <a:t> </a:t>
            </a:r>
            <a:r>
              <a:rPr lang="en-US" sz="1050" dirty="0">
                <a:latin typeface="Segoe UI"/>
                <a:cs typeface="Segoe UI"/>
              </a:rPr>
              <a:t>Azure</a:t>
            </a:r>
            <a:r>
              <a:rPr lang="en-US" sz="1050" spc="-20" dirty="0">
                <a:latin typeface="Segoe UI"/>
                <a:cs typeface="Segoe UI"/>
              </a:rPr>
              <a:t> </a:t>
            </a:r>
            <a:r>
              <a:rPr lang="en-US" sz="1050" dirty="0">
                <a:latin typeface="Segoe UI"/>
                <a:cs typeface="Segoe UI"/>
              </a:rPr>
              <a:t>AI</a:t>
            </a:r>
            <a:r>
              <a:rPr lang="en-US" sz="1050" spc="-35" dirty="0">
                <a:latin typeface="Segoe UI"/>
                <a:cs typeface="Segoe UI"/>
              </a:rPr>
              <a:t> </a:t>
            </a:r>
            <a:r>
              <a:rPr lang="en-US" sz="1050" spc="-10" dirty="0">
                <a:latin typeface="Segoe UI"/>
                <a:cs typeface="Segoe UI"/>
              </a:rPr>
              <a:t>Services, </a:t>
            </a:r>
            <a:r>
              <a:rPr lang="en-US" sz="1050" dirty="0">
                <a:latin typeface="Segoe UI"/>
                <a:cs typeface="Segoe UI"/>
              </a:rPr>
              <a:t>Developer</a:t>
            </a:r>
            <a:r>
              <a:rPr lang="en-US" sz="1050" spc="-20" dirty="0">
                <a:latin typeface="Segoe UI"/>
                <a:cs typeface="Segoe UI"/>
              </a:rPr>
              <a:t> </a:t>
            </a:r>
            <a:r>
              <a:rPr lang="en-US" sz="1050" dirty="0">
                <a:latin typeface="Segoe UI"/>
                <a:cs typeface="Segoe UI"/>
              </a:rPr>
              <a:t>(GitHub</a:t>
            </a:r>
            <a:r>
              <a:rPr lang="en-US" sz="1050" spc="-35" dirty="0">
                <a:latin typeface="Segoe UI"/>
                <a:cs typeface="Segoe UI"/>
              </a:rPr>
              <a:t> </a:t>
            </a:r>
            <a:r>
              <a:rPr lang="en-US" sz="1050" dirty="0">
                <a:latin typeface="Segoe UI"/>
                <a:cs typeface="Segoe UI"/>
              </a:rPr>
              <a:t>Enterprise,</a:t>
            </a:r>
            <a:r>
              <a:rPr lang="en-US" sz="1050" spc="-10" dirty="0">
                <a:latin typeface="Segoe UI"/>
                <a:cs typeface="Segoe UI"/>
              </a:rPr>
              <a:t> </a:t>
            </a:r>
            <a:r>
              <a:rPr lang="en-US" sz="1050" dirty="0">
                <a:latin typeface="Segoe UI"/>
                <a:cs typeface="Segoe UI"/>
              </a:rPr>
              <a:t>GitHub</a:t>
            </a:r>
            <a:r>
              <a:rPr lang="en-US" sz="1050" spc="-35" dirty="0">
                <a:latin typeface="Segoe UI"/>
                <a:cs typeface="Segoe UI"/>
              </a:rPr>
              <a:t> </a:t>
            </a:r>
            <a:r>
              <a:rPr lang="en-US" sz="1050" dirty="0">
                <a:latin typeface="Segoe UI"/>
                <a:cs typeface="Segoe UI"/>
              </a:rPr>
              <a:t>Advanced</a:t>
            </a:r>
            <a:r>
              <a:rPr lang="en-US" sz="1050" spc="-20" dirty="0">
                <a:latin typeface="Segoe UI"/>
                <a:cs typeface="Segoe UI"/>
              </a:rPr>
              <a:t> </a:t>
            </a:r>
            <a:r>
              <a:rPr lang="en-US" sz="1050" dirty="0">
                <a:latin typeface="Segoe UI"/>
                <a:cs typeface="Segoe UI"/>
              </a:rPr>
              <a:t>Security,</a:t>
            </a:r>
            <a:r>
              <a:rPr lang="en-US" sz="1050" spc="-5" dirty="0">
                <a:latin typeface="Segoe UI"/>
                <a:cs typeface="Segoe UI"/>
              </a:rPr>
              <a:t> </a:t>
            </a:r>
            <a:r>
              <a:rPr lang="en-US" sz="1050" dirty="0">
                <a:latin typeface="Segoe UI"/>
                <a:cs typeface="Segoe UI"/>
              </a:rPr>
              <a:t>GitHub</a:t>
            </a:r>
            <a:r>
              <a:rPr lang="en-US" sz="1050" spc="-35" dirty="0">
                <a:latin typeface="Segoe UI"/>
                <a:cs typeface="Segoe UI"/>
              </a:rPr>
              <a:t> </a:t>
            </a:r>
            <a:r>
              <a:rPr lang="en-US" sz="1050" dirty="0">
                <a:latin typeface="Segoe UI"/>
                <a:cs typeface="Segoe UI"/>
              </a:rPr>
              <a:t>Copilot,</a:t>
            </a:r>
            <a:r>
              <a:rPr lang="en-US" sz="1050" spc="-35" dirty="0">
                <a:latin typeface="Segoe UI"/>
                <a:cs typeface="Segoe UI"/>
              </a:rPr>
              <a:t> </a:t>
            </a:r>
            <a:r>
              <a:rPr lang="en-US" sz="1050" dirty="0">
                <a:latin typeface="Segoe UI"/>
                <a:cs typeface="Segoe UI"/>
              </a:rPr>
              <a:t>GitHub</a:t>
            </a:r>
            <a:r>
              <a:rPr lang="en-US" sz="1050" spc="-20" dirty="0">
                <a:latin typeface="Segoe UI"/>
                <a:cs typeface="Segoe UI"/>
              </a:rPr>
              <a:t> </a:t>
            </a:r>
            <a:r>
              <a:rPr lang="en-US" sz="1050" dirty="0">
                <a:latin typeface="Segoe UI"/>
                <a:cs typeface="Segoe UI"/>
              </a:rPr>
              <a:t>Actions,</a:t>
            </a:r>
            <a:r>
              <a:rPr lang="en-US" sz="1050" spc="-40" dirty="0">
                <a:latin typeface="Segoe UI"/>
                <a:cs typeface="Segoe UI"/>
              </a:rPr>
              <a:t> </a:t>
            </a:r>
            <a:r>
              <a:rPr lang="en-US" sz="1050" dirty="0">
                <a:latin typeface="Segoe UI"/>
                <a:cs typeface="Segoe UI"/>
              </a:rPr>
              <a:t>GitHub</a:t>
            </a:r>
            <a:r>
              <a:rPr lang="en-US" sz="1050" spc="-15" dirty="0">
                <a:latin typeface="Segoe UI"/>
                <a:cs typeface="Segoe UI"/>
              </a:rPr>
              <a:t> </a:t>
            </a:r>
            <a:r>
              <a:rPr lang="en-US" sz="1050" dirty="0">
                <a:latin typeface="Segoe UI"/>
                <a:cs typeface="Segoe UI"/>
              </a:rPr>
              <a:t>Codespaces</a:t>
            </a:r>
            <a:r>
              <a:rPr lang="en-US" sz="1050" spc="15" dirty="0">
                <a:latin typeface="Segoe UI"/>
                <a:cs typeface="Segoe UI"/>
              </a:rPr>
              <a:t> </a:t>
            </a:r>
            <a:r>
              <a:rPr lang="en-US" sz="1050" dirty="0">
                <a:latin typeface="Segoe UI"/>
                <a:cs typeface="Segoe UI"/>
              </a:rPr>
              <a:t>etc.</a:t>
            </a:r>
            <a:r>
              <a:rPr lang="en-US" sz="1050" spc="-25" dirty="0">
                <a:latin typeface="Segoe UI"/>
                <a:cs typeface="Segoe UI"/>
              </a:rPr>
              <a:t> </a:t>
            </a:r>
          </a:p>
          <a:p>
            <a:pPr marL="12700" marR="5080" algn="just">
              <a:lnSpc>
                <a:spcPct val="100000"/>
              </a:lnSpc>
            </a:pPr>
            <a:r>
              <a:rPr lang="en-US" sz="1050" dirty="0">
                <a:latin typeface="Segoe UI"/>
                <a:cs typeface="Segoe UI"/>
              </a:rPr>
              <a:t>Rackspace is required</a:t>
            </a:r>
            <a:r>
              <a:rPr lang="en-US" sz="1050" spc="-25" dirty="0">
                <a:latin typeface="Segoe UI"/>
                <a:cs typeface="Segoe UI"/>
              </a:rPr>
              <a:t> </a:t>
            </a:r>
            <a:r>
              <a:rPr lang="en-US" sz="1050" dirty="0">
                <a:latin typeface="Segoe UI"/>
                <a:cs typeface="Segoe UI"/>
              </a:rPr>
              <a:t>to</a:t>
            </a:r>
            <a:r>
              <a:rPr lang="en-US" sz="1050" spc="-35" dirty="0">
                <a:latin typeface="Segoe UI"/>
                <a:cs typeface="Segoe UI"/>
              </a:rPr>
              <a:t> </a:t>
            </a:r>
            <a:r>
              <a:rPr lang="en-US" sz="1050" dirty="0">
                <a:latin typeface="Segoe UI"/>
                <a:cs typeface="Segoe UI"/>
              </a:rPr>
              <a:t>perform</a:t>
            </a:r>
            <a:r>
              <a:rPr lang="en-US" sz="1050" spc="-15" dirty="0">
                <a:latin typeface="Segoe UI"/>
                <a:cs typeface="Segoe UI"/>
              </a:rPr>
              <a:t> </a:t>
            </a:r>
            <a:r>
              <a:rPr lang="en-US" sz="1050" dirty="0">
                <a:latin typeface="Segoe UI"/>
                <a:cs typeface="Segoe UI"/>
              </a:rPr>
              <a:t>specific</a:t>
            </a:r>
            <a:r>
              <a:rPr lang="en-US" sz="1050" spc="-25" dirty="0">
                <a:latin typeface="Segoe UI"/>
                <a:cs typeface="Segoe UI"/>
              </a:rPr>
              <a:t> </a:t>
            </a:r>
            <a:r>
              <a:rPr lang="en-US" sz="1050" dirty="0">
                <a:latin typeface="Segoe UI"/>
                <a:cs typeface="Segoe UI"/>
              </a:rPr>
              <a:t>milestones</a:t>
            </a:r>
            <a:r>
              <a:rPr lang="en-US" sz="1050" spc="-15" dirty="0">
                <a:latin typeface="Segoe UI"/>
                <a:cs typeface="Segoe UI"/>
              </a:rPr>
              <a:t> </a:t>
            </a:r>
            <a:r>
              <a:rPr lang="en-US" sz="1050" dirty="0">
                <a:latin typeface="Segoe UI"/>
                <a:cs typeface="Segoe UI"/>
              </a:rPr>
              <a:t>in</a:t>
            </a:r>
            <a:r>
              <a:rPr lang="en-US" sz="1050" spc="-40" dirty="0">
                <a:latin typeface="Segoe UI"/>
                <a:cs typeface="Segoe UI"/>
              </a:rPr>
              <a:t> </a:t>
            </a:r>
            <a:r>
              <a:rPr lang="en-US" sz="1050" dirty="0">
                <a:latin typeface="Segoe UI"/>
                <a:cs typeface="Segoe UI"/>
              </a:rPr>
              <a:t>the</a:t>
            </a:r>
            <a:r>
              <a:rPr lang="en-US" sz="1050" spc="-30" dirty="0">
                <a:latin typeface="Segoe UI"/>
                <a:cs typeface="Segoe UI"/>
              </a:rPr>
              <a:t> </a:t>
            </a:r>
            <a:r>
              <a:rPr lang="en-US" sz="1050" dirty="0">
                <a:latin typeface="Segoe UI"/>
                <a:cs typeface="Segoe UI"/>
              </a:rPr>
              <a:t>project</a:t>
            </a:r>
            <a:r>
              <a:rPr lang="en-US" sz="1050" spc="-25" dirty="0">
                <a:latin typeface="Segoe UI"/>
                <a:cs typeface="Segoe UI"/>
              </a:rPr>
              <a:t> </a:t>
            </a:r>
            <a:r>
              <a:rPr lang="en-US" sz="1050" dirty="0">
                <a:latin typeface="Segoe UI"/>
                <a:cs typeface="Segoe UI"/>
              </a:rPr>
              <a:t>through</a:t>
            </a:r>
            <a:r>
              <a:rPr lang="en-US" sz="1050" spc="-30" dirty="0">
                <a:latin typeface="Segoe UI"/>
                <a:cs typeface="Segoe UI"/>
              </a:rPr>
              <a:t> </a:t>
            </a:r>
            <a:r>
              <a:rPr lang="en-US" sz="1050" spc="-25" dirty="0">
                <a:latin typeface="Segoe UI"/>
                <a:cs typeface="Segoe UI"/>
              </a:rPr>
              <a:t>the </a:t>
            </a:r>
            <a:r>
              <a:rPr lang="en-US" sz="1050" dirty="0">
                <a:latin typeface="Segoe UI"/>
                <a:cs typeface="Segoe UI"/>
              </a:rPr>
              <a:t>following</a:t>
            </a:r>
            <a:r>
              <a:rPr lang="en-US" sz="1050" spc="-40" dirty="0">
                <a:latin typeface="Segoe UI"/>
                <a:cs typeface="Segoe UI"/>
              </a:rPr>
              <a:t> </a:t>
            </a:r>
            <a:r>
              <a:rPr lang="en-US" sz="1050" dirty="0">
                <a:latin typeface="Segoe UI"/>
                <a:cs typeface="Segoe UI"/>
              </a:rPr>
              <a:t>activities:</a:t>
            </a:r>
            <a:r>
              <a:rPr lang="en-US" sz="1050" spc="-5" dirty="0">
                <a:latin typeface="Segoe UI"/>
                <a:cs typeface="Segoe UI"/>
              </a:rPr>
              <a:t> </a:t>
            </a:r>
          </a:p>
          <a:p>
            <a:pPr marL="241300" marR="5080" indent="-228600" algn="just">
              <a:lnSpc>
                <a:spcPct val="100000"/>
              </a:lnSpc>
              <a:buAutoNum type="arabicPeriod"/>
            </a:pPr>
            <a:r>
              <a:rPr lang="en-US" sz="1050" dirty="0">
                <a:latin typeface="Segoe UI"/>
                <a:cs typeface="Segoe UI"/>
              </a:rPr>
              <a:t>Landing</a:t>
            </a:r>
            <a:r>
              <a:rPr lang="en-US" sz="1050" spc="-15" dirty="0">
                <a:latin typeface="Segoe UI"/>
                <a:cs typeface="Segoe UI"/>
              </a:rPr>
              <a:t> </a:t>
            </a:r>
            <a:r>
              <a:rPr lang="en-US" sz="1050" dirty="0">
                <a:latin typeface="Segoe UI"/>
                <a:cs typeface="Segoe UI"/>
              </a:rPr>
              <a:t>zone</a:t>
            </a:r>
            <a:r>
              <a:rPr lang="en-US" sz="1050" spc="-35" dirty="0">
                <a:latin typeface="Segoe UI"/>
                <a:cs typeface="Segoe UI"/>
              </a:rPr>
              <a:t> </a:t>
            </a:r>
            <a:r>
              <a:rPr lang="en-US" sz="1050" dirty="0">
                <a:latin typeface="Segoe UI"/>
                <a:cs typeface="Segoe UI"/>
              </a:rPr>
              <a:t>setup</a:t>
            </a:r>
            <a:r>
              <a:rPr lang="en-US" sz="1050" spc="-20" dirty="0">
                <a:latin typeface="Segoe UI"/>
                <a:cs typeface="Segoe UI"/>
              </a:rPr>
              <a:t> </a:t>
            </a:r>
            <a:r>
              <a:rPr lang="en-US" sz="1050" dirty="0">
                <a:latin typeface="Segoe UI"/>
                <a:cs typeface="Segoe UI"/>
              </a:rPr>
              <a:t>or</a:t>
            </a:r>
            <a:r>
              <a:rPr lang="en-US" sz="1050" spc="-25" dirty="0">
                <a:latin typeface="Segoe UI"/>
                <a:cs typeface="Segoe UI"/>
              </a:rPr>
              <a:t> </a:t>
            </a:r>
            <a:r>
              <a:rPr lang="en-US" sz="1050" dirty="0">
                <a:latin typeface="Segoe UI"/>
                <a:cs typeface="Segoe UI"/>
              </a:rPr>
              <a:t>review</a:t>
            </a:r>
            <a:r>
              <a:rPr lang="en-US" sz="1050" spc="-20" dirty="0">
                <a:latin typeface="Segoe UI"/>
                <a:cs typeface="Segoe UI"/>
              </a:rPr>
              <a:t> </a:t>
            </a:r>
          </a:p>
          <a:p>
            <a:pPr marL="241300" marR="5080" indent="-228600" algn="just">
              <a:lnSpc>
                <a:spcPct val="100000"/>
              </a:lnSpc>
              <a:buAutoNum type="arabicPeriod"/>
            </a:pPr>
            <a:r>
              <a:rPr lang="en-US" sz="1050" dirty="0">
                <a:latin typeface="Segoe UI"/>
                <a:cs typeface="Segoe UI"/>
              </a:rPr>
              <a:t>Deployment</a:t>
            </a:r>
            <a:r>
              <a:rPr lang="en-US" sz="1050" spc="5" dirty="0">
                <a:latin typeface="Segoe UI"/>
                <a:cs typeface="Segoe UI"/>
              </a:rPr>
              <a:t> </a:t>
            </a:r>
            <a:r>
              <a:rPr lang="en-US" sz="1050" dirty="0">
                <a:latin typeface="Segoe UI"/>
                <a:cs typeface="Segoe UI"/>
              </a:rPr>
              <a:t>of</a:t>
            </a:r>
            <a:r>
              <a:rPr lang="en-US" sz="1050" spc="-25" dirty="0">
                <a:latin typeface="Segoe UI"/>
                <a:cs typeface="Segoe UI"/>
              </a:rPr>
              <a:t> </a:t>
            </a:r>
            <a:r>
              <a:rPr lang="en-US" sz="1050" dirty="0">
                <a:latin typeface="Segoe UI"/>
                <a:cs typeface="Segoe UI"/>
              </a:rPr>
              <a:t>new</a:t>
            </a:r>
            <a:r>
              <a:rPr lang="en-US" sz="1050" spc="-20" dirty="0">
                <a:latin typeface="Segoe UI"/>
                <a:cs typeface="Segoe UI"/>
              </a:rPr>
              <a:t> </a:t>
            </a:r>
            <a:r>
              <a:rPr lang="en-US" sz="1050" dirty="0">
                <a:latin typeface="Segoe UI"/>
                <a:cs typeface="Segoe UI"/>
              </a:rPr>
              <a:t>workloads</a:t>
            </a:r>
            <a:r>
              <a:rPr lang="en-US" sz="1050" spc="-10" dirty="0">
                <a:latin typeface="Segoe UI"/>
                <a:cs typeface="Segoe UI"/>
              </a:rPr>
              <a:t> </a:t>
            </a:r>
            <a:r>
              <a:rPr lang="en-US" sz="1050" dirty="0">
                <a:latin typeface="Segoe UI"/>
                <a:cs typeface="Segoe UI"/>
              </a:rPr>
              <a:t>listed</a:t>
            </a:r>
            <a:r>
              <a:rPr lang="en-US" sz="1050" spc="-30" dirty="0">
                <a:latin typeface="Segoe UI"/>
                <a:cs typeface="Segoe UI"/>
              </a:rPr>
              <a:t> </a:t>
            </a:r>
            <a:r>
              <a:rPr lang="en-US" sz="1050" spc="-10" dirty="0">
                <a:latin typeface="Segoe UI"/>
                <a:cs typeface="Segoe UI"/>
              </a:rPr>
              <a:t>above.</a:t>
            </a:r>
            <a:endParaRPr lang="en-US" sz="1050" dirty="0">
              <a:latin typeface="Segoe UI"/>
              <a:cs typeface="Segoe UI"/>
            </a:endParaRPr>
          </a:p>
          <a:p>
            <a:pPr marL="12700" marR="676910">
              <a:lnSpc>
                <a:spcPct val="100000"/>
              </a:lnSpc>
            </a:pPr>
            <a:endParaRPr lang="en-US" sz="1050" dirty="0">
              <a:latin typeface="Segoe UI"/>
              <a:cs typeface="Segoe UI"/>
            </a:endParaRPr>
          </a:p>
          <a:p>
            <a:pPr marL="12700" marR="5080">
              <a:lnSpc>
                <a:spcPct val="100000"/>
              </a:lnSpc>
              <a:spcBef>
                <a:spcPts val="95"/>
              </a:spcBef>
            </a:pPr>
            <a:endParaRPr sz="1050" dirty="0">
              <a:latin typeface="Segoe UI"/>
              <a:cs typeface="Segoe UI"/>
            </a:endParaRPr>
          </a:p>
        </p:txBody>
      </p:sp>
      <p:sp>
        <p:nvSpPr>
          <p:cNvPr id="11" name="Title 1">
            <a:extLst>
              <a:ext uri="{FF2B5EF4-FFF2-40B4-BE49-F238E27FC236}">
                <a16:creationId xmlns:a16="http://schemas.microsoft.com/office/drawing/2014/main" id="{228FE2BC-E892-133B-B394-29BFA78F0EE8}"/>
              </a:ext>
            </a:extLst>
          </p:cNvPr>
          <p:cNvSpPr txBox="1">
            <a:spLocks/>
          </p:cNvSpPr>
          <p:nvPr/>
        </p:nvSpPr>
        <p:spPr>
          <a:xfrm>
            <a:off x="326699" y="3588773"/>
            <a:ext cx="11568700" cy="387440"/>
          </a:xfrm>
        </p:spPr>
        <p:txBody>
          <a:bodyPr/>
          <a:lst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a:lstStyle>
          <a:p>
            <a:r>
              <a:rPr lang="en-US" sz="2200" dirty="0"/>
              <a:t>Azure Accelerate: AI Apps, Agents and Developer</a:t>
            </a:r>
          </a:p>
        </p:txBody>
      </p:sp>
      <p:graphicFrame>
        <p:nvGraphicFramePr>
          <p:cNvPr id="12" name="object 49">
            <a:extLst>
              <a:ext uri="{FF2B5EF4-FFF2-40B4-BE49-F238E27FC236}">
                <a16:creationId xmlns:a16="http://schemas.microsoft.com/office/drawing/2014/main" id="{FC924D0E-2119-531B-3213-5797C7603A18}"/>
              </a:ext>
            </a:extLst>
          </p:cNvPr>
          <p:cNvGraphicFramePr>
            <a:graphicFrameLocks noGrp="1"/>
          </p:cNvGraphicFramePr>
          <p:nvPr>
            <p:extLst>
              <p:ext uri="{D42A27DB-BD31-4B8C-83A1-F6EECF244321}">
                <p14:modId xmlns:p14="http://schemas.microsoft.com/office/powerpoint/2010/main" val="1527503997"/>
              </p:ext>
            </p:extLst>
          </p:nvPr>
        </p:nvGraphicFramePr>
        <p:xfrm>
          <a:off x="6550058" y="4829628"/>
          <a:ext cx="5209636" cy="1795482"/>
        </p:xfrm>
        <a:graphic>
          <a:graphicData uri="http://schemas.openxmlformats.org/drawingml/2006/table">
            <a:tbl>
              <a:tblPr firstRow="1" bandRow="1">
                <a:tableStyleId>{2D5ABB26-0587-4C30-8999-92F81FD0307C}</a:tableStyleId>
              </a:tblPr>
              <a:tblGrid>
                <a:gridCol w="3092265">
                  <a:extLst>
                    <a:ext uri="{9D8B030D-6E8A-4147-A177-3AD203B41FA5}">
                      <a16:colId xmlns:a16="http://schemas.microsoft.com/office/drawing/2014/main" val="20000"/>
                    </a:ext>
                  </a:extLst>
                </a:gridCol>
                <a:gridCol w="681037">
                  <a:extLst>
                    <a:ext uri="{9D8B030D-6E8A-4147-A177-3AD203B41FA5}">
                      <a16:colId xmlns:a16="http://schemas.microsoft.com/office/drawing/2014/main" val="20001"/>
                    </a:ext>
                  </a:extLst>
                </a:gridCol>
                <a:gridCol w="718167">
                  <a:extLst>
                    <a:ext uri="{9D8B030D-6E8A-4147-A177-3AD203B41FA5}">
                      <a16:colId xmlns:a16="http://schemas.microsoft.com/office/drawing/2014/main" val="1725608647"/>
                    </a:ext>
                  </a:extLst>
                </a:gridCol>
                <a:gridCol w="718167">
                  <a:extLst>
                    <a:ext uri="{9D8B030D-6E8A-4147-A177-3AD203B41FA5}">
                      <a16:colId xmlns:a16="http://schemas.microsoft.com/office/drawing/2014/main" val="1388840556"/>
                    </a:ext>
                  </a:extLst>
                </a:gridCol>
              </a:tblGrid>
              <a:tr h="209254">
                <a:tc>
                  <a:txBody>
                    <a:bodyPr/>
                    <a:lstStyle/>
                    <a:p>
                      <a:pPr marL="40640">
                        <a:lnSpc>
                          <a:spcPct val="100000"/>
                        </a:lnSpc>
                      </a:pPr>
                      <a:r>
                        <a:rPr sz="900" dirty="0">
                          <a:solidFill>
                            <a:schemeClr val="tx1"/>
                          </a:solidFill>
                          <a:latin typeface="Segoe UI Semibold"/>
                          <a:cs typeface="Segoe UI Semibold"/>
                        </a:rPr>
                        <a:t>Project</a:t>
                      </a:r>
                      <a:r>
                        <a:rPr sz="900" spc="-45" dirty="0">
                          <a:solidFill>
                            <a:schemeClr val="tx1"/>
                          </a:solidFill>
                          <a:latin typeface="Segoe UI Semibold"/>
                          <a:cs typeface="Segoe UI Semibold"/>
                        </a:rPr>
                        <a:t> </a:t>
                      </a:r>
                      <a:r>
                        <a:rPr sz="900" spc="-20" dirty="0">
                          <a:solidFill>
                            <a:schemeClr val="tx1"/>
                          </a:solidFill>
                          <a:latin typeface="Segoe UI Semibold"/>
                          <a:cs typeface="Segoe UI Semibold"/>
                        </a:rPr>
                        <a:t>Size</a:t>
                      </a:r>
                      <a:endParaRPr sz="900" dirty="0">
                        <a:solidFill>
                          <a:schemeClr val="tx1"/>
                        </a:solidFill>
                        <a:latin typeface="Segoe UI Semibold"/>
                        <a:cs typeface="Segoe UI Semibold"/>
                      </a:endParaRPr>
                    </a:p>
                  </a:txBody>
                  <a:tcPr marL="0" marR="0" marT="3175" marB="0">
                    <a:lnL w="6350">
                      <a:solidFill>
                        <a:srgbClr val="C3E4FF"/>
                      </a:solidFill>
                      <a:prstDash val="solid"/>
                    </a:lnL>
                    <a:lnR w="6350">
                      <a:solidFill>
                        <a:srgbClr val="D9D9D9"/>
                      </a:solidFill>
                      <a:prstDash val="solid"/>
                    </a:lnR>
                    <a:lnT w="6350">
                      <a:solidFill>
                        <a:srgbClr val="C3E4FF"/>
                      </a:solidFill>
                      <a:prstDash val="solid"/>
                    </a:lnT>
                    <a:solidFill>
                      <a:schemeClr val="accent1">
                        <a:alpha val="50195"/>
                      </a:schemeClr>
                    </a:solidFill>
                  </a:tcPr>
                </a:tc>
                <a:tc>
                  <a:txBody>
                    <a:bodyPr/>
                    <a:lstStyle/>
                    <a:p>
                      <a:pPr marL="635" algn="ctr">
                        <a:lnSpc>
                          <a:spcPct val="100000"/>
                        </a:lnSpc>
                      </a:pPr>
                      <a:r>
                        <a:rPr sz="900" dirty="0">
                          <a:solidFill>
                            <a:schemeClr val="tx1"/>
                          </a:solidFill>
                          <a:latin typeface="Segoe UI Semibold"/>
                          <a:cs typeface="Segoe UI Semibold"/>
                        </a:rPr>
                        <a:t>Payment</a:t>
                      </a:r>
                    </a:p>
                  </a:txBody>
                  <a:tcPr marL="0" marR="0" marT="3175" marB="0">
                    <a:lnL w="6350">
                      <a:solidFill>
                        <a:srgbClr val="D9D9D9"/>
                      </a:solidFill>
                      <a:prstDash val="solid"/>
                    </a:lnL>
                    <a:lnR w="6350" cap="flat" cmpd="sng" algn="ctr">
                      <a:solidFill>
                        <a:srgbClr val="D9D9D9"/>
                      </a:solidFill>
                      <a:prstDash val="solid"/>
                      <a:round/>
                      <a:headEnd type="none" w="med" len="med"/>
                      <a:tailEnd type="none" w="med" len="med"/>
                    </a:lnR>
                    <a:lnT w="6350">
                      <a:solidFill>
                        <a:srgbClr val="C3E4FF"/>
                      </a:solidFill>
                      <a:prstDash val="solid"/>
                    </a:lnT>
                    <a:solidFill>
                      <a:schemeClr val="accent1">
                        <a:alpha val="50195"/>
                      </a:schemeClr>
                    </a:solidFill>
                  </a:tcPr>
                </a:tc>
                <a:tc>
                  <a:txBody>
                    <a:bodyPr/>
                    <a:lstStyle/>
                    <a:p>
                      <a:pPr marL="635" algn="ctr">
                        <a:lnSpc>
                          <a:spcPct val="100000"/>
                        </a:lnSpc>
                      </a:pPr>
                      <a:r>
                        <a:rPr lang="en-US" sz="900" dirty="0">
                          <a:solidFill>
                            <a:schemeClr val="tx1"/>
                          </a:solidFill>
                          <a:latin typeface="Segoe UI Semibold"/>
                          <a:cs typeface="Segoe UI Semibold"/>
                        </a:rPr>
                        <a:t>Duration</a:t>
                      </a:r>
                      <a:endParaRPr sz="900" dirty="0">
                        <a:solidFill>
                          <a:schemeClr val="tx1"/>
                        </a:solidFill>
                        <a:latin typeface="Segoe UI Semibold"/>
                        <a:cs typeface="Segoe UI Semibold"/>
                      </a:endParaRPr>
                    </a:p>
                  </a:txBody>
                  <a:tcPr marL="0" marR="0" marT="317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a:solidFill>
                        <a:srgbClr val="C3E4FF"/>
                      </a:solidFill>
                      <a:prstDash val="solid"/>
                    </a:lnT>
                    <a:solidFill>
                      <a:schemeClr val="accent1">
                        <a:alpha val="50195"/>
                      </a:schemeClr>
                    </a:solidFill>
                  </a:tcPr>
                </a:tc>
                <a:tc>
                  <a:txBody>
                    <a:bodyPr/>
                    <a:lstStyle/>
                    <a:p>
                      <a:pPr marL="635" algn="ctr">
                        <a:lnSpc>
                          <a:spcPct val="100000"/>
                        </a:lnSpc>
                      </a:pPr>
                      <a:r>
                        <a:rPr lang="en-US" sz="900" dirty="0">
                          <a:solidFill>
                            <a:schemeClr val="tx1"/>
                          </a:solidFill>
                          <a:latin typeface="Segoe UI Semibold"/>
                          <a:cs typeface="Segoe UI Semibold"/>
                        </a:rPr>
                        <a:t>Phase</a:t>
                      </a:r>
                      <a:endParaRPr sz="900" dirty="0">
                        <a:solidFill>
                          <a:schemeClr val="tx1"/>
                        </a:solidFill>
                        <a:latin typeface="Segoe UI Semibold"/>
                        <a:cs typeface="Segoe UI Semibold"/>
                      </a:endParaRPr>
                    </a:p>
                  </a:txBody>
                  <a:tcPr marL="0" marR="0" marT="317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a:solidFill>
                        <a:srgbClr val="C3E4FF"/>
                      </a:solidFill>
                      <a:prstDash val="solid"/>
                    </a:lnT>
                    <a:solidFill>
                      <a:schemeClr val="accent1">
                        <a:alpha val="50195"/>
                      </a:schemeClr>
                    </a:solidFill>
                  </a:tcPr>
                </a:tc>
                <a:extLst>
                  <a:ext uri="{0D108BD9-81ED-4DB2-BD59-A6C34878D82A}">
                    <a16:rowId xmlns:a16="http://schemas.microsoft.com/office/drawing/2014/main" val="10000"/>
                  </a:ext>
                </a:extLst>
              </a:tr>
              <a:tr h="191686">
                <a:tc>
                  <a:txBody>
                    <a:bodyPr/>
                    <a:lstStyle/>
                    <a:p>
                      <a:pPr marL="36195">
                        <a:lnSpc>
                          <a:spcPct val="100000"/>
                        </a:lnSpc>
                        <a:spcBef>
                          <a:spcPts val="355"/>
                        </a:spcBef>
                      </a:pPr>
                      <a:r>
                        <a:rPr sz="800" dirty="0">
                          <a:latin typeface="Segoe UI Semibold"/>
                          <a:cs typeface="Segoe UI Semibold"/>
                        </a:rPr>
                        <a:t>XXS</a:t>
                      </a:r>
                      <a:endParaRPr lang="en-US" sz="800" dirty="0">
                        <a:latin typeface="Segoe UI Semibold"/>
                        <a:cs typeface="Segoe UI Semibold"/>
                      </a:endParaRPr>
                    </a:p>
                    <a:p>
                      <a:pPr marL="36195">
                        <a:lnSpc>
                          <a:spcPct val="100000"/>
                        </a:lnSpc>
                        <a:spcBef>
                          <a:spcPts val="305"/>
                        </a:spcBef>
                      </a:pPr>
                      <a:r>
                        <a:rPr lang="en-US" sz="700" dirty="0">
                          <a:latin typeface="Segoe UI"/>
                          <a:cs typeface="Segoe UI"/>
                        </a:rPr>
                        <a:t>Project</a:t>
                      </a:r>
                      <a:r>
                        <a:rPr lang="en-US" sz="700" spc="-15" dirty="0">
                          <a:latin typeface="Segoe UI"/>
                          <a:cs typeface="Segoe UI"/>
                        </a:rPr>
                        <a:t> </a:t>
                      </a:r>
                      <a:r>
                        <a:rPr lang="en-US" sz="700" dirty="0">
                          <a:latin typeface="Segoe UI"/>
                          <a:cs typeface="Segoe UI"/>
                        </a:rPr>
                        <a:t>size:</a:t>
                      </a:r>
                      <a:r>
                        <a:rPr lang="en-US" sz="700" spc="-25" dirty="0">
                          <a:latin typeface="Segoe UI"/>
                          <a:cs typeface="Segoe UI"/>
                        </a:rPr>
                        <a:t> </a:t>
                      </a:r>
                      <a:r>
                        <a:rPr lang="en-US" sz="700" b="1" dirty="0">
                          <a:latin typeface="Segoe UI"/>
                          <a:cs typeface="Segoe UI"/>
                        </a:rPr>
                        <a:t>$5K</a:t>
                      </a:r>
                      <a:r>
                        <a:rPr lang="en-US" sz="700" b="1" spc="-35" dirty="0">
                          <a:latin typeface="Segoe UI"/>
                          <a:cs typeface="Segoe UI"/>
                        </a:rPr>
                        <a:t> </a:t>
                      </a:r>
                      <a:r>
                        <a:rPr lang="en-US" sz="700" b="1" dirty="0">
                          <a:latin typeface="Segoe UI"/>
                          <a:cs typeface="Segoe UI"/>
                        </a:rPr>
                        <a:t>–</a:t>
                      </a:r>
                      <a:r>
                        <a:rPr lang="en-US" sz="700" b="1" spc="-30" dirty="0">
                          <a:latin typeface="Segoe UI"/>
                          <a:cs typeface="Segoe UI"/>
                        </a:rPr>
                        <a:t> </a:t>
                      </a:r>
                      <a:r>
                        <a:rPr lang="en-US" sz="700" b="1" dirty="0">
                          <a:latin typeface="Segoe UI"/>
                          <a:cs typeface="Segoe UI"/>
                        </a:rPr>
                        <a:t>$15K/year</a:t>
                      </a:r>
                      <a:r>
                        <a:rPr lang="en-US" sz="700" b="1" spc="-15" dirty="0">
                          <a:latin typeface="Segoe UI"/>
                          <a:cs typeface="Segoe UI"/>
                        </a:rPr>
                        <a:t> </a:t>
                      </a:r>
                      <a:r>
                        <a:rPr lang="en-US" sz="700" dirty="0">
                          <a:latin typeface="Segoe UI"/>
                          <a:cs typeface="Segoe UI"/>
                        </a:rPr>
                        <a:t>planned</a:t>
                      </a:r>
                      <a:r>
                        <a:rPr lang="en-US" sz="700" spc="-25" dirty="0">
                          <a:latin typeface="Segoe UI"/>
                          <a:cs typeface="Segoe UI"/>
                        </a:rPr>
                        <a:t> </a:t>
                      </a:r>
                      <a:r>
                        <a:rPr lang="en-US" sz="700" dirty="0">
                          <a:latin typeface="Segoe UI"/>
                          <a:cs typeface="Segoe UI"/>
                        </a:rPr>
                        <a:t>Azure</a:t>
                      </a:r>
                      <a:r>
                        <a:rPr lang="en-US" sz="700" spc="-20" dirty="0">
                          <a:latin typeface="Segoe UI"/>
                          <a:cs typeface="Segoe UI"/>
                        </a:rPr>
                        <a:t> </a:t>
                      </a:r>
                      <a:r>
                        <a:rPr lang="en-US" sz="700" spc="-10" dirty="0">
                          <a:latin typeface="Segoe UI"/>
                          <a:cs typeface="Segoe UI"/>
                        </a:rPr>
                        <a:t>consumption</a:t>
                      </a:r>
                      <a:endParaRPr lang="en-US" sz="700" dirty="0">
                        <a:latin typeface="Segoe UI"/>
                        <a:cs typeface="Segoe UI"/>
                      </a:endParaRPr>
                    </a:p>
                  </a:txBody>
                  <a:tcPr marL="0" marR="0" marT="45085" marB="0">
                    <a:lnL w="6350">
                      <a:solidFill>
                        <a:srgbClr val="D9D9D9"/>
                      </a:solidFill>
                      <a:prstDash val="solid"/>
                    </a:lnL>
                    <a:lnR w="6350">
                      <a:solidFill>
                        <a:srgbClr val="D9D9D9"/>
                      </a:solidFill>
                      <a:prstDash val="solid"/>
                    </a:lnR>
                    <a:lnB w="12700">
                      <a:solidFill>
                        <a:srgbClr val="E6E6E6"/>
                      </a:solidFill>
                      <a:prstDash val="sysDot"/>
                    </a:lnB>
                  </a:tcPr>
                </a:tc>
                <a:tc>
                  <a:txBody>
                    <a:bodyPr/>
                    <a:lstStyle/>
                    <a:p>
                      <a:pPr algn="ctr">
                        <a:lnSpc>
                          <a:spcPct val="100000"/>
                        </a:lnSpc>
                        <a:spcBef>
                          <a:spcPts val="860"/>
                        </a:spcBef>
                      </a:pPr>
                      <a:r>
                        <a:rPr sz="900" dirty="0">
                          <a:latin typeface="Segoe UI Semibold"/>
                          <a:cs typeface="Segoe UI Semibold"/>
                        </a:rPr>
                        <a:t>$2,000</a:t>
                      </a:r>
                    </a:p>
                  </a:txBody>
                  <a:tcPr marL="0" marR="0" marT="109220" marB="0">
                    <a:lnL w="6350">
                      <a:solidFill>
                        <a:srgbClr val="D9D9D9"/>
                      </a:solidFill>
                      <a:prstDash val="solid"/>
                    </a:lnL>
                    <a:lnR w="6350" cap="flat" cmpd="sng" algn="ctr">
                      <a:solidFill>
                        <a:srgbClr val="D9D9D9"/>
                      </a:solidFill>
                      <a:prstDash val="solid"/>
                      <a:round/>
                      <a:headEnd type="none" w="med" len="med"/>
                      <a:tailEnd type="none" w="med" len="med"/>
                    </a:lnR>
                    <a:lnB w="12700">
                      <a:solidFill>
                        <a:srgbClr val="E6E6E6"/>
                      </a:solidFill>
                      <a:prstDash val="sysDot"/>
                    </a:lnB>
                  </a:tcPr>
                </a:tc>
                <a:tc>
                  <a:txBody>
                    <a:bodyPr/>
                    <a:lstStyle/>
                    <a:p>
                      <a:pPr marR="24765" algn="ctr">
                        <a:lnSpc>
                          <a:spcPct val="100000"/>
                        </a:lnSpc>
                        <a:spcBef>
                          <a:spcPts val="860"/>
                        </a:spcBef>
                      </a:pPr>
                      <a:r>
                        <a:rPr sz="900" dirty="0">
                          <a:latin typeface="Segoe UI Semibold"/>
                          <a:cs typeface="Segoe UI Semibold"/>
                        </a:rPr>
                        <a:t>120</a:t>
                      </a:r>
                      <a:r>
                        <a:rPr sz="900" spc="-25" dirty="0">
                          <a:latin typeface="Segoe UI Semibold"/>
                          <a:cs typeface="Segoe UI Semibold"/>
                        </a:rPr>
                        <a:t> </a:t>
                      </a:r>
                      <a:r>
                        <a:rPr sz="900" spc="-20" dirty="0">
                          <a:latin typeface="Segoe UI Semibold"/>
                          <a:cs typeface="Segoe UI Semibold"/>
                        </a:rPr>
                        <a:t>days</a:t>
                      </a:r>
                      <a:endParaRPr sz="900" dirty="0">
                        <a:latin typeface="Segoe UI Semibold"/>
                        <a:cs typeface="Segoe UI Semibold"/>
                      </a:endParaRPr>
                    </a:p>
                  </a:txBody>
                  <a:tcPr marL="0" marR="0" marT="109220"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B w="12700" cap="flat" cmpd="sng" algn="ctr">
                      <a:solidFill>
                        <a:srgbClr val="E6E6E6"/>
                      </a:solidFill>
                      <a:prstDash val="sysDot"/>
                      <a:round/>
                      <a:headEnd type="none" w="med" len="med"/>
                      <a:tailEnd type="none" w="med" len="med"/>
                    </a:lnB>
                  </a:tcPr>
                </a:tc>
                <a:tc>
                  <a:txBody>
                    <a:bodyPr/>
                    <a:lstStyle/>
                    <a:p>
                      <a:pPr>
                        <a:lnSpc>
                          <a:spcPct val="100000"/>
                        </a:lnSpc>
                        <a:spcBef>
                          <a:spcPts val="210"/>
                        </a:spcBef>
                      </a:pPr>
                      <a:endParaRPr sz="900" dirty="0">
                        <a:latin typeface="Times New Roman"/>
                        <a:cs typeface="Times New Roman"/>
                      </a:endParaRPr>
                    </a:p>
                    <a:p>
                      <a:pPr marL="3175" algn="ctr">
                        <a:lnSpc>
                          <a:spcPct val="100000"/>
                        </a:lnSpc>
                      </a:pPr>
                      <a:r>
                        <a:rPr sz="900" spc="-10" dirty="0">
                          <a:latin typeface="Segoe UI Semibold"/>
                          <a:cs typeface="Segoe UI Semibold"/>
                        </a:rPr>
                        <a:t>P</a:t>
                      </a:r>
                      <a:r>
                        <a:rPr lang="en-US" sz="900" spc="-10" dirty="0">
                          <a:latin typeface="Segoe UI Semibold"/>
                          <a:cs typeface="Segoe UI Semibold"/>
                        </a:rPr>
                        <a:t>ost</a:t>
                      </a:r>
                      <a:r>
                        <a:rPr sz="900" spc="-10" dirty="0">
                          <a:latin typeface="Segoe UI Semibold"/>
                          <a:cs typeface="Segoe UI Semibold"/>
                        </a:rPr>
                        <a:t>-sales</a:t>
                      </a:r>
                      <a:endParaRPr sz="900" dirty="0">
                        <a:latin typeface="Segoe UI Semibold"/>
                        <a:cs typeface="Segoe UI Semibold"/>
                      </a:endParaRPr>
                    </a:p>
                  </a:txBody>
                  <a:tcPr marL="0" marR="0" marT="26670" marB="0">
                    <a:lnL w="6350" cap="flat" cmpd="sng" algn="ctr">
                      <a:solidFill>
                        <a:srgbClr val="D9D9D9"/>
                      </a:solidFill>
                      <a:prstDash val="solid"/>
                      <a:round/>
                      <a:headEnd type="none" w="med" len="med"/>
                      <a:tailEnd type="none" w="med" len="med"/>
                    </a:lnL>
                    <a:lnR w="6350">
                      <a:solidFill>
                        <a:srgbClr val="D9D9D9"/>
                      </a:solidFill>
                      <a:prstDash val="solid"/>
                    </a:lnR>
                    <a:lnB w="12700" cap="flat" cmpd="sng" algn="ctr">
                      <a:solidFill>
                        <a:srgbClr val="E6E6E6"/>
                      </a:solidFill>
                      <a:prstDash val="sysDot"/>
                      <a:round/>
                      <a:headEnd type="none" w="med" len="med"/>
                      <a:tailEnd type="none" w="med" len="med"/>
                    </a:lnB>
                  </a:tcPr>
                </a:tc>
                <a:extLst>
                  <a:ext uri="{0D108BD9-81ED-4DB2-BD59-A6C34878D82A}">
                    <a16:rowId xmlns:a16="http://schemas.microsoft.com/office/drawing/2014/main" val="10001"/>
                  </a:ext>
                </a:extLst>
              </a:tr>
              <a:tr h="257273">
                <a:tc>
                  <a:txBody>
                    <a:bodyPr/>
                    <a:lstStyle/>
                    <a:p>
                      <a:pPr marL="36195">
                        <a:lnSpc>
                          <a:spcPct val="100000"/>
                        </a:lnSpc>
                        <a:spcBef>
                          <a:spcPts val="355"/>
                        </a:spcBef>
                      </a:pPr>
                      <a:r>
                        <a:rPr sz="800" dirty="0">
                          <a:latin typeface="Segoe UI Semibold"/>
                          <a:cs typeface="Segoe UI Semibold"/>
                        </a:rPr>
                        <a:t>XS</a:t>
                      </a:r>
                    </a:p>
                    <a:p>
                      <a:pPr marL="36195">
                        <a:lnSpc>
                          <a:spcPct val="100000"/>
                        </a:lnSpc>
                        <a:spcBef>
                          <a:spcPts val="305"/>
                        </a:spcBef>
                      </a:pPr>
                      <a:r>
                        <a:rPr sz="700" dirty="0">
                          <a:latin typeface="Segoe UI"/>
                          <a:cs typeface="Segoe UI"/>
                        </a:rPr>
                        <a:t>Project</a:t>
                      </a:r>
                      <a:r>
                        <a:rPr sz="700" spc="-15" dirty="0">
                          <a:latin typeface="Segoe UI"/>
                          <a:cs typeface="Segoe UI"/>
                        </a:rPr>
                        <a:t> </a:t>
                      </a:r>
                      <a:r>
                        <a:rPr sz="700" dirty="0">
                          <a:latin typeface="Segoe UI"/>
                          <a:cs typeface="Segoe UI"/>
                        </a:rPr>
                        <a:t>size:</a:t>
                      </a:r>
                      <a:r>
                        <a:rPr sz="700" spc="-25" dirty="0">
                          <a:latin typeface="Segoe UI"/>
                          <a:cs typeface="Segoe UI"/>
                        </a:rPr>
                        <a:t> </a:t>
                      </a:r>
                      <a:r>
                        <a:rPr sz="700" dirty="0">
                          <a:latin typeface="Segoe UI"/>
                          <a:cs typeface="Segoe UI"/>
                        </a:rPr>
                        <a:t>&gt;</a:t>
                      </a:r>
                      <a:r>
                        <a:rPr sz="700" b="1" dirty="0">
                          <a:latin typeface="Segoe UI"/>
                          <a:cs typeface="Segoe UI"/>
                        </a:rPr>
                        <a:t>$15K</a:t>
                      </a:r>
                      <a:r>
                        <a:rPr sz="700" b="1" spc="-35" dirty="0">
                          <a:latin typeface="Segoe UI"/>
                          <a:cs typeface="Segoe UI"/>
                        </a:rPr>
                        <a:t> </a:t>
                      </a:r>
                      <a:r>
                        <a:rPr sz="700" b="1" dirty="0">
                          <a:latin typeface="Segoe UI"/>
                          <a:cs typeface="Segoe UI"/>
                        </a:rPr>
                        <a:t>–</a:t>
                      </a:r>
                      <a:r>
                        <a:rPr sz="700" b="1" spc="-35" dirty="0">
                          <a:latin typeface="Segoe UI"/>
                          <a:cs typeface="Segoe UI"/>
                        </a:rPr>
                        <a:t> </a:t>
                      </a:r>
                      <a:r>
                        <a:rPr sz="700" b="1" dirty="0">
                          <a:latin typeface="Segoe UI"/>
                          <a:cs typeface="Segoe UI"/>
                        </a:rPr>
                        <a:t>$50K/year</a:t>
                      </a:r>
                      <a:r>
                        <a:rPr sz="700" b="1" spc="-15" dirty="0">
                          <a:latin typeface="Segoe UI"/>
                          <a:cs typeface="Segoe UI"/>
                        </a:rPr>
                        <a:t> </a:t>
                      </a:r>
                      <a:r>
                        <a:rPr sz="700" dirty="0">
                          <a:latin typeface="Segoe UI"/>
                          <a:cs typeface="Segoe UI"/>
                        </a:rPr>
                        <a:t>planned</a:t>
                      </a:r>
                      <a:r>
                        <a:rPr sz="700" spc="-25" dirty="0">
                          <a:latin typeface="Segoe UI"/>
                          <a:cs typeface="Segoe UI"/>
                        </a:rPr>
                        <a:t> </a:t>
                      </a:r>
                      <a:r>
                        <a:rPr sz="700" dirty="0">
                          <a:latin typeface="Segoe UI"/>
                          <a:cs typeface="Segoe UI"/>
                        </a:rPr>
                        <a:t>Azure</a:t>
                      </a:r>
                      <a:r>
                        <a:rPr sz="700" spc="-20" dirty="0">
                          <a:latin typeface="Segoe UI"/>
                          <a:cs typeface="Segoe UI"/>
                        </a:rPr>
                        <a:t> </a:t>
                      </a:r>
                      <a:r>
                        <a:rPr sz="700" spc="-10" dirty="0">
                          <a:latin typeface="Segoe UI"/>
                          <a:cs typeface="Segoe UI"/>
                        </a:rPr>
                        <a:t>consumption</a:t>
                      </a:r>
                      <a:endParaRPr sz="700" dirty="0">
                        <a:latin typeface="Segoe UI"/>
                        <a:cs typeface="Segoe UI"/>
                      </a:endParaRPr>
                    </a:p>
                  </a:txBody>
                  <a:tcPr marL="0" marR="0" marT="45085" marB="0">
                    <a:lnL w="6350">
                      <a:solidFill>
                        <a:srgbClr val="D9D9D9"/>
                      </a:solidFill>
                      <a:prstDash val="solid"/>
                    </a:lnL>
                    <a:lnR w="6350">
                      <a:solidFill>
                        <a:srgbClr val="D9D9D9"/>
                      </a:solidFill>
                      <a:prstDash val="solid"/>
                    </a:lnR>
                    <a:lnT w="12700">
                      <a:solidFill>
                        <a:srgbClr val="E6E6E6"/>
                      </a:solidFill>
                      <a:prstDash val="sysDot"/>
                    </a:lnT>
                    <a:lnB w="12700">
                      <a:solidFill>
                        <a:srgbClr val="E6E6E6"/>
                      </a:solidFill>
                      <a:prstDash val="sysDot"/>
                    </a:lnB>
                  </a:tcPr>
                </a:tc>
                <a:tc>
                  <a:txBody>
                    <a:bodyPr/>
                    <a:lstStyle/>
                    <a:p>
                      <a:pPr algn="ctr">
                        <a:lnSpc>
                          <a:spcPct val="100000"/>
                        </a:lnSpc>
                        <a:spcBef>
                          <a:spcPts val="865"/>
                        </a:spcBef>
                      </a:pPr>
                      <a:r>
                        <a:rPr sz="900" dirty="0">
                          <a:latin typeface="Segoe UI Semibold"/>
                          <a:cs typeface="Segoe UI Semibold"/>
                        </a:rPr>
                        <a:t>$6,500</a:t>
                      </a:r>
                    </a:p>
                  </a:txBody>
                  <a:tcPr marL="0" marR="0" marT="109855" marB="0">
                    <a:lnL w="6350">
                      <a:solidFill>
                        <a:srgbClr val="D9D9D9"/>
                      </a:solidFill>
                      <a:prstDash val="solid"/>
                    </a:lnL>
                    <a:lnR w="6350" cap="flat" cmpd="sng" algn="ctr">
                      <a:solidFill>
                        <a:srgbClr val="D9D9D9"/>
                      </a:solidFill>
                      <a:prstDash val="solid"/>
                      <a:round/>
                      <a:headEnd type="none" w="med" len="med"/>
                      <a:tailEnd type="none" w="med" len="med"/>
                    </a:lnR>
                    <a:lnT w="12700">
                      <a:solidFill>
                        <a:srgbClr val="E6E6E6"/>
                      </a:solidFill>
                      <a:prstDash val="sysDot"/>
                    </a:lnT>
                    <a:lnB w="12700">
                      <a:solidFill>
                        <a:srgbClr val="E6E6E6"/>
                      </a:solidFill>
                      <a:prstDash val="sysDot"/>
                    </a:lnB>
                  </a:tcPr>
                </a:tc>
                <a:tc>
                  <a:txBody>
                    <a:bodyPr/>
                    <a:lstStyle/>
                    <a:p>
                      <a:pPr marR="24765" algn="ctr">
                        <a:lnSpc>
                          <a:spcPct val="100000"/>
                        </a:lnSpc>
                        <a:spcBef>
                          <a:spcPts val="865"/>
                        </a:spcBef>
                      </a:pPr>
                      <a:r>
                        <a:rPr sz="900" dirty="0">
                          <a:latin typeface="Segoe UI Semibold"/>
                          <a:cs typeface="Segoe UI Semibold"/>
                        </a:rPr>
                        <a:t>120</a:t>
                      </a:r>
                      <a:r>
                        <a:rPr sz="900" spc="-25" dirty="0">
                          <a:latin typeface="Segoe UI Semibold"/>
                          <a:cs typeface="Segoe UI Semibold"/>
                        </a:rPr>
                        <a:t> </a:t>
                      </a:r>
                      <a:r>
                        <a:rPr sz="900" spc="-20" dirty="0">
                          <a:latin typeface="Segoe UI Semibold"/>
                          <a:cs typeface="Segoe UI Semibold"/>
                        </a:rPr>
                        <a:t>days</a:t>
                      </a:r>
                      <a:endParaRPr sz="900" dirty="0">
                        <a:latin typeface="Segoe UI Semibold"/>
                        <a:cs typeface="Segoe UI Semibold"/>
                      </a:endParaRPr>
                    </a:p>
                  </a:txBody>
                  <a:tcPr marL="0" marR="0" marT="10985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12700" cap="flat" cmpd="sng" algn="ctr">
                      <a:solidFill>
                        <a:srgbClr val="E6E6E6"/>
                      </a:solidFill>
                      <a:prstDash val="sysDot"/>
                      <a:round/>
                      <a:headEnd type="none" w="med" len="med"/>
                      <a:tailEnd type="none" w="med" len="med"/>
                    </a:lnT>
                    <a:lnB w="12700" cap="flat" cmpd="sng" algn="ctr">
                      <a:solidFill>
                        <a:srgbClr val="E6E6E6"/>
                      </a:solidFill>
                      <a:prstDash val="sysDot"/>
                      <a:round/>
                      <a:headEnd type="none" w="med" len="med"/>
                      <a:tailEnd type="none" w="med" len="med"/>
                    </a:lnB>
                  </a:tcPr>
                </a:tc>
                <a:tc>
                  <a:txBody>
                    <a:bodyPr/>
                    <a:lstStyle/>
                    <a:p>
                      <a:pPr marL="3175"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000000"/>
                          </a:solidFill>
                          <a:effectLst/>
                          <a:uLnTx/>
                          <a:uFillTx/>
                          <a:latin typeface="Segoe UI Semibold"/>
                          <a:ea typeface="+mn-ea"/>
                          <a:cs typeface="Segoe UI Semibold"/>
                        </a:rPr>
                        <a:t>Post-sales</a:t>
                      </a:r>
                      <a:endPar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a:endParaRPr>
                    </a:p>
                  </a:txBody>
                  <a:tcPr marL="0" marR="0" marT="109855" marB="0">
                    <a:lnL w="6350" cap="flat" cmpd="sng" algn="ctr">
                      <a:solidFill>
                        <a:srgbClr val="D9D9D9"/>
                      </a:solidFill>
                      <a:prstDash val="solid"/>
                      <a:round/>
                      <a:headEnd type="none" w="med" len="med"/>
                      <a:tailEnd type="none" w="med" len="med"/>
                    </a:lnL>
                    <a:lnR w="6350">
                      <a:solidFill>
                        <a:srgbClr val="D9D9D9"/>
                      </a:solidFill>
                      <a:prstDash val="solid"/>
                    </a:lnR>
                    <a:lnT w="12700" cap="flat" cmpd="sng" algn="ctr">
                      <a:solidFill>
                        <a:srgbClr val="E6E6E6"/>
                      </a:solidFill>
                      <a:prstDash val="sysDot"/>
                      <a:round/>
                      <a:headEnd type="none" w="med" len="med"/>
                      <a:tailEnd type="none" w="med" len="med"/>
                    </a:lnT>
                    <a:lnB w="12700" cap="flat" cmpd="sng" algn="ctr">
                      <a:solidFill>
                        <a:srgbClr val="E6E6E6"/>
                      </a:solidFill>
                      <a:prstDash val="sysDot"/>
                      <a:round/>
                      <a:headEnd type="none" w="med" len="med"/>
                      <a:tailEnd type="none" w="med" len="med"/>
                    </a:lnB>
                  </a:tcPr>
                </a:tc>
                <a:extLst>
                  <a:ext uri="{0D108BD9-81ED-4DB2-BD59-A6C34878D82A}">
                    <a16:rowId xmlns:a16="http://schemas.microsoft.com/office/drawing/2014/main" val="10002"/>
                  </a:ext>
                </a:extLst>
              </a:tr>
              <a:tr h="257663">
                <a:tc>
                  <a:txBody>
                    <a:bodyPr/>
                    <a:lstStyle/>
                    <a:p>
                      <a:pPr marL="36195">
                        <a:lnSpc>
                          <a:spcPct val="100000"/>
                        </a:lnSpc>
                        <a:spcBef>
                          <a:spcPts val="359"/>
                        </a:spcBef>
                      </a:pPr>
                      <a:r>
                        <a:rPr lang="en-US" sz="800" dirty="0">
                          <a:latin typeface="Segoe UI Semibold"/>
                          <a:cs typeface="Segoe UI Semibold"/>
                        </a:rPr>
                        <a:t>S</a:t>
                      </a:r>
                    </a:p>
                    <a:p>
                      <a:pPr marL="36195">
                        <a:lnSpc>
                          <a:spcPct val="100000"/>
                        </a:lnSpc>
                        <a:spcBef>
                          <a:spcPts val="359"/>
                        </a:spcBef>
                      </a:pPr>
                      <a:r>
                        <a:rPr sz="700" dirty="0">
                          <a:latin typeface="Segoe UI"/>
                          <a:cs typeface="Segoe UI"/>
                        </a:rPr>
                        <a:t>Project</a:t>
                      </a:r>
                      <a:r>
                        <a:rPr sz="700" spc="-15" dirty="0">
                          <a:latin typeface="Segoe UI"/>
                          <a:cs typeface="Segoe UI"/>
                        </a:rPr>
                        <a:t> </a:t>
                      </a:r>
                      <a:r>
                        <a:rPr sz="700" dirty="0">
                          <a:latin typeface="Segoe UI"/>
                          <a:cs typeface="Segoe UI"/>
                        </a:rPr>
                        <a:t>size:</a:t>
                      </a:r>
                      <a:r>
                        <a:rPr sz="700" spc="-30" dirty="0">
                          <a:latin typeface="Segoe UI"/>
                          <a:cs typeface="Segoe UI"/>
                        </a:rPr>
                        <a:t> </a:t>
                      </a:r>
                      <a:r>
                        <a:rPr sz="700" dirty="0">
                          <a:latin typeface="Segoe UI"/>
                          <a:cs typeface="Segoe UI"/>
                        </a:rPr>
                        <a:t>&gt;</a:t>
                      </a:r>
                      <a:r>
                        <a:rPr sz="700" b="1" dirty="0">
                          <a:latin typeface="Segoe UI"/>
                          <a:cs typeface="Segoe UI"/>
                        </a:rPr>
                        <a:t>$50K</a:t>
                      </a:r>
                      <a:r>
                        <a:rPr sz="700" b="1" spc="-35" dirty="0">
                          <a:latin typeface="Segoe UI"/>
                          <a:cs typeface="Segoe UI"/>
                        </a:rPr>
                        <a:t> </a:t>
                      </a:r>
                      <a:r>
                        <a:rPr sz="700" b="1" dirty="0">
                          <a:latin typeface="Segoe UI"/>
                          <a:cs typeface="Segoe UI"/>
                        </a:rPr>
                        <a:t>–</a:t>
                      </a:r>
                      <a:r>
                        <a:rPr sz="700" b="1" spc="-30" dirty="0">
                          <a:latin typeface="Segoe UI"/>
                          <a:cs typeface="Segoe UI"/>
                        </a:rPr>
                        <a:t> </a:t>
                      </a:r>
                      <a:r>
                        <a:rPr sz="700" b="1" dirty="0">
                          <a:latin typeface="Segoe UI"/>
                          <a:cs typeface="Segoe UI"/>
                        </a:rPr>
                        <a:t>$100K/year</a:t>
                      </a:r>
                      <a:r>
                        <a:rPr sz="700" b="1" spc="-20" dirty="0">
                          <a:latin typeface="Segoe UI"/>
                          <a:cs typeface="Segoe UI"/>
                        </a:rPr>
                        <a:t> </a:t>
                      </a:r>
                      <a:r>
                        <a:rPr sz="700" dirty="0">
                          <a:latin typeface="Segoe UI"/>
                          <a:cs typeface="Segoe UI"/>
                        </a:rPr>
                        <a:t>planned</a:t>
                      </a:r>
                      <a:r>
                        <a:rPr sz="700" spc="-20" dirty="0">
                          <a:latin typeface="Segoe UI"/>
                          <a:cs typeface="Segoe UI"/>
                        </a:rPr>
                        <a:t> </a:t>
                      </a:r>
                      <a:r>
                        <a:rPr sz="700" dirty="0">
                          <a:latin typeface="Segoe UI"/>
                          <a:cs typeface="Segoe UI"/>
                        </a:rPr>
                        <a:t>Azure</a:t>
                      </a:r>
                      <a:r>
                        <a:rPr sz="700" spc="-25" dirty="0">
                          <a:latin typeface="Segoe UI"/>
                          <a:cs typeface="Segoe UI"/>
                        </a:rPr>
                        <a:t> </a:t>
                      </a:r>
                      <a:r>
                        <a:rPr sz="700" spc="-10" dirty="0">
                          <a:latin typeface="Segoe UI"/>
                          <a:cs typeface="Segoe UI"/>
                        </a:rPr>
                        <a:t>consumption</a:t>
                      </a:r>
                      <a:endParaRPr sz="700" dirty="0">
                        <a:latin typeface="Segoe UI"/>
                        <a:cs typeface="Segoe UI"/>
                      </a:endParaRPr>
                    </a:p>
                  </a:txBody>
                  <a:tcPr marL="0" marR="0" marT="45719" marB="0">
                    <a:lnL w="6350">
                      <a:solidFill>
                        <a:srgbClr val="D9D9D9"/>
                      </a:solidFill>
                      <a:prstDash val="solid"/>
                    </a:lnL>
                    <a:lnR w="6350">
                      <a:solidFill>
                        <a:srgbClr val="D9D9D9"/>
                      </a:solidFill>
                      <a:prstDash val="solid"/>
                    </a:lnR>
                    <a:lnT w="12700">
                      <a:solidFill>
                        <a:srgbClr val="E6E6E6"/>
                      </a:solidFill>
                      <a:prstDash val="sysDot"/>
                    </a:lnT>
                    <a:lnB w="6350">
                      <a:solidFill>
                        <a:srgbClr val="D9D9D9"/>
                      </a:solidFill>
                      <a:prstDash val="sysDash"/>
                    </a:lnB>
                  </a:tcPr>
                </a:tc>
                <a:tc>
                  <a:txBody>
                    <a:bodyPr/>
                    <a:lstStyle/>
                    <a:p>
                      <a:pPr algn="ctr">
                        <a:lnSpc>
                          <a:spcPct val="100000"/>
                        </a:lnSpc>
                        <a:spcBef>
                          <a:spcPts val="860"/>
                        </a:spcBef>
                      </a:pPr>
                      <a:r>
                        <a:rPr sz="900" dirty="0">
                          <a:latin typeface="Segoe UI Semibold"/>
                          <a:cs typeface="Segoe UI Semibold"/>
                        </a:rPr>
                        <a:t>$15,000</a:t>
                      </a:r>
                    </a:p>
                  </a:txBody>
                  <a:tcPr marL="0" marR="0" marT="109220" marB="0">
                    <a:lnL w="6350">
                      <a:solidFill>
                        <a:srgbClr val="D9D9D9"/>
                      </a:solidFill>
                      <a:prstDash val="solid"/>
                    </a:lnL>
                    <a:lnR w="6350" cap="flat" cmpd="sng" algn="ctr">
                      <a:solidFill>
                        <a:srgbClr val="D9D9D9"/>
                      </a:solidFill>
                      <a:prstDash val="solid"/>
                      <a:round/>
                      <a:headEnd type="none" w="med" len="med"/>
                      <a:tailEnd type="none" w="med" len="med"/>
                    </a:lnR>
                    <a:lnT w="12700">
                      <a:solidFill>
                        <a:srgbClr val="E6E6E6"/>
                      </a:solidFill>
                      <a:prstDash val="sysDot"/>
                    </a:lnT>
                    <a:lnB w="6350">
                      <a:solidFill>
                        <a:srgbClr val="D9D9D9"/>
                      </a:solidFill>
                      <a:prstDash val="sysDash"/>
                    </a:lnB>
                  </a:tcPr>
                </a:tc>
                <a:tc>
                  <a:txBody>
                    <a:bodyPr/>
                    <a:lstStyle/>
                    <a:p>
                      <a:pPr marR="24765" algn="ctr">
                        <a:lnSpc>
                          <a:spcPct val="100000"/>
                        </a:lnSpc>
                        <a:spcBef>
                          <a:spcPts val="860"/>
                        </a:spcBef>
                      </a:pPr>
                      <a:r>
                        <a:rPr sz="900" dirty="0">
                          <a:latin typeface="Segoe UI Semibold"/>
                          <a:cs typeface="Segoe UI Semibold"/>
                        </a:rPr>
                        <a:t>120</a:t>
                      </a:r>
                      <a:r>
                        <a:rPr sz="900" spc="-25" dirty="0">
                          <a:latin typeface="Segoe UI Semibold"/>
                          <a:cs typeface="Segoe UI Semibold"/>
                        </a:rPr>
                        <a:t> </a:t>
                      </a:r>
                      <a:r>
                        <a:rPr sz="900" spc="-20" dirty="0">
                          <a:latin typeface="Segoe UI Semibold"/>
                          <a:cs typeface="Segoe UI Semibold"/>
                        </a:rPr>
                        <a:t>days</a:t>
                      </a:r>
                      <a:endParaRPr sz="900" dirty="0">
                        <a:latin typeface="Segoe UI Semibold"/>
                        <a:cs typeface="Segoe UI Semibold"/>
                      </a:endParaRPr>
                    </a:p>
                  </a:txBody>
                  <a:tcPr marL="0" marR="0" marT="109220"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12700" cap="flat" cmpd="sng" algn="ctr">
                      <a:solidFill>
                        <a:srgbClr val="E6E6E6"/>
                      </a:solidFill>
                      <a:prstDash val="sysDot"/>
                      <a:round/>
                      <a:headEnd type="none" w="med" len="med"/>
                      <a:tailEnd type="none" w="med" len="med"/>
                    </a:lnT>
                    <a:lnB w="6350" cap="flat" cmpd="sng" algn="ctr">
                      <a:solidFill>
                        <a:srgbClr val="D9D9D9"/>
                      </a:solidFill>
                      <a:prstDash val="sysDash"/>
                      <a:round/>
                      <a:headEnd type="none" w="med" len="med"/>
                      <a:tailEnd type="none" w="med" len="med"/>
                    </a:lnB>
                  </a:tcPr>
                </a:tc>
                <a:tc>
                  <a:txBody>
                    <a:bodyPr/>
                    <a:lstStyle/>
                    <a:p>
                      <a:pPr marL="3175"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000000"/>
                          </a:solidFill>
                          <a:effectLst/>
                          <a:uLnTx/>
                          <a:uFillTx/>
                          <a:latin typeface="Segoe UI Semibold"/>
                          <a:ea typeface="+mn-ea"/>
                          <a:cs typeface="Segoe UI Semibold"/>
                        </a:rPr>
                        <a:t>Post-sales</a:t>
                      </a:r>
                      <a:endPar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a:endParaRPr>
                    </a:p>
                  </a:txBody>
                  <a:tcPr marL="0" marR="0" marT="109220" marB="0">
                    <a:lnL w="6350" cap="flat" cmpd="sng" algn="ctr">
                      <a:solidFill>
                        <a:srgbClr val="D9D9D9"/>
                      </a:solidFill>
                      <a:prstDash val="solid"/>
                      <a:round/>
                      <a:headEnd type="none" w="med" len="med"/>
                      <a:tailEnd type="none" w="med" len="med"/>
                    </a:lnL>
                    <a:lnR w="6350">
                      <a:solidFill>
                        <a:srgbClr val="D9D9D9"/>
                      </a:solidFill>
                      <a:prstDash val="solid"/>
                    </a:lnR>
                    <a:lnT w="12700" cap="flat" cmpd="sng" algn="ctr">
                      <a:solidFill>
                        <a:srgbClr val="E6E6E6"/>
                      </a:solidFill>
                      <a:prstDash val="sysDot"/>
                      <a:round/>
                      <a:headEnd type="none" w="med" len="med"/>
                      <a:tailEnd type="none" w="med" len="med"/>
                    </a:lnT>
                    <a:lnB w="6350" cap="flat" cmpd="sng" algn="ctr">
                      <a:solidFill>
                        <a:srgbClr val="D9D9D9"/>
                      </a:solidFill>
                      <a:prstDash val="sysDash"/>
                      <a:round/>
                      <a:headEnd type="none" w="med" len="med"/>
                      <a:tailEnd type="none" w="med" len="med"/>
                    </a:lnB>
                  </a:tcPr>
                </a:tc>
                <a:extLst>
                  <a:ext uri="{0D108BD9-81ED-4DB2-BD59-A6C34878D82A}">
                    <a16:rowId xmlns:a16="http://schemas.microsoft.com/office/drawing/2014/main" val="10003"/>
                  </a:ext>
                </a:extLst>
              </a:tr>
              <a:tr h="257664">
                <a:tc>
                  <a:txBody>
                    <a:bodyPr/>
                    <a:lstStyle/>
                    <a:p>
                      <a:pPr marL="36195">
                        <a:lnSpc>
                          <a:spcPct val="100000"/>
                        </a:lnSpc>
                        <a:spcBef>
                          <a:spcPts val="360"/>
                        </a:spcBef>
                      </a:pPr>
                      <a:r>
                        <a:rPr lang="en-US" sz="800" dirty="0">
                          <a:latin typeface="Segoe UI Semibold"/>
                          <a:cs typeface="Segoe UI Semibold"/>
                        </a:rPr>
                        <a:t>M</a:t>
                      </a:r>
                      <a:endParaRPr sz="800" dirty="0">
                        <a:latin typeface="Segoe UI Semibold"/>
                        <a:cs typeface="Segoe UI Semibold"/>
                      </a:endParaRPr>
                    </a:p>
                    <a:p>
                      <a:pPr marL="36195">
                        <a:lnSpc>
                          <a:spcPct val="100000"/>
                        </a:lnSpc>
                        <a:spcBef>
                          <a:spcPts val="305"/>
                        </a:spcBef>
                      </a:pPr>
                      <a:r>
                        <a:rPr sz="700" dirty="0">
                          <a:latin typeface="Segoe UI"/>
                          <a:cs typeface="Segoe UI"/>
                        </a:rPr>
                        <a:t>Project</a:t>
                      </a:r>
                      <a:r>
                        <a:rPr sz="700" spc="-20" dirty="0">
                          <a:latin typeface="Segoe UI"/>
                          <a:cs typeface="Segoe UI"/>
                        </a:rPr>
                        <a:t> </a:t>
                      </a:r>
                      <a:r>
                        <a:rPr sz="700" dirty="0">
                          <a:latin typeface="Segoe UI"/>
                          <a:cs typeface="Segoe UI"/>
                        </a:rPr>
                        <a:t>size:</a:t>
                      </a:r>
                      <a:r>
                        <a:rPr sz="700" spc="-25" dirty="0">
                          <a:latin typeface="Segoe UI"/>
                          <a:cs typeface="Segoe UI"/>
                        </a:rPr>
                        <a:t> </a:t>
                      </a:r>
                      <a:r>
                        <a:rPr sz="700" dirty="0">
                          <a:latin typeface="Segoe UI"/>
                          <a:cs typeface="Segoe UI"/>
                        </a:rPr>
                        <a:t>&gt;</a:t>
                      </a:r>
                      <a:r>
                        <a:rPr sz="700" b="1" dirty="0">
                          <a:latin typeface="Segoe UI"/>
                          <a:cs typeface="Segoe UI"/>
                        </a:rPr>
                        <a:t>$100K</a:t>
                      </a:r>
                      <a:r>
                        <a:rPr sz="700" b="1" spc="-30" dirty="0">
                          <a:latin typeface="Segoe UI"/>
                          <a:cs typeface="Segoe UI"/>
                        </a:rPr>
                        <a:t> </a:t>
                      </a:r>
                      <a:r>
                        <a:rPr sz="700" b="1" dirty="0">
                          <a:latin typeface="Segoe UI"/>
                          <a:cs typeface="Segoe UI"/>
                        </a:rPr>
                        <a:t>–</a:t>
                      </a:r>
                      <a:r>
                        <a:rPr sz="700" b="1" spc="-30" dirty="0">
                          <a:latin typeface="Segoe UI"/>
                          <a:cs typeface="Segoe UI"/>
                        </a:rPr>
                        <a:t> </a:t>
                      </a:r>
                      <a:r>
                        <a:rPr sz="700" b="1" dirty="0">
                          <a:latin typeface="Segoe UI"/>
                          <a:cs typeface="Segoe UI"/>
                        </a:rPr>
                        <a:t>$250K/year</a:t>
                      </a:r>
                      <a:r>
                        <a:rPr sz="700" b="1" spc="-20" dirty="0">
                          <a:latin typeface="Segoe UI"/>
                          <a:cs typeface="Segoe UI"/>
                        </a:rPr>
                        <a:t> </a:t>
                      </a:r>
                      <a:r>
                        <a:rPr sz="700" dirty="0">
                          <a:latin typeface="Segoe UI"/>
                          <a:cs typeface="Segoe UI"/>
                        </a:rPr>
                        <a:t>planned</a:t>
                      </a:r>
                      <a:r>
                        <a:rPr sz="700" spc="-25" dirty="0">
                          <a:latin typeface="Segoe UI"/>
                          <a:cs typeface="Segoe UI"/>
                        </a:rPr>
                        <a:t> </a:t>
                      </a:r>
                      <a:r>
                        <a:rPr sz="700" dirty="0">
                          <a:latin typeface="Segoe UI"/>
                          <a:cs typeface="Segoe UI"/>
                        </a:rPr>
                        <a:t>Azure</a:t>
                      </a:r>
                      <a:r>
                        <a:rPr sz="700" spc="-35" dirty="0">
                          <a:latin typeface="Segoe UI"/>
                          <a:cs typeface="Segoe UI"/>
                        </a:rPr>
                        <a:t> </a:t>
                      </a:r>
                      <a:r>
                        <a:rPr sz="700" spc="-10" dirty="0">
                          <a:latin typeface="Segoe UI"/>
                          <a:cs typeface="Segoe UI"/>
                        </a:rPr>
                        <a:t>consumption</a:t>
                      </a:r>
                      <a:endParaRPr sz="700" dirty="0">
                        <a:latin typeface="Segoe UI"/>
                        <a:cs typeface="Segoe UI"/>
                      </a:endParaRPr>
                    </a:p>
                  </a:txBody>
                  <a:tcPr marL="0" marR="0" marB="0">
                    <a:lnL w="6350">
                      <a:solidFill>
                        <a:srgbClr val="D9D9D9"/>
                      </a:solidFill>
                      <a:prstDash val="solid"/>
                    </a:lnL>
                    <a:lnR w="6350">
                      <a:solidFill>
                        <a:srgbClr val="D9D9D9"/>
                      </a:solidFill>
                      <a:prstDash val="solid"/>
                    </a:lnR>
                    <a:lnT w="6350">
                      <a:solidFill>
                        <a:srgbClr val="D9D9D9"/>
                      </a:solidFill>
                      <a:prstDash val="sysDash"/>
                    </a:lnT>
                    <a:lnB w="6350">
                      <a:solidFill>
                        <a:srgbClr val="D9D9D9"/>
                      </a:solidFill>
                      <a:prstDash val="sysDash"/>
                    </a:lnB>
                  </a:tcPr>
                </a:tc>
                <a:tc>
                  <a:txBody>
                    <a:bodyPr/>
                    <a:lstStyle/>
                    <a:p>
                      <a:pPr algn="ctr">
                        <a:lnSpc>
                          <a:spcPct val="100000"/>
                        </a:lnSpc>
                        <a:spcBef>
                          <a:spcPts val="865"/>
                        </a:spcBef>
                      </a:pPr>
                      <a:r>
                        <a:rPr sz="900" dirty="0">
                          <a:latin typeface="Segoe UI Semibold"/>
                          <a:cs typeface="Segoe UI Semibold"/>
                        </a:rPr>
                        <a:t>$35,000</a:t>
                      </a:r>
                    </a:p>
                  </a:txBody>
                  <a:tcPr marL="0" marR="0" marT="109855" marB="0">
                    <a:lnL w="6350">
                      <a:solidFill>
                        <a:srgbClr val="D9D9D9"/>
                      </a:solidFill>
                      <a:prstDash val="solid"/>
                    </a:lnL>
                    <a:lnR w="6350" cap="flat" cmpd="sng" algn="ctr">
                      <a:solidFill>
                        <a:srgbClr val="D9D9D9"/>
                      </a:solidFill>
                      <a:prstDash val="solid"/>
                      <a:round/>
                      <a:headEnd type="none" w="med" len="med"/>
                      <a:tailEnd type="none" w="med" len="med"/>
                    </a:lnR>
                    <a:lnT w="6350">
                      <a:solidFill>
                        <a:srgbClr val="D9D9D9"/>
                      </a:solidFill>
                      <a:prstDash val="sysDash"/>
                    </a:lnT>
                    <a:lnB w="6350">
                      <a:solidFill>
                        <a:srgbClr val="D9D9D9"/>
                      </a:solidFill>
                      <a:prstDash val="sysDash"/>
                    </a:lnB>
                  </a:tcPr>
                </a:tc>
                <a:tc>
                  <a:txBody>
                    <a:bodyPr/>
                    <a:lstStyle/>
                    <a:p>
                      <a:pPr marL="635" algn="ctr">
                        <a:lnSpc>
                          <a:spcPct val="100000"/>
                        </a:lnSpc>
                        <a:spcBef>
                          <a:spcPts val="865"/>
                        </a:spcBef>
                      </a:pPr>
                      <a:r>
                        <a:rPr sz="900" dirty="0">
                          <a:latin typeface="Segoe UI Semibold"/>
                          <a:cs typeface="Segoe UI Semibold"/>
                        </a:rPr>
                        <a:t>200</a:t>
                      </a:r>
                      <a:r>
                        <a:rPr sz="900" spc="-20" dirty="0">
                          <a:latin typeface="Segoe UI Semibold"/>
                          <a:cs typeface="Segoe UI Semibold"/>
                        </a:rPr>
                        <a:t> days</a:t>
                      </a:r>
                      <a:endParaRPr sz="900" dirty="0">
                        <a:latin typeface="Segoe UI Semibold"/>
                        <a:cs typeface="Segoe UI Semibold"/>
                      </a:endParaRPr>
                    </a:p>
                  </a:txBody>
                  <a:tcPr marL="0" marR="0" marT="10985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ysDash"/>
                      <a:round/>
                      <a:headEnd type="none" w="med" len="med"/>
                      <a:tailEnd type="none" w="med" len="med"/>
                    </a:lnT>
                    <a:lnB w="6350" cap="flat" cmpd="sng" algn="ctr">
                      <a:solidFill>
                        <a:srgbClr val="D9D9D9"/>
                      </a:solidFill>
                      <a:prstDash val="sysDash"/>
                      <a:round/>
                      <a:headEnd type="none" w="med" len="med"/>
                      <a:tailEnd type="none" w="med" len="med"/>
                    </a:lnB>
                  </a:tcPr>
                </a:tc>
                <a:tc>
                  <a:txBody>
                    <a:bodyPr/>
                    <a:lstStyle/>
                    <a:p>
                      <a:pPr marL="3175"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000000"/>
                          </a:solidFill>
                          <a:effectLst/>
                          <a:uLnTx/>
                          <a:uFillTx/>
                          <a:latin typeface="Segoe UI Semibold"/>
                          <a:ea typeface="+mn-ea"/>
                          <a:cs typeface="Segoe UI Semibold"/>
                        </a:rPr>
                        <a:t>Post-sales</a:t>
                      </a:r>
                      <a:endPar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a:endParaRPr>
                    </a:p>
                  </a:txBody>
                  <a:tcPr marL="0" marR="0" marT="109855" marB="0">
                    <a:lnL w="6350" cap="flat" cmpd="sng" algn="ctr">
                      <a:solidFill>
                        <a:srgbClr val="D9D9D9"/>
                      </a:solidFill>
                      <a:prstDash val="solid"/>
                      <a:round/>
                      <a:headEnd type="none" w="med" len="med"/>
                      <a:tailEnd type="none" w="med" len="med"/>
                    </a:lnL>
                    <a:lnR w="6350">
                      <a:solidFill>
                        <a:srgbClr val="D9D9D9"/>
                      </a:solidFill>
                      <a:prstDash val="solid"/>
                    </a:lnR>
                    <a:lnT w="6350" cap="flat" cmpd="sng" algn="ctr">
                      <a:solidFill>
                        <a:srgbClr val="D9D9D9"/>
                      </a:solidFill>
                      <a:prstDash val="sysDash"/>
                      <a:round/>
                      <a:headEnd type="none" w="med" len="med"/>
                      <a:tailEnd type="none" w="med" len="med"/>
                    </a:lnT>
                    <a:lnB w="6350" cap="flat" cmpd="sng" algn="ctr">
                      <a:solidFill>
                        <a:srgbClr val="D9D9D9"/>
                      </a:solidFill>
                      <a:prstDash val="sysDash"/>
                      <a:round/>
                      <a:headEnd type="none" w="med" len="med"/>
                      <a:tailEnd type="none" w="med" len="med"/>
                    </a:lnB>
                  </a:tcPr>
                </a:tc>
                <a:extLst>
                  <a:ext uri="{0D108BD9-81ED-4DB2-BD59-A6C34878D82A}">
                    <a16:rowId xmlns:a16="http://schemas.microsoft.com/office/drawing/2014/main" val="10004"/>
                  </a:ext>
                </a:extLst>
              </a:tr>
              <a:tr h="257663">
                <a:tc>
                  <a:txBody>
                    <a:bodyPr/>
                    <a:lstStyle/>
                    <a:p>
                      <a:pPr marL="36195">
                        <a:lnSpc>
                          <a:spcPct val="100000"/>
                        </a:lnSpc>
                        <a:spcBef>
                          <a:spcPts val="359"/>
                        </a:spcBef>
                      </a:pPr>
                      <a:r>
                        <a:rPr lang="en-US" sz="800" dirty="0">
                          <a:latin typeface="Segoe UI Semibold"/>
                          <a:cs typeface="Segoe UI Semibold"/>
                        </a:rPr>
                        <a:t>L</a:t>
                      </a:r>
                    </a:p>
                    <a:p>
                      <a:pPr marL="36195">
                        <a:lnSpc>
                          <a:spcPct val="100000"/>
                        </a:lnSpc>
                        <a:spcBef>
                          <a:spcPts val="359"/>
                        </a:spcBef>
                      </a:pPr>
                      <a:r>
                        <a:rPr sz="700" dirty="0">
                          <a:latin typeface="Segoe UI"/>
                          <a:cs typeface="Segoe UI"/>
                        </a:rPr>
                        <a:t>Project</a:t>
                      </a:r>
                      <a:r>
                        <a:rPr sz="700" spc="-15" dirty="0">
                          <a:latin typeface="Segoe UI"/>
                          <a:cs typeface="Segoe UI"/>
                        </a:rPr>
                        <a:t> </a:t>
                      </a:r>
                      <a:r>
                        <a:rPr sz="700" dirty="0">
                          <a:latin typeface="Segoe UI"/>
                          <a:cs typeface="Segoe UI"/>
                        </a:rPr>
                        <a:t>size:</a:t>
                      </a:r>
                      <a:r>
                        <a:rPr sz="700" spc="-25" dirty="0">
                          <a:latin typeface="Segoe UI"/>
                          <a:cs typeface="Segoe UI"/>
                        </a:rPr>
                        <a:t> </a:t>
                      </a:r>
                      <a:r>
                        <a:rPr sz="700" dirty="0">
                          <a:latin typeface="Segoe UI"/>
                          <a:cs typeface="Segoe UI"/>
                        </a:rPr>
                        <a:t>&gt;</a:t>
                      </a:r>
                      <a:r>
                        <a:rPr sz="700" b="1" dirty="0">
                          <a:latin typeface="Segoe UI"/>
                          <a:cs typeface="Segoe UI"/>
                        </a:rPr>
                        <a:t>$250K</a:t>
                      </a:r>
                      <a:r>
                        <a:rPr sz="700" b="1" spc="-25" dirty="0">
                          <a:latin typeface="Segoe UI"/>
                          <a:cs typeface="Segoe UI"/>
                        </a:rPr>
                        <a:t> </a:t>
                      </a:r>
                      <a:r>
                        <a:rPr sz="700" b="1" dirty="0">
                          <a:latin typeface="Segoe UI"/>
                          <a:cs typeface="Segoe UI"/>
                        </a:rPr>
                        <a:t>–</a:t>
                      </a:r>
                      <a:r>
                        <a:rPr sz="700" b="1" spc="-30" dirty="0">
                          <a:latin typeface="Segoe UI"/>
                          <a:cs typeface="Segoe UI"/>
                        </a:rPr>
                        <a:t> </a:t>
                      </a:r>
                      <a:r>
                        <a:rPr sz="700" b="1" dirty="0">
                          <a:latin typeface="Segoe UI"/>
                          <a:cs typeface="Segoe UI"/>
                        </a:rPr>
                        <a:t>$500K+</a:t>
                      </a:r>
                      <a:r>
                        <a:rPr sz="700" b="1" spc="-15" dirty="0">
                          <a:latin typeface="Segoe UI"/>
                          <a:cs typeface="Segoe UI"/>
                        </a:rPr>
                        <a:t> </a:t>
                      </a:r>
                      <a:r>
                        <a:rPr sz="700" b="1" dirty="0">
                          <a:latin typeface="Segoe UI"/>
                          <a:cs typeface="Segoe UI"/>
                        </a:rPr>
                        <a:t>/year</a:t>
                      </a:r>
                      <a:r>
                        <a:rPr sz="700" b="1" spc="-30" dirty="0">
                          <a:latin typeface="Segoe UI"/>
                          <a:cs typeface="Segoe UI"/>
                        </a:rPr>
                        <a:t> </a:t>
                      </a:r>
                      <a:r>
                        <a:rPr sz="700" dirty="0">
                          <a:latin typeface="Segoe UI"/>
                          <a:cs typeface="Segoe UI"/>
                        </a:rPr>
                        <a:t>planned</a:t>
                      </a:r>
                      <a:r>
                        <a:rPr sz="700" spc="-20" dirty="0">
                          <a:latin typeface="Segoe UI"/>
                          <a:cs typeface="Segoe UI"/>
                        </a:rPr>
                        <a:t> </a:t>
                      </a:r>
                      <a:r>
                        <a:rPr sz="700" dirty="0">
                          <a:latin typeface="Segoe UI"/>
                          <a:cs typeface="Segoe UI"/>
                        </a:rPr>
                        <a:t>Azure</a:t>
                      </a:r>
                      <a:r>
                        <a:rPr sz="700" spc="-20" dirty="0">
                          <a:latin typeface="Segoe UI"/>
                          <a:cs typeface="Segoe UI"/>
                        </a:rPr>
                        <a:t> </a:t>
                      </a:r>
                      <a:r>
                        <a:rPr sz="700" spc="-10" dirty="0">
                          <a:latin typeface="Segoe UI"/>
                          <a:cs typeface="Segoe UI"/>
                        </a:rPr>
                        <a:t>consumption</a:t>
                      </a:r>
                      <a:endParaRPr sz="700" dirty="0">
                        <a:latin typeface="Segoe UI"/>
                        <a:cs typeface="Segoe UI"/>
                      </a:endParaRPr>
                    </a:p>
                  </a:txBody>
                  <a:tcPr marL="0" marR="0" marT="45719" marB="0">
                    <a:lnL w="6350">
                      <a:solidFill>
                        <a:srgbClr val="D9D9D9"/>
                      </a:solidFill>
                      <a:prstDash val="solid"/>
                    </a:lnL>
                    <a:lnR w="6350">
                      <a:solidFill>
                        <a:srgbClr val="D9D9D9"/>
                      </a:solidFill>
                      <a:prstDash val="solid"/>
                    </a:lnR>
                    <a:lnT w="6350">
                      <a:solidFill>
                        <a:srgbClr val="D9D9D9"/>
                      </a:solidFill>
                      <a:prstDash val="sysDash"/>
                    </a:lnT>
                    <a:lnB w="6350">
                      <a:solidFill>
                        <a:srgbClr val="D9D9D9"/>
                      </a:solidFill>
                      <a:prstDash val="sysDash"/>
                    </a:lnB>
                  </a:tcPr>
                </a:tc>
                <a:tc>
                  <a:txBody>
                    <a:bodyPr/>
                    <a:lstStyle/>
                    <a:p>
                      <a:pPr algn="ctr">
                        <a:lnSpc>
                          <a:spcPct val="100000"/>
                        </a:lnSpc>
                        <a:spcBef>
                          <a:spcPts val="865"/>
                        </a:spcBef>
                      </a:pPr>
                      <a:r>
                        <a:rPr sz="900" spc="-10" dirty="0">
                          <a:latin typeface="Segoe UI Semibold"/>
                          <a:cs typeface="Segoe UI Semibold"/>
                        </a:rPr>
                        <a:t>$75,000</a:t>
                      </a:r>
                      <a:endParaRPr sz="900" dirty="0">
                        <a:latin typeface="Segoe UI Semibold"/>
                        <a:cs typeface="Segoe UI Semibold"/>
                      </a:endParaRPr>
                    </a:p>
                  </a:txBody>
                  <a:tcPr marL="0" marR="0" marT="109855" marB="0">
                    <a:lnL w="6350">
                      <a:solidFill>
                        <a:srgbClr val="D9D9D9"/>
                      </a:solidFill>
                      <a:prstDash val="solid"/>
                    </a:lnL>
                    <a:lnR w="6350" cap="flat" cmpd="sng" algn="ctr">
                      <a:solidFill>
                        <a:srgbClr val="D9D9D9"/>
                      </a:solidFill>
                      <a:prstDash val="solid"/>
                      <a:round/>
                      <a:headEnd type="none" w="med" len="med"/>
                      <a:tailEnd type="none" w="med" len="med"/>
                    </a:lnR>
                    <a:lnT w="6350">
                      <a:solidFill>
                        <a:srgbClr val="D9D9D9"/>
                      </a:solidFill>
                      <a:prstDash val="sysDash"/>
                    </a:lnT>
                    <a:lnB w="6350">
                      <a:solidFill>
                        <a:srgbClr val="D9D9D9"/>
                      </a:solidFill>
                      <a:prstDash val="sysDash"/>
                    </a:lnB>
                  </a:tcPr>
                </a:tc>
                <a:tc>
                  <a:txBody>
                    <a:bodyPr/>
                    <a:lstStyle/>
                    <a:p>
                      <a:pPr marL="635" algn="ctr">
                        <a:lnSpc>
                          <a:spcPct val="100000"/>
                        </a:lnSpc>
                        <a:spcBef>
                          <a:spcPts val="865"/>
                        </a:spcBef>
                      </a:pPr>
                      <a:r>
                        <a:rPr sz="900" dirty="0">
                          <a:latin typeface="Segoe UI Semibold"/>
                          <a:cs typeface="Segoe UI Semibold"/>
                        </a:rPr>
                        <a:t>260</a:t>
                      </a:r>
                      <a:r>
                        <a:rPr sz="900" spc="-15" dirty="0">
                          <a:latin typeface="Segoe UI Semibold"/>
                          <a:cs typeface="Segoe UI Semibold"/>
                        </a:rPr>
                        <a:t> </a:t>
                      </a:r>
                      <a:r>
                        <a:rPr sz="900" spc="-20" dirty="0">
                          <a:latin typeface="Segoe UI Semibold"/>
                          <a:cs typeface="Segoe UI Semibold"/>
                        </a:rPr>
                        <a:t>days</a:t>
                      </a:r>
                      <a:endParaRPr sz="900" dirty="0">
                        <a:latin typeface="Segoe UI Semibold"/>
                        <a:cs typeface="Segoe UI Semibold"/>
                      </a:endParaRPr>
                    </a:p>
                  </a:txBody>
                  <a:tcPr marL="0" marR="0" marT="109855" marB="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ysDash"/>
                      <a:round/>
                      <a:headEnd type="none" w="med" len="med"/>
                      <a:tailEnd type="none" w="med" len="med"/>
                    </a:lnT>
                    <a:lnB w="6350">
                      <a:solidFill>
                        <a:srgbClr val="D9D9D9"/>
                      </a:solidFill>
                      <a:prstDash val="sysDash"/>
                    </a:lnB>
                  </a:tcPr>
                </a:tc>
                <a:tc>
                  <a:txBody>
                    <a:bodyPr/>
                    <a:lstStyle/>
                    <a:p>
                      <a:pPr marL="3175"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000000"/>
                          </a:solidFill>
                          <a:effectLst/>
                          <a:uLnTx/>
                          <a:uFillTx/>
                          <a:latin typeface="Segoe UI Semibold"/>
                          <a:ea typeface="+mn-ea"/>
                          <a:cs typeface="Segoe UI Semibold"/>
                        </a:rPr>
                        <a:t>Post-sales</a:t>
                      </a:r>
                      <a:endParaRPr kumimoji="0" lang="en-US" sz="900" b="0" i="0" u="none" strike="noStrike" kern="1200" cap="none" spc="0" normalizeH="0" baseline="0" noProof="0" dirty="0">
                        <a:ln>
                          <a:noFill/>
                        </a:ln>
                        <a:solidFill>
                          <a:srgbClr val="000000"/>
                        </a:solidFill>
                        <a:effectLst/>
                        <a:uLnTx/>
                        <a:uFillTx/>
                        <a:latin typeface="Segoe UI Semibold"/>
                        <a:ea typeface="+mn-ea"/>
                        <a:cs typeface="Segoe UI Semibold"/>
                      </a:endParaRPr>
                    </a:p>
                  </a:txBody>
                  <a:tcPr marL="0" marR="0" marT="109855" marB="0">
                    <a:lnL w="6350" cap="flat" cmpd="sng" algn="ctr">
                      <a:solidFill>
                        <a:srgbClr val="D9D9D9"/>
                      </a:solidFill>
                      <a:prstDash val="solid"/>
                      <a:round/>
                      <a:headEnd type="none" w="med" len="med"/>
                      <a:tailEnd type="none" w="med" len="med"/>
                    </a:lnL>
                    <a:lnR w="6350">
                      <a:solidFill>
                        <a:srgbClr val="D9D9D9"/>
                      </a:solidFill>
                      <a:prstDash val="solid"/>
                    </a:lnR>
                    <a:lnT w="6350" cap="flat" cmpd="sng" algn="ctr">
                      <a:solidFill>
                        <a:srgbClr val="D9D9D9"/>
                      </a:solidFill>
                      <a:prstDash val="sysDash"/>
                      <a:round/>
                      <a:headEnd type="none" w="med" len="med"/>
                      <a:tailEnd type="none" w="med" len="med"/>
                    </a:lnT>
                    <a:lnB w="6350">
                      <a:solidFill>
                        <a:srgbClr val="D9D9D9"/>
                      </a:solidFill>
                      <a:prstDash val="sysDash"/>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01254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3A5EE-9A67-F8AA-7781-46EAB4DFCE4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28507E3-860C-A8F1-C753-3E9A14E4113F}"/>
              </a:ext>
            </a:extLst>
          </p:cNvPr>
          <p:cNvSpPr txBox="1"/>
          <p:nvPr/>
        </p:nvSpPr>
        <p:spPr>
          <a:xfrm>
            <a:off x="781668" y="1167965"/>
            <a:ext cx="10965948" cy="4693593"/>
          </a:xfrm>
          <a:prstGeom prst="rect">
            <a:avLst/>
          </a:prstGeom>
          <a:noFill/>
        </p:spPr>
        <p:txBody>
          <a:bodyPr wrap="square">
            <a:spAutoFit/>
          </a:bodyPr>
          <a:lstStyle/>
          <a:p>
            <a:pPr marR="0" lvl="0"/>
            <a:r>
              <a:rPr lang="en-US" sz="2800" b="1" dirty="0">
                <a:effectLst/>
                <a:latin typeface="Aptos" panose="020B0004020202020204" pitchFamily="34" charset="0"/>
                <a:ea typeface="Times New Roman" panose="02020603050405020304" pitchFamily="18" charset="0"/>
                <a:cs typeface="Aptos" panose="020B0004020202020204" pitchFamily="34" charset="0"/>
              </a:rPr>
              <a:t>Azure (ACR)</a:t>
            </a:r>
            <a:endParaRPr lang="en-US" sz="2800" b="1" dirty="0">
              <a:effectLst/>
              <a:latin typeface="Aptos" panose="020B0004020202020204" pitchFamily="34" charset="0"/>
              <a:ea typeface="Aptos" panose="020B0004020202020204" pitchFamily="34" charset="0"/>
              <a:cs typeface="Aptos" panose="020B0004020202020204" pitchFamily="34" charset="0"/>
            </a:endParaRPr>
          </a:p>
          <a:p>
            <a:pPr marL="457200" marR="0" lvl="1">
              <a:spcBef>
                <a:spcPts val="600"/>
              </a:spcBef>
              <a:spcAft>
                <a:spcPts val="600"/>
              </a:spcAft>
            </a:pPr>
            <a:r>
              <a:rPr lang="en-US" sz="2400" b="1" dirty="0">
                <a:solidFill>
                  <a:srgbClr val="C00000"/>
                </a:solidFill>
                <a:effectLst/>
                <a:latin typeface="Aptos" panose="020B0004020202020204" pitchFamily="34" charset="0"/>
                <a:ea typeface="Times New Roman" panose="02020603050405020304" pitchFamily="18" charset="0"/>
                <a:cs typeface="Aptos" panose="020B0004020202020204" pitchFamily="34" charset="0"/>
              </a:rPr>
              <a:t>Focus:</a:t>
            </a:r>
            <a:r>
              <a:rPr lang="en-US" sz="2400" dirty="0">
                <a:effectLst/>
                <a:latin typeface="Aptos" panose="020B0004020202020204" pitchFamily="34" charset="0"/>
                <a:ea typeface="Times New Roman" panose="02020603050405020304" pitchFamily="18" charset="0"/>
                <a:cs typeface="Aptos" panose="020B0004020202020204" pitchFamily="34" charset="0"/>
              </a:rPr>
              <a:t> Azure Consumed Revenue (ACR) </a:t>
            </a:r>
            <a:r>
              <a:rPr lang="en-US" sz="2400" u="sng" dirty="0">
                <a:effectLst/>
                <a:latin typeface="Aptos" panose="020B0004020202020204" pitchFamily="34" charset="0"/>
                <a:ea typeface="Times New Roman" panose="02020603050405020304" pitchFamily="18" charset="0"/>
                <a:cs typeface="Aptos" panose="020B0004020202020204" pitchFamily="34" charset="0"/>
              </a:rPr>
              <a:t>Growth</a:t>
            </a:r>
            <a:r>
              <a:rPr lang="en-US" sz="2400" dirty="0">
                <a:effectLst/>
                <a:latin typeface="Aptos" panose="020B0004020202020204" pitchFamily="34" charset="0"/>
                <a:ea typeface="Times New Roman" panose="02020603050405020304" pitchFamily="18" charset="0"/>
                <a:cs typeface="Aptos" panose="020B0004020202020204" pitchFamily="34" charset="0"/>
              </a:rPr>
              <a:t>.</a:t>
            </a:r>
            <a:endParaRPr lang="en-US" sz="2400" dirty="0">
              <a:effectLst/>
              <a:latin typeface="Aptos" panose="020B0004020202020204" pitchFamily="34" charset="0"/>
              <a:ea typeface="Aptos" panose="020B0004020202020204" pitchFamily="34" charset="0"/>
              <a:cs typeface="Aptos" panose="020B0004020202020204" pitchFamily="34" charset="0"/>
            </a:endParaRPr>
          </a:p>
          <a:p>
            <a:pPr marL="457200" marR="0" lvl="1">
              <a:spcBef>
                <a:spcPts val="600"/>
              </a:spcBef>
              <a:spcAft>
                <a:spcPts val="600"/>
              </a:spcAft>
            </a:pPr>
            <a:r>
              <a:rPr lang="en-US" sz="2400" b="1" dirty="0">
                <a:solidFill>
                  <a:srgbClr val="C00000"/>
                </a:solidFill>
                <a:effectLst/>
                <a:latin typeface="Aptos" panose="020B0004020202020204" pitchFamily="34" charset="0"/>
                <a:ea typeface="Times New Roman" panose="02020603050405020304" pitchFamily="18" charset="0"/>
                <a:cs typeface="Aptos" panose="020B0004020202020204" pitchFamily="34" charset="0"/>
              </a:rPr>
              <a:t>Mechanism:</a:t>
            </a:r>
            <a:r>
              <a:rPr lang="en-US" sz="2400" dirty="0">
                <a:effectLst/>
                <a:latin typeface="Aptos" panose="020B0004020202020204" pitchFamily="34" charset="0"/>
                <a:ea typeface="Times New Roman" panose="02020603050405020304" pitchFamily="18" charset="0"/>
                <a:cs typeface="Aptos" panose="020B0004020202020204" pitchFamily="34" charset="0"/>
              </a:rPr>
              <a:t> Straightforward, based on driving incremental Azure spend. Programs like ‘Azure Accelerate' are tied to hitting specific consumption tiers.</a:t>
            </a:r>
            <a:endParaRPr lang="en-US" sz="2400" dirty="0">
              <a:effectLst/>
              <a:latin typeface="Aptos" panose="020B0004020202020204" pitchFamily="34" charset="0"/>
              <a:ea typeface="Aptos" panose="020B0004020202020204" pitchFamily="34" charset="0"/>
              <a:cs typeface="Aptos" panose="020B0004020202020204" pitchFamily="34" charset="0"/>
            </a:endParaRPr>
          </a:p>
          <a:p>
            <a:pPr marL="457200" marR="0" lvl="1">
              <a:spcBef>
                <a:spcPts val="600"/>
              </a:spcBef>
              <a:spcAft>
                <a:spcPts val="600"/>
              </a:spcAft>
            </a:pPr>
            <a:r>
              <a:rPr lang="en-US" sz="2400" b="1" dirty="0">
                <a:solidFill>
                  <a:srgbClr val="C00000"/>
                </a:solidFill>
                <a:latin typeface="Aptos" panose="020B0004020202020204" pitchFamily="34" charset="0"/>
              </a:rPr>
              <a:t>Your Tool: </a:t>
            </a:r>
            <a:r>
              <a:rPr lang="en-US" sz="2400" dirty="0">
                <a:effectLst/>
                <a:latin typeface="Aptos" panose="020B0004020202020204" pitchFamily="34" charset="0"/>
                <a:ea typeface="Times New Roman" panose="02020603050405020304" pitchFamily="18" charset="0"/>
                <a:cs typeface="Aptos" panose="020B0004020202020204" pitchFamily="34" charset="0"/>
              </a:rPr>
              <a:t>The ACR Calculator.</a:t>
            </a:r>
            <a:endParaRPr lang="en-US" sz="2400" dirty="0">
              <a:effectLst/>
              <a:latin typeface="Aptos" panose="020B0004020202020204" pitchFamily="34" charset="0"/>
              <a:ea typeface="Aptos" panose="020B0004020202020204" pitchFamily="34" charset="0"/>
              <a:cs typeface="Aptos" panose="020B0004020202020204" pitchFamily="34" charset="0"/>
            </a:endParaRPr>
          </a:p>
          <a:p>
            <a:pPr marL="457200" marR="0" lvl="1">
              <a:spcBef>
                <a:spcPts val="600"/>
              </a:spcBef>
              <a:spcAft>
                <a:spcPts val="600"/>
              </a:spcAft>
            </a:pPr>
            <a:r>
              <a:rPr lang="en-US" sz="2400" b="1" dirty="0">
                <a:solidFill>
                  <a:srgbClr val="C00000"/>
                </a:solidFill>
                <a:latin typeface="Aptos" panose="020B0004020202020204" pitchFamily="34" charset="0"/>
              </a:rPr>
              <a:t>Accuracy is CRITICAL:</a:t>
            </a:r>
            <a:r>
              <a:rPr lang="en-US" sz="2400" dirty="0">
                <a:effectLst/>
                <a:latin typeface="Aptos" panose="020B0004020202020204" pitchFamily="34" charset="0"/>
                <a:ea typeface="Times New Roman" panose="02020603050405020304" pitchFamily="18" charset="0"/>
                <a:cs typeface="Aptos" panose="020B0004020202020204" pitchFamily="34" charset="0"/>
              </a:rPr>
              <a:t> The difference between a project tier (e.g., XS at $15k vs. XXS at $5k) is determined by your planned ACR. </a:t>
            </a:r>
            <a:r>
              <a:rPr lang="en-US" sz="2400" u="sng" dirty="0">
                <a:effectLst/>
                <a:latin typeface="Aptos" panose="020B0004020202020204" pitchFamily="34" charset="0"/>
                <a:ea typeface="Times New Roman" panose="02020603050405020304" pitchFamily="18" charset="0"/>
                <a:cs typeface="Aptos" panose="020B0004020202020204" pitchFamily="34" charset="0"/>
              </a:rPr>
              <a:t>Be conservative.</a:t>
            </a:r>
            <a:endParaRPr lang="en-US" sz="2400" u="sng" dirty="0">
              <a:effectLst/>
              <a:latin typeface="Aptos" panose="020B0004020202020204" pitchFamily="34" charset="0"/>
              <a:ea typeface="Aptos" panose="020B0004020202020204" pitchFamily="34" charset="0"/>
              <a:cs typeface="Aptos" panose="020B0004020202020204" pitchFamily="34" charset="0"/>
            </a:endParaRPr>
          </a:p>
          <a:p>
            <a:pPr marL="457200" marR="0" lvl="1">
              <a:spcBef>
                <a:spcPts val="600"/>
              </a:spcBef>
              <a:spcAft>
                <a:spcPts val="600"/>
              </a:spcAft>
            </a:pPr>
            <a:r>
              <a:rPr lang="en-US" sz="2400" b="1" dirty="0">
                <a:solidFill>
                  <a:srgbClr val="C00000"/>
                </a:solidFill>
                <a:latin typeface="Aptos" panose="020B0004020202020204" pitchFamily="34" charset="0"/>
              </a:rPr>
              <a:t>Time Frame: </a:t>
            </a:r>
            <a:r>
              <a:rPr lang="en-US" sz="2400" dirty="0">
                <a:effectLst/>
                <a:latin typeface="Aptos" panose="020B0004020202020204" pitchFamily="34" charset="0"/>
                <a:ea typeface="Times New Roman" panose="02020603050405020304" pitchFamily="18" charset="0"/>
                <a:cs typeface="Aptos" panose="020B0004020202020204" pitchFamily="34" charset="0"/>
              </a:rPr>
              <a:t>Model the consumption ramp over the 12-month tracking period.</a:t>
            </a:r>
            <a:endParaRPr lang="en-US" sz="2400" dirty="0">
              <a:effectLst/>
              <a:latin typeface="Aptos" panose="020B0004020202020204" pitchFamily="34" charset="0"/>
              <a:ea typeface="Aptos" panose="020B0004020202020204" pitchFamily="34" charset="0"/>
              <a:cs typeface="Aptos" panose="020B0004020202020204" pitchFamily="34" charset="0"/>
            </a:endParaRPr>
          </a:p>
          <a:p>
            <a:pPr marL="457200" marR="0" lvl="1">
              <a:spcBef>
                <a:spcPts val="600"/>
              </a:spcBef>
              <a:spcAft>
                <a:spcPts val="600"/>
              </a:spcAft>
            </a:pPr>
            <a:r>
              <a:rPr lang="en-US" sz="2400" b="1" dirty="0">
                <a:solidFill>
                  <a:srgbClr val="C00000"/>
                </a:solidFill>
                <a:latin typeface="Aptos" panose="020B0004020202020204" pitchFamily="34" charset="0"/>
              </a:rPr>
              <a:t>The Governance Metric: </a:t>
            </a:r>
            <a:r>
              <a:rPr lang="en-US" sz="2400" dirty="0">
                <a:effectLst/>
                <a:latin typeface="Aptos" panose="020B0004020202020204" pitchFamily="34" charset="0"/>
                <a:ea typeface="Times New Roman" panose="02020603050405020304" pitchFamily="18" charset="0"/>
                <a:cs typeface="Aptos" panose="020B0004020202020204" pitchFamily="34" charset="0"/>
              </a:rPr>
              <a:t>Our entire portfolio of funded projects is evaluated for accuracy periodically.</a:t>
            </a:r>
            <a:endParaRPr lang="en-US" sz="2400" dirty="0">
              <a:effectLst/>
              <a:latin typeface="Aptos" panose="020B0004020202020204" pitchFamily="34" charset="0"/>
              <a:ea typeface="Aptos" panose="020B0004020202020204" pitchFamily="34" charset="0"/>
              <a:cs typeface="Aptos" panose="020B0004020202020204" pitchFamily="34" charset="0"/>
            </a:endParaRPr>
          </a:p>
        </p:txBody>
      </p:sp>
      <p:sp>
        <p:nvSpPr>
          <p:cNvPr id="2" name="Title 1">
            <a:extLst>
              <a:ext uri="{FF2B5EF4-FFF2-40B4-BE49-F238E27FC236}">
                <a16:creationId xmlns:a16="http://schemas.microsoft.com/office/drawing/2014/main" id="{D0C5543E-79BA-C483-FC01-0321334BEC4D}"/>
              </a:ext>
            </a:extLst>
          </p:cNvPr>
          <p:cNvSpPr>
            <a:spLocks noGrp="1"/>
          </p:cNvSpPr>
          <p:nvPr>
            <p:ph type="title"/>
          </p:nvPr>
        </p:nvSpPr>
        <p:spPr>
          <a:xfrm>
            <a:off x="334496" y="268589"/>
            <a:ext cx="11495554" cy="484043"/>
          </a:xfrm>
        </p:spPr>
        <p:txBody>
          <a:bodyPr/>
          <a:lstStyle/>
          <a:p>
            <a:r>
              <a:rPr lang="en-US" b="1" dirty="0"/>
              <a:t>Microsoft Azure Funding: Program Nuances</a:t>
            </a:r>
          </a:p>
        </p:txBody>
      </p:sp>
    </p:spTree>
    <p:extLst>
      <p:ext uri="{BB962C8B-B14F-4D97-AF65-F5344CB8AC3E}">
        <p14:creationId xmlns:p14="http://schemas.microsoft.com/office/powerpoint/2010/main" val="3558668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7BAC6-081D-59FB-9C74-740986A44C4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0865D0-D17B-7E4D-3344-03B39B716EFF}"/>
              </a:ext>
            </a:extLst>
          </p:cNvPr>
          <p:cNvSpPr txBox="1"/>
          <p:nvPr/>
        </p:nvSpPr>
        <p:spPr>
          <a:xfrm>
            <a:off x="236302" y="1087745"/>
            <a:ext cx="11897474" cy="5262979"/>
          </a:xfrm>
          <a:prstGeom prst="rect">
            <a:avLst/>
          </a:prstGeom>
          <a:noFill/>
        </p:spPr>
        <p:txBody>
          <a:bodyPr wrap="square" lIns="91440" tIns="45720" rIns="91440" bIns="45720" anchor="t">
            <a:spAutoFit/>
          </a:bodyPr>
          <a:lstStyle/>
          <a:p>
            <a:pPr marL="287020" marR="0" lvl="1"/>
            <a:endParaRPr lang="en-US" sz="1400" b="1" u="sng" dirty="0">
              <a:solidFill>
                <a:schemeClr val="tx2"/>
              </a:solidFill>
              <a:latin typeface="Aptos" panose="020B0004020202020204" pitchFamily="34" charset="0"/>
              <a:ea typeface="Times New Roman" panose="02020603050405020304" pitchFamily="18" charset="0"/>
              <a:cs typeface="Aptos" panose="020B0004020202020204" pitchFamily="34" charset="0"/>
            </a:endParaRPr>
          </a:p>
          <a:p>
            <a:pPr marL="287020" marR="0" lvl="1"/>
            <a:r>
              <a:rPr lang="en-US" sz="1400" b="1" u="sng" dirty="0">
                <a:solidFill>
                  <a:schemeClr val="tx2"/>
                </a:solidFill>
                <a:latin typeface="Aptos" panose="020B0004020202020204" pitchFamily="34" charset="0"/>
                <a:ea typeface="Times New Roman" panose="02020603050405020304" pitchFamily="18" charset="0"/>
                <a:cs typeface="Aptos" panose="020B0004020202020204" pitchFamily="34" charset="0"/>
              </a:rPr>
              <a:t>Pre</a:t>
            </a:r>
            <a:r>
              <a:rPr lang="en-US" sz="1400" b="1" dirty="0">
                <a:solidFill>
                  <a:schemeClr val="tx2"/>
                </a:solidFill>
                <a:latin typeface="Aptos" panose="020B0004020202020204" pitchFamily="34" charset="0"/>
                <a:ea typeface="Times New Roman" panose="02020603050405020304" pitchFamily="18" charset="0"/>
                <a:cs typeface="Aptos" panose="020B0004020202020204" pitchFamily="34" charset="0"/>
              </a:rPr>
              <a:t>-Sales Example | </a:t>
            </a:r>
            <a:r>
              <a:rPr lang="en-US" sz="1400" b="1" dirty="0">
                <a:solidFill>
                  <a:schemeClr val="tx2"/>
                </a:solidFill>
                <a:effectLst/>
                <a:latin typeface="Aptos" panose="020B0004020202020204" pitchFamily="34" charset="0"/>
                <a:ea typeface="Times New Roman" panose="02020603050405020304" pitchFamily="18" charset="0"/>
                <a:cs typeface="Aptos" panose="020B0004020202020204" pitchFamily="34" charset="0"/>
              </a:rPr>
              <a:t>Azure Accelerate: Core Migrate &amp; Modernize Pre-Sales (Assessment and POV)</a:t>
            </a:r>
            <a:endParaRPr lang="en-US" sz="1400" b="1" dirty="0">
              <a:solidFill>
                <a:schemeClr val="tx2"/>
              </a:solidFill>
              <a:effectLst/>
              <a:latin typeface="Aptos" panose="020B0004020202020204" pitchFamily="34" charset="0"/>
              <a:ea typeface="Aptos" panose="020B0004020202020204" pitchFamily="34" charset="0"/>
              <a:cs typeface="Aptos" panose="020B0004020202020204" pitchFamily="34" charset="0"/>
            </a:endParaRPr>
          </a:p>
          <a:p>
            <a:pPr marL="457200" marR="0" lvl="1"/>
            <a:endParaRPr lang="en-US" sz="1400" dirty="0">
              <a:effectLst/>
              <a:latin typeface="Aptos" panose="020B0004020202020204" pitchFamily="34" charset="0"/>
              <a:ea typeface="Times New Roman" panose="02020603050405020304" pitchFamily="18" charset="0"/>
              <a:cs typeface="Aptos" panose="020B0004020202020204" pitchFamily="34" charset="0"/>
            </a:endParaRPr>
          </a:p>
          <a:p>
            <a:pPr marL="277495" marR="0" lvl="1"/>
            <a:r>
              <a:rPr lang="en-US" sz="1400" dirty="0">
                <a:effectLst/>
                <a:latin typeface="Aptos" panose="020B0004020202020204" pitchFamily="34" charset="0"/>
                <a:ea typeface="Times New Roman" panose="02020603050405020304" pitchFamily="18" charset="0"/>
                <a:cs typeface="Aptos" panose="020B0004020202020204" pitchFamily="34" charset="0"/>
              </a:rPr>
              <a:t>SOW/POE Requirements:</a:t>
            </a:r>
            <a:endParaRPr lang="en-US" sz="1400" dirty="0">
              <a:effectLst/>
              <a:latin typeface="Aptos" panose="020B0004020202020204" pitchFamily="34" charset="0"/>
              <a:ea typeface="Aptos" panose="020B0004020202020204" pitchFamily="34" charset="0"/>
              <a:cs typeface="Aptos" panose="020B0004020202020204" pitchFamily="34" charset="0"/>
            </a:endParaRPr>
          </a:p>
          <a:p>
            <a:pPr marL="914400" marR="0" lvl="2" indent="-636270"/>
            <a:r>
              <a:rPr lang="en-US" sz="1400" dirty="0">
                <a:effectLst/>
                <a:latin typeface="Aptos" panose="020B0004020202020204" pitchFamily="34" charset="0"/>
                <a:ea typeface="Aptos" panose="020B0004020202020204" pitchFamily="34" charset="0"/>
                <a:cs typeface="Aptos" panose="020B0004020202020204" pitchFamily="34" charset="0"/>
              </a:rPr>
              <a:t>A. Rackspace Deliverables</a:t>
            </a:r>
          </a:p>
          <a:p>
            <a:pPr marL="1293495" marR="0" lvl="3" indent="-234950">
              <a:buFont typeface="Arial" panose="020B0604020202020204" pitchFamily="34" charset="0"/>
              <a:buChar char="•"/>
            </a:pPr>
            <a:r>
              <a:rPr lang="en-US" sz="1400" dirty="0">
                <a:effectLst/>
                <a:latin typeface="Aptos" panose="020B0004020202020204" pitchFamily="34" charset="0"/>
                <a:ea typeface="Times New Roman" panose="02020603050405020304" pitchFamily="18" charset="0"/>
                <a:cs typeface="Aptos" panose="020B0004020202020204" pitchFamily="34" charset="0"/>
              </a:rPr>
              <a:t>Final Assessment Report from Azure Migrate (a POE requirement for pre-sales engagements).</a:t>
            </a:r>
            <a:endParaRPr lang="en-US" sz="1400" dirty="0">
              <a:effectLst/>
              <a:latin typeface="Aptos" panose="020B0004020202020204" pitchFamily="34" charset="0"/>
              <a:ea typeface="Aptos" panose="020B0004020202020204" pitchFamily="34" charset="0"/>
              <a:cs typeface="Aptos" panose="020B0004020202020204" pitchFamily="34" charset="0"/>
            </a:endParaRPr>
          </a:p>
          <a:p>
            <a:pPr marL="1293495" marR="0" lvl="3" indent="-234950">
              <a:buFont typeface="Arial" panose="020B0604020202020204" pitchFamily="34" charset="0"/>
              <a:buChar char="•"/>
            </a:pPr>
            <a:r>
              <a:rPr lang="en-US" sz="1400" dirty="0">
                <a:effectLst/>
                <a:latin typeface="Aptos" panose="020B0004020202020204" pitchFamily="34" charset="0"/>
                <a:ea typeface="Times New Roman" panose="02020603050405020304" pitchFamily="18" charset="0"/>
                <a:cs typeface="Aptos" panose="020B0004020202020204" pitchFamily="34" charset="0"/>
              </a:rPr>
              <a:t>Solution Architecture document showing qualifying services</a:t>
            </a:r>
          </a:p>
          <a:p>
            <a:pPr marL="1293495" marR="0" lvl="3" indent="-234950">
              <a:buFont typeface="Arial" panose="020B0604020202020204" pitchFamily="34" charset="0"/>
              <a:buChar char="•"/>
            </a:pPr>
            <a:r>
              <a:rPr lang="en-US" sz="1400" dirty="0">
                <a:effectLst/>
                <a:latin typeface="Aptos" panose="020B0004020202020204" pitchFamily="34" charset="0"/>
                <a:ea typeface="Times New Roman" panose="02020603050405020304" pitchFamily="18" charset="0"/>
                <a:cs typeface="Aptos" panose="020B0004020202020204" pitchFamily="34" charset="0"/>
              </a:rPr>
              <a:t>Post-Assessment + POV deployment plan showing dates or milestones with tasks/deliverables to move into production</a:t>
            </a:r>
          </a:p>
          <a:p>
            <a:pPr marL="1293495" marR="0" lvl="3" indent="-234950">
              <a:buFont typeface="Arial" panose="020B0604020202020204" pitchFamily="34" charset="0"/>
              <a:buChar char="•"/>
            </a:pPr>
            <a:r>
              <a:rPr lang="en-US" sz="1400" dirty="0">
                <a:latin typeface="Aptos" panose="020B0004020202020204" pitchFamily="34" charset="0"/>
                <a:ea typeface="Times New Roman" panose="02020603050405020304" pitchFamily="18" charset="0"/>
                <a:cs typeface="Aptos" panose="020B0004020202020204" pitchFamily="34" charset="0"/>
              </a:rPr>
              <a:t>Azure Calculator Estimate</a:t>
            </a:r>
          </a:p>
          <a:p>
            <a:pPr marL="1371600" marR="0" lvl="3"/>
            <a:endParaRPr lang="en-US" sz="1400" dirty="0">
              <a:effectLst/>
              <a:latin typeface="Aptos" panose="020B0004020202020204" pitchFamily="34" charset="0"/>
              <a:ea typeface="Aptos" panose="020B0004020202020204" pitchFamily="34" charset="0"/>
              <a:cs typeface="Aptos" panose="020B0004020202020204" pitchFamily="34" charset="0"/>
            </a:endParaRPr>
          </a:p>
          <a:p>
            <a:pPr marL="914400" marR="0" lvl="2" indent="-574675"/>
            <a:r>
              <a:rPr lang="en-US" sz="1400" dirty="0">
                <a:effectLst/>
                <a:latin typeface="Aptos" panose="020B0004020202020204" pitchFamily="34" charset="0"/>
                <a:ea typeface="Aptos" panose="020B0004020202020204" pitchFamily="34" charset="0"/>
                <a:cs typeface="Aptos" panose="020B0004020202020204" pitchFamily="34" charset="0"/>
              </a:rPr>
              <a:t>B. Customer Responsibility:</a:t>
            </a:r>
          </a:p>
          <a:p>
            <a:pPr marL="1293495" lvl="3" indent="-153670">
              <a:buFont typeface="Arial" panose="020B0604020202020204" pitchFamily="34" charset="0"/>
              <a:buChar char="•"/>
            </a:pPr>
            <a:r>
              <a:rPr lang="en-US" sz="1400" dirty="0">
                <a:latin typeface="Aptos" panose="020B0004020202020204" pitchFamily="34" charset="0"/>
              </a:rPr>
              <a:t>Consent Form &amp; End of Engagement Survey</a:t>
            </a:r>
            <a:r>
              <a:rPr lang="en-US" sz="1400" dirty="0">
                <a:effectLst/>
                <a:latin typeface="Aptos" panose="020B0004020202020204" pitchFamily="34" charset="0"/>
                <a:ea typeface="Aptos" panose="020B0004020202020204" pitchFamily="34" charset="0"/>
                <a:cs typeface="Aptos" panose="020B0004020202020204" pitchFamily="34" charset="0"/>
              </a:rPr>
              <a:t> </a:t>
            </a:r>
          </a:p>
          <a:p>
            <a:pPr marL="1293495" lvl="3" indent="-153670">
              <a:buFont typeface="Arial" panose="020B0604020202020204" pitchFamily="34" charset="0"/>
              <a:buChar char="•"/>
            </a:pPr>
            <a:endParaRPr lang="en-US" sz="1400" dirty="0">
              <a:latin typeface="Aptos" panose="020B0004020202020204" pitchFamily="34" charset="0"/>
              <a:ea typeface="Aptos" panose="020B0004020202020204" pitchFamily="34" charset="0"/>
              <a:cs typeface="Aptos" panose="020B0004020202020204" pitchFamily="34" charset="0"/>
            </a:endParaRPr>
          </a:p>
          <a:p>
            <a:pPr marL="1139825" lvl="3"/>
            <a:endParaRPr lang="en-US" sz="1400" dirty="0">
              <a:latin typeface="Aptos" panose="020B0004020202020204" pitchFamily="34" charset="0"/>
              <a:ea typeface="Aptos" panose="020B0004020202020204" pitchFamily="34" charset="0"/>
              <a:cs typeface="Aptos" panose="020B0004020202020204" pitchFamily="34" charset="0"/>
            </a:endParaRPr>
          </a:p>
          <a:p>
            <a:pPr marL="287020" marR="0" lvl="1"/>
            <a:r>
              <a:rPr lang="en-US" sz="1400" b="1" u="sng" dirty="0">
                <a:solidFill>
                  <a:schemeClr val="tx2"/>
                </a:solidFill>
                <a:latin typeface="Aptos" panose="020B0004020202020204" pitchFamily="34" charset="0"/>
                <a:ea typeface="Times New Roman" panose="02020603050405020304" pitchFamily="18" charset="0"/>
                <a:cs typeface="Aptos" panose="020B0004020202020204" pitchFamily="34" charset="0"/>
              </a:rPr>
              <a:t>Post</a:t>
            </a:r>
            <a:r>
              <a:rPr lang="en-US" sz="1400" b="1" dirty="0">
                <a:solidFill>
                  <a:schemeClr val="tx2"/>
                </a:solidFill>
                <a:latin typeface="Aptos" panose="020B0004020202020204" pitchFamily="34" charset="0"/>
                <a:ea typeface="Times New Roman" panose="02020603050405020304" pitchFamily="18" charset="0"/>
                <a:cs typeface="Aptos" panose="020B0004020202020204" pitchFamily="34" charset="0"/>
              </a:rPr>
              <a:t>-Sales Example | </a:t>
            </a:r>
            <a:r>
              <a:rPr lang="en-US" sz="1400" b="1" dirty="0">
                <a:solidFill>
                  <a:schemeClr val="tx2"/>
                </a:solidFill>
                <a:latin typeface="Aptos" panose="020B0004020202020204" pitchFamily="34" charset="0"/>
              </a:rPr>
              <a:t>Azure Accelerate: Azure Accelerate: Core Migrate &amp; Modernize</a:t>
            </a:r>
          </a:p>
          <a:p>
            <a:pPr marL="287020" marR="0" lvl="1"/>
            <a:endParaRPr lang="en-US" sz="1400" b="1" dirty="0">
              <a:latin typeface="Aptos" panose="020B0004020202020204" pitchFamily="34" charset="0"/>
            </a:endParaRPr>
          </a:p>
          <a:p>
            <a:pPr lvl="1"/>
            <a:r>
              <a:rPr lang="en-US" sz="1400" dirty="0">
                <a:latin typeface="Aptos" panose="020B0004020202020204" pitchFamily="34" charset="0"/>
                <a:ea typeface="Times New Roman" panose="02020603050405020304" pitchFamily="18" charset="0"/>
                <a:cs typeface="Aptos" panose="020B0004020202020204" pitchFamily="34" charset="0"/>
              </a:rPr>
              <a:t>SOW/POE Requirements:</a:t>
            </a:r>
            <a:endParaRPr lang="en-US" sz="1400" b="1" dirty="0">
              <a:latin typeface="Aptos" panose="020B0004020202020204" pitchFamily="34" charset="0"/>
            </a:endParaRPr>
          </a:p>
          <a:p>
            <a:pPr lvl="2"/>
            <a:r>
              <a:rPr lang="en-US" sz="1400" dirty="0">
                <a:latin typeface="Aptos" panose="020B0004020202020204" pitchFamily="34" charset="0"/>
                <a:ea typeface="Aptos" panose="020B0004020202020204" pitchFamily="34" charset="0"/>
                <a:cs typeface="Aptos" panose="020B0004020202020204" pitchFamily="34" charset="0"/>
              </a:rPr>
              <a:t>A. Rackspace Deliverable:</a:t>
            </a:r>
          </a:p>
          <a:p>
            <a:pPr marL="1828800" marR="0" lvl="3" indent="-457200">
              <a:buFont typeface="Arial" panose="020B0604020202020204" pitchFamily="34" charset="0"/>
              <a:buChar char="•"/>
            </a:pPr>
            <a:r>
              <a:rPr lang="en-US" sz="1400" dirty="0">
                <a:latin typeface="Aptos" panose="020B0004020202020204" pitchFamily="34" charset="0"/>
                <a:ea typeface="Times New Roman" panose="02020603050405020304" pitchFamily="18" charset="0"/>
                <a:cs typeface="Aptos" panose="020B0004020202020204" pitchFamily="34" charset="0"/>
              </a:rPr>
              <a:t>Azure Calculator Estimate</a:t>
            </a:r>
          </a:p>
          <a:p>
            <a:pPr lvl="2"/>
            <a:r>
              <a:rPr lang="en-US" sz="1400" dirty="0">
                <a:latin typeface="Aptos" panose="020B0004020202020204" pitchFamily="34" charset="0"/>
                <a:ea typeface="Aptos" panose="020B0004020202020204" pitchFamily="34" charset="0"/>
                <a:cs typeface="Aptos" panose="020B0004020202020204" pitchFamily="34" charset="0"/>
              </a:rPr>
              <a:t>B. Customer Responsibility:</a:t>
            </a:r>
          </a:p>
          <a:p>
            <a:pPr marL="1828800" lvl="3" indent="-457200">
              <a:buFont typeface="Arial" panose="020B0604020202020204" pitchFamily="34" charset="0"/>
              <a:buChar char="•"/>
            </a:pPr>
            <a:r>
              <a:rPr lang="en-US" sz="1400" dirty="0">
                <a:latin typeface="Aptos" panose="020B0004020202020204" pitchFamily="34" charset="0"/>
              </a:rPr>
              <a:t>Consent Form &amp; End of Engagement Survey</a:t>
            </a:r>
            <a:r>
              <a:rPr lang="en-US" sz="1400" dirty="0">
                <a:latin typeface="Aptos" panose="020B0004020202020204" pitchFamily="34" charset="0"/>
                <a:ea typeface="Aptos" panose="020B0004020202020204" pitchFamily="34" charset="0"/>
                <a:cs typeface="Aptos" panose="020B0004020202020204" pitchFamily="34" charset="0"/>
              </a:rPr>
              <a:t> </a:t>
            </a:r>
          </a:p>
          <a:p>
            <a:pPr marL="1828800" lvl="3" indent="-457200">
              <a:buFont typeface="Arial,Sans-Serif" panose="020B0604020202020204" pitchFamily="34" charset="0"/>
              <a:buChar char="•"/>
            </a:pPr>
            <a:r>
              <a:rPr lang="en-US" sz="1400" dirty="0">
                <a:latin typeface="Aptos" panose="020B0004020202020204" pitchFamily="34" charset="0"/>
                <a:ea typeface="Aptos" panose="020B0004020202020204" pitchFamily="34" charset="0"/>
                <a:cs typeface="Aptos" panose="020B0004020202020204" pitchFamily="34" charset="0"/>
              </a:rPr>
              <a:t>Subscription IDs </a:t>
            </a:r>
          </a:p>
          <a:p>
            <a:pPr marL="277495" marR="0" lvl="1"/>
            <a:endParaRPr lang="en-US" sz="1400" dirty="0">
              <a:latin typeface="Aptos" panose="020B0004020202020204" pitchFamily="34" charset="0"/>
              <a:ea typeface="Aptos" panose="020B0004020202020204" pitchFamily="34" charset="0"/>
              <a:cs typeface="Aptos" panose="020B0004020202020204" pitchFamily="34" charset="0"/>
            </a:endParaRPr>
          </a:p>
          <a:p>
            <a:pPr marL="1293495" lvl="3" indent="-153670">
              <a:buFont typeface="Arial" panose="020B0604020202020204" pitchFamily="34" charset="0"/>
              <a:buChar char="•"/>
            </a:pPr>
            <a:endParaRPr lang="en-US" sz="1400" dirty="0">
              <a:effectLst/>
              <a:latin typeface="Aptos" panose="020B0004020202020204" pitchFamily="34" charset="0"/>
              <a:ea typeface="Aptos" panose="020B0004020202020204" pitchFamily="34" charset="0"/>
              <a:cs typeface="Aptos" panose="020B0004020202020204" pitchFamily="34" charset="0"/>
            </a:endParaRPr>
          </a:p>
        </p:txBody>
      </p:sp>
      <p:cxnSp>
        <p:nvCxnSpPr>
          <p:cNvPr id="2" name="Straight Connector 1">
            <a:extLst>
              <a:ext uri="{FF2B5EF4-FFF2-40B4-BE49-F238E27FC236}">
                <a16:creationId xmlns:a16="http://schemas.microsoft.com/office/drawing/2014/main" id="{383CE1C5-8703-0BE1-CAD7-F6A9DFEAE527}"/>
              </a:ext>
            </a:extLst>
          </p:cNvPr>
          <p:cNvCxnSpPr>
            <a:cxnSpLocks/>
          </p:cNvCxnSpPr>
          <p:nvPr/>
        </p:nvCxnSpPr>
        <p:spPr>
          <a:xfrm>
            <a:off x="391155" y="3870543"/>
            <a:ext cx="11448000" cy="0"/>
          </a:xfrm>
          <a:prstGeom prst="line">
            <a:avLst/>
          </a:prstGeom>
          <a:ln w="28575">
            <a:solidFill>
              <a:schemeClr val="tx2"/>
            </a:solidFill>
            <a:prstDash val="sysDot"/>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D2B2AA47-0DFA-2134-EDB0-102176270287}"/>
              </a:ext>
            </a:extLst>
          </p:cNvPr>
          <p:cNvSpPr>
            <a:spLocks noGrp="1"/>
          </p:cNvSpPr>
          <p:nvPr>
            <p:ph type="title"/>
          </p:nvPr>
        </p:nvSpPr>
        <p:spPr>
          <a:xfrm>
            <a:off x="334496" y="268589"/>
            <a:ext cx="11495554" cy="484043"/>
          </a:xfrm>
        </p:spPr>
        <p:txBody>
          <a:bodyPr/>
          <a:lstStyle/>
          <a:p>
            <a:r>
              <a:rPr lang="en-US" b="1" dirty="0"/>
              <a:t>SoW in Action: Examples</a:t>
            </a:r>
          </a:p>
        </p:txBody>
      </p:sp>
    </p:spTree>
    <p:extLst>
      <p:ext uri="{BB962C8B-B14F-4D97-AF65-F5344CB8AC3E}">
        <p14:creationId xmlns:p14="http://schemas.microsoft.com/office/powerpoint/2010/main" val="4284630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4793-06AA-4B84-F1AD-1A9FB2D747B7}"/>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BF666700-85DB-9FBA-008A-680F94B64F25}"/>
              </a:ext>
            </a:extLst>
          </p:cNvPr>
          <p:cNvSpPr txBox="1"/>
          <p:nvPr/>
        </p:nvSpPr>
        <p:spPr>
          <a:xfrm>
            <a:off x="-217685" y="1079090"/>
            <a:ext cx="11144809" cy="707886"/>
          </a:xfrm>
          <a:prstGeom prst="rect">
            <a:avLst/>
          </a:prstGeom>
          <a:noFill/>
        </p:spPr>
        <p:txBody>
          <a:bodyPr wrap="square" lIns="91440" tIns="45720" rIns="91440" bIns="45720" anchor="t">
            <a:spAutoFit/>
          </a:bodyPr>
          <a:lstStyle/>
          <a:p>
            <a:pPr marL="457200" marR="0" lvl="1"/>
            <a:r>
              <a:rPr lang="en-US" sz="2000" dirty="0">
                <a:effectLst/>
                <a:latin typeface="Aptos"/>
                <a:ea typeface="Times New Roman" panose="02020603050405020304" pitchFamily="18" charset="0"/>
                <a:cs typeface="Aptos" panose="020B0004020202020204" pitchFamily="34" charset="0"/>
              </a:rPr>
              <a:t>Microsoft expects partners to stack funding in many of their engagements. These are referred to as </a:t>
            </a:r>
            <a:r>
              <a:rPr lang="en-US" sz="2000" dirty="0">
                <a:latin typeface="Aptos"/>
                <a:ea typeface="Times New Roman" panose="02020603050405020304" pitchFamily="18" charset="0"/>
                <a:cs typeface="Aptos" panose="020B0004020202020204" pitchFamily="34" charset="0"/>
              </a:rPr>
              <a:t>Pre-Sales</a:t>
            </a:r>
            <a:r>
              <a:rPr lang="en-US" sz="2000" dirty="0">
                <a:effectLst/>
                <a:latin typeface="Aptos"/>
                <a:ea typeface="Times New Roman" panose="02020603050405020304" pitchFamily="18" charset="0"/>
                <a:cs typeface="Aptos" panose="020B0004020202020204" pitchFamily="34" charset="0"/>
              </a:rPr>
              <a:t> and </a:t>
            </a:r>
            <a:r>
              <a:rPr lang="en-US" sz="2000" dirty="0">
                <a:latin typeface="Aptos"/>
                <a:ea typeface="Times New Roman" panose="02020603050405020304" pitchFamily="18" charset="0"/>
                <a:cs typeface="Aptos" panose="020B0004020202020204" pitchFamily="34" charset="0"/>
              </a:rPr>
              <a:t>Post-Sales</a:t>
            </a:r>
            <a:r>
              <a:rPr lang="en-US" sz="2000" dirty="0">
                <a:effectLst/>
                <a:latin typeface="Aptos"/>
                <a:ea typeface="Times New Roman" panose="02020603050405020304" pitchFamily="18" charset="0"/>
                <a:cs typeface="Aptos" panose="020B0004020202020204" pitchFamily="34" charset="0"/>
              </a:rPr>
              <a:t> engagements. </a:t>
            </a:r>
            <a:endParaRPr lang="en-US" sz="2000" dirty="0">
              <a:effectLst/>
              <a:latin typeface="Times New Roman"/>
              <a:ea typeface="Aptos" panose="020B0004020202020204" pitchFamily="34" charset="0"/>
              <a:cs typeface="Aptos" panose="020B0004020202020204" pitchFamily="34" charset="0"/>
            </a:endParaRPr>
          </a:p>
        </p:txBody>
      </p:sp>
      <p:sp>
        <p:nvSpPr>
          <p:cNvPr id="6" name="TextBox 5">
            <a:extLst>
              <a:ext uri="{FF2B5EF4-FFF2-40B4-BE49-F238E27FC236}">
                <a16:creationId xmlns:a16="http://schemas.microsoft.com/office/drawing/2014/main" id="{48365FA1-0CDF-6C10-A4ED-91DE350FC78D}"/>
              </a:ext>
            </a:extLst>
          </p:cNvPr>
          <p:cNvSpPr txBox="1"/>
          <p:nvPr/>
        </p:nvSpPr>
        <p:spPr>
          <a:xfrm>
            <a:off x="7188350" y="1674888"/>
            <a:ext cx="2224592" cy="400110"/>
          </a:xfrm>
          <a:prstGeom prst="rect">
            <a:avLst/>
          </a:prstGeom>
          <a:noFill/>
        </p:spPr>
        <p:txBody>
          <a:bodyPr wrap="square">
            <a:spAutoFit/>
          </a:bodyPr>
          <a:lstStyle/>
          <a:p>
            <a:pPr marL="457200" marR="0" lvl="1" algn="ctr"/>
            <a:r>
              <a:rPr lang="en-US" sz="2000" b="1" dirty="0">
                <a:effectLst/>
                <a:latin typeface="Aptos" panose="020B0004020202020204" pitchFamily="34" charset="0"/>
                <a:ea typeface="Times New Roman" panose="02020603050405020304" pitchFamily="18" charset="0"/>
                <a:cs typeface="Aptos" panose="020B0004020202020204" pitchFamily="34" charset="0"/>
              </a:rPr>
              <a:t>Examples</a:t>
            </a:r>
            <a:endParaRPr lang="en-US" sz="2000" b="1" dirty="0">
              <a:effectLst/>
              <a:latin typeface="Aptos" panose="020B0004020202020204" pitchFamily="34" charset="0"/>
              <a:ea typeface="Aptos" panose="020B0004020202020204" pitchFamily="34" charset="0"/>
              <a:cs typeface="Aptos" panose="020B0004020202020204" pitchFamily="34" charset="0"/>
            </a:endParaRPr>
          </a:p>
        </p:txBody>
      </p:sp>
      <p:sp>
        <p:nvSpPr>
          <p:cNvPr id="7" name="TextBox 6">
            <a:extLst>
              <a:ext uri="{FF2B5EF4-FFF2-40B4-BE49-F238E27FC236}">
                <a16:creationId xmlns:a16="http://schemas.microsoft.com/office/drawing/2014/main" id="{50CF9F39-480C-C271-6772-1EBAB8C4E2D4}"/>
              </a:ext>
            </a:extLst>
          </p:cNvPr>
          <p:cNvSpPr txBox="1"/>
          <p:nvPr/>
        </p:nvSpPr>
        <p:spPr>
          <a:xfrm>
            <a:off x="-217685" y="2363381"/>
            <a:ext cx="5798931" cy="3477875"/>
          </a:xfrm>
          <a:prstGeom prst="rect">
            <a:avLst/>
          </a:prstGeom>
          <a:noFill/>
        </p:spPr>
        <p:txBody>
          <a:bodyPr wrap="square">
            <a:spAutoFit/>
          </a:bodyPr>
          <a:lstStyle/>
          <a:p>
            <a:pPr marL="457200" marR="0" lvl="1"/>
            <a:r>
              <a:rPr lang="en-US" sz="2000" b="1" dirty="0">
                <a:solidFill>
                  <a:srgbClr val="C00000"/>
                </a:solidFill>
                <a:latin typeface="Aptos" panose="020B0004020202020204" pitchFamily="34" charset="0"/>
              </a:rPr>
              <a:t>Important:</a:t>
            </a:r>
          </a:p>
          <a:p>
            <a:pPr marL="457200" marR="0" lvl="1"/>
            <a:r>
              <a:rPr lang="en-US" sz="2000" dirty="0">
                <a:effectLst/>
                <a:latin typeface="Aptos" panose="020B0004020202020204" pitchFamily="34" charset="0"/>
                <a:ea typeface="Aptos" panose="020B0004020202020204" pitchFamily="34" charset="0"/>
                <a:cs typeface="Aptos" panose="020B0004020202020204" pitchFamily="34" charset="0"/>
              </a:rPr>
              <a:t>Delivery of an SoW does not need to be completed to claim funding. Once the </a:t>
            </a:r>
            <a:r>
              <a:rPr lang="en-US" sz="2000" dirty="0">
                <a:latin typeface="Aptos" panose="020B0004020202020204" pitchFamily="34" charset="0"/>
                <a:ea typeface="Aptos" panose="020B0004020202020204" pitchFamily="34" charset="0"/>
                <a:cs typeface="Aptos" panose="020B0004020202020204" pitchFamily="34" charset="0"/>
              </a:rPr>
              <a:t>requirements of the funding have been completed the PoE should be generated.</a:t>
            </a:r>
          </a:p>
          <a:p>
            <a:pPr marL="457200" marR="0" lvl="1"/>
            <a:endParaRPr lang="en-US" sz="2000" dirty="0">
              <a:latin typeface="Aptos" panose="020B0004020202020204" pitchFamily="34" charset="0"/>
              <a:ea typeface="Aptos" panose="020B0004020202020204" pitchFamily="34" charset="0"/>
              <a:cs typeface="Aptos" panose="020B0004020202020204" pitchFamily="34" charset="0"/>
            </a:endParaRPr>
          </a:p>
          <a:p>
            <a:pPr marL="457200" marR="0" lvl="1"/>
            <a:r>
              <a:rPr lang="en-US" sz="2000" b="1" dirty="0">
                <a:solidFill>
                  <a:srgbClr val="C00000"/>
                </a:solidFill>
                <a:latin typeface="Aptos" panose="020B0004020202020204" pitchFamily="34" charset="0"/>
              </a:rPr>
              <a:t>Example: </a:t>
            </a:r>
            <a:r>
              <a:rPr lang="en-US" sz="2000" dirty="0">
                <a:latin typeface="Aptos" panose="020B0004020202020204" pitchFamily="34" charset="0"/>
                <a:ea typeface="Aptos" panose="020B0004020202020204" pitchFamily="34" charset="0"/>
                <a:cs typeface="Aptos" panose="020B0004020202020204" pitchFamily="34" charset="0"/>
              </a:rPr>
              <a:t>When an SoW includes both an assessment and a migration, the PoE documents should be generated once the assessment has been completed </a:t>
            </a:r>
            <a:r>
              <a:rPr lang="en-US" sz="2000" u="sng" dirty="0">
                <a:latin typeface="Aptos" panose="020B0004020202020204" pitchFamily="34" charset="0"/>
                <a:ea typeface="Aptos" panose="020B0004020202020204" pitchFamily="34" charset="0"/>
                <a:cs typeface="Aptos" panose="020B0004020202020204" pitchFamily="34" charset="0"/>
              </a:rPr>
              <a:t>not</a:t>
            </a:r>
            <a:r>
              <a:rPr lang="en-US" sz="2000" dirty="0">
                <a:latin typeface="Aptos" panose="020B0004020202020204" pitchFamily="34" charset="0"/>
                <a:ea typeface="Aptos" panose="020B0004020202020204" pitchFamily="34" charset="0"/>
                <a:cs typeface="Aptos" panose="020B0004020202020204" pitchFamily="34" charset="0"/>
              </a:rPr>
              <a:t> at the end of the completion of the </a:t>
            </a:r>
            <a:r>
              <a:rPr lang="en-US" sz="2000" dirty="0" err="1">
                <a:latin typeface="Aptos" panose="020B0004020202020204" pitchFamily="34" charset="0"/>
                <a:ea typeface="Aptos" panose="020B0004020202020204" pitchFamily="34" charset="0"/>
                <a:cs typeface="Aptos" panose="020B0004020202020204" pitchFamily="34" charset="0"/>
              </a:rPr>
              <a:t>SoW.</a:t>
            </a:r>
            <a:endParaRPr lang="en-US" sz="2000" dirty="0">
              <a:effectLst/>
              <a:latin typeface="Aptos" panose="020B0004020202020204" pitchFamily="34" charset="0"/>
              <a:ea typeface="Aptos" panose="020B0004020202020204" pitchFamily="34" charset="0"/>
              <a:cs typeface="Aptos" panose="020B0004020202020204" pitchFamily="34" charset="0"/>
            </a:endParaRPr>
          </a:p>
        </p:txBody>
      </p:sp>
      <p:graphicFrame>
        <p:nvGraphicFramePr>
          <p:cNvPr id="2" name="Diagram 1">
            <a:extLst>
              <a:ext uri="{FF2B5EF4-FFF2-40B4-BE49-F238E27FC236}">
                <a16:creationId xmlns:a16="http://schemas.microsoft.com/office/drawing/2014/main" id="{A1C54372-D3F5-8A91-804E-8F6FEB4ED1E5}"/>
              </a:ext>
            </a:extLst>
          </p:cNvPr>
          <p:cNvGraphicFramePr/>
          <p:nvPr/>
        </p:nvGraphicFramePr>
        <p:xfrm>
          <a:off x="5963266" y="1835337"/>
          <a:ext cx="5131734" cy="23263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0241AA4B-717C-0B19-288F-A3049DA3D964}"/>
              </a:ext>
            </a:extLst>
          </p:cNvPr>
          <p:cNvGraphicFramePr/>
          <p:nvPr/>
        </p:nvGraphicFramePr>
        <p:xfrm>
          <a:off x="5963266" y="3530735"/>
          <a:ext cx="5131734" cy="21336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8" name="Diagram 7">
            <a:extLst>
              <a:ext uri="{FF2B5EF4-FFF2-40B4-BE49-F238E27FC236}">
                <a16:creationId xmlns:a16="http://schemas.microsoft.com/office/drawing/2014/main" id="{48C63848-D698-9F17-DF8A-9CA1A2A95DF7}"/>
              </a:ext>
            </a:extLst>
          </p:cNvPr>
          <p:cNvGraphicFramePr/>
          <p:nvPr/>
        </p:nvGraphicFramePr>
        <p:xfrm>
          <a:off x="5963266" y="5033393"/>
          <a:ext cx="5131734" cy="21336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4" name="Title 1">
            <a:extLst>
              <a:ext uri="{FF2B5EF4-FFF2-40B4-BE49-F238E27FC236}">
                <a16:creationId xmlns:a16="http://schemas.microsoft.com/office/drawing/2014/main" id="{E57E6799-BCCF-3ACD-DC94-23286ED69E2B}"/>
              </a:ext>
            </a:extLst>
          </p:cNvPr>
          <p:cNvSpPr>
            <a:spLocks noGrp="1"/>
          </p:cNvSpPr>
          <p:nvPr>
            <p:ph type="title"/>
          </p:nvPr>
        </p:nvSpPr>
        <p:spPr>
          <a:xfrm>
            <a:off x="334496" y="268589"/>
            <a:ext cx="11495554" cy="484043"/>
          </a:xfrm>
        </p:spPr>
        <p:txBody>
          <a:bodyPr/>
          <a:lstStyle/>
          <a:p>
            <a:r>
              <a:rPr lang="en-US" b="1" dirty="0"/>
              <a:t>Stacking Funding</a:t>
            </a:r>
          </a:p>
        </p:txBody>
      </p:sp>
    </p:spTree>
    <p:extLst>
      <p:ext uri="{BB962C8B-B14F-4D97-AF65-F5344CB8AC3E}">
        <p14:creationId xmlns:p14="http://schemas.microsoft.com/office/powerpoint/2010/main" val="1199797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D3EDC-1BD7-1641-4DDA-1D1AEB65CE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820BF-708B-F37C-3B91-91764BECB54F}"/>
              </a:ext>
            </a:extLst>
          </p:cNvPr>
          <p:cNvSpPr>
            <a:spLocks noGrp="1"/>
          </p:cNvSpPr>
          <p:nvPr>
            <p:ph type="title"/>
          </p:nvPr>
        </p:nvSpPr>
        <p:spPr>
          <a:xfrm>
            <a:off x="333758" y="269748"/>
            <a:ext cx="3923610" cy="1533561"/>
          </a:xfrm>
        </p:spPr>
        <p:txBody>
          <a:bodyPr/>
          <a:lstStyle/>
          <a:p>
            <a:r>
              <a:rPr lang="en-US" dirty="0"/>
              <a:t>FORM SUBMISSION</a:t>
            </a:r>
            <a:br>
              <a:rPr lang="en-US" dirty="0"/>
            </a:br>
            <a:endParaRPr lang="en-US" dirty="0"/>
          </a:p>
        </p:txBody>
      </p:sp>
      <p:sp>
        <p:nvSpPr>
          <p:cNvPr id="3" name="Slide Number Placeholder 2">
            <a:extLst>
              <a:ext uri="{FF2B5EF4-FFF2-40B4-BE49-F238E27FC236}">
                <a16:creationId xmlns:a16="http://schemas.microsoft.com/office/drawing/2014/main" id="{253A0E5C-39A4-EC15-40EC-DAEF2FB19004}"/>
              </a:ext>
            </a:extLst>
          </p:cNvPr>
          <p:cNvSpPr>
            <a:spLocks noGrp="1"/>
          </p:cNvSpPr>
          <p:nvPr>
            <p:ph type="sldNum" sz="quarter" idx="4"/>
          </p:nvPr>
        </p:nvSpPr>
        <p:spPr/>
        <p:txBody>
          <a:bodyPr/>
          <a:lstStyle/>
          <a:p>
            <a:fld id="{762E77F0-FB5B-4E8E-9BC9-34F14560A017}" type="slidenum">
              <a:rPr lang="en-US" smtClean="0"/>
              <a:pPr/>
              <a:t>19</a:t>
            </a:fld>
            <a:endParaRPr lang="en-US"/>
          </a:p>
        </p:txBody>
      </p:sp>
      <p:sp>
        <p:nvSpPr>
          <p:cNvPr id="5" name="Rectangle: Rounded Corners 4">
            <a:extLst>
              <a:ext uri="{FF2B5EF4-FFF2-40B4-BE49-F238E27FC236}">
                <a16:creationId xmlns:a16="http://schemas.microsoft.com/office/drawing/2014/main" id="{A4512340-84F2-C0C1-74C3-F1A3CE98453C}"/>
              </a:ext>
            </a:extLst>
          </p:cNvPr>
          <p:cNvSpPr/>
          <p:nvPr/>
        </p:nvSpPr>
        <p:spPr>
          <a:xfrm>
            <a:off x="194982" y="4229121"/>
            <a:ext cx="11766177" cy="1183320"/>
          </a:xfrm>
          <a:prstGeom prst="roundRect">
            <a:avLst/>
          </a:prstGeom>
          <a:solidFill>
            <a:srgbClr val="FFFFCC"/>
          </a:solidFill>
          <a:ln w="19050">
            <a:solidFill>
              <a:srgbClr val="EB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pPr>
            <a:r>
              <a:rPr lang="en-US" altLang="en-US" sz="2800" dirty="0">
                <a:solidFill>
                  <a:srgbClr val="0000FF"/>
                </a:solidFill>
                <a:latin typeface="Arial" panose="020B0604020202020204" pitchFamily="34" charset="0"/>
                <a:hlinkClick r:id="rId2">
                  <a:extLst>
                    <a:ext uri="{A12FA001-AC4F-418D-AE19-62706E023703}">
                      <ahyp:hlinkClr xmlns:ahyp="http://schemas.microsoft.com/office/drawing/2018/hyperlinkcolor" val="tx"/>
                    </a:ext>
                  </a:extLst>
                </a:hlinkClick>
              </a:rPr>
              <a:t>Microsoft AZURE Funding Intake Form (Internal | North America ONLY)</a:t>
            </a:r>
            <a:endParaRPr lang="en-US" altLang="en-US" sz="2800" dirty="0">
              <a:solidFill>
                <a:srgbClr val="0000FF"/>
              </a:solidFill>
              <a:latin typeface="Arial" panose="020B0604020202020204" pitchFamily="34" charset="0"/>
            </a:endParaRPr>
          </a:p>
        </p:txBody>
      </p:sp>
    </p:spTree>
    <p:extLst>
      <p:ext uri="{BB962C8B-B14F-4D97-AF65-F5344CB8AC3E}">
        <p14:creationId xmlns:p14="http://schemas.microsoft.com/office/powerpoint/2010/main" val="2189725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7FD7E-8B38-6147-D88D-DFC8D2608EA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84682F-11B6-DFEB-28A0-EDBE5188DF6C}"/>
              </a:ext>
            </a:extLst>
          </p:cNvPr>
          <p:cNvSpPr>
            <a:spLocks noGrp="1"/>
          </p:cNvSpPr>
          <p:nvPr>
            <p:ph type="title"/>
          </p:nvPr>
        </p:nvSpPr>
        <p:spPr>
          <a:xfrm>
            <a:off x="334496" y="268589"/>
            <a:ext cx="2618254" cy="1553182"/>
          </a:xfrm>
        </p:spPr>
        <p:txBody>
          <a:bodyPr/>
          <a:lstStyle/>
          <a:p>
            <a:r>
              <a:rPr lang="en-US" b="1" dirty="0">
                <a:solidFill>
                  <a:srgbClr val="EB0000"/>
                </a:solidFill>
              </a:rPr>
              <a:t>Microsoft AZURE Funding Intake Form</a:t>
            </a:r>
          </a:p>
        </p:txBody>
      </p:sp>
      <p:sp>
        <p:nvSpPr>
          <p:cNvPr id="4" name="Text Placeholder 3">
            <a:extLst>
              <a:ext uri="{FF2B5EF4-FFF2-40B4-BE49-F238E27FC236}">
                <a16:creationId xmlns:a16="http://schemas.microsoft.com/office/drawing/2014/main" id="{83C530A6-73F5-A162-B36A-A3C20BD32788}"/>
              </a:ext>
            </a:extLst>
          </p:cNvPr>
          <p:cNvSpPr>
            <a:spLocks noGrp="1"/>
          </p:cNvSpPr>
          <p:nvPr>
            <p:ph type="body" sz="quarter" idx="13"/>
          </p:nvPr>
        </p:nvSpPr>
        <p:spPr>
          <a:xfrm>
            <a:off x="344487" y="2589982"/>
            <a:ext cx="2608263" cy="1461939"/>
          </a:xfrm>
        </p:spPr>
        <p:txBody>
          <a:bodyPr/>
          <a:lstStyle/>
          <a:p>
            <a:r>
              <a:rPr lang="en-US" dirty="0"/>
              <a:t>Submit your account to be considered for Microsoft funding (Internal | North America ONLY)</a:t>
            </a:r>
          </a:p>
        </p:txBody>
      </p:sp>
      <p:sp>
        <p:nvSpPr>
          <p:cNvPr id="5" name="Content Placeholder 4">
            <a:extLst>
              <a:ext uri="{FF2B5EF4-FFF2-40B4-BE49-F238E27FC236}">
                <a16:creationId xmlns:a16="http://schemas.microsoft.com/office/drawing/2014/main" id="{A9F824C9-4838-C326-8CC5-27BB071CFF36}"/>
              </a:ext>
            </a:extLst>
          </p:cNvPr>
          <p:cNvSpPr>
            <a:spLocks noGrp="1"/>
          </p:cNvSpPr>
          <p:nvPr>
            <p:ph idx="1"/>
          </p:nvPr>
        </p:nvSpPr>
        <p:spPr>
          <a:xfrm>
            <a:off x="6407524" y="1159656"/>
            <a:ext cx="5682044" cy="2800767"/>
          </a:xfrm>
        </p:spPr>
        <p:txBody>
          <a:bodyPr/>
          <a:lstStyle/>
          <a:p>
            <a:pPr marL="342900" indent="-342900">
              <a:spcAft>
                <a:spcPts val="600"/>
              </a:spcAft>
              <a:buFont typeface="+mj-lt"/>
              <a:buAutoNum type="arabicPeriod"/>
            </a:pPr>
            <a:r>
              <a:rPr lang="en-US" sz="1000" dirty="0">
                <a:latin typeface="Aptos Narrow" panose="020B0004020202020204" pitchFamily="34" charset="0"/>
              </a:rPr>
              <a:t>Company name</a:t>
            </a:r>
          </a:p>
          <a:p>
            <a:pPr marL="342900" indent="-342900">
              <a:spcAft>
                <a:spcPts val="600"/>
              </a:spcAft>
              <a:buFont typeface="+mj-lt"/>
              <a:buAutoNum type="arabicPeriod"/>
            </a:pPr>
            <a:r>
              <a:rPr lang="en-US" sz="1000" dirty="0">
                <a:latin typeface="Aptos Narrow" panose="020B0004020202020204" pitchFamily="34" charset="0"/>
              </a:rPr>
              <a:t>Company domain URL</a:t>
            </a:r>
          </a:p>
          <a:p>
            <a:pPr marL="342900" indent="-342900">
              <a:spcAft>
                <a:spcPts val="600"/>
              </a:spcAft>
              <a:buFont typeface="+mj-lt"/>
              <a:buAutoNum type="arabicPeriod"/>
            </a:pPr>
            <a:r>
              <a:rPr lang="en-US" sz="1000" dirty="0">
                <a:latin typeface="Aptos Narrow" panose="020B0004020202020204" pitchFamily="34" charset="0"/>
              </a:rPr>
              <a:t>Company country</a:t>
            </a:r>
          </a:p>
          <a:p>
            <a:pPr marL="628650" lvl="1" indent="-342900">
              <a:spcAft>
                <a:spcPts val="600"/>
              </a:spcAft>
            </a:pPr>
            <a:r>
              <a:rPr lang="en-US" sz="900" dirty="0">
                <a:latin typeface="Aptos Narrow" panose="020B0004020202020204" pitchFamily="34" charset="0"/>
              </a:rPr>
              <a:t>United States</a:t>
            </a:r>
          </a:p>
          <a:p>
            <a:pPr marL="628650" lvl="1" indent="-342900">
              <a:spcAft>
                <a:spcPts val="600"/>
              </a:spcAft>
            </a:pPr>
            <a:r>
              <a:rPr lang="en-US" sz="900" dirty="0">
                <a:latin typeface="Aptos Narrow" panose="020B0004020202020204" pitchFamily="34" charset="0"/>
              </a:rPr>
              <a:t>Canada</a:t>
            </a:r>
          </a:p>
          <a:p>
            <a:pPr marL="342900" indent="-342900">
              <a:spcAft>
                <a:spcPts val="600"/>
              </a:spcAft>
              <a:buFont typeface="+mj-lt"/>
              <a:buAutoNum type="arabicPeriod"/>
            </a:pPr>
            <a:r>
              <a:rPr lang="en-US" sz="1000" dirty="0">
                <a:latin typeface="Aptos Narrow" panose="020B0004020202020204" pitchFamily="34" charset="0"/>
              </a:rPr>
              <a:t>Targeted Azure Funding (Multiple answers (especially pre-sales + post-sales incentives)</a:t>
            </a:r>
          </a:p>
          <a:p>
            <a:pPr marL="628650" lvl="1" indent="-342900">
              <a:spcAft>
                <a:spcPts val="600"/>
              </a:spcAft>
            </a:pPr>
            <a:r>
              <a:rPr lang="en-US" sz="900" b="1" dirty="0">
                <a:latin typeface="Aptos Narrow" panose="020B0004020202020204" pitchFamily="34" charset="0"/>
              </a:rPr>
              <a:t>Pre</a:t>
            </a:r>
            <a:r>
              <a:rPr lang="en-US" sz="900" dirty="0">
                <a:latin typeface="Aptos Narrow" panose="020B0004020202020204" pitchFamily="34" charset="0"/>
              </a:rPr>
              <a:t>-Sales Azure Accelerate</a:t>
            </a:r>
            <a:r>
              <a:rPr lang="en-US" sz="900" b="1" dirty="0">
                <a:solidFill>
                  <a:srgbClr val="C00000"/>
                </a:solidFill>
                <a:latin typeface="Aptos Narrow" panose="020B0004020202020204" pitchFamily="34" charset="0"/>
              </a:rPr>
              <a:t>: Core Migrate &amp; Modernize Pre-Sales (Assessment and POV)</a:t>
            </a:r>
            <a:r>
              <a:rPr lang="en-US" sz="900" dirty="0">
                <a:latin typeface="Aptos Narrow" panose="020B0004020202020204" pitchFamily="34" charset="0"/>
              </a:rPr>
              <a:t> [$15K-$25K]</a:t>
            </a:r>
          </a:p>
          <a:p>
            <a:pPr marL="628650" lvl="1" indent="-342900">
              <a:spcAft>
                <a:spcPts val="600"/>
              </a:spcAft>
            </a:pPr>
            <a:r>
              <a:rPr lang="en-US" sz="900" b="1" dirty="0">
                <a:latin typeface="Aptos Narrow" panose="020B0004020202020204" pitchFamily="34" charset="0"/>
              </a:rPr>
              <a:t>Post</a:t>
            </a:r>
            <a:r>
              <a:rPr lang="en-US" sz="900" dirty="0">
                <a:latin typeface="Aptos Narrow" panose="020B0004020202020204" pitchFamily="34" charset="0"/>
              </a:rPr>
              <a:t>-Sales Azure Accelerate: </a:t>
            </a:r>
            <a:r>
              <a:rPr lang="en-US" sz="900" b="1" dirty="0">
                <a:solidFill>
                  <a:srgbClr val="C00000"/>
                </a:solidFill>
                <a:latin typeface="Aptos Narrow" panose="020B0004020202020204" pitchFamily="34" charset="0"/>
              </a:rPr>
              <a:t>Core Migrate &amp; Modernize </a:t>
            </a:r>
            <a:r>
              <a:rPr lang="en-US" sz="900" dirty="0">
                <a:latin typeface="Aptos Narrow" panose="020B0004020202020204" pitchFamily="34" charset="0"/>
              </a:rPr>
              <a:t>[$2K-$75K]</a:t>
            </a:r>
          </a:p>
          <a:p>
            <a:pPr marL="628650" lvl="1" indent="-342900">
              <a:spcAft>
                <a:spcPts val="600"/>
              </a:spcAft>
            </a:pPr>
            <a:r>
              <a:rPr lang="en-US" sz="900" b="1" dirty="0">
                <a:latin typeface="Aptos Narrow" panose="020B0004020202020204" pitchFamily="34" charset="0"/>
              </a:rPr>
              <a:t>Pre</a:t>
            </a:r>
            <a:r>
              <a:rPr lang="en-US" sz="900" dirty="0">
                <a:latin typeface="Aptos Narrow" panose="020B0004020202020204" pitchFamily="34" charset="0"/>
              </a:rPr>
              <a:t>-Sales Azure Accelerate: </a:t>
            </a:r>
            <a:r>
              <a:rPr lang="en-US" sz="900" b="1" dirty="0">
                <a:solidFill>
                  <a:srgbClr val="C00000"/>
                </a:solidFill>
                <a:latin typeface="Aptos Narrow" panose="020B0004020202020204" pitchFamily="34" charset="0"/>
              </a:rPr>
              <a:t>Data Platform Pre-Sales (Assessment and POV) </a:t>
            </a:r>
            <a:r>
              <a:rPr lang="en-US" sz="900" dirty="0">
                <a:latin typeface="Aptos Narrow" panose="020B0004020202020204" pitchFamily="34" charset="0"/>
              </a:rPr>
              <a:t>[$15K-$25K]</a:t>
            </a:r>
          </a:p>
          <a:p>
            <a:pPr marL="628650" lvl="1" indent="-342900">
              <a:spcAft>
                <a:spcPts val="600"/>
              </a:spcAft>
            </a:pPr>
            <a:r>
              <a:rPr lang="en-US" sz="900" b="1" dirty="0">
                <a:latin typeface="Aptos Narrow" panose="020B0004020202020204" pitchFamily="34" charset="0"/>
              </a:rPr>
              <a:t>Post</a:t>
            </a:r>
            <a:r>
              <a:rPr lang="en-US" sz="900" dirty="0">
                <a:latin typeface="Aptos Narrow" panose="020B0004020202020204" pitchFamily="34" charset="0"/>
              </a:rPr>
              <a:t>-Sales Azure Accelerate: </a:t>
            </a:r>
            <a:r>
              <a:rPr lang="en-US" sz="900" b="1" dirty="0">
                <a:solidFill>
                  <a:srgbClr val="C00000"/>
                </a:solidFill>
                <a:latin typeface="Aptos Narrow" panose="020B0004020202020204" pitchFamily="34" charset="0"/>
              </a:rPr>
              <a:t>Data Platform</a:t>
            </a:r>
            <a:r>
              <a:rPr lang="en-US" sz="900" dirty="0">
                <a:latin typeface="Aptos Narrow" panose="020B0004020202020204" pitchFamily="34" charset="0"/>
              </a:rPr>
              <a:t> [$2K-$75K]</a:t>
            </a:r>
          </a:p>
          <a:p>
            <a:pPr marL="628650" lvl="1" indent="-342900">
              <a:spcAft>
                <a:spcPts val="600"/>
              </a:spcAft>
            </a:pPr>
            <a:r>
              <a:rPr lang="en-US" sz="900" b="1" dirty="0">
                <a:latin typeface="Aptos Narrow" panose="020B0004020202020204" pitchFamily="34" charset="0"/>
              </a:rPr>
              <a:t>Pre</a:t>
            </a:r>
            <a:r>
              <a:rPr lang="en-US" sz="900" dirty="0">
                <a:latin typeface="Aptos Narrow" panose="020B0004020202020204" pitchFamily="34" charset="0"/>
              </a:rPr>
              <a:t>-Sales Azure Accelerate: </a:t>
            </a:r>
            <a:r>
              <a:rPr lang="en-US" sz="900" b="1" dirty="0">
                <a:solidFill>
                  <a:srgbClr val="C00000"/>
                </a:solidFill>
                <a:latin typeface="Aptos Narrow" panose="020B0004020202020204" pitchFamily="34" charset="0"/>
              </a:rPr>
              <a:t>AI Apps, Agents and Developer Pre-Sales</a:t>
            </a:r>
            <a:r>
              <a:rPr lang="en-US" sz="900" dirty="0">
                <a:latin typeface="Aptos Narrow" panose="020B0004020202020204" pitchFamily="34" charset="0"/>
              </a:rPr>
              <a:t> </a:t>
            </a:r>
            <a:r>
              <a:rPr lang="en-US" sz="900" b="1" dirty="0">
                <a:solidFill>
                  <a:srgbClr val="C00000"/>
                </a:solidFill>
                <a:latin typeface="Aptos Narrow" panose="020B0004020202020204" pitchFamily="34" charset="0"/>
              </a:rPr>
              <a:t>(Assessment and POV) </a:t>
            </a:r>
            <a:r>
              <a:rPr lang="en-US" sz="900" dirty="0">
                <a:latin typeface="Aptos Narrow" panose="020B0004020202020204" pitchFamily="34" charset="0"/>
              </a:rPr>
              <a:t>[$15K-$25K]</a:t>
            </a:r>
          </a:p>
          <a:p>
            <a:pPr marL="628650" lvl="1" indent="-342900">
              <a:spcAft>
                <a:spcPts val="600"/>
              </a:spcAft>
            </a:pPr>
            <a:r>
              <a:rPr lang="en-US" sz="900" b="1" dirty="0">
                <a:latin typeface="Aptos Narrow" panose="020B0004020202020204" pitchFamily="34" charset="0"/>
              </a:rPr>
              <a:t>Post</a:t>
            </a:r>
            <a:r>
              <a:rPr lang="en-US" sz="900" dirty="0">
                <a:latin typeface="Aptos Narrow" panose="020B0004020202020204" pitchFamily="34" charset="0"/>
              </a:rPr>
              <a:t>-Sales Azure Accelerate: </a:t>
            </a:r>
            <a:r>
              <a:rPr lang="en-US" sz="900" b="1" dirty="0">
                <a:solidFill>
                  <a:srgbClr val="C00000"/>
                </a:solidFill>
                <a:latin typeface="Aptos Narrow" panose="020B0004020202020204" pitchFamily="34" charset="0"/>
              </a:rPr>
              <a:t>AI Apps, Agents and Developer </a:t>
            </a:r>
            <a:r>
              <a:rPr lang="en-US" sz="900" dirty="0">
                <a:latin typeface="Aptos Narrow" panose="020B0004020202020204" pitchFamily="34" charset="0"/>
              </a:rPr>
              <a:t>[$2K-$75K]</a:t>
            </a:r>
          </a:p>
          <a:p>
            <a:pPr marL="342900" indent="-342900">
              <a:spcAft>
                <a:spcPts val="600"/>
              </a:spcAft>
              <a:buFont typeface="+mj-lt"/>
              <a:buAutoNum type="arabicPeriod"/>
            </a:pPr>
            <a:r>
              <a:rPr lang="en-US" sz="1000" dirty="0">
                <a:latin typeface="Aptos Narrow" panose="020B0004020202020204" pitchFamily="34" charset="0"/>
              </a:rPr>
              <a:t>Deal details (Opportunity notes, project size ACR year 1, workloads, ...)</a:t>
            </a:r>
          </a:p>
        </p:txBody>
      </p:sp>
      <p:sp>
        <p:nvSpPr>
          <p:cNvPr id="6" name="Slide Number Placeholder 5">
            <a:extLst>
              <a:ext uri="{FF2B5EF4-FFF2-40B4-BE49-F238E27FC236}">
                <a16:creationId xmlns:a16="http://schemas.microsoft.com/office/drawing/2014/main" id="{9B8E8E74-38DA-2E2F-4EFB-2D61B4BE6C58}"/>
              </a:ext>
            </a:extLst>
          </p:cNvPr>
          <p:cNvSpPr>
            <a:spLocks noGrp="1"/>
          </p:cNvSpPr>
          <p:nvPr>
            <p:ph type="sldNum" sz="quarter" idx="4"/>
          </p:nvPr>
        </p:nvSpPr>
        <p:spPr/>
        <p:txBody>
          <a:bodyPr/>
          <a:lstStyle/>
          <a:p>
            <a:fld id="{762E77F0-FB5B-4E8E-9BC9-34F14560A017}" type="slidenum">
              <a:rPr lang="en-US" smtClean="0"/>
              <a:pPr/>
              <a:t>20</a:t>
            </a:fld>
            <a:endParaRPr lang="en-US"/>
          </a:p>
        </p:txBody>
      </p:sp>
      <p:pic>
        <p:nvPicPr>
          <p:cNvPr id="9" name="Picture 8">
            <a:extLst>
              <a:ext uri="{FF2B5EF4-FFF2-40B4-BE49-F238E27FC236}">
                <a16:creationId xmlns:a16="http://schemas.microsoft.com/office/drawing/2014/main" id="{84ACC37C-E9F7-5812-1422-1D0A6098C91A}"/>
              </a:ext>
            </a:extLst>
          </p:cNvPr>
          <p:cNvPicPr>
            <a:picLocks noChangeAspect="1"/>
          </p:cNvPicPr>
          <p:nvPr/>
        </p:nvPicPr>
        <p:blipFill>
          <a:blip r:embed="rId3"/>
          <a:stretch>
            <a:fillRect/>
          </a:stretch>
        </p:blipFill>
        <p:spPr>
          <a:xfrm>
            <a:off x="2919873" y="0"/>
            <a:ext cx="3434227" cy="6858000"/>
          </a:xfrm>
          <a:prstGeom prst="rect">
            <a:avLst/>
          </a:prstGeom>
          <a:ln>
            <a:solidFill>
              <a:schemeClr val="tx2"/>
            </a:solidFill>
          </a:ln>
        </p:spPr>
      </p:pic>
      <p:sp>
        <p:nvSpPr>
          <p:cNvPr id="2" name="Rectangle: Rounded Corners 1">
            <a:extLst>
              <a:ext uri="{FF2B5EF4-FFF2-40B4-BE49-F238E27FC236}">
                <a16:creationId xmlns:a16="http://schemas.microsoft.com/office/drawing/2014/main" id="{6E847AAF-D5B5-8D8A-A778-3B46CACC7903}"/>
              </a:ext>
            </a:extLst>
          </p:cNvPr>
          <p:cNvSpPr/>
          <p:nvPr/>
        </p:nvSpPr>
        <p:spPr>
          <a:xfrm>
            <a:off x="6557256" y="201727"/>
            <a:ext cx="5383731" cy="552379"/>
          </a:xfrm>
          <a:prstGeom prst="roundRect">
            <a:avLst/>
          </a:prstGeom>
          <a:solidFill>
            <a:srgbClr val="FFFFCC"/>
          </a:solidFill>
          <a:ln w="19050">
            <a:solidFill>
              <a:srgbClr val="EB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eaLnBrk="0" fontAlgn="base" hangingPunct="0">
              <a:spcBef>
                <a:spcPct val="0"/>
              </a:spcBef>
              <a:spcAft>
                <a:spcPct val="0"/>
              </a:spcAft>
            </a:pPr>
            <a:r>
              <a:rPr lang="en-US" altLang="en-US" sz="1200" dirty="0">
                <a:solidFill>
                  <a:srgbClr val="0000FF"/>
                </a:solidFill>
                <a:latin typeface="Arial" panose="020B0604020202020204" pitchFamily="34" charset="0"/>
                <a:hlinkClick r:id="rId4">
                  <a:extLst>
                    <a:ext uri="{A12FA001-AC4F-418D-AE19-62706E023703}">
                      <ahyp:hlinkClr xmlns:ahyp="http://schemas.microsoft.com/office/drawing/2018/hyperlinkcolor" val="tx"/>
                    </a:ext>
                  </a:extLst>
                </a:hlinkClick>
              </a:rPr>
              <a:t>Microsoft AZURE Funding Intake Form (Internal | North America ONLY)</a:t>
            </a:r>
            <a:endParaRPr lang="en-US" altLang="en-US" sz="1200" dirty="0">
              <a:solidFill>
                <a:srgbClr val="0000FF"/>
              </a:solidFill>
              <a:latin typeface="Arial" panose="020B0604020202020204" pitchFamily="34" charset="0"/>
            </a:endParaRPr>
          </a:p>
        </p:txBody>
      </p:sp>
    </p:spTree>
    <p:extLst>
      <p:ext uri="{BB962C8B-B14F-4D97-AF65-F5344CB8AC3E}">
        <p14:creationId xmlns:p14="http://schemas.microsoft.com/office/powerpoint/2010/main" val="181013466"/>
      </p:ext>
    </p:extLst>
  </p:cSld>
  <p:clrMapOvr>
    <a:masterClrMapping/>
  </p:clrMapOvr>
</p:sld>
</file>

<file path=ppt/theme/theme1.xml><?xml version="1.0" encoding="utf-8"?>
<a:theme xmlns:a="http://schemas.openxmlformats.org/drawingml/2006/main" name="4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6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5495ab0-53fb-4007-9352-165aa70d2c21" xsi:nil="true"/>
    <lcf76f155ced4ddcb4097134ff3c332f xmlns="3fdd0af3-9559-4696-bc22-b90cd1d06628">
      <Terms xmlns="http://schemas.microsoft.com/office/infopath/2007/PartnerControls"/>
    </lcf76f155ced4ddcb4097134ff3c332f>
    <Summary xmlns="3fdd0af3-9559-4696-bc22-b90cd1d0662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39748751F01A449B3CF3895F2F7376A" ma:contentTypeVersion="17" ma:contentTypeDescription="Create a new document." ma:contentTypeScope="" ma:versionID="232a671da480590880303122a7b0f2f4">
  <xsd:schema xmlns:xsd="http://www.w3.org/2001/XMLSchema" xmlns:xs="http://www.w3.org/2001/XMLSchema" xmlns:p="http://schemas.microsoft.com/office/2006/metadata/properties" xmlns:ns2="3fdd0af3-9559-4696-bc22-b90cd1d06628" xmlns:ns3="55495ab0-53fb-4007-9352-165aa70d2c21" targetNamespace="http://schemas.microsoft.com/office/2006/metadata/properties" ma:root="true" ma:fieldsID="4676055e6986fb2165a0e7d2280d4e60" ns2:_="" ns3:_="">
    <xsd:import namespace="3fdd0af3-9559-4696-bc22-b90cd1d06628"/>
    <xsd:import namespace="55495ab0-53fb-4007-9352-165aa70d2c2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SearchProperties" minOccurs="0"/>
                <xsd:element ref="ns2:MediaServiceOCR" minOccurs="0"/>
                <xsd:element ref="ns2:MediaServiceDateTaken" minOccurs="0"/>
                <xsd:element ref="ns2:MediaServiceLocation" minOccurs="0"/>
                <xsd:element ref="ns2:Summary"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0af3-9559-4696-bc22-b90cd1d066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Summary" ma:index="23" nillable="true" ma:displayName="Summary" ma:description="Summary of the meeting/topic" ma:format="Dropdown" ma:internalName="Summary">
      <xsd:simpleType>
        <xsd:restriction base="dms:Note">
          <xsd:maxLength value="255"/>
        </xsd:restriction>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5495ab0-53fb-4007-9352-165aa70d2c21"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a8a4b58a-fa33-48a9-9dda-c267af5cbfa0}" ma:internalName="TaxCatchAll" ma:showField="CatchAllData" ma:web="55495ab0-53fb-4007-9352-165aa70d2c2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699436-2BEC-4C9C-858A-978DEE1A86DE}">
  <ds:schemaRefs>
    <ds:schemaRef ds:uri="http://schemas.microsoft.com/office/2006/metadata/properties"/>
    <ds:schemaRef ds:uri="http://purl.org/dc/terms/"/>
    <ds:schemaRef ds:uri="3fdd0af3-9559-4696-bc22-b90cd1d06628"/>
    <ds:schemaRef ds:uri="http://schemas.openxmlformats.org/package/2006/metadata/core-properties"/>
    <ds:schemaRef ds:uri="http://purl.org/dc/dcmitype/"/>
    <ds:schemaRef ds:uri="http://schemas.microsoft.com/office/infopath/2007/PartnerControls"/>
    <ds:schemaRef ds:uri="http://purl.org/dc/elements/1.1/"/>
    <ds:schemaRef ds:uri="http://www.w3.org/XML/1998/namespace"/>
    <ds:schemaRef ds:uri="http://schemas.microsoft.com/office/2006/documentManagement/types"/>
    <ds:schemaRef ds:uri="55495ab0-53fb-4007-9352-165aa70d2c21"/>
  </ds:schemaRefs>
</ds:datastoreItem>
</file>

<file path=customXml/itemProps2.xml><?xml version="1.0" encoding="utf-8"?>
<ds:datastoreItem xmlns:ds="http://schemas.openxmlformats.org/officeDocument/2006/customXml" ds:itemID="{52AE740C-FDBE-45D9-AC67-09806EB55699}">
  <ds:schemaRefs>
    <ds:schemaRef ds:uri="3fdd0af3-9559-4696-bc22-b90cd1d06628"/>
    <ds:schemaRef ds:uri="55495ab0-53fb-4007-9352-165aa70d2c2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522A6AD-4A08-4FDF-BF83-0898B535A5AD}">
  <ds:schemaRefs>
    <ds:schemaRef ds:uri="http://schemas.microsoft.com/sharepoint/v3/contenttype/forms"/>
  </ds:schemaRefs>
</ds:datastoreItem>
</file>

<file path=docMetadata/LabelInfo.xml><?xml version="1.0" encoding="utf-8"?>
<clbl:labelList xmlns:clbl="http://schemas.microsoft.com/office/2020/mipLabelMetadata">
  <clbl:label id="{b8ab829d-32ce-44ea-b9b9-3b43e844c5a1}"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otalTime>1680</TotalTime>
  <Words>5034</Words>
  <Application>Microsoft Office PowerPoint</Application>
  <PresentationFormat>Widescreen</PresentationFormat>
  <Paragraphs>611</Paragraphs>
  <Slides>20</Slides>
  <Notes>12</Notes>
  <HiddenSlides>0</HiddenSlides>
  <MMClips>0</MMClips>
  <ScaleCrop>false</ScaleCrop>
  <HeadingPairs>
    <vt:vector size="4" baseType="variant">
      <vt:variant>
        <vt:lpstr>Theme</vt:lpstr>
      </vt:variant>
      <vt:variant>
        <vt:i4>2</vt:i4>
      </vt:variant>
      <vt:variant>
        <vt:lpstr>Slide Titles</vt:lpstr>
      </vt:variant>
      <vt:variant>
        <vt:i4>20</vt:i4>
      </vt:variant>
    </vt:vector>
  </HeadingPairs>
  <TitlesOfParts>
    <vt:vector size="22" baseType="lpstr">
      <vt:lpstr>4_Content Slides</vt:lpstr>
      <vt:lpstr>6_Content Slides</vt:lpstr>
      <vt:lpstr>Microsoft Funding Interactive Enablement</vt:lpstr>
      <vt:lpstr>AGENDA</vt:lpstr>
      <vt:lpstr>PowerPoint Presentation</vt:lpstr>
      <vt:lpstr>Azure Funding (Pre-Sales + Post-Sales)</vt:lpstr>
      <vt:lpstr>Azure Accelerate: Supported Activities by Phase</vt:lpstr>
      <vt:lpstr>Azure Accelerate Engagement Approach  Partner nominated vs ECIF</vt:lpstr>
      <vt:lpstr>Microsoft Azure Funding: Process &amp; Engagement Stages</vt:lpstr>
      <vt:lpstr>New Alliance-led Funding Process</vt:lpstr>
      <vt:lpstr>Microsoft Azure Funding Proof of Execution (POE) Owners</vt:lpstr>
      <vt:lpstr>Azure Accelerate Partner-Nominated Incentives</vt:lpstr>
      <vt:lpstr>Azure Accelerate: Engagements Overview Pre-Sales and Post-Sales Incentives</vt:lpstr>
      <vt:lpstr>Example: Fictitious Customer Journey Macaron Insurance’s Cloud &amp; AI Transformation</vt:lpstr>
      <vt:lpstr>Microsoft Azure Funding: Core Migrate &amp; Modernize  </vt:lpstr>
      <vt:lpstr>Microsoft Azure Funding: Data Platform </vt:lpstr>
      <vt:lpstr>Microsoft Azure Funding: AI Apps, Agents and Developer</vt:lpstr>
      <vt:lpstr>Microsoft Azure Funding: Program Nuances</vt:lpstr>
      <vt:lpstr>SoW in Action: Examples</vt:lpstr>
      <vt:lpstr>Stacking Funding</vt:lpstr>
      <vt:lpstr>FORM SUBMISSION </vt:lpstr>
      <vt:lpstr>Microsoft AZURE Funding Intake Form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Justin Mulrain</dc:creator>
  <cp:lastModifiedBy>Alex Gheyouche</cp:lastModifiedBy>
  <cp:revision>69</cp:revision>
  <dcterms:created xsi:type="dcterms:W3CDTF">2024-12-18T01:45:12Z</dcterms:created>
  <dcterms:modified xsi:type="dcterms:W3CDTF">2026-04-26T12:21:20Z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0x010100F39748751F01A449B3CF3895F2F7376A</vt:lpwstr>
  </property>
  <property fmtid="{D5CDD505-2E9C-101B-9397-08002B2CF9AE}" pid="3" name="MediaServiceImageTags">
    <vt:lpwstr/>
  </property>
</Properties>
</file>