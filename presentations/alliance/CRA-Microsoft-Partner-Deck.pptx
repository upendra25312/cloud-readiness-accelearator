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 id="265" r:id="rId36"/>
    <p:sldId id="266" r:id="rId37"/>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How Rackspace CRA drives Azure-first outcomes, AMM funding eligibility, and structured co-sell</a:t>
            </a:r>
          </a:p>
        </p:txBody>
      </p:sp>
      <p:sp>
        <p:nvSpPr>
          <p:cNvPr id="3" name="Text Placeholder 2"/>
          <p:cNvSpPr>
            <a:spLocks noGrp="1"/>
          </p:cNvSpPr>
          <p:nvPr>
            <p:ph type="body" idx="13" sz="quarter"/>
          </p:nvPr>
        </p:nvSpPr>
        <p:spPr/>
        <p:txBody>
          <a:bodyPr wrap="square"/>
          <a:lstStyle/>
          <a:p>
            <a:r>
              <a:rPr sz="1400">
                <a:solidFill>
                  <a:srgbClr val="FFCCCC"/>
                </a:solidFill>
              </a:rPr>
              <a:t>Rackspace x Microsoft — Cloud Partner Alliance  |  [Date]</a:t>
            </a:r>
          </a:p>
        </p:txBody>
      </p:sp>
      <p:sp>
        <p:nvSpPr>
          <p:cNvPr id="4" name="Title 3"/>
          <p:cNvSpPr>
            <a:spLocks noGrp="1"/>
          </p:cNvSpPr>
          <p:nvPr>
            <p:ph type="title"/>
          </p:nvPr>
        </p:nvSpPr>
        <p:spPr/>
        <p:txBody>
          <a:bodyPr wrap="square"/>
          <a:lstStyle/>
          <a:p>
            <a:r>
              <a:rPr sz="3600" b="1">
                <a:solidFill>
                  <a:srgbClr val="FFFFFF"/>
                </a:solidFill>
              </a:rPr>
              <a:t>Cloud Readiness Accelerator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GAP WE FILL: Microsoft SMART takes 15 minutes. For 50+ application estates with Oracle/SAP, it is top-of-funnel — not a decision-making tool. Rackspace CRA is what happens next.</a:t>
            </a:r>
          </a:p>
          <a:p>
            <a:pPr>
              <a:spcAft>
                <a:spcPts val="300"/>
              </a:spcAft>
            </a:pPr>
            <a:r>
              <a:rPr sz="1400"/>
              <a:t/>
            </a:r>
          </a:p>
          <a:p>
            <a:pPr>
              <a:spcAft>
                <a:spcPts val="300"/>
              </a:spcAft>
            </a:pPr>
            <a:r>
              <a:rPr sz="1400"/>
              <a:t>THE RACKSPACE ROLE: Independent trusted advisor. No hyperscaler quota. When data points to Azure — as it does for most Microsoft-heavy estates with AHB opportunity — customers receive a credible, evidence-based Azure recommendation.</a:t>
            </a:r>
          </a:p>
          <a:p>
            <a:pPr>
              <a:spcAft>
                <a:spcPts val="300"/>
              </a:spcAft>
            </a:pPr>
            <a:r>
              <a:rPr sz="1400"/>
              <a:t/>
            </a:r>
          </a:p>
          <a:p>
            <a:pPr>
              <a:spcAft>
                <a:spcPts val="300"/>
              </a:spcAft>
            </a:pPr>
            <a:r>
              <a:rPr sz="1400"/>
              <a:t>THE MICROSOFT VALUE: CRA-delivered assessments produce all documentation required for AMM programme funding eligibility. Every CRA engagement with an Azure recommendation is a pre-qualified AMM conversation.</a:t>
            </a:r>
          </a:p>
          <a:p>
            <a:pPr>
              <a:spcAft>
                <a:spcPts val="300"/>
              </a:spcAft>
            </a:pPr>
            <a:r>
              <a:rPr sz="1400"/>
              <a:t/>
            </a:r>
          </a:p>
          <a:p>
            <a:pPr>
              <a:spcAft>
                <a:spcPts val="300"/>
              </a:spcAft>
            </a:pPr>
            <a:r>
              <a:rPr sz="1400"/>
              <a:t>"SMART generates the lead. CRA qualifies it. AMM funds the migration. Rackspace delivers it."</a:t>
            </a:r>
          </a:p>
        </p:txBody>
      </p:sp>
      <p:sp>
        <p:nvSpPr>
          <p:cNvPr id="3" name="Title 2"/>
          <p:cNvSpPr>
            <a:spLocks noGrp="1"/>
          </p:cNvSpPr>
          <p:nvPr>
            <p:ph type="title"/>
          </p:nvPr>
        </p:nvSpPr>
        <p:spPr/>
        <p:txBody>
          <a:bodyPr wrap="square"/>
          <a:lstStyle/>
          <a:p>
            <a:r>
              <a:rPr sz="2400" b="1"/>
              <a:t>Every structured assessment is a co-sell opportunity waiting to be activated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phases map directly to Microsoft Cloud Adoption Framework (CAF) stages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98304">
                <a:tc>
                  <a:txBody>
                    <a:bodyPr/>
                    <a:lstStyle/>
                    <a:p>
                      <a:r>
                        <a:rPr b="1" sz="1200">
                          <a:solidFill>
                            <a:srgbClr val="FFFFFF"/>
                          </a:solidFill>
                        </a:rPr>
                        <a:t>CAF Stage</a:t>
                      </a:r>
                    </a:p>
                  </a:txBody>
                  <a:tcPr>
                    <a:solidFill>
                      <a:srgbClr val="E31C3D"/>
                    </a:solidFill>
                  </a:tcPr>
                </a:tc>
                <a:tc>
                  <a:txBody>
                    <a:bodyPr/>
                    <a:lstStyle/>
                    <a:p>
                      <a:r>
                        <a:rPr b="1" sz="1200">
                          <a:solidFill>
                            <a:srgbClr val="FFFFFF"/>
                          </a:solidFill>
                        </a:rPr>
                        <a:t>CRA Phase</a:t>
                      </a:r>
                    </a:p>
                  </a:txBody>
                  <a:tcPr>
                    <a:solidFill>
                      <a:srgbClr val="E31C3D"/>
                    </a:solidFill>
                  </a:tcPr>
                </a:tc>
                <a:tc>
                  <a:txBody>
                    <a:bodyPr/>
                    <a:lstStyle/>
                    <a:p>
                      <a:r>
                        <a:rPr b="1" sz="1200">
                          <a:solidFill>
                            <a:srgbClr val="FFFFFF"/>
                          </a:solidFill>
                        </a:rPr>
                        <a:t>CRA Deliverables That Satisfy It</a:t>
                      </a:r>
                    </a:p>
                  </a:txBody>
                  <a:tcPr>
                    <a:solidFill>
                      <a:srgbClr val="E31C3D"/>
                    </a:solidFill>
                  </a:tcPr>
                </a:tc>
              </a:tr>
              <a:tr h="498304">
                <a:tc>
                  <a:txBody>
                    <a:bodyPr/>
                    <a:lstStyle/>
                    <a:p>
                      <a:r>
                        <a:rPr sz="1100"/>
                        <a:t>Strategy</a:t>
                      </a:r>
                    </a:p>
                  </a:txBody>
                  <a:tcPr>
                    <a:solidFill>
                      <a:srgbClr val="F2F2F2"/>
                    </a:solidFill>
                  </a:tcPr>
                </a:tc>
                <a:tc>
                  <a:txBody>
                    <a:bodyPr/>
                    <a:lstStyle/>
                    <a:p>
                      <a:r>
                        <a:rPr sz="1100"/>
                        <a:t>Pre-engagement scoping</a:t>
                      </a:r>
                    </a:p>
                  </a:txBody>
                  <a:tcPr>
                    <a:solidFill>
                      <a:srgbClr val="F2F2F2"/>
                    </a:solidFill>
                  </a:tcPr>
                </a:tc>
                <a:tc>
                  <a:txBody>
                    <a:bodyPr/>
                    <a:lstStyle/>
                    <a:p>
                      <a:r>
                        <a:rPr sz="1100"/>
                        <a:t>Business drivers workshop · scope statement · stakeholder alignment</a:t>
                      </a:r>
                    </a:p>
                  </a:txBody>
                  <a:tcPr>
                    <a:solidFill>
                      <a:srgbClr val="F2F2F2"/>
                    </a:solidFill>
                  </a:tcPr>
                </a:tc>
              </a:tr>
              <a:tr h="498304">
                <a:tc>
                  <a:txBody>
                    <a:bodyPr/>
                    <a:lstStyle/>
                    <a:p>
                      <a:r>
                        <a:rPr sz="1100"/>
                        <a:t>Plan</a:t>
                      </a:r>
                    </a:p>
                  </a:txBody>
                  <a:tcPr>
                    <a:solidFill>
                      <a:srgbClr val="FFFFFF"/>
                    </a:solidFill>
                  </a:tcPr>
                </a:tc>
                <a:tc>
                  <a:txBody>
                    <a:bodyPr/>
                    <a:lstStyle/>
                    <a:p>
                      <a:r>
                        <a:rPr sz="1100"/>
                        <a:t>Phase 1 Discovery + Phase 2 Analysis</a:t>
                      </a:r>
                    </a:p>
                  </a:txBody>
                  <a:tcPr>
                    <a:solidFill>
                      <a:srgbClr val="FFFFFF"/>
                    </a:solidFill>
                  </a:tcPr>
                </a:tc>
                <a:tc>
                  <a:txBody>
                    <a:bodyPr/>
                    <a:lstStyle/>
                    <a:p>
                      <a:r>
                        <a:rPr sz="1100"/>
                        <a:t>Application inventory · infrastructure profiling · 5-dimension readiness scores · dependency map</a:t>
                      </a:r>
                    </a:p>
                  </a:txBody>
                  <a:tcPr>
                    <a:solidFill>
                      <a:srgbClr val="FFFFFF"/>
                    </a:solidFill>
                  </a:tcPr>
                </a:tc>
              </a:tr>
              <a:tr h="498304">
                <a:tc>
                  <a:txBody>
                    <a:bodyPr/>
                    <a:lstStyle/>
                    <a:p>
                      <a:r>
                        <a:rPr sz="1100"/>
                        <a:t>Ready</a:t>
                      </a:r>
                    </a:p>
                  </a:txBody>
                  <a:tcPr>
                    <a:solidFill>
                      <a:srgbClr val="F2F2F2"/>
                    </a:solidFill>
                  </a:tcPr>
                </a:tc>
                <a:tc>
                  <a:txBody>
                    <a:bodyPr/>
                    <a:lstStyle/>
                    <a:p>
                      <a:r>
                        <a:rPr sz="1100"/>
                        <a:t>Phase 3 Evaluation</a:t>
                      </a:r>
                    </a:p>
                  </a:txBody>
                  <a:tcPr>
                    <a:solidFill>
                      <a:srgbClr val="F2F2F2"/>
                    </a:solidFill>
                  </a:tcPr>
                </a:tc>
                <a:tc>
                  <a:txBody>
                    <a:bodyPr/>
                    <a:lstStyle/>
                    <a:p>
                      <a:r>
                        <a:rPr sz="1100"/>
                        <a:t>Right-sizing recommendations · Azure architecture alignment · AHB model · AMM eligibility screen</a:t>
                      </a:r>
                    </a:p>
                  </a:txBody>
                  <a:tcPr>
                    <a:solidFill>
                      <a:srgbClr val="F2F2F2"/>
                    </a:solidFill>
                  </a:tcPr>
                </a:tc>
              </a:tr>
              <a:tr h="498304">
                <a:tc>
                  <a:txBody>
                    <a:bodyPr/>
                    <a:lstStyle/>
                    <a:p>
                      <a:r>
                        <a:rPr sz="1100"/>
                        <a:t>Migrate</a:t>
                      </a:r>
                    </a:p>
                  </a:txBody>
                  <a:tcPr>
                    <a:solidFill>
                      <a:srgbClr val="FFFFFF"/>
                    </a:solidFill>
                  </a:tcPr>
                </a:tc>
                <a:tc>
                  <a:txBody>
                    <a:bodyPr/>
                    <a:lstStyle/>
                    <a:p>
                      <a:r>
                        <a:rPr sz="1100"/>
                        <a:t>Phase 4 Planning</a:t>
                      </a:r>
                    </a:p>
                  </a:txBody>
                  <a:tcPr>
                    <a:solidFill>
                      <a:srgbClr val="FFFFFF"/>
                    </a:solidFill>
                  </a:tcPr>
                </a:tc>
                <a:tc>
                  <a:txBody>
                    <a:bodyPr/>
                    <a:lstStyle/>
                    <a:p>
                      <a:r>
                        <a:rPr sz="1100"/>
                        <a:t>Migration wave plan · Part 2 Entry Point · risk register · governance charter</a:t>
                      </a:r>
                    </a:p>
                  </a:txBody>
                  <a:tcPr>
                    <a:solidFill>
                      <a:srgbClr val="FFFFFF"/>
                    </a:solidFill>
                  </a:tcPr>
                </a:tc>
              </a:tr>
              <a:tr h="498304">
                <a:tc>
                  <a:txBody>
                    <a:bodyPr/>
                    <a:lstStyle/>
                    <a:p>
                      <a:r>
                        <a:rPr sz="1100"/>
                        <a:t>Govern</a:t>
                      </a:r>
                    </a:p>
                  </a:txBody>
                  <a:tcPr>
                    <a:solidFill>
                      <a:srgbClr val="F2F2F2"/>
                    </a:solidFill>
                  </a:tcPr>
                </a:tc>
                <a:tc>
                  <a:txBody>
                    <a:bodyPr/>
                    <a:lstStyle/>
                    <a:p>
                      <a:r>
                        <a:rPr sz="1100"/>
                        <a:t>Phase 4 Planning (governance output)</a:t>
                      </a:r>
                    </a:p>
                  </a:txBody>
                  <a:tcPr>
                    <a:solidFill>
                      <a:srgbClr val="F2F2F2"/>
                    </a:solidFill>
                  </a:tcPr>
                </a:tc>
                <a:tc>
                  <a:txBody>
                    <a:bodyPr/>
                    <a:lstStyle/>
                    <a:p>
                      <a:r>
                        <a:rPr sz="1100"/>
                        <a:t>Governance model · RACI · operating model design</a:t>
                      </a:r>
                    </a:p>
                  </a:txBody>
                  <a:tcPr>
                    <a:solidFill>
                      <a:srgbClr val="F2F2F2"/>
                    </a:solidFill>
                  </a:tcPr>
                </a:tc>
              </a:tr>
              <a:tr h="498310">
                <a:tc>
                  <a:txBody>
                    <a:bodyPr/>
                    <a:lstStyle/>
                    <a:p>
                      <a:r>
                        <a:rPr sz="1100"/>
                        <a:t>Manage</a:t>
                      </a:r>
                    </a:p>
                  </a:txBody>
                  <a:tcPr>
                    <a:solidFill>
                      <a:srgbClr val="FFFFFF"/>
                    </a:solidFill>
                  </a:tcPr>
                </a:tc>
                <a:tc>
                  <a:txBody>
                    <a:bodyPr/>
                    <a:lstStyle/>
                    <a:p>
                      <a:r>
                        <a:rPr sz="1100"/>
                        <a:t>Post-CRA (Part 2 operations)</a:t>
                      </a:r>
                    </a:p>
                  </a:txBody>
                  <a:tcPr>
                    <a:solidFill>
                      <a:srgbClr val="FFFFFF"/>
                    </a:solidFill>
                  </a:tcPr>
                </a:tc>
                <a:tc>
                  <a:txBody>
                    <a:bodyPr/>
                    <a:lstStyle/>
                    <a:p>
                      <a:r>
                        <a:rPr sz="1100"/>
                        <a:t>Baseline for ongoing managed services handoff</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produces every artefact required for AMM programme eligibility</a:t>
            </a:r>
          </a:p>
        </p:txBody>
      </p:sp>
      <p:sp>
        <p:nvSpPr>
          <p:cNvPr id="4" name="Text Placeholder 3"/>
          <p:cNvSpPr>
            <a:spLocks noGrp="1"/>
          </p:cNvSpPr>
          <p:nvPr>
            <p:ph type="body" idx="13" sz="quarter"/>
          </p:nvPr>
        </p:nvSpPr>
        <p:spPr/>
        <p:txBody>
          <a:bodyPr wrap="square"/>
          <a:lstStyle/>
          <a:p>
            <a:r>
              <a:rPr sz="1300">
                <a:solidFill>
                  <a:srgbClr val="333333"/>
                </a:solidFill>
              </a:rPr>
              <a:t>A CRA-delivered assessment does not require additional documentation to support an AMM funding request. No post-assessment rework.</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98304">
                <a:tc>
                  <a:txBody>
                    <a:bodyPr/>
                    <a:lstStyle/>
                    <a:p>
                      <a:r>
                        <a:rPr b="1" sz="1200">
                          <a:solidFill>
                            <a:srgbClr val="FFFFFF"/>
                          </a:solidFill>
                        </a:rPr>
                        <a:t>AMM Requirement</a:t>
                      </a:r>
                    </a:p>
                  </a:txBody>
                  <a:tcPr>
                    <a:solidFill>
                      <a:srgbClr val="E31C3D"/>
                    </a:solidFill>
                  </a:tcPr>
                </a:tc>
                <a:tc>
                  <a:txBody>
                    <a:bodyPr/>
                    <a:lstStyle/>
                    <a:p>
                      <a:r>
                        <a:rPr b="1" sz="1200">
                          <a:solidFill>
                            <a:srgbClr val="FFFFFF"/>
                          </a:solidFill>
                        </a:rPr>
                        <a:t>CRA Output</a:t>
                      </a:r>
                    </a:p>
                  </a:txBody>
                  <a:tcPr>
                    <a:solidFill>
                      <a:srgbClr val="E31C3D"/>
                    </a:solidFill>
                  </a:tcPr>
                </a:tc>
                <a:tc>
                  <a:txBody>
                    <a:bodyPr/>
                    <a:lstStyle/>
                    <a:p>
                      <a:r>
                        <a:rPr b="1" sz="1200">
                          <a:solidFill>
                            <a:srgbClr val="FFFFFF"/>
                          </a:solidFill>
                        </a:rPr>
                        <a:t>CRA Template</a:t>
                      </a:r>
                    </a:p>
                  </a:txBody>
                  <a:tcPr>
                    <a:solidFill>
                      <a:srgbClr val="E31C3D"/>
                    </a:solidFill>
                  </a:tcPr>
                </a:tc>
              </a:tr>
              <a:tr h="498304">
                <a:tc>
                  <a:txBody>
                    <a:bodyPr/>
                    <a:lstStyle/>
                    <a:p>
                      <a:r>
                        <a:rPr sz="1100"/>
                        <a:t>Documented assessment methodology</a:t>
                      </a:r>
                    </a:p>
                  </a:txBody>
                  <a:tcPr>
                    <a:solidFill>
                      <a:srgbClr val="F2F2F2"/>
                    </a:solidFill>
                  </a:tcPr>
                </a:tc>
                <a:tc>
                  <a:txBody>
                    <a:bodyPr/>
                    <a:lstStyle/>
                    <a:p>
                      <a:r>
                        <a:rPr sz="1100"/>
                        <a:t>CRA METHODOLOGY.md + phase guides</a:t>
                      </a:r>
                    </a:p>
                  </a:txBody>
                  <a:tcPr>
                    <a:solidFill>
                      <a:srgbClr val="F2F2F2"/>
                    </a:solidFill>
                  </a:tcPr>
                </a:tc>
                <a:tc>
                  <a:txBody>
                    <a:bodyPr/>
                    <a:lstStyle/>
                    <a:p>
                      <a:r>
                        <a:rPr sz="1100"/>
                        <a:t>docs/METHODOLOGY.md</a:t>
                      </a:r>
                    </a:p>
                  </a:txBody>
                  <a:tcPr>
                    <a:solidFill>
                      <a:srgbClr val="F2F2F2"/>
                    </a:solidFill>
                  </a:tcPr>
                </a:tc>
              </a:tr>
              <a:tr h="498304">
                <a:tc>
                  <a:txBody>
                    <a:bodyPr/>
                    <a:lstStyle/>
                    <a:p>
                      <a:r>
                        <a:rPr sz="1100"/>
                        <a:t>Application and infrastructure inventory</a:t>
                      </a:r>
                    </a:p>
                  </a:txBody>
                  <a:tcPr>
                    <a:solidFill>
                      <a:srgbClr val="FFFFFF"/>
                    </a:solidFill>
                  </a:tcPr>
                </a:tc>
                <a:tc>
                  <a:txBody>
                    <a:bodyPr/>
                    <a:lstStyle/>
                    <a:p>
                      <a:r>
                        <a:rPr sz="1100"/>
                        <a:t>Application inventory + Infrastructure profiling</a:t>
                      </a:r>
                    </a:p>
                  </a:txBody>
                  <a:tcPr>
                    <a:solidFill>
                      <a:srgbClr val="FFFFFF"/>
                    </a:solidFill>
                  </a:tcPr>
                </a:tc>
                <a:tc>
                  <a:txBody>
                    <a:bodyPr/>
                    <a:lstStyle/>
                    <a:p>
                      <a:r>
                        <a:rPr sz="1100"/>
                        <a:t>application-scoping-profiling.xlsx + infrastructure-profiling.xlsx</a:t>
                      </a:r>
                    </a:p>
                  </a:txBody>
                  <a:tcPr>
                    <a:solidFill>
                      <a:srgbClr val="FFFFFF"/>
                    </a:solidFill>
                  </a:tcPr>
                </a:tc>
              </a:tr>
              <a:tr h="498304">
                <a:tc>
                  <a:txBody>
                    <a:bodyPr/>
                    <a:lstStyle/>
                    <a:p>
                      <a:r>
                        <a:rPr sz="1100"/>
                        <a:t>Multi-dimensional readiness assessment</a:t>
                      </a:r>
                    </a:p>
                  </a:txBody>
                  <a:tcPr>
                    <a:solidFill>
                      <a:srgbClr val="F2F2F2"/>
                    </a:solidFill>
                  </a:tcPr>
                </a:tc>
                <a:tc>
                  <a:txBody>
                    <a:bodyPr/>
                    <a:lstStyle/>
                    <a:p>
                      <a:r>
                        <a:rPr sz="1100"/>
                        <a:t>5-dimension cloud readiness scores per application</a:t>
                      </a:r>
                    </a:p>
                  </a:txBody>
                  <a:tcPr>
                    <a:solidFill>
                      <a:srgbClr val="F2F2F2"/>
                    </a:solidFill>
                  </a:tcPr>
                </a:tc>
                <a:tc>
                  <a:txBody>
                    <a:bodyPr/>
                    <a:lstStyle/>
                    <a:p>
                      <a:r>
                        <a:rPr sz="1100"/>
                        <a:t>cloud-readiness-scoring-v2.xlsx</a:t>
                      </a:r>
                    </a:p>
                  </a:txBody>
                  <a:tcPr>
                    <a:solidFill>
                      <a:srgbClr val="F2F2F2"/>
                    </a:solidFill>
                  </a:tcPr>
                </a:tc>
              </a:tr>
              <a:tr h="498304">
                <a:tc>
                  <a:txBody>
                    <a:bodyPr/>
                    <a:lstStyle/>
                    <a:p>
                      <a:r>
                        <a:rPr sz="1100"/>
                        <a:t>TCO / ROI analysis</a:t>
                      </a:r>
                    </a:p>
                  </a:txBody>
                  <a:tcPr>
                    <a:solidFill>
                      <a:srgbClr val="FFFFFF"/>
                    </a:solidFill>
                  </a:tcPr>
                </a:tc>
                <a:tc>
                  <a:txBody>
                    <a:bodyPr/>
                    <a:lstStyle/>
                    <a:p>
                      <a:r>
                        <a:rPr sz="1100"/>
                        <a:t>7-layer TCO: Azure, AWS, GCP comparison</a:t>
                      </a:r>
                    </a:p>
                  </a:txBody>
                  <a:tcPr>
                    <a:solidFill>
                      <a:srgbClr val="FFFFFF"/>
                    </a:solidFill>
                  </a:tcPr>
                </a:tc>
                <a:tc>
                  <a:txBody>
                    <a:bodyPr/>
                    <a:lstStyle/>
                    <a:p>
                      <a:r>
                        <a:rPr sz="1100"/>
                        <a:t>business-case-tco-roi.xlsx</a:t>
                      </a:r>
                    </a:p>
                  </a:txBody>
                  <a:tcPr>
                    <a:solidFill>
                      <a:srgbClr val="FFFFFF"/>
                    </a:solidFill>
                  </a:tcPr>
                </a:tc>
              </a:tr>
              <a:tr h="498304">
                <a:tc>
                  <a:txBody>
                    <a:bodyPr/>
                    <a:lstStyle/>
                    <a:p>
                      <a:r>
                        <a:rPr sz="1100"/>
                        <a:t>Azure as primary recommendation</a:t>
                      </a:r>
                    </a:p>
                  </a:txBody>
                  <a:tcPr>
                    <a:solidFill>
                      <a:srgbClr val="F2F2F2"/>
                    </a:solidFill>
                  </a:tcPr>
                </a:tc>
                <a:tc>
                  <a:txBody>
                    <a:bodyPr/>
                    <a:lstStyle/>
                    <a:p>
                      <a:r>
                        <a:rPr sz="1100"/>
                        <a:t>Hyperscaler decision matrix + assessment report</a:t>
                      </a:r>
                    </a:p>
                  </a:txBody>
                  <a:tcPr>
                    <a:solidFill>
                      <a:srgbClr val="F2F2F2"/>
                    </a:solidFill>
                  </a:tcPr>
                </a:tc>
                <a:tc>
                  <a:txBody>
                    <a:bodyPr/>
                    <a:lstStyle/>
                    <a:p>
                      <a:r>
                        <a:rPr sz="1100"/>
                        <a:t>hyperscaler-decision-matrix.xlsx + report</a:t>
                      </a:r>
                    </a:p>
                  </a:txBody>
                  <a:tcPr>
                    <a:solidFill>
                      <a:srgbClr val="F2F2F2"/>
                    </a:solidFill>
                  </a:tcPr>
                </a:tc>
              </a:tr>
              <a:tr h="498310">
                <a:tc>
                  <a:txBody>
                    <a:bodyPr/>
                    <a:lstStyle/>
                    <a:p>
                      <a:r>
                        <a:rPr sz="1100"/>
                        <a:t>Migration wave plan</a:t>
                      </a:r>
                    </a:p>
                  </a:txBody>
                  <a:tcPr>
                    <a:solidFill>
                      <a:srgbClr val="FFFFFF"/>
                    </a:solidFill>
                  </a:tcPr>
                </a:tc>
                <a:tc>
                  <a:txBody>
                    <a:bodyPr/>
                    <a:lstStyle/>
                    <a:p>
                      <a:r>
                        <a:rPr sz="1100"/>
                        <a:t>Sequenced application migration plan</a:t>
                      </a:r>
                    </a:p>
                  </a:txBody>
                  <a:tcPr>
                    <a:solidFill>
                      <a:srgbClr val="FFFFFF"/>
                    </a:solidFill>
                  </a:tcPr>
                </a:tc>
                <a:tc>
                  <a:txBody>
                    <a:bodyPr/>
                    <a:lstStyle/>
                    <a:p>
                      <a:r>
                        <a:rPr sz="1100"/>
                        <a:t>migration-wave-planner.xlsx</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Windows Server Standard/Datacenter: 15–40% VM cost reduction (requires active Software Assurance)</a:t>
            </a:r>
          </a:p>
          <a:p>
            <a:pPr>
              <a:spcAft>
                <a:spcPts val="300"/>
              </a:spcAft>
            </a:pPr>
            <a:r>
              <a:rPr sz="1400"/>
              <a:t>SQL Server Standard: ~70% cost reduction per core (requires active SA)</a:t>
            </a:r>
          </a:p>
          <a:p>
            <a:pPr>
              <a:spcAft>
                <a:spcPts val="300"/>
              </a:spcAft>
            </a:pPr>
            <a:r>
              <a:rPr sz="1400"/>
              <a:t>SQL Server Enterprise: ~70% cost reduction per core (requires active SA)</a:t>
            </a:r>
          </a:p>
          <a:p>
            <a:pPr>
              <a:spcAft>
                <a:spcPts val="300"/>
              </a:spcAft>
            </a:pPr>
            <a:r>
              <a:rPr sz="1400"/>
              <a:t/>
            </a:r>
          </a:p>
          <a:p>
            <a:pPr>
              <a:spcAft>
                <a:spcPts val="300"/>
              </a:spcAft>
            </a:pPr>
            <a:r>
              <a:rPr sz="1400"/>
              <a:t>HOW CRA MODELS AHB:</a:t>
            </a:r>
          </a:p>
          <a:p>
            <a:pPr>
              <a:spcAft>
                <a:spcPts val="300"/>
              </a:spcAft>
            </a:pPr>
            <a:r>
              <a:rPr sz="1400"/>
              <a:t>  Phase 1: Infrastructure profiling captures all Windows Server and SQL Server versions and licence types</a:t>
            </a:r>
          </a:p>
          <a:p>
            <a:pPr>
              <a:spcAft>
                <a:spcPts val="300"/>
              </a:spcAft>
            </a:pPr>
            <a:r>
              <a:rPr sz="1400"/>
              <a:t>  Phase 3: AHB eligibility screened — requires active SA confirmation from customer</a:t>
            </a:r>
          </a:p>
          <a:p>
            <a:pPr>
              <a:spcAft>
                <a:spcPts val="300"/>
              </a:spcAft>
            </a:pPr>
            <a:r>
              <a:rPr sz="1400"/>
              <a:t>  TCO Licensing Overlay tab: separate rows for PAYG vs AHB scenarios per VM type</a:t>
            </a:r>
          </a:p>
          <a:p>
            <a:pPr>
              <a:spcAft>
                <a:spcPts val="300"/>
              </a:spcAft>
            </a:pPr>
            <a:r>
              <a:rPr sz="1400"/>
              <a:t/>
            </a:r>
          </a:p>
          <a:p>
            <a:pPr>
              <a:spcAft>
                <a:spcPts val="300"/>
              </a:spcAft>
            </a:pPr>
            <a:r>
              <a:rPr sz="1400"/>
              <a:t>IMPORTANT: AHB saving only available in Azure. For Microsoft-heavy estates, this creates a structural cost advantage for Azure in the TCO.</a:t>
            </a:r>
          </a:p>
          <a:p>
            <a:pPr>
              <a:spcAft>
                <a:spcPts val="300"/>
              </a:spcAft>
            </a:pPr>
            <a:r>
              <a:rPr sz="1400"/>
              <a:t>SA status confirmation: at Phase 1 scoping — not Phase 3.</a:t>
            </a:r>
          </a:p>
        </p:txBody>
      </p:sp>
      <p:sp>
        <p:nvSpPr>
          <p:cNvPr id="3" name="Title 2"/>
          <p:cNvSpPr>
            <a:spLocks noGrp="1"/>
          </p:cNvSpPr>
          <p:nvPr>
            <p:ph type="title"/>
          </p:nvPr>
        </p:nvSpPr>
        <p:spPr/>
        <p:txBody>
          <a:bodyPr wrap="square"/>
          <a:lstStyle/>
          <a:p>
            <a:r>
              <a:rPr sz="2400" b="1"/>
              <a:t>Azure Hybrid Benefit — modelled explicitly, not forgotten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SMART to CRA handoff — step by step</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4290060"/>
                <a:gridCol w="4290060"/>
                <a:gridCol w="4290060"/>
                <a:gridCol w="4290060"/>
              </a:tblGrid>
              <a:tr h="387570">
                <a:tc>
                  <a:txBody>
                    <a:bodyPr/>
                    <a:lstStyle/>
                    <a:p>
                      <a:r>
                        <a:rPr b="1" sz="1200">
                          <a:solidFill>
                            <a:srgbClr val="FFFFFF"/>
                          </a:solidFill>
                        </a:rPr>
                        <a:t>Step</a:t>
                      </a:r>
                    </a:p>
                  </a:txBody>
                  <a:tcPr>
                    <a:solidFill>
                      <a:srgbClr val="E31C3D"/>
                    </a:solidFill>
                  </a:tcPr>
                </a:tc>
                <a:tc>
                  <a:txBody>
                    <a:bodyPr/>
                    <a:lstStyle/>
                    <a:p>
                      <a:r>
                        <a:rPr b="1" sz="1200">
                          <a:solidFill>
                            <a:srgbClr val="FFFFFF"/>
                          </a:solidFill>
                        </a:rPr>
                        <a:t>Action</a:t>
                      </a:r>
                    </a:p>
                  </a:txBody>
                  <a:tcPr>
                    <a:solidFill>
                      <a:srgbClr val="E31C3D"/>
                    </a:solidFill>
                  </a:tcPr>
                </a:tc>
                <a:tc>
                  <a:txBody>
                    <a:bodyPr/>
                    <a:lstStyle/>
                    <a:p>
                      <a:r>
                        <a:rPr b="1" sz="1200">
                          <a:solidFill>
                            <a:srgbClr val="FFFFFF"/>
                          </a:solidFill>
                        </a:rPr>
                        <a:t>Owner</a:t>
                      </a:r>
                    </a:p>
                  </a:txBody>
                  <a:tcPr>
                    <a:solidFill>
                      <a:srgbClr val="E31C3D"/>
                    </a:solidFill>
                  </a:tcPr>
                </a:tc>
                <a:tc>
                  <a:txBody>
                    <a:bodyPr/>
                    <a:lstStyle/>
                    <a:p>
                      <a:r>
                        <a:rPr b="1" sz="1200">
                          <a:solidFill>
                            <a:srgbClr val="FFFFFF"/>
                          </a:solidFill>
                        </a:rPr>
                        <a:t>Timing</a:t>
                      </a:r>
                    </a:p>
                  </a:txBody>
                  <a:tcPr>
                    <a:solidFill>
                      <a:srgbClr val="E31C3D"/>
                    </a:solidFill>
                  </a:tcPr>
                </a:tc>
              </a:tr>
              <a:tr h="387570">
                <a:tc>
                  <a:txBody>
                    <a:bodyPr/>
                    <a:lstStyle/>
                    <a:p>
                      <a:r>
                        <a:rPr sz="1100"/>
                        <a:t>1</a:t>
                      </a:r>
                    </a:p>
                  </a:txBody>
                  <a:tcPr>
                    <a:solidFill>
                      <a:srgbClr val="F2F2F2"/>
                    </a:solidFill>
                  </a:tcPr>
                </a:tc>
                <a:tc>
                  <a:txBody>
                    <a:bodyPr/>
                    <a:lstStyle/>
                    <a:p>
                      <a:r>
                        <a:rPr sz="1100"/>
                        <a:t>Customer completes Microsoft SMART</a:t>
                      </a:r>
                    </a:p>
                  </a:txBody>
                  <a:tcPr>
                    <a:solidFill>
                      <a:srgbClr val="F2F2F2"/>
                    </a:solidFill>
                  </a:tcPr>
                </a:tc>
                <a:tc>
                  <a:txBody>
                    <a:bodyPr/>
                    <a:lstStyle/>
                    <a:p>
                      <a:r>
                        <a:rPr sz="1100"/>
                        <a:t>Customer (Microsoft SE facilitated)</a:t>
                      </a:r>
                    </a:p>
                  </a:txBody>
                  <a:tcPr>
                    <a:solidFill>
                      <a:srgbClr val="F2F2F2"/>
                    </a:solidFill>
                  </a:tcPr>
                </a:tc>
                <a:tc>
                  <a:txBody>
                    <a:bodyPr/>
                    <a:lstStyle/>
                    <a:p>
                      <a:r>
                        <a:rPr sz="1100"/>
                        <a:t>Pre-engagement</a:t>
                      </a:r>
                    </a:p>
                  </a:txBody>
                  <a:tcPr>
                    <a:solidFill>
                      <a:srgbClr val="F2F2F2"/>
                    </a:solidFill>
                  </a:tcPr>
                </a:tc>
              </a:tr>
              <a:tr h="387570">
                <a:tc>
                  <a:txBody>
                    <a:bodyPr/>
                    <a:lstStyle/>
                    <a:p>
                      <a:r>
                        <a:rPr sz="1100"/>
                        <a:t>2</a:t>
                      </a:r>
                    </a:p>
                  </a:txBody>
                  <a:tcPr>
                    <a:solidFill>
                      <a:srgbClr val="FFFFFF"/>
                    </a:solidFill>
                  </a:tcPr>
                </a:tc>
                <a:tc>
                  <a:txBody>
                    <a:bodyPr/>
                    <a:lstStyle/>
                    <a:p>
                      <a:r>
                        <a:rPr sz="1100"/>
                        <a:t>SMART score Amber or below → CRA trigger</a:t>
                      </a:r>
                    </a:p>
                  </a:txBody>
                  <a:tcPr>
                    <a:solidFill>
                      <a:srgbClr val="FFFFFF"/>
                    </a:solidFill>
                  </a:tcPr>
                </a:tc>
                <a:tc>
                  <a:txBody>
                    <a:bodyPr/>
                    <a:lstStyle/>
                    <a:p>
                      <a:r>
                        <a:rPr sz="1100"/>
                        <a:t>Microsoft SE + Rackspace Pre-Sales</a:t>
                      </a:r>
                    </a:p>
                  </a:txBody>
                  <a:tcPr>
                    <a:solidFill>
                      <a:srgbClr val="FFFFFF"/>
                    </a:solidFill>
                  </a:tcPr>
                </a:tc>
                <a:tc>
                  <a:txBody>
                    <a:bodyPr/>
                    <a:lstStyle/>
                    <a:p>
                      <a:r>
                        <a:rPr sz="1100"/>
                        <a:t>Within 1 week of SMART result</a:t>
                      </a:r>
                    </a:p>
                  </a:txBody>
                  <a:tcPr>
                    <a:solidFill>
                      <a:srgbClr val="FFFFFF"/>
                    </a:solidFill>
                  </a:tcPr>
                </a:tc>
              </a:tr>
              <a:tr h="387570">
                <a:tc>
                  <a:txBody>
                    <a:bodyPr/>
                    <a:lstStyle/>
                    <a:p>
                      <a:r>
                        <a:rPr sz="1100"/>
                        <a:t>3</a:t>
                      </a:r>
                    </a:p>
                  </a:txBody>
                  <a:tcPr>
                    <a:solidFill>
                      <a:srgbClr val="F2F2F2"/>
                    </a:solidFill>
                  </a:tcPr>
                </a:tc>
                <a:tc>
                  <a:txBody>
                    <a:bodyPr/>
                    <a:lstStyle/>
                    <a:p>
                      <a:r>
                        <a:rPr sz="1100"/>
                        <a:t>Rackspace scoping call (1 hr)</a:t>
                      </a:r>
                    </a:p>
                  </a:txBody>
                  <a:tcPr>
                    <a:solidFill>
                      <a:srgbClr val="F2F2F2"/>
                    </a:solidFill>
                  </a:tcPr>
                </a:tc>
                <a:tc>
                  <a:txBody>
                    <a:bodyPr/>
                    <a:lstStyle/>
                    <a:p>
                      <a:r>
                        <a:rPr sz="1100"/>
                        <a:t>Rackspace Pre-Sales Architect</a:t>
                      </a:r>
                    </a:p>
                  </a:txBody>
                  <a:tcPr>
                    <a:solidFill>
                      <a:srgbClr val="F2F2F2"/>
                    </a:solidFill>
                  </a:tcPr>
                </a:tc>
                <a:tc>
                  <a:txBody>
                    <a:bodyPr/>
                    <a:lstStyle/>
                    <a:p>
                      <a:r>
                        <a:rPr sz="1100"/>
                        <a:t>Within 1 week of SMART result</a:t>
                      </a:r>
                    </a:p>
                  </a:txBody>
                  <a:tcPr>
                    <a:solidFill>
                      <a:srgbClr val="F2F2F2"/>
                    </a:solidFill>
                  </a:tcPr>
                </a:tc>
              </a:tr>
              <a:tr h="387570">
                <a:tc>
                  <a:txBody>
                    <a:bodyPr/>
                    <a:lstStyle/>
                    <a:p>
                      <a:r>
                        <a:rPr sz="1100"/>
                        <a:t>4</a:t>
                      </a:r>
                    </a:p>
                  </a:txBody>
                  <a:tcPr>
                    <a:solidFill>
                      <a:srgbClr val="FFFFFF"/>
                    </a:solidFill>
                  </a:tcPr>
                </a:tc>
                <a:tc>
                  <a:txBody>
                    <a:bodyPr/>
                    <a:lstStyle/>
                    <a:p>
                      <a:r>
                        <a:rPr sz="1100"/>
                        <a:t>CRA scoping proposal produced</a:t>
                      </a:r>
                    </a:p>
                  </a:txBody>
                  <a:tcPr>
                    <a:solidFill>
                      <a:srgbClr val="FFFFFF"/>
                    </a:solidFill>
                  </a:tcPr>
                </a:tc>
                <a:tc>
                  <a:txBody>
                    <a:bodyPr/>
                    <a:lstStyle/>
                    <a:p>
                      <a:r>
                        <a:rPr sz="1100"/>
                        <a:t>Rackspace Pre-Sales</a:t>
                      </a:r>
                    </a:p>
                  </a:txBody>
                  <a:tcPr>
                    <a:solidFill>
                      <a:srgbClr val="FFFFFF"/>
                    </a:solidFill>
                  </a:tcPr>
                </a:tc>
                <a:tc>
                  <a:txBody>
                    <a:bodyPr/>
                    <a:lstStyle/>
                    <a:p>
                      <a:r>
                        <a:rPr sz="1100"/>
                        <a:t>Within 5 business days</a:t>
                      </a:r>
                    </a:p>
                  </a:txBody>
                  <a:tcPr>
                    <a:solidFill>
                      <a:srgbClr val="FFFFFF"/>
                    </a:solidFill>
                  </a:tcPr>
                </a:tc>
              </a:tr>
              <a:tr h="387570">
                <a:tc>
                  <a:txBody>
                    <a:bodyPr/>
                    <a:lstStyle/>
                    <a:p>
                      <a:r>
                        <a:rPr sz="1100"/>
                        <a:t>5</a:t>
                      </a:r>
                    </a:p>
                  </a:txBody>
                  <a:tcPr>
                    <a:solidFill>
                      <a:srgbClr val="F2F2F2"/>
                    </a:solidFill>
                  </a:tcPr>
                </a:tc>
                <a:tc>
                  <a:txBody>
                    <a:bodyPr/>
                    <a:lstStyle/>
                    <a:p>
                      <a:r>
                        <a:rPr sz="1100"/>
                        <a:t>Microsoft SE provides warm introduction to customer</a:t>
                      </a:r>
                    </a:p>
                  </a:txBody>
                  <a:tcPr>
                    <a:solidFill>
                      <a:srgbClr val="F2F2F2"/>
                    </a:solidFill>
                  </a:tcPr>
                </a:tc>
                <a:tc>
                  <a:txBody>
                    <a:bodyPr/>
                    <a:lstStyle/>
                    <a:p>
                      <a:r>
                        <a:rPr sz="1100"/>
                        <a:t>Microsoft SE</a:t>
                      </a:r>
                    </a:p>
                  </a:txBody>
                  <a:tcPr>
                    <a:solidFill>
                      <a:srgbClr val="F2F2F2"/>
                    </a:solidFill>
                  </a:tcPr>
                </a:tc>
                <a:tc>
                  <a:txBody>
                    <a:bodyPr/>
                    <a:lstStyle/>
                    <a:p>
                      <a:r>
                        <a:rPr sz="1100"/>
                        <a:t>With scoping proposal delivery</a:t>
                      </a:r>
                    </a:p>
                  </a:txBody>
                  <a:tcPr>
                    <a:solidFill>
                      <a:srgbClr val="F2F2F2"/>
                    </a:solidFill>
                  </a:tcPr>
                </a:tc>
              </a:tr>
              <a:tr h="387570">
                <a:tc>
                  <a:txBody>
                    <a:bodyPr/>
                    <a:lstStyle/>
                    <a:p>
                      <a:r>
                        <a:rPr sz="1100"/>
                        <a:t>6</a:t>
                      </a:r>
                    </a:p>
                  </a:txBody>
                  <a:tcPr>
                    <a:solidFill>
                      <a:srgbClr val="FFFFFF"/>
                    </a:solidFill>
                  </a:tcPr>
                </a:tc>
                <a:tc>
                  <a:txBody>
                    <a:bodyPr/>
                    <a:lstStyle/>
                    <a:p>
                      <a:r>
                        <a:rPr sz="1100"/>
                        <a:t>SOW signed → CRA begins</a:t>
                      </a:r>
                    </a:p>
                  </a:txBody>
                  <a:tcPr>
                    <a:solidFill>
                      <a:srgbClr val="FFFFFF"/>
                    </a:solidFill>
                  </a:tcPr>
                </a:tc>
                <a:tc>
                  <a:txBody>
                    <a:bodyPr/>
                    <a:lstStyle/>
                    <a:p>
                      <a:r>
                        <a:rPr sz="1100"/>
                        <a:t>Customer + Rackspace</a:t>
                      </a:r>
                    </a:p>
                  </a:txBody>
                  <a:tcPr>
                    <a:solidFill>
                      <a:srgbClr val="FFFFFF"/>
                    </a:solidFill>
                  </a:tcPr>
                </a:tc>
                <a:tc>
                  <a:txBody>
                    <a:bodyPr/>
                    <a:lstStyle/>
                    <a:p>
                      <a:r>
                        <a:rPr sz="1100"/>
                        <a:t>Week 0</a:t>
                      </a:r>
                    </a:p>
                  </a:txBody>
                  <a:tcPr>
                    <a:solidFill>
                      <a:srgbClr val="FFFFFF"/>
                    </a:solidFill>
                  </a:tcPr>
                </a:tc>
              </a:tr>
              <a:tr h="387570">
                <a:tc>
                  <a:txBody>
                    <a:bodyPr/>
                    <a:lstStyle/>
                    <a:p>
                      <a:r>
                        <a:rPr sz="1100"/>
                        <a:t>7</a:t>
                      </a:r>
                    </a:p>
                  </a:txBody>
                  <a:tcPr>
                    <a:solidFill>
                      <a:srgbClr val="F2F2F2"/>
                    </a:solidFill>
                  </a:tcPr>
                </a:tc>
                <a:tc>
                  <a:txBody>
                    <a:bodyPr/>
                    <a:lstStyle/>
                    <a:p>
                      <a:r>
                        <a:rPr sz="1100"/>
                        <a:t>Alliance Manager pre-registers AMM opportunity in MSPP</a:t>
                      </a:r>
                    </a:p>
                  </a:txBody>
                  <a:tcPr>
                    <a:solidFill>
                      <a:srgbClr val="F2F2F2"/>
                    </a:solidFill>
                  </a:tcPr>
                </a:tc>
                <a:tc>
                  <a:txBody>
                    <a:bodyPr/>
                    <a:lstStyle/>
                    <a:p>
                      <a:r>
                        <a:rPr sz="1100"/>
                        <a:t>Rackspace Alliance Manager</a:t>
                      </a:r>
                    </a:p>
                  </a:txBody>
                  <a:tcPr>
                    <a:solidFill>
                      <a:srgbClr val="F2F2F2"/>
                    </a:solidFill>
                  </a:tcPr>
                </a:tc>
                <a:tc>
                  <a:txBody>
                    <a:bodyPr/>
                    <a:lstStyle/>
                    <a:p>
                      <a:r>
                        <a:rPr sz="1100"/>
                        <a:t>Day 1</a:t>
                      </a:r>
                    </a:p>
                  </a:txBody>
                  <a:tcPr>
                    <a:solidFill>
                      <a:srgbClr val="F2F2F2"/>
                    </a:solidFill>
                  </a:tcPr>
                </a:tc>
              </a:tr>
              <a:tr h="387574">
                <a:tc>
                  <a:txBody>
                    <a:bodyPr/>
                    <a:lstStyle/>
                    <a:p>
                      <a:r>
                        <a:rPr sz="1100"/>
                        <a:t>8</a:t>
                      </a:r>
                    </a:p>
                  </a:txBody>
                  <a:tcPr>
                    <a:solidFill>
                      <a:srgbClr val="FFFFFF"/>
                    </a:solidFill>
                  </a:tcPr>
                </a:tc>
                <a:tc>
                  <a:txBody>
                    <a:bodyPr/>
                    <a:lstStyle/>
                    <a:p>
                      <a:r>
                        <a:rPr sz="1100"/>
                        <a:t>Microsoft PDM acknowledges co-sell in MSPP</a:t>
                      </a:r>
                    </a:p>
                  </a:txBody>
                  <a:tcPr>
                    <a:solidFill>
                      <a:srgbClr val="FFFFFF"/>
                    </a:solidFill>
                  </a:tcPr>
                </a:tc>
                <a:tc>
                  <a:txBody>
                    <a:bodyPr/>
                    <a:lstStyle/>
                    <a:p>
                      <a:r>
                        <a:rPr sz="1100"/>
                        <a:t>Microsoft PDM</a:t>
                      </a:r>
                    </a:p>
                  </a:txBody>
                  <a:tcPr>
                    <a:solidFill>
                      <a:srgbClr val="FFFFFF"/>
                    </a:solidFill>
                  </a:tcPr>
                </a:tc>
                <a:tc>
                  <a:txBody>
                    <a:bodyPr/>
                    <a:lstStyle/>
                    <a:p>
                      <a:r>
                        <a:rPr sz="1100"/>
                        <a:t>Week 1</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Microsoft provides ESU for Windows Server 2012/R2 and SQL Server 2012/2014 FREE in Azure.</a:t>
            </a:r>
          </a:p>
          <a:p>
            <a:pPr>
              <a:spcAft>
                <a:spcPts val="300"/>
              </a:spcAft>
            </a:pPr>
            <a:r>
              <a:rPr sz="1400"/>
              <a:t>Running same EoL OS on AWS or GCP: customer must purchase ESU from Microsoft.</a:t>
            </a:r>
          </a:p>
          <a:p>
            <a:pPr>
              <a:spcAft>
                <a:spcPts val="300"/>
              </a:spcAft>
            </a:pPr>
            <a:r>
              <a:rPr sz="1400"/>
              <a:t/>
            </a:r>
          </a:p>
          <a:p>
            <a:pPr>
              <a:spcAft>
                <a:spcPts val="300"/>
              </a:spcAft>
            </a:pPr>
            <a:r>
              <a:rPr sz="1400"/>
              <a:t>TCO impact — 200 EoL servers over 3 years:</a:t>
            </a:r>
          </a:p>
          <a:p>
            <a:pPr>
              <a:spcAft>
                <a:spcPts val="300"/>
              </a:spcAft>
            </a:pPr>
            <a:r>
              <a:rPr sz="1400"/>
              <a:t>  Azure ESU cost: £0 (included in Azure)</a:t>
            </a:r>
          </a:p>
          <a:p>
            <a:pPr>
              <a:spcAft>
                <a:spcPts val="300"/>
              </a:spcAft>
            </a:pPr>
            <a:r>
              <a:rPr sz="1400"/>
              <a:t>  AWS or GCP ESU cost: £60K–£120K additional cost (paid to Microsoft)</a:t>
            </a:r>
          </a:p>
          <a:p>
            <a:pPr>
              <a:spcAft>
                <a:spcPts val="300"/>
              </a:spcAft>
            </a:pPr>
            <a:r>
              <a:rPr sz="1400"/>
              <a:t/>
            </a:r>
          </a:p>
          <a:p>
            <a:pPr>
              <a:spcAft>
                <a:spcPts val="300"/>
              </a:spcAft>
            </a:pPr>
            <a:r>
              <a:rPr sz="1400"/>
              <a:t>This is a legitimate Azure cost advantage that belongs in the TCO Licensing Overlay tab.</a:t>
            </a:r>
          </a:p>
          <a:p>
            <a:pPr>
              <a:spcAft>
                <a:spcPts val="300"/>
              </a:spcAft>
            </a:pPr>
            <a:r>
              <a:rPr sz="1400"/>
              <a:t/>
            </a:r>
          </a:p>
          <a:p>
            <a:pPr>
              <a:spcAft>
                <a:spcPts val="300"/>
              </a:spcAft>
            </a:pPr>
            <a:r>
              <a:rPr sz="1400"/>
              <a:t>Partner message: 'If your customer has Windows Server 2012 in their estate, Azure is structurally cheaper than AWS or GCP for those workloads — before you even include AHB.'</a:t>
            </a:r>
          </a:p>
        </p:txBody>
      </p:sp>
      <p:sp>
        <p:nvSpPr>
          <p:cNvPr id="3" name="Title 2"/>
          <p:cNvSpPr>
            <a:spLocks noGrp="1"/>
          </p:cNvSpPr>
          <p:nvPr>
            <p:ph type="title"/>
          </p:nvPr>
        </p:nvSpPr>
        <p:spPr/>
        <p:txBody>
          <a:bodyPr wrap="square"/>
          <a:lstStyle/>
          <a:p>
            <a:r>
              <a:rPr sz="2400" b="1"/>
              <a:t>Extended Security Updates — the Azure cost advantage that gets missed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1. Criteria weights agreed in WRITING by customer BEFORE scoring begins</a:t>
            </a:r>
          </a:p>
          <a:p>
            <a:pPr>
              <a:spcAft>
                <a:spcPts val="300"/>
              </a:spcAft>
            </a:pPr>
            <a:r>
              <a:rPr sz="1400"/>
              <a:t>2. All three clouds scored with equal rigour — AWS and GCP at the same depth as Azure</a:t>
            </a:r>
          </a:p>
          <a:p>
            <a:pPr>
              <a:spcAft>
                <a:spcPts val="300"/>
              </a:spcAft>
            </a:pPr>
            <a:r>
              <a:rPr sz="1400"/>
              <a:t>3. Every score has a documented evidence reference</a:t>
            </a:r>
          </a:p>
          <a:p>
            <a:pPr>
              <a:spcAft>
                <a:spcPts val="300"/>
              </a:spcAft>
            </a:pPr>
            <a:r>
              <a:rPr sz="1400"/>
              <a:t>4. Recommendation slide follows the evidence slides — NEVER precedes them</a:t>
            </a:r>
          </a:p>
          <a:p>
            <a:pPr>
              <a:spcAft>
                <a:spcPts val="300"/>
              </a:spcAft>
            </a:pPr>
            <a:r>
              <a:rPr sz="1400"/>
              <a:t>5. All three hyperscaler SEs are invited to the Phase 3 playback (standard practice)</a:t>
            </a:r>
          </a:p>
          <a:p>
            <a:pPr>
              <a:spcAft>
                <a:spcPts val="300"/>
              </a:spcAft>
            </a:pPr>
            <a:r>
              <a:rPr sz="1400"/>
              <a:t/>
            </a:r>
          </a:p>
          <a:p>
            <a:pPr>
              <a:spcAft>
                <a:spcPts val="300"/>
              </a:spcAft>
            </a:pPr>
            <a:r>
              <a:rPr sz="1400"/>
              <a:t>When all three hyperscalers are in the room and the recommendation still points to Azure — the Azure recommendation becomes unassailable.</a:t>
            </a:r>
          </a:p>
          <a:p>
            <a:pPr>
              <a:spcAft>
                <a:spcPts val="300"/>
              </a:spcAft>
            </a:pPr>
            <a:r>
              <a:rPr sz="1400"/>
              <a:t/>
            </a:r>
          </a:p>
          <a:p>
            <a:pPr>
              <a:spcAft>
                <a:spcPts val="300"/>
              </a:spcAft>
            </a:pPr>
            <a:r>
              <a:rPr sz="1400"/>
              <a:t>A CRA-delivered Azure recommendation is defensible to the customer's board, their procurement team, and any internal challenge from AWS or GCP advocates.</a:t>
            </a:r>
          </a:p>
        </p:txBody>
      </p:sp>
      <p:sp>
        <p:nvSpPr>
          <p:cNvPr id="3" name="Title 2"/>
          <p:cNvSpPr>
            <a:spLocks noGrp="1"/>
          </p:cNvSpPr>
          <p:nvPr>
            <p:ph type="title"/>
          </p:nvPr>
        </p:nvSpPr>
        <p:spPr/>
        <p:txBody>
          <a:bodyPr wrap="square"/>
          <a:lstStyle/>
          <a:p>
            <a:r>
              <a:rPr sz="2400" b="1"/>
              <a:t>How Rackspace ensures Azure recommendations are credible and defensible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Microsoft actions that maximise CRA co-sell success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36016">
                <a:tc>
                  <a:txBody>
                    <a:bodyPr/>
                    <a:lstStyle/>
                    <a:p>
                      <a:r>
                        <a:rPr b="1" sz="1200">
                          <a:solidFill>
                            <a:srgbClr val="FFFFFF"/>
                          </a:solidFill>
                        </a:rPr>
                        <a:t>Action</a:t>
                      </a:r>
                    </a:p>
                  </a:txBody>
                  <a:tcPr>
                    <a:solidFill>
                      <a:srgbClr val="E31C3D"/>
                    </a:solidFill>
                  </a:tcPr>
                </a:tc>
                <a:tc>
                  <a:txBody>
                    <a:bodyPr/>
                    <a:lstStyle/>
                    <a:p>
                      <a:r>
                        <a:rPr b="1" sz="1200">
                          <a:solidFill>
                            <a:srgbClr val="FFFFFF"/>
                          </a:solidFill>
                        </a:rPr>
                        <a:t>When</a:t>
                      </a:r>
                    </a:p>
                  </a:txBody>
                  <a:tcPr>
                    <a:solidFill>
                      <a:srgbClr val="E31C3D"/>
                    </a:solidFill>
                  </a:tcPr>
                </a:tc>
                <a:tc>
                  <a:txBody>
                    <a:bodyPr/>
                    <a:lstStyle/>
                    <a:p>
                      <a:r>
                        <a:rPr b="1" sz="1200">
                          <a:solidFill>
                            <a:srgbClr val="FFFFFF"/>
                          </a:solidFill>
                        </a:rPr>
                        <a:t>Why</a:t>
                      </a:r>
                    </a:p>
                  </a:txBody>
                  <a:tcPr>
                    <a:solidFill>
                      <a:srgbClr val="E31C3D"/>
                    </a:solidFill>
                  </a:tcPr>
                </a:tc>
              </a:tr>
              <a:tr h="436016">
                <a:tc>
                  <a:txBody>
                    <a:bodyPr/>
                    <a:lstStyle/>
                    <a:p>
                      <a:r>
                        <a:rPr sz="1100"/>
                        <a:t>Refer SMART Amber/Red customers to Rackspace</a:t>
                      </a:r>
                    </a:p>
                  </a:txBody>
                  <a:tcPr>
                    <a:solidFill>
                      <a:srgbClr val="F2F2F2"/>
                    </a:solidFill>
                  </a:tcPr>
                </a:tc>
                <a:tc>
                  <a:txBody>
                    <a:bodyPr/>
                    <a:lstStyle/>
                    <a:p>
                      <a:r>
                        <a:rPr sz="1100"/>
                        <a:t>Immediately after SMART result</a:t>
                      </a:r>
                    </a:p>
                  </a:txBody>
                  <a:tcPr>
                    <a:solidFill>
                      <a:srgbClr val="F2F2F2"/>
                    </a:solidFill>
                  </a:tcPr>
                </a:tc>
                <a:tc>
                  <a:txBody>
                    <a:bodyPr/>
                    <a:lstStyle/>
                    <a:p>
                      <a:r>
                        <a:rPr sz="1100"/>
                        <a:t>Top-of-funnel lead generation for CRA</a:t>
                      </a:r>
                    </a:p>
                  </a:txBody>
                  <a:tcPr>
                    <a:solidFill>
                      <a:srgbClr val="F2F2F2"/>
                    </a:solidFill>
                  </a:tcPr>
                </a:tc>
              </a:tr>
              <a:tr h="436016">
                <a:tc>
                  <a:txBody>
                    <a:bodyPr/>
                    <a:lstStyle/>
                    <a:p>
                      <a:r>
                        <a:rPr sz="1100"/>
                        <a:t>Provide warm introduction (not cold email)</a:t>
                      </a:r>
                    </a:p>
                  </a:txBody>
                  <a:tcPr>
                    <a:solidFill>
                      <a:srgbClr val="FFFFFF"/>
                    </a:solidFill>
                  </a:tcPr>
                </a:tc>
                <a:tc>
                  <a:txBody>
                    <a:bodyPr/>
                    <a:lstStyle/>
                    <a:p>
                      <a:r>
                        <a:rPr sz="1100"/>
                        <a:t>Before Rackspace scoping call</a:t>
                      </a:r>
                    </a:p>
                  </a:txBody>
                  <a:tcPr>
                    <a:solidFill>
                      <a:srgbClr val="FFFFFF"/>
                    </a:solidFill>
                  </a:tcPr>
                </a:tc>
                <a:tc>
                  <a:txBody>
                    <a:bodyPr/>
                    <a:lstStyle/>
                    <a:p>
                      <a:r>
                        <a:rPr sz="1100"/>
                        <a:t>Establishes Rackspace independence and credibility</a:t>
                      </a:r>
                    </a:p>
                  </a:txBody>
                  <a:tcPr>
                    <a:solidFill>
                      <a:srgbClr val="FFFFFF"/>
                    </a:solidFill>
                  </a:tcPr>
                </a:tc>
              </a:tr>
              <a:tr h="436016">
                <a:tc>
                  <a:txBody>
                    <a:bodyPr/>
                    <a:lstStyle/>
                    <a:p>
                      <a:r>
                        <a:rPr sz="1100"/>
                        <a:t>Confirm SA status for AHB eligibility</a:t>
                      </a:r>
                    </a:p>
                  </a:txBody>
                  <a:tcPr>
                    <a:solidFill>
                      <a:srgbClr val="F2F2F2"/>
                    </a:solidFill>
                  </a:tcPr>
                </a:tc>
                <a:tc>
                  <a:txBody>
                    <a:bodyPr/>
                    <a:lstStyle/>
                    <a:p>
                      <a:r>
                        <a:rPr sz="1100"/>
                        <a:t>At scoping workshop</a:t>
                      </a:r>
                    </a:p>
                  </a:txBody>
                  <a:tcPr>
                    <a:solidFill>
                      <a:srgbClr val="F2F2F2"/>
                    </a:solidFill>
                  </a:tcPr>
                </a:tc>
                <a:tc>
                  <a:txBody>
                    <a:bodyPr/>
                    <a:lstStyle/>
                    <a:p>
                      <a:r>
                        <a:rPr sz="1100"/>
                        <a:t>Enables accurate TCO modelling in Phase 3</a:t>
                      </a:r>
                    </a:p>
                  </a:txBody>
                  <a:tcPr>
                    <a:solidFill>
                      <a:srgbClr val="F2F2F2"/>
                    </a:solidFill>
                  </a:tcPr>
                </a:tc>
              </a:tr>
              <a:tr h="436016">
                <a:tc>
                  <a:txBody>
                    <a:bodyPr/>
                    <a:lstStyle/>
                    <a:p>
                      <a:r>
                        <a:rPr sz="1100"/>
                        <a:t>Acknowledge AMM deal registration in MSPP</a:t>
                      </a:r>
                    </a:p>
                  </a:txBody>
                  <a:tcPr>
                    <a:solidFill>
                      <a:srgbClr val="FFFFFF"/>
                    </a:solidFill>
                  </a:tcPr>
                </a:tc>
                <a:tc>
                  <a:txBody>
                    <a:bodyPr/>
                    <a:lstStyle/>
                    <a:p>
                      <a:r>
                        <a:rPr sz="1100"/>
                        <a:t>Phase 1 Week 1</a:t>
                      </a:r>
                    </a:p>
                  </a:txBody>
                  <a:tcPr>
                    <a:solidFill>
                      <a:srgbClr val="FFFFFF"/>
                    </a:solidFill>
                  </a:tcPr>
                </a:tc>
                <a:tc>
                  <a:txBody>
                    <a:bodyPr/>
                    <a:lstStyle/>
                    <a:p>
                      <a:r>
                        <a:rPr sz="1100"/>
                        <a:t>Required for AMM funding eligibility</a:t>
                      </a:r>
                    </a:p>
                  </a:txBody>
                  <a:tcPr>
                    <a:solidFill>
                      <a:srgbClr val="FFFFFF"/>
                    </a:solidFill>
                  </a:tcPr>
                </a:tc>
              </a:tr>
              <a:tr h="436016">
                <a:tc>
                  <a:txBody>
                    <a:bodyPr/>
                    <a:lstStyle/>
                    <a:p>
                      <a:r>
                        <a:rPr sz="1100"/>
                        <a:t>Provide AMM programme guidance for this account</a:t>
                      </a:r>
                    </a:p>
                  </a:txBody>
                  <a:tcPr>
                    <a:solidFill>
                      <a:srgbClr val="F2F2F2"/>
                    </a:solidFill>
                  </a:tcPr>
                </a:tc>
                <a:tc>
                  <a:txBody>
                    <a:bodyPr/>
                    <a:lstStyle/>
                    <a:p>
                      <a:r>
                        <a:rPr sz="1100"/>
                        <a:t>Phase 1 Week 1–2</a:t>
                      </a:r>
                    </a:p>
                  </a:txBody>
                  <a:tcPr>
                    <a:solidFill>
                      <a:srgbClr val="F2F2F2"/>
                    </a:solidFill>
                  </a:tcPr>
                </a:tc>
                <a:tc>
                  <a:txBody>
                    <a:bodyPr/>
                    <a:lstStyle/>
                    <a:p>
                      <a:r>
                        <a:rPr sz="1100"/>
                        <a:t>Confirms funding tier and programme requirements</a:t>
                      </a:r>
                    </a:p>
                  </a:txBody>
                  <a:tcPr>
                    <a:solidFill>
                      <a:srgbClr val="F2F2F2"/>
                    </a:solidFill>
                  </a:tcPr>
                </a:tc>
              </a:tr>
              <a:tr h="436016">
                <a:tc>
                  <a:txBody>
                    <a:bodyPr/>
                    <a:lstStyle/>
                    <a:p>
                      <a:r>
                        <a:rPr sz="1100"/>
                        <a:t>Attend Phase 3 playback (recommended)</a:t>
                      </a:r>
                    </a:p>
                  </a:txBody>
                  <a:tcPr>
                    <a:solidFill>
                      <a:srgbClr val="FFFFFF"/>
                    </a:solidFill>
                  </a:tcPr>
                </a:tc>
                <a:tc>
                  <a:txBody>
                    <a:bodyPr/>
                    <a:lstStyle/>
                    <a:p>
                      <a:r>
                        <a:rPr sz="1100"/>
                        <a:t>Phase 3 Week 14</a:t>
                      </a:r>
                    </a:p>
                  </a:txBody>
                  <a:tcPr>
                    <a:solidFill>
                      <a:srgbClr val="FFFFFF"/>
                    </a:solidFill>
                  </a:tcPr>
                </a:tc>
                <a:tc>
                  <a:txBody>
                    <a:bodyPr/>
                    <a:lstStyle/>
                    <a:p>
                      <a:r>
                        <a:rPr sz="1100"/>
                        <a:t>Shows co-sell alignment; strengthens Azure recommendation credibility</a:t>
                      </a:r>
                    </a:p>
                  </a:txBody>
                  <a:tcPr>
                    <a:solidFill>
                      <a:srgbClr val="FFFFFF"/>
                    </a:solidFill>
                  </a:tcPr>
                </a:tc>
              </a:tr>
              <a:tr h="436022">
                <a:tc>
                  <a:txBody>
                    <a:bodyPr/>
                    <a:lstStyle/>
                    <a:p>
                      <a:r>
                        <a:rPr sz="1100"/>
                        <a:t>Support AMM funding application</a:t>
                      </a:r>
                    </a:p>
                  </a:txBody>
                  <a:tcPr>
                    <a:solidFill>
                      <a:srgbClr val="F2F2F2"/>
                    </a:solidFill>
                  </a:tcPr>
                </a:tc>
                <a:tc>
                  <a:txBody>
                    <a:bodyPr/>
                    <a:lstStyle/>
                    <a:p>
                      <a:r>
                        <a:rPr sz="1100"/>
                        <a:t>Phase 3 Week 14–16</a:t>
                      </a:r>
                    </a:p>
                  </a:txBody>
                  <a:tcPr>
                    <a:solidFill>
                      <a:srgbClr val="F2F2F2"/>
                    </a:solidFill>
                  </a:tcPr>
                </a:tc>
                <a:tc>
                  <a:txBody>
                    <a:bodyPr/>
                    <a:lstStyle/>
                    <a:p>
                      <a:r>
                        <a:rPr sz="1100"/>
                        <a:t>Submits funding request once Azure recommendation is confirmed</a:t>
                      </a:r>
                    </a:p>
                  </a:txBody>
                  <a:tcPr>
                    <a:solidFill>
                      <a:srgbClr val="F2F2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Azure-specific governance outputs from CRA Phase 2:</a:t>
            </a:r>
          </a:p>
          <a:p>
            <a:pPr>
              <a:spcAft>
                <a:spcPts val="300"/>
              </a:spcAft>
            </a:pPr>
            <a:r>
              <a:rPr sz="1400"/>
              <a:t>  Identity &amp; Access Management  →  Azure Active Directory (Entra ID) design · RBAC model for subscriptions</a:t>
            </a:r>
          </a:p>
          <a:p>
            <a:pPr>
              <a:spcAft>
                <a:spcPts val="300"/>
              </a:spcAft>
            </a:pPr>
            <a:r>
              <a:rPr sz="1400"/>
              <a:t>  Security &amp; Compliance  →  Defender for Cloud readiness · Microsoft Sentinel integration</a:t>
            </a:r>
          </a:p>
          <a:p>
            <a:pPr>
              <a:spcAft>
                <a:spcPts val="300"/>
              </a:spcAft>
            </a:pPr>
            <a:r>
              <a:rPr sz="1400"/>
              <a:t>  Change &amp; Release Management  →  Azure DevOps / GitHub Actions for cloud pipelines</a:t>
            </a:r>
          </a:p>
          <a:p>
            <a:pPr>
              <a:spcAft>
                <a:spcPts val="300"/>
              </a:spcAft>
            </a:pPr>
            <a:r>
              <a:rPr sz="1400"/>
              <a:t>  Monitoring &amp; Observability  →  Azure Monitor / Log Analytics workspace design</a:t>
            </a:r>
          </a:p>
          <a:p>
            <a:pPr>
              <a:spcAft>
                <a:spcPts val="300"/>
              </a:spcAft>
            </a:pPr>
            <a:r>
              <a:rPr sz="1400"/>
              <a:t>  Cost Management (FinOps)  →  Azure Cost Management + Billing · tagging strategy for chargeback</a:t>
            </a:r>
          </a:p>
          <a:p>
            <a:pPr>
              <a:spcAft>
                <a:spcPts val="300"/>
              </a:spcAft>
            </a:pPr>
            <a:r>
              <a:rPr sz="1400"/>
              <a:t>  Operations Readiness  →  Azure Update Manager · Azure Automation baseline</a:t>
            </a:r>
          </a:p>
          <a:p>
            <a:pPr>
              <a:spcAft>
                <a:spcPts val="300"/>
              </a:spcAft>
            </a:pPr>
            <a:r>
              <a:rPr sz="1400"/>
              <a:t/>
            </a:r>
          </a:p>
          <a:p>
            <a:pPr>
              <a:spcAft>
                <a:spcPts val="300"/>
              </a:spcAft>
            </a:pPr>
            <a:r>
              <a:rPr sz="1400"/>
              <a:t>KEY MESSAGE: The CRA governance baseline directly informs the Azure Landing Zone design.</a:t>
            </a:r>
          </a:p>
          <a:p>
            <a:pPr>
              <a:spcAft>
                <a:spcPts val="300"/>
              </a:spcAft>
            </a:pPr>
            <a:r>
              <a:rPr sz="1400"/>
              <a:t>STU architects can take CRA governance output and directly begin landing zone design without running a separate assessment.</a:t>
            </a:r>
          </a:p>
        </p:txBody>
      </p:sp>
      <p:sp>
        <p:nvSpPr>
          <p:cNvPr id="3" name="Title 2"/>
          <p:cNvSpPr>
            <a:spLocks noGrp="1"/>
          </p:cNvSpPr>
          <p:nvPr>
            <p:ph type="title"/>
          </p:nvPr>
        </p:nvSpPr>
        <p:spPr/>
        <p:txBody>
          <a:bodyPr wrap="square"/>
          <a:lstStyle/>
          <a:p>
            <a:r>
              <a:rPr sz="2400" b="1"/>
              <a:t>Phase 2 governance assessment prepares customer for Azure Landing Zone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Three ways to activate a Rackspace CRA opportunity with Microsoft</a:t>
            </a:r>
          </a:p>
        </p:txBody>
      </p:sp>
      <p:sp>
        <p:nvSpPr>
          <p:cNvPr id="4" name="Text Placeholder 3"/>
          <p:cNvSpPr>
            <a:spLocks noGrp="1"/>
          </p:cNvSpPr>
          <p:nvPr>
            <p:ph type="body" idx="13" sz="quarter"/>
          </p:nvPr>
        </p:nvSpPr>
        <p:spPr/>
        <p:txBody>
          <a:bodyPr wrap="square"/>
          <a:lstStyle/>
          <a:p>
            <a:r>
              <a:rPr sz="1300">
                <a:solidFill>
                  <a:srgbClr val="333333"/>
                </a:solidFill>
              </a:rPr>
              <a:t>"Schedule a 30-minute technical briefing between Rackspace Alliance Architecture and Microsoft STU to validate CRA against CAF and AMM requirements. This is the one session that unlocks co-sell activation."</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Path</a:t>
                      </a:r>
                    </a:p>
                  </a:txBody>
                  <a:tcPr>
                    <a:solidFill>
                      <a:srgbClr val="E31C3D"/>
                    </a:solidFill>
                  </a:tcPr>
                </a:tc>
                <a:tc>
                  <a:txBody>
                    <a:bodyPr/>
                    <a:lstStyle/>
                    <a:p>
                      <a:r>
                        <a:rPr b="1" sz="1200">
                          <a:solidFill>
                            <a:srgbClr val="FFFFFF"/>
                          </a:solidFill>
                        </a:rPr>
                        <a:t>Trigger</a:t>
                      </a:r>
                    </a:p>
                  </a:txBody>
                  <a:tcPr>
                    <a:solidFill>
                      <a:srgbClr val="E31C3D"/>
                    </a:solidFill>
                  </a:tcPr>
                </a:tc>
                <a:tc>
                  <a:txBody>
                    <a:bodyPr/>
                    <a:lstStyle/>
                    <a:p>
                      <a:r>
                        <a:rPr b="1" sz="1200">
                          <a:solidFill>
                            <a:srgbClr val="FFFFFF"/>
                          </a:solidFill>
                        </a:rPr>
                        <a:t>First Action</a:t>
                      </a:r>
                    </a:p>
                  </a:txBody>
                  <a:tcPr>
                    <a:solidFill>
                      <a:srgbClr val="E31C3D"/>
                    </a:solidFill>
                  </a:tcPr>
                </a:tc>
              </a:tr>
              <a:tr h="872033">
                <a:tc>
                  <a:txBody>
                    <a:bodyPr/>
                    <a:lstStyle/>
                    <a:p>
                      <a:r>
                        <a:rPr sz="1100"/>
                        <a:t>1. SMART Referral</a:t>
                      </a:r>
                    </a:p>
                  </a:txBody>
                  <a:tcPr>
                    <a:solidFill>
                      <a:srgbClr val="F2F2F2"/>
                    </a:solidFill>
                  </a:tcPr>
                </a:tc>
                <a:tc>
                  <a:txBody>
                    <a:bodyPr/>
                    <a:lstStyle/>
                    <a:p>
                      <a:r>
                        <a:rPr sz="1100"/>
                        <a:t>Microsoft SE completes SMART · score is Amber/Red</a:t>
                      </a:r>
                    </a:p>
                  </a:txBody>
                  <a:tcPr>
                    <a:solidFill>
                      <a:srgbClr val="F2F2F2"/>
                    </a:solidFill>
                  </a:tcPr>
                </a:tc>
                <a:tc>
                  <a:txBody>
                    <a:bodyPr/>
                    <a:lstStyle/>
                    <a:p>
                      <a:r>
                        <a:rPr sz="1100"/>
                        <a:t>SE refers to Rackspace Pre-Sales for CRA scoping call</a:t>
                      </a:r>
                    </a:p>
                  </a:txBody>
                  <a:tcPr>
                    <a:solidFill>
                      <a:srgbClr val="F2F2F2"/>
                    </a:solidFill>
                  </a:tcPr>
                </a:tc>
              </a:tr>
              <a:tr h="872033">
                <a:tc>
                  <a:txBody>
                    <a:bodyPr/>
                    <a:lstStyle/>
                    <a:p>
                      <a:r>
                        <a:rPr sz="1100"/>
                        <a:t>2. Joint Pipeline Review</a:t>
                      </a:r>
                    </a:p>
                  </a:txBody>
                  <a:tcPr>
                    <a:solidFill>
                      <a:srgbClr val="FFFFFF"/>
                    </a:solidFill>
                  </a:tcPr>
                </a:tc>
                <a:tc>
                  <a:txBody>
                    <a:bodyPr/>
                    <a:lstStyle/>
                    <a:p>
                      <a:r>
                        <a:rPr sz="1100"/>
                        <a:t>Monthly Rackspace + Microsoft PDM pipeline review</a:t>
                      </a:r>
                    </a:p>
                  </a:txBody>
                  <a:tcPr>
                    <a:solidFill>
                      <a:srgbClr val="FFFFFF"/>
                    </a:solidFill>
                  </a:tcPr>
                </a:tc>
                <a:tc>
                  <a:txBody>
                    <a:bodyPr/>
                    <a:lstStyle/>
                    <a:p>
                      <a:r>
                        <a:rPr sz="1100"/>
                        <a:t>Identify accounts where formal assessment accelerates Azure commitment</a:t>
                      </a:r>
                    </a:p>
                  </a:txBody>
                  <a:tcPr>
                    <a:solidFill>
                      <a:srgbClr val="FFFFFF"/>
                    </a:solidFill>
                  </a:tcPr>
                </a:tc>
              </a:tr>
              <a:tr h="872035">
                <a:tc>
                  <a:txBody>
                    <a:bodyPr/>
                    <a:lstStyle/>
                    <a:p>
                      <a:r>
                        <a:rPr sz="1100"/>
                        <a:t>3. Inbound from Customer</a:t>
                      </a:r>
                    </a:p>
                  </a:txBody>
                  <a:tcPr>
                    <a:solidFill>
                      <a:srgbClr val="F2F2F2"/>
                    </a:solidFill>
                  </a:tcPr>
                </a:tc>
                <a:tc>
                  <a:txBody>
                    <a:bodyPr/>
                    <a:lstStyle/>
                    <a:p>
                      <a:r>
                        <a:rPr sz="1100"/>
                        <a:t>Customer approaches Microsoft directly for cloud readiness help</a:t>
                      </a:r>
                    </a:p>
                  </a:txBody>
                  <a:tcPr>
                    <a:solidFill>
                      <a:srgbClr val="F2F2F2"/>
                    </a:solidFill>
                  </a:tcPr>
                </a:tc>
                <a:tc>
                  <a:txBody>
                    <a:bodyPr/>
                    <a:lstStyle/>
                    <a:p>
                      <a:r>
                        <a:rPr sz="1100"/>
                        <a:t>Microsoft SE recommends Rackspace CRA · warm introduction email</a:t>
                      </a:r>
                    </a:p>
                  </a:txBody>
                  <a:tcPr>
                    <a:solidFill>
                      <a:srgbClr val="F2F2F2"/>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