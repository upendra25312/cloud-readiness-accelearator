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271A_658408B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 Id="rId5"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48" r:id="rId1"/>
    <p:sldMasterId id="2147483658" r:id="rId2"/>
    <p:sldMasterId id="2147483699" r:id="rId3"/>
    <p:sldMasterId id="2147483701" r:id="rId4"/>
    <p:sldMasterId id="2147483703" r:id="rId5"/>
    <p:sldMasterId id="2147483705" r:id="rId6"/>
    <p:sldMasterId id="2147483707" r:id="rId7"/>
    <p:sldMasterId id="2147483709" r:id="rId8"/>
    <p:sldMasterId id="2147483713" r:id="rId9"/>
    <p:sldMasterId id="2147483715" r:id="rId10"/>
    <p:sldMasterId id="2147483717" r:id="rId11"/>
    <p:sldMasterId id="2147483721" r:id="rId12"/>
  </p:sldMasterIdLst>
  <p:notesMasterIdLst>
    <p:notesMasterId r:id="rId30"/>
  </p:notesMasterIdLst>
  <p:sldIdLst>
    <p:sldId id="10001" r:id="rId13"/>
    <p:sldId id="10002" r:id="rId14"/>
    <p:sldId id="10003" r:id="rId15"/>
    <p:sldId id="10004" r:id="rId16"/>
    <p:sldId id="10005" r:id="rId17"/>
    <p:sldId id="2147469707" r:id="rId18"/>
    <p:sldId id="2147478968" r:id="rId19"/>
    <p:sldId id="10015" r:id="rId20"/>
    <p:sldId id="10006" r:id="rId21"/>
    <p:sldId id="10007" r:id="rId22"/>
    <p:sldId id="10008" r:id="rId23"/>
    <p:sldId id="613" r:id="rId24"/>
    <p:sldId id="10009" r:id="rId25"/>
    <p:sldId id="10010" r:id="rId26"/>
    <p:sldId id="2147470706" r:id="rId27"/>
    <p:sldId id="10012" r:id="rId28"/>
    <p:sldId id="2147483627" r:id="rId29"/>
  </p:sldIdLst>
  <p:sldSz cx="12192000" cy="6858000"/>
  <p:notesSz cx="6858000" cy="9144000"/>
  <p:embeddedFontLst>
    <p:embeddedFont>
      <p:font typeface="Aptos Narrow" panose="020B0004020202020204" pitchFamily="34" charset="0"/>
      <p:regular r:id="rId31"/>
    </p:embeddedFont>
    <p:embeddedFont>
      <p:font typeface="Segoe UI" panose="020B0502040204020203" pitchFamily="34" charset="0"/>
      <p:regular r:id="rId32"/>
      <p:bold r:id="rId33"/>
      <p:italic r:id="rId34"/>
      <p:boldItalic r:id="rId35"/>
    </p:embeddedFont>
    <p:embeddedFont>
      <p:font typeface="Segoe UI Semibold" panose="020B0702040204020203" pitchFamily="34" charset="0"/>
      <p:bold r:id="rId36"/>
      <p:boldItalic r:id="rId37"/>
    </p:embeddedFont>
    <p:embeddedFont>
      <p:font typeface="Segoe UI Semilight" panose="020B0402040204020203" pitchFamily="34" charset="0"/>
      <p:regular r:id="rId38"/>
      <p:italic r:id="rId39"/>
    </p:embeddedFont>
  </p:embeddedFontLst>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060F17-B254-9EC1-C054-E828599EC543}" name="Kim Boardman" initials="KB" userId="S::kimboardman@microsoft.com::7234730d-ab52-444d-b523-91d752ac945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2060"/>
    <a:srgbClr val="243A5E"/>
    <a:srgbClr val="F2F2F2"/>
    <a:srgbClr val="0090A8"/>
    <a:srgbClr val="E6E6E6"/>
    <a:srgbClr val="C8D5EA"/>
    <a:srgbClr val="00C2E2"/>
    <a:srgbClr val="EAEAEA"/>
    <a:srgbClr val="5A81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522E5-1885-4E94-AEF7-16895B6DE286}" v="2" dt="2026-04-08T13:53:05.9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96" y="14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font" Target="fonts/font9.fntdata"/><Relationship Id="rId21" Type="http://schemas.openxmlformats.org/officeDocument/2006/relationships/slide" Target="slides/slide9.xml"/><Relationship Id="rId34" Type="http://schemas.openxmlformats.org/officeDocument/2006/relationships/font" Target="fonts/font4.fntdata"/><Relationship Id="rId42" Type="http://schemas.openxmlformats.org/officeDocument/2006/relationships/viewProps" Target="viewProps.xml"/><Relationship Id="rId47" Type="http://schemas.microsoft.com/office/2018/10/relationships/authors" Target="authors.xml"/><Relationship Id="rId50" Type="http://schemas.openxmlformats.org/officeDocument/2006/relationships/customXml" Target="../customXml/item3.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ags" Target="tags/tag1.xml"/><Relationship Id="rId45"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font" Target="fonts/font6.fntdata"/><Relationship Id="rId49" Type="http://schemas.openxmlformats.org/officeDocument/2006/relationships/customXml" Target="../customXml/item2.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48" Type="http://schemas.openxmlformats.org/officeDocument/2006/relationships/customXml" Target="../customXml/item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font" Target="fonts/font3.fntdata"/><Relationship Id="rId38" Type="http://schemas.openxmlformats.org/officeDocument/2006/relationships/font" Target="fonts/font8.fntdata"/><Relationship Id="rId46" Type="http://schemas.microsoft.com/office/2015/10/relationships/revisionInfo" Target="revisionInfo.xml"/><Relationship Id="rId20" Type="http://schemas.openxmlformats.org/officeDocument/2006/relationships/slide" Target="slides/slide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 Boardman" userId="7234730d-ab52-444d-b523-91d752ac9455" providerId="ADAL" clId="{5F29D129-44C0-44D4-B485-5CE207F16FCB}"/>
    <pc:docChg chg="custSel addSld delSld modSld">
      <pc:chgData name="Kim Boardman" userId="7234730d-ab52-444d-b523-91d752ac9455" providerId="ADAL" clId="{5F29D129-44C0-44D4-B485-5CE207F16FCB}" dt="2026-04-07T20:14:47.410" v="138" actId="255"/>
      <pc:docMkLst>
        <pc:docMk/>
      </pc:docMkLst>
      <pc:sldChg chg="modSp mod">
        <pc:chgData name="Kim Boardman" userId="7234730d-ab52-444d-b523-91d752ac9455" providerId="ADAL" clId="{5F29D129-44C0-44D4-B485-5CE207F16FCB}" dt="2026-04-07T19:18:26.433" v="134" actId="255"/>
        <pc:sldMkLst>
          <pc:docMk/>
          <pc:sldMk cId="887290642" sldId="10002"/>
        </pc:sldMkLst>
        <pc:spChg chg="mod">
          <ac:chgData name="Kim Boardman" userId="7234730d-ab52-444d-b523-91d752ac9455" providerId="ADAL" clId="{5F29D129-44C0-44D4-B485-5CE207F16FCB}" dt="2026-04-07T19:18:26.433" v="134" actId="255"/>
          <ac:spMkLst>
            <pc:docMk/>
            <pc:sldMk cId="887290642" sldId="10002"/>
            <ac:spMk id="5" creationId="{89981952-6511-4752-97A0-1780FBC07E40}"/>
          </ac:spMkLst>
        </pc:spChg>
      </pc:sldChg>
      <pc:sldChg chg="modSp mod">
        <pc:chgData name="Kim Boardman" userId="7234730d-ab52-444d-b523-91d752ac9455" providerId="ADAL" clId="{5F29D129-44C0-44D4-B485-5CE207F16FCB}" dt="2026-04-07T16:20:20.629" v="18" actId="13926"/>
        <pc:sldMkLst>
          <pc:docMk/>
          <pc:sldMk cId="1587774936" sldId="10006"/>
        </pc:sldMkLst>
        <pc:spChg chg="mod">
          <ac:chgData name="Kim Boardman" userId="7234730d-ab52-444d-b523-91d752ac9455" providerId="ADAL" clId="{5F29D129-44C0-44D4-B485-5CE207F16FCB}" dt="2026-04-07T16:20:14.777" v="17" actId="20577"/>
          <ac:spMkLst>
            <pc:docMk/>
            <pc:sldMk cId="1587774936" sldId="10006"/>
            <ac:spMk id="73" creationId="{393F1C81-A1C2-8536-A786-DF5C1CABE38E}"/>
          </ac:spMkLst>
        </pc:spChg>
        <pc:graphicFrameChg chg="modGraphic">
          <ac:chgData name="Kim Boardman" userId="7234730d-ab52-444d-b523-91d752ac9455" providerId="ADAL" clId="{5F29D129-44C0-44D4-B485-5CE207F16FCB}" dt="2026-04-07T16:20:20.629" v="18" actId="13926"/>
          <ac:graphicFrameMkLst>
            <pc:docMk/>
            <pc:sldMk cId="1587774936" sldId="10006"/>
            <ac:graphicFrameMk id="23" creationId="{0688C517-B369-4249-B5AE-66EA1BC13F6B}"/>
          </ac:graphicFrameMkLst>
        </pc:graphicFrameChg>
      </pc:sldChg>
      <pc:sldChg chg="add">
        <pc:chgData name="Kim Boardman" userId="7234730d-ab52-444d-b523-91d752ac9455" providerId="ADAL" clId="{5F29D129-44C0-44D4-B485-5CE207F16FCB}" dt="2026-04-07T16:20:59.398" v="19"/>
        <pc:sldMkLst>
          <pc:docMk/>
          <pc:sldMk cId="1880424238" sldId="10007"/>
        </pc:sldMkLst>
      </pc:sldChg>
      <pc:sldChg chg="del">
        <pc:chgData name="Kim Boardman" userId="7234730d-ab52-444d-b523-91d752ac9455" providerId="ADAL" clId="{5F29D129-44C0-44D4-B485-5CE207F16FCB}" dt="2026-04-07T19:17:36.133" v="104" actId="47"/>
        <pc:sldMkLst>
          <pc:docMk/>
          <pc:sldMk cId="954572757" sldId="10011"/>
        </pc:sldMkLst>
      </pc:sldChg>
      <pc:sldChg chg="add">
        <pc:chgData name="Kim Boardman" userId="7234730d-ab52-444d-b523-91d752ac9455" providerId="ADAL" clId="{5F29D129-44C0-44D4-B485-5CE207F16FCB}" dt="2026-04-07T19:16:24.987" v="96"/>
        <pc:sldMkLst>
          <pc:docMk/>
          <pc:sldMk cId="2691396682" sldId="10015"/>
        </pc:sldMkLst>
      </pc:sldChg>
      <pc:sldChg chg="add del">
        <pc:chgData name="Kim Boardman" userId="7234730d-ab52-444d-b523-91d752ac9455" providerId="ADAL" clId="{5F29D129-44C0-44D4-B485-5CE207F16FCB}" dt="2026-04-07T19:17:03.327" v="101" actId="47"/>
        <pc:sldMkLst>
          <pc:docMk/>
          <pc:sldMk cId="520607077" sldId="10016"/>
        </pc:sldMkLst>
      </pc:sldChg>
      <pc:sldChg chg="add del">
        <pc:chgData name="Kim Boardman" userId="7234730d-ab52-444d-b523-91d752ac9455" providerId="ADAL" clId="{5F29D129-44C0-44D4-B485-5CE207F16FCB}" dt="2026-04-07T19:17:20.889" v="103" actId="47"/>
        <pc:sldMkLst>
          <pc:docMk/>
          <pc:sldMk cId="3481001892" sldId="10017"/>
        </pc:sldMkLst>
      </pc:sldChg>
      <pc:sldChg chg="add del">
        <pc:chgData name="Kim Boardman" userId="7234730d-ab52-444d-b523-91d752ac9455" providerId="ADAL" clId="{5F29D129-44C0-44D4-B485-5CE207F16FCB}" dt="2026-04-07T19:17:09.985" v="102" actId="47"/>
        <pc:sldMkLst>
          <pc:docMk/>
          <pc:sldMk cId="2350442840" sldId="10018"/>
        </pc:sldMkLst>
      </pc:sldChg>
      <pc:sldChg chg="add">
        <pc:chgData name="Kim Boardman" userId="7234730d-ab52-444d-b523-91d752ac9455" providerId="ADAL" clId="{5F29D129-44C0-44D4-B485-5CE207F16FCB}" dt="2026-04-07T19:16:24.987" v="96"/>
        <pc:sldMkLst>
          <pc:docMk/>
          <pc:sldMk cId="2836846379" sldId="2147469707"/>
        </pc:sldMkLst>
      </pc:sldChg>
      <pc:sldChg chg="addSp delSp modSp mod">
        <pc:chgData name="Kim Boardman" userId="7234730d-ab52-444d-b523-91d752ac9455" providerId="ADAL" clId="{5F29D129-44C0-44D4-B485-5CE207F16FCB}" dt="2026-04-07T20:14:47.410" v="138" actId="255"/>
        <pc:sldMkLst>
          <pc:docMk/>
          <pc:sldMk cId="451503263" sldId="2147470706"/>
        </pc:sldMkLst>
        <pc:graphicFrameChg chg="del">
          <ac:chgData name="Kim Boardman" userId="7234730d-ab52-444d-b523-91d752ac9455" providerId="ADAL" clId="{5F29D129-44C0-44D4-B485-5CE207F16FCB}" dt="2026-04-07T16:21:37.549" v="20" actId="478"/>
          <ac:graphicFrameMkLst>
            <pc:docMk/>
            <pc:sldMk cId="451503263" sldId="2147470706"/>
            <ac:graphicFrameMk id="2" creationId="{B8DC5DB9-00DF-5B41-A0D0-353D8B182C90}"/>
          </ac:graphicFrameMkLst>
        </pc:graphicFrameChg>
        <pc:graphicFrameChg chg="add mod modGraphic">
          <ac:chgData name="Kim Boardman" userId="7234730d-ab52-444d-b523-91d752ac9455" providerId="ADAL" clId="{5F29D129-44C0-44D4-B485-5CE207F16FCB}" dt="2026-04-07T20:14:47.410" v="138" actId="255"/>
          <ac:graphicFrameMkLst>
            <pc:docMk/>
            <pc:sldMk cId="451503263" sldId="2147470706"/>
            <ac:graphicFrameMk id="4" creationId="{4AB32B5B-E35E-8D11-3B9B-1AE3789D7870}"/>
          </ac:graphicFrameMkLst>
        </pc:graphicFrameChg>
      </pc:sldChg>
      <pc:sldChg chg="add">
        <pc:chgData name="Kim Boardman" userId="7234730d-ab52-444d-b523-91d752ac9455" providerId="ADAL" clId="{5F29D129-44C0-44D4-B485-5CE207F16FCB}" dt="2026-04-07T19:16:24.987" v="96"/>
        <pc:sldMkLst>
          <pc:docMk/>
          <pc:sldMk cId="2196440465" sldId="2147478968"/>
        </pc:sldMkLst>
      </pc:sldChg>
      <pc:sldChg chg="add del">
        <pc:chgData name="Kim Boardman" userId="7234730d-ab52-444d-b523-91d752ac9455" providerId="ADAL" clId="{5F29D129-44C0-44D4-B485-5CE207F16FCB}" dt="2026-04-07T19:16:34.198" v="97" actId="47"/>
        <pc:sldMkLst>
          <pc:docMk/>
          <pc:sldMk cId="3090270328" sldId="2147478969"/>
        </pc:sldMkLst>
      </pc:sldChg>
      <pc:sldChg chg="add del">
        <pc:chgData name="Kim Boardman" userId="7234730d-ab52-444d-b523-91d752ac9455" providerId="ADAL" clId="{5F29D129-44C0-44D4-B485-5CE207F16FCB}" dt="2026-04-07T19:16:37.530" v="98" actId="47"/>
        <pc:sldMkLst>
          <pc:docMk/>
          <pc:sldMk cId="278514875" sldId="2147478970"/>
        </pc:sldMkLst>
      </pc:sldChg>
      <pc:sldChg chg="add del">
        <pc:chgData name="Kim Boardman" userId="7234730d-ab52-444d-b523-91d752ac9455" providerId="ADAL" clId="{5F29D129-44C0-44D4-B485-5CE207F16FCB}" dt="2026-04-07T19:16:42.188" v="99" actId="47"/>
        <pc:sldMkLst>
          <pc:docMk/>
          <pc:sldMk cId="345406041" sldId="2147478975"/>
        </pc:sldMkLst>
      </pc:sldChg>
      <pc:sldChg chg="add del">
        <pc:chgData name="Kim Boardman" userId="7234730d-ab52-444d-b523-91d752ac9455" providerId="ADAL" clId="{5F29D129-44C0-44D4-B485-5CE207F16FCB}" dt="2026-04-07T19:16:44.121" v="100" actId="47"/>
        <pc:sldMkLst>
          <pc:docMk/>
          <pc:sldMk cId="3866557855" sldId="2147478976"/>
        </pc:sldMkLst>
      </pc:sldChg>
      <pc:sldChg chg="modSp mod">
        <pc:chgData name="Kim Boardman" userId="7234730d-ab52-444d-b523-91d752ac9455" providerId="ADAL" clId="{5F29D129-44C0-44D4-B485-5CE207F16FCB}" dt="2026-04-07T16:22:34.553" v="95" actId="20577"/>
        <pc:sldMkLst>
          <pc:docMk/>
          <pc:sldMk cId="2060164686" sldId="2147483627"/>
        </pc:sldMkLst>
        <pc:spChg chg="mod">
          <ac:chgData name="Kim Boardman" userId="7234730d-ab52-444d-b523-91d752ac9455" providerId="ADAL" clId="{5F29D129-44C0-44D4-B485-5CE207F16FCB}" dt="2026-04-07T16:22:34.553" v="95" actId="20577"/>
          <ac:spMkLst>
            <pc:docMk/>
            <pc:sldMk cId="2060164686" sldId="2147483627"/>
            <ac:spMk id="3" creationId="{239D7C66-D998-7906-6918-AE36D602A958}"/>
          </ac:spMkLst>
        </pc:spChg>
      </pc:sldChg>
    </pc:docChg>
  </pc:docChgLst>
  <pc:docChgLst>
    <pc:chgData name="Kris Shea" userId="baecdccb-f8ba-4abf-a93f-cdb3a68c40f8" providerId="ADAL" clId="{960503A2-8828-4B82-B6B3-2B6F1DFBE0AB}"/>
    <pc:docChg chg="custSel modSld delMainMaster">
      <pc:chgData name="Kris Shea" userId="baecdccb-f8ba-4abf-a93f-cdb3a68c40f8" providerId="ADAL" clId="{960503A2-8828-4B82-B6B3-2B6F1DFBE0AB}" dt="2026-04-08T16:48:32.540" v="9" actId="313"/>
      <pc:docMkLst>
        <pc:docMk/>
      </pc:docMkLst>
      <pc:sldChg chg="modSp mod">
        <pc:chgData name="Kris Shea" userId="baecdccb-f8ba-4abf-a93f-cdb3a68c40f8" providerId="ADAL" clId="{960503A2-8828-4B82-B6B3-2B6F1DFBE0AB}" dt="2026-04-08T16:48:30.520" v="7" actId="313"/>
        <pc:sldMkLst>
          <pc:docMk/>
          <pc:sldMk cId="887290642" sldId="10002"/>
        </pc:sldMkLst>
        <pc:spChg chg="mod">
          <ac:chgData name="Kris Shea" userId="baecdccb-f8ba-4abf-a93f-cdb3a68c40f8" providerId="ADAL" clId="{960503A2-8828-4B82-B6B3-2B6F1DFBE0AB}" dt="2026-04-08T16:48:30.520" v="7" actId="313"/>
          <ac:spMkLst>
            <pc:docMk/>
            <pc:sldMk cId="887290642" sldId="10002"/>
            <ac:spMk id="5" creationId="{89981952-6511-4752-97A0-1780FBC07E40}"/>
          </ac:spMkLst>
        </pc:spChg>
      </pc:sldChg>
      <pc:sldChg chg="modSp mod">
        <pc:chgData name="Kris Shea" userId="baecdccb-f8ba-4abf-a93f-cdb3a68c40f8" providerId="ADAL" clId="{960503A2-8828-4B82-B6B3-2B6F1DFBE0AB}" dt="2026-04-08T16:48:32.540" v="9" actId="313"/>
        <pc:sldMkLst>
          <pc:docMk/>
          <pc:sldMk cId="1587774936" sldId="10006"/>
        </pc:sldMkLst>
        <pc:spChg chg="mod">
          <ac:chgData name="Kris Shea" userId="baecdccb-f8ba-4abf-a93f-cdb3a68c40f8" providerId="ADAL" clId="{960503A2-8828-4B82-B6B3-2B6F1DFBE0AB}" dt="2026-04-08T16:48:32.540" v="9" actId="313"/>
          <ac:spMkLst>
            <pc:docMk/>
            <pc:sldMk cId="1587774936" sldId="10006"/>
            <ac:spMk id="73" creationId="{393F1C81-A1C2-8536-A786-DF5C1CABE38E}"/>
          </ac:spMkLst>
        </pc:spChg>
        <pc:graphicFrameChg chg="modGraphic">
          <ac:chgData name="Kris Shea" userId="baecdccb-f8ba-4abf-a93f-cdb3a68c40f8" providerId="ADAL" clId="{960503A2-8828-4B82-B6B3-2B6F1DFBE0AB}" dt="2026-04-08T16:48:31.549" v="8" actId="313"/>
          <ac:graphicFrameMkLst>
            <pc:docMk/>
            <pc:sldMk cId="1587774936" sldId="10006"/>
            <ac:graphicFrameMk id="23" creationId="{0688C517-B369-4249-B5AE-66EA1BC13F6B}"/>
          </ac:graphicFrameMkLst>
        </pc:graphicFrameChg>
      </pc:sldChg>
      <pc:sldChg chg="modSp mod">
        <pc:chgData name="Kris Shea" userId="baecdccb-f8ba-4abf-a93f-cdb3a68c40f8" providerId="ADAL" clId="{960503A2-8828-4B82-B6B3-2B6F1DFBE0AB}" dt="2026-04-08T16:48:29.579" v="6" actId="313"/>
        <pc:sldMkLst>
          <pc:docMk/>
          <pc:sldMk cId="2060164686" sldId="2147483627"/>
        </pc:sldMkLst>
        <pc:spChg chg="mod">
          <ac:chgData name="Kris Shea" userId="baecdccb-f8ba-4abf-a93f-cdb3a68c40f8" providerId="ADAL" clId="{960503A2-8828-4B82-B6B3-2B6F1DFBE0AB}" dt="2026-04-08T16:48:29.579" v="6" actId="313"/>
          <ac:spMkLst>
            <pc:docMk/>
            <pc:sldMk cId="2060164686" sldId="2147483627"/>
            <ac:spMk id="3" creationId="{239D7C66-D998-7906-6918-AE36D602A958}"/>
          </ac:spMkLst>
        </pc:spChg>
      </pc:sldChg>
      <pc:sldMasterChg chg="del delSldLayout">
        <pc:chgData name="Kris Shea" userId="baecdccb-f8ba-4abf-a93f-cdb3a68c40f8" providerId="ADAL" clId="{960503A2-8828-4B82-B6B3-2B6F1DFBE0AB}" dt="2026-04-08T13:53:05.904" v="1"/>
        <pc:sldMasterMkLst>
          <pc:docMk/>
          <pc:sldMasterMk cId="2699626419" sldId="2147483665"/>
        </pc:sldMasterMkLst>
        <pc:sldLayoutChg chg="del">
          <pc:chgData name="Kris Shea" userId="baecdccb-f8ba-4abf-a93f-cdb3a68c40f8" providerId="ADAL" clId="{960503A2-8828-4B82-B6B3-2B6F1DFBE0AB}" dt="2026-04-08T13:53:05.904" v="1"/>
          <pc:sldLayoutMkLst>
            <pc:docMk/>
            <pc:sldMasterMk cId="2699626419" sldId="2147483665"/>
            <pc:sldLayoutMk cId="512560386" sldId="2147483666"/>
          </pc:sldLayoutMkLst>
        </pc:sldLayoutChg>
        <pc:sldLayoutChg chg="del">
          <pc:chgData name="Kris Shea" userId="baecdccb-f8ba-4abf-a93f-cdb3a68c40f8" providerId="ADAL" clId="{960503A2-8828-4B82-B6B3-2B6F1DFBE0AB}" dt="2026-04-08T13:53:05.904" v="1"/>
          <pc:sldLayoutMkLst>
            <pc:docMk/>
            <pc:sldMasterMk cId="2699626419" sldId="2147483665"/>
            <pc:sldLayoutMk cId="3667912987" sldId="2147483667"/>
          </pc:sldLayoutMkLst>
        </pc:sldLayoutChg>
        <pc:sldLayoutChg chg="del">
          <pc:chgData name="Kris Shea" userId="baecdccb-f8ba-4abf-a93f-cdb3a68c40f8" providerId="ADAL" clId="{960503A2-8828-4B82-B6B3-2B6F1DFBE0AB}" dt="2026-04-08T13:53:05.904" v="1"/>
          <pc:sldLayoutMkLst>
            <pc:docMk/>
            <pc:sldMasterMk cId="2699626419" sldId="2147483665"/>
            <pc:sldLayoutMk cId="3161523138" sldId="2147483668"/>
          </pc:sldLayoutMkLst>
        </pc:sldLayoutChg>
        <pc:sldLayoutChg chg="del">
          <pc:chgData name="Kris Shea" userId="baecdccb-f8ba-4abf-a93f-cdb3a68c40f8" providerId="ADAL" clId="{960503A2-8828-4B82-B6B3-2B6F1DFBE0AB}" dt="2026-04-08T13:53:05.904" v="1"/>
          <pc:sldLayoutMkLst>
            <pc:docMk/>
            <pc:sldMasterMk cId="2699626419" sldId="2147483665"/>
            <pc:sldLayoutMk cId="2502175766" sldId="2147483669"/>
          </pc:sldLayoutMkLst>
        </pc:sldLayoutChg>
        <pc:sldLayoutChg chg="del">
          <pc:chgData name="Kris Shea" userId="baecdccb-f8ba-4abf-a93f-cdb3a68c40f8" providerId="ADAL" clId="{960503A2-8828-4B82-B6B3-2B6F1DFBE0AB}" dt="2026-04-08T13:53:05.904" v="1"/>
          <pc:sldLayoutMkLst>
            <pc:docMk/>
            <pc:sldMasterMk cId="2699626419" sldId="2147483665"/>
            <pc:sldLayoutMk cId="3040518178" sldId="2147483670"/>
          </pc:sldLayoutMkLst>
        </pc:sldLayoutChg>
        <pc:sldLayoutChg chg="del">
          <pc:chgData name="Kris Shea" userId="baecdccb-f8ba-4abf-a93f-cdb3a68c40f8" providerId="ADAL" clId="{960503A2-8828-4B82-B6B3-2B6F1DFBE0AB}" dt="2026-04-08T13:53:05.904" v="1"/>
          <pc:sldLayoutMkLst>
            <pc:docMk/>
            <pc:sldMasterMk cId="2699626419" sldId="2147483665"/>
            <pc:sldLayoutMk cId="1179916302" sldId="2147483671"/>
          </pc:sldLayoutMkLst>
        </pc:sldLayoutChg>
        <pc:sldLayoutChg chg="del">
          <pc:chgData name="Kris Shea" userId="baecdccb-f8ba-4abf-a93f-cdb3a68c40f8" providerId="ADAL" clId="{960503A2-8828-4B82-B6B3-2B6F1DFBE0AB}" dt="2026-04-08T13:53:05.904" v="1"/>
          <pc:sldLayoutMkLst>
            <pc:docMk/>
            <pc:sldMasterMk cId="2699626419" sldId="2147483665"/>
            <pc:sldLayoutMk cId="1381166846" sldId="2147483672"/>
          </pc:sldLayoutMkLst>
        </pc:sldLayoutChg>
        <pc:sldLayoutChg chg="del">
          <pc:chgData name="Kris Shea" userId="baecdccb-f8ba-4abf-a93f-cdb3a68c40f8" providerId="ADAL" clId="{960503A2-8828-4B82-B6B3-2B6F1DFBE0AB}" dt="2026-04-08T13:53:05.904" v="1"/>
          <pc:sldLayoutMkLst>
            <pc:docMk/>
            <pc:sldMasterMk cId="2699626419" sldId="2147483665"/>
            <pc:sldLayoutMk cId="1221925788" sldId="2147483673"/>
          </pc:sldLayoutMkLst>
        </pc:sldLayoutChg>
      </pc:sldMasterChg>
      <pc:sldMasterChg chg="del delSldLayout">
        <pc:chgData name="Kris Shea" userId="baecdccb-f8ba-4abf-a93f-cdb3a68c40f8" providerId="ADAL" clId="{960503A2-8828-4B82-B6B3-2B6F1DFBE0AB}" dt="2026-04-08T13:53:05.904" v="1"/>
        <pc:sldMasterMkLst>
          <pc:docMk/>
          <pc:sldMasterMk cId="3040643137" sldId="2147483711"/>
        </pc:sldMasterMkLst>
        <pc:sldLayoutChg chg="del">
          <pc:chgData name="Kris Shea" userId="baecdccb-f8ba-4abf-a93f-cdb3a68c40f8" providerId="ADAL" clId="{960503A2-8828-4B82-B6B3-2B6F1DFBE0AB}" dt="2026-04-08T13:53:05.904" v="1"/>
          <pc:sldLayoutMkLst>
            <pc:docMk/>
            <pc:sldMasterMk cId="3040643137" sldId="2147483711"/>
            <pc:sldLayoutMk cId="1451803892" sldId="2147483712"/>
          </pc:sldLayoutMkLst>
        </pc:sldLayoutChg>
      </pc:sldMasterChg>
      <pc:sldMasterChg chg="del delSldLayout">
        <pc:chgData name="Kris Shea" userId="baecdccb-f8ba-4abf-a93f-cdb3a68c40f8" providerId="ADAL" clId="{960503A2-8828-4B82-B6B3-2B6F1DFBE0AB}" dt="2026-04-08T13:53:05.904" v="1"/>
        <pc:sldMasterMkLst>
          <pc:docMk/>
          <pc:sldMasterMk cId="2674082236" sldId="2147483719"/>
        </pc:sldMasterMkLst>
        <pc:sldLayoutChg chg="del">
          <pc:chgData name="Kris Shea" userId="baecdccb-f8ba-4abf-a93f-cdb3a68c40f8" providerId="ADAL" clId="{960503A2-8828-4B82-B6B3-2B6F1DFBE0AB}" dt="2026-04-08T13:53:05.904" v="1"/>
          <pc:sldLayoutMkLst>
            <pc:docMk/>
            <pc:sldMasterMk cId="2674082236" sldId="2147483719"/>
            <pc:sldLayoutMk cId="3228369804" sldId="2147483720"/>
          </pc:sldLayoutMkLst>
        </pc:sldLayoutChg>
      </pc:sldMasterChg>
    </pc:docChg>
  </pc:docChgLst>
</pc:chgInfo>
</file>

<file path=ppt/comments/modernComment_271A_658408B0.xml><?xml version="1.0" encoding="utf-8"?>
<p188:cmLst xmlns:a="http://schemas.openxmlformats.org/drawingml/2006/main" xmlns:r="http://schemas.openxmlformats.org/officeDocument/2006/relationships" xmlns:p188="http://schemas.microsoft.com/office/powerpoint/2018/8/main">
  <p188:cm id="{792026F0-4787-4045-989B-B85E10DEE70C}" authorId="{88B8CB0F-0580-4B96-20A4-555AEABC0C03}" created="2025-10-16T23:09:04.984">
    <pc:sldMkLst xmlns:pc="http://schemas.microsoft.com/office/powerpoint/2013/main/command">
      <pc:docMk/>
      <pc:sldMk cId="1703151792" sldId="2147483635"/>
    </pc:sldMkLst>
    <p188:txBody>
      <a:bodyPr/>
      <a:lstStyle/>
      <a:p>
        <a:r>
          <a:rPr lang="en-US"/>
          <a:t>Regular Unified version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3778F6-2EFA-40EA-9FBF-05CE35B90513}"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AB383-EBC1-4A7E-9D91-AE6842F10F6D}" type="slidenum">
              <a:rPr lang="en-US" smtClean="0"/>
              <a:t>‹#›</a:t>
            </a:fld>
            <a:endParaRPr lang="en-US"/>
          </a:p>
        </p:txBody>
      </p:sp>
    </p:spTree>
    <p:extLst>
      <p:ext uri="{BB962C8B-B14F-4D97-AF65-F5344CB8AC3E}">
        <p14:creationId xmlns:p14="http://schemas.microsoft.com/office/powerpoint/2010/main" val="1718663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338138"/>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05B7E7-0FB2-4B87-ABF2-08C7345D51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8927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67107-53D3-4CCF-8756-27475A9ECA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3192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Every organization in the world is on a journey of transformation, and the speed of innovation is only increasing.</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What we’re seeing in the marketplace is that customers are looking for a technology vendor that can also be their transformation partner, that your support experience must be as innovative and comprehensive as the technology solutions themselves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These are just a few questions we’d like to ask to understand where you’re at in your transformation journey </a:t>
            </a:r>
            <a:r>
              <a:rPr lang="en-US" i="1"/>
              <a:t>(Note: depending on the length of your meeting, consider pausing and discussing these questions w/ your customer or asking them rhetorically, as though these are common questions every organization is grappling with)</a:t>
            </a:r>
            <a:endParaRPr lang="en-US"/>
          </a:p>
          <a:p>
            <a:pPr marL="171450" indent="-171450">
              <a:buFont typeface="Arial" panose="020B0604020202020204" pitchFamily="34" charset="0"/>
              <a:buChar char="•"/>
            </a:pPr>
            <a:endParaRPr lang="en-US"/>
          </a:p>
          <a:p>
            <a:pPr marL="628650" lvl="1" indent="-171450">
              <a:buFont typeface="Arial" panose="020B0604020202020204" pitchFamily="34" charset="0"/>
              <a:buChar char="•"/>
            </a:pPr>
            <a:r>
              <a:rPr lang="en-US"/>
              <a:t>Do you have a resiliency plan in place to keep your solutions healthy and operational?</a:t>
            </a:r>
          </a:p>
          <a:p>
            <a:pPr marL="628650" lvl="1" indent="-171450">
              <a:buFont typeface="Arial" panose="020B0604020202020204" pitchFamily="34" charset="0"/>
              <a:buChar char="•"/>
            </a:pPr>
            <a:endParaRPr lang="en-US"/>
          </a:p>
          <a:p>
            <a:pPr marL="628650" lvl="1" indent="-171450">
              <a:buFont typeface="Arial" panose="020B0604020202020204" pitchFamily="34" charset="0"/>
              <a:buChar char="•"/>
            </a:pPr>
            <a:r>
              <a:rPr lang="en-US"/>
              <a:t>Do you feel confident about your ability to withstand the growing number of cyber threats and bad actors?</a:t>
            </a:r>
          </a:p>
          <a:p>
            <a:pPr marL="628650" lvl="1" indent="-171450">
              <a:buFont typeface="Arial" panose="020B0604020202020204" pitchFamily="34" charset="0"/>
              <a:buChar char="•"/>
            </a:pPr>
            <a:endParaRPr lang="en-US"/>
          </a:p>
          <a:p>
            <a:pPr marL="628650" lvl="1" indent="-171450">
              <a:buFont typeface="Arial" panose="020B0604020202020204" pitchFamily="34" charset="0"/>
              <a:buChar char="•"/>
            </a:pPr>
            <a:r>
              <a:rPr lang="en-US"/>
              <a:t>What is your AI strategy – not just for implementing the technology, but making sure you get everything right – from people to processes to technology?</a:t>
            </a:r>
          </a:p>
          <a:p>
            <a:pPr marL="628650" lvl="1" indent="-171450">
              <a:buFont typeface="Arial" panose="020B0604020202020204" pitchFamily="34" charset="0"/>
              <a:buChar char="•"/>
            </a:pPr>
            <a:endParaRPr lang="en-US"/>
          </a:p>
          <a:p>
            <a:pPr marL="628650" lvl="1" indent="-171450">
              <a:buFont typeface="Arial" panose="020B0604020202020204" pitchFamily="34" charset="0"/>
              <a:buChar char="•"/>
            </a:pPr>
            <a:endParaRPr lang="en-US"/>
          </a:p>
          <a:p>
            <a:pPr marL="457200" lvl="1" indent="0">
              <a:buFont typeface="Arial" panose="020B0604020202020204" pitchFamily="34" charset="0"/>
              <a:buNone/>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E5444C-D560-412A-AB96-96AF1CC83E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431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effectLst/>
                <a:highlight>
                  <a:srgbClr val="00FF00"/>
                </a:highlight>
                <a:latin typeface="Segoe UI" panose="020B0502040204020203" pitchFamily="34" charset="0"/>
                <a:ea typeface="Calibri" panose="020F0502020204030204" pitchFamily="34" charset="0"/>
                <a:cs typeface="Arial" panose="020B0604020202020204" pitchFamily="34" charset="0"/>
              </a:rPr>
              <a:t>You know your business. We know our technology. We partner with you to provide direct and continuous access to unmatched expertise, with strategies designed to accelerate your success.</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indent="0">
              <a:buFont typeface="Arial" panose="020B0604020202020204" pitchFamily="34" charset="0"/>
              <a:buNone/>
            </a:pPr>
            <a:endParaRPr lang="en-US"/>
          </a:p>
          <a:p>
            <a:pPr marL="171450" indent="-171450">
              <a:buFont typeface="Arial" panose="020B0604020202020204" pitchFamily="34" charset="0"/>
              <a:buChar char="•"/>
            </a:pPr>
            <a:r>
              <a:rPr lang="en-US"/>
              <a:t>It starts with </a:t>
            </a:r>
            <a:r>
              <a:rPr lang="en-US" b="1"/>
              <a:t>Empowering your Cloud Success</a:t>
            </a:r>
            <a:r>
              <a:rPr lang="en-US" b="0"/>
              <a:t>. The Unified experience allows you to connect directly with our Cloud Solution Architects, who are experts on the products you rely on. It’s their job to make sure you are using our technologies to their full potential. With tailored and regular success planning, expert-led workshops, and enhanced reactive support experiences, Unified is the cornerstone for your success with Microsoft.</a:t>
            </a:r>
          </a:p>
          <a:p>
            <a:pPr marL="171450" indent="-171450">
              <a:buFont typeface="Arial" panose="020B0604020202020204" pitchFamily="34" charset="0"/>
              <a:buChar char="•"/>
            </a:pP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Next, Unified helps to Strengthen your Security and resiliency </a:t>
            </a:r>
            <a:r>
              <a:rPr lang="en-US" b="0"/>
              <a:t>to build a durable, safe, and high-performing organization. We help you increase the security and continuity of your technologies while minimizing downtime through deep technical engagements, proactive incident preparedness, and elevated support for your mission critical solutions.</a:t>
            </a:r>
            <a:endParaRPr lang="en-US" b="1"/>
          </a:p>
          <a:p>
            <a:pPr marL="171450" indent="-171450">
              <a:buFont typeface="Arial" panose="020B0604020202020204" pitchFamily="34" charset="0"/>
              <a:buChar char="•"/>
            </a:pPr>
            <a:r>
              <a:rPr lang="en-US"/>
              <a:t> </a:t>
            </a:r>
            <a:endParaRPr lang="en-US" b="0"/>
          </a:p>
          <a:p>
            <a:pPr marL="171450" indent="-171450">
              <a:buFont typeface="Arial" panose="020B0604020202020204" pitchFamily="34" charset="0"/>
              <a:buChar char="•"/>
            </a:pPr>
            <a:r>
              <a:rPr lang="en-US" b="0"/>
              <a:t>Finally, Unified helps you </a:t>
            </a:r>
            <a:r>
              <a:rPr lang="en-US" b="1"/>
              <a:t>Drive AI innovation. </a:t>
            </a:r>
            <a:r>
              <a:rPr lang="en-US" b="0"/>
              <a:t>Organizations everywhere are grappling with how to seize the full potential of AI, while safeguarding their business, their data, and their employees. With direct access to Microsoft experts, Unified allows you to kick start and maximize your AI and Copilot adoption to generate real business value and stay ahead of new technologies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Now let’s dive into each of these to show you how Unified helps you maximize your investments with Microsoft.</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67107-53D3-4CCF-8756-27475A9ECA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7451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The Microsoft Unified experience is not one-size-fits all. It’s a connected experience that can be tailored to fit the unique needs of our customers.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Unified offers foundational services, such as on-demand digital training and assessments, as-needed reactive support with escalation management, and advisory support for customers looking to brainstorm possible solutions to problems. These services are included with every Unified agreement and for every member of the organization</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On top of the foundational services, we have two types of specialized services. The first is Value Acceleration, which are led by Cloud Solution Architects and designed to help with solution adoption. These services are built from a foundation of Microsoft Intellectual Property, proven methodologies, and unmatched product expertise. And new IP gets developed all the time as products change and as new products become available</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The second type of specialized service is Mission Critical, which provides preventative, prescriptive care for your most critical solutions.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And your entire experience with Unified involves a strategic partnership, with Success Management Services providing you a direct connection into Microsoft.</a:t>
            </a:r>
          </a:p>
        </p:txBody>
      </p:sp>
    </p:spTree>
    <p:extLst>
      <p:ext uri="{BB962C8B-B14F-4D97-AF65-F5344CB8AC3E}">
        <p14:creationId xmlns:p14="http://schemas.microsoft.com/office/powerpoint/2010/main" val="54591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Pricing based on license spend for selected cloud(s), Software Assurance Benefits are not applicable</a:t>
            </a:r>
          </a:p>
          <a:p>
            <a:pPr marL="171450" indent="-171450">
              <a:buFont typeface="Arial" panose="020B0604020202020204" pitchFamily="34" charset="0"/>
              <a:buChar char="•"/>
            </a:pPr>
            <a:r>
              <a:rPr lang="en-US"/>
              <a:t>Reactive support available only for selected cloud(s)</a:t>
            </a:r>
          </a:p>
          <a:p>
            <a:pPr marL="171450" indent="-171450">
              <a:buFont typeface="Arial" panose="020B0604020202020204" pitchFamily="34" charset="0"/>
              <a:buChar char="•"/>
            </a:pPr>
            <a:r>
              <a:rPr lang="en-US"/>
              <a:t>Most Enhanced Solutions available (ARR available only with Azure Cloud)</a:t>
            </a:r>
          </a:p>
          <a:p>
            <a:pPr marL="171450" indent="-171450">
              <a:buFont typeface="Arial" panose="020B0604020202020204" pitchFamily="34" charset="0"/>
              <a:buChar char="•"/>
            </a:pPr>
            <a:r>
              <a:rPr lang="en-US"/>
              <a:t>Access to all on-demand learning content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1FCDCC-7723-4CD2-B2D3-E87A1833EF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389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79900-B318-C541-2548-7DD79694C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AABE2-5E37-7F23-0F33-A025DA2A9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7E645-A009-2F7E-E2F4-068CDA793328}"/>
              </a:ext>
            </a:extLst>
          </p:cNvPr>
          <p:cNvSpPr>
            <a:spLocks noGrp="1"/>
          </p:cNvSpPr>
          <p:nvPr>
            <p:ph type="body" idx="1"/>
          </p:nvPr>
        </p:nvSpPr>
        <p:spPr/>
        <p:txBody>
          <a:bodyPr/>
          <a:lstStyle/>
          <a:p>
            <a:r>
              <a:rPr lang="en-US" b="1"/>
              <a:t>Speaker Notes</a:t>
            </a:r>
            <a:endParaRPr lang="en-US" b="0"/>
          </a:p>
          <a:p>
            <a:pPr marL="171450" indent="-171450">
              <a:buFont typeface="Arial" panose="020B0604020202020204" pitchFamily="34" charset="0"/>
              <a:buChar char="•"/>
            </a:pPr>
            <a:r>
              <a:rPr lang="en-US" b="0"/>
              <a:t>One area we have been focusing on is how we can make Unified pricing less complex and more aligned to how you purchase and use Microsoft products</a:t>
            </a:r>
          </a:p>
          <a:p>
            <a:pPr marL="171450" indent="-171450">
              <a:buFont typeface="Arial" panose="020B0604020202020204" pitchFamily="34" charset="0"/>
              <a:buChar char="•"/>
            </a:pPr>
            <a:r>
              <a:rPr lang="en-US" b="0"/>
              <a:t>To that end, effective February 1, 2023, we implemented several pricing changes that will benefit your organization:</a:t>
            </a:r>
          </a:p>
          <a:p>
            <a:pPr marL="742950" marR="0" lvl="1" indent="-285750" algn="l">
              <a:spcBef>
                <a:spcPts val="0"/>
              </a:spcBef>
              <a:spcAft>
                <a:spcPts val="0"/>
              </a:spcAft>
              <a:buFont typeface="Arial" panose="020B0604020202020204" pitchFamily="34" charset="0"/>
              <a:buChar char="•"/>
            </a:pPr>
            <a:r>
              <a:rPr lang="en-US" sz="1800" b="1" i="0">
                <a:solidFill>
                  <a:srgbClr val="0C0C0C"/>
                </a:solidFill>
                <a:effectLst/>
                <a:latin typeface="Segoe UI Semibold" panose="020B0702040204020203" pitchFamily="34" charset="0"/>
              </a:rPr>
              <a:t>Simplify how pricing is calculated</a:t>
            </a:r>
            <a:r>
              <a:rPr lang="en-US" sz="1800" b="0" i="0">
                <a:solidFill>
                  <a:srgbClr val="0C0C0C"/>
                </a:solidFill>
                <a:effectLst/>
                <a:latin typeface="Segoe UI" panose="020B0502040204020203" pitchFamily="34" charset="0"/>
              </a:rPr>
              <a:t>: This will help you see a clearer connection between your Microsoft technology purchases last year last year and your Unified price.</a:t>
            </a:r>
            <a:endParaRPr lang="en-US" sz="1800" b="0" i="0">
              <a:solidFill>
                <a:srgbClr val="000000"/>
              </a:solidFill>
              <a:effectLst/>
              <a:latin typeface="Calibri" panose="020F0502020204030204" pitchFamily="34" charset="0"/>
            </a:endParaRPr>
          </a:p>
          <a:p>
            <a:pPr marL="742950" marR="0" lvl="1" indent="-285750" algn="l">
              <a:spcBef>
                <a:spcPts val="0"/>
              </a:spcBef>
              <a:spcAft>
                <a:spcPts val="0"/>
              </a:spcAft>
              <a:buFont typeface="Arial" panose="020B0604020202020204" pitchFamily="34" charset="0"/>
              <a:buChar char="•"/>
            </a:pPr>
            <a:r>
              <a:rPr lang="en-US" sz="1800" b="1" i="0">
                <a:solidFill>
                  <a:srgbClr val="0C0C0C"/>
                </a:solidFill>
                <a:effectLst/>
                <a:latin typeface="Segoe UI Semibold" panose="020B0702040204020203" pitchFamily="34" charset="0"/>
              </a:rPr>
              <a:t>Unite pricing tiers across products</a:t>
            </a:r>
            <a:r>
              <a:rPr lang="en-US" sz="1800" b="0" i="0">
                <a:solidFill>
                  <a:srgbClr val="0C0C0C"/>
                </a:solidFill>
                <a:effectLst/>
                <a:latin typeface="Segoe UI" panose="020B0502040204020203" pitchFamily="34" charset="0"/>
              </a:rPr>
              <a:t>: Get pricing aligned with your changing business needs, with pricing tiers united across similar product type.</a:t>
            </a:r>
            <a:endParaRPr lang="en-US" sz="1800" b="0" i="0">
              <a:solidFill>
                <a:srgbClr val="000000"/>
              </a:solidFill>
              <a:effectLst/>
              <a:latin typeface="Calibri" panose="020F0502020204030204" pitchFamily="34" charset="0"/>
            </a:endParaRPr>
          </a:p>
          <a:p>
            <a:pPr marL="742950" marR="0" lvl="1" indent="-285750" algn="l">
              <a:spcBef>
                <a:spcPts val="0"/>
              </a:spcBef>
              <a:spcAft>
                <a:spcPts val="0"/>
              </a:spcAft>
              <a:buFont typeface="Arial" panose="020B0604020202020204" pitchFamily="34" charset="0"/>
              <a:buChar char="•"/>
            </a:pPr>
            <a:r>
              <a:rPr lang="en-US" sz="1800" b="1" i="0">
                <a:solidFill>
                  <a:srgbClr val="0C0C0C"/>
                </a:solidFill>
                <a:effectLst/>
                <a:latin typeface="Segoe UI Semibold" panose="020B0702040204020203" pitchFamily="34" charset="0"/>
              </a:rPr>
              <a:t>Improve value for our customers</a:t>
            </a:r>
            <a:r>
              <a:rPr lang="en-US" sz="1800" b="0" i="0">
                <a:solidFill>
                  <a:srgbClr val="0C0C0C"/>
                </a:solidFill>
                <a:effectLst/>
                <a:latin typeface="Segoe UI" panose="020B0502040204020203" pitchFamily="34" charset="0"/>
              </a:rPr>
              <a:t>: User rates, including Modern Workplace and all our Microsoft 365 products, have been reduced by 0.5% for all tiers, which ensures we’re a price performance leader across multiple products for support</a:t>
            </a:r>
            <a:endParaRPr lang="en-US" sz="1800" b="0" i="0">
              <a:solidFill>
                <a:srgbClr val="000000"/>
              </a:solidFill>
              <a:effectLst/>
              <a:latin typeface="Calibri" panose="020F0502020204030204" pitchFamily="34" charset="0"/>
            </a:endParaRPr>
          </a:p>
          <a:p>
            <a:pPr marL="628650" lvl="1" indent="-171450">
              <a:buFont typeface="Arial" panose="020B0604020202020204" pitchFamily="34" charset="0"/>
              <a:buChar char="•"/>
            </a:pPr>
            <a:endParaRPr lang="en-US" b="0"/>
          </a:p>
          <a:p>
            <a:pPr marL="171450" indent="-171450">
              <a:buFont typeface="Arial" panose="020B0604020202020204" pitchFamily="34" charset="0"/>
              <a:buChar char="•"/>
            </a:pPr>
            <a:endParaRPr lang="en-US" b="0"/>
          </a:p>
        </p:txBody>
      </p:sp>
      <p:sp>
        <p:nvSpPr>
          <p:cNvPr id="4" name="Slide Number Placeholder 3">
            <a:extLst>
              <a:ext uri="{FF2B5EF4-FFF2-40B4-BE49-F238E27FC236}">
                <a16:creationId xmlns:a16="http://schemas.microsoft.com/office/drawing/2014/main" id="{A7AC3877-A289-202D-DDA3-6D4BCA6AD7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3AD07D-750E-4DB0-8CFF-D950FFC148E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498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b="0">
                <a:effectLst/>
                <a:latin typeface="Segoe UI" panose="020B0502040204020203" pitchFamily="34" charset="0"/>
                <a:ea typeface="Calibri" panose="020F0502020204030204" pitchFamily="34" charset="0"/>
              </a:rPr>
              <a:t>These specialized services can be purchased using a flexible portion of your agreement or as add-on services.</a:t>
            </a:r>
          </a:p>
          <a:p>
            <a:pPr marL="285750" indent="-285750">
              <a:buFont typeface="Arial" panose="020B0604020202020204" pitchFamily="34" charset="0"/>
              <a:buChar char="•"/>
            </a:pPr>
            <a:endParaRPr lang="en-US" sz="1800" b="0">
              <a:effectLst/>
              <a:latin typeface="Segoe UI" panose="020B0502040204020203" pitchFamily="34" charset="0"/>
              <a:ea typeface="Calibri" panose="020F0502020204030204" pitchFamily="34" charset="0"/>
            </a:endParaRPr>
          </a:p>
          <a:p>
            <a:pPr marL="285750" indent="-285750">
              <a:buFont typeface="Arial" panose="020B0604020202020204" pitchFamily="34" charset="0"/>
              <a:buChar char="•"/>
            </a:pPr>
            <a:r>
              <a:rPr lang="en-US" sz="1800" b="1">
                <a:effectLst/>
                <a:latin typeface="Segoe UI" panose="020B0502040204020203" pitchFamily="34" charset="0"/>
                <a:ea typeface="Calibri" panose="020F0502020204030204" pitchFamily="34" charset="0"/>
              </a:rPr>
              <a:t>Value Acceleration Services </a:t>
            </a:r>
            <a:r>
              <a:rPr lang="en-US" sz="1800" b="0">
                <a:effectLst/>
                <a:latin typeface="Segoe UI" panose="020B0502040204020203" pitchFamily="34" charset="0"/>
                <a:ea typeface="Calibri" panose="020F0502020204030204" pitchFamily="34" charset="0"/>
              </a:rPr>
              <a:t>are b</a:t>
            </a:r>
            <a:r>
              <a:rPr lang="en-US" sz="1800">
                <a:effectLst/>
                <a:latin typeface="Segoe UI" panose="020B0502040204020203" pitchFamily="34" charset="0"/>
                <a:ea typeface="Calibri" panose="020F0502020204030204" pitchFamily="34" charset="0"/>
              </a:rPr>
              <a:t>uilt upon the robust foundation of Microsoft Intellectual Property, coupled with our deep product expertise and proven methodologies</a:t>
            </a:r>
          </a:p>
          <a:p>
            <a:pPr marL="285750" indent="-285750">
              <a:buFont typeface="Arial" panose="020B0604020202020204" pitchFamily="34" charset="0"/>
              <a:buChar char="•"/>
            </a:pPr>
            <a:endParaRPr lang="en-US" sz="1800">
              <a:effectLst/>
              <a:latin typeface="Segoe UI" panose="020B0502040204020203" pitchFamily="34" charset="0"/>
              <a:ea typeface="Calibri" panose="020F0502020204030204" pitchFamily="34" charset="0"/>
            </a:endParaRPr>
          </a:p>
          <a:p>
            <a:pPr marL="742950" lvl="1" indent="-285750">
              <a:buFont typeface="Arial" panose="020B0604020202020204" pitchFamily="34" charset="0"/>
              <a:buChar char="•"/>
            </a:pPr>
            <a:r>
              <a:rPr lang="en-US" sz="1800">
                <a:effectLst/>
                <a:latin typeface="Segoe UI" panose="020B0502040204020203" pitchFamily="34" charset="0"/>
                <a:ea typeface="Calibri" panose="020F0502020204030204" pitchFamily="34" charset="0"/>
              </a:rPr>
              <a:t>Unified customers have the flexibility to choose the engagement model that best aligns with their needs. </a:t>
            </a:r>
          </a:p>
          <a:p>
            <a:pPr marL="742950" lvl="1" indent="-285750">
              <a:buFont typeface="Arial" panose="020B0604020202020204" pitchFamily="34" charset="0"/>
              <a:buChar char="•"/>
            </a:pPr>
            <a:endParaRPr lang="en-US" sz="1800">
              <a:effectLst/>
              <a:latin typeface="Segoe UI" panose="020B0502040204020203" pitchFamily="34" charset="0"/>
              <a:ea typeface="Calibri" panose="020F0502020204030204" pitchFamily="34" charset="0"/>
            </a:endParaRPr>
          </a:p>
          <a:p>
            <a:pPr marL="742950" lvl="1" indent="-285750">
              <a:buFont typeface="Arial" panose="020B0604020202020204" pitchFamily="34" charset="0"/>
              <a:buChar char="•"/>
            </a:pPr>
            <a:r>
              <a:rPr lang="en-US" sz="1800">
                <a:effectLst/>
                <a:latin typeface="Segoe UI" panose="020B0502040204020203" pitchFamily="34" charset="0"/>
                <a:ea typeface="Calibri" panose="020F0502020204030204" pitchFamily="34" charset="0"/>
              </a:rPr>
              <a:t>Whether you are seeking immediate results or a more comprehensive, long-term strategic collaboration, our Microsoft-led engagements are designed to accelerate outcomes across your key solutions, ensuring you get the most from your technology investment.</a:t>
            </a:r>
          </a:p>
          <a:p>
            <a:endParaRPr lang="en-US" sz="1800">
              <a:effectLst/>
              <a:latin typeface="Segoe UI" panose="020B0502040204020203" pitchFamily="34" charset="0"/>
              <a:ea typeface="Calibri" panose="020F0502020204030204" pitchFamily="34" charset="0"/>
            </a:endParaRPr>
          </a:p>
          <a:p>
            <a:pPr marL="285750" marR="0" indent="-285750">
              <a:lnSpc>
                <a:spcPct val="107000"/>
              </a:lnSpc>
              <a:spcBef>
                <a:spcPts val="720"/>
              </a:spcBef>
              <a:spcAft>
                <a:spcPts val="720"/>
              </a:spcAft>
              <a:buFont typeface="Arial" panose="020B0604020202020204" pitchFamily="34" charset="0"/>
              <a:buChar char="•"/>
            </a:pPr>
            <a:r>
              <a:rPr lang="en-US" sz="1800" b="1">
                <a:effectLst/>
                <a:latin typeface="Segoe UI" panose="020B0502040204020203" pitchFamily="34" charset="0"/>
                <a:ea typeface="Calibri" panose="020F0502020204030204" pitchFamily="34" charset="0"/>
                <a:cs typeface="Arial" panose="020B0604020202020204" pitchFamily="34" charset="0"/>
              </a:rPr>
              <a:t>Mission Critical Services </a:t>
            </a:r>
            <a:r>
              <a:rPr lang="en-US" sz="1800" b="0">
                <a:effectLst/>
                <a:latin typeface="Segoe UI" panose="020B0502040204020203" pitchFamily="34" charset="0"/>
                <a:ea typeface="Calibri" panose="020F0502020204030204" pitchFamily="34" charset="0"/>
                <a:cs typeface="Arial" panose="020B0604020202020204" pitchFamily="34" charset="0"/>
              </a:rPr>
              <a:t>help customers e</a:t>
            </a:r>
            <a:r>
              <a:rPr lang="en-US" sz="1800">
                <a:effectLst/>
                <a:latin typeface="Segoe UI" panose="020B0502040204020203" pitchFamily="34" charset="0"/>
                <a:ea typeface="Calibri" panose="020F0502020204030204" pitchFamily="34" charset="0"/>
                <a:cs typeface="Arial" panose="020B0604020202020204" pitchFamily="34" charset="0"/>
              </a:rPr>
              <a:t>mbark on their journey with confidence, knowing our unmatched expertise is by their side. </a:t>
            </a:r>
          </a:p>
          <a:p>
            <a:pPr marL="285750" marR="0" indent="-285750">
              <a:lnSpc>
                <a:spcPct val="107000"/>
              </a:lnSpc>
              <a:spcBef>
                <a:spcPts val="720"/>
              </a:spcBef>
              <a:spcAft>
                <a:spcPts val="720"/>
              </a:spcAft>
              <a:buFont typeface="Arial" panose="020B0604020202020204" pitchFamily="34" charset="0"/>
              <a:buChar char="•"/>
            </a:pPr>
            <a:endParaRPr lang="en-US" sz="1800">
              <a:effectLst/>
              <a:latin typeface="Segoe UI" panose="020B0502040204020203" pitchFamily="34" charset="0"/>
              <a:ea typeface="Calibri" panose="020F0502020204030204" pitchFamily="34" charset="0"/>
              <a:cs typeface="Arial" panose="020B0604020202020204" pitchFamily="34" charset="0"/>
            </a:endParaRPr>
          </a:p>
          <a:p>
            <a:pPr marL="742950" marR="0" lvl="1" indent="-285750">
              <a:lnSpc>
                <a:spcPct val="107000"/>
              </a:lnSpc>
              <a:spcBef>
                <a:spcPts val="720"/>
              </a:spcBef>
              <a:spcAft>
                <a:spcPts val="720"/>
              </a:spcAft>
              <a:buFont typeface="Arial" panose="020B0604020202020204" pitchFamily="34" charset="0"/>
              <a:buChar char="•"/>
            </a:pPr>
            <a:r>
              <a:rPr lang="en-US" sz="1800">
                <a:effectLst/>
                <a:latin typeface="Segoe UI" panose="020B0502040204020203" pitchFamily="34" charset="0"/>
                <a:ea typeface="Calibri" panose="020F0502020204030204" pitchFamily="34" charset="0"/>
                <a:cs typeface="Arial" panose="020B0604020202020204" pitchFamily="34" charset="0"/>
              </a:rPr>
              <a:t>Your assigned technical team, equipped with advanced capabilities, delivers a holistic approach—proactive, preventative, and reactive—to meet your business and technical needs, ensuring your priorities are achieved with precision and success.</a:t>
            </a:r>
          </a:p>
          <a:p>
            <a:pPr marL="742950" marR="0" lvl="1" indent="-285750">
              <a:lnSpc>
                <a:spcPct val="107000"/>
              </a:lnSpc>
              <a:spcBef>
                <a:spcPts val="720"/>
              </a:spcBef>
              <a:spcAft>
                <a:spcPts val="720"/>
              </a:spcAft>
              <a:buFont typeface="Arial" panose="020B0604020202020204" pitchFamily="34" charset="0"/>
              <a:buChar char="•"/>
            </a:pPr>
            <a:endParaRPr lang="en-US" sz="1800">
              <a:effectLst/>
              <a:latin typeface="Segoe UI" panose="020B0502040204020203" pitchFamily="34" charset="0"/>
              <a:ea typeface="Calibri" panose="020F0502020204030204" pitchFamily="34" charset="0"/>
              <a:cs typeface="Arial" panose="020B0604020202020204" pitchFamily="34" charset="0"/>
            </a:endParaRPr>
          </a:p>
          <a:p>
            <a:pPr marL="742950" marR="0" lvl="1" indent="-285750">
              <a:lnSpc>
                <a:spcPct val="107000"/>
              </a:lnSpc>
              <a:spcBef>
                <a:spcPts val="720"/>
              </a:spcBef>
              <a:spcAft>
                <a:spcPts val="720"/>
              </a:spcAft>
              <a:buFont typeface="Arial" panose="020B0604020202020204" pitchFamily="34" charset="0"/>
              <a:buChar char="•"/>
            </a:pPr>
            <a:r>
              <a:rPr lang="en-US" sz="1800">
                <a:effectLst/>
                <a:latin typeface="Segoe UI" panose="020B0502040204020203" pitchFamily="34" charset="0"/>
                <a:ea typeface="Calibri" panose="020F0502020204030204" pitchFamily="34" charset="0"/>
                <a:cs typeface="Arial" panose="020B0604020202020204" pitchFamily="34" charset="0"/>
              </a:rPr>
              <a:t>There are services available around critical events, services for single products, or advanced services for your business-critical workloads</a:t>
            </a:r>
          </a:p>
          <a:p>
            <a:pPr marL="0" marR="0">
              <a:lnSpc>
                <a:spcPct val="107000"/>
              </a:lnSpc>
              <a:spcBef>
                <a:spcPts val="720"/>
              </a:spcBef>
              <a:spcAft>
                <a:spcPts val="72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3AB383-EBC1-4A7E-9D91-AE6842F10F6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2353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5C2178-293D-41D6-8E69-B1581B3A26A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5038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E86D-18D8-1D96-90AF-B26FAC2C0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1C96B-0266-B838-A84D-8CF23EA24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B6407-5EA0-A37C-216A-C00F15EC4B22}"/>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E77DB020-597B-3CEC-9675-315DF1CB0672}"/>
              </a:ext>
            </a:extLst>
          </p:cNvPr>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28A7088-9EBE-FC1E-0B10-C97F1B411853}"/>
              </a:ext>
            </a:extLst>
          </p:cNvPr>
          <p:cNvSpPr>
            <a:spLocks noGrp="1"/>
          </p:cNvSpPr>
          <p:nvPr>
            <p:ph type="ftr" sz="quarter" idx="4"/>
          </p:nvPr>
        </p:nvSpPr>
        <p:spPr/>
        <p:txBody>
          <a:bodyPr/>
          <a:lstStyle/>
          <a:p>
            <a:pPr marL="406034"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a:t>
            </a:r>
          </a:p>
        </p:txBody>
      </p:sp>
      <p:sp>
        <p:nvSpPr>
          <p:cNvPr id="6" name="Date Placeholder 5">
            <a:extLst>
              <a:ext uri="{FF2B5EF4-FFF2-40B4-BE49-F238E27FC236}">
                <a16:creationId xmlns:a16="http://schemas.microsoft.com/office/drawing/2014/main" id="{CF5BB544-EE3C-5047-ED8F-A55C0F422C2D}"/>
              </a:ext>
            </a:extLst>
          </p:cNvPr>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E24894F-0918-40D3-A844-CC3E0FBEDC15}"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4/9/2026 8:59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4C907E21-4441-B2BB-E0AC-8D71B87F59B6}"/>
              </a:ext>
            </a:extLst>
          </p:cNvPr>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2175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l" defTabSz="932239">
              <a:buSzPct val="90000"/>
              <a:buNone/>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C68364-C5FF-4998-8DCF-C72070C0C6BB}"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764448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E951C-0E7B-54F4-4097-D6A4DEDEA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1B04C-BABE-E0F6-CC9F-29A6A816D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1DF752-5BB6-F20E-8F70-9A3341C11E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F7140B-FF0E-BC6B-7843-39578773EA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5C2178-293D-41D6-8E69-B1581B3A26A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2696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81B94-638D-B257-95FE-C2AD9FD51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29DB5-3C69-AA61-4192-6E0A16DC3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20268-5C51-66BA-AA7E-CC44586519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40B7FA-9312-6184-1666-9E9BD7E7E9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5C2178-293D-41D6-8E69-B1581B3A26A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5281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a list of features included with Microsoft Unified Enterprise. You can see the full services description at aka.ms/</a:t>
            </a:r>
            <a:r>
              <a:rPr lang="en-US" err="1"/>
              <a:t>UnifiedServicesDescription</a:t>
            </a:r>
            <a:r>
              <a:rPr lang="en-US"/>
              <a:t>. </a:t>
            </a:r>
          </a:p>
        </p:txBody>
      </p:sp>
    </p:spTree>
    <p:extLst>
      <p:ext uri="{BB962C8B-B14F-4D97-AF65-F5344CB8AC3E}">
        <p14:creationId xmlns:p14="http://schemas.microsoft.com/office/powerpoint/2010/main" val="911453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406034"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a:t>
            </a:r>
          </a:p>
        </p:txBody>
      </p:sp>
      <p:sp>
        <p:nvSpPr>
          <p:cNvPr id="6" name="Date Placeholder 5"/>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CA774D74-42AA-4430-AA84-604706287FC9}"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4/9/2026 8:59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98418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21B63-D6DC-57D3-DBCF-A677622FA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3CF2E-489D-69DE-A0FE-DD3B7B270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9DF79-D715-96A6-D0F3-FF8A4D55ACA3}"/>
              </a:ext>
            </a:extLst>
          </p:cNvPr>
          <p:cNvSpPr>
            <a:spLocks noGrp="1"/>
          </p:cNvSpPr>
          <p:nvPr>
            <p:ph type="body" idx="1"/>
          </p:nvPr>
        </p:nvSpPr>
        <p:spPr/>
        <p:txBody>
          <a:bodyPr/>
          <a:lstStyle/>
          <a:p>
            <a:pPr marL="171450" indent="-171450">
              <a:buFont typeface="Arial" panose="020B0604020202020204" pitchFamily="34" charset="0"/>
              <a:buChar char="•"/>
            </a:pPr>
            <a:r>
              <a:rPr lang="en-US"/>
              <a:t>Customers that use their Unified agreement as a success contract, instead of a reactive support contract, see tremendous value and returns on their investment. </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Forrester calculated a 3-year ROI of 225%, and a large percentage of respondents saying Unified reduced ticket volume, help them migrate faster, and accelerate implementation of new technologies.</a:t>
            </a:r>
          </a:p>
        </p:txBody>
      </p:sp>
      <p:sp>
        <p:nvSpPr>
          <p:cNvPr id="4" name="Slide Number Placeholder 3">
            <a:extLst>
              <a:ext uri="{FF2B5EF4-FFF2-40B4-BE49-F238E27FC236}">
                <a16:creationId xmlns:a16="http://schemas.microsoft.com/office/drawing/2014/main" id="{19ECA1B9-D410-AB06-2684-54269EB6E3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67107-53D3-4CCF-8756-27475A9ECA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3872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5" name="Footer Placeholder 4">
            <a:extLst>
              <a:ext uri="{FF2B5EF4-FFF2-40B4-BE49-F238E27FC236}">
                <a16:creationId xmlns:a16="http://schemas.microsoft.com/office/drawing/2014/main" id="{EA79BEBF-D5A4-7CB8-0349-3E23784F5892}"/>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Slide Number Placeholder 5">
            <a:extLst>
              <a:ext uri="{FF2B5EF4-FFF2-40B4-BE49-F238E27FC236}">
                <a16:creationId xmlns:a16="http://schemas.microsoft.com/office/drawing/2014/main" id="{58D5D4EC-B06D-8A6D-31D1-1A79E298A67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69478358"/>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6" name="Footer Placeholder 4">
            <a:extLst>
              <a:ext uri="{FF2B5EF4-FFF2-40B4-BE49-F238E27FC236}">
                <a16:creationId xmlns:a16="http://schemas.microsoft.com/office/drawing/2014/main" id="{9750CD5E-96C4-6C6A-79C8-8ED183785269}"/>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Slide Number Placeholder 5">
            <a:extLst>
              <a:ext uri="{FF2B5EF4-FFF2-40B4-BE49-F238E27FC236}">
                <a16:creationId xmlns:a16="http://schemas.microsoft.com/office/drawing/2014/main" id="{7B50DA2B-5043-021B-32E6-04E91E98F36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321656722"/>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50131"/>
            <a:ext cx="11009799"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5" name="Slide Number Placeholder 5">
            <a:extLst>
              <a:ext uri="{FF2B5EF4-FFF2-40B4-BE49-F238E27FC236}">
                <a16:creationId xmlns:a16="http://schemas.microsoft.com/office/drawing/2014/main" id="{15EB9C70-8859-4951-B694-BA57508A24FD}"/>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Footer Placeholder 4">
            <a:extLst>
              <a:ext uri="{FF2B5EF4-FFF2-40B4-BE49-F238E27FC236}">
                <a16:creationId xmlns:a16="http://schemas.microsoft.com/office/drawing/2014/main" id="{88B78925-1029-4792-A780-0616E55A8059}"/>
              </a:ext>
            </a:extLst>
          </p:cNvPr>
          <p:cNvSpPr>
            <a:spLocks noGrp="1"/>
          </p:cNvSpPr>
          <p:nvPr>
            <p:ph type="ftr" sz="quarter" idx="3"/>
          </p:nvPr>
        </p:nvSpPr>
        <p:spPr>
          <a:xfrm>
            <a:off x="4038600" y="6564313"/>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635572958"/>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EB9E94AF-A18E-5B57-67BF-1C30121D96BD}"/>
              </a:ext>
            </a:extLst>
          </p:cNvPr>
          <p:cNvSpPr>
            <a:spLocks noGrp="1"/>
          </p:cNvSpPr>
          <p:nvPr>
            <p:ph type="title" idx="4294967295"/>
          </p:nvPr>
        </p:nvSpPr>
        <p:spPr>
          <a:xfrm>
            <a:off x="575481" y="599436"/>
            <a:ext cx="11018520" cy="492443"/>
          </a:xfrm>
        </p:spPr>
        <p:txBody>
          <a:bodyPr/>
          <a:lstStyle/>
          <a:p>
            <a:r>
              <a:rPr lang="en-US" sz="3200">
                <a:solidFill>
                  <a:srgbClr val="002060"/>
                </a:solidFill>
                <a:latin typeface="+mj-lt"/>
              </a:rPr>
              <a:t>A partnership for your transformation journey</a:t>
            </a:r>
          </a:p>
        </p:txBody>
      </p:sp>
    </p:spTree>
    <p:extLst>
      <p:ext uri="{BB962C8B-B14F-4D97-AF65-F5344CB8AC3E}">
        <p14:creationId xmlns:p14="http://schemas.microsoft.com/office/powerpoint/2010/main" val="501898905"/>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441273"/>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565542868"/>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140262"/>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018990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4273"/>
            <a:ext cx="11018520"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505930913"/>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quare photo">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6630540-C375-4C87-9A67-864AB4A350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82042" y="421303"/>
            <a:ext cx="2551471" cy="339216"/>
          </a:xfrm>
          <a:prstGeom prst="rect">
            <a:avLst/>
          </a:prstGeom>
        </p:spPr>
      </p:pic>
    </p:spTree>
    <p:extLst>
      <p:ext uri="{BB962C8B-B14F-4D97-AF65-F5344CB8AC3E}">
        <p14:creationId xmlns:p14="http://schemas.microsoft.com/office/powerpoint/2010/main" val="24358771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Slide Number Placeholder 5">
            <a:extLst>
              <a:ext uri="{FF2B5EF4-FFF2-40B4-BE49-F238E27FC236}">
                <a16:creationId xmlns:a16="http://schemas.microsoft.com/office/drawing/2014/main" id="{D479F983-0722-4073-9F03-12B86428859D}"/>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93852135"/>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square photo">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6630540-C375-4C87-9A67-864AB4A350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82042" y="421303"/>
            <a:ext cx="2551471" cy="339216"/>
          </a:xfrm>
          <a:prstGeom prst="rect">
            <a:avLst/>
          </a:prstGeom>
        </p:spPr>
      </p:pic>
    </p:spTree>
    <p:extLst>
      <p:ext uri="{BB962C8B-B14F-4D97-AF65-F5344CB8AC3E}">
        <p14:creationId xmlns:p14="http://schemas.microsoft.com/office/powerpoint/2010/main" val="24358771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492443"/>
          </a:xfrm>
        </p:spPr>
        <p:txBody>
          <a:bodyPr/>
          <a:lstStyle>
            <a:lvl1pPr algn="l" defTabSz="932742" rtl="0" eaLnBrk="1" latinLnBrk="0" hangingPunct="1">
              <a:lnSpc>
                <a:spcPct val="100000"/>
              </a:lnSpc>
              <a:spcBef>
                <a:spcPct val="0"/>
              </a:spcBef>
              <a:buNone/>
              <a:defRPr lang="en-US" sz="32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a:defRPr/>
            </a:pPr>
            <a:r>
              <a:rPr lang="en-US">
                <a:solidFill>
                  <a:schemeClr val="tx1"/>
                </a:solidFill>
              </a:rPr>
              <a:t>Microsoft Confidential – Internal Use Only</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061290905"/>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5" name="Footer Placeholder 4">
            <a:extLst>
              <a:ext uri="{FF2B5EF4-FFF2-40B4-BE49-F238E27FC236}">
                <a16:creationId xmlns:a16="http://schemas.microsoft.com/office/drawing/2014/main" id="{EA79BEBF-D5A4-7CB8-0349-3E23784F5892}"/>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Slide Number Placeholder 5">
            <a:extLst>
              <a:ext uri="{FF2B5EF4-FFF2-40B4-BE49-F238E27FC236}">
                <a16:creationId xmlns:a16="http://schemas.microsoft.com/office/drawing/2014/main" id="{58D5D4EC-B06D-8A6D-31D1-1A79E298A67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69478358"/>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492443"/>
          </a:xfrm>
        </p:spPr>
        <p:txBody>
          <a:bodyPr/>
          <a:lstStyle>
            <a:lvl1pPr algn="l" defTabSz="932742" rtl="0" eaLnBrk="1" latinLnBrk="0" hangingPunct="1">
              <a:lnSpc>
                <a:spcPct val="100000"/>
              </a:lnSpc>
              <a:spcBef>
                <a:spcPct val="0"/>
              </a:spcBef>
              <a:buNone/>
              <a:defRPr lang="en-US" sz="32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a:defRPr/>
            </a:pPr>
            <a:endParaRPr lang="en-US">
              <a:solidFill>
                <a:schemeClr val="tx1"/>
              </a:solidFill>
            </a:endParaRP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28369804"/>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441273"/>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70531172"/>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6" name="Footer Placeholder 4">
            <a:extLst>
              <a:ext uri="{FF2B5EF4-FFF2-40B4-BE49-F238E27FC236}">
                <a16:creationId xmlns:a16="http://schemas.microsoft.com/office/drawing/2014/main" id="{9750CD5E-96C4-6C6A-79C8-8ED183785269}"/>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Slide Number Placeholder 5">
            <a:extLst>
              <a:ext uri="{FF2B5EF4-FFF2-40B4-BE49-F238E27FC236}">
                <a16:creationId xmlns:a16="http://schemas.microsoft.com/office/drawing/2014/main" id="{7B50DA2B-5043-021B-32E6-04E91E98F36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930182877"/>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441273"/>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565542868"/>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5F760DB7-87DD-AF0A-AFA2-2C935C8CDDFF}"/>
              </a:ext>
            </a:extLst>
          </p:cNvPr>
          <p:cNvSpPr>
            <a:spLocks noGrp="1"/>
          </p:cNvSpPr>
          <p:nvPr>
            <p:ph type="sldNum" sz="quarter" idx="4"/>
          </p:nvPr>
        </p:nvSpPr>
        <p:spPr>
          <a:xfrm>
            <a:off x="11602720" y="6454577"/>
            <a:ext cx="586232" cy="215444"/>
          </a:xfrm>
          <a:prstGeom prst="rect">
            <a:avLst/>
          </a:prstGeom>
        </p:spPr>
        <p:txBody>
          <a:bodyPr vert="horz" wrap="square" lIns="91440" tIns="45720" rIns="91440" bIns="45720" rtlCol="0" anchor="ctr">
            <a:spAutoFit/>
          </a:bodyPr>
          <a:lstStyle>
            <a:lvl1pPr algn="ctr">
              <a:defRPr sz="800">
                <a:solidFill>
                  <a:schemeClr val="tx1"/>
                </a:solidFill>
              </a:defRPr>
            </a:lvl1pPr>
          </a:lstStyle>
          <a:p>
            <a:fld id="{0DFCB78F-3744-4B42-82C2-C4C10C2BDF53}" type="slidenum">
              <a:rPr lang="en-US" smtClean="0"/>
              <a:pPr/>
              <a:t>‹#›</a:t>
            </a:fld>
            <a:endParaRPr lang="en-US"/>
          </a:p>
        </p:txBody>
      </p:sp>
    </p:spTree>
    <p:extLst>
      <p:ext uri="{BB962C8B-B14F-4D97-AF65-F5344CB8AC3E}">
        <p14:creationId xmlns:p14="http://schemas.microsoft.com/office/powerpoint/2010/main" val="705934034"/>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4200" y="584200"/>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Slide Number Placeholder 5">
            <a:extLst>
              <a:ext uri="{FF2B5EF4-FFF2-40B4-BE49-F238E27FC236}">
                <a16:creationId xmlns:a16="http://schemas.microsoft.com/office/drawing/2014/main" id="{D479F983-0722-4073-9F03-12B86428859D}"/>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4">
            <a:extLst>
              <a:ext uri="{FF2B5EF4-FFF2-40B4-BE49-F238E27FC236}">
                <a16:creationId xmlns:a16="http://schemas.microsoft.com/office/drawing/2014/main" id="{DDAE6A7E-4609-BB37-908F-339E38279A71}"/>
              </a:ext>
            </a:extLst>
          </p:cNvPr>
          <p:cNvSpPr>
            <a:spLocks noGrp="1"/>
          </p:cNvSpPr>
          <p:nvPr>
            <p:ph type="ftr" sz="quarter" idx="3"/>
          </p:nvPr>
        </p:nvSpPr>
        <p:spPr>
          <a:xfrm>
            <a:off x="4038600" y="6564313"/>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Tree>
    <p:extLst>
      <p:ext uri="{BB962C8B-B14F-4D97-AF65-F5344CB8AC3E}">
        <p14:creationId xmlns:p14="http://schemas.microsoft.com/office/powerpoint/2010/main" val="374929155"/>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EB9E94AF-A18E-5B57-67BF-1C30121D96BD}"/>
              </a:ext>
            </a:extLst>
          </p:cNvPr>
          <p:cNvSpPr>
            <a:spLocks noGrp="1"/>
          </p:cNvSpPr>
          <p:nvPr>
            <p:ph type="title" idx="4294967295"/>
          </p:nvPr>
        </p:nvSpPr>
        <p:spPr>
          <a:xfrm>
            <a:off x="575481" y="599436"/>
            <a:ext cx="11018520" cy="492443"/>
          </a:xfrm>
        </p:spPr>
        <p:txBody>
          <a:bodyPr/>
          <a:lstStyle/>
          <a:p>
            <a:r>
              <a:rPr lang="en-US" sz="3200">
                <a:solidFill>
                  <a:srgbClr val="002060"/>
                </a:solidFill>
                <a:latin typeface="+mj-lt"/>
              </a:rPr>
              <a:t>A partnership for your transformation journey</a:t>
            </a:r>
          </a:p>
        </p:txBody>
      </p:sp>
    </p:spTree>
    <p:extLst>
      <p:ext uri="{BB962C8B-B14F-4D97-AF65-F5344CB8AC3E}">
        <p14:creationId xmlns:p14="http://schemas.microsoft.com/office/powerpoint/2010/main" val="1462437142"/>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492443"/>
          </a:xfrm>
        </p:spPr>
        <p:txBody>
          <a:bodyPr/>
          <a:lstStyle>
            <a:lvl1pPr algn="l" defTabSz="932742" rtl="0" eaLnBrk="1" latinLnBrk="0" hangingPunct="1">
              <a:lnSpc>
                <a:spcPct val="100000"/>
              </a:lnSpc>
              <a:spcBef>
                <a:spcPct val="0"/>
              </a:spcBef>
              <a:buNone/>
              <a:defRPr lang="en-US" sz="32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75481" y="1208010"/>
            <a:ext cx="11018520"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 – Internal Use Only</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190691928"/>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50131"/>
            <a:ext cx="11009799"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5" name="Slide Number Placeholder 5">
            <a:extLst>
              <a:ext uri="{FF2B5EF4-FFF2-40B4-BE49-F238E27FC236}">
                <a16:creationId xmlns:a16="http://schemas.microsoft.com/office/drawing/2014/main" id="{15EB9C70-8859-4951-B694-BA57508A24FD}"/>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Footer Placeholder 4">
            <a:extLst>
              <a:ext uri="{FF2B5EF4-FFF2-40B4-BE49-F238E27FC236}">
                <a16:creationId xmlns:a16="http://schemas.microsoft.com/office/drawing/2014/main" id="{88B78925-1029-4792-A780-0616E55A8059}"/>
              </a:ext>
            </a:extLst>
          </p:cNvPr>
          <p:cNvSpPr>
            <a:spLocks noGrp="1"/>
          </p:cNvSpPr>
          <p:nvPr>
            <p:ph type="ftr" sz="quarter" idx="3"/>
          </p:nvPr>
        </p:nvSpPr>
        <p:spPr>
          <a:xfrm>
            <a:off x="4038600" y="6564313"/>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89892049"/>
      </p:ext>
    </p:extLst>
  </p:cSld>
  <p:clrMapOvr>
    <a:masterClrMapping/>
  </p:clrMapOvr>
  <p:transition>
    <p:fade/>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950151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992394143"/>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36">
          <p15:clr>
            <a:srgbClr val="C35EA4"/>
          </p15:clr>
        </p15:guide>
        <p15:guide id="27" orient="horz" pos="184">
          <p15:clr>
            <a:srgbClr val="A4A3A4"/>
          </p15:clr>
        </p15:guide>
        <p15:guide id="28" pos="185">
          <p15:clr>
            <a:srgbClr val="A4A3A4"/>
          </p15:clr>
        </p15:guide>
        <p15:guide id="29" orient="horz" pos="4135">
          <p15:clr>
            <a:srgbClr val="A4A3A4"/>
          </p15:clr>
        </p15:guide>
        <p15:guide id="30" pos="7488">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Slide Number Placeholder 5">
            <a:extLst>
              <a:ext uri="{FF2B5EF4-FFF2-40B4-BE49-F238E27FC236}">
                <a16:creationId xmlns:a16="http://schemas.microsoft.com/office/drawing/2014/main" id="{844621BE-D92D-475F-835D-AAA605167F51}"/>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923065030"/>
      </p:ext>
    </p:extLst>
  </p:cSld>
  <p:clrMap bg1="lt1" tx1="dk1" bg2="lt2" tx2="dk2" accent1="accent1" accent2="accent2" accent3="accent3" accent4="accent4" accent5="accent5" accent6="accent6" hlink="hlink" folHlink="folHlink"/>
  <p:sldLayoutIdLst>
    <p:sldLayoutId id="2147483700"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992394143"/>
      </p:ext>
    </p:extLst>
  </p:cSld>
  <p:clrMap bg1="lt1" tx1="dk1" bg2="lt2" tx2="dk2" accent1="accent1" accent2="accent2" accent3="accent3" accent4="accent4" accent5="accent5" accent6="accent6" hlink="hlink" folHlink="folHlink"/>
  <p:sldLayoutIdLst>
    <p:sldLayoutId id="2147483702"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36">
          <p15:clr>
            <a:srgbClr val="C35EA4"/>
          </p15:clr>
        </p15:guide>
        <p15:guide id="27" orient="horz" pos="184">
          <p15:clr>
            <a:srgbClr val="A4A3A4"/>
          </p15:clr>
        </p15:guide>
        <p15:guide id="28" pos="185">
          <p15:clr>
            <a:srgbClr val="A4A3A4"/>
          </p15:clr>
        </p15:guide>
        <p15:guide id="29" orient="horz" pos="4135">
          <p15:clr>
            <a:srgbClr val="A4A3A4"/>
          </p15:clr>
        </p15:guide>
        <p15:guide id="30" pos="7488">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712045430"/>
      </p:ext>
    </p:extLst>
  </p:cSld>
  <p:clrMap bg1="lt1" tx1="dk1" bg2="lt2" tx2="dk2" accent1="accent1" accent2="accent2" accent3="accent3" accent4="accent4" accent5="accent5" accent6="accent6" hlink="hlink" folHlink="folHlink"/>
  <p:sldLayoutIdLst>
    <p:sldLayoutId id="2147483704" r:id="rId1"/>
  </p:sldLayoutIdLst>
  <p:transition>
    <p:fade/>
  </p:transition>
  <p:hf hd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0" name="Slide Number Placeholder 5">
            <a:extLst>
              <a:ext uri="{FF2B5EF4-FFF2-40B4-BE49-F238E27FC236}">
                <a16:creationId xmlns:a16="http://schemas.microsoft.com/office/drawing/2014/main" id="{316B0510-F67A-4750-80F3-2BA2B5596249}"/>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950151612"/>
      </p:ext>
    </p:extLst>
  </p:cSld>
  <p:clrMap bg1="lt1" tx1="dk1" bg2="lt2" tx2="dk2" accent1="accent1" accent2="accent2" accent3="accent3" accent4="accent4" accent5="accent5" accent6="accent6" hlink="hlink" folHlink="folHlink"/>
  <p:sldLayoutIdLst>
    <p:sldLayoutId id="2147483706" r:id="rId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74082236"/>
      </p:ext>
    </p:extLst>
  </p:cSld>
  <p:clrMap bg1="lt1" tx1="dk1" bg2="lt2" tx2="dk2" accent1="accent1" accent2="accent2" accent3="accent3" accent4="accent4" accent5="accent5" accent6="accent6" hlink="hlink" folHlink="folHlink"/>
  <p:sldLayoutIdLst>
    <p:sldLayoutId id="2147483708" r:id="rId1"/>
    <p:sldLayoutId id="2147483724" r:id="rId2"/>
    <p:sldLayoutId id="2147483725" r:id="rId3"/>
  </p:sldLayoutIdLst>
  <p:transition>
    <p:fade/>
  </p:transition>
  <p:hf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992394143"/>
      </p:ext>
    </p:extLst>
  </p:cSld>
  <p:clrMap bg1="lt1" tx1="dk1" bg2="lt2" tx2="dk2" accent1="accent1" accent2="accent2" accent3="accent3" accent4="accent4" accent5="accent5" accent6="accent6" hlink="hlink" folHlink="folHlink"/>
  <p:sldLayoutIdLst>
    <p:sldLayoutId id="2147483710" r:id="rId1"/>
    <p:sldLayoutId id="2147483723" r:id="rId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36">
          <p15:clr>
            <a:srgbClr val="C35EA4"/>
          </p15:clr>
        </p15:guide>
        <p15:guide id="27" orient="horz" pos="184">
          <p15:clr>
            <a:srgbClr val="A4A3A4"/>
          </p15:clr>
        </p15:guide>
        <p15:guide id="28" pos="185">
          <p15:clr>
            <a:srgbClr val="A4A3A4"/>
          </p15:clr>
        </p15:guide>
        <p15:guide id="29" orient="horz" pos="4135">
          <p15:clr>
            <a:srgbClr val="A4A3A4"/>
          </p15:clr>
        </p15:guide>
        <p15:guide id="30" pos="7488">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4200" y="584200"/>
            <a:ext cx="11022583"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Slide Number Placeholder 5">
            <a:extLst>
              <a:ext uri="{FF2B5EF4-FFF2-40B4-BE49-F238E27FC236}">
                <a16:creationId xmlns:a16="http://schemas.microsoft.com/office/drawing/2014/main" id="{844621BE-D92D-475F-835D-AAA605167F51}"/>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Footer Placeholder 4">
            <a:extLst>
              <a:ext uri="{FF2B5EF4-FFF2-40B4-BE49-F238E27FC236}">
                <a16:creationId xmlns:a16="http://schemas.microsoft.com/office/drawing/2014/main" id="{53A9FDB7-198E-D879-5BEC-A9D45CDA7970}"/>
              </a:ext>
            </a:extLst>
          </p:cNvPr>
          <p:cNvSpPr>
            <a:spLocks noGrp="1"/>
          </p:cNvSpPr>
          <p:nvPr>
            <p:ph type="ftr" sz="quarter" idx="3"/>
          </p:nvPr>
        </p:nvSpPr>
        <p:spPr>
          <a:xfrm>
            <a:off x="4038600" y="6564313"/>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Tree>
    <p:extLst>
      <p:ext uri="{BB962C8B-B14F-4D97-AF65-F5344CB8AC3E}">
        <p14:creationId xmlns:p14="http://schemas.microsoft.com/office/powerpoint/2010/main" val="435345822"/>
      </p:ext>
    </p:extLst>
  </p:cSld>
  <p:clrMap bg1="lt1" tx1="dk1" bg2="lt2" tx2="dk2" accent1="accent1" accent2="accent2" accent3="accent3" accent4="accent4" accent5="accent5" accent6="accent6" hlink="hlink" folHlink="folHlink"/>
  <p:sldLayoutIdLst>
    <p:sldLayoutId id="2147483714" r:id="rId1"/>
  </p:sldLayoutIdLst>
  <p:transition>
    <p:fade/>
  </p:transition>
  <p:hf sldNum="0" hdr="0" dt="0"/>
  <p:txStyles>
    <p:title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29387308"/>
      </p:ext>
    </p:extLst>
  </p:cSld>
  <p:clrMap bg1="lt1" tx1="dk1" bg2="lt2" tx2="dk2" accent1="accent1" accent2="accent2" accent3="accent3" accent4="accent4" accent5="accent5" accent6="accent6" hlink="hlink" folHlink="folHlink"/>
  <p:sldLayoutIdLst>
    <p:sldLayoutId id="2147483716"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36">
          <p15:clr>
            <a:srgbClr val="C35EA4"/>
          </p15:clr>
        </p15:guide>
        <p15:guide id="27" orient="horz" pos="184">
          <p15:clr>
            <a:srgbClr val="A4A3A4"/>
          </p15:clr>
        </p15:guide>
        <p15:guide id="28" pos="185">
          <p15:clr>
            <a:srgbClr val="A4A3A4"/>
          </p15:clr>
        </p15:guide>
        <p15:guide id="29" orient="horz" pos="4135">
          <p15:clr>
            <a:srgbClr val="A4A3A4"/>
          </p15:clr>
        </p15:guide>
        <p15:guide id="30" pos="7488">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97013912"/>
      </p:ext>
    </p:extLst>
  </p:cSld>
  <p:clrMap bg1="lt1" tx1="dk1" bg2="lt2" tx2="dk2" accent1="accent1" accent2="accent2" accent3="accent3" accent4="accent4" accent5="accent5" accent6="accent6" hlink="hlink" folHlink="folHlink"/>
  <p:sldLayoutIdLst>
    <p:sldLayoutId id="2147483718" r:id="rId1"/>
  </p:sldLayoutIdLst>
  <p:transition>
    <p:fade/>
  </p:transition>
  <p:hf hd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0" name="Slide Number Placeholder 5">
            <a:extLst>
              <a:ext uri="{FF2B5EF4-FFF2-40B4-BE49-F238E27FC236}">
                <a16:creationId xmlns:a16="http://schemas.microsoft.com/office/drawing/2014/main" id="{316B0510-F67A-4750-80F3-2BA2B5596249}"/>
              </a:ext>
            </a:extLst>
          </p:cNvPr>
          <p:cNvSpPr>
            <a:spLocks noGrp="1"/>
          </p:cNvSpPr>
          <p:nvPr>
            <p:ph type="sldNum" sz="quarter" idx="4"/>
          </p:nvPr>
        </p:nvSpPr>
        <p:spPr>
          <a:xfrm>
            <a:off x="11733275" y="6564314"/>
            <a:ext cx="332233" cy="123110"/>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261613852"/>
      </p:ext>
    </p:extLst>
  </p:cSld>
  <p:clrMap bg1="lt1" tx1="dk1" bg2="lt2" tx2="dk2" accent1="accent1" accent2="accent2" accent3="accent3" accent4="accent4" accent5="accent5" accent6="accent6" hlink="hlink" folHlink="folHlink"/>
  <p:sldLayoutIdLst>
    <p:sldLayoutId id="2147483722" r:id="rId1"/>
  </p:sldLayoutIdLst>
  <p:transition>
    <p:fade/>
  </p:transition>
  <p:hf hdr="0" ft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2.x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aka.ms/UnifiedBridge-Azure" TargetMode="Externa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271A_658408B0.xml"/><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hyperlink" Target="https://aka.ms/UnifiedServicesDescription"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aka.ms/UnifiedTEI" TargetMode="External"/><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94AB2E-D1B5-2560-CA3C-6EAC33AEEAC8}"/>
              </a:ext>
              <a:ext uri="{C183D7F6-B498-43B3-948B-1728B52AA6E4}">
                <adec:decorative xmlns:adec="http://schemas.microsoft.com/office/drawing/2017/decorative" val="1"/>
              </a:ext>
            </a:extLst>
          </p:cNvPr>
          <p:cNvSpPr/>
          <p:nvPr/>
        </p:nvSpPr>
        <p:spPr bwMode="auto">
          <a:xfrm>
            <a:off x="0" y="0"/>
            <a:ext cx="12192000" cy="2540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Title 3">
            <a:extLst>
              <a:ext uri="{FF2B5EF4-FFF2-40B4-BE49-F238E27FC236}">
                <a16:creationId xmlns:a16="http://schemas.microsoft.com/office/drawing/2014/main" id="{969BE027-680C-4683-BF66-C254227CE859}"/>
              </a:ext>
            </a:extLst>
          </p:cNvPr>
          <p:cNvSpPr>
            <a:spLocks noGrp="1"/>
          </p:cNvSpPr>
          <p:nvPr>
            <p:ph type="title"/>
          </p:nvPr>
        </p:nvSpPr>
        <p:spPr/>
        <p:txBody>
          <a:bodyPr/>
          <a:lstStyle/>
          <a:p>
            <a:r>
              <a:rPr lang="en-US" noProof="0">
                <a:solidFill>
                  <a:schemeClr val="bg1"/>
                </a:solidFill>
              </a:rPr>
              <a:t>Confidentiality Notice</a:t>
            </a:r>
            <a:endParaRPr lang="en-US">
              <a:solidFill>
                <a:schemeClr val="bg1"/>
              </a:solidFill>
            </a:endParaRPr>
          </a:p>
        </p:txBody>
      </p:sp>
      <p:sp>
        <p:nvSpPr>
          <p:cNvPr id="5" name="Half Frame 4">
            <a:extLst>
              <a:ext uri="{FF2B5EF4-FFF2-40B4-BE49-F238E27FC236}">
                <a16:creationId xmlns:a16="http://schemas.microsoft.com/office/drawing/2014/main" id="{2B164932-962D-09F7-F661-EFDD97C04F85}"/>
              </a:ext>
              <a:ext uri="{C183D7F6-B498-43B3-948B-1728B52AA6E4}">
                <adec:decorative xmlns:adec="http://schemas.microsoft.com/office/drawing/2017/decorative" val="1"/>
              </a:ext>
            </a:extLst>
          </p:cNvPr>
          <p:cNvSpPr/>
          <p:nvPr/>
        </p:nvSpPr>
        <p:spPr bwMode="auto">
          <a:xfrm rot="16200000">
            <a:off x="600467" y="5046714"/>
            <a:ext cx="731848" cy="713581"/>
          </a:xfrm>
          <a:prstGeom prst="halfFrame">
            <a:avLst>
              <a:gd name="adj1" fmla="val 0"/>
              <a:gd name="adj2" fmla="val 0"/>
            </a:avLst>
          </a:prstGeom>
          <a:solidFill>
            <a:schemeClr val="tx2"/>
          </a:solidFill>
          <a:ln w="1079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Half Frame 29">
            <a:extLst>
              <a:ext uri="{FF2B5EF4-FFF2-40B4-BE49-F238E27FC236}">
                <a16:creationId xmlns:a16="http://schemas.microsoft.com/office/drawing/2014/main" id="{00E15AB3-C7C8-4343-A5D5-FEAB16DB9D5C}"/>
              </a:ext>
              <a:ext uri="{C183D7F6-B498-43B3-948B-1728B52AA6E4}">
                <adec:decorative xmlns:adec="http://schemas.microsoft.com/office/drawing/2017/decorative" val="1"/>
              </a:ext>
            </a:extLst>
          </p:cNvPr>
          <p:cNvSpPr/>
          <p:nvPr/>
        </p:nvSpPr>
        <p:spPr bwMode="auto">
          <a:xfrm rot="5400000" flipH="1">
            <a:off x="10846986" y="5046714"/>
            <a:ext cx="731848" cy="713581"/>
          </a:xfrm>
          <a:prstGeom prst="halfFrame">
            <a:avLst>
              <a:gd name="adj1" fmla="val 0"/>
              <a:gd name="adj2" fmla="val 0"/>
            </a:avLst>
          </a:prstGeom>
          <a:solidFill>
            <a:schemeClr val="tx2"/>
          </a:solidFill>
          <a:ln w="1079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Rectangle: Rounded Corners 35">
            <a:extLst>
              <a:ext uri="{FF2B5EF4-FFF2-40B4-BE49-F238E27FC236}">
                <a16:creationId xmlns:a16="http://schemas.microsoft.com/office/drawing/2014/main" id="{3009A489-8596-4CD9-A687-E5E7AB202CC7}"/>
              </a:ext>
            </a:extLst>
          </p:cNvPr>
          <p:cNvSpPr/>
          <p:nvPr/>
        </p:nvSpPr>
        <p:spPr bwMode="auto">
          <a:xfrm>
            <a:off x="622299" y="1705429"/>
            <a:ext cx="10947402" cy="4064000"/>
          </a:xfrm>
          <a:prstGeom prst="roundRect">
            <a:avLst>
              <a:gd name="adj" fmla="val 1980"/>
            </a:avLst>
          </a:prstGeom>
          <a:solidFill>
            <a:schemeClr val="bg1"/>
          </a:solidFill>
          <a:ln w="3175">
            <a:noFill/>
            <a:headEnd type="none" w="med" len="med"/>
            <a:tailEnd type="none" w="med" len="med"/>
          </a:ln>
          <a:effectLst>
            <a:outerShdw blurRad="381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ts val="1600"/>
              </a:spcBef>
              <a:spcAft>
                <a:spcPct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This presentation and all the information contained herein is the confidential information of Microsoft and is disclosed to you pursuant to, and protected under, your company’s nondisclosure agreement with Microsoft. Do not reshare unless expressly authorized by Microsoft in writing. Further, this presentation is for discussion purposes only, subject to change, and should not be interpreted as a binding agreement or commitment on the part </a:t>
            </a:r>
            <a:br>
              <a:rPr kumimoji="0" lang="en-US" sz="2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2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t>of Microsoft.</a:t>
            </a:r>
          </a:p>
        </p:txBody>
      </p:sp>
    </p:spTree>
    <p:extLst>
      <p:ext uri="{BB962C8B-B14F-4D97-AF65-F5344CB8AC3E}">
        <p14:creationId xmlns:p14="http://schemas.microsoft.com/office/powerpoint/2010/main" val="1156298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981952-6511-4752-97A0-1780FBC07E40}"/>
              </a:ext>
            </a:extLst>
          </p:cNvPr>
          <p:cNvSpPr>
            <a:spLocks noGrp="1"/>
          </p:cNvSpPr>
          <p:nvPr>
            <p:ph type="title"/>
          </p:nvPr>
        </p:nvSpPr>
        <p:spPr>
          <a:xfrm>
            <a:off x="584200" y="2303312"/>
            <a:ext cx="11067869" cy="2400657"/>
          </a:xfrm>
        </p:spPr>
        <p:txBody>
          <a:bodyPr anchor="t"/>
          <a:lstStyle/>
          <a:p>
            <a:r>
              <a:rPr lang="en-US" sz="5400">
                <a:solidFill>
                  <a:srgbClr val="243A5E"/>
                </a:solidFill>
              </a:rPr>
              <a:t>Driving success for </a:t>
            </a:r>
            <a:br>
              <a:rPr lang="en-US" sz="5400">
                <a:solidFill>
                  <a:srgbClr val="243A5E"/>
                </a:solidFill>
              </a:rPr>
            </a:br>
            <a:r>
              <a:rPr lang="en-US" sz="5400" dirty="0">
                <a:solidFill>
                  <a:srgbClr val="243A5E"/>
                </a:solidFill>
              </a:rPr>
              <a:t>dmg media</a:t>
            </a:r>
            <a:br>
              <a:rPr lang="en-US" sz="5400">
                <a:solidFill>
                  <a:srgbClr val="243A5E"/>
                </a:solidFill>
              </a:rPr>
            </a:br>
            <a:r>
              <a:rPr lang="en-US" sz="4800">
                <a:solidFill>
                  <a:srgbClr val="243A5E"/>
                </a:solidFill>
              </a:rPr>
              <a:t>with Microsoft Unified – Azure Bridge</a:t>
            </a:r>
          </a:p>
        </p:txBody>
      </p:sp>
      <p:sp>
        <p:nvSpPr>
          <p:cNvPr id="2" name="Text Placeholder 1">
            <a:extLst>
              <a:ext uri="{FF2B5EF4-FFF2-40B4-BE49-F238E27FC236}">
                <a16:creationId xmlns:a16="http://schemas.microsoft.com/office/drawing/2014/main" id="{B3054226-0959-4C27-B39F-7850116CF915}"/>
              </a:ext>
            </a:extLst>
          </p:cNvPr>
          <p:cNvSpPr>
            <a:spLocks noGrp="1"/>
          </p:cNvSpPr>
          <p:nvPr>
            <p:ph type="body" sz="quarter" idx="12"/>
          </p:nvPr>
        </p:nvSpPr>
        <p:spPr>
          <a:xfrm>
            <a:off x="582042" y="5634620"/>
            <a:ext cx="4164583" cy="276999"/>
          </a:xfrm>
        </p:spPr>
        <p:txBody>
          <a:bodyPr/>
          <a:lstStyle/>
          <a:p>
            <a:r>
              <a:rPr lang="en-US" sz="1800">
                <a:solidFill>
                  <a:srgbClr val="243A5E"/>
                </a:solidFill>
              </a:rPr>
              <a:t>04/07/2026</a:t>
            </a:r>
            <a:endParaRPr lang="en-US">
              <a:solidFill>
                <a:srgbClr val="243A5E"/>
              </a:solidFill>
            </a:endParaRPr>
          </a:p>
        </p:txBody>
      </p:sp>
      <p:pic>
        <p:nvPicPr>
          <p:cNvPr id="4" name="Picture 3" hidden="1">
            <a:extLst>
              <a:ext uri="{FF2B5EF4-FFF2-40B4-BE49-F238E27FC236}">
                <a16:creationId xmlns:a16="http://schemas.microsoft.com/office/drawing/2014/main" id="{D2A620A8-97FD-43C0-B671-9BA291B1C1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0624" y="403226"/>
            <a:ext cx="2664152" cy="1515726"/>
          </a:xfrm>
          <a:prstGeom prst="rect">
            <a:avLst/>
          </a:prstGeom>
        </p:spPr>
      </p:pic>
    </p:spTree>
    <p:extLst>
      <p:ext uri="{BB962C8B-B14F-4D97-AF65-F5344CB8AC3E}">
        <p14:creationId xmlns:p14="http://schemas.microsoft.com/office/powerpoint/2010/main" val="887290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AF3A944E-E734-61C8-8805-E2AA5711458F}"/>
              </a:ext>
              <a:ext uri="{C183D7F6-B498-43B3-948B-1728B52AA6E4}">
                <adec:decorative xmlns:adec="http://schemas.microsoft.com/office/drawing/2017/decorative" val="1"/>
              </a:ext>
            </a:extLst>
          </p:cNvPr>
          <p:cNvSpPr>
            <a:spLocks/>
          </p:cNvSpPr>
          <p:nvPr/>
        </p:nvSpPr>
        <p:spPr bwMode="auto">
          <a:xfrm>
            <a:off x="575481" y="1338104"/>
            <a:ext cx="11045019" cy="4920460"/>
          </a:xfrm>
          <a:prstGeom prst="roundRect">
            <a:avLst>
              <a:gd name="adj" fmla="val 2295"/>
            </a:avLst>
          </a:prstGeom>
          <a:solidFill>
            <a:schemeClr val="bg1"/>
          </a:solidFill>
          <a:ln w="6350">
            <a:no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9" name="Rectangle: Rounded Corners 58">
            <a:extLst>
              <a:ext uri="{FF2B5EF4-FFF2-40B4-BE49-F238E27FC236}">
                <a16:creationId xmlns:a16="http://schemas.microsoft.com/office/drawing/2014/main" id="{2F5A8F42-662C-DCBA-22E1-8A80B4045496}"/>
              </a:ext>
              <a:ext uri="{C183D7F6-B498-43B3-948B-1728B52AA6E4}">
                <adec:decorative xmlns:adec="http://schemas.microsoft.com/office/drawing/2017/decorative" val="1"/>
              </a:ext>
            </a:extLst>
          </p:cNvPr>
          <p:cNvSpPr>
            <a:spLocks/>
          </p:cNvSpPr>
          <p:nvPr/>
        </p:nvSpPr>
        <p:spPr bwMode="auto">
          <a:xfrm>
            <a:off x="2956560" y="1500885"/>
            <a:ext cx="8490204" cy="898144"/>
          </a:xfrm>
          <a:prstGeom prst="roundRect">
            <a:avLst>
              <a:gd name="adj" fmla="val 12269"/>
            </a:avLst>
          </a:prstGeom>
          <a:solidFill>
            <a:schemeClr val="bg1">
              <a:lumMod val="95000"/>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43A5E"/>
              </a:solidFill>
              <a:effectLst/>
              <a:uLnTx/>
              <a:uFillTx/>
              <a:latin typeface="Segoe UI Semibold"/>
              <a:ea typeface="+mn-ea"/>
              <a:cs typeface="Segoe UI Semibold" panose="020B0702040204020203" pitchFamily="34" charset="0"/>
            </a:endParaRPr>
          </a:p>
        </p:txBody>
      </p:sp>
      <p:sp>
        <p:nvSpPr>
          <p:cNvPr id="26" name="Freeform: Shape 25">
            <a:extLst>
              <a:ext uri="{FF2B5EF4-FFF2-40B4-BE49-F238E27FC236}">
                <a16:creationId xmlns:a16="http://schemas.microsoft.com/office/drawing/2014/main" id="{B8210F46-B6BB-A519-7F15-9C6B028DE9C7}"/>
              </a:ext>
              <a:ext uri="{C183D7F6-B498-43B3-948B-1728B52AA6E4}">
                <adec:decorative xmlns:adec="http://schemas.microsoft.com/office/drawing/2017/decorative" val="1"/>
              </a:ext>
            </a:extLst>
          </p:cNvPr>
          <p:cNvSpPr/>
          <p:nvPr/>
        </p:nvSpPr>
        <p:spPr bwMode="auto">
          <a:xfrm>
            <a:off x="0" y="1338104"/>
            <a:ext cx="4114800" cy="4920460"/>
          </a:xfrm>
          <a:custGeom>
            <a:avLst/>
            <a:gdLst>
              <a:gd name="connsiteX0" fmla="*/ 0 w 6921946"/>
              <a:gd name="connsiteY0" fmla="*/ 0 h 6858002"/>
              <a:gd name="connsiteX1" fmla="*/ 6243585 w 6921946"/>
              <a:gd name="connsiteY1" fmla="*/ 0 h 6858002"/>
              <a:gd name="connsiteX2" fmla="*/ 6243585 w 6921946"/>
              <a:gd name="connsiteY2" fmla="*/ 7783 h 6858002"/>
              <a:gd name="connsiteX3" fmla="*/ 6921946 w 6921946"/>
              <a:gd name="connsiteY3" fmla="*/ 3358982 h 6858002"/>
              <a:gd name="connsiteX4" fmla="*/ 6243585 w 6921946"/>
              <a:gd name="connsiteY4" fmla="*/ 6849897 h 6858002"/>
              <a:gd name="connsiteX5" fmla="*/ 6243585 w 6921946"/>
              <a:gd name="connsiteY5" fmla="*/ 6858000 h 6858002"/>
              <a:gd name="connsiteX6" fmla="*/ 6242011 w 6921946"/>
              <a:gd name="connsiteY6" fmla="*/ 6858000 h 6858002"/>
              <a:gd name="connsiteX7" fmla="*/ 6242010 w 6921946"/>
              <a:gd name="connsiteY7" fmla="*/ 6858002 h 6858002"/>
              <a:gd name="connsiteX8" fmla="*/ 6242010 w 6921946"/>
              <a:gd name="connsiteY8" fmla="*/ 6858000 h 6858002"/>
              <a:gd name="connsiteX9" fmla="*/ 0 w 6921946"/>
              <a:gd name="connsiteY9" fmla="*/ 68580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21946" h="6858002">
                <a:moveTo>
                  <a:pt x="0" y="0"/>
                </a:moveTo>
                <a:lnTo>
                  <a:pt x="6243585" y="0"/>
                </a:lnTo>
                <a:lnTo>
                  <a:pt x="6243585" y="7783"/>
                </a:lnTo>
                <a:lnTo>
                  <a:pt x="6921946" y="3358982"/>
                </a:lnTo>
                <a:lnTo>
                  <a:pt x="6243585" y="6849897"/>
                </a:lnTo>
                <a:lnTo>
                  <a:pt x="6243585" y="6858000"/>
                </a:lnTo>
                <a:lnTo>
                  <a:pt x="6242011" y="6858000"/>
                </a:lnTo>
                <a:lnTo>
                  <a:pt x="6242010" y="6858002"/>
                </a:lnTo>
                <a:lnTo>
                  <a:pt x="6242010" y="6858000"/>
                </a:lnTo>
                <a:lnTo>
                  <a:pt x="0" y="6858000"/>
                </a:lnTo>
                <a:close/>
              </a:path>
            </a:pathLst>
          </a:custGeom>
          <a:gradFill flip="none" rotWithShape="1">
            <a:gsLst>
              <a:gs pos="15000">
                <a:schemeClr val="tx2">
                  <a:lumMod val="75000"/>
                </a:schemeClr>
              </a:gs>
              <a:gs pos="100000">
                <a:schemeClr val="tx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2" name="Title 11">
            <a:extLst>
              <a:ext uri="{FF2B5EF4-FFF2-40B4-BE49-F238E27FC236}">
                <a16:creationId xmlns:a16="http://schemas.microsoft.com/office/drawing/2014/main" id="{484E6CFD-3D94-24D8-B55E-513B432B457B}"/>
              </a:ext>
            </a:extLst>
          </p:cNvPr>
          <p:cNvSpPr>
            <a:spLocks noGrp="1"/>
          </p:cNvSpPr>
          <p:nvPr>
            <p:ph type="title"/>
          </p:nvPr>
        </p:nvSpPr>
        <p:spPr>
          <a:xfrm>
            <a:off x="575481" y="599436"/>
            <a:ext cx="11018520" cy="492443"/>
          </a:xfrm>
        </p:spPr>
        <p:txBody>
          <a:bodyPr/>
          <a:lstStyle/>
          <a:p>
            <a:r>
              <a:rPr lang="en-US"/>
              <a:t>A partnership for your transformation journey</a:t>
            </a:r>
          </a:p>
        </p:txBody>
      </p:sp>
      <p:sp>
        <p:nvSpPr>
          <p:cNvPr id="11" name="Text Placeholder 6">
            <a:extLst>
              <a:ext uri="{FF2B5EF4-FFF2-40B4-BE49-F238E27FC236}">
                <a16:creationId xmlns:a16="http://schemas.microsoft.com/office/drawing/2014/main" id="{9B95ECF1-FBC7-8468-A9C3-89D2A6E004D9}"/>
              </a:ext>
            </a:extLst>
          </p:cNvPr>
          <p:cNvSpPr txBox="1">
            <a:spLocks/>
          </p:cNvSpPr>
          <p:nvPr/>
        </p:nvSpPr>
        <p:spPr>
          <a:xfrm>
            <a:off x="575482" y="2321007"/>
            <a:ext cx="3082118" cy="2585323"/>
          </a:xfrm>
          <a:prstGeom prst="rect">
            <a:avLst/>
          </a:prstGeom>
        </p:spPr>
        <p:txBody>
          <a:bodyPr wrap="square" lIns="0" tIns="0" rIns="0" bIns="0">
            <a:spAutoFit/>
          </a:bodyPr>
          <a:lstStyle>
            <a:lvl1pPr marL="224097" marR="0" indent="-224097" algn="l" defTabSz="914016"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solidFill>
                  <a:schemeClr val="bg1"/>
                </a:solidFill>
                <a:latin typeface="+mj-lt"/>
                <a:ea typeface="+mn-ea"/>
                <a:cs typeface="+mn-cs"/>
              </a:defRPr>
            </a:lvl1pPr>
            <a:lvl2pPr marL="507330" marR="0" indent="-182079" algn="l" defTabSz="914016" rtl="0" eaLnBrk="1" fontAlgn="auto" latinLnBrk="0" hangingPunct="1">
              <a:lnSpc>
                <a:spcPct val="90000"/>
              </a:lnSpc>
              <a:spcBef>
                <a:spcPct val="20000"/>
              </a:spcBef>
              <a:spcAft>
                <a:spcPts val="0"/>
              </a:spcAft>
              <a:buClrTx/>
              <a:buSzPct val="90000"/>
              <a:buFont typeface="Arial" pitchFamily="34" charset="0"/>
              <a:buChar char="•"/>
              <a:tabLst/>
              <a:defRPr sz="1600" kern="1200" spc="0" baseline="0">
                <a:solidFill>
                  <a:schemeClr val="bg1"/>
                </a:solidFill>
                <a:latin typeface="+mn-lt"/>
                <a:ea typeface="+mn-ea"/>
                <a:cs typeface="+mn-cs"/>
              </a:defRPr>
            </a:lvl2pPr>
            <a:lvl3pPr marL="731426" marR="0" indent="-171185" algn="l" defTabSz="914016" rtl="0" eaLnBrk="1" fontAlgn="auto" latinLnBrk="0" hangingPunct="1">
              <a:lnSpc>
                <a:spcPct val="90000"/>
              </a:lnSpc>
              <a:spcBef>
                <a:spcPct val="20000"/>
              </a:spcBef>
              <a:spcAft>
                <a:spcPts val="0"/>
              </a:spcAft>
              <a:buClrTx/>
              <a:buSzPct val="90000"/>
              <a:buFont typeface="Arial" pitchFamily="34" charset="0"/>
              <a:buChar char="•"/>
              <a:tabLst/>
              <a:defRPr sz="1400" kern="1200" spc="0" baseline="0">
                <a:solidFill>
                  <a:schemeClr val="bg1"/>
                </a:solidFill>
                <a:latin typeface="+mn-lt"/>
                <a:ea typeface="+mn-ea"/>
                <a:cs typeface="+mn-cs"/>
              </a:defRPr>
            </a:lvl3pPr>
            <a:lvl4pPr marL="896386" marR="0" indent="-112048" algn="l" defTabSz="914016" rtl="0" eaLnBrk="1" fontAlgn="auto" latinLnBrk="0" hangingPunct="1">
              <a:lnSpc>
                <a:spcPct val="90000"/>
              </a:lnSpc>
              <a:spcBef>
                <a:spcPct val="20000"/>
              </a:spcBef>
              <a:spcAft>
                <a:spcPts val="0"/>
              </a:spcAft>
              <a:buClrTx/>
              <a:buSzPct val="90000"/>
              <a:buFont typeface="Arial" pitchFamily="34" charset="0"/>
              <a:buChar char="•"/>
              <a:tabLst/>
              <a:defRPr sz="1200" kern="1200" spc="0" baseline="0">
                <a:solidFill>
                  <a:schemeClr val="bg1"/>
                </a:solidFill>
                <a:latin typeface="+mn-lt"/>
                <a:ea typeface="+mn-ea"/>
                <a:cs typeface="+mn-cs"/>
              </a:defRPr>
            </a:lvl4pPr>
            <a:lvl5pPr marL="1120483" marR="0" indent="-112048" algn="l" defTabSz="914016" rtl="0" eaLnBrk="1" fontAlgn="auto" latinLnBrk="0" hangingPunct="1">
              <a:lnSpc>
                <a:spcPct val="90000"/>
              </a:lnSpc>
              <a:spcBef>
                <a:spcPct val="20000"/>
              </a:spcBef>
              <a:spcAft>
                <a:spcPts val="0"/>
              </a:spcAft>
              <a:buClrTx/>
              <a:buSzPct val="90000"/>
              <a:buFont typeface="Arial" pitchFamily="34" charset="0"/>
              <a:buChar char="•"/>
              <a:tabLst/>
              <a:defRPr sz="1200" kern="1200" spc="0" baseline="0">
                <a:solidFill>
                  <a:schemeClr val="bg1"/>
                </a:solidFill>
                <a:latin typeface="+mn-lt"/>
                <a:ea typeface="+mn-ea"/>
                <a:cs typeface="+mn-cs"/>
              </a:defRPr>
            </a:lvl5pPr>
            <a:lvl6pPr marL="2513543" indent="-228504" algn="l" defTabSz="914016"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0552" indent="-228504" algn="l" defTabSz="914016"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7561" indent="-228504" algn="l" defTabSz="914016"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4569" indent="-228504" algn="l" defTabSz="914016"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l" defTabSz="914016" rtl="0" eaLnBrk="1" fontAlgn="auto" latinLnBrk="0" hangingPunct="1">
              <a:lnSpc>
                <a:spcPct val="100000"/>
              </a:lnSpc>
              <a:spcBef>
                <a:spcPct val="20000"/>
              </a:spcBef>
              <a:spcAft>
                <a:spcPts val="0"/>
              </a:spcAft>
              <a:buClrTx/>
              <a:buSzPct val="90000"/>
              <a:buFont typeface="Arial" pitchFamily="34" charset="0"/>
              <a:buNone/>
              <a:tabLst/>
              <a:defRPr/>
            </a:pPr>
            <a:r>
              <a:rPr kumimoji="0" lang="en-US" sz="2400" b="0" i="0" u="none" strike="noStrike" kern="1200" cap="none" spc="0" normalizeH="0" baseline="0" noProof="0">
                <a:ln>
                  <a:noFill/>
                </a:ln>
                <a:solidFill>
                  <a:srgbClr val="FFFFFF"/>
                </a:solidFill>
                <a:effectLst/>
                <a:uLnTx/>
                <a:uFillTx/>
                <a:latin typeface="Segoe UI"/>
                <a:ea typeface="+mn-ea"/>
                <a:cs typeface="+mn-cs"/>
              </a:rPr>
              <a:t>The rapid pace of innovation gives us the ability to achieve things we never imagined. But new opportunities present new challenges.</a:t>
            </a:r>
          </a:p>
        </p:txBody>
      </p:sp>
      <p:sp>
        <p:nvSpPr>
          <p:cNvPr id="38" name="Rectangle 37">
            <a:extLst>
              <a:ext uri="{FF2B5EF4-FFF2-40B4-BE49-F238E27FC236}">
                <a16:creationId xmlns:a16="http://schemas.microsoft.com/office/drawing/2014/main" id="{60528832-E8F9-7A3B-F4E0-455BFE98B19C}"/>
              </a:ext>
            </a:extLst>
          </p:cNvPr>
          <p:cNvSpPr>
            <a:spLocks/>
          </p:cNvSpPr>
          <p:nvPr/>
        </p:nvSpPr>
        <p:spPr bwMode="auto">
          <a:xfrm>
            <a:off x="4114800" y="1672958"/>
            <a:ext cx="6898930"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43A5E"/>
                </a:solidFill>
                <a:effectLst/>
                <a:uLnTx/>
                <a:uFillTx/>
                <a:latin typeface="Segoe UI Semibold"/>
                <a:ea typeface="+mn-ea"/>
                <a:cs typeface="Segoe UI Semibold" panose="020B0702040204020203" pitchFamily="34" charset="0"/>
              </a:rPr>
              <a:t>Now, more than ever, it’s not just the technologies that matter. </a:t>
            </a:r>
            <a:br>
              <a:rPr kumimoji="0" lang="en-US" sz="1800" b="0" i="0" u="none" strike="noStrike" kern="1200" cap="none" spc="0" normalizeH="0" baseline="0" noProof="0">
                <a:ln>
                  <a:noFill/>
                </a:ln>
                <a:solidFill>
                  <a:srgbClr val="243A5E"/>
                </a:solidFill>
                <a:effectLst/>
                <a:uLnTx/>
                <a:uFillTx/>
                <a:latin typeface="Segoe UI Semibold"/>
                <a:ea typeface="+mn-ea"/>
                <a:cs typeface="Segoe UI Semibold" panose="020B0702040204020203" pitchFamily="34" charset="0"/>
              </a:rPr>
            </a:br>
            <a:r>
              <a:rPr kumimoji="0" lang="en-US" sz="1800" b="0" i="0" u="none" strike="noStrike" kern="1200" cap="none" spc="0" normalizeH="0" baseline="0" noProof="0">
                <a:ln>
                  <a:noFill/>
                </a:ln>
                <a:solidFill>
                  <a:srgbClr val="243A5E"/>
                </a:solidFill>
                <a:effectLst/>
                <a:uLnTx/>
                <a:uFillTx/>
                <a:latin typeface="Segoe UI Semibold"/>
                <a:ea typeface="+mn-ea"/>
                <a:cs typeface="Segoe UI Semibold" panose="020B0702040204020203" pitchFamily="34" charset="0"/>
              </a:rPr>
              <a:t>It’s the partnership behind them.</a:t>
            </a:r>
          </a:p>
        </p:txBody>
      </p:sp>
      <p:sp>
        <p:nvSpPr>
          <p:cNvPr id="35" name="Rectangle 34">
            <a:extLst>
              <a:ext uri="{FF2B5EF4-FFF2-40B4-BE49-F238E27FC236}">
                <a16:creationId xmlns:a16="http://schemas.microsoft.com/office/drawing/2014/main" id="{C6072253-22F7-E43D-2DD7-C52847E6B997}"/>
              </a:ext>
            </a:extLst>
          </p:cNvPr>
          <p:cNvSpPr>
            <a:spLocks/>
          </p:cNvSpPr>
          <p:nvPr/>
        </p:nvSpPr>
        <p:spPr bwMode="auto">
          <a:xfrm>
            <a:off x="5134514" y="2645254"/>
            <a:ext cx="6266912" cy="576379"/>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Do you have the right level of ongoing, preventative care to maintain resiliency?</a:t>
            </a:r>
          </a:p>
        </p:txBody>
      </p:sp>
      <p:sp>
        <p:nvSpPr>
          <p:cNvPr id="36" name="Rectangle 35">
            <a:extLst>
              <a:ext uri="{FF2B5EF4-FFF2-40B4-BE49-F238E27FC236}">
                <a16:creationId xmlns:a16="http://schemas.microsoft.com/office/drawing/2014/main" id="{BE61351E-7D10-A695-4196-C1EB969B0F88}"/>
              </a:ext>
            </a:extLst>
          </p:cNvPr>
          <p:cNvSpPr>
            <a:spLocks/>
          </p:cNvSpPr>
          <p:nvPr/>
        </p:nvSpPr>
        <p:spPr bwMode="auto">
          <a:xfrm>
            <a:off x="5134514" y="3969867"/>
            <a:ext cx="6266912" cy="576379"/>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Can your IT environment withstand the increasing sophistication and volume of cyber attacks?</a:t>
            </a:r>
          </a:p>
        </p:txBody>
      </p:sp>
      <p:sp>
        <p:nvSpPr>
          <p:cNvPr id="37" name="Rectangle 36">
            <a:extLst>
              <a:ext uri="{FF2B5EF4-FFF2-40B4-BE49-F238E27FC236}">
                <a16:creationId xmlns:a16="http://schemas.microsoft.com/office/drawing/2014/main" id="{7D90133F-4AA8-925A-0C1F-8A9C4E6EB624}"/>
              </a:ext>
            </a:extLst>
          </p:cNvPr>
          <p:cNvSpPr>
            <a:spLocks/>
          </p:cNvSpPr>
          <p:nvPr/>
        </p:nvSpPr>
        <p:spPr bwMode="auto">
          <a:xfrm>
            <a:off x="5134514" y="5294479"/>
            <a:ext cx="6266912" cy="576379"/>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egoe UI"/>
                <a:ea typeface="Segoe UI" pitchFamily="34" charset="0"/>
                <a:cs typeface="Segoe UI Semibold" panose="020B0702040204020203" pitchFamily="34" charset="0"/>
              </a:rPr>
              <a:t>Do you have the right mix of people, process, and technology to harness the power of generative AI?</a:t>
            </a:r>
          </a:p>
        </p:txBody>
      </p:sp>
      <p:sp>
        <p:nvSpPr>
          <p:cNvPr id="7" name="Slide Number Placeholder 1">
            <a:extLst>
              <a:ext uri="{FF2B5EF4-FFF2-40B4-BE49-F238E27FC236}">
                <a16:creationId xmlns:a16="http://schemas.microsoft.com/office/drawing/2014/main" id="{11DEDFAD-38BD-4F96-8FA7-63CD91B6812B}"/>
              </a:ext>
              <a:ext uri="{C183D7F6-B498-43B3-948B-1728B52AA6E4}">
                <adec:decorative xmlns:adec="http://schemas.microsoft.com/office/drawing/2017/decorative" val="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6BF59E-C7AB-4D2C-B602-9844A5FEE556}" type="slidenum">
              <a:rPr kumimoji="0" lang="en-IN"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IN"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13" name="Group 12">
            <a:extLst>
              <a:ext uri="{FF2B5EF4-FFF2-40B4-BE49-F238E27FC236}">
                <a16:creationId xmlns:a16="http://schemas.microsoft.com/office/drawing/2014/main" id="{81B58190-F675-76BC-8A8F-3060D0F1161B}"/>
              </a:ext>
              <a:ext uri="{C183D7F6-B498-43B3-948B-1728B52AA6E4}">
                <adec:decorative xmlns:adec="http://schemas.microsoft.com/office/drawing/2017/decorative" val="1"/>
              </a:ext>
            </a:extLst>
          </p:cNvPr>
          <p:cNvGrpSpPr/>
          <p:nvPr/>
        </p:nvGrpSpPr>
        <p:grpSpPr>
          <a:xfrm>
            <a:off x="4329893" y="2732811"/>
            <a:ext cx="401265" cy="401265"/>
            <a:chOff x="7205272" y="1828800"/>
            <a:chExt cx="357252" cy="357252"/>
          </a:xfrm>
        </p:grpSpPr>
        <p:sp>
          <p:nvSpPr>
            <p:cNvPr id="14" name="Freeform: Shape 13">
              <a:extLst>
                <a:ext uri="{FF2B5EF4-FFF2-40B4-BE49-F238E27FC236}">
                  <a16:creationId xmlns:a16="http://schemas.microsoft.com/office/drawing/2014/main" id="{B5C02249-EC09-63A6-213A-ADCA5B4E3D4D}"/>
                </a:ext>
              </a:extLst>
            </p:cNvPr>
            <p:cNvSpPr>
              <a:spLocks/>
            </p:cNvSpPr>
            <p:nvPr/>
          </p:nvSpPr>
          <p:spPr>
            <a:xfrm>
              <a:off x="7205272" y="1828800"/>
              <a:ext cx="357252" cy="357252"/>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bg1"/>
            </a:solidFill>
            <a:ln w="6350" cap="flat">
              <a:solidFill>
                <a:schemeClr val="tx2"/>
              </a:solidFill>
              <a:prstDash val="solid"/>
              <a:rou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43A5E"/>
                </a:solidFill>
                <a:effectLst/>
                <a:uLnTx/>
                <a:uFillTx/>
                <a:latin typeface="Segoe UI Semibold"/>
                <a:ea typeface="+mn-ea"/>
                <a:cs typeface="+mn-cs"/>
              </a:endParaRPr>
            </a:p>
          </p:txBody>
        </p:sp>
        <p:grpSp>
          <p:nvGrpSpPr>
            <p:cNvPr id="15" name="Group 14" descr="Arrow pointing towards&#10;">
              <a:extLst>
                <a:ext uri="{FF2B5EF4-FFF2-40B4-BE49-F238E27FC236}">
                  <a16:creationId xmlns:a16="http://schemas.microsoft.com/office/drawing/2014/main" id="{3191DBBE-6A55-2F42-EEEC-FD63CFE96D50}"/>
                </a:ext>
              </a:extLst>
            </p:cNvPr>
            <p:cNvGrpSpPr/>
            <p:nvPr/>
          </p:nvGrpSpPr>
          <p:grpSpPr>
            <a:xfrm>
              <a:off x="7295176" y="1916906"/>
              <a:ext cx="177444" cy="181040"/>
              <a:chOff x="7346660" y="1985862"/>
              <a:chExt cx="138622" cy="141433"/>
            </a:xfrm>
          </p:grpSpPr>
          <p:sp>
            <p:nvSpPr>
              <p:cNvPr id="16" name="Arrow: Chevron 15">
                <a:extLst>
                  <a:ext uri="{FF2B5EF4-FFF2-40B4-BE49-F238E27FC236}">
                    <a16:creationId xmlns:a16="http://schemas.microsoft.com/office/drawing/2014/main" id="{1C085CC8-E3C3-3C55-331B-7032B1CDD8A4}"/>
                  </a:ext>
                </a:extLst>
              </p:cNvPr>
              <p:cNvSpPr/>
              <p:nvPr/>
            </p:nvSpPr>
            <p:spPr bwMode="auto">
              <a:xfrm>
                <a:off x="7373376" y="1985862"/>
                <a:ext cx="111906" cy="141433"/>
              </a:xfrm>
              <a:prstGeom prst="chevron">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Arrow: Chevron 16">
                <a:extLst>
                  <a:ext uri="{FF2B5EF4-FFF2-40B4-BE49-F238E27FC236}">
                    <a16:creationId xmlns:a16="http://schemas.microsoft.com/office/drawing/2014/main" id="{0B411485-0755-3761-67B5-C5F641F1AA63}"/>
                  </a:ext>
                </a:extLst>
              </p:cNvPr>
              <p:cNvSpPr/>
              <p:nvPr/>
            </p:nvSpPr>
            <p:spPr bwMode="auto">
              <a:xfrm>
                <a:off x="7346660" y="2000250"/>
                <a:ext cx="89138" cy="112658"/>
              </a:xfrm>
              <a:prstGeom prst="chevron">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grpSp>
      <p:grpSp>
        <p:nvGrpSpPr>
          <p:cNvPr id="18" name="Group 17">
            <a:extLst>
              <a:ext uri="{FF2B5EF4-FFF2-40B4-BE49-F238E27FC236}">
                <a16:creationId xmlns:a16="http://schemas.microsoft.com/office/drawing/2014/main" id="{073C2076-8970-E390-0484-412C17D94EC4}"/>
              </a:ext>
              <a:ext uri="{C183D7F6-B498-43B3-948B-1728B52AA6E4}">
                <adec:decorative xmlns:adec="http://schemas.microsoft.com/office/drawing/2017/decorative" val="1"/>
              </a:ext>
            </a:extLst>
          </p:cNvPr>
          <p:cNvGrpSpPr/>
          <p:nvPr/>
        </p:nvGrpSpPr>
        <p:grpSpPr>
          <a:xfrm>
            <a:off x="4329893" y="4057424"/>
            <a:ext cx="401265" cy="401265"/>
            <a:chOff x="7205272" y="1828800"/>
            <a:chExt cx="357252" cy="357252"/>
          </a:xfrm>
        </p:grpSpPr>
        <p:sp>
          <p:nvSpPr>
            <p:cNvPr id="19" name="Freeform: Shape 18">
              <a:extLst>
                <a:ext uri="{FF2B5EF4-FFF2-40B4-BE49-F238E27FC236}">
                  <a16:creationId xmlns:a16="http://schemas.microsoft.com/office/drawing/2014/main" id="{CA0B7273-FA38-62DD-583A-EB4BFFFD561D}"/>
                </a:ext>
              </a:extLst>
            </p:cNvPr>
            <p:cNvSpPr>
              <a:spLocks/>
            </p:cNvSpPr>
            <p:nvPr/>
          </p:nvSpPr>
          <p:spPr>
            <a:xfrm>
              <a:off x="7205272" y="1828800"/>
              <a:ext cx="357252" cy="357252"/>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bg1"/>
            </a:solidFill>
            <a:ln w="6350" cap="flat">
              <a:solidFill>
                <a:schemeClr val="tx2"/>
              </a:solidFill>
              <a:prstDash val="solid"/>
              <a:rou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43A5E"/>
                </a:solidFill>
                <a:effectLst/>
                <a:uLnTx/>
                <a:uFillTx/>
                <a:latin typeface="Segoe UI Semibold"/>
                <a:ea typeface="+mn-ea"/>
                <a:cs typeface="+mn-cs"/>
              </a:endParaRPr>
            </a:p>
          </p:txBody>
        </p:sp>
        <p:grpSp>
          <p:nvGrpSpPr>
            <p:cNvPr id="20" name="Group 19" descr="Arrow pointing towards&#10;">
              <a:extLst>
                <a:ext uri="{FF2B5EF4-FFF2-40B4-BE49-F238E27FC236}">
                  <a16:creationId xmlns:a16="http://schemas.microsoft.com/office/drawing/2014/main" id="{EDEF5102-F323-0E8B-AA61-5E863E3AE65D}"/>
                </a:ext>
              </a:extLst>
            </p:cNvPr>
            <p:cNvGrpSpPr/>
            <p:nvPr/>
          </p:nvGrpSpPr>
          <p:grpSpPr>
            <a:xfrm>
              <a:off x="7295176" y="1916906"/>
              <a:ext cx="177444" cy="181040"/>
              <a:chOff x="7346660" y="1985862"/>
              <a:chExt cx="138622" cy="141433"/>
            </a:xfrm>
          </p:grpSpPr>
          <p:sp>
            <p:nvSpPr>
              <p:cNvPr id="21" name="Arrow: Chevron 20">
                <a:extLst>
                  <a:ext uri="{FF2B5EF4-FFF2-40B4-BE49-F238E27FC236}">
                    <a16:creationId xmlns:a16="http://schemas.microsoft.com/office/drawing/2014/main" id="{F20864EC-A441-D010-E27C-CBEF31FDC4FE}"/>
                  </a:ext>
                </a:extLst>
              </p:cNvPr>
              <p:cNvSpPr/>
              <p:nvPr/>
            </p:nvSpPr>
            <p:spPr bwMode="auto">
              <a:xfrm>
                <a:off x="7373376" y="1985862"/>
                <a:ext cx="111906" cy="141433"/>
              </a:xfrm>
              <a:prstGeom prst="chevron">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2" name="Arrow: Chevron 21">
                <a:extLst>
                  <a:ext uri="{FF2B5EF4-FFF2-40B4-BE49-F238E27FC236}">
                    <a16:creationId xmlns:a16="http://schemas.microsoft.com/office/drawing/2014/main" id="{B5558E63-2B9A-1600-6768-048EB40B5767}"/>
                  </a:ext>
                </a:extLst>
              </p:cNvPr>
              <p:cNvSpPr/>
              <p:nvPr/>
            </p:nvSpPr>
            <p:spPr bwMode="auto">
              <a:xfrm>
                <a:off x="7346660" y="2000250"/>
                <a:ext cx="89138" cy="112658"/>
              </a:xfrm>
              <a:prstGeom prst="chevron">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grpSp>
      <p:grpSp>
        <p:nvGrpSpPr>
          <p:cNvPr id="23" name="Group 22">
            <a:extLst>
              <a:ext uri="{FF2B5EF4-FFF2-40B4-BE49-F238E27FC236}">
                <a16:creationId xmlns:a16="http://schemas.microsoft.com/office/drawing/2014/main" id="{E2DE69CA-5BA8-E44C-14CA-4E9F078F7614}"/>
              </a:ext>
              <a:ext uri="{C183D7F6-B498-43B3-948B-1728B52AA6E4}">
                <adec:decorative xmlns:adec="http://schemas.microsoft.com/office/drawing/2017/decorative" val="1"/>
              </a:ext>
            </a:extLst>
          </p:cNvPr>
          <p:cNvGrpSpPr/>
          <p:nvPr/>
        </p:nvGrpSpPr>
        <p:grpSpPr>
          <a:xfrm>
            <a:off x="4329893" y="5382036"/>
            <a:ext cx="401265" cy="401265"/>
            <a:chOff x="7205272" y="1828800"/>
            <a:chExt cx="357252" cy="357252"/>
          </a:xfrm>
        </p:grpSpPr>
        <p:sp>
          <p:nvSpPr>
            <p:cNvPr id="24" name="Freeform: Shape 23">
              <a:extLst>
                <a:ext uri="{FF2B5EF4-FFF2-40B4-BE49-F238E27FC236}">
                  <a16:creationId xmlns:a16="http://schemas.microsoft.com/office/drawing/2014/main" id="{89E934F2-5DDD-1A07-6131-91E7D729BAF3}"/>
                </a:ext>
              </a:extLst>
            </p:cNvPr>
            <p:cNvSpPr>
              <a:spLocks/>
            </p:cNvSpPr>
            <p:nvPr/>
          </p:nvSpPr>
          <p:spPr>
            <a:xfrm>
              <a:off x="7205272" y="1828800"/>
              <a:ext cx="357252" cy="357252"/>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bg1"/>
            </a:solidFill>
            <a:ln w="6350" cap="flat">
              <a:solidFill>
                <a:schemeClr val="tx2"/>
              </a:solidFill>
              <a:prstDash val="solid"/>
              <a:rou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43A5E"/>
                </a:solidFill>
                <a:effectLst/>
                <a:uLnTx/>
                <a:uFillTx/>
                <a:latin typeface="Segoe UI Semibold"/>
                <a:ea typeface="+mn-ea"/>
                <a:cs typeface="+mn-cs"/>
              </a:endParaRPr>
            </a:p>
          </p:txBody>
        </p:sp>
        <p:grpSp>
          <p:nvGrpSpPr>
            <p:cNvPr id="25" name="Group 24" descr="Arrow pointing towards&#10;">
              <a:extLst>
                <a:ext uri="{FF2B5EF4-FFF2-40B4-BE49-F238E27FC236}">
                  <a16:creationId xmlns:a16="http://schemas.microsoft.com/office/drawing/2014/main" id="{75B600E4-1000-6E08-95B7-6C0614D9CC87}"/>
                </a:ext>
              </a:extLst>
            </p:cNvPr>
            <p:cNvGrpSpPr/>
            <p:nvPr/>
          </p:nvGrpSpPr>
          <p:grpSpPr>
            <a:xfrm>
              <a:off x="7295176" y="1916906"/>
              <a:ext cx="177444" cy="181040"/>
              <a:chOff x="7346660" y="1985862"/>
              <a:chExt cx="138622" cy="141433"/>
            </a:xfrm>
          </p:grpSpPr>
          <p:sp>
            <p:nvSpPr>
              <p:cNvPr id="29" name="Arrow: Chevron 28">
                <a:extLst>
                  <a:ext uri="{FF2B5EF4-FFF2-40B4-BE49-F238E27FC236}">
                    <a16:creationId xmlns:a16="http://schemas.microsoft.com/office/drawing/2014/main" id="{E57AD6CA-8BEE-F8D6-2C11-96A3F372F48C}"/>
                  </a:ext>
                </a:extLst>
              </p:cNvPr>
              <p:cNvSpPr/>
              <p:nvPr/>
            </p:nvSpPr>
            <p:spPr bwMode="auto">
              <a:xfrm>
                <a:off x="7373376" y="1985862"/>
                <a:ext cx="111906" cy="141433"/>
              </a:xfrm>
              <a:prstGeom prst="chevron">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0" name="Arrow: Chevron 29">
                <a:extLst>
                  <a:ext uri="{FF2B5EF4-FFF2-40B4-BE49-F238E27FC236}">
                    <a16:creationId xmlns:a16="http://schemas.microsoft.com/office/drawing/2014/main" id="{84EBE6C7-AFAB-7325-A94F-34D183AC7F8F}"/>
                  </a:ext>
                </a:extLst>
              </p:cNvPr>
              <p:cNvSpPr/>
              <p:nvPr/>
            </p:nvSpPr>
            <p:spPr bwMode="auto">
              <a:xfrm>
                <a:off x="7346660" y="2000250"/>
                <a:ext cx="89138" cy="112658"/>
              </a:xfrm>
              <a:prstGeom prst="chevron">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grpSp>
      <p:cxnSp>
        <p:nvCxnSpPr>
          <p:cNvPr id="33" name="Straight Connector 32">
            <a:extLst>
              <a:ext uri="{FF2B5EF4-FFF2-40B4-BE49-F238E27FC236}">
                <a16:creationId xmlns:a16="http://schemas.microsoft.com/office/drawing/2014/main" id="{0913AF13-FAC6-5069-C587-44210CB7C398}"/>
              </a:ext>
              <a:ext uri="{C183D7F6-B498-43B3-948B-1728B52AA6E4}">
                <adec:decorative xmlns:adec="http://schemas.microsoft.com/office/drawing/2017/decorative" val="1"/>
              </a:ext>
            </a:extLst>
          </p:cNvPr>
          <p:cNvCxnSpPr>
            <a:cxnSpLocks/>
          </p:cNvCxnSpPr>
          <p:nvPr/>
        </p:nvCxnSpPr>
        <p:spPr>
          <a:xfrm>
            <a:off x="5134514" y="3595750"/>
            <a:ext cx="6266911" cy="0"/>
          </a:xfrm>
          <a:prstGeom prst="line">
            <a:avLst/>
          </a:prstGeom>
          <a:ln w="3175">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BEBB039-9A6C-A236-8599-2689864DDCB0}"/>
              </a:ext>
              <a:ext uri="{C183D7F6-B498-43B3-948B-1728B52AA6E4}">
                <adec:decorative xmlns:adec="http://schemas.microsoft.com/office/drawing/2017/decorative" val="1"/>
              </a:ext>
            </a:extLst>
          </p:cNvPr>
          <p:cNvCxnSpPr>
            <a:cxnSpLocks/>
          </p:cNvCxnSpPr>
          <p:nvPr/>
        </p:nvCxnSpPr>
        <p:spPr>
          <a:xfrm>
            <a:off x="5134514" y="4920362"/>
            <a:ext cx="6266911" cy="0"/>
          </a:xfrm>
          <a:prstGeom prst="line">
            <a:avLst/>
          </a:prstGeom>
          <a:ln w="3175">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1226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54B2C5C-B531-326F-D666-6B289912D683}"/>
              </a:ext>
              <a:ext uri="{C183D7F6-B498-43B3-948B-1728B52AA6E4}">
                <adec:decorative xmlns:adec="http://schemas.microsoft.com/office/drawing/2017/decorative" val="1"/>
              </a:ext>
            </a:extLst>
          </p:cNvPr>
          <p:cNvGrpSpPr/>
          <p:nvPr/>
        </p:nvGrpSpPr>
        <p:grpSpPr>
          <a:xfrm>
            <a:off x="2841492" y="1637111"/>
            <a:ext cx="4151376" cy="4151376"/>
            <a:chOff x="2841492" y="1358815"/>
            <a:chExt cx="4151376" cy="4151376"/>
          </a:xfrm>
        </p:grpSpPr>
        <p:sp>
          <p:nvSpPr>
            <p:cNvPr id="3" name="Oval 2">
              <a:extLst>
                <a:ext uri="{FF2B5EF4-FFF2-40B4-BE49-F238E27FC236}">
                  <a16:creationId xmlns:a16="http://schemas.microsoft.com/office/drawing/2014/main" id="{E491BE46-05C8-F031-B421-9A4E9A5CC55D}"/>
                </a:ext>
              </a:extLst>
            </p:cNvPr>
            <p:cNvSpPr/>
            <p:nvPr/>
          </p:nvSpPr>
          <p:spPr bwMode="auto">
            <a:xfrm>
              <a:off x="3009373" y="1526696"/>
              <a:ext cx="3815614" cy="3815614"/>
            </a:xfrm>
            <a:prstGeom prst="ellipse">
              <a:avLst/>
            </a:prstGeom>
            <a:noFill/>
            <a:ln w="0">
              <a:solidFill>
                <a:schemeClr val="accent3">
                  <a:alpha val="1000"/>
                </a:schemeClr>
              </a:solidFill>
              <a:headEnd type="none" w="med" len="med"/>
              <a:tailEnd type="none" w="med" len="med"/>
            </a:ln>
            <a:effectLst>
              <a:glow rad="38100">
                <a:schemeClr val="accent3">
                  <a:alpha val="40000"/>
                </a:schemeClr>
              </a:glo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Oval 3">
              <a:extLst>
                <a:ext uri="{FF2B5EF4-FFF2-40B4-BE49-F238E27FC236}">
                  <a16:creationId xmlns:a16="http://schemas.microsoft.com/office/drawing/2014/main" id="{658ED228-A685-B1CC-8362-1209542EEBA3}"/>
                </a:ext>
              </a:extLst>
            </p:cNvPr>
            <p:cNvSpPr/>
            <p:nvPr/>
          </p:nvSpPr>
          <p:spPr bwMode="auto">
            <a:xfrm>
              <a:off x="3166104" y="1683427"/>
              <a:ext cx="3502152" cy="3502152"/>
            </a:xfrm>
            <a:prstGeom prst="ellipse">
              <a:avLst/>
            </a:prstGeom>
            <a:noFill/>
            <a:ln w="0">
              <a:solidFill>
                <a:schemeClr val="accent1">
                  <a:alpha val="1000"/>
                </a:schemeClr>
              </a:solidFill>
              <a:headEnd type="none" w="med" len="med"/>
              <a:tailEnd type="none" w="med" len="med"/>
            </a:ln>
            <a:effectLst>
              <a:glow rad="38100">
                <a:schemeClr val="accent1">
                  <a:alpha val="20000"/>
                </a:schemeClr>
              </a:glo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Oval 4">
              <a:extLst>
                <a:ext uri="{FF2B5EF4-FFF2-40B4-BE49-F238E27FC236}">
                  <a16:creationId xmlns:a16="http://schemas.microsoft.com/office/drawing/2014/main" id="{F7D08C8F-349D-8F11-B812-86A6000E8454}"/>
                </a:ext>
              </a:extLst>
            </p:cNvPr>
            <p:cNvSpPr/>
            <p:nvPr/>
          </p:nvSpPr>
          <p:spPr bwMode="auto">
            <a:xfrm>
              <a:off x="2841492" y="1358815"/>
              <a:ext cx="4151376" cy="4151376"/>
            </a:xfrm>
            <a:prstGeom prst="ellipse">
              <a:avLst/>
            </a:prstGeom>
            <a:noFill/>
            <a:ln w="0">
              <a:solidFill>
                <a:schemeClr val="accent2">
                  <a:alpha val="1000"/>
                </a:schemeClr>
              </a:solidFill>
              <a:headEnd type="none" w="med" len="med"/>
              <a:tailEnd type="none" w="med" len="med"/>
            </a:ln>
            <a:effectLst>
              <a:glow rad="38100">
                <a:schemeClr val="accent2">
                  <a:alpha val="20000"/>
                </a:schemeClr>
              </a:glo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31" name="Freeform: Shape 230">
            <a:extLst>
              <a:ext uri="{FF2B5EF4-FFF2-40B4-BE49-F238E27FC236}">
                <a16:creationId xmlns:a16="http://schemas.microsoft.com/office/drawing/2014/main" id="{AC823672-AB3E-EF5E-0B75-CBC3B887D864}"/>
              </a:ext>
              <a:ext uri="{C183D7F6-B498-43B3-948B-1728B52AA6E4}">
                <adec:decorative xmlns:adec="http://schemas.microsoft.com/office/drawing/2017/decorative" val="1"/>
              </a:ext>
            </a:extLst>
          </p:cNvPr>
          <p:cNvSpPr/>
          <p:nvPr/>
        </p:nvSpPr>
        <p:spPr bwMode="auto">
          <a:xfrm>
            <a:off x="5634646" y="1631717"/>
            <a:ext cx="6557355" cy="4151156"/>
          </a:xfrm>
          <a:custGeom>
            <a:avLst/>
            <a:gdLst>
              <a:gd name="connsiteX0" fmla="*/ 0 w 6557355"/>
              <a:gd name="connsiteY0" fmla="*/ 0 h 4151156"/>
              <a:gd name="connsiteX1" fmla="*/ 6557355 w 6557355"/>
              <a:gd name="connsiteY1" fmla="*/ 0 h 4151156"/>
              <a:gd name="connsiteX2" fmla="*/ 6557355 w 6557355"/>
              <a:gd name="connsiteY2" fmla="*/ 4151156 h 4151156"/>
              <a:gd name="connsiteX3" fmla="*/ 5 w 6557355"/>
              <a:gd name="connsiteY3" fmla="*/ 4151156 h 4151156"/>
              <a:gd name="connsiteX4" fmla="*/ 140568 w 6557355"/>
              <a:gd name="connsiteY4" fmla="*/ 4099710 h 4151156"/>
              <a:gd name="connsiteX5" fmla="*/ 1482251 w 6557355"/>
              <a:gd name="connsiteY5" fmla="*/ 2075579 h 4151156"/>
              <a:gd name="connsiteX6" fmla="*/ 140568 w 6557355"/>
              <a:gd name="connsiteY6" fmla="*/ 51449 h 415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7355" h="4151156">
                <a:moveTo>
                  <a:pt x="0" y="0"/>
                </a:moveTo>
                <a:lnTo>
                  <a:pt x="6557355" y="0"/>
                </a:lnTo>
                <a:lnTo>
                  <a:pt x="6557355" y="4151156"/>
                </a:lnTo>
                <a:lnTo>
                  <a:pt x="5" y="4151156"/>
                </a:lnTo>
                <a:lnTo>
                  <a:pt x="140568" y="4099710"/>
                </a:lnTo>
                <a:cubicBezTo>
                  <a:pt x="929019" y="3766223"/>
                  <a:pt x="1482251" y="2985508"/>
                  <a:pt x="1482251" y="2075579"/>
                </a:cubicBezTo>
                <a:cubicBezTo>
                  <a:pt x="1482251" y="1165650"/>
                  <a:pt x="929019" y="384935"/>
                  <a:pt x="140568" y="51449"/>
                </a:cubicBezTo>
                <a:close/>
              </a:path>
            </a:pathLst>
          </a:custGeom>
          <a:gradFill>
            <a:gsLst>
              <a:gs pos="0">
                <a:schemeClr val="bg1">
                  <a:lumMod val="95000"/>
                  <a:alpha val="0"/>
                </a:schemeClr>
              </a:gs>
              <a:gs pos="52000">
                <a:schemeClr val="bg1">
                  <a:lumMod val="95000"/>
                </a:schemeClr>
              </a:gs>
            </a:gsLst>
            <a:lin ang="600000" scaled="0"/>
          </a:gradFill>
          <a:ln w="3175">
            <a:gradFill flip="none" rotWithShape="1">
              <a:gsLst>
                <a:gs pos="30000">
                  <a:schemeClr val="bg1">
                    <a:lumMod val="95000"/>
                    <a:alpha val="0"/>
                  </a:schemeClr>
                </a:gs>
                <a:gs pos="100000">
                  <a:schemeClr val="bg1">
                    <a:lumMod val="85000"/>
                  </a:schemeClr>
                </a:gs>
              </a:gsLst>
              <a:lin ang="600000" scaled="0"/>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cxnSp>
        <p:nvCxnSpPr>
          <p:cNvPr id="191" name="Straight Connector 190">
            <a:extLst>
              <a:ext uri="{FF2B5EF4-FFF2-40B4-BE49-F238E27FC236}">
                <a16:creationId xmlns:a16="http://schemas.microsoft.com/office/drawing/2014/main" id="{362300B3-111E-43C6-1625-89EE48895924}"/>
              </a:ext>
              <a:ext uri="{C183D7F6-B498-43B3-948B-1728B52AA6E4}">
                <adec:decorative xmlns:adec="http://schemas.microsoft.com/office/drawing/2017/decorative" val="1"/>
              </a:ext>
            </a:extLst>
          </p:cNvPr>
          <p:cNvCxnSpPr>
            <a:cxnSpLocks/>
          </p:cNvCxnSpPr>
          <p:nvPr/>
        </p:nvCxnSpPr>
        <p:spPr>
          <a:xfrm>
            <a:off x="6908800" y="3078141"/>
            <a:ext cx="5283200" cy="0"/>
          </a:xfrm>
          <a:prstGeom prst="line">
            <a:avLst/>
          </a:prstGeom>
          <a:solidFill>
            <a:schemeClr val="bg1">
              <a:lumMod val="95000"/>
            </a:schemeClr>
          </a:solidFill>
          <a:ln w="6350">
            <a:gradFill flip="none" rotWithShape="1">
              <a:gsLst>
                <a:gs pos="0">
                  <a:schemeClr val="bg1">
                    <a:lumMod val="95000"/>
                  </a:schemeClr>
                </a:gs>
                <a:gs pos="100000">
                  <a:schemeClr val="bg1">
                    <a:lumMod val="85000"/>
                  </a:schemeClr>
                </a:gs>
              </a:gsLst>
              <a:lin ang="10800000" scaled="1"/>
              <a:tileRect/>
            </a:gra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92" name="Straight Connector 191">
            <a:extLst>
              <a:ext uri="{FF2B5EF4-FFF2-40B4-BE49-F238E27FC236}">
                <a16:creationId xmlns:a16="http://schemas.microsoft.com/office/drawing/2014/main" id="{AAF78FF9-8625-6547-41F8-094668929584}"/>
              </a:ext>
              <a:ext uri="{C183D7F6-B498-43B3-948B-1728B52AA6E4}">
                <adec:decorative xmlns:adec="http://schemas.microsoft.com/office/drawing/2017/decorative" val="1"/>
              </a:ext>
            </a:extLst>
          </p:cNvPr>
          <p:cNvCxnSpPr>
            <a:cxnSpLocks/>
          </p:cNvCxnSpPr>
          <p:nvPr/>
        </p:nvCxnSpPr>
        <p:spPr>
          <a:xfrm>
            <a:off x="6908800" y="4336448"/>
            <a:ext cx="5283200" cy="0"/>
          </a:xfrm>
          <a:prstGeom prst="line">
            <a:avLst/>
          </a:prstGeom>
          <a:solidFill>
            <a:schemeClr val="bg1">
              <a:lumMod val="95000"/>
            </a:schemeClr>
          </a:solidFill>
          <a:ln w="6350">
            <a:gradFill flip="none" rotWithShape="1">
              <a:gsLst>
                <a:gs pos="0">
                  <a:schemeClr val="bg1">
                    <a:lumMod val="95000"/>
                  </a:schemeClr>
                </a:gs>
                <a:gs pos="100000">
                  <a:schemeClr val="bg1">
                    <a:lumMod val="85000"/>
                  </a:schemeClr>
                </a:gs>
              </a:gsLst>
              <a:lin ang="10800000" scaled="1"/>
              <a:tileRect/>
            </a:gra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pic>
        <p:nvPicPr>
          <p:cNvPr id="206" name="Graphic 205" hidden="1">
            <a:extLst>
              <a:ext uri="{FF2B5EF4-FFF2-40B4-BE49-F238E27FC236}">
                <a16:creationId xmlns:a16="http://schemas.microsoft.com/office/drawing/2014/main" id="{7CC01394-2A20-2310-91A9-B1FC092FD9C4}"/>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2844555" y="1353422"/>
            <a:ext cx="4151156" cy="4151156"/>
          </a:xfrm>
          <a:prstGeom prst="rect">
            <a:avLst/>
          </a:prstGeom>
        </p:spPr>
      </p:pic>
      <p:sp>
        <p:nvSpPr>
          <p:cNvPr id="205" name="Oval 204" hidden="1">
            <a:extLst>
              <a:ext uri="{FF2B5EF4-FFF2-40B4-BE49-F238E27FC236}">
                <a16:creationId xmlns:a16="http://schemas.microsoft.com/office/drawing/2014/main" id="{42B127E8-8ACC-7895-1C48-0EE3BD788A13}"/>
              </a:ext>
              <a:ext uri="{C183D7F6-B498-43B3-948B-1728B52AA6E4}">
                <adec:decorative xmlns:adec="http://schemas.microsoft.com/office/drawing/2017/decorative" val="1"/>
              </a:ext>
            </a:extLst>
          </p:cNvPr>
          <p:cNvSpPr/>
          <p:nvPr/>
        </p:nvSpPr>
        <p:spPr bwMode="auto">
          <a:xfrm flipH="1">
            <a:off x="3168494" y="1676718"/>
            <a:ext cx="3503278" cy="3504564"/>
          </a:xfrm>
          <a:prstGeom prst="ellipse">
            <a:avLst/>
          </a:prstGeom>
          <a:solidFill>
            <a:schemeClr val="bg1"/>
          </a:solidFill>
          <a:ln cap="rnd">
            <a:solidFill>
              <a:schemeClr val="bg1">
                <a:lumMod val="95000"/>
              </a:schemeClr>
            </a:solidFill>
            <a:prstDash val="solid"/>
            <a:miter/>
          </a:ln>
          <a:effectLst>
            <a:outerShdw blurRad="635000" dist="482600" dir="5400000" sx="90000" sy="9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00" name="Freeform: Shape 199">
            <a:extLst>
              <a:ext uri="{FF2B5EF4-FFF2-40B4-BE49-F238E27FC236}">
                <a16:creationId xmlns:a16="http://schemas.microsoft.com/office/drawing/2014/main" id="{FA5D6493-37C3-9949-BC52-3BF7EA2DD5EC}"/>
              </a:ext>
              <a:ext uri="{C183D7F6-B498-43B3-948B-1728B52AA6E4}">
                <adec:decorative xmlns:adec="http://schemas.microsoft.com/office/drawing/2017/decorative" val="1"/>
              </a:ext>
            </a:extLst>
          </p:cNvPr>
          <p:cNvSpPr>
            <a:spLocks/>
          </p:cNvSpPr>
          <p:nvPr/>
        </p:nvSpPr>
        <p:spPr bwMode="auto">
          <a:xfrm>
            <a:off x="0" y="2114716"/>
            <a:ext cx="6532920" cy="3185160"/>
          </a:xfrm>
          <a:custGeom>
            <a:avLst/>
            <a:gdLst>
              <a:gd name="connsiteX0" fmla="*/ 0 w 6532920"/>
              <a:gd name="connsiteY0" fmla="*/ 0 h 3185160"/>
              <a:gd name="connsiteX1" fmla="*/ 478619 w 6532920"/>
              <a:gd name="connsiteY1" fmla="*/ 0 h 3185160"/>
              <a:gd name="connsiteX2" fmla="*/ 1288103 w 6532920"/>
              <a:gd name="connsiteY2" fmla="*/ 0 h 3185160"/>
              <a:gd name="connsiteX3" fmla="*/ 1766722 w 6532920"/>
              <a:gd name="connsiteY3" fmla="*/ 0 h 3185160"/>
              <a:gd name="connsiteX4" fmla="*/ 3173619 w 6532920"/>
              <a:gd name="connsiteY4" fmla="*/ 0 h 3185160"/>
              <a:gd name="connsiteX5" fmla="*/ 3652238 w 6532920"/>
              <a:gd name="connsiteY5" fmla="*/ 0 h 3185160"/>
              <a:gd name="connsiteX6" fmla="*/ 4461722 w 6532920"/>
              <a:gd name="connsiteY6" fmla="*/ 0 h 3185160"/>
              <a:gd name="connsiteX7" fmla="*/ 4940341 w 6532920"/>
              <a:gd name="connsiteY7" fmla="*/ 0 h 3185160"/>
              <a:gd name="connsiteX8" fmla="*/ 6532920 w 6532920"/>
              <a:gd name="connsiteY8" fmla="*/ 1592580 h 3185160"/>
              <a:gd name="connsiteX9" fmla="*/ 4940341 w 6532920"/>
              <a:gd name="connsiteY9" fmla="*/ 3185160 h 3185160"/>
              <a:gd name="connsiteX10" fmla="*/ 4461722 w 6532920"/>
              <a:gd name="connsiteY10" fmla="*/ 3185160 h 3185160"/>
              <a:gd name="connsiteX11" fmla="*/ 3652238 w 6532920"/>
              <a:gd name="connsiteY11" fmla="*/ 3185160 h 3185160"/>
              <a:gd name="connsiteX12" fmla="*/ 3173619 w 6532920"/>
              <a:gd name="connsiteY12" fmla="*/ 3185160 h 3185160"/>
              <a:gd name="connsiteX13" fmla="*/ 1766722 w 6532920"/>
              <a:gd name="connsiteY13" fmla="*/ 3185160 h 3185160"/>
              <a:gd name="connsiteX14" fmla="*/ 1288103 w 6532920"/>
              <a:gd name="connsiteY14" fmla="*/ 3185160 h 3185160"/>
              <a:gd name="connsiteX15" fmla="*/ 478619 w 6532920"/>
              <a:gd name="connsiteY15" fmla="*/ 3185160 h 3185160"/>
              <a:gd name="connsiteX16" fmla="*/ 0 w 6532920"/>
              <a:gd name="connsiteY16" fmla="*/ 3185160 h 318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32920" h="3185160">
                <a:moveTo>
                  <a:pt x="0" y="0"/>
                </a:moveTo>
                <a:lnTo>
                  <a:pt x="478619" y="0"/>
                </a:lnTo>
                <a:lnTo>
                  <a:pt x="1288103" y="0"/>
                </a:lnTo>
                <a:lnTo>
                  <a:pt x="1766722" y="0"/>
                </a:lnTo>
                <a:lnTo>
                  <a:pt x="3173619" y="0"/>
                </a:lnTo>
                <a:lnTo>
                  <a:pt x="3652238" y="0"/>
                </a:lnTo>
                <a:lnTo>
                  <a:pt x="4461722" y="0"/>
                </a:lnTo>
                <a:lnTo>
                  <a:pt x="4940341" y="0"/>
                </a:lnTo>
                <a:cubicBezTo>
                  <a:pt x="5819898" y="0"/>
                  <a:pt x="6532920" y="713023"/>
                  <a:pt x="6532920" y="1592580"/>
                </a:cubicBezTo>
                <a:cubicBezTo>
                  <a:pt x="6532920" y="2472137"/>
                  <a:pt x="5819898" y="3185160"/>
                  <a:pt x="4940341" y="3185160"/>
                </a:cubicBezTo>
                <a:lnTo>
                  <a:pt x="4461722" y="3185160"/>
                </a:lnTo>
                <a:lnTo>
                  <a:pt x="3652238" y="3185160"/>
                </a:lnTo>
                <a:lnTo>
                  <a:pt x="3173619" y="3185160"/>
                </a:lnTo>
                <a:lnTo>
                  <a:pt x="1766722" y="3185160"/>
                </a:lnTo>
                <a:lnTo>
                  <a:pt x="1288103" y="3185160"/>
                </a:lnTo>
                <a:lnTo>
                  <a:pt x="478619" y="3185160"/>
                </a:lnTo>
                <a:lnTo>
                  <a:pt x="0" y="3185160"/>
                </a:lnTo>
                <a:close/>
              </a:path>
            </a:pathLst>
          </a:custGeom>
          <a:solidFill>
            <a:schemeClr val="tx2"/>
          </a:solidFill>
          <a:ln w="3175">
            <a:gradFill flip="none" rotWithShape="1">
              <a:gsLst>
                <a:gs pos="30000">
                  <a:schemeClr val="bg1">
                    <a:lumMod val="95000"/>
                    <a:alpha val="0"/>
                  </a:schemeClr>
                </a:gs>
                <a:gs pos="100000">
                  <a:schemeClr val="bg1">
                    <a:lumMod val="85000"/>
                  </a:schemeClr>
                </a:gs>
              </a:gsLst>
              <a:lin ang="600000" scaled="0"/>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itle 5">
            <a:extLst>
              <a:ext uri="{FF2B5EF4-FFF2-40B4-BE49-F238E27FC236}">
                <a16:creationId xmlns:a16="http://schemas.microsoft.com/office/drawing/2014/main" id="{8475EB11-7EB3-CBA4-6EFE-46FBBD3FC051}"/>
              </a:ext>
            </a:extLst>
          </p:cNvPr>
          <p:cNvSpPr>
            <a:spLocks noGrp="1"/>
          </p:cNvSpPr>
          <p:nvPr>
            <p:ph type="title"/>
          </p:nvPr>
        </p:nvSpPr>
        <p:spPr/>
        <p:txBody>
          <a:bodyPr/>
          <a:lstStyle/>
          <a:p>
            <a:r>
              <a:rPr lang="en-US" sz="3200"/>
              <a:t>Your journey—with the full power of Microsoft beside you</a:t>
            </a:r>
          </a:p>
        </p:txBody>
      </p:sp>
      <p:sp>
        <p:nvSpPr>
          <p:cNvPr id="197" name="TextBox 196">
            <a:extLst>
              <a:ext uri="{FF2B5EF4-FFF2-40B4-BE49-F238E27FC236}">
                <a16:creationId xmlns:a16="http://schemas.microsoft.com/office/drawing/2014/main" id="{A8873B39-4AB2-1AC0-22BA-F0B258F69E5D}"/>
              </a:ext>
            </a:extLst>
          </p:cNvPr>
          <p:cNvSpPr txBox="1"/>
          <p:nvPr/>
        </p:nvSpPr>
        <p:spPr>
          <a:xfrm>
            <a:off x="574319" y="2663696"/>
            <a:ext cx="2860904" cy="1938992"/>
          </a:xfrm>
          <a:prstGeom prst="rect">
            <a:avLst/>
          </a:prstGeom>
          <a:noFill/>
        </p:spPr>
        <p:txBody>
          <a:bodyPr wrap="square" lIns="0" tIns="0" rIns="0" bIns="0">
            <a:spAutoFit/>
          </a:bodyPr>
          <a:lstStyle/>
          <a:p>
            <a:pPr marL="0" marR="0" lvl="0" indent="0" algn="l" defTabSz="914016" rtl="0" eaLnBrk="1" fontAlgn="auto" latinLnBrk="0" hangingPunct="1">
              <a:lnSpc>
                <a:spcPct val="100000"/>
              </a:lnSpc>
              <a:spcBef>
                <a:spcPct val="20000"/>
              </a:spcBef>
              <a:spcAft>
                <a:spcPts val="0"/>
              </a:spcAft>
              <a:buClrTx/>
              <a:buSzPct val="90000"/>
              <a:buFontTx/>
              <a:buNone/>
              <a:tabLst/>
              <a:defRPr/>
            </a:pPr>
            <a:r>
              <a:rPr kumimoji="0" lang="en-US" sz="18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Achieve business success with </a:t>
            </a:r>
            <a:r>
              <a:rPr kumimoji="0" lang="en-US" sz="18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direct and continuous access</a:t>
            </a:r>
            <a:r>
              <a:rPr kumimoji="0" lang="en-US" sz="18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 to our </a:t>
            </a:r>
            <a:r>
              <a:rPr kumimoji="0" lang="en-US" sz="18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unmatched expertise</a:t>
            </a:r>
            <a:r>
              <a:rPr kumimoji="0" lang="en-US" sz="18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 empowering you to strengthen resiliency, drive innovation, and maximize your Microsoft technologies.</a:t>
            </a:r>
          </a:p>
        </p:txBody>
      </p:sp>
      <p:sp>
        <p:nvSpPr>
          <p:cNvPr id="124" name="Oval 123">
            <a:extLst>
              <a:ext uri="{FF2B5EF4-FFF2-40B4-BE49-F238E27FC236}">
                <a16:creationId xmlns:a16="http://schemas.microsoft.com/office/drawing/2014/main" id="{BDE8D1F2-4EE3-67A3-A640-0C17EE36DD5D}"/>
              </a:ext>
              <a:ext uri="{C183D7F6-B498-43B3-948B-1728B52AA6E4}">
                <adec:decorative xmlns:adec="http://schemas.microsoft.com/office/drawing/2017/decorative" val="1"/>
              </a:ext>
            </a:extLst>
          </p:cNvPr>
          <p:cNvSpPr/>
          <p:nvPr/>
        </p:nvSpPr>
        <p:spPr bwMode="auto">
          <a:xfrm flipH="1">
            <a:off x="3763417" y="2550156"/>
            <a:ext cx="2313432" cy="2314280"/>
          </a:xfrm>
          <a:prstGeom prst="ellipse">
            <a:avLst/>
          </a:prstGeom>
          <a:solidFill>
            <a:schemeClr val="bg1"/>
          </a:solidFill>
          <a:ln cap="rnd">
            <a:solidFill>
              <a:schemeClr val="bg1">
                <a:lumMod val="95000"/>
              </a:schemeClr>
            </a:solidFill>
            <a:prstDash val="solid"/>
            <a:miter/>
          </a:ln>
          <a:effectLst>
            <a:outerShdw blurRad="635000" dist="482600" dir="5400000" sx="90000" sy="9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9" name="Graphic 118">
            <a:extLst>
              <a:ext uri="{FF2B5EF4-FFF2-40B4-BE49-F238E27FC236}">
                <a16:creationId xmlns:a16="http://schemas.microsoft.com/office/drawing/2014/main" id="{3A234BC7-C0EC-6968-3283-CAA3CC8D9ECF}"/>
              </a:ext>
            </a:extLst>
          </p:cNvPr>
          <p:cNvSpPr/>
          <p:nvPr/>
        </p:nvSpPr>
        <p:spPr>
          <a:xfrm flipH="1">
            <a:off x="4020971" y="2807602"/>
            <a:ext cx="1798322" cy="1799388"/>
          </a:xfrm>
          <a:prstGeom prst="ellipse">
            <a:avLst/>
          </a:prstGeom>
          <a:solidFill>
            <a:schemeClr val="bg1"/>
          </a:solidFill>
          <a:ln w="15875" cap="flat">
            <a:solidFill>
              <a:schemeClr val="accent2"/>
            </a:solidFill>
            <a:prstDash val="solid"/>
            <a:miter/>
          </a:ln>
          <a:effectLst>
            <a:outerShdw blurRad="317500" dist="317500" dir="5400000" sx="60000" sy="60000" algn="ctr" rotWithShape="0">
              <a:schemeClr val="accent1">
                <a:lumMod val="50000"/>
                <a:alpha val="29000"/>
              </a:scheme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243A5E"/>
                </a:solidFill>
                <a:effectLst>
                  <a:outerShdw blurRad="50800" dist="38100" dir="2700000" algn="tl" rotWithShape="0">
                    <a:prstClr val="black">
                      <a:alpha val="40000"/>
                    </a:prstClr>
                  </a:outerShdw>
                </a:effectLst>
                <a:uLnTx/>
                <a:uFillTx/>
                <a:latin typeface="Segoe UI Semibold"/>
                <a:ea typeface="+mn-ea"/>
                <a:cs typeface="Segoe UI" pitchFamily="34" charset="0"/>
              </a:rPr>
              <a:t>Microsoft</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243A5E"/>
                </a:solidFill>
                <a:effectLst>
                  <a:outerShdw blurRad="50800" dist="38100" dir="2700000" algn="tl" rotWithShape="0">
                    <a:prstClr val="black">
                      <a:alpha val="40000"/>
                    </a:prstClr>
                  </a:outerShdw>
                </a:effectLst>
                <a:uLnTx/>
                <a:uFillTx/>
                <a:latin typeface="Segoe UI Semibold"/>
                <a:ea typeface="+mn-ea"/>
                <a:cs typeface="Segoe UI" pitchFamily="34" charset="0"/>
              </a:rPr>
              <a:t>Unified</a:t>
            </a:r>
          </a:p>
        </p:txBody>
      </p:sp>
      <p:grpSp>
        <p:nvGrpSpPr>
          <p:cNvPr id="22" name="Group 21" descr="icon of a cloud with a checkmark overlaying it to indicate &quot;Empower cloud success&quot;">
            <a:extLst>
              <a:ext uri="{FF2B5EF4-FFF2-40B4-BE49-F238E27FC236}">
                <a16:creationId xmlns:a16="http://schemas.microsoft.com/office/drawing/2014/main" id="{209B061B-4061-20C8-958D-4E904F97AEAB}"/>
              </a:ext>
            </a:extLst>
          </p:cNvPr>
          <p:cNvGrpSpPr/>
          <p:nvPr/>
        </p:nvGrpSpPr>
        <p:grpSpPr>
          <a:xfrm>
            <a:off x="5661004" y="2202485"/>
            <a:ext cx="492998" cy="493006"/>
            <a:chOff x="5661004" y="2202485"/>
            <a:chExt cx="492998" cy="493006"/>
          </a:xfrm>
        </p:grpSpPr>
        <p:sp>
          <p:nvSpPr>
            <p:cNvPr id="184" name="Freeform: Shape 183">
              <a:extLst>
                <a:ext uri="{FF2B5EF4-FFF2-40B4-BE49-F238E27FC236}">
                  <a16:creationId xmlns:a16="http://schemas.microsoft.com/office/drawing/2014/main" id="{3F2F4746-754B-CCFF-F843-29B14E15394C}"/>
                </a:ext>
              </a:extLst>
            </p:cNvPr>
            <p:cNvSpPr>
              <a:spLocks/>
            </p:cNvSpPr>
            <p:nvPr/>
          </p:nvSpPr>
          <p:spPr>
            <a:xfrm flipH="1">
              <a:off x="5661004" y="2202485"/>
              <a:ext cx="492998" cy="493006"/>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gradFill flip="none" rotWithShape="1">
              <a:gsLst>
                <a:gs pos="0">
                  <a:srgbClr val="0078D4"/>
                </a:gs>
                <a:gs pos="100000">
                  <a:schemeClr val="accent1">
                    <a:lumMod val="50000"/>
                  </a:schemeClr>
                </a:gs>
              </a:gsLst>
              <a:lin ang="2700000" scaled="1"/>
              <a:tileRect/>
            </a:gradFill>
            <a:ln w="9525" cap="flat">
              <a:solidFill>
                <a:schemeClr val="bg1"/>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5" name="Freeform: Shape 184">
              <a:extLst>
                <a:ext uri="{FF2B5EF4-FFF2-40B4-BE49-F238E27FC236}">
                  <a16:creationId xmlns:a16="http://schemas.microsoft.com/office/drawing/2014/main" id="{4E007C83-8D43-E566-D471-2ECB29E990B8}"/>
                </a:ext>
              </a:extLst>
            </p:cNvPr>
            <p:cNvSpPr>
              <a:spLocks/>
            </p:cNvSpPr>
            <p:nvPr/>
          </p:nvSpPr>
          <p:spPr>
            <a:xfrm flipH="1">
              <a:off x="5702775" y="2244257"/>
              <a:ext cx="409457" cy="409462"/>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solidFill>
              <a:schemeClr val="bg1"/>
            </a:solidFill>
            <a:ln w="9525" cap="flat">
              <a:solidFill>
                <a:schemeClr val="accent1"/>
              </a:solidFill>
              <a:prstDash val="solid"/>
              <a:miter/>
            </a:ln>
            <a:effectLst>
              <a:outerShdw blurRad="127000" dist="76200" dir="5400000" sx="90000" sy="90000" algn="tl" rotWithShape="0">
                <a:schemeClr val="accent1">
                  <a:alpha val="65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236" name="Picture 235" descr="A black and white cloud with a check mark&#10;&#10;Description automatically generated">
              <a:extLst>
                <a:ext uri="{FF2B5EF4-FFF2-40B4-BE49-F238E27FC236}">
                  <a16:creationId xmlns:a16="http://schemas.microsoft.com/office/drawing/2014/main" id="{B93D3FB1-4964-C924-0BBB-8EBD7650FC1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785050" y="2326535"/>
              <a:ext cx="244906" cy="244906"/>
            </a:xfrm>
            <a:prstGeom prst="rect">
              <a:avLst/>
            </a:prstGeom>
          </p:spPr>
        </p:pic>
      </p:grpSp>
      <p:sp>
        <p:nvSpPr>
          <p:cNvPr id="171" name="TextBox 170">
            <a:extLst>
              <a:ext uri="{FF2B5EF4-FFF2-40B4-BE49-F238E27FC236}">
                <a16:creationId xmlns:a16="http://schemas.microsoft.com/office/drawing/2014/main" id="{0412F72C-124A-43B7-9578-C3AEAD74C3D4}"/>
              </a:ext>
            </a:extLst>
          </p:cNvPr>
          <p:cNvSpPr txBox="1">
            <a:spLocks/>
          </p:cNvSpPr>
          <p:nvPr/>
        </p:nvSpPr>
        <p:spPr>
          <a:xfrm flipH="1">
            <a:off x="7319648" y="1731845"/>
            <a:ext cx="3977002" cy="9729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Segoe UI Semibold"/>
                <a:ea typeface="+mn-ea"/>
                <a:cs typeface="+mn-cs"/>
              </a:rPr>
              <a:t>Empower Cloud Success</a:t>
            </a:r>
          </a:p>
          <a:p>
            <a:pPr marL="0" marR="0" lvl="0" indent="0" algn="l" defTabSz="932742"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Connect directly with Microsoft architects to unleash the full potential of your technology investment — at every step of your journey</a:t>
            </a:r>
          </a:p>
        </p:txBody>
      </p:sp>
      <p:grpSp>
        <p:nvGrpSpPr>
          <p:cNvPr id="9" name="Group 8">
            <a:extLst>
              <a:ext uri="{FF2B5EF4-FFF2-40B4-BE49-F238E27FC236}">
                <a16:creationId xmlns:a16="http://schemas.microsoft.com/office/drawing/2014/main" id="{2F3829C5-9CC4-E78B-0E84-4CDD2237BB29}"/>
              </a:ext>
              <a:ext uri="{C183D7F6-B498-43B3-948B-1728B52AA6E4}">
                <adec:decorative xmlns:adec="http://schemas.microsoft.com/office/drawing/2017/decorative" val="1"/>
              </a:ext>
            </a:extLst>
          </p:cNvPr>
          <p:cNvGrpSpPr/>
          <p:nvPr/>
        </p:nvGrpSpPr>
        <p:grpSpPr>
          <a:xfrm>
            <a:off x="6286421" y="3460793"/>
            <a:ext cx="492998" cy="493006"/>
            <a:chOff x="6286421" y="3460793"/>
            <a:chExt cx="492998" cy="493006"/>
          </a:xfrm>
        </p:grpSpPr>
        <p:sp>
          <p:nvSpPr>
            <p:cNvPr id="147" name="Freeform: Shape 146">
              <a:extLst>
                <a:ext uri="{FF2B5EF4-FFF2-40B4-BE49-F238E27FC236}">
                  <a16:creationId xmlns:a16="http://schemas.microsoft.com/office/drawing/2014/main" id="{0E7B8007-2BAE-9551-59C0-DE1B0281794D}"/>
                </a:ext>
                <a:ext uri="{C183D7F6-B498-43B3-948B-1728B52AA6E4}">
                  <adec:decorative xmlns:adec="http://schemas.microsoft.com/office/drawing/2017/decorative" val="1"/>
                </a:ext>
              </a:extLst>
            </p:cNvPr>
            <p:cNvSpPr>
              <a:spLocks/>
            </p:cNvSpPr>
            <p:nvPr/>
          </p:nvSpPr>
          <p:spPr>
            <a:xfrm flipH="1">
              <a:off x="6286421" y="3460793"/>
              <a:ext cx="492998" cy="493006"/>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gradFill>
              <a:gsLst>
                <a:gs pos="0">
                  <a:schemeClr val="accent3"/>
                </a:gs>
                <a:gs pos="100000">
                  <a:schemeClr val="accent3">
                    <a:lumMod val="50000"/>
                  </a:schemeClr>
                </a:gs>
              </a:gsLst>
              <a:lin ang="2700000" scaled="1"/>
            </a:gradFill>
            <a:ln w="9525" cap="flat">
              <a:solidFill>
                <a:schemeClr val="bg1"/>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23" name="Group 22" descr="icon of a shield with a checkmark overlaying it to indicate &quot;Strengthen security and resiliency&quot;">
              <a:extLst>
                <a:ext uri="{FF2B5EF4-FFF2-40B4-BE49-F238E27FC236}">
                  <a16:creationId xmlns:a16="http://schemas.microsoft.com/office/drawing/2014/main" id="{82D26FAD-3595-DF05-BF79-919F1BCB94A6}"/>
                </a:ext>
              </a:extLst>
            </p:cNvPr>
            <p:cNvGrpSpPr/>
            <p:nvPr/>
          </p:nvGrpSpPr>
          <p:grpSpPr>
            <a:xfrm>
              <a:off x="6328192" y="3502565"/>
              <a:ext cx="409456" cy="409462"/>
              <a:chOff x="6328192" y="3502565"/>
              <a:chExt cx="409456" cy="409462"/>
            </a:xfrm>
          </p:grpSpPr>
          <p:sp>
            <p:nvSpPr>
              <p:cNvPr id="148" name="Freeform: Shape 147">
                <a:extLst>
                  <a:ext uri="{FF2B5EF4-FFF2-40B4-BE49-F238E27FC236}">
                    <a16:creationId xmlns:a16="http://schemas.microsoft.com/office/drawing/2014/main" id="{4F4B32B2-D726-3FC8-C31C-95CA53B18ED4}"/>
                  </a:ext>
                </a:extLst>
              </p:cNvPr>
              <p:cNvSpPr>
                <a:spLocks/>
              </p:cNvSpPr>
              <p:nvPr/>
            </p:nvSpPr>
            <p:spPr>
              <a:xfrm flipH="1">
                <a:off x="6328192" y="3502565"/>
                <a:ext cx="409456" cy="409462"/>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solidFill>
                <a:schemeClr val="bg1"/>
              </a:solidFill>
              <a:ln w="9525" cap="flat">
                <a:solidFill>
                  <a:srgbClr val="50E6FF"/>
                </a:solidFill>
                <a:prstDash val="solid"/>
                <a:miter/>
              </a:ln>
              <a:effectLst>
                <a:outerShdw blurRad="127000" dist="76200" dir="5400000" sx="90000" sy="90000" algn="tl" rotWithShape="0">
                  <a:schemeClr val="accent3">
                    <a:lumMod val="50000"/>
                    <a:alpha val="65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7" name="Picture 6" descr="A black shield with a check mark&#10;&#10;Description automatically generated">
                <a:extLst>
                  <a:ext uri="{FF2B5EF4-FFF2-40B4-BE49-F238E27FC236}">
                    <a16:creationId xmlns:a16="http://schemas.microsoft.com/office/drawing/2014/main" id="{709369C0-5AEE-F77F-DD93-17F0D4CE5EB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410467" y="3584843"/>
                <a:ext cx="244906" cy="244906"/>
              </a:xfrm>
              <a:prstGeom prst="rect">
                <a:avLst/>
              </a:prstGeom>
            </p:spPr>
          </p:pic>
        </p:grpSp>
      </p:grpSp>
      <p:sp>
        <p:nvSpPr>
          <p:cNvPr id="173" name="TextBox 172">
            <a:extLst>
              <a:ext uri="{FF2B5EF4-FFF2-40B4-BE49-F238E27FC236}">
                <a16:creationId xmlns:a16="http://schemas.microsoft.com/office/drawing/2014/main" id="{2FA1C744-B57D-C244-A371-8C8771990A3C}"/>
              </a:ext>
            </a:extLst>
          </p:cNvPr>
          <p:cNvSpPr txBox="1">
            <a:spLocks/>
          </p:cNvSpPr>
          <p:nvPr/>
        </p:nvSpPr>
        <p:spPr>
          <a:xfrm flipH="1">
            <a:off x="7319648" y="3220815"/>
            <a:ext cx="4151375" cy="9729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C2E2"/>
                </a:solidFill>
                <a:effectLst/>
                <a:uLnTx/>
                <a:uFillTx/>
                <a:latin typeface="Segoe UI Semibold"/>
                <a:ea typeface="+mn-ea"/>
                <a:cs typeface="+mn-cs"/>
              </a:rPr>
              <a:t>Strengthen Security and Resiliency</a:t>
            </a:r>
          </a:p>
          <a:p>
            <a:pPr marL="0" marR="0" lvl="0" indent="0" algn="l" defTabSz="932742"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Increase the security and continuity of your environment while minimizing downtime through prescriptive technical engagements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p:txBody>
      </p:sp>
      <p:grpSp>
        <p:nvGrpSpPr>
          <p:cNvPr id="21" name="Group 20" descr="icon of a light bulb to indicate &quot;Drive AI innovation&quot;">
            <a:extLst>
              <a:ext uri="{FF2B5EF4-FFF2-40B4-BE49-F238E27FC236}">
                <a16:creationId xmlns:a16="http://schemas.microsoft.com/office/drawing/2014/main" id="{0DD3B579-EEEA-2484-2552-EE8D6B646F4C}"/>
              </a:ext>
            </a:extLst>
          </p:cNvPr>
          <p:cNvGrpSpPr/>
          <p:nvPr/>
        </p:nvGrpSpPr>
        <p:grpSpPr>
          <a:xfrm>
            <a:off x="5661004" y="4719102"/>
            <a:ext cx="492998" cy="493006"/>
            <a:chOff x="5661004" y="4719102"/>
            <a:chExt cx="492998" cy="493006"/>
          </a:xfrm>
        </p:grpSpPr>
        <p:sp>
          <p:nvSpPr>
            <p:cNvPr id="144" name="Freeform: Shape 143">
              <a:extLst>
                <a:ext uri="{FF2B5EF4-FFF2-40B4-BE49-F238E27FC236}">
                  <a16:creationId xmlns:a16="http://schemas.microsoft.com/office/drawing/2014/main" id="{508107D3-B1DB-F286-EED9-9145EBD3B50C}"/>
                </a:ext>
              </a:extLst>
            </p:cNvPr>
            <p:cNvSpPr>
              <a:spLocks/>
            </p:cNvSpPr>
            <p:nvPr/>
          </p:nvSpPr>
          <p:spPr>
            <a:xfrm flipH="1">
              <a:off x="5661004" y="4719102"/>
              <a:ext cx="492998" cy="493006"/>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gradFill>
              <a:gsLst>
                <a:gs pos="0">
                  <a:srgbClr val="5A81C0"/>
                </a:gs>
                <a:gs pos="100000">
                  <a:srgbClr val="243A5E">
                    <a:lumMod val="50000"/>
                  </a:srgbClr>
                </a:gs>
              </a:gsLst>
              <a:lin ang="2700000" scaled="1"/>
            </a:gradFill>
            <a:ln w="9525" cap="flat">
              <a:solidFill>
                <a:schemeClr val="bg1"/>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D808245F-8762-131B-FFB8-DABA506AB643}"/>
                </a:ext>
              </a:extLst>
            </p:cNvPr>
            <p:cNvSpPr>
              <a:spLocks/>
            </p:cNvSpPr>
            <p:nvPr/>
          </p:nvSpPr>
          <p:spPr>
            <a:xfrm flipH="1">
              <a:off x="5702775" y="4760874"/>
              <a:ext cx="409457" cy="409463"/>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solidFill>
              <a:schemeClr val="bg1"/>
            </a:solidFill>
            <a:ln w="9525" cap="flat">
              <a:solidFill>
                <a:srgbClr val="5A81C0"/>
              </a:solidFill>
              <a:prstDash val="solid"/>
              <a:miter/>
            </a:ln>
            <a:effectLst>
              <a:outerShdw blurRad="127000" dist="76200" dir="5400000" sx="90000" sy="90000" algn="tl" rotWithShape="0">
                <a:schemeClr val="accent2">
                  <a:lumMod val="75000"/>
                  <a:alpha val="65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35" name="Graphic 87" descr="Icon of a lightbulb">
              <a:extLst>
                <a:ext uri="{FF2B5EF4-FFF2-40B4-BE49-F238E27FC236}">
                  <a16:creationId xmlns:a16="http://schemas.microsoft.com/office/drawing/2014/main" id="{116E81E9-4D3A-74EC-7AC4-5752AA51AF63}"/>
                </a:ext>
              </a:extLst>
            </p:cNvPr>
            <p:cNvSpPr/>
            <p:nvPr/>
          </p:nvSpPr>
          <p:spPr>
            <a:xfrm>
              <a:off x="5817722" y="4841779"/>
              <a:ext cx="179562" cy="247652"/>
            </a:xfrm>
            <a:custGeom>
              <a:avLst/>
              <a:gdLst>
                <a:gd name="connsiteX0" fmla="*/ 98602 w 219958"/>
                <a:gd name="connsiteY0" fmla="*/ 72052 h 303370"/>
                <a:gd name="connsiteX1" fmla="*/ 109979 w 219958"/>
                <a:gd name="connsiteY1" fmla="*/ 60675 h 303370"/>
                <a:gd name="connsiteX2" fmla="*/ 121357 w 219958"/>
                <a:gd name="connsiteY2" fmla="*/ 72052 h 303370"/>
                <a:gd name="connsiteX3" fmla="*/ 121357 w 219958"/>
                <a:gd name="connsiteY3" fmla="*/ 94807 h 303370"/>
                <a:gd name="connsiteX4" fmla="*/ 109979 w 219958"/>
                <a:gd name="connsiteY4" fmla="*/ 106184 h 303370"/>
                <a:gd name="connsiteX5" fmla="*/ 98602 w 219958"/>
                <a:gd name="connsiteY5" fmla="*/ 94807 h 303370"/>
                <a:gd name="connsiteX6" fmla="*/ 98602 w 219958"/>
                <a:gd name="connsiteY6" fmla="*/ 72052 h 303370"/>
                <a:gd name="connsiteX7" fmla="*/ 174910 w 219958"/>
                <a:gd name="connsiteY7" fmla="*/ 94280 h 303370"/>
                <a:gd name="connsiteX8" fmla="*/ 158821 w 219958"/>
                <a:gd name="connsiteY8" fmla="*/ 94280 h 303370"/>
                <a:gd name="connsiteX9" fmla="*/ 142731 w 219958"/>
                <a:gd name="connsiteY9" fmla="*/ 110370 h 303370"/>
                <a:gd name="connsiteX10" fmla="*/ 142731 w 219958"/>
                <a:gd name="connsiteY10" fmla="*/ 126460 h 303370"/>
                <a:gd name="connsiteX11" fmla="*/ 158821 w 219958"/>
                <a:gd name="connsiteY11" fmla="*/ 126460 h 303370"/>
                <a:gd name="connsiteX12" fmla="*/ 174910 w 219958"/>
                <a:gd name="connsiteY12" fmla="*/ 110370 h 303370"/>
                <a:gd name="connsiteX13" fmla="*/ 174910 w 219958"/>
                <a:gd name="connsiteY13" fmla="*/ 94280 h 303370"/>
                <a:gd name="connsiteX14" fmla="*/ 61138 w 219958"/>
                <a:gd name="connsiteY14" fmla="*/ 94280 h 303370"/>
                <a:gd name="connsiteX15" fmla="*/ 45049 w 219958"/>
                <a:gd name="connsiteY15" fmla="*/ 94280 h 303370"/>
                <a:gd name="connsiteX16" fmla="*/ 45049 w 219958"/>
                <a:gd name="connsiteY16" fmla="*/ 110370 h 303370"/>
                <a:gd name="connsiteX17" fmla="*/ 61139 w 219958"/>
                <a:gd name="connsiteY17" fmla="*/ 126460 h 303370"/>
                <a:gd name="connsiteX18" fmla="*/ 77228 w 219958"/>
                <a:gd name="connsiteY18" fmla="*/ 126460 h 303370"/>
                <a:gd name="connsiteX19" fmla="*/ 77228 w 219958"/>
                <a:gd name="connsiteY19" fmla="*/ 110370 h 303370"/>
                <a:gd name="connsiteX20" fmla="*/ 61138 w 219958"/>
                <a:gd name="connsiteY20" fmla="*/ 94280 h 303370"/>
                <a:gd name="connsiteX21" fmla="*/ 109979 w 219958"/>
                <a:gd name="connsiteY21" fmla="*/ 0 h 303370"/>
                <a:gd name="connsiteX22" fmla="*/ 219959 w 219958"/>
                <a:gd name="connsiteY22" fmla="*/ 109979 h 303370"/>
                <a:gd name="connsiteX23" fmla="*/ 179561 w 219958"/>
                <a:gd name="connsiteY23" fmla="*/ 197082 h 303370"/>
                <a:gd name="connsiteX24" fmla="*/ 176905 w 219958"/>
                <a:gd name="connsiteY24" fmla="*/ 201107 h 303370"/>
                <a:gd name="connsiteX25" fmla="*/ 176428 w 219958"/>
                <a:gd name="connsiteY25" fmla="*/ 202658 h 303370"/>
                <a:gd name="connsiteX26" fmla="*/ 159270 w 219958"/>
                <a:gd name="connsiteY26" fmla="*/ 276923 h 303370"/>
                <a:gd name="connsiteX27" fmla="*/ 128641 w 219958"/>
                <a:gd name="connsiteY27" fmla="*/ 303271 h 303370"/>
                <a:gd name="connsiteX28" fmla="*/ 126014 w 219958"/>
                <a:gd name="connsiteY28" fmla="*/ 303371 h 303370"/>
                <a:gd name="connsiteX29" fmla="*/ 93950 w 219958"/>
                <a:gd name="connsiteY29" fmla="*/ 303371 h 303370"/>
                <a:gd name="connsiteX30" fmla="*/ 61381 w 219958"/>
                <a:gd name="connsiteY30" fmla="*/ 279451 h 303370"/>
                <a:gd name="connsiteX31" fmla="*/ 60692 w 219958"/>
                <a:gd name="connsiteY31" fmla="*/ 276913 h 303370"/>
                <a:gd name="connsiteX32" fmla="*/ 43557 w 219958"/>
                <a:gd name="connsiteY32" fmla="*/ 202661 h 303370"/>
                <a:gd name="connsiteX33" fmla="*/ 40420 w 219958"/>
                <a:gd name="connsiteY33" fmla="*/ 197081 h 303370"/>
                <a:gd name="connsiteX34" fmla="*/ 93 w 219958"/>
                <a:gd name="connsiteY34" fmla="*/ 114504 h 303370"/>
                <a:gd name="connsiteX35" fmla="*/ 0 w 219958"/>
                <a:gd name="connsiteY35" fmla="*/ 109979 h 303370"/>
                <a:gd name="connsiteX36" fmla="*/ 59 w 219958"/>
                <a:gd name="connsiteY36" fmla="*/ 106349 h 303370"/>
                <a:gd name="connsiteX37" fmla="*/ 109979 w 219958"/>
                <a:gd name="connsiteY37" fmla="*/ 0 h 303370"/>
                <a:gd name="connsiteX38" fmla="*/ 142063 w 219958"/>
                <a:gd name="connsiteY38" fmla="*/ 250268 h 303370"/>
                <a:gd name="connsiteX39" fmla="*/ 77881 w 219958"/>
                <a:gd name="connsiteY39" fmla="*/ 250268 h 303370"/>
                <a:gd name="connsiteX40" fmla="*/ 82864 w 219958"/>
                <a:gd name="connsiteY40" fmla="*/ 271797 h 303370"/>
                <a:gd name="connsiteX41" fmla="*/ 92384 w 219958"/>
                <a:gd name="connsiteY41" fmla="*/ 280509 h 303370"/>
                <a:gd name="connsiteX42" fmla="*/ 93950 w 219958"/>
                <a:gd name="connsiteY42" fmla="*/ 280616 h 303370"/>
                <a:gd name="connsiteX43" fmla="*/ 126014 w 219958"/>
                <a:gd name="connsiteY43" fmla="*/ 280616 h 303370"/>
                <a:gd name="connsiteX44" fmla="*/ 136643 w 219958"/>
                <a:gd name="connsiteY44" fmla="*/ 273302 h 303370"/>
                <a:gd name="connsiteX45" fmla="*/ 137100 w 219958"/>
                <a:gd name="connsiteY45" fmla="*/ 271800 h 303370"/>
                <a:gd name="connsiteX46" fmla="*/ 142063 w 219958"/>
                <a:gd name="connsiteY46" fmla="*/ 250268 h 303370"/>
                <a:gd name="connsiteX47" fmla="*/ 109979 w 219958"/>
                <a:gd name="connsiteY47" fmla="*/ 22754 h 303370"/>
                <a:gd name="connsiteX48" fmla="*/ 22817 w 219958"/>
                <a:gd name="connsiteY48" fmla="*/ 106634 h 303370"/>
                <a:gd name="connsiteX49" fmla="*/ 22754 w 219958"/>
                <a:gd name="connsiteY49" fmla="*/ 109979 h 303370"/>
                <a:gd name="connsiteX50" fmla="*/ 22856 w 219958"/>
                <a:gd name="connsiteY50" fmla="*/ 114182 h 303370"/>
                <a:gd name="connsiteX51" fmla="*/ 56319 w 219958"/>
                <a:gd name="connsiteY51" fmla="*/ 180802 h 303370"/>
                <a:gd name="connsiteX52" fmla="*/ 64990 w 219958"/>
                <a:gd name="connsiteY52" fmla="*/ 194854 h 303370"/>
                <a:gd name="connsiteX53" fmla="*/ 65728 w 219958"/>
                <a:gd name="connsiteY53" fmla="*/ 197546 h 303370"/>
                <a:gd name="connsiteX54" fmla="*/ 72632 w 219958"/>
                <a:gd name="connsiteY54" fmla="*/ 227514 h 303370"/>
                <a:gd name="connsiteX55" fmla="*/ 98602 w 219958"/>
                <a:gd name="connsiteY55" fmla="*/ 227514 h 303370"/>
                <a:gd name="connsiteX56" fmla="*/ 98602 w 219958"/>
                <a:gd name="connsiteY56" fmla="*/ 132724 h 303370"/>
                <a:gd name="connsiteX57" fmla="*/ 109979 w 219958"/>
                <a:gd name="connsiteY57" fmla="*/ 121346 h 303370"/>
                <a:gd name="connsiteX58" fmla="*/ 121357 w 219958"/>
                <a:gd name="connsiteY58" fmla="*/ 132724 h 303370"/>
                <a:gd name="connsiteX59" fmla="*/ 121357 w 219958"/>
                <a:gd name="connsiteY59" fmla="*/ 227514 h 303370"/>
                <a:gd name="connsiteX60" fmla="*/ 147312 w 219958"/>
                <a:gd name="connsiteY60" fmla="*/ 227514 h 303370"/>
                <a:gd name="connsiteX61" fmla="*/ 154258 w 219958"/>
                <a:gd name="connsiteY61" fmla="*/ 197536 h 303370"/>
                <a:gd name="connsiteX62" fmla="*/ 161744 w 219958"/>
                <a:gd name="connsiteY62" fmla="*/ 182838 h 303370"/>
                <a:gd name="connsiteX63" fmla="*/ 163659 w 219958"/>
                <a:gd name="connsiteY63" fmla="*/ 180808 h 303370"/>
                <a:gd name="connsiteX64" fmla="*/ 197103 w 219958"/>
                <a:gd name="connsiteY64" fmla="*/ 114182 h 303370"/>
                <a:gd name="connsiteX65" fmla="*/ 197205 w 219958"/>
                <a:gd name="connsiteY65" fmla="*/ 109979 h 303370"/>
                <a:gd name="connsiteX66" fmla="*/ 197141 w 219958"/>
                <a:gd name="connsiteY66" fmla="*/ 106634 h 303370"/>
                <a:gd name="connsiteX67" fmla="*/ 109979 w 219958"/>
                <a:gd name="connsiteY67" fmla="*/ 22754 h 30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19958" h="303370">
                  <a:moveTo>
                    <a:pt x="98602" y="72052"/>
                  </a:moveTo>
                  <a:cubicBezTo>
                    <a:pt x="98602" y="65768"/>
                    <a:pt x="103696" y="60675"/>
                    <a:pt x="109979" y="60675"/>
                  </a:cubicBezTo>
                  <a:cubicBezTo>
                    <a:pt x="116263" y="60675"/>
                    <a:pt x="121357" y="65768"/>
                    <a:pt x="121357" y="72052"/>
                  </a:cubicBezTo>
                  <a:lnTo>
                    <a:pt x="121357" y="94807"/>
                  </a:lnTo>
                  <a:cubicBezTo>
                    <a:pt x="121357" y="101090"/>
                    <a:pt x="116263" y="106184"/>
                    <a:pt x="109979" y="106184"/>
                  </a:cubicBezTo>
                  <a:cubicBezTo>
                    <a:pt x="103696" y="106184"/>
                    <a:pt x="98602" y="101090"/>
                    <a:pt x="98602" y="94807"/>
                  </a:cubicBezTo>
                  <a:lnTo>
                    <a:pt x="98602" y="72052"/>
                  </a:lnTo>
                  <a:close/>
                  <a:moveTo>
                    <a:pt x="174910" y="94280"/>
                  </a:moveTo>
                  <a:cubicBezTo>
                    <a:pt x="170467" y="89837"/>
                    <a:pt x="163264" y="89837"/>
                    <a:pt x="158821" y="94280"/>
                  </a:cubicBezTo>
                  <a:lnTo>
                    <a:pt x="142731" y="110370"/>
                  </a:lnTo>
                  <a:cubicBezTo>
                    <a:pt x="138287" y="114813"/>
                    <a:pt x="138287" y="122017"/>
                    <a:pt x="142731" y="126460"/>
                  </a:cubicBezTo>
                  <a:cubicBezTo>
                    <a:pt x="147174" y="130903"/>
                    <a:pt x="154378" y="130903"/>
                    <a:pt x="158821" y="126460"/>
                  </a:cubicBezTo>
                  <a:lnTo>
                    <a:pt x="174910" y="110370"/>
                  </a:lnTo>
                  <a:cubicBezTo>
                    <a:pt x="179353" y="105927"/>
                    <a:pt x="179353" y="98723"/>
                    <a:pt x="174910" y="94280"/>
                  </a:cubicBezTo>
                  <a:close/>
                  <a:moveTo>
                    <a:pt x="61138" y="94280"/>
                  </a:moveTo>
                  <a:cubicBezTo>
                    <a:pt x="56695" y="89837"/>
                    <a:pt x="49492" y="89837"/>
                    <a:pt x="45049" y="94280"/>
                  </a:cubicBezTo>
                  <a:cubicBezTo>
                    <a:pt x="40605" y="98723"/>
                    <a:pt x="40605" y="105927"/>
                    <a:pt x="45049" y="110370"/>
                  </a:cubicBezTo>
                  <a:lnTo>
                    <a:pt x="61139" y="126460"/>
                  </a:lnTo>
                  <a:cubicBezTo>
                    <a:pt x="65582" y="130903"/>
                    <a:pt x="72785" y="130903"/>
                    <a:pt x="77228" y="126460"/>
                  </a:cubicBezTo>
                  <a:cubicBezTo>
                    <a:pt x="81672" y="122017"/>
                    <a:pt x="81672" y="114813"/>
                    <a:pt x="77228" y="110370"/>
                  </a:cubicBezTo>
                  <a:lnTo>
                    <a:pt x="61138" y="94280"/>
                  </a:lnTo>
                  <a:close/>
                  <a:moveTo>
                    <a:pt x="109979" y="0"/>
                  </a:moveTo>
                  <a:cubicBezTo>
                    <a:pt x="170720" y="0"/>
                    <a:pt x="219959" y="49239"/>
                    <a:pt x="219959" y="109979"/>
                  </a:cubicBezTo>
                  <a:cubicBezTo>
                    <a:pt x="219959" y="141775"/>
                    <a:pt x="206296" y="170957"/>
                    <a:pt x="179561" y="197082"/>
                  </a:cubicBezTo>
                  <a:cubicBezTo>
                    <a:pt x="178394" y="198223"/>
                    <a:pt x="177490" y="199596"/>
                    <a:pt x="176905" y="201107"/>
                  </a:cubicBezTo>
                  <a:lnTo>
                    <a:pt x="176428" y="202658"/>
                  </a:lnTo>
                  <a:lnTo>
                    <a:pt x="159270" y="276923"/>
                  </a:lnTo>
                  <a:cubicBezTo>
                    <a:pt x="155892" y="291545"/>
                    <a:pt x="143406" y="302137"/>
                    <a:pt x="128641" y="303271"/>
                  </a:cubicBezTo>
                  <a:lnTo>
                    <a:pt x="126014" y="303371"/>
                  </a:lnTo>
                  <a:lnTo>
                    <a:pt x="93950" y="303371"/>
                  </a:lnTo>
                  <a:cubicBezTo>
                    <a:pt x="78939" y="303371"/>
                    <a:pt x="65804" y="293585"/>
                    <a:pt x="61381" y="279451"/>
                  </a:cubicBezTo>
                  <a:lnTo>
                    <a:pt x="60692" y="276913"/>
                  </a:lnTo>
                  <a:lnTo>
                    <a:pt x="43557" y="202661"/>
                  </a:lnTo>
                  <a:cubicBezTo>
                    <a:pt x="43067" y="200539"/>
                    <a:pt x="41978" y="198602"/>
                    <a:pt x="40420" y="197081"/>
                  </a:cubicBezTo>
                  <a:cubicBezTo>
                    <a:pt x="14944" y="172199"/>
                    <a:pt x="1332" y="144547"/>
                    <a:pt x="93" y="114504"/>
                  </a:cubicBezTo>
                  <a:lnTo>
                    <a:pt x="0" y="109979"/>
                  </a:lnTo>
                  <a:lnTo>
                    <a:pt x="59" y="106349"/>
                  </a:lnTo>
                  <a:cubicBezTo>
                    <a:pt x="1974" y="47290"/>
                    <a:pt x="50454" y="0"/>
                    <a:pt x="109979" y="0"/>
                  </a:cubicBezTo>
                  <a:close/>
                  <a:moveTo>
                    <a:pt x="142063" y="250268"/>
                  </a:moveTo>
                  <a:lnTo>
                    <a:pt x="77881" y="250268"/>
                  </a:lnTo>
                  <a:lnTo>
                    <a:pt x="82864" y="271797"/>
                  </a:lnTo>
                  <a:cubicBezTo>
                    <a:pt x="83935" y="276443"/>
                    <a:pt x="87767" y="279870"/>
                    <a:pt x="92384" y="280509"/>
                  </a:cubicBezTo>
                  <a:lnTo>
                    <a:pt x="93950" y="280616"/>
                  </a:lnTo>
                  <a:lnTo>
                    <a:pt x="126014" y="280616"/>
                  </a:lnTo>
                  <a:cubicBezTo>
                    <a:pt x="130782" y="280616"/>
                    <a:pt x="134980" y="277655"/>
                    <a:pt x="136643" y="273302"/>
                  </a:cubicBezTo>
                  <a:lnTo>
                    <a:pt x="137100" y="271800"/>
                  </a:lnTo>
                  <a:lnTo>
                    <a:pt x="142063" y="250268"/>
                  </a:lnTo>
                  <a:close/>
                  <a:moveTo>
                    <a:pt x="109979" y="22754"/>
                  </a:moveTo>
                  <a:cubicBezTo>
                    <a:pt x="62927" y="22754"/>
                    <a:pt x="24576" y="60011"/>
                    <a:pt x="22817" y="106634"/>
                  </a:cubicBezTo>
                  <a:lnTo>
                    <a:pt x="22754" y="109979"/>
                  </a:lnTo>
                  <a:lnTo>
                    <a:pt x="22856" y="114182"/>
                  </a:lnTo>
                  <a:cubicBezTo>
                    <a:pt x="24011" y="137896"/>
                    <a:pt x="35000" y="159980"/>
                    <a:pt x="56319" y="180802"/>
                  </a:cubicBezTo>
                  <a:cubicBezTo>
                    <a:pt x="60326" y="184716"/>
                    <a:pt x="63297" y="189544"/>
                    <a:pt x="64990" y="194854"/>
                  </a:cubicBezTo>
                  <a:lnTo>
                    <a:pt x="65728" y="197546"/>
                  </a:lnTo>
                  <a:lnTo>
                    <a:pt x="72632" y="227514"/>
                  </a:lnTo>
                  <a:lnTo>
                    <a:pt x="98602" y="227514"/>
                  </a:lnTo>
                  <a:lnTo>
                    <a:pt x="98602" y="132724"/>
                  </a:lnTo>
                  <a:cubicBezTo>
                    <a:pt x="98602" y="126440"/>
                    <a:pt x="103696" y="121346"/>
                    <a:pt x="109979" y="121346"/>
                  </a:cubicBezTo>
                  <a:cubicBezTo>
                    <a:pt x="116263" y="121346"/>
                    <a:pt x="121357" y="126440"/>
                    <a:pt x="121357" y="132724"/>
                  </a:cubicBezTo>
                  <a:lnTo>
                    <a:pt x="121357" y="227514"/>
                  </a:lnTo>
                  <a:lnTo>
                    <a:pt x="147312" y="227514"/>
                  </a:lnTo>
                  <a:lnTo>
                    <a:pt x="154258" y="197536"/>
                  </a:lnTo>
                  <a:cubicBezTo>
                    <a:pt x="155517" y="192084"/>
                    <a:pt x="158094" y="187040"/>
                    <a:pt x="161744" y="182838"/>
                  </a:cubicBezTo>
                  <a:lnTo>
                    <a:pt x="163659" y="180808"/>
                  </a:lnTo>
                  <a:cubicBezTo>
                    <a:pt x="184966" y="159986"/>
                    <a:pt x="195949" y="137901"/>
                    <a:pt x="197103" y="114182"/>
                  </a:cubicBezTo>
                  <a:lnTo>
                    <a:pt x="197205" y="109979"/>
                  </a:lnTo>
                  <a:lnTo>
                    <a:pt x="197141" y="106634"/>
                  </a:lnTo>
                  <a:cubicBezTo>
                    <a:pt x="195383" y="60011"/>
                    <a:pt x="157033" y="22754"/>
                    <a:pt x="109979" y="22754"/>
                  </a:cubicBezTo>
                  <a:close/>
                </a:path>
              </a:pathLst>
            </a:custGeom>
            <a:solidFill>
              <a:schemeClr val="tx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172" name="TextBox 171">
            <a:extLst>
              <a:ext uri="{FF2B5EF4-FFF2-40B4-BE49-F238E27FC236}">
                <a16:creationId xmlns:a16="http://schemas.microsoft.com/office/drawing/2014/main" id="{2C98E34A-D551-5407-F9BD-E95894A73303}"/>
              </a:ext>
            </a:extLst>
          </p:cNvPr>
          <p:cNvSpPr txBox="1">
            <a:spLocks/>
          </p:cNvSpPr>
          <p:nvPr/>
        </p:nvSpPr>
        <p:spPr>
          <a:xfrm flipH="1">
            <a:off x="7319648" y="4572206"/>
            <a:ext cx="4151376" cy="97295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243A5E"/>
                </a:solidFill>
                <a:effectLst/>
                <a:uLnTx/>
                <a:uFillTx/>
                <a:latin typeface="Segoe UI Semibold"/>
                <a:ea typeface="+mn-ea"/>
                <a:cs typeface="+mn-cs"/>
              </a:rPr>
              <a:t>Drive AI Innovation</a:t>
            </a:r>
          </a:p>
          <a:p>
            <a:pPr marL="0" marR="0" lvl="0" indent="0" algn="l" defTabSz="932742"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Maximize your advantage by co-creating transformative solutions with Microsoft to unleash the power of AI and emerging technologies</a:t>
            </a:r>
          </a:p>
        </p:txBody>
      </p:sp>
      <p:cxnSp>
        <p:nvCxnSpPr>
          <p:cNvPr id="175" name="Straight Connector 174">
            <a:extLst>
              <a:ext uri="{FF2B5EF4-FFF2-40B4-BE49-F238E27FC236}">
                <a16:creationId xmlns:a16="http://schemas.microsoft.com/office/drawing/2014/main" id="{24B1B89C-00FD-E2D7-A571-1EA48A8A87C5}"/>
              </a:ext>
              <a:ext uri="{C183D7F6-B498-43B3-948B-1728B52AA6E4}">
                <adec:decorative xmlns:adec="http://schemas.microsoft.com/office/drawing/2017/decorative" val="1"/>
              </a:ext>
            </a:extLst>
          </p:cNvPr>
          <p:cNvCxnSpPr>
            <a:cxnSpLocks/>
          </p:cNvCxnSpPr>
          <p:nvPr/>
        </p:nvCxnSpPr>
        <p:spPr>
          <a:xfrm flipH="1">
            <a:off x="5525248" y="2517364"/>
            <a:ext cx="261404" cy="158699"/>
          </a:xfrm>
          <a:prstGeom prst="line">
            <a:avLst/>
          </a:prstGeom>
          <a:gradFill>
            <a:gsLst>
              <a:gs pos="0">
                <a:schemeClr val="accent2"/>
              </a:gs>
              <a:gs pos="100000">
                <a:schemeClr val="accent2">
                  <a:lumMod val="50000"/>
                </a:schemeClr>
              </a:gs>
            </a:gsLst>
            <a:lin ang="2700000" scaled="1"/>
          </a:gradFill>
          <a:ln w="25400" cap="flat">
            <a:solidFill>
              <a:schemeClr val="bg1"/>
            </a:solidFill>
            <a:prstDash val="solid"/>
            <a:miter/>
          </a:ln>
          <a:effectLst>
            <a:outerShdw blurRad="254000" dist="444500" dir="5400000" sx="50000" sy="50000" algn="t" rotWithShape="0">
              <a:schemeClr val="accent2">
                <a:lumMod val="50000"/>
                <a:alpha val="40000"/>
              </a:schemeClr>
            </a:outerShdw>
          </a:effectLst>
        </p:spPr>
      </p:cxnSp>
      <p:sp>
        <p:nvSpPr>
          <p:cNvPr id="161" name="Freeform: Shape 160">
            <a:extLst>
              <a:ext uri="{FF2B5EF4-FFF2-40B4-BE49-F238E27FC236}">
                <a16:creationId xmlns:a16="http://schemas.microsoft.com/office/drawing/2014/main" id="{A714E0AB-9835-F70A-753A-9D5027FDCA42}"/>
              </a:ext>
              <a:ext uri="{C183D7F6-B498-43B3-948B-1728B52AA6E4}">
                <adec:decorative xmlns:adec="http://schemas.microsoft.com/office/drawing/2017/decorative" val="1"/>
              </a:ext>
            </a:extLst>
          </p:cNvPr>
          <p:cNvSpPr>
            <a:spLocks/>
          </p:cNvSpPr>
          <p:nvPr/>
        </p:nvSpPr>
        <p:spPr>
          <a:xfrm rot="20545582" flipH="1">
            <a:off x="5422792" y="2639447"/>
            <a:ext cx="104904" cy="104906"/>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gradFill flip="none" rotWithShape="1">
            <a:gsLst>
              <a:gs pos="0">
                <a:srgbClr val="0078D4"/>
              </a:gs>
              <a:gs pos="100000">
                <a:schemeClr val="accent1">
                  <a:lumMod val="50000"/>
                </a:schemeClr>
              </a:gs>
            </a:gsLst>
            <a:lin ang="2700000" scaled="1"/>
            <a:tileRect/>
          </a:gradFill>
          <a:ln w="25400" cap="flat">
            <a:solidFill>
              <a:schemeClr val="bg1"/>
            </a:solidFill>
            <a:prstDash val="solid"/>
            <a:miter/>
          </a:ln>
          <a:effectLst>
            <a:outerShdw blurRad="76200" dist="38100" dir="5400000" sx="85000" sy="85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cxnSp>
        <p:nvCxnSpPr>
          <p:cNvPr id="178" name="Straight Connector 177">
            <a:extLst>
              <a:ext uri="{FF2B5EF4-FFF2-40B4-BE49-F238E27FC236}">
                <a16:creationId xmlns:a16="http://schemas.microsoft.com/office/drawing/2014/main" id="{7B77D689-B01C-9249-1491-B3161DD039FF}"/>
              </a:ext>
              <a:ext uri="{C183D7F6-B498-43B3-948B-1728B52AA6E4}">
                <adec:decorative xmlns:adec="http://schemas.microsoft.com/office/drawing/2017/decorative" val="1"/>
              </a:ext>
            </a:extLst>
          </p:cNvPr>
          <p:cNvCxnSpPr>
            <a:cxnSpLocks/>
          </p:cNvCxnSpPr>
          <p:nvPr/>
        </p:nvCxnSpPr>
        <p:spPr>
          <a:xfrm flipH="1" flipV="1">
            <a:off x="5525248" y="4746399"/>
            <a:ext cx="261404" cy="158699"/>
          </a:xfrm>
          <a:prstGeom prst="line">
            <a:avLst/>
          </a:prstGeom>
          <a:gradFill>
            <a:gsLst>
              <a:gs pos="0">
                <a:schemeClr val="accent2"/>
              </a:gs>
              <a:gs pos="100000">
                <a:schemeClr val="accent2">
                  <a:lumMod val="50000"/>
                </a:schemeClr>
              </a:gs>
            </a:gsLst>
            <a:lin ang="2700000" scaled="1"/>
          </a:gradFill>
          <a:ln w="25400" cap="flat">
            <a:solidFill>
              <a:schemeClr val="bg1"/>
            </a:solidFill>
            <a:prstDash val="solid"/>
            <a:miter/>
          </a:ln>
          <a:effectLst>
            <a:outerShdw blurRad="254000" dist="444500" dir="5400000" sx="50000" sy="50000" algn="t" rotWithShape="0">
              <a:schemeClr val="accent2">
                <a:lumMod val="50000"/>
                <a:alpha val="40000"/>
              </a:schemeClr>
            </a:outerShdw>
          </a:effectLst>
        </p:spPr>
      </p:cxnSp>
      <p:sp>
        <p:nvSpPr>
          <p:cNvPr id="158" name="Freeform: Shape 157">
            <a:extLst>
              <a:ext uri="{FF2B5EF4-FFF2-40B4-BE49-F238E27FC236}">
                <a16:creationId xmlns:a16="http://schemas.microsoft.com/office/drawing/2014/main" id="{A28896B3-CEAA-6236-CB51-3800EFF109E6}"/>
              </a:ext>
              <a:ext uri="{C183D7F6-B498-43B3-948B-1728B52AA6E4}">
                <adec:decorative xmlns:adec="http://schemas.microsoft.com/office/drawing/2017/decorative" val="1"/>
              </a:ext>
            </a:extLst>
          </p:cNvPr>
          <p:cNvSpPr>
            <a:spLocks/>
          </p:cNvSpPr>
          <p:nvPr/>
        </p:nvSpPr>
        <p:spPr>
          <a:xfrm flipH="1">
            <a:off x="5422792" y="4670240"/>
            <a:ext cx="104904" cy="104906"/>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gradFill>
            <a:gsLst>
              <a:gs pos="0">
                <a:srgbClr val="5A81C0"/>
              </a:gs>
              <a:gs pos="100000">
                <a:srgbClr val="243A5E">
                  <a:lumMod val="50000"/>
                </a:srgbClr>
              </a:gs>
            </a:gsLst>
            <a:lin ang="2700000" scaled="1"/>
          </a:gradFill>
          <a:ln w="25400" cap="flat">
            <a:solidFill>
              <a:schemeClr val="bg1"/>
            </a:solidFill>
            <a:prstDash val="solid"/>
            <a:miter/>
          </a:ln>
          <a:effectLst>
            <a:outerShdw blurRad="76200" dist="38100" dir="5400000" sx="85000" sy="85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5" name="Freeform: Shape 154">
            <a:extLst>
              <a:ext uri="{FF2B5EF4-FFF2-40B4-BE49-F238E27FC236}">
                <a16:creationId xmlns:a16="http://schemas.microsoft.com/office/drawing/2014/main" id="{C0754BEA-5C84-BC47-F772-6FDA7392A765}"/>
              </a:ext>
              <a:ext uri="{C183D7F6-B498-43B3-948B-1728B52AA6E4}">
                <adec:decorative xmlns:adec="http://schemas.microsoft.com/office/drawing/2017/decorative" val="1"/>
              </a:ext>
            </a:extLst>
          </p:cNvPr>
          <p:cNvSpPr>
            <a:spLocks/>
          </p:cNvSpPr>
          <p:nvPr/>
        </p:nvSpPr>
        <p:spPr>
          <a:xfrm flipH="1">
            <a:off x="6024397" y="3654843"/>
            <a:ext cx="104904" cy="104906"/>
          </a:xfrm>
          <a:custGeom>
            <a:avLst/>
            <a:gdLst>
              <a:gd name="connsiteX0" fmla="*/ 192167 w 192166"/>
              <a:gd name="connsiteY0" fmla="*/ 96083 h 192166"/>
              <a:gd name="connsiteX1" fmla="*/ 96083 w 192166"/>
              <a:gd name="connsiteY1" fmla="*/ 192167 h 192166"/>
              <a:gd name="connsiteX2" fmla="*/ 0 w 192166"/>
              <a:gd name="connsiteY2" fmla="*/ 96083 h 192166"/>
              <a:gd name="connsiteX3" fmla="*/ 96083 w 192166"/>
              <a:gd name="connsiteY3" fmla="*/ 0 h 192166"/>
              <a:gd name="connsiteX4" fmla="*/ 192167 w 192166"/>
              <a:gd name="connsiteY4" fmla="*/ 96083 h 192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166" h="192166">
                <a:moveTo>
                  <a:pt x="192167" y="96083"/>
                </a:moveTo>
                <a:cubicBezTo>
                  <a:pt x="192167" y="149149"/>
                  <a:pt x="149149" y="192167"/>
                  <a:pt x="96083" y="192167"/>
                </a:cubicBezTo>
                <a:cubicBezTo>
                  <a:pt x="43018" y="192167"/>
                  <a:pt x="0" y="149149"/>
                  <a:pt x="0" y="96083"/>
                </a:cubicBezTo>
                <a:cubicBezTo>
                  <a:pt x="0" y="43018"/>
                  <a:pt x="43018" y="0"/>
                  <a:pt x="96083" y="0"/>
                </a:cubicBezTo>
                <a:cubicBezTo>
                  <a:pt x="149149" y="0"/>
                  <a:pt x="192167" y="43018"/>
                  <a:pt x="192167" y="96083"/>
                </a:cubicBezTo>
                <a:close/>
              </a:path>
            </a:pathLst>
          </a:custGeom>
          <a:gradFill>
            <a:gsLst>
              <a:gs pos="0">
                <a:srgbClr val="50E6FF"/>
              </a:gs>
              <a:gs pos="100000">
                <a:srgbClr val="0090A8">
                  <a:lumMod val="50000"/>
                </a:srgbClr>
              </a:gs>
            </a:gsLst>
            <a:lin ang="2700000" scaled="1"/>
          </a:gradFill>
          <a:ln w="25400" cap="flat">
            <a:solidFill>
              <a:schemeClr val="bg1"/>
            </a:solidFill>
            <a:prstDash val="solid"/>
            <a:miter/>
          </a:ln>
          <a:effectLst>
            <a:outerShdw blurRad="76200" dist="38100" dir="5400000" sx="85000" sy="85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ECF22038-438F-CF6E-A469-90151DBB8398}"/>
              </a:ext>
              <a:ext uri="{C183D7F6-B498-43B3-948B-1728B52AA6E4}">
                <adec:decorative xmlns:adec="http://schemas.microsoft.com/office/drawing/2017/decorative" val="1"/>
              </a:ext>
            </a:extLst>
          </p:cNvPr>
          <p:cNvGrpSpPr/>
          <p:nvPr/>
        </p:nvGrpSpPr>
        <p:grpSpPr>
          <a:xfrm>
            <a:off x="4846748" y="1558334"/>
            <a:ext cx="2116027" cy="4294245"/>
            <a:chOff x="4846748" y="1558334"/>
            <a:chExt cx="2116027" cy="4294245"/>
          </a:xfrm>
        </p:grpSpPr>
        <p:grpSp>
          <p:nvGrpSpPr>
            <p:cNvPr id="207" name="Group 206">
              <a:extLst>
                <a:ext uri="{FF2B5EF4-FFF2-40B4-BE49-F238E27FC236}">
                  <a16:creationId xmlns:a16="http://schemas.microsoft.com/office/drawing/2014/main" id="{4C57ECDA-3E74-742E-A452-A19F27BDC513}"/>
                </a:ext>
              </a:extLst>
            </p:cNvPr>
            <p:cNvGrpSpPr/>
            <p:nvPr/>
          </p:nvGrpSpPr>
          <p:grpSpPr>
            <a:xfrm rot="5400000">
              <a:off x="6816006" y="3004757"/>
              <a:ext cx="146770" cy="146768"/>
              <a:chOff x="5977653" y="1379199"/>
              <a:chExt cx="236695" cy="236689"/>
            </a:xfrm>
          </p:grpSpPr>
          <p:sp>
            <p:nvSpPr>
              <p:cNvPr id="208" name="Freeform: Shape 207">
                <a:extLst>
                  <a:ext uri="{FF2B5EF4-FFF2-40B4-BE49-F238E27FC236}">
                    <a16:creationId xmlns:a16="http://schemas.microsoft.com/office/drawing/2014/main" id="{F1D8650F-748A-56B6-16D6-A2C8B2D93864}"/>
                  </a:ext>
                </a:extLst>
              </p:cNvPr>
              <p:cNvSpPr/>
              <p:nvPr/>
            </p:nvSpPr>
            <p:spPr>
              <a:xfrm>
                <a:off x="5977653" y="1379199"/>
                <a:ext cx="236695" cy="236689"/>
              </a:xfrm>
              <a:custGeom>
                <a:avLst/>
                <a:gdLst>
                  <a:gd name="connsiteX0" fmla="*/ 294820 w 294819"/>
                  <a:gd name="connsiteY0" fmla="*/ 147409 h 294818"/>
                  <a:gd name="connsiteX1" fmla="*/ 147410 w 294819"/>
                  <a:gd name="connsiteY1" fmla="*/ 294818 h 294818"/>
                  <a:gd name="connsiteX2" fmla="*/ 0 w 294819"/>
                  <a:gd name="connsiteY2" fmla="*/ 147409 h 294818"/>
                  <a:gd name="connsiteX3" fmla="*/ 147410 w 294819"/>
                  <a:gd name="connsiteY3" fmla="*/ 0 h 294818"/>
                  <a:gd name="connsiteX4" fmla="*/ 294820 w 294819"/>
                  <a:gd name="connsiteY4" fmla="*/ 147409 h 29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19" h="294818">
                    <a:moveTo>
                      <a:pt x="294820" y="147409"/>
                    </a:moveTo>
                    <a:cubicBezTo>
                      <a:pt x="294820" y="228821"/>
                      <a:pt x="228822" y="294818"/>
                      <a:pt x="147410" y="294818"/>
                    </a:cubicBezTo>
                    <a:cubicBezTo>
                      <a:pt x="65998" y="294818"/>
                      <a:pt x="0" y="228821"/>
                      <a:pt x="0" y="147409"/>
                    </a:cubicBezTo>
                    <a:cubicBezTo>
                      <a:pt x="0" y="65997"/>
                      <a:pt x="65998" y="0"/>
                      <a:pt x="147410" y="0"/>
                    </a:cubicBezTo>
                    <a:cubicBezTo>
                      <a:pt x="228822" y="0"/>
                      <a:pt x="294820" y="65997"/>
                      <a:pt x="294820" y="147409"/>
                    </a:cubicBezTo>
                    <a:close/>
                  </a:path>
                </a:pathLst>
              </a:custGeom>
              <a:solidFill>
                <a:schemeClr val="bg1"/>
              </a:solidFill>
              <a:ln w="6350" cap="rnd">
                <a:solidFill>
                  <a:schemeClr val="bg1">
                    <a:lumMod val="75000"/>
                  </a:schemeClr>
                </a:solidFill>
                <a:prstDash val="sysDot"/>
                <a:round/>
              </a:ln>
              <a:effectLst>
                <a:outerShdw blurRad="63500" dist="38100" dir="5400000" sx="94000" sy="94000" algn="c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09" name="Graphic 225">
                <a:extLst>
                  <a:ext uri="{FF2B5EF4-FFF2-40B4-BE49-F238E27FC236}">
                    <a16:creationId xmlns:a16="http://schemas.microsoft.com/office/drawing/2014/main" id="{48C0AAB8-1832-71E6-BCFC-831C570974A3}"/>
                  </a:ext>
                </a:extLst>
              </p:cNvPr>
              <p:cNvSpPr/>
              <p:nvPr/>
            </p:nvSpPr>
            <p:spPr>
              <a:xfrm>
                <a:off x="6048031" y="1422980"/>
                <a:ext cx="105462" cy="149126"/>
              </a:xfrm>
              <a:custGeom>
                <a:avLst/>
                <a:gdLst>
                  <a:gd name="connsiteX0" fmla="*/ 106263 w 116264"/>
                  <a:gd name="connsiteY0" fmla="*/ 106204 h 164401"/>
                  <a:gd name="connsiteX1" fmla="*/ 58067 w 116264"/>
                  <a:gd name="connsiteY1" fmla="*/ 154400 h 164401"/>
                  <a:gd name="connsiteX2" fmla="*/ 9966 w 116264"/>
                  <a:gd name="connsiteY2" fmla="*/ 154400 h 164401"/>
                  <a:gd name="connsiteX3" fmla="*/ 9966 w 116264"/>
                  <a:gd name="connsiteY3" fmla="*/ 154400 h 164401"/>
                  <a:gd name="connsiteX4" fmla="*/ 9966 w 116264"/>
                  <a:gd name="connsiteY4" fmla="*/ 106299 h 164401"/>
                  <a:gd name="connsiteX5" fmla="*/ 34064 w 116264"/>
                  <a:gd name="connsiteY5" fmla="*/ 82201 h 164401"/>
                  <a:gd name="connsiteX6" fmla="*/ 9966 w 116264"/>
                  <a:gd name="connsiteY6" fmla="*/ 58103 h 164401"/>
                  <a:gd name="connsiteX7" fmla="*/ 9966 w 116264"/>
                  <a:gd name="connsiteY7" fmla="*/ 10001 h 164401"/>
                  <a:gd name="connsiteX8" fmla="*/ 9966 w 116264"/>
                  <a:gd name="connsiteY8" fmla="*/ 10001 h 164401"/>
                  <a:gd name="connsiteX9" fmla="*/ 58067 w 116264"/>
                  <a:gd name="connsiteY9" fmla="*/ 10001 h 164401"/>
                  <a:gd name="connsiteX10" fmla="*/ 106263 w 116264"/>
                  <a:gd name="connsiteY10" fmla="*/ 58198 h 164401"/>
                  <a:gd name="connsiteX11" fmla="*/ 106263 w 116264"/>
                  <a:gd name="connsiteY11" fmla="*/ 106299 h 16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264" h="164401">
                    <a:moveTo>
                      <a:pt x="106263" y="106204"/>
                    </a:moveTo>
                    <a:lnTo>
                      <a:pt x="58067" y="154400"/>
                    </a:lnTo>
                    <a:cubicBezTo>
                      <a:pt x="44732" y="167735"/>
                      <a:pt x="23205" y="167735"/>
                      <a:pt x="9966" y="154400"/>
                    </a:cubicBezTo>
                    <a:lnTo>
                      <a:pt x="9966" y="154400"/>
                    </a:lnTo>
                    <a:cubicBezTo>
                      <a:pt x="-3274" y="141161"/>
                      <a:pt x="-3369" y="119634"/>
                      <a:pt x="9966" y="106299"/>
                    </a:cubicBezTo>
                    <a:lnTo>
                      <a:pt x="34064" y="82201"/>
                    </a:lnTo>
                    <a:lnTo>
                      <a:pt x="9966" y="58103"/>
                    </a:lnTo>
                    <a:cubicBezTo>
                      <a:pt x="-3274" y="44863"/>
                      <a:pt x="-3369" y="23336"/>
                      <a:pt x="9966" y="10001"/>
                    </a:cubicBezTo>
                    <a:lnTo>
                      <a:pt x="9966" y="10001"/>
                    </a:lnTo>
                    <a:cubicBezTo>
                      <a:pt x="23205" y="-3334"/>
                      <a:pt x="44827" y="-3334"/>
                      <a:pt x="58067" y="10001"/>
                    </a:cubicBezTo>
                    <a:lnTo>
                      <a:pt x="106263" y="58198"/>
                    </a:lnTo>
                    <a:cubicBezTo>
                      <a:pt x="119598" y="71533"/>
                      <a:pt x="119598" y="93059"/>
                      <a:pt x="106263" y="106299"/>
                    </a:cubicBezTo>
                    <a:close/>
                  </a:path>
                </a:pathLst>
              </a:custGeom>
              <a:solidFill>
                <a:schemeClr val="bg1">
                  <a:lumMod val="85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210" name="Group 209">
              <a:extLst>
                <a:ext uri="{FF2B5EF4-FFF2-40B4-BE49-F238E27FC236}">
                  <a16:creationId xmlns:a16="http://schemas.microsoft.com/office/drawing/2014/main" id="{B78D14E7-18DA-04A7-DD23-3529BC033FB2}"/>
                </a:ext>
              </a:extLst>
            </p:cNvPr>
            <p:cNvGrpSpPr/>
            <p:nvPr/>
          </p:nvGrpSpPr>
          <p:grpSpPr>
            <a:xfrm rot="5400000">
              <a:off x="6816006" y="4263064"/>
              <a:ext cx="146770" cy="146768"/>
              <a:chOff x="5977653" y="1379199"/>
              <a:chExt cx="236695" cy="236689"/>
            </a:xfrm>
          </p:grpSpPr>
          <p:sp>
            <p:nvSpPr>
              <p:cNvPr id="211" name="Freeform: Shape 210">
                <a:extLst>
                  <a:ext uri="{FF2B5EF4-FFF2-40B4-BE49-F238E27FC236}">
                    <a16:creationId xmlns:a16="http://schemas.microsoft.com/office/drawing/2014/main" id="{B71651E9-8382-607C-53D8-C1D2FA4C420B}"/>
                  </a:ext>
                </a:extLst>
              </p:cNvPr>
              <p:cNvSpPr/>
              <p:nvPr/>
            </p:nvSpPr>
            <p:spPr>
              <a:xfrm>
                <a:off x="5977653" y="1379199"/>
                <a:ext cx="236695" cy="236689"/>
              </a:xfrm>
              <a:custGeom>
                <a:avLst/>
                <a:gdLst>
                  <a:gd name="connsiteX0" fmla="*/ 294820 w 294819"/>
                  <a:gd name="connsiteY0" fmla="*/ 147409 h 294818"/>
                  <a:gd name="connsiteX1" fmla="*/ 147410 w 294819"/>
                  <a:gd name="connsiteY1" fmla="*/ 294818 h 294818"/>
                  <a:gd name="connsiteX2" fmla="*/ 0 w 294819"/>
                  <a:gd name="connsiteY2" fmla="*/ 147409 h 294818"/>
                  <a:gd name="connsiteX3" fmla="*/ 147410 w 294819"/>
                  <a:gd name="connsiteY3" fmla="*/ 0 h 294818"/>
                  <a:gd name="connsiteX4" fmla="*/ 294820 w 294819"/>
                  <a:gd name="connsiteY4" fmla="*/ 147409 h 29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19" h="294818">
                    <a:moveTo>
                      <a:pt x="294820" y="147409"/>
                    </a:moveTo>
                    <a:cubicBezTo>
                      <a:pt x="294820" y="228821"/>
                      <a:pt x="228822" y="294818"/>
                      <a:pt x="147410" y="294818"/>
                    </a:cubicBezTo>
                    <a:cubicBezTo>
                      <a:pt x="65998" y="294818"/>
                      <a:pt x="0" y="228821"/>
                      <a:pt x="0" y="147409"/>
                    </a:cubicBezTo>
                    <a:cubicBezTo>
                      <a:pt x="0" y="65997"/>
                      <a:pt x="65998" y="0"/>
                      <a:pt x="147410" y="0"/>
                    </a:cubicBezTo>
                    <a:cubicBezTo>
                      <a:pt x="228822" y="0"/>
                      <a:pt x="294820" y="65997"/>
                      <a:pt x="294820" y="147409"/>
                    </a:cubicBezTo>
                    <a:close/>
                  </a:path>
                </a:pathLst>
              </a:custGeom>
              <a:solidFill>
                <a:schemeClr val="bg1"/>
              </a:solidFill>
              <a:ln w="6350" cap="rnd">
                <a:solidFill>
                  <a:schemeClr val="bg1">
                    <a:lumMod val="75000"/>
                  </a:schemeClr>
                </a:solidFill>
                <a:prstDash val="sysDot"/>
                <a:round/>
              </a:ln>
              <a:effectLst>
                <a:outerShdw blurRad="63500" dist="38100" dir="5400000" sx="94000" sy="94000" algn="c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2" name="Graphic 225">
                <a:extLst>
                  <a:ext uri="{FF2B5EF4-FFF2-40B4-BE49-F238E27FC236}">
                    <a16:creationId xmlns:a16="http://schemas.microsoft.com/office/drawing/2014/main" id="{D00DF97F-A9E5-287A-0250-7DB48DA58C60}"/>
                  </a:ext>
                </a:extLst>
              </p:cNvPr>
              <p:cNvSpPr/>
              <p:nvPr/>
            </p:nvSpPr>
            <p:spPr>
              <a:xfrm>
                <a:off x="6048031" y="1422980"/>
                <a:ext cx="105462" cy="149126"/>
              </a:xfrm>
              <a:custGeom>
                <a:avLst/>
                <a:gdLst>
                  <a:gd name="connsiteX0" fmla="*/ 106263 w 116264"/>
                  <a:gd name="connsiteY0" fmla="*/ 106204 h 164401"/>
                  <a:gd name="connsiteX1" fmla="*/ 58067 w 116264"/>
                  <a:gd name="connsiteY1" fmla="*/ 154400 h 164401"/>
                  <a:gd name="connsiteX2" fmla="*/ 9966 w 116264"/>
                  <a:gd name="connsiteY2" fmla="*/ 154400 h 164401"/>
                  <a:gd name="connsiteX3" fmla="*/ 9966 w 116264"/>
                  <a:gd name="connsiteY3" fmla="*/ 154400 h 164401"/>
                  <a:gd name="connsiteX4" fmla="*/ 9966 w 116264"/>
                  <a:gd name="connsiteY4" fmla="*/ 106299 h 164401"/>
                  <a:gd name="connsiteX5" fmla="*/ 34064 w 116264"/>
                  <a:gd name="connsiteY5" fmla="*/ 82201 h 164401"/>
                  <a:gd name="connsiteX6" fmla="*/ 9966 w 116264"/>
                  <a:gd name="connsiteY6" fmla="*/ 58103 h 164401"/>
                  <a:gd name="connsiteX7" fmla="*/ 9966 w 116264"/>
                  <a:gd name="connsiteY7" fmla="*/ 10001 h 164401"/>
                  <a:gd name="connsiteX8" fmla="*/ 9966 w 116264"/>
                  <a:gd name="connsiteY8" fmla="*/ 10001 h 164401"/>
                  <a:gd name="connsiteX9" fmla="*/ 58067 w 116264"/>
                  <a:gd name="connsiteY9" fmla="*/ 10001 h 164401"/>
                  <a:gd name="connsiteX10" fmla="*/ 106263 w 116264"/>
                  <a:gd name="connsiteY10" fmla="*/ 58198 h 164401"/>
                  <a:gd name="connsiteX11" fmla="*/ 106263 w 116264"/>
                  <a:gd name="connsiteY11" fmla="*/ 106299 h 16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264" h="164401">
                    <a:moveTo>
                      <a:pt x="106263" y="106204"/>
                    </a:moveTo>
                    <a:lnTo>
                      <a:pt x="58067" y="154400"/>
                    </a:lnTo>
                    <a:cubicBezTo>
                      <a:pt x="44732" y="167735"/>
                      <a:pt x="23205" y="167735"/>
                      <a:pt x="9966" y="154400"/>
                    </a:cubicBezTo>
                    <a:lnTo>
                      <a:pt x="9966" y="154400"/>
                    </a:lnTo>
                    <a:cubicBezTo>
                      <a:pt x="-3274" y="141161"/>
                      <a:pt x="-3369" y="119634"/>
                      <a:pt x="9966" y="106299"/>
                    </a:cubicBezTo>
                    <a:lnTo>
                      <a:pt x="34064" y="82201"/>
                    </a:lnTo>
                    <a:lnTo>
                      <a:pt x="9966" y="58103"/>
                    </a:lnTo>
                    <a:cubicBezTo>
                      <a:pt x="-3274" y="44863"/>
                      <a:pt x="-3369" y="23336"/>
                      <a:pt x="9966" y="10001"/>
                    </a:cubicBezTo>
                    <a:lnTo>
                      <a:pt x="9966" y="10001"/>
                    </a:lnTo>
                    <a:cubicBezTo>
                      <a:pt x="23205" y="-3334"/>
                      <a:pt x="44827" y="-3334"/>
                      <a:pt x="58067" y="10001"/>
                    </a:cubicBezTo>
                    <a:lnTo>
                      <a:pt x="106263" y="58198"/>
                    </a:lnTo>
                    <a:cubicBezTo>
                      <a:pt x="119598" y="71533"/>
                      <a:pt x="119598" y="93059"/>
                      <a:pt x="106263" y="106299"/>
                    </a:cubicBezTo>
                    <a:close/>
                  </a:path>
                </a:pathLst>
              </a:custGeom>
              <a:solidFill>
                <a:schemeClr val="bg1">
                  <a:lumMod val="85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213" name="Group 212">
              <a:extLst>
                <a:ext uri="{FF2B5EF4-FFF2-40B4-BE49-F238E27FC236}">
                  <a16:creationId xmlns:a16="http://schemas.microsoft.com/office/drawing/2014/main" id="{47C7375D-938B-FB33-A306-8F58901967FF}"/>
                </a:ext>
              </a:extLst>
            </p:cNvPr>
            <p:cNvGrpSpPr/>
            <p:nvPr/>
          </p:nvGrpSpPr>
          <p:grpSpPr>
            <a:xfrm rot="8637133">
              <a:off x="6082145" y="5296464"/>
              <a:ext cx="146770" cy="146768"/>
              <a:chOff x="5977653" y="1379199"/>
              <a:chExt cx="236695" cy="236689"/>
            </a:xfrm>
          </p:grpSpPr>
          <p:sp>
            <p:nvSpPr>
              <p:cNvPr id="214" name="Freeform: Shape 213">
                <a:extLst>
                  <a:ext uri="{FF2B5EF4-FFF2-40B4-BE49-F238E27FC236}">
                    <a16:creationId xmlns:a16="http://schemas.microsoft.com/office/drawing/2014/main" id="{F3696030-AD68-4151-0BEC-B5575EE7A721}"/>
                  </a:ext>
                </a:extLst>
              </p:cNvPr>
              <p:cNvSpPr/>
              <p:nvPr/>
            </p:nvSpPr>
            <p:spPr>
              <a:xfrm>
                <a:off x="5977653" y="1379199"/>
                <a:ext cx="236695" cy="236689"/>
              </a:xfrm>
              <a:custGeom>
                <a:avLst/>
                <a:gdLst>
                  <a:gd name="connsiteX0" fmla="*/ 294820 w 294819"/>
                  <a:gd name="connsiteY0" fmla="*/ 147409 h 294818"/>
                  <a:gd name="connsiteX1" fmla="*/ 147410 w 294819"/>
                  <a:gd name="connsiteY1" fmla="*/ 294818 h 294818"/>
                  <a:gd name="connsiteX2" fmla="*/ 0 w 294819"/>
                  <a:gd name="connsiteY2" fmla="*/ 147409 h 294818"/>
                  <a:gd name="connsiteX3" fmla="*/ 147410 w 294819"/>
                  <a:gd name="connsiteY3" fmla="*/ 0 h 294818"/>
                  <a:gd name="connsiteX4" fmla="*/ 294820 w 294819"/>
                  <a:gd name="connsiteY4" fmla="*/ 147409 h 29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19" h="294818">
                    <a:moveTo>
                      <a:pt x="294820" y="147409"/>
                    </a:moveTo>
                    <a:cubicBezTo>
                      <a:pt x="294820" y="228821"/>
                      <a:pt x="228822" y="294818"/>
                      <a:pt x="147410" y="294818"/>
                    </a:cubicBezTo>
                    <a:cubicBezTo>
                      <a:pt x="65998" y="294818"/>
                      <a:pt x="0" y="228821"/>
                      <a:pt x="0" y="147409"/>
                    </a:cubicBezTo>
                    <a:cubicBezTo>
                      <a:pt x="0" y="65997"/>
                      <a:pt x="65998" y="0"/>
                      <a:pt x="147410" y="0"/>
                    </a:cubicBezTo>
                    <a:cubicBezTo>
                      <a:pt x="228822" y="0"/>
                      <a:pt x="294820" y="65997"/>
                      <a:pt x="294820" y="147409"/>
                    </a:cubicBezTo>
                    <a:close/>
                  </a:path>
                </a:pathLst>
              </a:custGeom>
              <a:solidFill>
                <a:schemeClr val="bg1"/>
              </a:solidFill>
              <a:ln w="6350" cap="rnd">
                <a:solidFill>
                  <a:schemeClr val="bg1">
                    <a:lumMod val="75000"/>
                  </a:schemeClr>
                </a:solidFill>
                <a:prstDash val="sysDot"/>
                <a:round/>
              </a:ln>
              <a:effectLst>
                <a:outerShdw blurRad="63500" dist="38100" dir="5400000" sx="94000" sy="94000" algn="c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5" name="Graphic 225">
                <a:extLst>
                  <a:ext uri="{FF2B5EF4-FFF2-40B4-BE49-F238E27FC236}">
                    <a16:creationId xmlns:a16="http://schemas.microsoft.com/office/drawing/2014/main" id="{E3FFEA95-4171-AE7A-0F4C-5439AAFEBA0B}"/>
                  </a:ext>
                </a:extLst>
              </p:cNvPr>
              <p:cNvSpPr/>
              <p:nvPr/>
            </p:nvSpPr>
            <p:spPr>
              <a:xfrm>
                <a:off x="6048031" y="1422980"/>
                <a:ext cx="105462" cy="149126"/>
              </a:xfrm>
              <a:custGeom>
                <a:avLst/>
                <a:gdLst>
                  <a:gd name="connsiteX0" fmla="*/ 106263 w 116264"/>
                  <a:gd name="connsiteY0" fmla="*/ 106204 h 164401"/>
                  <a:gd name="connsiteX1" fmla="*/ 58067 w 116264"/>
                  <a:gd name="connsiteY1" fmla="*/ 154400 h 164401"/>
                  <a:gd name="connsiteX2" fmla="*/ 9966 w 116264"/>
                  <a:gd name="connsiteY2" fmla="*/ 154400 h 164401"/>
                  <a:gd name="connsiteX3" fmla="*/ 9966 w 116264"/>
                  <a:gd name="connsiteY3" fmla="*/ 154400 h 164401"/>
                  <a:gd name="connsiteX4" fmla="*/ 9966 w 116264"/>
                  <a:gd name="connsiteY4" fmla="*/ 106299 h 164401"/>
                  <a:gd name="connsiteX5" fmla="*/ 34064 w 116264"/>
                  <a:gd name="connsiteY5" fmla="*/ 82201 h 164401"/>
                  <a:gd name="connsiteX6" fmla="*/ 9966 w 116264"/>
                  <a:gd name="connsiteY6" fmla="*/ 58103 h 164401"/>
                  <a:gd name="connsiteX7" fmla="*/ 9966 w 116264"/>
                  <a:gd name="connsiteY7" fmla="*/ 10001 h 164401"/>
                  <a:gd name="connsiteX8" fmla="*/ 9966 w 116264"/>
                  <a:gd name="connsiteY8" fmla="*/ 10001 h 164401"/>
                  <a:gd name="connsiteX9" fmla="*/ 58067 w 116264"/>
                  <a:gd name="connsiteY9" fmla="*/ 10001 h 164401"/>
                  <a:gd name="connsiteX10" fmla="*/ 106263 w 116264"/>
                  <a:gd name="connsiteY10" fmla="*/ 58198 h 164401"/>
                  <a:gd name="connsiteX11" fmla="*/ 106263 w 116264"/>
                  <a:gd name="connsiteY11" fmla="*/ 106299 h 16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264" h="164401">
                    <a:moveTo>
                      <a:pt x="106263" y="106204"/>
                    </a:moveTo>
                    <a:lnTo>
                      <a:pt x="58067" y="154400"/>
                    </a:lnTo>
                    <a:cubicBezTo>
                      <a:pt x="44732" y="167735"/>
                      <a:pt x="23205" y="167735"/>
                      <a:pt x="9966" y="154400"/>
                    </a:cubicBezTo>
                    <a:lnTo>
                      <a:pt x="9966" y="154400"/>
                    </a:lnTo>
                    <a:cubicBezTo>
                      <a:pt x="-3274" y="141161"/>
                      <a:pt x="-3369" y="119634"/>
                      <a:pt x="9966" y="106299"/>
                    </a:cubicBezTo>
                    <a:lnTo>
                      <a:pt x="34064" y="82201"/>
                    </a:lnTo>
                    <a:lnTo>
                      <a:pt x="9966" y="58103"/>
                    </a:lnTo>
                    <a:cubicBezTo>
                      <a:pt x="-3274" y="44863"/>
                      <a:pt x="-3369" y="23336"/>
                      <a:pt x="9966" y="10001"/>
                    </a:cubicBezTo>
                    <a:lnTo>
                      <a:pt x="9966" y="10001"/>
                    </a:lnTo>
                    <a:cubicBezTo>
                      <a:pt x="23205" y="-3334"/>
                      <a:pt x="44827" y="-3334"/>
                      <a:pt x="58067" y="10001"/>
                    </a:cubicBezTo>
                    <a:lnTo>
                      <a:pt x="106263" y="58198"/>
                    </a:lnTo>
                    <a:cubicBezTo>
                      <a:pt x="119598" y="71533"/>
                      <a:pt x="119598" y="93059"/>
                      <a:pt x="106263" y="106299"/>
                    </a:cubicBezTo>
                    <a:close/>
                  </a:path>
                </a:pathLst>
              </a:custGeom>
              <a:solidFill>
                <a:schemeClr val="bg1">
                  <a:lumMod val="85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216" name="Group 215">
              <a:extLst>
                <a:ext uri="{FF2B5EF4-FFF2-40B4-BE49-F238E27FC236}">
                  <a16:creationId xmlns:a16="http://schemas.microsoft.com/office/drawing/2014/main" id="{5E835246-6835-062A-5E60-C89FB7A0798D}"/>
                </a:ext>
              </a:extLst>
            </p:cNvPr>
            <p:cNvGrpSpPr/>
            <p:nvPr/>
          </p:nvGrpSpPr>
          <p:grpSpPr>
            <a:xfrm rot="2700000">
              <a:off x="6082145" y="1968474"/>
              <a:ext cx="146770" cy="146768"/>
              <a:chOff x="5977653" y="1379199"/>
              <a:chExt cx="236695" cy="236689"/>
            </a:xfrm>
          </p:grpSpPr>
          <p:sp>
            <p:nvSpPr>
              <p:cNvPr id="217" name="Freeform: Shape 216">
                <a:extLst>
                  <a:ext uri="{FF2B5EF4-FFF2-40B4-BE49-F238E27FC236}">
                    <a16:creationId xmlns:a16="http://schemas.microsoft.com/office/drawing/2014/main" id="{1A184CF9-972D-3B79-F463-243261AF772C}"/>
                  </a:ext>
                </a:extLst>
              </p:cNvPr>
              <p:cNvSpPr/>
              <p:nvPr/>
            </p:nvSpPr>
            <p:spPr>
              <a:xfrm>
                <a:off x="5977653" y="1379199"/>
                <a:ext cx="236695" cy="236689"/>
              </a:xfrm>
              <a:custGeom>
                <a:avLst/>
                <a:gdLst>
                  <a:gd name="connsiteX0" fmla="*/ 294820 w 294819"/>
                  <a:gd name="connsiteY0" fmla="*/ 147409 h 294818"/>
                  <a:gd name="connsiteX1" fmla="*/ 147410 w 294819"/>
                  <a:gd name="connsiteY1" fmla="*/ 294818 h 294818"/>
                  <a:gd name="connsiteX2" fmla="*/ 0 w 294819"/>
                  <a:gd name="connsiteY2" fmla="*/ 147409 h 294818"/>
                  <a:gd name="connsiteX3" fmla="*/ 147410 w 294819"/>
                  <a:gd name="connsiteY3" fmla="*/ 0 h 294818"/>
                  <a:gd name="connsiteX4" fmla="*/ 294820 w 294819"/>
                  <a:gd name="connsiteY4" fmla="*/ 147409 h 29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19" h="294818">
                    <a:moveTo>
                      <a:pt x="294820" y="147409"/>
                    </a:moveTo>
                    <a:cubicBezTo>
                      <a:pt x="294820" y="228821"/>
                      <a:pt x="228822" y="294818"/>
                      <a:pt x="147410" y="294818"/>
                    </a:cubicBezTo>
                    <a:cubicBezTo>
                      <a:pt x="65998" y="294818"/>
                      <a:pt x="0" y="228821"/>
                      <a:pt x="0" y="147409"/>
                    </a:cubicBezTo>
                    <a:cubicBezTo>
                      <a:pt x="0" y="65997"/>
                      <a:pt x="65998" y="0"/>
                      <a:pt x="147410" y="0"/>
                    </a:cubicBezTo>
                    <a:cubicBezTo>
                      <a:pt x="228822" y="0"/>
                      <a:pt x="294820" y="65997"/>
                      <a:pt x="294820" y="147409"/>
                    </a:cubicBezTo>
                    <a:close/>
                  </a:path>
                </a:pathLst>
              </a:custGeom>
              <a:solidFill>
                <a:schemeClr val="bg1"/>
              </a:solidFill>
              <a:ln w="6350" cap="rnd">
                <a:solidFill>
                  <a:schemeClr val="bg1">
                    <a:lumMod val="75000"/>
                  </a:schemeClr>
                </a:solidFill>
                <a:prstDash val="sysDot"/>
                <a:round/>
              </a:ln>
              <a:effectLst>
                <a:outerShdw blurRad="63500" dist="38100" dir="5400000" sx="94000" sy="94000" algn="c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8" name="Graphic 225">
                <a:extLst>
                  <a:ext uri="{FF2B5EF4-FFF2-40B4-BE49-F238E27FC236}">
                    <a16:creationId xmlns:a16="http://schemas.microsoft.com/office/drawing/2014/main" id="{A6F1DF1C-FEBC-20A1-A10A-66A40972065C}"/>
                  </a:ext>
                </a:extLst>
              </p:cNvPr>
              <p:cNvSpPr/>
              <p:nvPr/>
            </p:nvSpPr>
            <p:spPr>
              <a:xfrm>
                <a:off x="6048031" y="1422980"/>
                <a:ext cx="105462" cy="149126"/>
              </a:xfrm>
              <a:custGeom>
                <a:avLst/>
                <a:gdLst>
                  <a:gd name="connsiteX0" fmla="*/ 106263 w 116264"/>
                  <a:gd name="connsiteY0" fmla="*/ 106204 h 164401"/>
                  <a:gd name="connsiteX1" fmla="*/ 58067 w 116264"/>
                  <a:gd name="connsiteY1" fmla="*/ 154400 h 164401"/>
                  <a:gd name="connsiteX2" fmla="*/ 9966 w 116264"/>
                  <a:gd name="connsiteY2" fmla="*/ 154400 h 164401"/>
                  <a:gd name="connsiteX3" fmla="*/ 9966 w 116264"/>
                  <a:gd name="connsiteY3" fmla="*/ 154400 h 164401"/>
                  <a:gd name="connsiteX4" fmla="*/ 9966 w 116264"/>
                  <a:gd name="connsiteY4" fmla="*/ 106299 h 164401"/>
                  <a:gd name="connsiteX5" fmla="*/ 34064 w 116264"/>
                  <a:gd name="connsiteY5" fmla="*/ 82201 h 164401"/>
                  <a:gd name="connsiteX6" fmla="*/ 9966 w 116264"/>
                  <a:gd name="connsiteY6" fmla="*/ 58103 h 164401"/>
                  <a:gd name="connsiteX7" fmla="*/ 9966 w 116264"/>
                  <a:gd name="connsiteY7" fmla="*/ 10001 h 164401"/>
                  <a:gd name="connsiteX8" fmla="*/ 9966 w 116264"/>
                  <a:gd name="connsiteY8" fmla="*/ 10001 h 164401"/>
                  <a:gd name="connsiteX9" fmla="*/ 58067 w 116264"/>
                  <a:gd name="connsiteY9" fmla="*/ 10001 h 164401"/>
                  <a:gd name="connsiteX10" fmla="*/ 106263 w 116264"/>
                  <a:gd name="connsiteY10" fmla="*/ 58198 h 164401"/>
                  <a:gd name="connsiteX11" fmla="*/ 106263 w 116264"/>
                  <a:gd name="connsiteY11" fmla="*/ 106299 h 16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264" h="164401">
                    <a:moveTo>
                      <a:pt x="106263" y="106204"/>
                    </a:moveTo>
                    <a:lnTo>
                      <a:pt x="58067" y="154400"/>
                    </a:lnTo>
                    <a:cubicBezTo>
                      <a:pt x="44732" y="167735"/>
                      <a:pt x="23205" y="167735"/>
                      <a:pt x="9966" y="154400"/>
                    </a:cubicBezTo>
                    <a:lnTo>
                      <a:pt x="9966" y="154400"/>
                    </a:lnTo>
                    <a:cubicBezTo>
                      <a:pt x="-3274" y="141161"/>
                      <a:pt x="-3369" y="119634"/>
                      <a:pt x="9966" y="106299"/>
                    </a:cubicBezTo>
                    <a:lnTo>
                      <a:pt x="34064" y="82201"/>
                    </a:lnTo>
                    <a:lnTo>
                      <a:pt x="9966" y="58103"/>
                    </a:lnTo>
                    <a:cubicBezTo>
                      <a:pt x="-3274" y="44863"/>
                      <a:pt x="-3369" y="23336"/>
                      <a:pt x="9966" y="10001"/>
                    </a:cubicBezTo>
                    <a:lnTo>
                      <a:pt x="9966" y="10001"/>
                    </a:lnTo>
                    <a:cubicBezTo>
                      <a:pt x="23205" y="-3334"/>
                      <a:pt x="44827" y="-3334"/>
                      <a:pt x="58067" y="10001"/>
                    </a:cubicBezTo>
                    <a:lnTo>
                      <a:pt x="106263" y="58198"/>
                    </a:lnTo>
                    <a:cubicBezTo>
                      <a:pt x="119598" y="71533"/>
                      <a:pt x="119598" y="93059"/>
                      <a:pt x="106263" y="106299"/>
                    </a:cubicBezTo>
                    <a:close/>
                  </a:path>
                </a:pathLst>
              </a:custGeom>
              <a:solidFill>
                <a:schemeClr val="bg1">
                  <a:lumMod val="85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219" name="Group 218">
              <a:extLst>
                <a:ext uri="{FF2B5EF4-FFF2-40B4-BE49-F238E27FC236}">
                  <a16:creationId xmlns:a16="http://schemas.microsoft.com/office/drawing/2014/main" id="{1778CADA-132B-2365-50FB-FC770D5B63D0}"/>
                </a:ext>
              </a:extLst>
            </p:cNvPr>
            <p:cNvGrpSpPr/>
            <p:nvPr/>
          </p:nvGrpSpPr>
          <p:grpSpPr>
            <a:xfrm>
              <a:off x="4846748" y="1558334"/>
              <a:ext cx="146770" cy="146768"/>
              <a:chOff x="5977653" y="1379199"/>
              <a:chExt cx="236695" cy="236689"/>
            </a:xfrm>
          </p:grpSpPr>
          <p:sp>
            <p:nvSpPr>
              <p:cNvPr id="220" name="Freeform: Shape 219">
                <a:extLst>
                  <a:ext uri="{FF2B5EF4-FFF2-40B4-BE49-F238E27FC236}">
                    <a16:creationId xmlns:a16="http://schemas.microsoft.com/office/drawing/2014/main" id="{D4F46891-DD4B-D3F0-03B1-CCD4A44BE369}"/>
                  </a:ext>
                </a:extLst>
              </p:cNvPr>
              <p:cNvSpPr/>
              <p:nvPr/>
            </p:nvSpPr>
            <p:spPr>
              <a:xfrm>
                <a:off x="5977653" y="1379199"/>
                <a:ext cx="236695" cy="236689"/>
              </a:xfrm>
              <a:custGeom>
                <a:avLst/>
                <a:gdLst>
                  <a:gd name="connsiteX0" fmla="*/ 294820 w 294819"/>
                  <a:gd name="connsiteY0" fmla="*/ 147409 h 294818"/>
                  <a:gd name="connsiteX1" fmla="*/ 147410 w 294819"/>
                  <a:gd name="connsiteY1" fmla="*/ 294818 h 294818"/>
                  <a:gd name="connsiteX2" fmla="*/ 0 w 294819"/>
                  <a:gd name="connsiteY2" fmla="*/ 147409 h 294818"/>
                  <a:gd name="connsiteX3" fmla="*/ 147410 w 294819"/>
                  <a:gd name="connsiteY3" fmla="*/ 0 h 294818"/>
                  <a:gd name="connsiteX4" fmla="*/ 294820 w 294819"/>
                  <a:gd name="connsiteY4" fmla="*/ 147409 h 29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19" h="294818">
                    <a:moveTo>
                      <a:pt x="294820" y="147409"/>
                    </a:moveTo>
                    <a:cubicBezTo>
                      <a:pt x="294820" y="228821"/>
                      <a:pt x="228822" y="294818"/>
                      <a:pt x="147410" y="294818"/>
                    </a:cubicBezTo>
                    <a:cubicBezTo>
                      <a:pt x="65998" y="294818"/>
                      <a:pt x="0" y="228821"/>
                      <a:pt x="0" y="147409"/>
                    </a:cubicBezTo>
                    <a:cubicBezTo>
                      <a:pt x="0" y="65997"/>
                      <a:pt x="65998" y="0"/>
                      <a:pt x="147410" y="0"/>
                    </a:cubicBezTo>
                    <a:cubicBezTo>
                      <a:pt x="228822" y="0"/>
                      <a:pt x="294820" y="65997"/>
                      <a:pt x="294820" y="147409"/>
                    </a:cubicBezTo>
                    <a:close/>
                  </a:path>
                </a:pathLst>
              </a:custGeom>
              <a:solidFill>
                <a:schemeClr val="bg1"/>
              </a:solidFill>
              <a:ln w="6350" cap="rnd">
                <a:solidFill>
                  <a:schemeClr val="bg1">
                    <a:lumMod val="75000"/>
                  </a:schemeClr>
                </a:solidFill>
                <a:prstDash val="sysDot"/>
                <a:round/>
              </a:ln>
              <a:effectLst>
                <a:outerShdw blurRad="63500" dist="38100" dir="5400000" sx="94000" sy="94000" algn="c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21" name="Graphic 225">
                <a:extLst>
                  <a:ext uri="{FF2B5EF4-FFF2-40B4-BE49-F238E27FC236}">
                    <a16:creationId xmlns:a16="http://schemas.microsoft.com/office/drawing/2014/main" id="{97AB8081-29A3-30AB-51A4-AF3CDD937F2A}"/>
                  </a:ext>
                </a:extLst>
              </p:cNvPr>
              <p:cNvSpPr/>
              <p:nvPr/>
            </p:nvSpPr>
            <p:spPr>
              <a:xfrm>
                <a:off x="6048031" y="1422980"/>
                <a:ext cx="105462" cy="149126"/>
              </a:xfrm>
              <a:custGeom>
                <a:avLst/>
                <a:gdLst>
                  <a:gd name="connsiteX0" fmla="*/ 106263 w 116264"/>
                  <a:gd name="connsiteY0" fmla="*/ 106204 h 164401"/>
                  <a:gd name="connsiteX1" fmla="*/ 58067 w 116264"/>
                  <a:gd name="connsiteY1" fmla="*/ 154400 h 164401"/>
                  <a:gd name="connsiteX2" fmla="*/ 9966 w 116264"/>
                  <a:gd name="connsiteY2" fmla="*/ 154400 h 164401"/>
                  <a:gd name="connsiteX3" fmla="*/ 9966 w 116264"/>
                  <a:gd name="connsiteY3" fmla="*/ 154400 h 164401"/>
                  <a:gd name="connsiteX4" fmla="*/ 9966 w 116264"/>
                  <a:gd name="connsiteY4" fmla="*/ 106299 h 164401"/>
                  <a:gd name="connsiteX5" fmla="*/ 34064 w 116264"/>
                  <a:gd name="connsiteY5" fmla="*/ 82201 h 164401"/>
                  <a:gd name="connsiteX6" fmla="*/ 9966 w 116264"/>
                  <a:gd name="connsiteY6" fmla="*/ 58103 h 164401"/>
                  <a:gd name="connsiteX7" fmla="*/ 9966 w 116264"/>
                  <a:gd name="connsiteY7" fmla="*/ 10001 h 164401"/>
                  <a:gd name="connsiteX8" fmla="*/ 9966 w 116264"/>
                  <a:gd name="connsiteY8" fmla="*/ 10001 h 164401"/>
                  <a:gd name="connsiteX9" fmla="*/ 58067 w 116264"/>
                  <a:gd name="connsiteY9" fmla="*/ 10001 h 164401"/>
                  <a:gd name="connsiteX10" fmla="*/ 106263 w 116264"/>
                  <a:gd name="connsiteY10" fmla="*/ 58198 h 164401"/>
                  <a:gd name="connsiteX11" fmla="*/ 106263 w 116264"/>
                  <a:gd name="connsiteY11" fmla="*/ 106299 h 16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264" h="164401">
                    <a:moveTo>
                      <a:pt x="106263" y="106204"/>
                    </a:moveTo>
                    <a:lnTo>
                      <a:pt x="58067" y="154400"/>
                    </a:lnTo>
                    <a:cubicBezTo>
                      <a:pt x="44732" y="167735"/>
                      <a:pt x="23205" y="167735"/>
                      <a:pt x="9966" y="154400"/>
                    </a:cubicBezTo>
                    <a:lnTo>
                      <a:pt x="9966" y="154400"/>
                    </a:lnTo>
                    <a:cubicBezTo>
                      <a:pt x="-3274" y="141161"/>
                      <a:pt x="-3369" y="119634"/>
                      <a:pt x="9966" y="106299"/>
                    </a:cubicBezTo>
                    <a:lnTo>
                      <a:pt x="34064" y="82201"/>
                    </a:lnTo>
                    <a:lnTo>
                      <a:pt x="9966" y="58103"/>
                    </a:lnTo>
                    <a:cubicBezTo>
                      <a:pt x="-3274" y="44863"/>
                      <a:pt x="-3369" y="23336"/>
                      <a:pt x="9966" y="10001"/>
                    </a:cubicBezTo>
                    <a:lnTo>
                      <a:pt x="9966" y="10001"/>
                    </a:lnTo>
                    <a:cubicBezTo>
                      <a:pt x="23205" y="-3334"/>
                      <a:pt x="44827" y="-3334"/>
                      <a:pt x="58067" y="10001"/>
                    </a:cubicBezTo>
                    <a:lnTo>
                      <a:pt x="106263" y="58198"/>
                    </a:lnTo>
                    <a:cubicBezTo>
                      <a:pt x="119598" y="71533"/>
                      <a:pt x="119598" y="93059"/>
                      <a:pt x="106263" y="106299"/>
                    </a:cubicBezTo>
                    <a:close/>
                  </a:path>
                </a:pathLst>
              </a:custGeom>
              <a:solidFill>
                <a:schemeClr val="bg1">
                  <a:lumMod val="85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222" name="Group 221">
              <a:extLst>
                <a:ext uri="{FF2B5EF4-FFF2-40B4-BE49-F238E27FC236}">
                  <a16:creationId xmlns:a16="http://schemas.microsoft.com/office/drawing/2014/main" id="{00D84FCE-C766-4CD3-EEAC-DBCB8BE028DC}"/>
                </a:ext>
              </a:extLst>
            </p:cNvPr>
            <p:cNvGrpSpPr/>
            <p:nvPr/>
          </p:nvGrpSpPr>
          <p:grpSpPr>
            <a:xfrm rot="10800000">
              <a:off x="4846748" y="5705811"/>
              <a:ext cx="146770" cy="146768"/>
              <a:chOff x="5977653" y="1379199"/>
              <a:chExt cx="236695" cy="236689"/>
            </a:xfrm>
          </p:grpSpPr>
          <p:sp>
            <p:nvSpPr>
              <p:cNvPr id="223" name="Freeform: Shape 222">
                <a:extLst>
                  <a:ext uri="{FF2B5EF4-FFF2-40B4-BE49-F238E27FC236}">
                    <a16:creationId xmlns:a16="http://schemas.microsoft.com/office/drawing/2014/main" id="{B37D02D5-249F-9F78-6C2F-9DE090210884}"/>
                  </a:ext>
                </a:extLst>
              </p:cNvPr>
              <p:cNvSpPr/>
              <p:nvPr/>
            </p:nvSpPr>
            <p:spPr>
              <a:xfrm>
                <a:off x="5977653" y="1379199"/>
                <a:ext cx="236695" cy="236689"/>
              </a:xfrm>
              <a:custGeom>
                <a:avLst/>
                <a:gdLst>
                  <a:gd name="connsiteX0" fmla="*/ 294820 w 294819"/>
                  <a:gd name="connsiteY0" fmla="*/ 147409 h 294818"/>
                  <a:gd name="connsiteX1" fmla="*/ 147410 w 294819"/>
                  <a:gd name="connsiteY1" fmla="*/ 294818 h 294818"/>
                  <a:gd name="connsiteX2" fmla="*/ 0 w 294819"/>
                  <a:gd name="connsiteY2" fmla="*/ 147409 h 294818"/>
                  <a:gd name="connsiteX3" fmla="*/ 147410 w 294819"/>
                  <a:gd name="connsiteY3" fmla="*/ 0 h 294818"/>
                  <a:gd name="connsiteX4" fmla="*/ 294820 w 294819"/>
                  <a:gd name="connsiteY4" fmla="*/ 147409 h 29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19" h="294818">
                    <a:moveTo>
                      <a:pt x="294820" y="147409"/>
                    </a:moveTo>
                    <a:cubicBezTo>
                      <a:pt x="294820" y="228821"/>
                      <a:pt x="228822" y="294818"/>
                      <a:pt x="147410" y="294818"/>
                    </a:cubicBezTo>
                    <a:cubicBezTo>
                      <a:pt x="65998" y="294818"/>
                      <a:pt x="0" y="228821"/>
                      <a:pt x="0" y="147409"/>
                    </a:cubicBezTo>
                    <a:cubicBezTo>
                      <a:pt x="0" y="65997"/>
                      <a:pt x="65998" y="0"/>
                      <a:pt x="147410" y="0"/>
                    </a:cubicBezTo>
                    <a:cubicBezTo>
                      <a:pt x="228822" y="0"/>
                      <a:pt x="294820" y="65997"/>
                      <a:pt x="294820" y="147409"/>
                    </a:cubicBezTo>
                    <a:close/>
                  </a:path>
                </a:pathLst>
              </a:custGeom>
              <a:solidFill>
                <a:schemeClr val="bg1"/>
              </a:solidFill>
              <a:ln w="6350" cap="rnd">
                <a:solidFill>
                  <a:schemeClr val="bg1">
                    <a:lumMod val="75000"/>
                  </a:schemeClr>
                </a:solidFill>
                <a:prstDash val="sysDot"/>
                <a:round/>
              </a:ln>
              <a:effectLst>
                <a:outerShdw blurRad="63500" dist="38100" dir="5400000" sx="94000" sy="94000" algn="c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24" name="Graphic 225">
                <a:extLst>
                  <a:ext uri="{FF2B5EF4-FFF2-40B4-BE49-F238E27FC236}">
                    <a16:creationId xmlns:a16="http://schemas.microsoft.com/office/drawing/2014/main" id="{78464941-4F50-0D87-4BC0-5514296E2F29}"/>
                  </a:ext>
                </a:extLst>
              </p:cNvPr>
              <p:cNvSpPr/>
              <p:nvPr/>
            </p:nvSpPr>
            <p:spPr>
              <a:xfrm>
                <a:off x="6048031" y="1422980"/>
                <a:ext cx="105462" cy="149126"/>
              </a:xfrm>
              <a:custGeom>
                <a:avLst/>
                <a:gdLst>
                  <a:gd name="connsiteX0" fmla="*/ 106263 w 116264"/>
                  <a:gd name="connsiteY0" fmla="*/ 106204 h 164401"/>
                  <a:gd name="connsiteX1" fmla="*/ 58067 w 116264"/>
                  <a:gd name="connsiteY1" fmla="*/ 154400 h 164401"/>
                  <a:gd name="connsiteX2" fmla="*/ 9966 w 116264"/>
                  <a:gd name="connsiteY2" fmla="*/ 154400 h 164401"/>
                  <a:gd name="connsiteX3" fmla="*/ 9966 w 116264"/>
                  <a:gd name="connsiteY3" fmla="*/ 154400 h 164401"/>
                  <a:gd name="connsiteX4" fmla="*/ 9966 w 116264"/>
                  <a:gd name="connsiteY4" fmla="*/ 106299 h 164401"/>
                  <a:gd name="connsiteX5" fmla="*/ 34064 w 116264"/>
                  <a:gd name="connsiteY5" fmla="*/ 82201 h 164401"/>
                  <a:gd name="connsiteX6" fmla="*/ 9966 w 116264"/>
                  <a:gd name="connsiteY6" fmla="*/ 58103 h 164401"/>
                  <a:gd name="connsiteX7" fmla="*/ 9966 w 116264"/>
                  <a:gd name="connsiteY7" fmla="*/ 10001 h 164401"/>
                  <a:gd name="connsiteX8" fmla="*/ 9966 w 116264"/>
                  <a:gd name="connsiteY8" fmla="*/ 10001 h 164401"/>
                  <a:gd name="connsiteX9" fmla="*/ 58067 w 116264"/>
                  <a:gd name="connsiteY9" fmla="*/ 10001 h 164401"/>
                  <a:gd name="connsiteX10" fmla="*/ 106263 w 116264"/>
                  <a:gd name="connsiteY10" fmla="*/ 58198 h 164401"/>
                  <a:gd name="connsiteX11" fmla="*/ 106263 w 116264"/>
                  <a:gd name="connsiteY11" fmla="*/ 106299 h 16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264" h="164401">
                    <a:moveTo>
                      <a:pt x="106263" y="106204"/>
                    </a:moveTo>
                    <a:lnTo>
                      <a:pt x="58067" y="154400"/>
                    </a:lnTo>
                    <a:cubicBezTo>
                      <a:pt x="44732" y="167735"/>
                      <a:pt x="23205" y="167735"/>
                      <a:pt x="9966" y="154400"/>
                    </a:cubicBezTo>
                    <a:lnTo>
                      <a:pt x="9966" y="154400"/>
                    </a:lnTo>
                    <a:cubicBezTo>
                      <a:pt x="-3274" y="141161"/>
                      <a:pt x="-3369" y="119634"/>
                      <a:pt x="9966" y="106299"/>
                    </a:cubicBezTo>
                    <a:lnTo>
                      <a:pt x="34064" y="82201"/>
                    </a:lnTo>
                    <a:lnTo>
                      <a:pt x="9966" y="58103"/>
                    </a:lnTo>
                    <a:cubicBezTo>
                      <a:pt x="-3274" y="44863"/>
                      <a:pt x="-3369" y="23336"/>
                      <a:pt x="9966" y="10001"/>
                    </a:cubicBezTo>
                    <a:lnTo>
                      <a:pt x="9966" y="10001"/>
                    </a:lnTo>
                    <a:cubicBezTo>
                      <a:pt x="23205" y="-3334"/>
                      <a:pt x="44827" y="-3334"/>
                      <a:pt x="58067" y="10001"/>
                    </a:cubicBezTo>
                    <a:lnTo>
                      <a:pt x="106263" y="58198"/>
                    </a:lnTo>
                    <a:cubicBezTo>
                      <a:pt x="119598" y="71533"/>
                      <a:pt x="119598" y="93059"/>
                      <a:pt x="106263" y="106299"/>
                    </a:cubicBezTo>
                    <a:close/>
                  </a:path>
                </a:pathLst>
              </a:custGeom>
              <a:solidFill>
                <a:schemeClr val="bg1">
                  <a:lumMod val="85000"/>
                </a:scheme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cxnSp>
        <p:nvCxnSpPr>
          <p:cNvPr id="2" name="Straight Connector 1">
            <a:extLst>
              <a:ext uri="{FF2B5EF4-FFF2-40B4-BE49-F238E27FC236}">
                <a16:creationId xmlns:a16="http://schemas.microsoft.com/office/drawing/2014/main" id="{8F15E9AB-26B2-2D1F-07D5-82DD4091DEA8}"/>
              </a:ext>
              <a:ext uri="{C183D7F6-B498-43B3-948B-1728B52AA6E4}">
                <adec:decorative xmlns:adec="http://schemas.microsoft.com/office/drawing/2017/decorative" val="1"/>
              </a:ext>
            </a:extLst>
          </p:cNvPr>
          <p:cNvCxnSpPr>
            <a:cxnSpLocks/>
            <a:endCxn id="155" idx="2"/>
          </p:cNvCxnSpPr>
          <p:nvPr/>
        </p:nvCxnSpPr>
        <p:spPr>
          <a:xfrm flipH="1">
            <a:off x="6129301" y="3707296"/>
            <a:ext cx="198888" cy="0"/>
          </a:xfrm>
          <a:prstGeom prst="line">
            <a:avLst/>
          </a:prstGeom>
          <a:gradFill>
            <a:gsLst>
              <a:gs pos="0">
                <a:schemeClr val="accent2"/>
              </a:gs>
              <a:gs pos="100000">
                <a:schemeClr val="accent2">
                  <a:lumMod val="50000"/>
                </a:schemeClr>
              </a:gs>
            </a:gsLst>
            <a:lin ang="2700000" scaled="1"/>
          </a:gradFill>
          <a:ln w="25400" cap="flat">
            <a:solidFill>
              <a:schemeClr val="bg1"/>
            </a:solidFill>
            <a:prstDash val="solid"/>
            <a:miter/>
          </a:ln>
          <a:effectLst>
            <a:outerShdw blurRad="254000" dist="444500" dir="5400000" sx="50000" sy="50000" algn="t" rotWithShape="0">
              <a:schemeClr val="accent2">
                <a:lumMod val="50000"/>
                <a:alpha val="40000"/>
              </a:schemeClr>
            </a:outerShdw>
          </a:effectLst>
        </p:spPr>
      </p:cxnSp>
    </p:spTree>
    <p:extLst>
      <p:ext uri="{BB962C8B-B14F-4D97-AF65-F5344CB8AC3E}">
        <p14:creationId xmlns:p14="http://schemas.microsoft.com/office/powerpoint/2010/main" val="194101413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97E9AC5-AB1E-551C-A3A1-57134F77D99B}"/>
              </a:ext>
              <a:ext uri="{C183D7F6-B498-43B3-948B-1728B52AA6E4}">
                <adec:decorative xmlns:adec="http://schemas.microsoft.com/office/drawing/2017/decorative" val="1"/>
              </a:ext>
            </a:extLst>
          </p:cNvPr>
          <p:cNvGrpSpPr/>
          <p:nvPr/>
        </p:nvGrpSpPr>
        <p:grpSpPr>
          <a:xfrm>
            <a:off x="8004176" y="3950572"/>
            <a:ext cx="2227564" cy="1530226"/>
            <a:chOff x="8019190" y="4220447"/>
            <a:chExt cx="2212549" cy="1530226"/>
          </a:xfrm>
        </p:grpSpPr>
        <p:cxnSp>
          <p:nvCxnSpPr>
            <p:cNvPr id="20" name="Straight Connector 19">
              <a:extLst>
                <a:ext uri="{FF2B5EF4-FFF2-40B4-BE49-F238E27FC236}">
                  <a16:creationId xmlns:a16="http://schemas.microsoft.com/office/drawing/2014/main" id="{5C1C1A19-D2C0-3D07-3AFA-B69D356BC3D0}"/>
                </a:ext>
                <a:ext uri="{C183D7F6-B498-43B3-948B-1728B52AA6E4}">
                  <adec:decorative xmlns:adec="http://schemas.microsoft.com/office/drawing/2017/decorative" val="1"/>
                </a:ext>
              </a:extLst>
            </p:cNvPr>
            <p:cNvCxnSpPr>
              <a:cxnSpLocks/>
            </p:cNvCxnSpPr>
            <p:nvPr/>
          </p:nvCxnSpPr>
          <p:spPr>
            <a:xfrm flipV="1">
              <a:off x="8029952" y="4220447"/>
              <a:ext cx="2201787" cy="1516954"/>
            </a:xfrm>
            <a:prstGeom prst="line">
              <a:avLst/>
            </a:prstGeom>
            <a:ln>
              <a:solidFill>
                <a:schemeClr val="tx2"/>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46D5C2A-75FC-D149-D2C0-BE23369A1C94}"/>
                </a:ext>
                <a:ext uri="{C183D7F6-B498-43B3-948B-1728B52AA6E4}">
                  <adec:decorative xmlns:adec="http://schemas.microsoft.com/office/drawing/2017/decorative" val="1"/>
                </a:ext>
              </a:extLst>
            </p:cNvPr>
            <p:cNvCxnSpPr>
              <a:cxnSpLocks/>
            </p:cNvCxnSpPr>
            <p:nvPr/>
          </p:nvCxnSpPr>
          <p:spPr>
            <a:xfrm>
              <a:off x="8019190" y="4728014"/>
              <a:ext cx="0" cy="1022659"/>
            </a:xfrm>
            <a:prstGeom prst="line">
              <a:avLst/>
            </a:prstGeom>
            <a:ln>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aphicFrame>
        <p:nvGraphicFramePr>
          <p:cNvPr id="14" name="think-cell data - do not delete" hidden="1">
            <a:extLst>
              <a:ext uri="{FF2B5EF4-FFF2-40B4-BE49-F238E27FC236}">
                <a16:creationId xmlns:a16="http://schemas.microsoft.com/office/drawing/2014/main" id="{76C35FDE-7AD6-104C-7CC3-925FA60D733F}"/>
              </a:ext>
              <a:ext uri="{C183D7F6-B498-43B3-948B-1728B52AA6E4}">
                <adec:decorative xmlns:adec="http://schemas.microsoft.com/office/drawing/2017/decorative" val="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4" name="think-cell data - do not delete" hidden="1">
                        <a:extLst>
                          <a:ext uri="{FF2B5EF4-FFF2-40B4-BE49-F238E27FC236}">
                            <a16:creationId xmlns:a16="http://schemas.microsoft.com/office/drawing/2014/main" id="{76C35FDE-7AD6-104C-7CC3-925FA60D733F}"/>
                          </a:ext>
                          <a:ext uri="{C183D7F6-B498-43B3-948B-1728B52AA6E4}">
                            <adec:decorative xmlns:adec="http://schemas.microsoft.com/office/drawing/2017/decorative" val="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Freeform: Shape 12">
            <a:extLst>
              <a:ext uri="{FF2B5EF4-FFF2-40B4-BE49-F238E27FC236}">
                <a16:creationId xmlns:a16="http://schemas.microsoft.com/office/drawing/2014/main" id="{9C6F6C27-E51E-E907-3556-D7D4FDFE27E3}"/>
              </a:ext>
              <a:ext uri="{C183D7F6-B498-43B3-948B-1728B52AA6E4}">
                <adec:decorative xmlns:adec="http://schemas.microsoft.com/office/drawing/2017/decorative" val="1"/>
              </a:ext>
            </a:extLst>
          </p:cNvPr>
          <p:cNvSpPr/>
          <p:nvPr/>
        </p:nvSpPr>
        <p:spPr bwMode="auto">
          <a:xfrm rot="2998022">
            <a:off x="5578673" y="-1012178"/>
            <a:ext cx="3606637" cy="9095972"/>
          </a:xfrm>
          <a:custGeom>
            <a:avLst/>
            <a:gdLst>
              <a:gd name="connsiteX0" fmla="*/ 2856337 w 3606637"/>
              <a:gd name="connsiteY0" fmla="*/ 438566 h 8789327"/>
              <a:gd name="connsiteX1" fmla="*/ 3231487 w 3606637"/>
              <a:gd name="connsiteY1" fmla="*/ 0 h 8789327"/>
              <a:gd name="connsiteX2" fmla="*/ 3606637 w 3606637"/>
              <a:gd name="connsiteY2" fmla="*/ 438566 h 8789327"/>
              <a:gd name="connsiteX3" fmla="*/ 3435729 w 3606637"/>
              <a:gd name="connsiteY3" fmla="*/ 438566 h 8789327"/>
              <a:gd name="connsiteX4" fmla="*/ 3225276 w 3606637"/>
              <a:gd name="connsiteY4" fmla="*/ 2817356 h 8789327"/>
              <a:gd name="connsiteX5" fmla="*/ 2109092 w 3606637"/>
              <a:gd name="connsiteY5" fmla="*/ 3116242 h 8789327"/>
              <a:gd name="connsiteX6" fmla="*/ 1871104 w 3606637"/>
              <a:gd name="connsiteY6" fmla="*/ 5806631 h 8789327"/>
              <a:gd name="connsiteX7" fmla="*/ 674167 w 3606637"/>
              <a:gd name="connsiteY7" fmla="*/ 6127107 h 8789327"/>
              <a:gd name="connsiteX8" fmla="*/ 449345 w 3606637"/>
              <a:gd name="connsiteY8" fmla="*/ 8669016 h 8789327"/>
              <a:gd name="connsiteX9" fmla="*/ 0 w 3606637"/>
              <a:gd name="connsiteY9" fmla="*/ 8789327 h 8789327"/>
              <a:gd name="connsiteX10" fmla="*/ 265840 w 3606637"/>
              <a:gd name="connsiteY10" fmla="*/ 5784079 h 8789327"/>
              <a:gd name="connsiteX11" fmla="*/ 1462747 w 3606637"/>
              <a:gd name="connsiteY11" fmla="*/ 5463579 h 8789327"/>
              <a:gd name="connsiteX12" fmla="*/ 1700736 w 3606637"/>
              <a:gd name="connsiteY12" fmla="*/ 2773191 h 8789327"/>
              <a:gd name="connsiteX13" fmla="*/ 2816948 w 3606637"/>
              <a:gd name="connsiteY13" fmla="*/ 2474328 h 8789327"/>
              <a:gd name="connsiteX14" fmla="*/ 2997059 w 3606637"/>
              <a:gd name="connsiteY14" fmla="*/ 438566 h 878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06637" h="8789327">
                <a:moveTo>
                  <a:pt x="2856337" y="438566"/>
                </a:moveTo>
                <a:lnTo>
                  <a:pt x="3231487" y="0"/>
                </a:lnTo>
                <a:lnTo>
                  <a:pt x="3606637" y="438566"/>
                </a:lnTo>
                <a:lnTo>
                  <a:pt x="3435729" y="438566"/>
                </a:lnTo>
                <a:lnTo>
                  <a:pt x="3225276" y="2817356"/>
                </a:lnTo>
                <a:lnTo>
                  <a:pt x="2109092" y="3116242"/>
                </a:lnTo>
                <a:lnTo>
                  <a:pt x="1871104" y="5806631"/>
                </a:lnTo>
                <a:lnTo>
                  <a:pt x="674167" y="6127107"/>
                </a:lnTo>
                <a:lnTo>
                  <a:pt x="449345" y="8669016"/>
                </a:lnTo>
                <a:lnTo>
                  <a:pt x="0" y="8789327"/>
                </a:lnTo>
                <a:lnTo>
                  <a:pt x="265840" y="5784079"/>
                </a:lnTo>
                <a:lnTo>
                  <a:pt x="1462747" y="5463579"/>
                </a:lnTo>
                <a:lnTo>
                  <a:pt x="1700736" y="2773191"/>
                </a:lnTo>
                <a:lnTo>
                  <a:pt x="2816948" y="2474328"/>
                </a:lnTo>
                <a:lnTo>
                  <a:pt x="2997059" y="438566"/>
                </a:lnTo>
                <a:close/>
              </a:path>
            </a:pathLst>
          </a:custGeom>
          <a:solidFill>
            <a:schemeClr val="accent1">
              <a:lumMod val="20000"/>
              <a:lumOff val="80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a:ln>
                <a:noFill/>
              </a:ln>
              <a:solidFill>
                <a:srgbClr val="000000"/>
              </a:solidFill>
              <a:effectLst/>
              <a:uLnTx/>
              <a:uFillTx/>
              <a:latin typeface="Segoe UI"/>
              <a:ea typeface="+mn-ea"/>
              <a:cs typeface="+mn-cs"/>
            </a:endParaRPr>
          </a:p>
        </p:txBody>
      </p:sp>
      <p:sp>
        <p:nvSpPr>
          <p:cNvPr id="51" name="Freeform: Shape 50">
            <a:extLst>
              <a:ext uri="{FF2B5EF4-FFF2-40B4-BE49-F238E27FC236}">
                <a16:creationId xmlns:a16="http://schemas.microsoft.com/office/drawing/2014/main" id="{6E41C4A1-D7B3-8CBB-8342-62549DE7DB31}"/>
              </a:ext>
              <a:ext uri="{C183D7F6-B498-43B3-948B-1728B52AA6E4}">
                <adec:decorative xmlns:adec="http://schemas.microsoft.com/office/drawing/2017/decorative" val="1"/>
              </a:ext>
            </a:extLst>
          </p:cNvPr>
          <p:cNvSpPr/>
          <p:nvPr/>
        </p:nvSpPr>
        <p:spPr>
          <a:xfrm rot="10800000">
            <a:off x="576260" y="1689298"/>
            <a:ext cx="10243505" cy="4015316"/>
          </a:xfrm>
          <a:custGeom>
            <a:avLst/>
            <a:gdLst>
              <a:gd name="connsiteX0" fmla="*/ 2291742 w 2338677"/>
              <a:gd name="connsiteY0" fmla="*/ 42 h 1654120"/>
              <a:gd name="connsiteX1" fmla="*/ 2338676 w 2338677"/>
              <a:gd name="connsiteY1" fmla="*/ 44967 h 1654120"/>
              <a:gd name="connsiteX2" fmla="*/ 2338676 w 2338677"/>
              <a:gd name="connsiteY2" fmla="*/ 945191 h 1654120"/>
              <a:gd name="connsiteX3" fmla="*/ 2338677 w 2338677"/>
              <a:gd name="connsiteY3" fmla="*/ 945191 h 1654120"/>
              <a:gd name="connsiteX4" fmla="*/ 2338677 w 2338677"/>
              <a:gd name="connsiteY4" fmla="*/ 1594336 h 1654120"/>
              <a:gd name="connsiteX5" fmla="*/ 2278893 w 2338677"/>
              <a:gd name="connsiteY5" fmla="*/ 1654120 h 1654120"/>
              <a:gd name="connsiteX6" fmla="*/ 1676403 w 2338677"/>
              <a:gd name="connsiteY6" fmla="*/ 1654120 h 1654120"/>
              <a:gd name="connsiteX7" fmla="*/ 1638305 w 2338677"/>
              <a:gd name="connsiteY7" fmla="*/ 1654120 h 1654120"/>
              <a:gd name="connsiteX8" fmla="*/ 44960 w 2338677"/>
              <a:gd name="connsiteY8" fmla="*/ 1654120 h 1654120"/>
              <a:gd name="connsiteX9" fmla="*/ 19338 w 2338677"/>
              <a:gd name="connsiteY9" fmla="*/ 1572396 h 1654120"/>
              <a:gd name="connsiteX10" fmla="*/ 2268191 w 2338677"/>
              <a:gd name="connsiteY10" fmla="*/ 8105 h 1654120"/>
              <a:gd name="connsiteX11" fmla="*/ 2291742 w 2338677"/>
              <a:gd name="connsiteY11" fmla="*/ 42 h 1654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38677" h="1654120">
                <a:moveTo>
                  <a:pt x="2291742" y="42"/>
                </a:moveTo>
                <a:cubicBezTo>
                  <a:pt x="2315745" y="-1003"/>
                  <a:pt x="2338676" y="17750"/>
                  <a:pt x="2338676" y="44967"/>
                </a:cubicBezTo>
                <a:lnTo>
                  <a:pt x="2338676" y="945191"/>
                </a:lnTo>
                <a:lnTo>
                  <a:pt x="2338677" y="945191"/>
                </a:lnTo>
                <a:lnTo>
                  <a:pt x="2338677" y="1594336"/>
                </a:lnTo>
                <a:cubicBezTo>
                  <a:pt x="2338677" y="1627354"/>
                  <a:pt x="2311911" y="1654120"/>
                  <a:pt x="2278893" y="1654120"/>
                </a:cubicBezTo>
                <a:lnTo>
                  <a:pt x="1676403" y="1654120"/>
                </a:lnTo>
                <a:lnTo>
                  <a:pt x="1638305" y="1654120"/>
                </a:lnTo>
                <a:lnTo>
                  <a:pt x="44960" y="1654120"/>
                </a:lnTo>
                <a:cubicBezTo>
                  <a:pt x="1050" y="1654120"/>
                  <a:pt x="-16762" y="1597447"/>
                  <a:pt x="19338" y="1572396"/>
                </a:cubicBezTo>
                <a:lnTo>
                  <a:pt x="2268191" y="8105"/>
                </a:lnTo>
                <a:cubicBezTo>
                  <a:pt x="2275621" y="2938"/>
                  <a:pt x="2283741" y="390"/>
                  <a:pt x="2291742" y="42"/>
                </a:cubicBezTo>
                <a:close/>
              </a:path>
            </a:pathLst>
          </a:custGeom>
          <a:gradFill flip="none" rotWithShape="1">
            <a:gsLst>
              <a:gs pos="0">
                <a:schemeClr val="tx2">
                  <a:lumMod val="50000"/>
                </a:schemeClr>
              </a:gs>
              <a:gs pos="100000">
                <a:schemeClr val="tx2"/>
              </a:gs>
            </a:gsLst>
            <a:lin ang="2700000" scaled="1"/>
            <a:tileRect/>
          </a:gradFill>
          <a:ln w="12700">
            <a:noFill/>
            <a:headEnd type="none" w="med" len="med"/>
            <a:tailEnd type="none" w="med" len="med"/>
          </a:ln>
          <a:effectLst>
            <a:outerShdw blurRad="88900" dist="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69" name="Commitments_EC4D">
            <a:extLst>
              <a:ext uri="{FF2B5EF4-FFF2-40B4-BE49-F238E27FC236}">
                <a16:creationId xmlns:a16="http://schemas.microsoft.com/office/drawing/2014/main" id="{90F8EA10-550D-3160-CC01-7BA0B17248EC}"/>
              </a:ext>
              <a:ext uri="{C183D7F6-B498-43B3-948B-1728B52AA6E4}">
                <adec:decorative xmlns:adec="http://schemas.microsoft.com/office/drawing/2017/decorative" val="1"/>
              </a:ext>
            </a:extLst>
          </p:cNvPr>
          <p:cNvSpPr>
            <a:spLocks noChangeAspect="1" noEditPoints="1"/>
          </p:cNvSpPr>
          <p:nvPr/>
        </p:nvSpPr>
        <p:spPr bwMode="auto">
          <a:xfrm>
            <a:off x="808376" y="1839656"/>
            <a:ext cx="421858" cy="395544"/>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Segoe UI"/>
              <a:ea typeface="+mn-ea"/>
              <a:cs typeface="+mn-cs"/>
            </a:endParaRPr>
          </a:p>
        </p:txBody>
      </p:sp>
      <p:sp>
        <p:nvSpPr>
          <p:cNvPr id="55" name="Rectangle 54">
            <a:extLst>
              <a:ext uri="{FF2B5EF4-FFF2-40B4-BE49-F238E27FC236}">
                <a16:creationId xmlns:a16="http://schemas.microsoft.com/office/drawing/2014/main" id="{548F2084-2665-8F80-D265-EAB94F527563}"/>
              </a:ext>
              <a:ext uri="{C183D7F6-B498-43B3-948B-1728B52AA6E4}">
                <adec:decorative xmlns:adec="http://schemas.microsoft.com/office/drawing/2017/decorative" val="1"/>
              </a:ext>
            </a:extLst>
          </p:cNvPr>
          <p:cNvSpPr>
            <a:spLocks/>
          </p:cNvSpPr>
          <p:nvPr/>
        </p:nvSpPr>
        <p:spPr bwMode="auto">
          <a:xfrm rot="10800000" flipV="1">
            <a:off x="723595" y="2350340"/>
            <a:ext cx="1645920" cy="45719"/>
          </a:xfrm>
          <a:prstGeom prst="rect">
            <a:avLst/>
          </a:prstGeom>
          <a:gradFill flip="none" rotWithShape="1">
            <a:gsLst>
              <a:gs pos="0">
                <a:schemeClr val="accent1">
                  <a:lumMod val="50000"/>
                </a:schemeClr>
              </a:gs>
              <a:gs pos="100000">
                <a:schemeClr val="accent1"/>
              </a:gs>
            </a:gsLst>
            <a:lin ang="0" scaled="1"/>
            <a:tileRect/>
          </a:gra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19" name="Rectangle 18">
            <a:extLst>
              <a:ext uri="{FF2B5EF4-FFF2-40B4-BE49-F238E27FC236}">
                <a16:creationId xmlns:a16="http://schemas.microsoft.com/office/drawing/2014/main" id="{53EC310C-8CFD-C088-FC0C-A3ED34B0F019}"/>
              </a:ext>
              <a:ext uri="{C183D7F6-B498-43B3-948B-1728B52AA6E4}">
                <adec:decorative xmlns:adec="http://schemas.microsoft.com/office/drawing/2017/decorative" val="1"/>
              </a:ext>
            </a:extLst>
          </p:cNvPr>
          <p:cNvSpPr/>
          <p:nvPr/>
        </p:nvSpPr>
        <p:spPr bwMode="auto">
          <a:xfrm>
            <a:off x="7913543" y="4635350"/>
            <a:ext cx="1499963" cy="35403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49" name="Freeform: Shape 48">
            <a:extLst>
              <a:ext uri="{FF2B5EF4-FFF2-40B4-BE49-F238E27FC236}">
                <a16:creationId xmlns:a16="http://schemas.microsoft.com/office/drawing/2014/main" id="{BE1BA5A6-1D1C-F04C-B471-25C3E2E0ED02}"/>
              </a:ext>
              <a:ext uri="{C183D7F6-B498-43B3-948B-1728B52AA6E4}">
                <adec:decorative xmlns:adec="http://schemas.microsoft.com/office/drawing/2017/decorative" val="1"/>
              </a:ext>
            </a:extLst>
          </p:cNvPr>
          <p:cNvSpPr/>
          <p:nvPr/>
        </p:nvSpPr>
        <p:spPr>
          <a:xfrm>
            <a:off x="7993626" y="3962785"/>
            <a:ext cx="3626874" cy="2565247"/>
          </a:xfrm>
          <a:custGeom>
            <a:avLst/>
            <a:gdLst>
              <a:gd name="connsiteX0" fmla="*/ 2291742 w 2338677"/>
              <a:gd name="connsiteY0" fmla="*/ 42 h 1654120"/>
              <a:gd name="connsiteX1" fmla="*/ 2338676 w 2338677"/>
              <a:gd name="connsiteY1" fmla="*/ 44967 h 1654120"/>
              <a:gd name="connsiteX2" fmla="*/ 2338676 w 2338677"/>
              <a:gd name="connsiteY2" fmla="*/ 945191 h 1654120"/>
              <a:gd name="connsiteX3" fmla="*/ 2338677 w 2338677"/>
              <a:gd name="connsiteY3" fmla="*/ 945191 h 1654120"/>
              <a:gd name="connsiteX4" fmla="*/ 2338677 w 2338677"/>
              <a:gd name="connsiteY4" fmla="*/ 1594336 h 1654120"/>
              <a:gd name="connsiteX5" fmla="*/ 2278893 w 2338677"/>
              <a:gd name="connsiteY5" fmla="*/ 1654120 h 1654120"/>
              <a:gd name="connsiteX6" fmla="*/ 1676403 w 2338677"/>
              <a:gd name="connsiteY6" fmla="*/ 1654120 h 1654120"/>
              <a:gd name="connsiteX7" fmla="*/ 1638305 w 2338677"/>
              <a:gd name="connsiteY7" fmla="*/ 1654120 h 1654120"/>
              <a:gd name="connsiteX8" fmla="*/ 44960 w 2338677"/>
              <a:gd name="connsiteY8" fmla="*/ 1654120 h 1654120"/>
              <a:gd name="connsiteX9" fmla="*/ 19338 w 2338677"/>
              <a:gd name="connsiteY9" fmla="*/ 1572396 h 1654120"/>
              <a:gd name="connsiteX10" fmla="*/ 2268191 w 2338677"/>
              <a:gd name="connsiteY10" fmla="*/ 8105 h 1654120"/>
              <a:gd name="connsiteX11" fmla="*/ 2291742 w 2338677"/>
              <a:gd name="connsiteY11" fmla="*/ 42 h 1654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38677" h="1654120">
                <a:moveTo>
                  <a:pt x="2291742" y="42"/>
                </a:moveTo>
                <a:cubicBezTo>
                  <a:pt x="2315745" y="-1003"/>
                  <a:pt x="2338676" y="17750"/>
                  <a:pt x="2338676" y="44967"/>
                </a:cubicBezTo>
                <a:lnTo>
                  <a:pt x="2338676" y="945191"/>
                </a:lnTo>
                <a:lnTo>
                  <a:pt x="2338677" y="945191"/>
                </a:lnTo>
                <a:lnTo>
                  <a:pt x="2338677" y="1594336"/>
                </a:lnTo>
                <a:cubicBezTo>
                  <a:pt x="2338677" y="1627354"/>
                  <a:pt x="2311911" y="1654120"/>
                  <a:pt x="2278893" y="1654120"/>
                </a:cubicBezTo>
                <a:lnTo>
                  <a:pt x="1676403" y="1654120"/>
                </a:lnTo>
                <a:lnTo>
                  <a:pt x="1638305" y="1654120"/>
                </a:lnTo>
                <a:lnTo>
                  <a:pt x="44960" y="1654120"/>
                </a:lnTo>
                <a:cubicBezTo>
                  <a:pt x="1050" y="1654120"/>
                  <a:pt x="-16762" y="1597447"/>
                  <a:pt x="19338" y="1572396"/>
                </a:cubicBezTo>
                <a:lnTo>
                  <a:pt x="2268191" y="8105"/>
                </a:lnTo>
                <a:cubicBezTo>
                  <a:pt x="2275621" y="2938"/>
                  <a:pt x="2283741" y="390"/>
                  <a:pt x="2291742" y="42"/>
                </a:cubicBezTo>
                <a:close/>
              </a:path>
            </a:pathLst>
          </a:custGeom>
          <a:gradFill flip="none" rotWithShape="1">
            <a:gsLst>
              <a:gs pos="0">
                <a:schemeClr val="accent1">
                  <a:lumMod val="50000"/>
                </a:schemeClr>
              </a:gs>
              <a:gs pos="100000">
                <a:schemeClr val="accent1"/>
              </a:gs>
            </a:gsLst>
            <a:lin ang="2700000" scaled="1"/>
            <a:tileRect/>
          </a:gradFill>
          <a:ln w="12700">
            <a:solidFill>
              <a:srgbClr val="0078D4"/>
            </a:solidFill>
            <a:headEnd type="none" w="med" len="med"/>
            <a:tailEnd type="none" w="med" len="med"/>
          </a:ln>
          <a:effectLst>
            <a:outerShdw blurRad="88900" dist="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12" name="plan">
            <a:extLst>
              <a:ext uri="{FF2B5EF4-FFF2-40B4-BE49-F238E27FC236}">
                <a16:creationId xmlns:a16="http://schemas.microsoft.com/office/drawing/2014/main" id="{C6683007-1775-ED4D-0B93-EEDE10F73C0F}"/>
              </a:ext>
              <a:ext uri="{C183D7F6-B498-43B3-948B-1728B52AA6E4}">
                <adec:decorative xmlns:adec="http://schemas.microsoft.com/office/drawing/2017/decorative" val="1"/>
              </a:ext>
            </a:extLst>
          </p:cNvPr>
          <p:cNvSpPr>
            <a:spLocks noChangeAspect="1" noEditPoints="1"/>
          </p:cNvSpPr>
          <p:nvPr/>
        </p:nvSpPr>
        <p:spPr bwMode="auto">
          <a:xfrm>
            <a:off x="11015664" y="4872613"/>
            <a:ext cx="371474" cy="372934"/>
          </a:xfrm>
          <a:custGeom>
            <a:avLst/>
            <a:gdLst>
              <a:gd name="T0" fmla="*/ 116 w 352"/>
              <a:gd name="T1" fmla="*/ 117 h 352"/>
              <a:gd name="T2" fmla="*/ 0 w 352"/>
              <a:gd name="T3" fmla="*/ 0 h 352"/>
              <a:gd name="T4" fmla="*/ 116 w 352"/>
              <a:gd name="T5" fmla="*/ 0 h 352"/>
              <a:gd name="T6" fmla="*/ 0 w 352"/>
              <a:gd name="T7" fmla="*/ 117 h 352"/>
              <a:gd name="T8" fmla="*/ 352 w 352"/>
              <a:gd name="T9" fmla="*/ 352 h 352"/>
              <a:gd name="T10" fmla="*/ 235 w 352"/>
              <a:gd name="T11" fmla="*/ 236 h 352"/>
              <a:gd name="T12" fmla="*/ 352 w 352"/>
              <a:gd name="T13" fmla="*/ 236 h 352"/>
              <a:gd name="T14" fmla="*/ 235 w 352"/>
              <a:gd name="T15" fmla="*/ 352 h 352"/>
              <a:gd name="T16" fmla="*/ 66 w 352"/>
              <a:gd name="T17" fmla="*/ 218 h 352"/>
              <a:gd name="T18" fmla="*/ 2 w 352"/>
              <a:gd name="T19" fmla="*/ 282 h 352"/>
              <a:gd name="T20" fmla="*/ 66 w 352"/>
              <a:gd name="T21" fmla="*/ 347 h 352"/>
              <a:gd name="T22" fmla="*/ 130 w 352"/>
              <a:gd name="T23" fmla="*/ 282 h 352"/>
              <a:gd name="T24" fmla="*/ 66 w 352"/>
              <a:gd name="T25" fmla="*/ 218 h 352"/>
              <a:gd name="T26" fmla="*/ 113 w 352"/>
              <a:gd name="T27" fmla="*/ 239 h 352"/>
              <a:gd name="T28" fmla="*/ 345 w 352"/>
              <a:gd name="T29" fmla="*/ 8 h 352"/>
              <a:gd name="T30" fmla="*/ 345 w 352"/>
              <a:gd name="T31" fmla="*/ 83 h 352"/>
              <a:gd name="T32" fmla="*/ 345 w 352"/>
              <a:gd name="T33" fmla="*/ 7 h 352"/>
              <a:gd name="T34" fmla="*/ 269 w 352"/>
              <a:gd name="T35"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2" h="352">
                <a:moveTo>
                  <a:pt x="116" y="117"/>
                </a:moveTo>
                <a:cubicBezTo>
                  <a:pt x="0" y="0"/>
                  <a:pt x="0" y="0"/>
                  <a:pt x="0" y="0"/>
                </a:cubicBezTo>
                <a:moveTo>
                  <a:pt x="116" y="0"/>
                </a:moveTo>
                <a:cubicBezTo>
                  <a:pt x="0" y="117"/>
                  <a:pt x="0" y="117"/>
                  <a:pt x="0" y="117"/>
                </a:cubicBezTo>
                <a:moveTo>
                  <a:pt x="352" y="352"/>
                </a:moveTo>
                <a:cubicBezTo>
                  <a:pt x="235" y="236"/>
                  <a:pt x="235" y="236"/>
                  <a:pt x="235" y="236"/>
                </a:cubicBezTo>
                <a:moveTo>
                  <a:pt x="352" y="236"/>
                </a:moveTo>
                <a:cubicBezTo>
                  <a:pt x="235" y="352"/>
                  <a:pt x="235" y="352"/>
                  <a:pt x="235" y="352"/>
                </a:cubicBezTo>
                <a:moveTo>
                  <a:pt x="66" y="218"/>
                </a:moveTo>
                <a:cubicBezTo>
                  <a:pt x="30" y="218"/>
                  <a:pt x="2" y="247"/>
                  <a:pt x="2" y="282"/>
                </a:cubicBezTo>
                <a:cubicBezTo>
                  <a:pt x="2" y="318"/>
                  <a:pt x="30" y="347"/>
                  <a:pt x="66" y="347"/>
                </a:cubicBezTo>
                <a:cubicBezTo>
                  <a:pt x="101" y="347"/>
                  <a:pt x="130" y="318"/>
                  <a:pt x="130" y="282"/>
                </a:cubicBezTo>
                <a:cubicBezTo>
                  <a:pt x="130" y="247"/>
                  <a:pt x="101" y="218"/>
                  <a:pt x="66" y="218"/>
                </a:cubicBezTo>
                <a:close/>
                <a:moveTo>
                  <a:pt x="113" y="239"/>
                </a:moveTo>
                <a:cubicBezTo>
                  <a:pt x="345" y="8"/>
                  <a:pt x="345" y="8"/>
                  <a:pt x="345" y="8"/>
                </a:cubicBezTo>
                <a:moveTo>
                  <a:pt x="345" y="83"/>
                </a:moveTo>
                <a:cubicBezTo>
                  <a:pt x="345" y="7"/>
                  <a:pt x="345" y="7"/>
                  <a:pt x="345" y="7"/>
                </a:cubicBezTo>
                <a:cubicBezTo>
                  <a:pt x="269" y="7"/>
                  <a:pt x="269" y="7"/>
                  <a:pt x="269" y="7"/>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a:ln>
                <a:noFill/>
              </a:ln>
              <a:gradFill>
                <a:gsLst>
                  <a:gs pos="0">
                    <a:srgbClr val="505050"/>
                  </a:gs>
                  <a:gs pos="100000">
                    <a:srgbClr val="505050"/>
                  </a:gs>
                </a:gsLst>
                <a:lin ang="5400000" scaled="1"/>
              </a:gradFill>
              <a:effectLst/>
              <a:uLnTx/>
              <a:uFillTx/>
              <a:latin typeface="Segoe UI"/>
              <a:ea typeface="+mn-ea"/>
              <a:cs typeface="+mn-cs"/>
            </a:endParaRPr>
          </a:p>
        </p:txBody>
      </p:sp>
      <p:sp>
        <p:nvSpPr>
          <p:cNvPr id="31" name="Title 1">
            <a:extLst>
              <a:ext uri="{FF2B5EF4-FFF2-40B4-BE49-F238E27FC236}">
                <a16:creationId xmlns:a16="http://schemas.microsoft.com/office/drawing/2014/main" id="{648FFB9B-22F0-A7B4-25A1-D61480BD73E6}"/>
              </a:ext>
              <a:ext uri="{C183D7F6-B498-43B3-948B-1728B52AA6E4}">
                <adec:decorative xmlns:adec="http://schemas.microsoft.com/office/drawing/2017/decorative" val="0"/>
              </a:ext>
            </a:extLst>
          </p:cNvPr>
          <p:cNvSpPr>
            <a:spLocks noGrp="1"/>
          </p:cNvSpPr>
          <p:nvPr>
            <p:ph type="title"/>
          </p:nvPr>
        </p:nvSpPr>
        <p:spPr>
          <a:xfrm>
            <a:off x="576263" y="600075"/>
            <a:ext cx="11017250" cy="492125"/>
          </a:xfrm>
        </p:spPr>
        <p:txBody>
          <a:bodyPr vert="horz"/>
          <a:lstStyle/>
          <a:p>
            <a:r>
              <a:rPr lang="en-US">
                <a:ea typeface="+mj-ea"/>
                <a:cs typeface="+mj-cs"/>
              </a:rPr>
              <a:t>A connected, flexible experience</a:t>
            </a:r>
          </a:p>
        </p:txBody>
      </p:sp>
      <p:sp>
        <p:nvSpPr>
          <p:cNvPr id="32" name="TextBox 31">
            <a:extLst>
              <a:ext uri="{FF2B5EF4-FFF2-40B4-BE49-F238E27FC236}">
                <a16:creationId xmlns:a16="http://schemas.microsoft.com/office/drawing/2014/main" id="{C586DBF8-8F96-4D1E-A852-DD8A7299CC4F}"/>
              </a:ext>
            </a:extLst>
          </p:cNvPr>
          <p:cNvSpPr txBox="1">
            <a:spLocks/>
          </p:cNvSpPr>
          <p:nvPr/>
        </p:nvSpPr>
        <p:spPr>
          <a:xfrm>
            <a:off x="576263" y="1178966"/>
            <a:ext cx="11044237" cy="276999"/>
          </a:xfrm>
          <a:prstGeom prst="rect">
            <a:avLst/>
          </a:prstGeom>
          <a:noFill/>
        </p:spPr>
        <p:txBody>
          <a:bodyPr wrap="square" lIns="0" tIns="0" rIns="0" bIns="0" anchor="ctr">
            <a:spAutoFit/>
          </a:bodyPr>
          <a:lstStyle/>
          <a:p>
            <a:pPr marL="0" marR="0" lvl="0" indent="0" algn="l" defTabSz="932742" rtl="0" eaLnBrk="1" fontAlgn="auto" latinLnBrk="0" hangingPunct="1">
              <a:spcBef>
                <a:spcPts val="0"/>
              </a:spcBef>
              <a:spcAft>
                <a:spcPts val="0"/>
              </a:spcAft>
              <a:buClrTx/>
              <a:buSzPct val="90000"/>
              <a:buFont typeface="Wingdings" panose="05000000000000000000" pitchFamily="2" charset="2"/>
              <a:buNone/>
              <a:tabLst/>
              <a:defRPr/>
            </a:pPr>
            <a:r>
              <a:rPr kumimoji="0" lang="en-US" b="0" i="0" u="none" strike="noStrike" kern="1200" cap="none" spc="0" normalizeH="0" baseline="0">
                <a:ln>
                  <a:noFill/>
                </a:ln>
                <a:effectLst/>
                <a:uLnTx/>
                <a:uFillTx/>
              </a:rPr>
              <a:t>Tailor your Microsoft Unified journey through services that drive the outcomes you need most</a:t>
            </a:r>
          </a:p>
        </p:txBody>
      </p:sp>
      <p:sp>
        <p:nvSpPr>
          <p:cNvPr id="53" name="TextBox 52">
            <a:extLst>
              <a:ext uri="{FF2B5EF4-FFF2-40B4-BE49-F238E27FC236}">
                <a16:creationId xmlns:a16="http://schemas.microsoft.com/office/drawing/2014/main" id="{C533F0BF-585D-A37A-A588-D44A47FEE11A}"/>
              </a:ext>
            </a:extLst>
          </p:cNvPr>
          <p:cNvSpPr txBox="1"/>
          <p:nvPr/>
        </p:nvSpPr>
        <p:spPr>
          <a:xfrm>
            <a:off x="1455115" y="1878750"/>
            <a:ext cx="2574256" cy="284770"/>
          </a:xfrm>
          <a:prstGeom prst="rect">
            <a:avLst/>
          </a:prstGeom>
          <a:noFill/>
        </p:spPr>
        <p:txBody>
          <a:bodyPr wrap="square" lIns="0" anchor="ctr">
            <a:noAutofit/>
          </a:bodyPr>
          <a:lstStyle/>
          <a:p>
            <a:pPr marL="0" marR="0" lvl="0" indent="0" algn="l" defTabSz="932472" rtl="0" eaLnBrk="1" fontAlgn="base" latinLnBrk="0" hangingPunct="1">
              <a:spcBef>
                <a:spcPct val="0"/>
              </a:spcBef>
              <a:spcAft>
                <a:spcPct val="0"/>
              </a:spcAft>
              <a:buClrTx/>
              <a:buSzTx/>
              <a:buFontTx/>
              <a:buNone/>
              <a:tabLst/>
              <a:defRPr/>
            </a:pPr>
            <a:r>
              <a:rPr kumimoji="0" lang="en-US" sz="1600" i="0" u="none" strike="noStrike" kern="1200" cap="none" spc="0" normalizeH="0" baseline="0">
                <a:ln>
                  <a:noFill/>
                </a:ln>
                <a:solidFill>
                  <a:schemeClr val="bg1"/>
                </a:solidFill>
                <a:effectLst/>
                <a:uLnTx/>
                <a:uFillTx/>
                <a:latin typeface="+mj-lt"/>
                <a:ea typeface="+mj-ea"/>
                <a:cs typeface="+mj-cs"/>
              </a:rPr>
              <a:t>Your strategic partner</a:t>
            </a:r>
          </a:p>
        </p:txBody>
      </p:sp>
      <p:sp>
        <p:nvSpPr>
          <p:cNvPr id="54" name="TextBox 53">
            <a:extLst>
              <a:ext uri="{FF2B5EF4-FFF2-40B4-BE49-F238E27FC236}">
                <a16:creationId xmlns:a16="http://schemas.microsoft.com/office/drawing/2014/main" id="{7686DBE5-B609-C0D0-FA02-F79BEBF6BEFC}"/>
              </a:ext>
            </a:extLst>
          </p:cNvPr>
          <p:cNvSpPr txBox="1"/>
          <p:nvPr/>
        </p:nvSpPr>
        <p:spPr>
          <a:xfrm>
            <a:off x="712164" y="2489850"/>
            <a:ext cx="3402635" cy="646331"/>
          </a:xfrm>
          <a:prstGeom prst="rect">
            <a:avLst/>
          </a:prstGeom>
          <a:noFill/>
        </p:spPr>
        <p:txBody>
          <a:bodyPr wrap="square" lIns="0" anchor="t">
            <a:spAutoFit/>
          </a:bodyPr>
          <a:lstStyle/>
          <a:p>
            <a:pPr marL="0" marR="0" lvl="0" indent="0" algn="l" defTabSz="932472" rtl="0" eaLnBrk="1" fontAlgn="base" latinLnBrk="0" hangingPunct="1">
              <a:spcBef>
                <a:spcPts val="600"/>
              </a:spcBef>
              <a:spcAft>
                <a:spcPct val="0"/>
              </a:spcAft>
              <a:buClrTx/>
              <a:buSzTx/>
              <a:buFontTx/>
              <a:buNone/>
              <a:tabLst/>
              <a:defRPr/>
            </a:pPr>
            <a:r>
              <a:rPr kumimoji="0" lang="en-US" sz="1200" b="0" i="0" u="none" strike="noStrike" kern="1200" cap="none" spc="0" normalizeH="0" baseline="0">
                <a:ln>
                  <a:noFill/>
                </a:ln>
                <a:solidFill>
                  <a:schemeClr val="bg1"/>
                </a:solidFill>
                <a:effectLst/>
                <a:uLnTx/>
                <a:uFillTx/>
              </a:rPr>
              <a:t>Direct connection to Microsoft through Success Management Services, orchestrated by a Customer Success Account Manager</a:t>
            </a:r>
          </a:p>
        </p:txBody>
      </p:sp>
      <p:sp>
        <p:nvSpPr>
          <p:cNvPr id="2" name="TextBox 1">
            <a:extLst>
              <a:ext uri="{FF2B5EF4-FFF2-40B4-BE49-F238E27FC236}">
                <a16:creationId xmlns:a16="http://schemas.microsoft.com/office/drawing/2014/main" id="{CCD0FB50-2F01-1926-1AC0-EB0281036D4A}"/>
              </a:ext>
            </a:extLst>
          </p:cNvPr>
          <p:cNvSpPr txBox="1"/>
          <p:nvPr/>
        </p:nvSpPr>
        <p:spPr>
          <a:xfrm>
            <a:off x="1336416" y="4063286"/>
            <a:ext cx="1783565" cy="2037011"/>
          </a:xfrm>
          <a:prstGeom prst="roundRect">
            <a:avLst>
              <a:gd name="adj" fmla="val 5296"/>
            </a:avLst>
          </a:prstGeom>
          <a:solidFill>
            <a:schemeClr val="bg1"/>
          </a:solidFill>
          <a:effectLst>
            <a:outerShdw blurRad="139700" algn="ctr" rotWithShape="0">
              <a:prstClr val="black">
                <a:alpha val="10000"/>
              </a:prstClr>
            </a:outerShdw>
          </a:effectLst>
        </p:spPr>
        <p:txBody>
          <a:bodyPr wrap="square" lIns="91440" tIns="45720" rIns="91440" bIns="45720" anchor="t">
            <a:noAutofit/>
          </a:bodyPr>
          <a:lstStyle/>
          <a:p>
            <a:pPr marL="0" marR="0" lvl="0" indent="0" algn="l" defTabSz="932472" rtl="0" eaLnBrk="1" fontAlgn="base" latinLnBrk="0" hangingPunct="1">
              <a:spcBef>
                <a:spcPts val="0"/>
              </a:spcBef>
              <a:spcAft>
                <a:spcPts val="600"/>
              </a:spcAft>
              <a:buClrTx/>
              <a:buSzTx/>
              <a:buFontTx/>
              <a:buNone/>
              <a:tabLst/>
              <a:defRPr/>
            </a:pPr>
            <a:r>
              <a:rPr kumimoji="0" lang="en-US" sz="1400" i="0" u="none" strike="noStrike" kern="1200" cap="none" spc="0" normalizeH="0" baseline="0">
                <a:ln>
                  <a:noFill/>
                </a:ln>
                <a:solidFill>
                  <a:schemeClr val="accent1"/>
                </a:solidFill>
                <a:effectLst/>
                <a:uLnTx/>
                <a:uFillTx/>
                <a:latin typeface="+mj-lt"/>
                <a:ea typeface="+mj-ea"/>
                <a:cs typeface="+mj-cs"/>
              </a:rPr>
              <a:t>Interact</a:t>
            </a:r>
          </a:p>
          <a:p>
            <a:pPr marL="0" marR="0" lvl="0" indent="0" algn="l" defTabSz="932472" rtl="0" eaLnBrk="1" fontAlgn="base" latinLnBrk="0" hangingPunct="1">
              <a:spcBef>
                <a:spcPts val="0"/>
              </a:spcBef>
              <a:spcAft>
                <a:spcPts val="600"/>
              </a:spcAft>
              <a:buClrTx/>
              <a:buSzTx/>
              <a:buFontTx/>
              <a:buNone/>
              <a:tabLst/>
              <a:defRPr/>
            </a:pPr>
            <a:r>
              <a:rPr kumimoji="0" lang="en-US" sz="1200" b="0" i="0" u="none" strike="noStrike" kern="1200" cap="none" spc="0" normalizeH="0" baseline="0">
                <a:ln>
                  <a:noFill/>
                </a:ln>
                <a:effectLst/>
                <a:uLnTx/>
                <a:uFillTx/>
              </a:rPr>
              <a:t>On-demand IT health assessments, technical trainings, and case management</a:t>
            </a:r>
          </a:p>
        </p:txBody>
      </p:sp>
      <p:sp>
        <p:nvSpPr>
          <p:cNvPr id="4" name="TextBox 3">
            <a:extLst>
              <a:ext uri="{FF2B5EF4-FFF2-40B4-BE49-F238E27FC236}">
                <a16:creationId xmlns:a16="http://schemas.microsoft.com/office/drawing/2014/main" id="{470A0714-3668-29FF-5010-CA3AEB57C3ED}"/>
              </a:ext>
            </a:extLst>
          </p:cNvPr>
          <p:cNvSpPr txBox="1"/>
          <p:nvPr/>
        </p:nvSpPr>
        <p:spPr>
          <a:xfrm>
            <a:off x="3261363" y="3429375"/>
            <a:ext cx="1783565" cy="2037011"/>
          </a:xfrm>
          <a:prstGeom prst="roundRect">
            <a:avLst>
              <a:gd name="adj" fmla="val 5296"/>
            </a:avLst>
          </a:prstGeom>
          <a:solidFill>
            <a:schemeClr val="bg1"/>
          </a:solidFill>
          <a:effectLst>
            <a:outerShdw blurRad="139700" algn="ctr" rotWithShape="0">
              <a:prstClr val="black">
                <a:alpha val="10000"/>
              </a:prstClr>
            </a:outerShdw>
          </a:effectLst>
        </p:spPr>
        <p:txBody>
          <a:bodyPr wrap="square" lIns="91440" tIns="45720" rIns="91440" bIns="45720" anchor="t">
            <a:noAutofit/>
          </a:bodyPr>
          <a:lstStyle/>
          <a:p>
            <a:pPr marL="0" marR="0" lvl="0" indent="0" algn="l" defTabSz="932472" rtl="0" eaLnBrk="1" fontAlgn="base" latinLnBrk="0" hangingPunct="1">
              <a:spcBef>
                <a:spcPts val="0"/>
              </a:spcBef>
              <a:spcAft>
                <a:spcPts val="600"/>
              </a:spcAft>
              <a:buClrTx/>
              <a:buSzTx/>
              <a:buFontTx/>
              <a:buNone/>
              <a:tabLst/>
              <a:defRPr/>
            </a:pPr>
            <a:r>
              <a:rPr kumimoji="0" lang="en-US" sz="1400" i="0" u="none" strike="noStrike" kern="1200" cap="none" spc="0" normalizeH="0" baseline="0">
                <a:ln>
                  <a:noFill/>
                </a:ln>
                <a:solidFill>
                  <a:schemeClr val="accent1"/>
                </a:solidFill>
                <a:effectLst/>
                <a:uLnTx/>
                <a:uFillTx/>
                <a:latin typeface="+mj-lt"/>
                <a:ea typeface="+mj-ea"/>
                <a:cs typeface="+mj-cs"/>
              </a:rPr>
              <a:t>Engage</a:t>
            </a:r>
          </a:p>
          <a:p>
            <a:pPr marL="0" marR="0" lvl="0" indent="0" algn="l" defTabSz="932472" rtl="0" eaLnBrk="1" fontAlgn="base" latinLnBrk="0" hangingPunct="1">
              <a:spcBef>
                <a:spcPts val="0"/>
              </a:spcBef>
              <a:spcAft>
                <a:spcPts val="600"/>
              </a:spcAft>
              <a:buClrTx/>
              <a:buSzTx/>
              <a:buFontTx/>
              <a:buNone/>
              <a:tabLst/>
              <a:defRPr/>
            </a:pPr>
            <a:r>
              <a:rPr kumimoji="0" lang="en-US" sz="1200" b="0" i="0" u="none" strike="noStrike" kern="1200" cap="none" spc="0" normalizeH="0" baseline="0">
                <a:ln>
                  <a:noFill/>
                </a:ln>
                <a:effectLst/>
                <a:uLnTx/>
                <a:uFillTx/>
              </a:rPr>
              <a:t>As-needed support for all your Microsoft products and services with escalation management</a:t>
            </a:r>
          </a:p>
        </p:txBody>
      </p:sp>
      <p:sp>
        <p:nvSpPr>
          <p:cNvPr id="5" name="TextBox 4">
            <a:extLst>
              <a:ext uri="{FF2B5EF4-FFF2-40B4-BE49-F238E27FC236}">
                <a16:creationId xmlns:a16="http://schemas.microsoft.com/office/drawing/2014/main" id="{90A43485-3716-F3DF-5214-0F68E2D77F1C}"/>
              </a:ext>
            </a:extLst>
          </p:cNvPr>
          <p:cNvSpPr txBox="1"/>
          <p:nvPr/>
        </p:nvSpPr>
        <p:spPr>
          <a:xfrm>
            <a:off x="5186308" y="2795467"/>
            <a:ext cx="1783565" cy="2037011"/>
          </a:xfrm>
          <a:prstGeom prst="roundRect">
            <a:avLst>
              <a:gd name="adj" fmla="val 5296"/>
            </a:avLst>
          </a:prstGeom>
          <a:solidFill>
            <a:schemeClr val="bg1"/>
          </a:solidFill>
          <a:effectLst>
            <a:outerShdw blurRad="139700" algn="ctr" rotWithShape="0">
              <a:prstClr val="black">
                <a:alpha val="10000"/>
              </a:prstClr>
            </a:outerShdw>
          </a:effectLst>
        </p:spPr>
        <p:txBody>
          <a:bodyPr wrap="square" lIns="91440" tIns="45720" rIns="91440" bIns="45720" anchor="t">
            <a:noAutofit/>
          </a:bodyPr>
          <a:lstStyle/>
          <a:p>
            <a:pPr marL="0" marR="0" lvl="0" indent="0" algn="l" defTabSz="932472" rtl="0" eaLnBrk="1" fontAlgn="base" latinLnBrk="0" hangingPunct="1">
              <a:spcBef>
                <a:spcPts val="0"/>
              </a:spcBef>
              <a:spcAft>
                <a:spcPts val="600"/>
              </a:spcAft>
              <a:buClrTx/>
              <a:buSzTx/>
              <a:buFontTx/>
              <a:buNone/>
              <a:tabLst/>
              <a:defRPr/>
            </a:pPr>
            <a:r>
              <a:rPr kumimoji="0" lang="en-US" sz="1400" i="0" u="none" strike="noStrike" kern="1200" cap="none" spc="0" normalizeH="0" baseline="0">
                <a:ln>
                  <a:noFill/>
                </a:ln>
                <a:solidFill>
                  <a:schemeClr val="accent1"/>
                </a:solidFill>
                <a:effectLst/>
                <a:uLnTx/>
                <a:uFillTx/>
                <a:latin typeface="+mj-lt"/>
                <a:ea typeface="+mj-ea"/>
                <a:cs typeface="+mj-cs"/>
              </a:rPr>
              <a:t>Enable</a:t>
            </a:r>
          </a:p>
          <a:p>
            <a:pPr marL="0" marR="0" lvl="0" indent="0" algn="l" defTabSz="932472" rtl="0" eaLnBrk="1" fontAlgn="base" latinLnBrk="0" hangingPunct="1">
              <a:spcBef>
                <a:spcPts val="0"/>
              </a:spcBef>
              <a:spcAft>
                <a:spcPts val="600"/>
              </a:spcAft>
              <a:buClrTx/>
              <a:buSzTx/>
              <a:buFontTx/>
              <a:buNone/>
              <a:tabLst/>
              <a:defRPr/>
            </a:pPr>
            <a:r>
              <a:rPr kumimoji="0" lang="en-US" sz="1200" b="0" i="0" u="none" strike="noStrike" kern="1200" cap="none" spc="0" normalizeH="0" baseline="0">
                <a:ln>
                  <a:noFill/>
                </a:ln>
                <a:effectLst/>
                <a:uLnTx/>
                <a:uFillTx/>
              </a:rPr>
              <a:t>Guidance to avoid common support issues and decrease the likelihood of outages </a:t>
            </a:r>
          </a:p>
        </p:txBody>
      </p:sp>
      <p:sp>
        <p:nvSpPr>
          <p:cNvPr id="6" name="TextBox 5">
            <a:extLst>
              <a:ext uri="{FF2B5EF4-FFF2-40B4-BE49-F238E27FC236}">
                <a16:creationId xmlns:a16="http://schemas.microsoft.com/office/drawing/2014/main" id="{CAA6D009-6B88-4B09-C41E-50CA3CCF548D}"/>
              </a:ext>
            </a:extLst>
          </p:cNvPr>
          <p:cNvSpPr txBox="1"/>
          <p:nvPr/>
        </p:nvSpPr>
        <p:spPr>
          <a:xfrm>
            <a:off x="7111255" y="2161558"/>
            <a:ext cx="1783565" cy="2037011"/>
          </a:xfrm>
          <a:prstGeom prst="roundRect">
            <a:avLst>
              <a:gd name="adj" fmla="val 5296"/>
            </a:avLst>
          </a:prstGeom>
          <a:solidFill>
            <a:schemeClr val="bg1"/>
          </a:solidFill>
          <a:effectLst>
            <a:outerShdw blurRad="139700" algn="ctr" rotWithShape="0">
              <a:prstClr val="black">
                <a:alpha val="10000"/>
              </a:prstClr>
            </a:outerShdw>
          </a:effectLst>
        </p:spPr>
        <p:txBody>
          <a:bodyPr wrap="square" lIns="91440" tIns="45720" rIns="91440" bIns="45720" anchor="t">
            <a:noAutofit/>
          </a:bodyPr>
          <a:lstStyle/>
          <a:p>
            <a:pPr marL="0" marR="0" lvl="0" indent="0" algn="l" defTabSz="932472" rtl="0" eaLnBrk="1" fontAlgn="base" latinLnBrk="0" hangingPunct="1">
              <a:spcBef>
                <a:spcPts val="0"/>
              </a:spcBef>
              <a:spcAft>
                <a:spcPts val="600"/>
              </a:spcAft>
              <a:buClrTx/>
              <a:buSzTx/>
              <a:buFontTx/>
              <a:buNone/>
              <a:tabLst/>
              <a:defRPr/>
            </a:pPr>
            <a:r>
              <a:rPr kumimoji="0" lang="en-US" sz="1400" i="0" u="none" strike="noStrike" kern="1200" cap="none" spc="0" normalizeH="0" baseline="0">
                <a:ln>
                  <a:noFill/>
                </a:ln>
                <a:solidFill>
                  <a:schemeClr val="tx2"/>
                </a:solidFill>
                <a:effectLst/>
                <a:uLnTx/>
                <a:uFillTx/>
                <a:latin typeface="+mj-lt"/>
                <a:ea typeface="+mj-ea"/>
                <a:cs typeface="+mj-cs"/>
              </a:rPr>
              <a:t>Transform</a:t>
            </a:r>
          </a:p>
          <a:p>
            <a:pPr marL="0" marR="0" lvl="0" indent="0" algn="l" defTabSz="932472" rtl="0" eaLnBrk="1" fontAlgn="base" latinLnBrk="0" hangingPunct="1">
              <a:spcBef>
                <a:spcPts val="0"/>
              </a:spcBef>
              <a:spcAft>
                <a:spcPts val="600"/>
              </a:spcAft>
              <a:buClrTx/>
              <a:buSzTx/>
              <a:buFontTx/>
              <a:buNone/>
              <a:tabLst/>
              <a:defRPr/>
            </a:pPr>
            <a:r>
              <a:rPr kumimoji="0" lang="en-US" sz="1200" b="0" i="0" u="none" strike="noStrike" kern="1200" cap="none" spc="0" normalizeH="0" baseline="0">
                <a:ln>
                  <a:noFill/>
                </a:ln>
                <a:effectLst/>
                <a:uLnTx/>
                <a:uFillTx/>
              </a:rPr>
              <a:t>Proactive, expert-led engagements to accelerate adoption </a:t>
            </a:r>
            <a:br>
              <a:rPr kumimoji="0" lang="en-US" sz="1200" b="0" i="0" u="none" strike="noStrike" kern="1200" cap="none" spc="0" normalizeH="0" baseline="0">
                <a:ln>
                  <a:noFill/>
                </a:ln>
                <a:effectLst/>
                <a:uLnTx/>
                <a:uFillTx/>
              </a:rPr>
            </a:br>
            <a:r>
              <a:rPr kumimoji="0" lang="en-US" sz="1200" b="0" i="0" u="none" strike="noStrike" kern="1200" cap="none" spc="0" normalizeH="0" baseline="0">
                <a:ln>
                  <a:noFill/>
                </a:ln>
                <a:effectLst/>
                <a:uLnTx/>
                <a:uFillTx/>
              </a:rPr>
              <a:t>of cloud solutions</a:t>
            </a:r>
          </a:p>
        </p:txBody>
      </p:sp>
      <p:sp>
        <p:nvSpPr>
          <p:cNvPr id="7" name="TextBox 6">
            <a:extLst>
              <a:ext uri="{FF2B5EF4-FFF2-40B4-BE49-F238E27FC236}">
                <a16:creationId xmlns:a16="http://schemas.microsoft.com/office/drawing/2014/main" id="{1361B49C-4E1B-106B-4397-9874C3B819C4}"/>
              </a:ext>
            </a:extLst>
          </p:cNvPr>
          <p:cNvSpPr txBox="1"/>
          <p:nvPr/>
        </p:nvSpPr>
        <p:spPr>
          <a:xfrm>
            <a:off x="9036201" y="1527649"/>
            <a:ext cx="1783565" cy="2037011"/>
          </a:xfrm>
          <a:prstGeom prst="roundRect">
            <a:avLst>
              <a:gd name="adj" fmla="val 5296"/>
            </a:avLst>
          </a:prstGeom>
          <a:solidFill>
            <a:schemeClr val="bg1"/>
          </a:solidFill>
          <a:effectLst>
            <a:outerShdw blurRad="139700" algn="ctr" rotWithShape="0">
              <a:prstClr val="black">
                <a:alpha val="10000"/>
              </a:prstClr>
            </a:outerShdw>
          </a:effectLst>
        </p:spPr>
        <p:txBody>
          <a:bodyPr wrap="square" lIns="91440" tIns="45720" rIns="91440" bIns="45720" anchor="t">
            <a:noAutofit/>
          </a:bodyPr>
          <a:lstStyle/>
          <a:p>
            <a:pPr marL="0" marR="0" lvl="0" indent="0" algn="l" defTabSz="932472" rtl="0" eaLnBrk="1" fontAlgn="base" latinLnBrk="0" hangingPunct="1">
              <a:spcBef>
                <a:spcPts val="0"/>
              </a:spcBef>
              <a:spcAft>
                <a:spcPts val="600"/>
              </a:spcAft>
              <a:buClrTx/>
              <a:buSzTx/>
              <a:buFontTx/>
              <a:buNone/>
              <a:tabLst/>
              <a:defRPr/>
            </a:pPr>
            <a:r>
              <a:rPr kumimoji="0" lang="en-US" sz="1400" i="0" u="none" strike="noStrike" kern="1200" cap="none" spc="0" normalizeH="0" baseline="0">
                <a:ln>
                  <a:noFill/>
                </a:ln>
                <a:solidFill>
                  <a:schemeClr val="tx2"/>
                </a:solidFill>
                <a:effectLst/>
                <a:uLnTx/>
                <a:uFillTx/>
                <a:latin typeface="+mj-lt"/>
                <a:ea typeface="+mj-ea"/>
                <a:cs typeface="+mj-cs"/>
              </a:rPr>
              <a:t>Maximize</a:t>
            </a:r>
          </a:p>
          <a:p>
            <a:pPr marL="0" marR="0" lvl="0" indent="0" algn="l" defTabSz="932472" rtl="0" eaLnBrk="1" fontAlgn="base" latinLnBrk="0" hangingPunct="1">
              <a:spcBef>
                <a:spcPts val="0"/>
              </a:spcBef>
              <a:spcAft>
                <a:spcPts val="600"/>
              </a:spcAft>
              <a:buClrTx/>
              <a:buSzTx/>
              <a:buFontTx/>
              <a:buNone/>
              <a:tabLst/>
              <a:defRPr/>
            </a:pPr>
            <a:r>
              <a:rPr kumimoji="0" lang="en-US" sz="1200" b="0" i="0" u="none" strike="noStrike" kern="1200" cap="none" spc="0" normalizeH="0" baseline="0">
                <a:ln>
                  <a:noFill/>
                </a:ln>
                <a:effectLst/>
                <a:uLnTx/>
                <a:uFillTx/>
              </a:rPr>
              <a:t>Full care for your most critical solutions </a:t>
            </a:r>
          </a:p>
        </p:txBody>
      </p:sp>
      <p:grpSp>
        <p:nvGrpSpPr>
          <p:cNvPr id="15" name="Group 14">
            <a:extLst>
              <a:ext uri="{FF2B5EF4-FFF2-40B4-BE49-F238E27FC236}">
                <a16:creationId xmlns:a16="http://schemas.microsoft.com/office/drawing/2014/main" id="{B46D692F-71EA-B21B-C544-71A0796CFD12}"/>
              </a:ext>
              <a:ext uri="{C183D7F6-B498-43B3-948B-1728B52AA6E4}">
                <adec:decorative xmlns:adec="http://schemas.microsoft.com/office/drawing/2017/decorative" val="1"/>
              </a:ext>
            </a:extLst>
          </p:cNvPr>
          <p:cNvGrpSpPr/>
          <p:nvPr/>
        </p:nvGrpSpPr>
        <p:grpSpPr>
          <a:xfrm>
            <a:off x="2228850" y="5111750"/>
            <a:ext cx="3867677" cy="1434710"/>
            <a:chOff x="3428999" y="5048250"/>
            <a:chExt cx="3848690" cy="1434710"/>
          </a:xfrm>
        </p:grpSpPr>
        <p:cxnSp>
          <p:nvCxnSpPr>
            <p:cNvPr id="16" name="Straight Connector 15">
              <a:extLst>
                <a:ext uri="{FF2B5EF4-FFF2-40B4-BE49-F238E27FC236}">
                  <a16:creationId xmlns:a16="http://schemas.microsoft.com/office/drawing/2014/main" id="{B8B04B9D-53E1-E8A2-FD47-F0A9FA34C10B}"/>
                </a:ext>
              </a:extLst>
            </p:cNvPr>
            <p:cNvCxnSpPr>
              <a:cxnSpLocks/>
            </p:cNvCxnSpPr>
            <p:nvPr/>
          </p:nvCxnSpPr>
          <p:spPr>
            <a:xfrm flipV="1">
              <a:off x="5248275" y="5048250"/>
              <a:ext cx="2029414" cy="1434710"/>
            </a:xfrm>
            <a:prstGeom prst="line">
              <a:avLst/>
            </a:prstGeom>
            <a:ln>
              <a:solidFill>
                <a:schemeClr val="accent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643C33CB-20F9-FCEF-E904-8F8E4EFB1CC5}"/>
                </a:ext>
              </a:extLst>
            </p:cNvPr>
            <p:cNvSpPr/>
            <p:nvPr/>
          </p:nvSpPr>
          <p:spPr bwMode="auto">
            <a:xfrm>
              <a:off x="3428999" y="6311900"/>
              <a:ext cx="1826420" cy="169863"/>
            </a:xfrm>
            <a:custGeom>
              <a:avLst/>
              <a:gdLst>
                <a:gd name="connsiteX0" fmla="*/ 0 w 1619250"/>
                <a:gd name="connsiteY0" fmla="*/ 0 h 238125"/>
                <a:gd name="connsiteX1" fmla="*/ 0 w 1619250"/>
                <a:gd name="connsiteY1" fmla="*/ 238125 h 238125"/>
                <a:gd name="connsiteX2" fmla="*/ 1619250 w 1619250"/>
                <a:gd name="connsiteY2" fmla="*/ 238125 h 238125"/>
              </a:gdLst>
              <a:ahLst/>
              <a:cxnLst>
                <a:cxn ang="0">
                  <a:pos x="connsiteX0" y="connsiteY0"/>
                </a:cxn>
                <a:cxn ang="0">
                  <a:pos x="connsiteX1" y="connsiteY1"/>
                </a:cxn>
                <a:cxn ang="0">
                  <a:pos x="connsiteX2" y="connsiteY2"/>
                </a:cxn>
              </a:cxnLst>
              <a:rect l="l" t="t" r="r" b="b"/>
              <a:pathLst>
                <a:path w="1619250" h="238125">
                  <a:moveTo>
                    <a:pt x="0" y="0"/>
                  </a:moveTo>
                  <a:lnTo>
                    <a:pt x="0" y="238125"/>
                  </a:lnTo>
                  <a:lnTo>
                    <a:pt x="1619250" y="238125"/>
                  </a:lnTo>
                </a:path>
              </a:pathLst>
            </a:custGeom>
            <a:ln>
              <a:solidFill>
                <a:schemeClr val="accent1"/>
              </a:solidFill>
              <a:headEnd type="none" w="med"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a:ln>
                  <a:noFill/>
                </a:ln>
                <a:solidFill>
                  <a:srgbClr val="000000"/>
                </a:solidFill>
                <a:effectLst/>
                <a:uLnTx/>
                <a:uFillTx/>
                <a:latin typeface="Segoe UI"/>
                <a:ea typeface="+mn-ea"/>
                <a:cs typeface="+mn-cs"/>
              </a:endParaRPr>
            </a:p>
          </p:txBody>
        </p:sp>
      </p:grpSp>
      <p:sp>
        <p:nvSpPr>
          <p:cNvPr id="18" name="TextBox 17">
            <a:extLst>
              <a:ext uri="{FF2B5EF4-FFF2-40B4-BE49-F238E27FC236}">
                <a16:creationId xmlns:a16="http://schemas.microsoft.com/office/drawing/2014/main" id="{1EC207CD-6268-60D1-5BD7-0AF7A0F407FD}"/>
              </a:ext>
            </a:extLst>
          </p:cNvPr>
          <p:cNvSpPr txBox="1"/>
          <p:nvPr/>
        </p:nvSpPr>
        <p:spPr>
          <a:xfrm>
            <a:off x="3920872" y="5814173"/>
            <a:ext cx="2462503" cy="340161"/>
          </a:xfrm>
          <a:prstGeom prst="rect">
            <a:avLst/>
          </a:prstGeom>
          <a:solidFill>
            <a:schemeClr val="bg1"/>
          </a:solidFill>
        </p:spPr>
        <p:txBody>
          <a:bodyPr wrap="square" tIns="73152" bIns="91440" anchor="ctr">
            <a:noAutofit/>
          </a:bodyPr>
          <a:lstStyle/>
          <a:p>
            <a:pPr marL="0" marR="0" lvl="0" indent="0" algn="ctr" defTabSz="932472" rtl="0" eaLnBrk="1" fontAlgn="base" latinLnBrk="0" hangingPunct="1">
              <a:spcBef>
                <a:spcPct val="0"/>
              </a:spcBef>
              <a:spcAft>
                <a:spcPts val="0"/>
              </a:spcAft>
              <a:buClrTx/>
              <a:buSzTx/>
              <a:buFontTx/>
              <a:buNone/>
              <a:tabLst/>
              <a:defRPr/>
            </a:pPr>
            <a:r>
              <a:rPr kumimoji="0" lang="en-US" sz="1200" i="0" u="none" strike="noStrike" kern="1200" cap="none" spc="0" normalizeH="0" baseline="0">
                <a:ln>
                  <a:noFill/>
                </a:ln>
                <a:solidFill>
                  <a:schemeClr val="accent1"/>
                </a:solidFill>
                <a:effectLst/>
                <a:uLnTx/>
                <a:uFillTx/>
                <a:latin typeface="+mj-lt"/>
                <a:ea typeface="+mj-ea"/>
                <a:cs typeface="+mj-cs"/>
              </a:rPr>
              <a:t>Foundational services included in your agreement</a:t>
            </a:r>
          </a:p>
        </p:txBody>
      </p:sp>
      <p:sp>
        <p:nvSpPr>
          <p:cNvPr id="33" name="TextBox 32">
            <a:extLst>
              <a:ext uri="{FF2B5EF4-FFF2-40B4-BE49-F238E27FC236}">
                <a16:creationId xmlns:a16="http://schemas.microsoft.com/office/drawing/2014/main" id="{5C5FB031-FE4E-605D-CC69-1BBC444032BD}"/>
              </a:ext>
            </a:extLst>
          </p:cNvPr>
          <p:cNvSpPr txBox="1"/>
          <p:nvPr/>
        </p:nvSpPr>
        <p:spPr>
          <a:xfrm>
            <a:off x="7788415" y="4650357"/>
            <a:ext cx="2138507" cy="319978"/>
          </a:xfrm>
          <a:prstGeom prst="rect">
            <a:avLst/>
          </a:prstGeom>
          <a:noFill/>
        </p:spPr>
        <p:txBody>
          <a:bodyPr wrap="square" anchor="ctr">
            <a:noAutofit/>
          </a:bodyPr>
          <a:lstStyle/>
          <a:p>
            <a:pPr marL="0" marR="0" lvl="0" indent="0" algn="ctr" defTabSz="932472" rtl="0" eaLnBrk="1" fontAlgn="base" latinLnBrk="0" hangingPunct="1">
              <a:spcBef>
                <a:spcPct val="0"/>
              </a:spcBef>
              <a:spcAft>
                <a:spcPct val="0"/>
              </a:spcAft>
              <a:buClrTx/>
              <a:buSzTx/>
              <a:buFontTx/>
              <a:buNone/>
              <a:tabLst/>
              <a:defRPr/>
            </a:pPr>
            <a:r>
              <a:rPr kumimoji="0" lang="en-US" sz="1200" i="0" u="none" strike="noStrike" kern="1200" cap="none" spc="0" normalizeH="0" baseline="0">
                <a:ln>
                  <a:noFill/>
                </a:ln>
                <a:solidFill>
                  <a:schemeClr val="tx2"/>
                </a:solidFill>
                <a:effectLst/>
                <a:uLnTx/>
                <a:uFillTx/>
                <a:latin typeface="+mj-lt"/>
                <a:ea typeface="+mj-ea"/>
                <a:cs typeface="+mj-cs"/>
              </a:rPr>
              <a:t>Specialized services tailored to your outcomes</a:t>
            </a:r>
          </a:p>
        </p:txBody>
      </p:sp>
      <p:sp>
        <p:nvSpPr>
          <p:cNvPr id="11" name="TextBox 10">
            <a:extLst>
              <a:ext uri="{FF2B5EF4-FFF2-40B4-BE49-F238E27FC236}">
                <a16:creationId xmlns:a16="http://schemas.microsoft.com/office/drawing/2014/main" id="{7E891520-0B4B-69D3-1088-9BC38454D26A}"/>
              </a:ext>
            </a:extLst>
          </p:cNvPr>
          <p:cNvSpPr txBox="1"/>
          <p:nvPr/>
        </p:nvSpPr>
        <p:spPr>
          <a:xfrm>
            <a:off x="9210317" y="5232046"/>
            <a:ext cx="2297470" cy="1232388"/>
          </a:xfrm>
          <a:prstGeom prst="rect">
            <a:avLst/>
          </a:prstGeom>
          <a:noFill/>
        </p:spPr>
        <p:txBody>
          <a:bodyPr wrap="square" anchor="ctr">
            <a:noAutofit/>
          </a:bodyPr>
          <a:lstStyle/>
          <a:p>
            <a:pPr marL="0" marR="0" lvl="0" indent="0" algn="r" defTabSz="932472" rtl="0" eaLnBrk="1" fontAlgn="base" latinLnBrk="0" hangingPunct="1">
              <a:spcBef>
                <a:spcPts val="600"/>
              </a:spcBef>
              <a:spcAft>
                <a:spcPct val="0"/>
              </a:spcAft>
              <a:buClrTx/>
              <a:buSzTx/>
              <a:buFontTx/>
              <a:buNone/>
              <a:tabLst/>
              <a:defRPr/>
            </a:pPr>
            <a:r>
              <a:rPr kumimoji="0" lang="en-US" sz="1200" b="0" i="0" u="none" strike="noStrike" kern="1200" cap="none" spc="0" normalizeH="0" baseline="0">
                <a:ln>
                  <a:noFill/>
                </a:ln>
                <a:solidFill>
                  <a:schemeClr val="bg1"/>
                </a:solidFill>
                <a:effectLst/>
                <a:uLnTx/>
                <a:uFillTx/>
              </a:rPr>
              <a:t>No matter how simple or complex your needs, we have the services, experience, and skills to ensure your success</a:t>
            </a:r>
          </a:p>
        </p:txBody>
      </p:sp>
      <p:sp>
        <p:nvSpPr>
          <p:cNvPr id="23" name="Oval 22">
            <a:extLst>
              <a:ext uri="{FF2B5EF4-FFF2-40B4-BE49-F238E27FC236}">
                <a16:creationId xmlns:a16="http://schemas.microsoft.com/office/drawing/2014/main" id="{EDEE8D40-3B43-FC46-4528-3626E4670B63}"/>
              </a:ext>
              <a:ext uri="{C183D7F6-B498-43B3-948B-1728B52AA6E4}">
                <adec:decorative xmlns:adec="http://schemas.microsoft.com/office/drawing/2017/decorative" val="1"/>
              </a:ext>
            </a:extLst>
          </p:cNvPr>
          <p:cNvSpPr/>
          <p:nvPr/>
        </p:nvSpPr>
        <p:spPr bwMode="auto">
          <a:xfrm rot="19761840">
            <a:off x="6903244" y="3676653"/>
            <a:ext cx="274640" cy="27464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spcBef>
                <a:spcPct val="0"/>
              </a:spcBef>
              <a:spcAft>
                <a:spcPct val="0"/>
              </a:spcAft>
              <a:buClrTx/>
              <a:buSzTx/>
              <a:buFontTx/>
              <a:buNone/>
              <a:tabLst/>
              <a:defRPr/>
            </a:pPr>
            <a:r>
              <a:rPr kumimoji="0" lang="en-US" sz="1600" b="0" i="0" u="none" strike="noStrike" kern="1200" cap="none" spc="0" normalizeH="0" baseline="0">
                <a:ln>
                  <a:noFill/>
                </a:ln>
                <a:solidFill>
                  <a:srgbClr val="FFFFFF"/>
                </a:solidFill>
                <a:effectLst/>
                <a:uLnTx/>
                <a:uFillTx/>
                <a:sym typeface="Wingdings" panose="05000000000000000000" pitchFamily="2" charset="2"/>
              </a:rPr>
              <a:t></a:t>
            </a:r>
            <a:endParaRPr kumimoji="0" lang="en-US" sz="1600" b="0" i="0" u="none" strike="noStrike" kern="1200" cap="none" spc="0" normalizeH="0" baseline="0">
              <a:ln>
                <a:noFill/>
              </a:ln>
              <a:solidFill>
                <a:srgbClr val="FFFFFF"/>
              </a:solidFill>
              <a:effectLst/>
              <a:uLnTx/>
              <a:uFillTx/>
            </a:endParaRPr>
          </a:p>
        </p:txBody>
      </p:sp>
      <p:sp>
        <p:nvSpPr>
          <p:cNvPr id="27" name="Oval 26">
            <a:extLst>
              <a:ext uri="{FF2B5EF4-FFF2-40B4-BE49-F238E27FC236}">
                <a16:creationId xmlns:a16="http://schemas.microsoft.com/office/drawing/2014/main" id="{5B67E31F-88D5-CC98-09BD-78AAD4B1418C}"/>
              </a:ext>
              <a:ext uri="{C183D7F6-B498-43B3-948B-1728B52AA6E4}">
                <adec:decorative xmlns:adec="http://schemas.microsoft.com/office/drawing/2017/decorative" val="1"/>
              </a:ext>
            </a:extLst>
          </p:cNvPr>
          <p:cNvSpPr/>
          <p:nvPr/>
        </p:nvSpPr>
        <p:spPr bwMode="auto">
          <a:xfrm>
            <a:off x="7928051" y="4123582"/>
            <a:ext cx="149973" cy="149973"/>
          </a:xfrm>
          <a:prstGeom prst="ellipse">
            <a:avLst/>
          </a:prstGeom>
          <a:gradFill flip="none" rotWithShape="1">
            <a:gsLst>
              <a:gs pos="0">
                <a:schemeClr val="tx2">
                  <a:lumMod val="50000"/>
                </a:schemeClr>
              </a:gs>
              <a:gs pos="100000">
                <a:schemeClr val="tx2"/>
              </a:gs>
            </a:gsLst>
            <a:lin ang="2700000" scaled="1"/>
            <a:tileRect/>
          </a:gradFill>
          <a:ln w="15875">
            <a:solidFill>
              <a:schemeClr val="bg1"/>
            </a:solidFill>
            <a:headEnd type="none" w="med" len="med"/>
            <a:tailEnd type="none" w="med" len="med"/>
          </a:ln>
          <a:effectLst>
            <a:outerShdw blurRad="88900" dist="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28" name="Oval 27">
            <a:extLst>
              <a:ext uri="{FF2B5EF4-FFF2-40B4-BE49-F238E27FC236}">
                <a16:creationId xmlns:a16="http://schemas.microsoft.com/office/drawing/2014/main" id="{735B64CE-6B3E-75D4-ECF0-66A9CC223C07}"/>
              </a:ext>
              <a:ext uri="{C183D7F6-B498-43B3-948B-1728B52AA6E4}">
                <adec:decorative xmlns:adec="http://schemas.microsoft.com/office/drawing/2017/decorative" val="1"/>
              </a:ext>
            </a:extLst>
          </p:cNvPr>
          <p:cNvSpPr/>
          <p:nvPr/>
        </p:nvSpPr>
        <p:spPr bwMode="auto">
          <a:xfrm>
            <a:off x="9852997" y="3489673"/>
            <a:ext cx="149973" cy="149973"/>
          </a:xfrm>
          <a:prstGeom prst="ellipse">
            <a:avLst/>
          </a:prstGeom>
          <a:gradFill flip="none" rotWithShape="1">
            <a:gsLst>
              <a:gs pos="0">
                <a:schemeClr val="tx2">
                  <a:lumMod val="50000"/>
                </a:schemeClr>
              </a:gs>
              <a:gs pos="100000">
                <a:schemeClr val="tx2"/>
              </a:gs>
            </a:gsLst>
            <a:lin ang="2700000" scaled="1"/>
            <a:tileRect/>
          </a:gradFill>
          <a:ln w="15875">
            <a:solidFill>
              <a:schemeClr val="bg1"/>
            </a:solidFill>
            <a:headEnd type="none" w="med" len="med"/>
            <a:tailEnd type="none" w="med" len="med"/>
          </a:ln>
          <a:effectLst>
            <a:outerShdw blurRad="88900" dist="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24" name="Oval 23">
            <a:extLst>
              <a:ext uri="{FF2B5EF4-FFF2-40B4-BE49-F238E27FC236}">
                <a16:creationId xmlns:a16="http://schemas.microsoft.com/office/drawing/2014/main" id="{83D65469-B1CE-ED7D-3DF0-3FEF14B7764D}"/>
              </a:ext>
              <a:ext uri="{C183D7F6-B498-43B3-948B-1728B52AA6E4}">
                <adec:decorative xmlns:adec="http://schemas.microsoft.com/office/drawing/2017/decorative" val="1"/>
              </a:ext>
            </a:extLst>
          </p:cNvPr>
          <p:cNvSpPr/>
          <p:nvPr/>
        </p:nvSpPr>
        <p:spPr bwMode="auto">
          <a:xfrm>
            <a:off x="2153212" y="6025311"/>
            <a:ext cx="149973" cy="149973"/>
          </a:xfrm>
          <a:prstGeom prst="ellipse">
            <a:avLst/>
          </a:prstGeom>
          <a:gradFill flip="none" rotWithShape="1">
            <a:gsLst>
              <a:gs pos="0">
                <a:srgbClr val="125999">
                  <a:lumMod val="52000"/>
                </a:srgbClr>
              </a:gs>
              <a:gs pos="100000">
                <a:schemeClr val="accent1"/>
              </a:gs>
            </a:gsLst>
            <a:lin ang="2700000" scaled="1"/>
            <a:tileRect/>
          </a:gradFill>
          <a:ln w="15875">
            <a:solidFill>
              <a:schemeClr val="bg1"/>
            </a:solidFill>
            <a:headEnd type="none" w="med" len="med"/>
            <a:tailEnd type="none" w="med" len="med"/>
          </a:ln>
          <a:effectLst>
            <a:outerShdw blurRad="88900" dist="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25" name="Oval 24">
            <a:extLst>
              <a:ext uri="{FF2B5EF4-FFF2-40B4-BE49-F238E27FC236}">
                <a16:creationId xmlns:a16="http://schemas.microsoft.com/office/drawing/2014/main" id="{C1FF430A-E7E3-EB84-AEE6-53F76351B3C0}"/>
              </a:ext>
              <a:ext uri="{C183D7F6-B498-43B3-948B-1728B52AA6E4}">
                <adec:decorative xmlns:adec="http://schemas.microsoft.com/office/drawing/2017/decorative" val="1"/>
              </a:ext>
            </a:extLst>
          </p:cNvPr>
          <p:cNvSpPr/>
          <p:nvPr/>
        </p:nvSpPr>
        <p:spPr bwMode="auto">
          <a:xfrm>
            <a:off x="4078159" y="5371934"/>
            <a:ext cx="149973" cy="149973"/>
          </a:xfrm>
          <a:prstGeom prst="ellipse">
            <a:avLst/>
          </a:prstGeom>
          <a:gradFill flip="none" rotWithShape="1">
            <a:gsLst>
              <a:gs pos="0">
                <a:srgbClr val="125999">
                  <a:lumMod val="52000"/>
                </a:srgbClr>
              </a:gs>
              <a:gs pos="100000">
                <a:schemeClr val="accent1"/>
              </a:gs>
            </a:gsLst>
            <a:lin ang="2700000" scaled="1"/>
            <a:tileRect/>
          </a:gradFill>
          <a:ln w="15875">
            <a:solidFill>
              <a:schemeClr val="bg1"/>
            </a:solidFill>
            <a:headEnd type="none" w="med" len="med"/>
            <a:tailEnd type="none" w="med" len="med"/>
          </a:ln>
          <a:effectLst>
            <a:outerShdw blurRad="88900" dist="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26" name="Oval 25">
            <a:extLst>
              <a:ext uri="{FF2B5EF4-FFF2-40B4-BE49-F238E27FC236}">
                <a16:creationId xmlns:a16="http://schemas.microsoft.com/office/drawing/2014/main" id="{3A4BEB69-F1AC-F8E0-F1E1-0A773958DABD}"/>
              </a:ext>
              <a:ext uri="{C183D7F6-B498-43B3-948B-1728B52AA6E4}">
                <adec:decorative xmlns:adec="http://schemas.microsoft.com/office/drawing/2017/decorative" val="1"/>
              </a:ext>
            </a:extLst>
          </p:cNvPr>
          <p:cNvSpPr/>
          <p:nvPr/>
        </p:nvSpPr>
        <p:spPr bwMode="auto">
          <a:xfrm>
            <a:off x="6003106" y="4757491"/>
            <a:ext cx="149973" cy="149973"/>
          </a:xfrm>
          <a:prstGeom prst="ellipse">
            <a:avLst/>
          </a:prstGeom>
          <a:gradFill flip="none" rotWithShape="1">
            <a:gsLst>
              <a:gs pos="0">
                <a:srgbClr val="125999">
                  <a:lumMod val="52000"/>
                </a:srgbClr>
              </a:gs>
              <a:gs pos="100000">
                <a:schemeClr val="accent1"/>
              </a:gs>
            </a:gsLst>
            <a:lin ang="2700000" scaled="1"/>
            <a:tileRect/>
          </a:gradFill>
          <a:ln w="15875">
            <a:solidFill>
              <a:schemeClr val="bg1"/>
            </a:solidFill>
            <a:headEnd type="none" w="med" len="med"/>
            <a:tailEnd type="none" w="med" len="med"/>
          </a:ln>
          <a:effectLst>
            <a:outerShdw blurRad="88900" dist="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a:ln>
                <a:noFill/>
              </a:ln>
              <a:solidFill>
                <a:srgbClr val="FFFFFF"/>
              </a:solidFill>
              <a:effectLst/>
              <a:uLnTx/>
              <a:uFillTx/>
              <a:latin typeface="Segoe UI"/>
              <a:ea typeface="+mn-ea"/>
              <a:cs typeface="Segoe UI" pitchFamily="34" charset="0"/>
            </a:endParaRPr>
          </a:p>
        </p:txBody>
      </p:sp>
      <p:sp>
        <p:nvSpPr>
          <p:cNvPr id="30" name="Slide Number Placeholder 29">
            <a:extLst>
              <a:ext uri="{FF2B5EF4-FFF2-40B4-BE49-F238E27FC236}">
                <a16:creationId xmlns:a16="http://schemas.microsoft.com/office/drawing/2014/main" id="{C1575B7C-90D0-5872-67F3-D07FDC26266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246865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B6545E5-FAC5-4DE2-A0D4-BB2018DFA147}"/>
              </a:ext>
            </a:extLst>
          </p:cNvPr>
          <p:cNvSpPr txBox="1"/>
          <p:nvPr/>
        </p:nvSpPr>
        <p:spPr>
          <a:xfrm>
            <a:off x="504861" y="2297446"/>
            <a:ext cx="5016983" cy="518091"/>
          </a:xfrm>
          <a:prstGeom prst="rect">
            <a:avLst/>
          </a:prstGeom>
          <a:solidFill>
            <a:srgbClr val="FFFFFF"/>
          </a:solidFill>
          <a:ln>
            <a:noFill/>
          </a:ln>
        </p:spPr>
        <p:txBody>
          <a:bodyPr wrap="square" lIns="0" tIns="0" rIns="0" bIns="0" rtlCol="0" anchor="ctr">
            <a:spAutoFit/>
          </a:bodyPr>
          <a:lstStyle/>
          <a:p>
            <a:pPr marL="0" marR="0" lvl="0" indent="0" algn="ctr" defTabSz="914396" rtl="0" eaLnBrk="1" fontAlgn="auto" latinLnBrk="0" hangingPunct="1">
              <a:lnSpc>
                <a:spcPct val="100000"/>
              </a:lnSpc>
              <a:spcBef>
                <a:spcPts val="0"/>
              </a:spcBef>
              <a:spcAft>
                <a:spcPts val="200"/>
              </a:spcAft>
              <a:buClrTx/>
              <a:buSzTx/>
              <a:buFontTx/>
              <a:buNone/>
              <a:tabLst/>
              <a:defRPr/>
            </a:pPr>
            <a:r>
              <a:rPr kumimoji="0" lang="en-US" sz="1800" b="0" i="0" u="none" strike="noStrike" kern="0" cap="none" spc="0" normalizeH="0" baseline="0" noProof="0">
                <a:ln>
                  <a:noFill/>
                </a:ln>
                <a:solidFill>
                  <a:srgbClr val="243A5E"/>
                </a:solidFill>
                <a:effectLst/>
                <a:uLnTx/>
                <a:uFillTx/>
                <a:latin typeface="Segoe UI Semibold"/>
                <a:ea typeface="+mn-ea"/>
                <a:cs typeface="+mn-cs"/>
              </a:rPr>
              <a:t>Meet your foundational needs</a:t>
            </a:r>
          </a:p>
          <a:p>
            <a:pPr algn="ctr" defTabSz="914396">
              <a:defRPr/>
            </a:pPr>
            <a:r>
              <a:rPr kumimoji="0" lang="en-US" sz="1400" b="0" i="0" u="none" strike="noStrike" kern="1200" cap="none" spc="0" normalizeH="0" baseline="0" noProof="0">
                <a:ln>
                  <a:noFill/>
                </a:ln>
                <a:solidFill>
                  <a:srgbClr val="000000"/>
                </a:solidFill>
                <a:effectLst/>
                <a:uLnTx/>
                <a:uFillTx/>
                <a:latin typeface="Segoe UI"/>
                <a:cs typeface="Segoe UI"/>
              </a:rPr>
              <a:t>A transitional bridge to full </a:t>
            </a:r>
            <a:r>
              <a:rPr lang="en-US" sz="1400">
                <a:solidFill>
                  <a:srgbClr val="000000"/>
                </a:solidFill>
                <a:latin typeface="Segoe UI"/>
                <a:cs typeface="Segoe UI"/>
              </a:rPr>
              <a:t>Unified Enterprise</a:t>
            </a:r>
            <a:endParaRPr lang="en-US" sz="1400" b="0" i="0" u="none" strike="noStrike" kern="0" cap="none" spc="0" normalizeH="0" baseline="0" noProof="0">
              <a:ln>
                <a:noFill/>
              </a:ln>
              <a:solidFill>
                <a:srgbClr val="000000"/>
              </a:solidFill>
              <a:effectLst/>
              <a:uLnTx/>
              <a:uFillTx/>
              <a:latin typeface="Segoe UI"/>
              <a:cs typeface="Segoe UI" pitchFamily="34" charset="0"/>
            </a:endParaRPr>
          </a:p>
        </p:txBody>
      </p:sp>
      <p:sp>
        <p:nvSpPr>
          <p:cNvPr id="2" name="Title 1">
            <a:extLst>
              <a:ext uri="{FF2B5EF4-FFF2-40B4-BE49-F238E27FC236}">
                <a16:creationId xmlns:a16="http://schemas.microsoft.com/office/drawing/2014/main" id="{C9056B97-2273-4606-A38B-0B15F6663FD8}"/>
              </a:ext>
            </a:extLst>
          </p:cNvPr>
          <p:cNvSpPr>
            <a:spLocks noGrp="1"/>
          </p:cNvSpPr>
          <p:nvPr>
            <p:ph type="title"/>
          </p:nvPr>
        </p:nvSpPr>
        <p:spPr>
          <a:xfrm>
            <a:off x="576263" y="600075"/>
            <a:ext cx="11017250" cy="615553"/>
          </a:xfrm>
        </p:spPr>
        <p:txBody>
          <a:bodyPr/>
          <a:lstStyle/>
          <a:p>
            <a:r>
              <a:rPr lang="en-US" sz="4000"/>
              <a:t>Coverage to match your needs</a:t>
            </a:r>
          </a:p>
        </p:txBody>
      </p:sp>
      <p:sp>
        <p:nvSpPr>
          <p:cNvPr id="7" name="Text Placeholder 6">
            <a:extLst>
              <a:ext uri="{FF2B5EF4-FFF2-40B4-BE49-F238E27FC236}">
                <a16:creationId xmlns:a16="http://schemas.microsoft.com/office/drawing/2014/main" id="{43FD73D2-B391-48A3-9ABA-F1F840B05EB5}"/>
              </a:ext>
            </a:extLst>
          </p:cNvPr>
          <p:cNvSpPr>
            <a:spLocks noGrp="1"/>
          </p:cNvSpPr>
          <p:nvPr>
            <p:ph type="body" sz="quarter" idx="12"/>
          </p:nvPr>
        </p:nvSpPr>
        <p:spPr>
          <a:xfrm>
            <a:off x="584200" y="1441450"/>
            <a:ext cx="11158621" cy="276999"/>
          </a:xfrm>
        </p:spPr>
        <p:txBody>
          <a:bodyPr vert="horz" wrap="square" lIns="0" tIns="0" rIns="0" bIns="0" rtlCol="0" anchor="t">
            <a:spAutoFit/>
          </a:bodyPr>
          <a:lstStyle/>
          <a:p>
            <a:r>
              <a:rPr lang="en-US" sz="1800">
                <a:solidFill>
                  <a:schemeClr val="tx1"/>
                </a:solidFill>
                <a:cs typeface="Segoe UI Semibold"/>
              </a:rPr>
              <a:t>Get started with Unified Enterprise coverage for selected cloud(s), available for a limited time</a:t>
            </a:r>
          </a:p>
        </p:txBody>
      </p:sp>
      <p:sp>
        <p:nvSpPr>
          <p:cNvPr id="22" name="TextBox 21">
            <a:extLst>
              <a:ext uri="{FF2B5EF4-FFF2-40B4-BE49-F238E27FC236}">
                <a16:creationId xmlns:a16="http://schemas.microsoft.com/office/drawing/2014/main" id="{34B229F2-0F53-4056-88CF-D1FDC217CCC3}"/>
              </a:ext>
            </a:extLst>
          </p:cNvPr>
          <p:cNvSpPr txBox="1"/>
          <p:nvPr/>
        </p:nvSpPr>
        <p:spPr>
          <a:xfrm>
            <a:off x="6335486" y="2498158"/>
            <a:ext cx="5351653" cy="276999"/>
          </a:xfrm>
          <a:prstGeom prst="rect">
            <a:avLst/>
          </a:prstGeom>
          <a:solidFill>
            <a:srgbClr val="FFFFFF"/>
          </a:solidFill>
          <a:ln>
            <a:noFill/>
          </a:ln>
        </p:spPr>
        <p:txBody>
          <a:bodyPr wrap="square" lIns="0" tIns="0" rIns="0" bIns="0" rtlCol="0" anchor="ctr">
            <a:spAutoFit/>
          </a:bodyPr>
          <a:lstStyle/>
          <a:p>
            <a:pPr marL="0" marR="0" lvl="0" indent="0" algn="ctr" defTabSz="914396" rtl="0" eaLnBrk="1" fontAlgn="auto" latinLnBrk="0" hangingPunct="1">
              <a:lnSpc>
                <a:spcPct val="100000"/>
              </a:lnSpc>
              <a:spcBef>
                <a:spcPts val="0"/>
              </a:spcBef>
              <a:spcAft>
                <a:spcPts val="200"/>
              </a:spcAft>
              <a:buClrTx/>
              <a:buSzTx/>
              <a:buFontTx/>
              <a:buNone/>
              <a:tabLst/>
              <a:defRPr/>
            </a:pPr>
            <a:r>
              <a:rPr kumimoji="0" lang="en-US" sz="1800" b="0" i="0" u="none" strike="noStrike" kern="0" cap="none" spc="0" normalizeH="0" baseline="0" noProof="0">
                <a:ln>
                  <a:noFill/>
                </a:ln>
                <a:solidFill>
                  <a:srgbClr val="243A5E"/>
                </a:solidFill>
                <a:effectLst/>
                <a:uLnTx/>
                <a:uFillTx/>
                <a:latin typeface="Segoe UI Semibold"/>
                <a:ea typeface="+mn-ea"/>
                <a:cs typeface="+mn-cs"/>
              </a:rPr>
              <a:t>Tailor your cloud-only solution for success</a:t>
            </a:r>
          </a:p>
        </p:txBody>
      </p:sp>
      <p:sp>
        <p:nvSpPr>
          <p:cNvPr id="23" name="Rectangle 101">
            <a:extLst>
              <a:ext uri="{FF2B5EF4-FFF2-40B4-BE49-F238E27FC236}">
                <a16:creationId xmlns:a16="http://schemas.microsoft.com/office/drawing/2014/main" id="{E7A19BC5-E542-46F9-AE83-03B980A1380A}"/>
              </a:ext>
            </a:extLst>
          </p:cNvPr>
          <p:cNvSpPr/>
          <p:nvPr/>
        </p:nvSpPr>
        <p:spPr bwMode="auto">
          <a:xfrm rot="5400000" flipV="1">
            <a:off x="6035122" y="-2510798"/>
            <a:ext cx="121757" cy="11049001"/>
          </a:xfrm>
          <a:custGeom>
            <a:avLst/>
            <a:gdLst>
              <a:gd name="connsiteX0" fmla="*/ 0 w 2141317"/>
              <a:gd name="connsiteY0" fmla="*/ 0 h 1250066"/>
              <a:gd name="connsiteX1" fmla="*/ 2141317 w 2141317"/>
              <a:gd name="connsiteY1" fmla="*/ 0 h 1250066"/>
              <a:gd name="connsiteX2" fmla="*/ 2141317 w 2141317"/>
              <a:gd name="connsiteY2" fmla="*/ 1250066 h 1250066"/>
              <a:gd name="connsiteX3" fmla="*/ 0 w 2141317"/>
              <a:gd name="connsiteY3" fmla="*/ 1250066 h 1250066"/>
              <a:gd name="connsiteX4" fmla="*/ 0 w 2141317"/>
              <a:gd name="connsiteY4" fmla="*/ 0 h 1250066"/>
              <a:gd name="connsiteX0" fmla="*/ 2141317 w 2232757"/>
              <a:gd name="connsiteY0" fmla="*/ 1250066 h 1341506"/>
              <a:gd name="connsiteX1" fmla="*/ 0 w 2232757"/>
              <a:gd name="connsiteY1" fmla="*/ 1250066 h 1341506"/>
              <a:gd name="connsiteX2" fmla="*/ 0 w 2232757"/>
              <a:gd name="connsiteY2" fmla="*/ 0 h 1341506"/>
              <a:gd name="connsiteX3" fmla="*/ 2141317 w 2232757"/>
              <a:gd name="connsiteY3" fmla="*/ 0 h 1341506"/>
              <a:gd name="connsiteX4" fmla="*/ 2232757 w 2232757"/>
              <a:gd name="connsiteY4" fmla="*/ 1341506 h 1341506"/>
              <a:gd name="connsiteX0" fmla="*/ 2141317 w 2141317"/>
              <a:gd name="connsiteY0" fmla="*/ 1250066 h 1250066"/>
              <a:gd name="connsiteX1" fmla="*/ 0 w 2141317"/>
              <a:gd name="connsiteY1" fmla="*/ 1250066 h 1250066"/>
              <a:gd name="connsiteX2" fmla="*/ 0 w 2141317"/>
              <a:gd name="connsiteY2" fmla="*/ 0 h 1250066"/>
              <a:gd name="connsiteX3" fmla="*/ 2141317 w 2141317"/>
              <a:gd name="connsiteY3" fmla="*/ 0 h 1250066"/>
            </a:gdLst>
            <a:ahLst/>
            <a:cxnLst>
              <a:cxn ang="0">
                <a:pos x="connsiteX0" y="connsiteY0"/>
              </a:cxn>
              <a:cxn ang="0">
                <a:pos x="connsiteX1" y="connsiteY1"/>
              </a:cxn>
              <a:cxn ang="0">
                <a:pos x="connsiteX2" y="connsiteY2"/>
              </a:cxn>
              <a:cxn ang="0">
                <a:pos x="connsiteX3" y="connsiteY3"/>
              </a:cxn>
            </a:cxnLst>
            <a:rect l="l" t="t" r="r" b="b"/>
            <a:pathLst>
              <a:path w="2141317" h="1250066">
                <a:moveTo>
                  <a:pt x="2141317" y="1250066"/>
                </a:moveTo>
                <a:lnTo>
                  <a:pt x="0" y="1250066"/>
                </a:lnTo>
                <a:lnTo>
                  <a:pt x="0" y="0"/>
                </a:lnTo>
                <a:lnTo>
                  <a:pt x="2141317" y="0"/>
                </a:lnTo>
              </a:path>
            </a:pathLst>
          </a:custGeom>
          <a:noFill/>
          <a:ln w="6350" cap="flat" cmpd="sng" algn="ctr">
            <a:solidFill>
              <a:schemeClr val="tx2"/>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70080" rtl="0" eaLnBrk="1" fontAlgn="auto" latinLnBrk="0" hangingPunct="1">
              <a:lnSpc>
                <a:spcPct val="100000"/>
              </a:lnSpc>
              <a:spcBef>
                <a:spcPts val="0"/>
              </a:spcBef>
              <a:spcAft>
                <a:spcPts val="200"/>
              </a:spcAft>
              <a:buClrTx/>
              <a:buSzTx/>
              <a:buFontTx/>
              <a:buNone/>
              <a:tabLst/>
              <a:defRPr/>
            </a:pPr>
            <a:endParaRPr kumimoji="0" lang="en-US" sz="1100" b="0" i="0" u="none" strike="noStrike" kern="0" cap="none" spc="0" normalizeH="0" baseline="0" noProof="0">
              <a:ln>
                <a:noFill/>
              </a:ln>
              <a:solidFill>
                <a:srgbClr val="E6E6E6"/>
              </a:solidFill>
              <a:effectLst/>
              <a:uLnTx/>
              <a:uFillTx/>
              <a:latin typeface="Segoe UI"/>
              <a:ea typeface="+mn-ea"/>
              <a:cs typeface="Segoe UI" panose="020B0502040204020203" pitchFamily="34" charset="0"/>
            </a:endParaRPr>
          </a:p>
        </p:txBody>
      </p:sp>
      <p:sp>
        <p:nvSpPr>
          <p:cNvPr id="29" name="Rectangle 28">
            <a:extLst>
              <a:ext uri="{FF2B5EF4-FFF2-40B4-BE49-F238E27FC236}">
                <a16:creationId xmlns:a16="http://schemas.microsoft.com/office/drawing/2014/main" id="{8A3FF6E8-2D78-4C9B-A608-411CC5BCE1F4}"/>
              </a:ext>
            </a:extLst>
          </p:cNvPr>
          <p:cNvSpPr>
            <a:spLocks/>
          </p:cNvSpPr>
          <p:nvPr/>
        </p:nvSpPr>
        <p:spPr bwMode="auto">
          <a:xfrm>
            <a:off x="571501" y="3196792"/>
            <a:ext cx="1970888" cy="914400"/>
          </a:xfrm>
          <a:prstGeom prst="rect">
            <a:avLst/>
          </a:prstGeom>
          <a:solidFill>
            <a:schemeClr val="accent2"/>
          </a:solidFill>
          <a:ln w="9525" cap="flat" cmpd="sng" algn="ctr">
            <a:noFill/>
            <a:prstDash val="solid"/>
            <a:headEnd type="none" w="med" len="med"/>
            <a:tailEnd type="none" w="med" len="med"/>
          </a:ln>
          <a:effectLst/>
        </p:spPr>
        <p:txBody>
          <a:bodyPr rot="0" spcFirstLastPara="0" vertOverflow="overflow" horzOverflow="overflow" vert="horz" wrap="square" lIns="768096" tIns="45720" rIns="91440" bIns="45720" numCol="1" spcCol="0" rtlCol="0" fromWordArt="0" anchor="ctr" anchorCtr="0" forceAA="0" compatLnSpc="1">
            <a:prstTxWarp prst="textNoShape">
              <a:avLst/>
            </a:prstTxWarp>
            <a:noAutofit/>
          </a:bodyPr>
          <a:lstStyle/>
          <a:p>
            <a:pPr defTabSz="970080">
              <a:spcAft>
                <a:spcPts val="300"/>
              </a:spcAft>
              <a:defRPr/>
            </a:pPr>
            <a:r>
              <a:rPr lang="en-US" sz="1400" kern="0">
                <a:solidFill>
                  <a:srgbClr val="FFFFFF"/>
                </a:solidFill>
                <a:latin typeface="Segoe UI Semibold"/>
                <a:cs typeface="Segoe UI"/>
              </a:rPr>
              <a:t>Empower Cloud Success</a:t>
            </a:r>
            <a:endParaRPr lang="en-US" sz="1400">
              <a:ea typeface="+mn-ea"/>
            </a:endParaRPr>
          </a:p>
        </p:txBody>
      </p:sp>
      <p:sp>
        <p:nvSpPr>
          <p:cNvPr id="30" name="Rectangle 29">
            <a:extLst>
              <a:ext uri="{FF2B5EF4-FFF2-40B4-BE49-F238E27FC236}">
                <a16:creationId xmlns:a16="http://schemas.microsoft.com/office/drawing/2014/main" id="{0D1DE1EB-83BC-4AEC-98D6-8EB07E809C33}"/>
              </a:ext>
            </a:extLst>
          </p:cNvPr>
          <p:cNvSpPr>
            <a:spLocks/>
          </p:cNvSpPr>
          <p:nvPr/>
        </p:nvSpPr>
        <p:spPr bwMode="auto">
          <a:xfrm>
            <a:off x="571501" y="4185250"/>
            <a:ext cx="1970888" cy="914400"/>
          </a:xfrm>
          <a:prstGeom prst="rect">
            <a:avLst/>
          </a:prstGeom>
          <a:solidFill>
            <a:schemeClr val="accent2"/>
          </a:solidFill>
          <a:ln w="9525" cap="flat" cmpd="sng" algn="ctr">
            <a:noFill/>
            <a:prstDash val="solid"/>
            <a:headEnd type="none" w="med" len="med"/>
            <a:tailEnd type="none" w="med" len="med"/>
          </a:ln>
          <a:effectLst/>
        </p:spPr>
        <p:txBody>
          <a:bodyPr rot="0" spcFirstLastPara="0" vertOverflow="overflow" horzOverflow="overflow" vert="horz" wrap="square" lIns="768096" tIns="45720" rIns="91440" bIns="45720" numCol="1" spcCol="0" rtlCol="0" fromWordArt="0" anchor="ctr" anchorCtr="0" forceAA="0" compatLnSpc="1">
            <a:prstTxWarp prst="textNoShape">
              <a:avLst/>
            </a:prstTxWarp>
            <a:noAutofit/>
          </a:bodyPr>
          <a:lstStyle/>
          <a:p>
            <a:pPr marL="0" marR="0" lvl="0" indent="0" algn="l" defTabSz="970080" rtl="0" eaLnBrk="1" fontAlgn="auto" latinLnBrk="0" hangingPunct="1">
              <a:lnSpc>
                <a:spcPct val="100000"/>
              </a:lnSpc>
              <a:spcBef>
                <a:spcPts val="0"/>
              </a:spcBef>
              <a:spcAft>
                <a:spcPts val="30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a:rPr>
              <a:t>Strengthen Security and Resiliency</a:t>
            </a:r>
            <a:endParaRPr lang="en-US" sz="1400" b="0" i="0" u="none" strike="noStrike" kern="0" cap="none" spc="0" normalizeH="0" baseline="0" noProof="0">
              <a:ln>
                <a:noFill/>
              </a:ln>
              <a:solidFill>
                <a:srgbClr val="FFFFFF"/>
              </a:solidFill>
              <a:effectLst/>
              <a:uLnTx/>
              <a:uFillTx/>
              <a:latin typeface="Segoe UI Semibold"/>
              <a:cs typeface="Segoe UI"/>
            </a:endParaRPr>
          </a:p>
        </p:txBody>
      </p:sp>
      <p:sp>
        <p:nvSpPr>
          <p:cNvPr id="31" name="Rectangle 30">
            <a:extLst>
              <a:ext uri="{FF2B5EF4-FFF2-40B4-BE49-F238E27FC236}">
                <a16:creationId xmlns:a16="http://schemas.microsoft.com/office/drawing/2014/main" id="{BA29819D-BE78-4DA0-B007-C8DAACDB5DD0}"/>
              </a:ext>
            </a:extLst>
          </p:cNvPr>
          <p:cNvSpPr>
            <a:spLocks/>
          </p:cNvSpPr>
          <p:nvPr/>
        </p:nvSpPr>
        <p:spPr bwMode="auto">
          <a:xfrm>
            <a:off x="571501" y="5183333"/>
            <a:ext cx="1970888" cy="914400"/>
          </a:xfrm>
          <a:prstGeom prst="rect">
            <a:avLst/>
          </a:prstGeom>
          <a:solidFill>
            <a:schemeClr val="accent2"/>
          </a:solidFill>
          <a:ln w="9525" cap="flat" cmpd="sng" algn="ctr">
            <a:noFill/>
            <a:prstDash val="solid"/>
            <a:headEnd type="none" w="med" len="med"/>
            <a:tailEnd type="none" w="med" len="med"/>
          </a:ln>
          <a:effectLst/>
        </p:spPr>
        <p:txBody>
          <a:bodyPr rot="0" spcFirstLastPara="0" vertOverflow="overflow" horzOverflow="overflow" vert="horz" wrap="square" lIns="768096" tIns="45720" rIns="91440" bIns="45720" numCol="1" spcCol="0" rtlCol="0" fromWordArt="0" anchor="ctr" anchorCtr="0" forceAA="0" compatLnSpc="1">
            <a:prstTxWarp prst="textNoShape">
              <a:avLst/>
            </a:prstTxWarp>
            <a:noAutofit/>
          </a:bodyPr>
          <a:lstStyle/>
          <a:p>
            <a:pPr marL="0" marR="0" lvl="0" indent="0" algn="l" defTabSz="970080" rtl="0" eaLnBrk="1" fontAlgn="auto" latinLnBrk="0" hangingPunct="1">
              <a:lnSpc>
                <a:spcPct val="100000"/>
              </a:lnSpc>
              <a:spcBef>
                <a:spcPts val="0"/>
              </a:spcBef>
              <a:spcAft>
                <a:spcPts val="30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a:rPr>
              <a:t>Drive AI Innovation</a:t>
            </a:r>
            <a:endParaRPr lang="en-US" sz="1400" b="0" i="0" u="none" strike="noStrike" kern="0" cap="none" spc="0" normalizeH="0" baseline="0" noProof="0">
              <a:ln>
                <a:noFill/>
              </a:ln>
              <a:solidFill>
                <a:srgbClr val="FFFFFF"/>
              </a:solidFill>
              <a:effectLst/>
              <a:uLnTx/>
              <a:uFillTx/>
              <a:latin typeface="Segoe UI Semibold"/>
              <a:cs typeface="Segoe UI"/>
            </a:endParaRPr>
          </a:p>
        </p:txBody>
      </p:sp>
      <p:sp>
        <p:nvSpPr>
          <p:cNvPr id="38" name="Rectangle 37">
            <a:extLst>
              <a:ext uri="{FF2B5EF4-FFF2-40B4-BE49-F238E27FC236}">
                <a16:creationId xmlns:a16="http://schemas.microsoft.com/office/drawing/2014/main" id="{AAB739F6-2561-4F7A-AD86-827542D06C62}"/>
              </a:ext>
            </a:extLst>
          </p:cNvPr>
          <p:cNvSpPr>
            <a:spLocks/>
          </p:cNvSpPr>
          <p:nvPr/>
        </p:nvSpPr>
        <p:spPr bwMode="auto">
          <a:xfrm>
            <a:off x="2542389" y="5192955"/>
            <a:ext cx="3117266" cy="904777"/>
          </a:xfrm>
          <a:prstGeom prst="rect">
            <a:avLst/>
          </a:prstGeom>
          <a:solidFill>
            <a:schemeClr val="bg1"/>
          </a:solidFill>
          <a:ln w="9525" cap="flat" cmpd="sng" algn="ctr">
            <a:solidFill>
              <a:srgbClr val="505050"/>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70080">
              <a:spcAft>
                <a:spcPts val="300"/>
              </a:spcAft>
              <a:defRPr/>
            </a:pPr>
            <a:r>
              <a:rPr kumimoji="0" lang="en-US" sz="1400" b="0" i="0" u="none" strike="noStrike" kern="0" cap="none" spc="0" normalizeH="0" baseline="0" noProof="0">
                <a:ln>
                  <a:noFill/>
                </a:ln>
                <a:solidFill>
                  <a:srgbClr val="000000"/>
                </a:solidFill>
                <a:effectLst/>
                <a:uLnTx/>
                <a:uFillTx/>
                <a:latin typeface="Segoe UI"/>
                <a:ea typeface="+mn-ea"/>
                <a:cs typeface="Segoe UI"/>
              </a:rPr>
              <a:t>As-needed advisory </a:t>
            </a:r>
            <a:r>
              <a:rPr lang="en-US" sz="1400" kern="0">
                <a:solidFill>
                  <a:srgbClr val="000000"/>
                </a:solidFill>
                <a:latin typeface="Segoe UI"/>
                <a:cs typeface="Segoe UI"/>
              </a:rPr>
              <a:t>services </a:t>
            </a:r>
            <a:r>
              <a:rPr kumimoji="0" lang="en-US" sz="1400" b="0" i="0" u="none" strike="noStrike" kern="0" cap="none" spc="0" normalizeH="0" baseline="0" noProof="0">
                <a:ln>
                  <a:noFill/>
                </a:ln>
                <a:solidFill>
                  <a:srgbClr val="000000"/>
                </a:solidFill>
                <a:effectLst/>
                <a:uLnTx/>
                <a:uFillTx/>
                <a:latin typeface="Segoe UI"/>
                <a:ea typeface="+mn-ea"/>
                <a:cs typeface="Segoe UI"/>
              </a:rPr>
              <a:t>and</a:t>
            </a:r>
            <a:r>
              <a:rPr lang="en-US" sz="1400" kern="0">
                <a:solidFill>
                  <a:srgbClr val="000000"/>
                </a:solidFill>
                <a:latin typeface="Segoe UI"/>
                <a:cs typeface="Segoe UI"/>
              </a:rPr>
              <a:t> </a:t>
            </a:r>
            <a:br>
              <a:rPr lang="en-US" sz="1400" kern="0">
                <a:latin typeface="Segoe UI"/>
                <a:cs typeface="Segoe UI"/>
              </a:rPr>
            </a:br>
            <a:r>
              <a:rPr kumimoji="0" lang="en-US" sz="1400" b="0" i="0" u="none" strike="noStrike" kern="0" cap="none" spc="0" normalizeH="0" baseline="0" noProof="0">
                <a:ln>
                  <a:noFill/>
                </a:ln>
                <a:solidFill>
                  <a:srgbClr val="000000"/>
                </a:solidFill>
                <a:effectLst/>
                <a:uLnTx/>
                <a:uFillTx/>
                <a:latin typeface="Segoe UI"/>
                <a:ea typeface="+mn-ea"/>
                <a:cs typeface="Segoe UI"/>
              </a:rPr>
              <a:t>an online hub of on-demand</a:t>
            </a:r>
            <a:r>
              <a:rPr lang="en-US" sz="1400" kern="0">
                <a:solidFill>
                  <a:srgbClr val="000000"/>
                </a:solidFill>
                <a:latin typeface="Segoe UI"/>
                <a:cs typeface="Segoe UI"/>
              </a:rPr>
              <a:t> </a:t>
            </a:r>
            <a:br>
              <a:rPr lang="en-US" sz="1400" kern="0">
                <a:latin typeface="Segoe UI"/>
                <a:cs typeface="Segoe UI"/>
              </a:rPr>
            </a:br>
            <a:r>
              <a:rPr lang="en-US" sz="1400" kern="0">
                <a:latin typeface="Segoe UI"/>
                <a:cs typeface="Segoe UI"/>
              </a:rPr>
              <a:t>AI </a:t>
            </a:r>
            <a:r>
              <a:rPr kumimoji="0" lang="en-US" sz="1400" b="0" i="0" u="none" strike="noStrike" kern="0" cap="none" spc="0" normalizeH="0" baseline="0" noProof="0">
                <a:ln>
                  <a:noFill/>
                </a:ln>
                <a:solidFill>
                  <a:srgbClr val="000000"/>
                </a:solidFill>
                <a:effectLst/>
                <a:uLnTx/>
                <a:uFillTx/>
                <a:latin typeface="Segoe UI"/>
                <a:ea typeface="+mn-ea"/>
                <a:cs typeface="Segoe UI"/>
              </a:rPr>
              <a:t>learning content</a:t>
            </a:r>
            <a:endParaRPr lang="en-US" sz="1400">
              <a:cs typeface="Segoe UI"/>
            </a:endParaRPr>
          </a:p>
        </p:txBody>
      </p:sp>
      <p:sp>
        <p:nvSpPr>
          <p:cNvPr id="39" name="Rectangle 38">
            <a:extLst>
              <a:ext uri="{FF2B5EF4-FFF2-40B4-BE49-F238E27FC236}">
                <a16:creationId xmlns:a16="http://schemas.microsoft.com/office/drawing/2014/main" id="{B2C2D916-EA83-4244-A0B2-490926C1875F}"/>
              </a:ext>
            </a:extLst>
          </p:cNvPr>
          <p:cNvSpPr>
            <a:spLocks/>
          </p:cNvSpPr>
          <p:nvPr/>
        </p:nvSpPr>
        <p:spPr bwMode="auto">
          <a:xfrm>
            <a:off x="2542389" y="4194874"/>
            <a:ext cx="3117266" cy="904776"/>
          </a:xfrm>
          <a:prstGeom prst="rect">
            <a:avLst/>
          </a:prstGeom>
          <a:solidFill>
            <a:schemeClr val="bg1"/>
          </a:solidFill>
          <a:ln w="9525" cap="flat" cmpd="sng" algn="ctr">
            <a:solidFill>
              <a:srgbClr val="505050"/>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70080">
              <a:defRPr/>
            </a:pPr>
            <a:r>
              <a:rPr lang="en-US" sz="1400" kern="0">
                <a:solidFill>
                  <a:srgbClr val="000000"/>
                </a:solidFill>
                <a:latin typeface="Segoe UI"/>
                <a:cs typeface="Segoe UI"/>
              </a:rPr>
              <a:t>Rigorous strategy for the security, optimization, and resiliency of your Microsoft investments</a:t>
            </a:r>
          </a:p>
        </p:txBody>
      </p:sp>
      <p:sp>
        <p:nvSpPr>
          <p:cNvPr id="40" name="Rectangle 39">
            <a:extLst>
              <a:ext uri="{FF2B5EF4-FFF2-40B4-BE49-F238E27FC236}">
                <a16:creationId xmlns:a16="http://schemas.microsoft.com/office/drawing/2014/main" id="{DC1D60C2-E62D-43B8-9D0A-A2EC1F6AEA27}"/>
              </a:ext>
            </a:extLst>
          </p:cNvPr>
          <p:cNvSpPr>
            <a:spLocks/>
          </p:cNvSpPr>
          <p:nvPr/>
        </p:nvSpPr>
        <p:spPr bwMode="auto">
          <a:xfrm>
            <a:off x="2542389" y="3208788"/>
            <a:ext cx="3117266" cy="892779"/>
          </a:xfrm>
          <a:prstGeom prst="rect">
            <a:avLst/>
          </a:prstGeom>
          <a:solidFill>
            <a:schemeClr val="bg1"/>
          </a:solidFill>
          <a:ln w="9525" cap="flat" cmpd="sng" algn="ctr">
            <a:solidFill>
              <a:srgbClr val="505050"/>
            </a:solidFill>
            <a:prstDash val="solid"/>
            <a:headEnd type="none" w="med" len="med"/>
            <a:tailEnd type="none" w="med" len="med"/>
          </a:ln>
          <a:effectLst/>
        </p:spPr>
        <p:txBody>
          <a:bodyPr rot="0" spcFirstLastPara="0" vertOverflow="overflow" horzOverflow="overflow" vert="horz" wrap="square" lIns="91440" tIns="91440" rIns="45720" bIns="91440" numCol="1" spcCol="0" rtlCol="0" fromWordArt="0" anchor="ctr" anchorCtr="0" forceAA="0" compatLnSpc="1">
            <a:prstTxWarp prst="textNoShape">
              <a:avLst/>
            </a:prstTxWarp>
            <a:noAutofit/>
          </a:bodyPr>
          <a:lstStyle/>
          <a:p>
            <a:pPr algn="ctr" defTabSz="970080">
              <a:spcAft>
                <a:spcPts val="300"/>
              </a:spcAft>
              <a:defRPr/>
            </a:pPr>
            <a:r>
              <a:rPr lang="en-US" sz="1400" kern="0">
                <a:solidFill>
                  <a:srgbClr val="000000"/>
                </a:solidFill>
                <a:latin typeface="Segoe UI"/>
                <a:cs typeface="Segoe UI"/>
              </a:rPr>
              <a:t>Upfront planning to ensure alignment between your business priorities and our technical execution</a:t>
            </a:r>
          </a:p>
        </p:txBody>
      </p:sp>
      <p:sp>
        <p:nvSpPr>
          <p:cNvPr id="42" name="Rectangle 41">
            <a:extLst>
              <a:ext uri="{FF2B5EF4-FFF2-40B4-BE49-F238E27FC236}">
                <a16:creationId xmlns:a16="http://schemas.microsoft.com/office/drawing/2014/main" id="{07165B5C-5FE5-481E-82FD-273E32BBD2C9}"/>
              </a:ext>
            </a:extLst>
          </p:cNvPr>
          <p:cNvSpPr>
            <a:spLocks/>
          </p:cNvSpPr>
          <p:nvPr/>
        </p:nvSpPr>
        <p:spPr bwMode="auto">
          <a:xfrm>
            <a:off x="6335486" y="3196791"/>
            <a:ext cx="5282207" cy="2900941"/>
          </a:xfrm>
          <a:prstGeom prst="rect">
            <a:avLst/>
          </a:prstGeom>
          <a:solidFill>
            <a:srgbClr val="FFFFFF"/>
          </a:solidFill>
          <a:ln w="9525" cap="flat" cmpd="sng" algn="ctr">
            <a:solidFill>
              <a:srgbClr val="505050"/>
            </a:solidFill>
            <a:prstDash val="soli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Segoe UI" pitchFamily="34" charset="0"/>
              </a:rPr>
              <a:t>Choose the Microsoft cloud(s) you want supported:  </a:t>
            </a:r>
          </a:p>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itchFamily="34" charset="0"/>
              </a:rPr>
              <a:t>Azure | Microsoft 365 | Dynamics 365/Power Platform |</a:t>
            </a:r>
            <a:br>
              <a:rPr kumimoji="0" lang="en-US" sz="1400" b="0" i="0" u="none" strike="noStrike" kern="1200" cap="none" spc="0" normalizeH="0" baseline="0" noProof="0">
                <a:ln>
                  <a:noFill/>
                </a:ln>
                <a:solidFill>
                  <a:srgbClr val="000000"/>
                </a:solidFill>
                <a:effectLst/>
                <a:uLnTx/>
                <a:uFillTx/>
                <a:latin typeface="Segoe UI Semibold"/>
                <a:ea typeface="+mn-ea"/>
                <a:cs typeface="Segoe UI" pitchFamily="34" charset="0"/>
              </a:rPr>
            </a:br>
            <a:r>
              <a:rPr kumimoji="0" lang="en-US" sz="1400" b="0" i="0" u="none" strike="noStrike" kern="1200" cap="none" spc="0" normalizeH="0" baseline="0" noProof="0">
                <a:ln>
                  <a:noFill/>
                </a:ln>
                <a:solidFill>
                  <a:srgbClr val="000000"/>
                </a:solidFill>
                <a:effectLst/>
                <a:uLnTx/>
                <a:uFillTx/>
                <a:latin typeface="Segoe UI Semibold"/>
                <a:ea typeface="+mn-ea"/>
                <a:cs typeface="Segoe UI" pitchFamily="34" charset="0"/>
              </a:rPr>
              <a:t>Security | Copilot</a:t>
            </a:r>
          </a:p>
          <a:p>
            <a:pPr marL="285750" marR="0" lvl="0" indent="-285750" algn="l"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endParaRPr>
          </a:p>
          <a:p>
            <a:pPr marL="285750" marR="0" lvl="0" indent="-285750"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rPr>
              <a:t>Benefit from a tailored Unified Enterprise agreement with an annual contract priced as a percentage of your selected cloud(s) spend only</a:t>
            </a:r>
          </a:p>
          <a:p>
            <a:pPr marL="285750" marR="0" lvl="0" indent="-285750"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rPr>
              <a:t>Receive an allowance based on </a:t>
            </a:r>
            <a:r>
              <a:rPr lang="en-US" sz="1400">
                <a:solidFill>
                  <a:srgbClr val="000000"/>
                </a:solidFill>
                <a:latin typeface="Segoe UI"/>
                <a:cs typeface="Segoe UI" pitchFamily="34" charset="0"/>
              </a:rPr>
              <a:t>contract list price to apply towards the cost of Enhanced Solutions.</a:t>
            </a:r>
            <a:endPar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endParaRPr>
          </a:p>
          <a:p>
            <a:pPr marL="285750" indent="-285750" defTabSz="932472" fontAlgn="base">
              <a:spcBef>
                <a:spcPct val="0"/>
              </a:spcBef>
              <a:spcAft>
                <a:spcPts val="600"/>
              </a:spcAft>
              <a:buFont typeface="Arial" panose="020B0604020202020204" pitchFamily="34" charset="0"/>
              <a:buChar char="•"/>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At your next renewal, transition to </a:t>
            </a:r>
            <a:r>
              <a:rPr lang="en-US" sz="1400">
                <a:solidFill>
                  <a:srgbClr val="000000"/>
                </a:solidFill>
                <a:latin typeface="Segoe UI"/>
                <a:cs typeface="Segoe UI"/>
              </a:rPr>
              <a:t>full Unified Enterprise </a:t>
            </a:r>
            <a:r>
              <a:rPr kumimoji="0" lang="en-US" sz="1400" b="0" i="0" u="none" strike="noStrike" kern="1200" cap="none" spc="0" normalizeH="0" baseline="0" noProof="0">
                <a:ln>
                  <a:noFill/>
                </a:ln>
                <a:solidFill>
                  <a:srgbClr val="000000"/>
                </a:solidFill>
                <a:effectLst/>
                <a:uLnTx/>
                <a:uFillTx/>
                <a:latin typeface="Segoe UI"/>
                <a:ea typeface="+mn-ea"/>
                <a:cs typeface="Segoe UI"/>
              </a:rPr>
              <a:t>with coverage for your entire Microsoft portfolio, including other clouds and your on-premise environment</a:t>
            </a:r>
            <a:endParaRPr lang="en-US" sz="1400" b="0" i="0" u="none" strike="noStrike" kern="1200" cap="none" spc="0" normalizeH="0" baseline="0" noProof="0">
              <a:ln>
                <a:noFill/>
              </a:ln>
              <a:solidFill>
                <a:srgbClr val="000000"/>
              </a:solidFill>
              <a:effectLst/>
              <a:uLnTx/>
              <a:uFillTx/>
              <a:latin typeface="Segoe UI"/>
              <a:cs typeface="Segoe UI"/>
            </a:endParaRPr>
          </a:p>
        </p:txBody>
      </p:sp>
      <p:sp>
        <p:nvSpPr>
          <p:cNvPr id="46" name="Oval 45">
            <a:extLst>
              <a:ext uri="{FF2B5EF4-FFF2-40B4-BE49-F238E27FC236}">
                <a16:creationId xmlns:a16="http://schemas.microsoft.com/office/drawing/2014/main" id="{E93FEAE9-D61B-4437-8C7D-1CBFA355C565}"/>
              </a:ext>
            </a:extLst>
          </p:cNvPr>
          <p:cNvSpPr/>
          <p:nvPr/>
        </p:nvSpPr>
        <p:spPr bwMode="auto">
          <a:xfrm>
            <a:off x="5861542" y="3631275"/>
            <a:ext cx="242888" cy="242888"/>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54" name="Oval 53">
            <a:extLst>
              <a:ext uri="{FF2B5EF4-FFF2-40B4-BE49-F238E27FC236}">
                <a16:creationId xmlns:a16="http://schemas.microsoft.com/office/drawing/2014/main" id="{8227E7C4-EF76-474A-B053-14336A53342D}"/>
              </a:ext>
            </a:extLst>
          </p:cNvPr>
          <p:cNvSpPr/>
          <p:nvPr/>
        </p:nvSpPr>
        <p:spPr bwMode="auto">
          <a:xfrm>
            <a:off x="5861542" y="4533108"/>
            <a:ext cx="242888" cy="242888"/>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66" name="Oval 65">
            <a:extLst>
              <a:ext uri="{FF2B5EF4-FFF2-40B4-BE49-F238E27FC236}">
                <a16:creationId xmlns:a16="http://schemas.microsoft.com/office/drawing/2014/main" id="{A54EE6B2-EC02-49EE-88A9-7FFCB35AED4D}"/>
              </a:ext>
            </a:extLst>
          </p:cNvPr>
          <p:cNvSpPr/>
          <p:nvPr/>
        </p:nvSpPr>
        <p:spPr bwMode="auto">
          <a:xfrm>
            <a:off x="5861542" y="5434941"/>
            <a:ext cx="242888" cy="242888"/>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US"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Oval 7">
            <a:extLst>
              <a:ext uri="{FF2B5EF4-FFF2-40B4-BE49-F238E27FC236}">
                <a16:creationId xmlns:a16="http://schemas.microsoft.com/office/drawing/2014/main" id="{AF95D53B-D888-4E9C-9871-57173FE7C53C}"/>
              </a:ext>
            </a:extLst>
          </p:cNvPr>
          <p:cNvSpPr/>
          <p:nvPr/>
        </p:nvSpPr>
        <p:spPr bwMode="auto">
          <a:xfrm>
            <a:off x="658812" y="3349275"/>
            <a:ext cx="460376" cy="46037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7" name="Oval 66">
            <a:extLst>
              <a:ext uri="{FF2B5EF4-FFF2-40B4-BE49-F238E27FC236}">
                <a16:creationId xmlns:a16="http://schemas.microsoft.com/office/drawing/2014/main" id="{CC7026D2-3844-4F66-ACCB-DFFDD114529B}"/>
              </a:ext>
            </a:extLst>
          </p:cNvPr>
          <p:cNvSpPr/>
          <p:nvPr/>
        </p:nvSpPr>
        <p:spPr bwMode="auto">
          <a:xfrm>
            <a:off x="658812" y="4337733"/>
            <a:ext cx="460376" cy="46037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8" name="Oval 67">
            <a:extLst>
              <a:ext uri="{FF2B5EF4-FFF2-40B4-BE49-F238E27FC236}">
                <a16:creationId xmlns:a16="http://schemas.microsoft.com/office/drawing/2014/main" id="{F29FA965-0281-4812-BFC3-BB1D25B4CB01}"/>
              </a:ext>
            </a:extLst>
          </p:cNvPr>
          <p:cNvSpPr/>
          <p:nvPr/>
        </p:nvSpPr>
        <p:spPr bwMode="auto">
          <a:xfrm>
            <a:off x="658812" y="5335816"/>
            <a:ext cx="460376" cy="46037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3" name="Picture 2">
            <a:extLst>
              <a:ext uri="{FF2B5EF4-FFF2-40B4-BE49-F238E27FC236}">
                <a16:creationId xmlns:a16="http://schemas.microsoft.com/office/drawing/2014/main" id="{70811623-26D1-1933-2AA7-7CF35F42A13B}"/>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0541" y="3381003"/>
            <a:ext cx="396918" cy="396919"/>
          </a:xfrm>
          <a:prstGeom prst="rect">
            <a:avLst/>
          </a:prstGeom>
        </p:spPr>
      </p:pic>
      <p:pic>
        <p:nvPicPr>
          <p:cNvPr id="4" name="Picture 3">
            <a:extLst>
              <a:ext uri="{FF2B5EF4-FFF2-40B4-BE49-F238E27FC236}">
                <a16:creationId xmlns:a16="http://schemas.microsoft.com/office/drawing/2014/main" id="{009BA690-3862-E7D2-654E-AE7FA1EB36CB}"/>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0674" y="4337733"/>
            <a:ext cx="414702" cy="414702"/>
          </a:xfrm>
          <a:prstGeom prst="rect">
            <a:avLst/>
          </a:prstGeom>
        </p:spPr>
      </p:pic>
      <p:sp>
        <p:nvSpPr>
          <p:cNvPr id="5" name="Graphic 87">
            <a:extLst>
              <a:ext uri="{FF2B5EF4-FFF2-40B4-BE49-F238E27FC236}">
                <a16:creationId xmlns:a16="http://schemas.microsoft.com/office/drawing/2014/main" id="{76622159-1EDA-5F3C-C479-059ED5C9C6A1}"/>
              </a:ext>
              <a:ext uri="{C183D7F6-B498-43B3-948B-1728B52AA6E4}">
                <adec:decorative xmlns:adec="http://schemas.microsoft.com/office/drawing/2017/decorative" val="1"/>
              </a:ext>
            </a:extLst>
          </p:cNvPr>
          <p:cNvSpPr/>
          <p:nvPr/>
        </p:nvSpPr>
        <p:spPr>
          <a:xfrm>
            <a:off x="752848" y="5367405"/>
            <a:ext cx="270353" cy="372871"/>
          </a:xfrm>
          <a:custGeom>
            <a:avLst/>
            <a:gdLst>
              <a:gd name="connsiteX0" fmla="*/ 98602 w 219958"/>
              <a:gd name="connsiteY0" fmla="*/ 72052 h 303370"/>
              <a:gd name="connsiteX1" fmla="*/ 109979 w 219958"/>
              <a:gd name="connsiteY1" fmla="*/ 60675 h 303370"/>
              <a:gd name="connsiteX2" fmla="*/ 121357 w 219958"/>
              <a:gd name="connsiteY2" fmla="*/ 72052 h 303370"/>
              <a:gd name="connsiteX3" fmla="*/ 121357 w 219958"/>
              <a:gd name="connsiteY3" fmla="*/ 94807 h 303370"/>
              <a:gd name="connsiteX4" fmla="*/ 109979 w 219958"/>
              <a:gd name="connsiteY4" fmla="*/ 106184 h 303370"/>
              <a:gd name="connsiteX5" fmla="*/ 98602 w 219958"/>
              <a:gd name="connsiteY5" fmla="*/ 94807 h 303370"/>
              <a:gd name="connsiteX6" fmla="*/ 98602 w 219958"/>
              <a:gd name="connsiteY6" fmla="*/ 72052 h 303370"/>
              <a:gd name="connsiteX7" fmla="*/ 174910 w 219958"/>
              <a:gd name="connsiteY7" fmla="*/ 94280 h 303370"/>
              <a:gd name="connsiteX8" fmla="*/ 158821 w 219958"/>
              <a:gd name="connsiteY8" fmla="*/ 94280 h 303370"/>
              <a:gd name="connsiteX9" fmla="*/ 142731 w 219958"/>
              <a:gd name="connsiteY9" fmla="*/ 110370 h 303370"/>
              <a:gd name="connsiteX10" fmla="*/ 142731 w 219958"/>
              <a:gd name="connsiteY10" fmla="*/ 126460 h 303370"/>
              <a:gd name="connsiteX11" fmla="*/ 158821 w 219958"/>
              <a:gd name="connsiteY11" fmla="*/ 126460 h 303370"/>
              <a:gd name="connsiteX12" fmla="*/ 174910 w 219958"/>
              <a:gd name="connsiteY12" fmla="*/ 110370 h 303370"/>
              <a:gd name="connsiteX13" fmla="*/ 174910 w 219958"/>
              <a:gd name="connsiteY13" fmla="*/ 94280 h 303370"/>
              <a:gd name="connsiteX14" fmla="*/ 61138 w 219958"/>
              <a:gd name="connsiteY14" fmla="*/ 94280 h 303370"/>
              <a:gd name="connsiteX15" fmla="*/ 45049 w 219958"/>
              <a:gd name="connsiteY15" fmla="*/ 94280 h 303370"/>
              <a:gd name="connsiteX16" fmla="*/ 45049 w 219958"/>
              <a:gd name="connsiteY16" fmla="*/ 110370 h 303370"/>
              <a:gd name="connsiteX17" fmla="*/ 61139 w 219958"/>
              <a:gd name="connsiteY17" fmla="*/ 126460 h 303370"/>
              <a:gd name="connsiteX18" fmla="*/ 77228 w 219958"/>
              <a:gd name="connsiteY18" fmla="*/ 126460 h 303370"/>
              <a:gd name="connsiteX19" fmla="*/ 77228 w 219958"/>
              <a:gd name="connsiteY19" fmla="*/ 110370 h 303370"/>
              <a:gd name="connsiteX20" fmla="*/ 61138 w 219958"/>
              <a:gd name="connsiteY20" fmla="*/ 94280 h 303370"/>
              <a:gd name="connsiteX21" fmla="*/ 109979 w 219958"/>
              <a:gd name="connsiteY21" fmla="*/ 0 h 303370"/>
              <a:gd name="connsiteX22" fmla="*/ 219959 w 219958"/>
              <a:gd name="connsiteY22" fmla="*/ 109979 h 303370"/>
              <a:gd name="connsiteX23" fmla="*/ 179561 w 219958"/>
              <a:gd name="connsiteY23" fmla="*/ 197082 h 303370"/>
              <a:gd name="connsiteX24" fmla="*/ 176905 w 219958"/>
              <a:gd name="connsiteY24" fmla="*/ 201107 h 303370"/>
              <a:gd name="connsiteX25" fmla="*/ 176428 w 219958"/>
              <a:gd name="connsiteY25" fmla="*/ 202658 h 303370"/>
              <a:gd name="connsiteX26" fmla="*/ 159270 w 219958"/>
              <a:gd name="connsiteY26" fmla="*/ 276923 h 303370"/>
              <a:gd name="connsiteX27" fmla="*/ 128641 w 219958"/>
              <a:gd name="connsiteY27" fmla="*/ 303271 h 303370"/>
              <a:gd name="connsiteX28" fmla="*/ 126014 w 219958"/>
              <a:gd name="connsiteY28" fmla="*/ 303371 h 303370"/>
              <a:gd name="connsiteX29" fmla="*/ 93950 w 219958"/>
              <a:gd name="connsiteY29" fmla="*/ 303371 h 303370"/>
              <a:gd name="connsiteX30" fmla="*/ 61381 w 219958"/>
              <a:gd name="connsiteY30" fmla="*/ 279451 h 303370"/>
              <a:gd name="connsiteX31" fmla="*/ 60692 w 219958"/>
              <a:gd name="connsiteY31" fmla="*/ 276913 h 303370"/>
              <a:gd name="connsiteX32" fmla="*/ 43557 w 219958"/>
              <a:gd name="connsiteY32" fmla="*/ 202661 h 303370"/>
              <a:gd name="connsiteX33" fmla="*/ 40420 w 219958"/>
              <a:gd name="connsiteY33" fmla="*/ 197081 h 303370"/>
              <a:gd name="connsiteX34" fmla="*/ 93 w 219958"/>
              <a:gd name="connsiteY34" fmla="*/ 114504 h 303370"/>
              <a:gd name="connsiteX35" fmla="*/ 0 w 219958"/>
              <a:gd name="connsiteY35" fmla="*/ 109979 h 303370"/>
              <a:gd name="connsiteX36" fmla="*/ 59 w 219958"/>
              <a:gd name="connsiteY36" fmla="*/ 106349 h 303370"/>
              <a:gd name="connsiteX37" fmla="*/ 109979 w 219958"/>
              <a:gd name="connsiteY37" fmla="*/ 0 h 303370"/>
              <a:gd name="connsiteX38" fmla="*/ 142063 w 219958"/>
              <a:gd name="connsiteY38" fmla="*/ 250268 h 303370"/>
              <a:gd name="connsiteX39" fmla="*/ 77881 w 219958"/>
              <a:gd name="connsiteY39" fmla="*/ 250268 h 303370"/>
              <a:gd name="connsiteX40" fmla="*/ 82864 w 219958"/>
              <a:gd name="connsiteY40" fmla="*/ 271797 h 303370"/>
              <a:gd name="connsiteX41" fmla="*/ 92384 w 219958"/>
              <a:gd name="connsiteY41" fmla="*/ 280509 h 303370"/>
              <a:gd name="connsiteX42" fmla="*/ 93950 w 219958"/>
              <a:gd name="connsiteY42" fmla="*/ 280616 h 303370"/>
              <a:gd name="connsiteX43" fmla="*/ 126014 w 219958"/>
              <a:gd name="connsiteY43" fmla="*/ 280616 h 303370"/>
              <a:gd name="connsiteX44" fmla="*/ 136643 w 219958"/>
              <a:gd name="connsiteY44" fmla="*/ 273302 h 303370"/>
              <a:gd name="connsiteX45" fmla="*/ 137100 w 219958"/>
              <a:gd name="connsiteY45" fmla="*/ 271800 h 303370"/>
              <a:gd name="connsiteX46" fmla="*/ 142063 w 219958"/>
              <a:gd name="connsiteY46" fmla="*/ 250268 h 303370"/>
              <a:gd name="connsiteX47" fmla="*/ 109979 w 219958"/>
              <a:gd name="connsiteY47" fmla="*/ 22754 h 303370"/>
              <a:gd name="connsiteX48" fmla="*/ 22817 w 219958"/>
              <a:gd name="connsiteY48" fmla="*/ 106634 h 303370"/>
              <a:gd name="connsiteX49" fmla="*/ 22754 w 219958"/>
              <a:gd name="connsiteY49" fmla="*/ 109979 h 303370"/>
              <a:gd name="connsiteX50" fmla="*/ 22856 w 219958"/>
              <a:gd name="connsiteY50" fmla="*/ 114182 h 303370"/>
              <a:gd name="connsiteX51" fmla="*/ 56319 w 219958"/>
              <a:gd name="connsiteY51" fmla="*/ 180802 h 303370"/>
              <a:gd name="connsiteX52" fmla="*/ 64990 w 219958"/>
              <a:gd name="connsiteY52" fmla="*/ 194854 h 303370"/>
              <a:gd name="connsiteX53" fmla="*/ 65728 w 219958"/>
              <a:gd name="connsiteY53" fmla="*/ 197546 h 303370"/>
              <a:gd name="connsiteX54" fmla="*/ 72632 w 219958"/>
              <a:gd name="connsiteY54" fmla="*/ 227514 h 303370"/>
              <a:gd name="connsiteX55" fmla="*/ 98602 w 219958"/>
              <a:gd name="connsiteY55" fmla="*/ 227514 h 303370"/>
              <a:gd name="connsiteX56" fmla="*/ 98602 w 219958"/>
              <a:gd name="connsiteY56" fmla="*/ 132724 h 303370"/>
              <a:gd name="connsiteX57" fmla="*/ 109979 w 219958"/>
              <a:gd name="connsiteY57" fmla="*/ 121346 h 303370"/>
              <a:gd name="connsiteX58" fmla="*/ 121357 w 219958"/>
              <a:gd name="connsiteY58" fmla="*/ 132724 h 303370"/>
              <a:gd name="connsiteX59" fmla="*/ 121357 w 219958"/>
              <a:gd name="connsiteY59" fmla="*/ 227514 h 303370"/>
              <a:gd name="connsiteX60" fmla="*/ 147312 w 219958"/>
              <a:gd name="connsiteY60" fmla="*/ 227514 h 303370"/>
              <a:gd name="connsiteX61" fmla="*/ 154258 w 219958"/>
              <a:gd name="connsiteY61" fmla="*/ 197536 h 303370"/>
              <a:gd name="connsiteX62" fmla="*/ 161744 w 219958"/>
              <a:gd name="connsiteY62" fmla="*/ 182838 h 303370"/>
              <a:gd name="connsiteX63" fmla="*/ 163659 w 219958"/>
              <a:gd name="connsiteY63" fmla="*/ 180808 h 303370"/>
              <a:gd name="connsiteX64" fmla="*/ 197103 w 219958"/>
              <a:gd name="connsiteY64" fmla="*/ 114182 h 303370"/>
              <a:gd name="connsiteX65" fmla="*/ 197205 w 219958"/>
              <a:gd name="connsiteY65" fmla="*/ 109979 h 303370"/>
              <a:gd name="connsiteX66" fmla="*/ 197141 w 219958"/>
              <a:gd name="connsiteY66" fmla="*/ 106634 h 303370"/>
              <a:gd name="connsiteX67" fmla="*/ 109979 w 219958"/>
              <a:gd name="connsiteY67" fmla="*/ 22754 h 30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19958" h="303370">
                <a:moveTo>
                  <a:pt x="98602" y="72052"/>
                </a:moveTo>
                <a:cubicBezTo>
                  <a:pt x="98602" y="65768"/>
                  <a:pt x="103696" y="60675"/>
                  <a:pt x="109979" y="60675"/>
                </a:cubicBezTo>
                <a:cubicBezTo>
                  <a:pt x="116263" y="60675"/>
                  <a:pt x="121357" y="65768"/>
                  <a:pt x="121357" y="72052"/>
                </a:cubicBezTo>
                <a:lnTo>
                  <a:pt x="121357" y="94807"/>
                </a:lnTo>
                <a:cubicBezTo>
                  <a:pt x="121357" y="101090"/>
                  <a:pt x="116263" y="106184"/>
                  <a:pt x="109979" y="106184"/>
                </a:cubicBezTo>
                <a:cubicBezTo>
                  <a:pt x="103696" y="106184"/>
                  <a:pt x="98602" y="101090"/>
                  <a:pt x="98602" y="94807"/>
                </a:cubicBezTo>
                <a:lnTo>
                  <a:pt x="98602" y="72052"/>
                </a:lnTo>
                <a:close/>
                <a:moveTo>
                  <a:pt x="174910" y="94280"/>
                </a:moveTo>
                <a:cubicBezTo>
                  <a:pt x="170467" y="89837"/>
                  <a:pt x="163264" y="89837"/>
                  <a:pt x="158821" y="94280"/>
                </a:cubicBezTo>
                <a:lnTo>
                  <a:pt x="142731" y="110370"/>
                </a:lnTo>
                <a:cubicBezTo>
                  <a:pt x="138287" y="114813"/>
                  <a:pt x="138287" y="122017"/>
                  <a:pt x="142731" y="126460"/>
                </a:cubicBezTo>
                <a:cubicBezTo>
                  <a:pt x="147174" y="130903"/>
                  <a:pt x="154378" y="130903"/>
                  <a:pt x="158821" y="126460"/>
                </a:cubicBezTo>
                <a:lnTo>
                  <a:pt x="174910" y="110370"/>
                </a:lnTo>
                <a:cubicBezTo>
                  <a:pt x="179353" y="105927"/>
                  <a:pt x="179353" y="98723"/>
                  <a:pt x="174910" y="94280"/>
                </a:cubicBezTo>
                <a:close/>
                <a:moveTo>
                  <a:pt x="61138" y="94280"/>
                </a:moveTo>
                <a:cubicBezTo>
                  <a:pt x="56695" y="89837"/>
                  <a:pt x="49492" y="89837"/>
                  <a:pt x="45049" y="94280"/>
                </a:cubicBezTo>
                <a:cubicBezTo>
                  <a:pt x="40605" y="98723"/>
                  <a:pt x="40605" y="105927"/>
                  <a:pt x="45049" y="110370"/>
                </a:cubicBezTo>
                <a:lnTo>
                  <a:pt x="61139" y="126460"/>
                </a:lnTo>
                <a:cubicBezTo>
                  <a:pt x="65582" y="130903"/>
                  <a:pt x="72785" y="130903"/>
                  <a:pt x="77228" y="126460"/>
                </a:cubicBezTo>
                <a:cubicBezTo>
                  <a:pt x="81672" y="122017"/>
                  <a:pt x="81672" y="114813"/>
                  <a:pt x="77228" y="110370"/>
                </a:cubicBezTo>
                <a:lnTo>
                  <a:pt x="61138" y="94280"/>
                </a:lnTo>
                <a:close/>
                <a:moveTo>
                  <a:pt x="109979" y="0"/>
                </a:moveTo>
                <a:cubicBezTo>
                  <a:pt x="170720" y="0"/>
                  <a:pt x="219959" y="49239"/>
                  <a:pt x="219959" y="109979"/>
                </a:cubicBezTo>
                <a:cubicBezTo>
                  <a:pt x="219959" y="141775"/>
                  <a:pt x="206296" y="170957"/>
                  <a:pt x="179561" y="197082"/>
                </a:cubicBezTo>
                <a:cubicBezTo>
                  <a:pt x="178394" y="198223"/>
                  <a:pt x="177490" y="199596"/>
                  <a:pt x="176905" y="201107"/>
                </a:cubicBezTo>
                <a:lnTo>
                  <a:pt x="176428" y="202658"/>
                </a:lnTo>
                <a:lnTo>
                  <a:pt x="159270" y="276923"/>
                </a:lnTo>
                <a:cubicBezTo>
                  <a:pt x="155892" y="291545"/>
                  <a:pt x="143406" y="302137"/>
                  <a:pt x="128641" y="303271"/>
                </a:cubicBezTo>
                <a:lnTo>
                  <a:pt x="126014" y="303371"/>
                </a:lnTo>
                <a:lnTo>
                  <a:pt x="93950" y="303371"/>
                </a:lnTo>
                <a:cubicBezTo>
                  <a:pt x="78939" y="303371"/>
                  <a:pt x="65804" y="293585"/>
                  <a:pt x="61381" y="279451"/>
                </a:cubicBezTo>
                <a:lnTo>
                  <a:pt x="60692" y="276913"/>
                </a:lnTo>
                <a:lnTo>
                  <a:pt x="43557" y="202661"/>
                </a:lnTo>
                <a:cubicBezTo>
                  <a:pt x="43067" y="200539"/>
                  <a:pt x="41978" y="198602"/>
                  <a:pt x="40420" y="197081"/>
                </a:cubicBezTo>
                <a:cubicBezTo>
                  <a:pt x="14944" y="172199"/>
                  <a:pt x="1332" y="144547"/>
                  <a:pt x="93" y="114504"/>
                </a:cubicBezTo>
                <a:lnTo>
                  <a:pt x="0" y="109979"/>
                </a:lnTo>
                <a:lnTo>
                  <a:pt x="59" y="106349"/>
                </a:lnTo>
                <a:cubicBezTo>
                  <a:pt x="1974" y="47290"/>
                  <a:pt x="50454" y="0"/>
                  <a:pt x="109979" y="0"/>
                </a:cubicBezTo>
                <a:close/>
                <a:moveTo>
                  <a:pt x="142063" y="250268"/>
                </a:moveTo>
                <a:lnTo>
                  <a:pt x="77881" y="250268"/>
                </a:lnTo>
                <a:lnTo>
                  <a:pt x="82864" y="271797"/>
                </a:lnTo>
                <a:cubicBezTo>
                  <a:pt x="83935" y="276443"/>
                  <a:pt x="87767" y="279870"/>
                  <a:pt x="92384" y="280509"/>
                </a:cubicBezTo>
                <a:lnTo>
                  <a:pt x="93950" y="280616"/>
                </a:lnTo>
                <a:lnTo>
                  <a:pt x="126014" y="280616"/>
                </a:lnTo>
                <a:cubicBezTo>
                  <a:pt x="130782" y="280616"/>
                  <a:pt x="134980" y="277655"/>
                  <a:pt x="136643" y="273302"/>
                </a:cubicBezTo>
                <a:lnTo>
                  <a:pt x="137100" y="271800"/>
                </a:lnTo>
                <a:lnTo>
                  <a:pt x="142063" y="250268"/>
                </a:lnTo>
                <a:close/>
                <a:moveTo>
                  <a:pt x="109979" y="22754"/>
                </a:moveTo>
                <a:cubicBezTo>
                  <a:pt x="62927" y="22754"/>
                  <a:pt x="24576" y="60011"/>
                  <a:pt x="22817" y="106634"/>
                </a:cubicBezTo>
                <a:lnTo>
                  <a:pt x="22754" y="109979"/>
                </a:lnTo>
                <a:lnTo>
                  <a:pt x="22856" y="114182"/>
                </a:lnTo>
                <a:cubicBezTo>
                  <a:pt x="24011" y="137896"/>
                  <a:pt x="35000" y="159980"/>
                  <a:pt x="56319" y="180802"/>
                </a:cubicBezTo>
                <a:cubicBezTo>
                  <a:pt x="60326" y="184716"/>
                  <a:pt x="63297" y="189544"/>
                  <a:pt x="64990" y="194854"/>
                </a:cubicBezTo>
                <a:lnTo>
                  <a:pt x="65728" y="197546"/>
                </a:lnTo>
                <a:lnTo>
                  <a:pt x="72632" y="227514"/>
                </a:lnTo>
                <a:lnTo>
                  <a:pt x="98602" y="227514"/>
                </a:lnTo>
                <a:lnTo>
                  <a:pt x="98602" y="132724"/>
                </a:lnTo>
                <a:cubicBezTo>
                  <a:pt x="98602" y="126440"/>
                  <a:pt x="103696" y="121346"/>
                  <a:pt x="109979" y="121346"/>
                </a:cubicBezTo>
                <a:cubicBezTo>
                  <a:pt x="116263" y="121346"/>
                  <a:pt x="121357" y="126440"/>
                  <a:pt x="121357" y="132724"/>
                </a:cubicBezTo>
                <a:lnTo>
                  <a:pt x="121357" y="227514"/>
                </a:lnTo>
                <a:lnTo>
                  <a:pt x="147312" y="227514"/>
                </a:lnTo>
                <a:lnTo>
                  <a:pt x="154258" y="197536"/>
                </a:lnTo>
                <a:cubicBezTo>
                  <a:pt x="155517" y="192084"/>
                  <a:pt x="158094" y="187040"/>
                  <a:pt x="161744" y="182838"/>
                </a:cubicBezTo>
                <a:lnTo>
                  <a:pt x="163659" y="180808"/>
                </a:lnTo>
                <a:cubicBezTo>
                  <a:pt x="184966" y="159986"/>
                  <a:pt x="195949" y="137901"/>
                  <a:pt x="197103" y="114182"/>
                </a:cubicBezTo>
                <a:lnTo>
                  <a:pt x="197205" y="109979"/>
                </a:lnTo>
                <a:lnTo>
                  <a:pt x="197141" y="106634"/>
                </a:lnTo>
                <a:cubicBezTo>
                  <a:pt x="195383" y="60011"/>
                  <a:pt x="157033" y="22754"/>
                  <a:pt x="109979" y="22754"/>
                </a:cubicBezTo>
                <a:close/>
              </a:path>
            </a:pathLst>
          </a:custGeom>
          <a:solidFill>
            <a:schemeClr val="tx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3684637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B948C-E9FD-EBF2-8588-FF5B58817203}"/>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30E1FD8B-6824-4373-0CE9-16732587696A}"/>
              </a:ext>
              <a:ext uri="{C183D7F6-B498-43B3-948B-1728B52AA6E4}">
                <adec:decorative xmlns:adec="http://schemas.microsoft.com/office/drawing/2017/decorative" val="1"/>
              </a:ext>
            </a:extLst>
          </p:cNvPr>
          <p:cNvSpPr>
            <a:spLocks/>
          </p:cNvSpPr>
          <p:nvPr/>
        </p:nvSpPr>
        <p:spPr bwMode="auto">
          <a:xfrm>
            <a:off x="486389" y="2397716"/>
            <a:ext cx="5903778" cy="3784419"/>
          </a:xfrm>
          <a:prstGeom prst="roundRect">
            <a:avLst>
              <a:gd name="adj" fmla="val 2200"/>
            </a:avLst>
          </a:prstGeom>
          <a:solidFill>
            <a:schemeClr val="bg1"/>
          </a:solidFill>
          <a:ln w="6350">
            <a:no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 name="Title 3">
            <a:extLst>
              <a:ext uri="{FF2B5EF4-FFF2-40B4-BE49-F238E27FC236}">
                <a16:creationId xmlns:a16="http://schemas.microsoft.com/office/drawing/2014/main" id="{3C865C2A-5C51-5341-EAE2-423DE010B186}"/>
              </a:ext>
            </a:extLst>
          </p:cNvPr>
          <p:cNvSpPr>
            <a:spLocks noGrp="1"/>
          </p:cNvSpPr>
          <p:nvPr>
            <p:ph type="title"/>
          </p:nvPr>
        </p:nvSpPr>
        <p:spPr>
          <a:xfrm>
            <a:off x="486388" y="381031"/>
            <a:ext cx="11018520" cy="553998"/>
          </a:xfrm>
        </p:spPr>
        <p:txBody>
          <a:bodyPr/>
          <a:lstStyle/>
          <a:p>
            <a:r>
              <a:rPr lang="en-US"/>
              <a:t>Graduated pricing rates for Azure</a:t>
            </a:r>
          </a:p>
        </p:txBody>
      </p:sp>
      <p:sp>
        <p:nvSpPr>
          <p:cNvPr id="2" name="Text Placeholder 1">
            <a:extLst>
              <a:ext uri="{FF2B5EF4-FFF2-40B4-BE49-F238E27FC236}">
                <a16:creationId xmlns:a16="http://schemas.microsoft.com/office/drawing/2014/main" id="{952D46C9-D9AC-4A25-EFF1-750613926CFD}"/>
              </a:ext>
            </a:extLst>
          </p:cNvPr>
          <p:cNvSpPr>
            <a:spLocks noGrp="1"/>
          </p:cNvSpPr>
          <p:nvPr>
            <p:ph type="body" sz="quarter" idx="12"/>
          </p:nvPr>
        </p:nvSpPr>
        <p:spPr>
          <a:xfrm>
            <a:off x="495108" y="1095868"/>
            <a:ext cx="11018520" cy="492443"/>
          </a:xfrm>
        </p:spPr>
        <p:txBody>
          <a:bodyPr/>
          <a:lstStyle/>
          <a:p>
            <a:r>
              <a:rPr lang="en-US"/>
              <a:t>The cost of your Unified Bridge agreement is based on a percentage of your historical annual product spend, using graduated pricing rates. </a:t>
            </a:r>
          </a:p>
        </p:txBody>
      </p:sp>
      <p:cxnSp>
        <p:nvCxnSpPr>
          <p:cNvPr id="19" name="Straight Connector 18">
            <a:extLst>
              <a:ext uri="{FF2B5EF4-FFF2-40B4-BE49-F238E27FC236}">
                <a16:creationId xmlns:a16="http://schemas.microsoft.com/office/drawing/2014/main" id="{793E1413-516A-1CB2-7298-CBC35ADA7028}"/>
              </a:ext>
            </a:extLst>
          </p:cNvPr>
          <p:cNvCxnSpPr>
            <a:cxnSpLocks/>
          </p:cNvCxnSpPr>
          <p:nvPr/>
        </p:nvCxnSpPr>
        <p:spPr>
          <a:xfrm>
            <a:off x="580114" y="6423498"/>
            <a:ext cx="11017250" cy="0"/>
          </a:xfrm>
          <a:prstGeom prst="line">
            <a:avLst/>
          </a:prstGeom>
          <a:ln w="127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CF321E4-9D86-89EB-6F4E-910953680F39}"/>
              </a:ext>
            </a:extLst>
          </p:cNvPr>
          <p:cNvSpPr/>
          <p:nvPr/>
        </p:nvSpPr>
        <p:spPr bwMode="auto">
          <a:xfrm>
            <a:off x="7910879" y="1812316"/>
            <a:ext cx="2190472"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243A5E"/>
                </a:solidFill>
                <a:effectLst/>
                <a:uLnTx/>
                <a:uFillTx/>
                <a:latin typeface="Segoe UI Semibold"/>
                <a:ea typeface="+mn-ea"/>
                <a:cs typeface="Segoe UI Semibold" panose="020B0702040204020203" pitchFamily="34" charset="0"/>
              </a:rPr>
              <a:t>Graduated pricing rates</a:t>
            </a:r>
          </a:p>
        </p:txBody>
      </p:sp>
      <p:cxnSp>
        <p:nvCxnSpPr>
          <p:cNvPr id="6" name="Straight Connector 5">
            <a:extLst>
              <a:ext uri="{FF2B5EF4-FFF2-40B4-BE49-F238E27FC236}">
                <a16:creationId xmlns:a16="http://schemas.microsoft.com/office/drawing/2014/main" id="{0A11A09C-17DC-90E5-DF8B-0EC370117A73}"/>
              </a:ext>
            </a:extLst>
          </p:cNvPr>
          <p:cNvCxnSpPr>
            <a:cxnSpLocks/>
          </p:cNvCxnSpPr>
          <p:nvPr/>
        </p:nvCxnSpPr>
        <p:spPr>
          <a:xfrm>
            <a:off x="587371" y="2131627"/>
            <a:ext cx="11017250" cy="0"/>
          </a:xfrm>
          <a:prstGeom prst="line">
            <a:avLst/>
          </a:prstGeom>
          <a:ln w="127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aphicFrame>
        <p:nvGraphicFramePr>
          <p:cNvPr id="11" name="Table 6">
            <a:extLst>
              <a:ext uri="{FF2B5EF4-FFF2-40B4-BE49-F238E27FC236}">
                <a16:creationId xmlns:a16="http://schemas.microsoft.com/office/drawing/2014/main" id="{E7EE3D82-F14E-AC0C-44B8-C225F059827E}"/>
              </a:ext>
            </a:extLst>
          </p:cNvPr>
          <p:cNvGraphicFramePr>
            <a:graphicFrameLocks noGrp="1"/>
          </p:cNvGraphicFramePr>
          <p:nvPr/>
        </p:nvGraphicFramePr>
        <p:xfrm>
          <a:off x="6728346" y="2397715"/>
          <a:ext cx="4490193" cy="3784421"/>
        </p:xfrm>
        <a:graphic>
          <a:graphicData uri="http://schemas.openxmlformats.org/drawingml/2006/table">
            <a:tbl>
              <a:tblPr firstRow="1" bandRow="1"/>
              <a:tblGrid>
                <a:gridCol w="2486516">
                  <a:extLst>
                    <a:ext uri="{9D8B030D-6E8A-4147-A177-3AD203B41FA5}">
                      <a16:colId xmlns:a16="http://schemas.microsoft.com/office/drawing/2014/main" val="1071008568"/>
                    </a:ext>
                  </a:extLst>
                </a:gridCol>
                <a:gridCol w="2003677">
                  <a:extLst>
                    <a:ext uri="{9D8B030D-6E8A-4147-A177-3AD203B41FA5}">
                      <a16:colId xmlns:a16="http://schemas.microsoft.com/office/drawing/2014/main" val="831528375"/>
                    </a:ext>
                  </a:extLst>
                </a:gridCol>
              </a:tblGrid>
              <a:tr h="543677">
                <a:tc>
                  <a:txBody>
                    <a:bodyPr/>
                    <a:lstStyle/>
                    <a:p>
                      <a:pPr marL="0" marR="0" lvl="0" indent="0" algn="ctr" defTabSz="457200" rtl="0" eaLnBrk="1" fontAlgn="ctr" latinLnBrk="0" hangingPunct="1">
                        <a:lnSpc>
                          <a:spcPct val="100000"/>
                        </a:lnSpc>
                        <a:spcBef>
                          <a:spcPts val="100"/>
                        </a:spcBef>
                        <a:spcAft>
                          <a:spcPts val="100"/>
                        </a:spcAft>
                        <a:buClrTx/>
                        <a:buSzTx/>
                        <a:buFontTx/>
                        <a:buNone/>
                        <a:tabLst/>
                        <a:defRPr/>
                      </a:pPr>
                      <a:r>
                        <a:rPr kumimoji="0" lang="en-US" sz="1600" b="0" i="0" u="none" strike="noStrike" kern="0" cap="none" spc="0" normalizeH="0" baseline="0" noProof="0">
                          <a:ln>
                            <a:noFill/>
                          </a:ln>
                          <a:solidFill>
                            <a:srgbClr val="243A5E"/>
                          </a:solidFill>
                          <a:effectLst/>
                          <a:uLnTx/>
                          <a:uFillTx/>
                          <a:latin typeface="+mj-lt"/>
                          <a:ea typeface="+mn-ea"/>
                          <a:cs typeface="+mn-cs"/>
                        </a:rPr>
                        <a:t>Annual spend</a:t>
                      </a:r>
                    </a:p>
                  </a:txBody>
                  <a:tcPr marL="62345" marR="62345" marT="31173" marB="31173"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243A5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472" rtl="0" eaLnBrk="1" fontAlgn="base" latinLnBrk="0" hangingPunct="1">
                        <a:lnSpc>
                          <a:spcPct val="100000"/>
                        </a:lnSpc>
                        <a:spcBef>
                          <a:spcPts val="100"/>
                        </a:spcBef>
                        <a:spcAft>
                          <a:spcPts val="100"/>
                        </a:spcAft>
                        <a:buClrTx/>
                        <a:buSzTx/>
                        <a:buFontTx/>
                        <a:buNone/>
                        <a:tabLst/>
                        <a:defRPr/>
                      </a:pPr>
                      <a:r>
                        <a:rPr kumimoji="0" lang="en-US" sz="1600" b="0" i="0" u="none" strike="noStrike" kern="1200" cap="none" spc="0" normalizeH="0" baseline="0" noProof="0">
                          <a:ln>
                            <a:noFill/>
                          </a:ln>
                          <a:solidFill>
                            <a:srgbClr val="464646"/>
                          </a:solidFill>
                          <a:effectLst/>
                          <a:uLnTx/>
                          <a:uFillTx/>
                          <a:latin typeface="+mn-lt"/>
                          <a:ea typeface="Segoe UI" pitchFamily="34" charset="0"/>
                          <a:cs typeface="Segoe UI Semibold" panose="020B0702040204020203" pitchFamily="34" charset="0"/>
                        </a:rPr>
                        <a:t>Rate by tier</a:t>
                      </a:r>
                    </a:p>
                  </a:txBody>
                  <a:tcPr marL="62345" marR="62345" marT="31173" marB="31173"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243A5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4375415"/>
                  </a:ext>
                </a:extLst>
              </a:tr>
              <a:tr h="405093">
                <a:tc>
                  <a:txBody>
                    <a:bodyPr/>
                    <a:lstStyle>
                      <a:lvl1pPr marL="0" algn="l" defTabSz="932205" rtl="0" eaLnBrk="1" latinLnBrk="0" hangingPunct="1">
                        <a:defRPr sz="1800" kern="1200">
                          <a:solidFill>
                            <a:schemeClr val="dk1"/>
                          </a:solidFill>
                          <a:latin typeface="Segoe UI"/>
                        </a:defRPr>
                      </a:lvl1pPr>
                      <a:lvl2pPr marL="466101" algn="l" defTabSz="932205" rtl="0" eaLnBrk="1" latinLnBrk="0" hangingPunct="1">
                        <a:defRPr sz="1800" kern="1200">
                          <a:solidFill>
                            <a:schemeClr val="dk1"/>
                          </a:solidFill>
                          <a:latin typeface="Segoe UI"/>
                        </a:defRPr>
                      </a:lvl2pPr>
                      <a:lvl3pPr marL="932205" algn="l" defTabSz="932205" rtl="0" eaLnBrk="1" latinLnBrk="0" hangingPunct="1">
                        <a:defRPr sz="1800" kern="1200">
                          <a:solidFill>
                            <a:schemeClr val="dk1"/>
                          </a:solidFill>
                          <a:latin typeface="Segoe UI"/>
                        </a:defRPr>
                      </a:lvl3pPr>
                      <a:lvl4pPr marL="1398307" algn="l" defTabSz="932205" rtl="0" eaLnBrk="1" latinLnBrk="0" hangingPunct="1">
                        <a:defRPr sz="1800" kern="1200">
                          <a:solidFill>
                            <a:schemeClr val="dk1"/>
                          </a:solidFill>
                          <a:latin typeface="Segoe UI"/>
                        </a:defRPr>
                      </a:lvl4pPr>
                      <a:lvl5pPr marL="1864410" algn="l" defTabSz="932205" rtl="0" eaLnBrk="1" latinLnBrk="0" hangingPunct="1">
                        <a:defRPr sz="1800" kern="1200">
                          <a:solidFill>
                            <a:schemeClr val="dk1"/>
                          </a:solidFill>
                          <a:latin typeface="Segoe UI"/>
                        </a:defRPr>
                      </a:lvl5pPr>
                      <a:lvl6pPr marL="2330512" algn="l" defTabSz="932205" rtl="0" eaLnBrk="1" latinLnBrk="0" hangingPunct="1">
                        <a:defRPr sz="1800" kern="1200">
                          <a:solidFill>
                            <a:schemeClr val="dk1"/>
                          </a:solidFill>
                          <a:latin typeface="Segoe UI"/>
                        </a:defRPr>
                      </a:lvl6pPr>
                      <a:lvl7pPr marL="2796615" algn="l" defTabSz="932205" rtl="0" eaLnBrk="1" latinLnBrk="0" hangingPunct="1">
                        <a:defRPr sz="1800" kern="1200">
                          <a:solidFill>
                            <a:schemeClr val="dk1"/>
                          </a:solidFill>
                          <a:latin typeface="Segoe UI"/>
                        </a:defRPr>
                      </a:lvl7pPr>
                      <a:lvl8pPr marL="3262716" algn="l" defTabSz="932205" rtl="0" eaLnBrk="1" latinLnBrk="0" hangingPunct="1">
                        <a:defRPr sz="1800" kern="1200">
                          <a:solidFill>
                            <a:schemeClr val="dk1"/>
                          </a:solidFill>
                          <a:latin typeface="Segoe UI"/>
                        </a:defRPr>
                      </a:lvl8pPr>
                      <a:lvl9pPr marL="3728821" algn="l" defTabSz="932205" rtl="0" eaLnBrk="1" latinLnBrk="0" hangingPunct="1">
                        <a:defRPr sz="1800" kern="1200">
                          <a:solidFill>
                            <a:schemeClr val="dk1"/>
                          </a:solidFill>
                          <a:latin typeface="Segoe UI"/>
                        </a:defRPr>
                      </a:lvl9pPr>
                    </a:lstStyle>
                    <a:p>
                      <a:pPr marL="0" marR="0" algn="ctr" fontAlgn="ctr">
                        <a:spcBef>
                          <a:spcPts val="0"/>
                        </a:spcBef>
                        <a:spcAft>
                          <a:spcPts val="0"/>
                        </a:spcAft>
                      </a:pPr>
                      <a:r>
                        <a:rPr lang="en-GB" sz="1600">
                          <a:solidFill>
                            <a:srgbClr val="464646"/>
                          </a:solidFill>
                          <a:effectLst/>
                          <a:latin typeface="+mn-lt"/>
                          <a:ea typeface="Calibri" panose="020F0502020204030204" pitchFamily="34" charset="0"/>
                        </a:rPr>
                        <a:t>$0 to $1.8M</a:t>
                      </a:r>
                      <a:endParaRPr lang="en-US" sz="1600">
                        <a:solidFill>
                          <a:srgbClr val="464646"/>
                        </a:solidFill>
                        <a:effectLst/>
                        <a:latin typeface="+mn-lt"/>
                        <a:ea typeface="Calibri" panose="020F0502020204030204" pitchFamily="34" charset="0"/>
                      </a:endParaRP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205" rtl="0" eaLnBrk="1" latinLnBrk="0" hangingPunct="1">
                        <a:defRPr sz="1800" kern="1200">
                          <a:solidFill>
                            <a:schemeClr val="dk1"/>
                          </a:solidFill>
                          <a:latin typeface="Segoe UI"/>
                        </a:defRPr>
                      </a:lvl1pPr>
                      <a:lvl2pPr marL="466101" algn="l" defTabSz="932205" rtl="0" eaLnBrk="1" latinLnBrk="0" hangingPunct="1">
                        <a:defRPr sz="1800" kern="1200">
                          <a:solidFill>
                            <a:schemeClr val="dk1"/>
                          </a:solidFill>
                          <a:latin typeface="Segoe UI"/>
                        </a:defRPr>
                      </a:lvl2pPr>
                      <a:lvl3pPr marL="932205" algn="l" defTabSz="932205" rtl="0" eaLnBrk="1" latinLnBrk="0" hangingPunct="1">
                        <a:defRPr sz="1800" kern="1200">
                          <a:solidFill>
                            <a:schemeClr val="dk1"/>
                          </a:solidFill>
                          <a:latin typeface="Segoe UI"/>
                        </a:defRPr>
                      </a:lvl3pPr>
                      <a:lvl4pPr marL="1398307" algn="l" defTabSz="932205" rtl="0" eaLnBrk="1" latinLnBrk="0" hangingPunct="1">
                        <a:defRPr sz="1800" kern="1200">
                          <a:solidFill>
                            <a:schemeClr val="dk1"/>
                          </a:solidFill>
                          <a:latin typeface="Segoe UI"/>
                        </a:defRPr>
                      </a:lvl4pPr>
                      <a:lvl5pPr marL="1864410" algn="l" defTabSz="932205" rtl="0" eaLnBrk="1" latinLnBrk="0" hangingPunct="1">
                        <a:defRPr sz="1800" kern="1200">
                          <a:solidFill>
                            <a:schemeClr val="dk1"/>
                          </a:solidFill>
                          <a:latin typeface="Segoe UI"/>
                        </a:defRPr>
                      </a:lvl5pPr>
                      <a:lvl6pPr marL="2330512" algn="l" defTabSz="932205" rtl="0" eaLnBrk="1" latinLnBrk="0" hangingPunct="1">
                        <a:defRPr sz="1800" kern="1200">
                          <a:solidFill>
                            <a:schemeClr val="dk1"/>
                          </a:solidFill>
                          <a:latin typeface="Segoe UI"/>
                        </a:defRPr>
                      </a:lvl6pPr>
                      <a:lvl7pPr marL="2796615" algn="l" defTabSz="932205" rtl="0" eaLnBrk="1" latinLnBrk="0" hangingPunct="1">
                        <a:defRPr sz="1800" kern="1200">
                          <a:solidFill>
                            <a:schemeClr val="dk1"/>
                          </a:solidFill>
                          <a:latin typeface="Segoe UI"/>
                        </a:defRPr>
                      </a:lvl7pPr>
                      <a:lvl8pPr marL="3262716" algn="l" defTabSz="932205" rtl="0" eaLnBrk="1" latinLnBrk="0" hangingPunct="1">
                        <a:defRPr sz="1800" kern="1200">
                          <a:solidFill>
                            <a:schemeClr val="dk1"/>
                          </a:solidFill>
                          <a:latin typeface="Segoe UI"/>
                        </a:defRPr>
                      </a:lvl8pPr>
                      <a:lvl9pPr marL="3728821" algn="l" defTabSz="932205" rtl="0" eaLnBrk="1" latinLnBrk="0" hangingPunct="1">
                        <a:defRPr sz="1800" kern="1200">
                          <a:solidFill>
                            <a:schemeClr val="dk1"/>
                          </a:solidFill>
                          <a:latin typeface="Segoe UI"/>
                        </a:defRPr>
                      </a:lvl9pPr>
                    </a:lstStyle>
                    <a:p>
                      <a:pPr marL="0" marR="0" algn="ctr" fontAlgn="b">
                        <a:spcBef>
                          <a:spcPts val="0"/>
                        </a:spcBef>
                        <a:spcAft>
                          <a:spcPts val="0"/>
                        </a:spcAft>
                      </a:pPr>
                      <a:r>
                        <a:rPr lang="en-US" sz="1600">
                          <a:solidFill>
                            <a:srgbClr val="464646"/>
                          </a:solidFill>
                          <a:effectLst/>
                          <a:latin typeface="+mn-lt"/>
                          <a:ea typeface="Calibri" panose="020F0502020204030204" pitchFamily="34" charset="0"/>
                        </a:rPr>
                        <a:t>10%</a:t>
                      </a:r>
                    </a:p>
                  </a:txBody>
                  <a:tcPr marL="62345" marR="62345" marT="31173" marB="3117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8768774"/>
                  </a:ext>
                </a:extLst>
              </a:tr>
              <a:tr h="405093">
                <a:tc>
                  <a:txBody>
                    <a:bodyPr/>
                    <a:lstStyle>
                      <a:lvl1pPr marL="0" algn="l" defTabSz="932205" rtl="0" eaLnBrk="1" latinLnBrk="0" hangingPunct="1">
                        <a:defRPr sz="1800" kern="1200">
                          <a:solidFill>
                            <a:schemeClr val="dk1"/>
                          </a:solidFill>
                          <a:latin typeface="Segoe UI"/>
                        </a:defRPr>
                      </a:lvl1pPr>
                      <a:lvl2pPr marL="466101" algn="l" defTabSz="932205" rtl="0" eaLnBrk="1" latinLnBrk="0" hangingPunct="1">
                        <a:defRPr sz="1800" kern="1200">
                          <a:solidFill>
                            <a:schemeClr val="dk1"/>
                          </a:solidFill>
                          <a:latin typeface="Segoe UI"/>
                        </a:defRPr>
                      </a:lvl2pPr>
                      <a:lvl3pPr marL="932205" algn="l" defTabSz="932205" rtl="0" eaLnBrk="1" latinLnBrk="0" hangingPunct="1">
                        <a:defRPr sz="1800" kern="1200">
                          <a:solidFill>
                            <a:schemeClr val="dk1"/>
                          </a:solidFill>
                          <a:latin typeface="Segoe UI"/>
                        </a:defRPr>
                      </a:lvl3pPr>
                      <a:lvl4pPr marL="1398307" algn="l" defTabSz="932205" rtl="0" eaLnBrk="1" latinLnBrk="0" hangingPunct="1">
                        <a:defRPr sz="1800" kern="1200">
                          <a:solidFill>
                            <a:schemeClr val="dk1"/>
                          </a:solidFill>
                          <a:latin typeface="Segoe UI"/>
                        </a:defRPr>
                      </a:lvl4pPr>
                      <a:lvl5pPr marL="1864410" algn="l" defTabSz="932205" rtl="0" eaLnBrk="1" latinLnBrk="0" hangingPunct="1">
                        <a:defRPr sz="1800" kern="1200">
                          <a:solidFill>
                            <a:schemeClr val="dk1"/>
                          </a:solidFill>
                          <a:latin typeface="Segoe UI"/>
                        </a:defRPr>
                      </a:lvl5pPr>
                      <a:lvl6pPr marL="2330512" algn="l" defTabSz="932205" rtl="0" eaLnBrk="1" latinLnBrk="0" hangingPunct="1">
                        <a:defRPr sz="1800" kern="1200">
                          <a:solidFill>
                            <a:schemeClr val="dk1"/>
                          </a:solidFill>
                          <a:latin typeface="Segoe UI"/>
                        </a:defRPr>
                      </a:lvl6pPr>
                      <a:lvl7pPr marL="2796615" algn="l" defTabSz="932205" rtl="0" eaLnBrk="1" latinLnBrk="0" hangingPunct="1">
                        <a:defRPr sz="1800" kern="1200">
                          <a:solidFill>
                            <a:schemeClr val="dk1"/>
                          </a:solidFill>
                          <a:latin typeface="Segoe UI"/>
                        </a:defRPr>
                      </a:lvl7pPr>
                      <a:lvl8pPr marL="3262716" algn="l" defTabSz="932205" rtl="0" eaLnBrk="1" latinLnBrk="0" hangingPunct="1">
                        <a:defRPr sz="1800" kern="1200">
                          <a:solidFill>
                            <a:schemeClr val="dk1"/>
                          </a:solidFill>
                          <a:latin typeface="Segoe UI"/>
                        </a:defRPr>
                      </a:lvl8pPr>
                      <a:lvl9pPr marL="3728821" algn="l" defTabSz="932205" rtl="0" eaLnBrk="1" latinLnBrk="0" hangingPunct="1">
                        <a:defRPr sz="1800" kern="1200">
                          <a:solidFill>
                            <a:schemeClr val="dk1"/>
                          </a:solidFill>
                          <a:latin typeface="Segoe UI"/>
                        </a:defRPr>
                      </a:lvl9pPr>
                    </a:lstStyle>
                    <a:p>
                      <a:pPr marL="0" marR="0" algn="ctr" fontAlgn="ctr">
                        <a:spcBef>
                          <a:spcPts val="0"/>
                        </a:spcBef>
                        <a:spcAft>
                          <a:spcPts val="0"/>
                        </a:spcAft>
                      </a:pPr>
                      <a:r>
                        <a:rPr lang="en-GB" sz="1600">
                          <a:solidFill>
                            <a:srgbClr val="464646"/>
                          </a:solidFill>
                          <a:effectLst/>
                          <a:latin typeface="+mn-lt"/>
                          <a:ea typeface="Calibri" panose="020F0502020204030204" pitchFamily="34" charset="0"/>
                        </a:rPr>
                        <a:t>$1.8M to $6M</a:t>
                      </a:r>
                      <a:endParaRPr lang="en-US" sz="1600">
                        <a:solidFill>
                          <a:srgbClr val="464646"/>
                        </a:solidFill>
                        <a:effectLst/>
                        <a:latin typeface="+mn-lt"/>
                        <a:ea typeface="Calibri" panose="020F0502020204030204" pitchFamily="34" charset="0"/>
                      </a:endParaRP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205" rtl="0" eaLnBrk="1" latinLnBrk="0" hangingPunct="1">
                        <a:defRPr sz="1800" kern="1200">
                          <a:solidFill>
                            <a:schemeClr val="dk1"/>
                          </a:solidFill>
                          <a:latin typeface="Segoe UI"/>
                        </a:defRPr>
                      </a:lvl1pPr>
                      <a:lvl2pPr marL="466101" algn="l" defTabSz="932205" rtl="0" eaLnBrk="1" latinLnBrk="0" hangingPunct="1">
                        <a:defRPr sz="1800" kern="1200">
                          <a:solidFill>
                            <a:schemeClr val="dk1"/>
                          </a:solidFill>
                          <a:latin typeface="Segoe UI"/>
                        </a:defRPr>
                      </a:lvl2pPr>
                      <a:lvl3pPr marL="932205" algn="l" defTabSz="932205" rtl="0" eaLnBrk="1" latinLnBrk="0" hangingPunct="1">
                        <a:defRPr sz="1800" kern="1200">
                          <a:solidFill>
                            <a:schemeClr val="dk1"/>
                          </a:solidFill>
                          <a:latin typeface="Segoe UI"/>
                        </a:defRPr>
                      </a:lvl3pPr>
                      <a:lvl4pPr marL="1398307" algn="l" defTabSz="932205" rtl="0" eaLnBrk="1" latinLnBrk="0" hangingPunct="1">
                        <a:defRPr sz="1800" kern="1200">
                          <a:solidFill>
                            <a:schemeClr val="dk1"/>
                          </a:solidFill>
                          <a:latin typeface="Segoe UI"/>
                        </a:defRPr>
                      </a:lvl4pPr>
                      <a:lvl5pPr marL="1864410" algn="l" defTabSz="932205" rtl="0" eaLnBrk="1" latinLnBrk="0" hangingPunct="1">
                        <a:defRPr sz="1800" kern="1200">
                          <a:solidFill>
                            <a:schemeClr val="dk1"/>
                          </a:solidFill>
                          <a:latin typeface="Segoe UI"/>
                        </a:defRPr>
                      </a:lvl5pPr>
                      <a:lvl6pPr marL="2330512" algn="l" defTabSz="932205" rtl="0" eaLnBrk="1" latinLnBrk="0" hangingPunct="1">
                        <a:defRPr sz="1800" kern="1200">
                          <a:solidFill>
                            <a:schemeClr val="dk1"/>
                          </a:solidFill>
                          <a:latin typeface="Segoe UI"/>
                        </a:defRPr>
                      </a:lvl6pPr>
                      <a:lvl7pPr marL="2796615" algn="l" defTabSz="932205" rtl="0" eaLnBrk="1" latinLnBrk="0" hangingPunct="1">
                        <a:defRPr sz="1800" kern="1200">
                          <a:solidFill>
                            <a:schemeClr val="dk1"/>
                          </a:solidFill>
                          <a:latin typeface="Segoe UI"/>
                        </a:defRPr>
                      </a:lvl7pPr>
                      <a:lvl8pPr marL="3262716" algn="l" defTabSz="932205" rtl="0" eaLnBrk="1" latinLnBrk="0" hangingPunct="1">
                        <a:defRPr sz="1800" kern="1200">
                          <a:solidFill>
                            <a:schemeClr val="dk1"/>
                          </a:solidFill>
                          <a:latin typeface="Segoe UI"/>
                        </a:defRPr>
                      </a:lvl8pPr>
                      <a:lvl9pPr marL="3728821" algn="l" defTabSz="932205" rtl="0" eaLnBrk="1" latinLnBrk="0" hangingPunct="1">
                        <a:defRPr sz="1800" kern="1200">
                          <a:solidFill>
                            <a:schemeClr val="dk1"/>
                          </a:solidFill>
                          <a:latin typeface="Segoe UI"/>
                        </a:defRPr>
                      </a:lvl9pPr>
                    </a:lstStyle>
                    <a:p>
                      <a:pPr marL="0" marR="0" algn="ctr" fontAlgn="b">
                        <a:spcBef>
                          <a:spcPts val="0"/>
                        </a:spcBef>
                        <a:spcAft>
                          <a:spcPts val="0"/>
                        </a:spcAft>
                      </a:pPr>
                      <a:r>
                        <a:rPr lang="en-US" sz="1600">
                          <a:solidFill>
                            <a:srgbClr val="464646"/>
                          </a:solidFill>
                          <a:effectLst/>
                          <a:latin typeface="+mn-lt"/>
                          <a:ea typeface="Calibri" panose="020F0502020204030204" pitchFamily="34" charset="0"/>
                        </a:rPr>
                        <a:t>7%</a:t>
                      </a:r>
                    </a:p>
                  </a:txBody>
                  <a:tcPr marL="62345" marR="62345" marT="31173" marB="3117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887488"/>
                  </a:ext>
                </a:extLst>
              </a:tr>
              <a:tr h="405093">
                <a:tc>
                  <a:txBody>
                    <a:bodyPr/>
                    <a:lstStyle/>
                    <a:p>
                      <a:pPr marL="0" marR="0" algn="ctr" fontAlgn="ctr">
                        <a:spcBef>
                          <a:spcPts val="0"/>
                        </a:spcBef>
                        <a:spcAft>
                          <a:spcPts val="0"/>
                        </a:spcAft>
                      </a:pPr>
                      <a:r>
                        <a:rPr lang="en-GB" sz="1600">
                          <a:solidFill>
                            <a:srgbClr val="464646"/>
                          </a:solidFill>
                          <a:effectLst/>
                          <a:latin typeface="+mn-lt"/>
                          <a:ea typeface="Calibri" panose="020F0502020204030204" pitchFamily="34" charset="0"/>
                        </a:rPr>
                        <a:t>$6M to $12M</a:t>
                      </a:r>
                      <a:endParaRPr lang="en-US" sz="1600">
                        <a:solidFill>
                          <a:srgbClr val="464646"/>
                        </a:solidFill>
                        <a:effectLst/>
                        <a:latin typeface="+mn-lt"/>
                        <a:ea typeface="Calibri" panose="020F0502020204030204" pitchFamily="34" charset="0"/>
                      </a:endParaRP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b">
                        <a:spcBef>
                          <a:spcPts val="0"/>
                        </a:spcBef>
                        <a:spcAft>
                          <a:spcPts val="0"/>
                        </a:spcAft>
                      </a:pPr>
                      <a:r>
                        <a:rPr lang="en-US" sz="1600">
                          <a:solidFill>
                            <a:srgbClr val="464646"/>
                          </a:solidFill>
                          <a:effectLst/>
                          <a:latin typeface="+mn-lt"/>
                          <a:ea typeface="Calibri" panose="020F0502020204030204" pitchFamily="34" charset="0"/>
                        </a:rPr>
                        <a:t>5%</a:t>
                      </a:r>
                    </a:p>
                  </a:txBody>
                  <a:tcPr marL="62345" marR="62345" marT="31173" marB="3117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561702"/>
                  </a:ext>
                </a:extLst>
              </a:tr>
              <a:tr h="405093">
                <a:tc>
                  <a:txBody>
                    <a:bodyPr/>
                    <a:lstStyle/>
                    <a:p>
                      <a:pPr marL="0" marR="0" algn="ctr" fontAlgn="ctr">
                        <a:spcBef>
                          <a:spcPts val="0"/>
                        </a:spcBef>
                        <a:spcAft>
                          <a:spcPts val="0"/>
                        </a:spcAft>
                      </a:pPr>
                      <a:r>
                        <a:rPr lang="en-GB" sz="1600">
                          <a:solidFill>
                            <a:srgbClr val="464646"/>
                          </a:solidFill>
                          <a:effectLst/>
                          <a:latin typeface="+mn-lt"/>
                          <a:ea typeface="Calibri" panose="020F0502020204030204" pitchFamily="34" charset="0"/>
                        </a:rPr>
                        <a:t>$12M to $30M</a:t>
                      </a:r>
                      <a:endParaRPr lang="en-US" sz="1600">
                        <a:solidFill>
                          <a:srgbClr val="464646"/>
                        </a:solidFill>
                        <a:effectLst/>
                        <a:latin typeface="+mn-lt"/>
                        <a:ea typeface="Calibri" panose="020F0502020204030204" pitchFamily="34" charset="0"/>
                      </a:endParaRP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b">
                        <a:spcBef>
                          <a:spcPts val="0"/>
                        </a:spcBef>
                        <a:spcAft>
                          <a:spcPts val="0"/>
                        </a:spcAft>
                      </a:pPr>
                      <a:r>
                        <a:rPr lang="en-US" sz="1600">
                          <a:solidFill>
                            <a:srgbClr val="464646"/>
                          </a:solidFill>
                          <a:effectLst/>
                          <a:latin typeface="+mn-lt"/>
                          <a:ea typeface="Calibri" panose="020F0502020204030204" pitchFamily="34" charset="0"/>
                        </a:rPr>
                        <a:t>3%</a:t>
                      </a:r>
                    </a:p>
                  </a:txBody>
                  <a:tcPr marL="62345" marR="62345" marT="31173" marB="3117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781949"/>
                  </a:ext>
                </a:extLst>
              </a:tr>
              <a:tr h="405093">
                <a:tc>
                  <a:txBody>
                    <a:bodyPr/>
                    <a:lstStyle/>
                    <a:p>
                      <a:pPr marL="0" marR="0" algn="ctr" fontAlgn="ctr">
                        <a:spcBef>
                          <a:spcPts val="0"/>
                        </a:spcBef>
                        <a:spcAft>
                          <a:spcPts val="0"/>
                        </a:spcAft>
                      </a:pPr>
                      <a:r>
                        <a:rPr lang="en-GB" sz="1600">
                          <a:solidFill>
                            <a:srgbClr val="464646"/>
                          </a:solidFill>
                          <a:effectLst/>
                          <a:latin typeface="+mn-lt"/>
                          <a:ea typeface="Calibri" panose="020F0502020204030204" pitchFamily="34" charset="0"/>
                        </a:rPr>
                        <a:t>$30M to $60M</a:t>
                      </a:r>
                      <a:endParaRPr lang="en-US" sz="1600">
                        <a:solidFill>
                          <a:srgbClr val="464646"/>
                        </a:solidFill>
                        <a:effectLst/>
                        <a:latin typeface="+mn-lt"/>
                        <a:ea typeface="Calibri" panose="020F0502020204030204" pitchFamily="34" charset="0"/>
                      </a:endParaRP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b">
                        <a:spcBef>
                          <a:spcPts val="0"/>
                        </a:spcBef>
                        <a:spcAft>
                          <a:spcPts val="0"/>
                        </a:spcAft>
                      </a:pPr>
                      <a:r>
                        <a:rPr lang="en-US" sz="1600">
                          <a:solidFill>
                            <a:srgbClr val="464646"/>
                          </a:solidFill>
                          <a:effectLst/>
                          <a:latin typeface="+mn-lt"/>
                          <a:ea typeface="Calibri" panose="020F0502020204030204" pitchFamily="34" charset="0"/>
                        </a:rPr>
                        <a:t>2.25%</a:t>
                      </a:r>
                    </a:p>
                  </a:txBody>
                  <a:tcPr marL="62345" marR="62345" marT="31173" marB="3117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106066"/>
                  </a:ext>
                </a:extLst>
              </a:tr>
              <a:tr h="405093">
                <a:tc>
                  <a:txBody>
                    <a:bodyPr/>
                    <a:lstStyle/>
                    <a:p>
                      <a:pPr marL="0" marR="0" algn="ctr" fontAlgn="ctr">
                        <a:spcBef>
                          <a:spcPts val="0"/>
                        </a:spcBef>
                        <a:spcAft>
                          <a:spcPts val="0"/>
                        </a:spcAft>
                      </a:pPr>
                      <a:r>
                        <a:rPr lang="en-GB" sz="1600">
                          <a:solidFill>
                            <a:srgbClr val="464646"/>
                          </a:solidFill>
                          <a:effectLst/>
                          <a:latin typeface="+mn-lt"/>
                          <a:ea typeface="Calibri" panose="020F0502020204030204" pitchFamily="34" charset="0"/>
                        </a:rPr>
                        <a:t>$60M to $120M</a:t>
                      </a:r>
                      <a:endParaRPr lang="en-US" sz="1600">
                        <a:solidFill>
                          <a:srgbClr val="464646"/>
                        </a:solidFill>
                        <a:effectLst/>
                        <a:latin typeface="+mn-lt"/>
                        <a:ea typeface="Calibri" panose="020F0502020204030204" pitchFamily="34" charset="0"/>
                      </a:endParaRP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b">
                        <a:spcBef>
                          <a:spcPts val="0"/>
                        </a:spcBef>
                        <a:spcAft>
                          <a:spcPts val="0"/>
                        </a:spcAft>
                      </a:pPr>
                      <a:r>
                        <a:rPr lang="en-US" sz="1600">
                          <a:solidFill>
                            <a:srgbClr val="464646"/>
                          </a:solidFill>
                          <a:effectLst/>
                          <a:latin typeface="+mn-lt"/>
                          <a:ea typeface="Calibri" panose="020F0502020204030204" pitchFamily="34" charset="0"/>
                        </a:rPr>
                        <a:t>2%</a:t>
                      </a:r>
                    </a:p>
                  </a:txBody>
                  <a:tcPr marL="62345" marR="62345" marT="31173" marB="3117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1370827"/>
                  </a:ext>
                </a:extLst>
              </a:tr>
              <a:tr h="405093">
                <a:tc>
                  <a:txBody>
                    <a:bodyPr/>
                    <a:lstStyle/>
                    <a:p>
                      <a:pPr marL="0" marR="0" algn="ctr" fontAlgn="ctr">
                        <a:spcBef>
                          <a:spcPts val="0"/>
                        </a:spcBef>
                        <a:spcAft>
                          <a:spcPts val="0"/>
                        </a:spcAft>
                      </a:pPr>
                      <a:r>
                        <a:rPr lang="en-US" sz="1600">
                          <a:solidFill>
                            <a:srgbClr val="464646"/>
                          </a:solidFill>
                          <a:effectLst/>
                          <a:latin typeface="+mn-lt"/>
                          <a:ea typeface="Calibri" panose="020F0502020204030204" pitchFamily="34" charset="0"/>
                        </a:rPr>
                        <a:t>&gt;$120M </a:t>
                      </a: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b">
                        <a:spcBef>
                          <a:spcPts val="0"/>
                        </a:spcBef>
                        <a:spcAft>
                          <a:spcPts val="0"/>
                        </a:spcAft>
                      </a:pPr>
                      <a:r>
                        <a:rPr lang="en-US" sz="1600">
                          <a:solidFill>
                            <a:srgbClr val="464646"/>
                          </a:solidFill>
                          <a:effectLst/>
                          <a:latin typeface="+mn-lt"/>
                          <a:ea typeface="Calibri" panose="020F0502020204030204" pitchFamily="34" charset="0"/>
                        </a:rPr>
                        <a:t>1.75%</a:t>
                      </a:r>
                    </a:p>
                  </a:txBody>
                  <a:tcPr marL="62345" marR="62345" marT="31173" marB="3117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1749467"/>
                  </a:ext>
                </a:extLst>
              </a:tr>
              <a:tr h="405093">
                <a:tc>
                  <a:txBody>
                    <a:bodyPr/>
                    <a:lstStyle/>
                    <a:p>
                      <a:pPr marL="0" marR="0" algn="ctr" fontAlgn="ctr">
                        <a:spcBef>
                          <a:spcPts val="0"/>
                        </a:spcBef>
                        <a:spcAft>
                          <a:spcPts val="0"/>
                        </a:spcAft>
                      </a:pPr>
                      <a:r>
                        <a:rPr lang="en-US" sz="1600">
                          <a:solidFill>
                            <a:srgbClr val="464646"/>
                          </a:solidFill>
                          <a:effectLst/>
                          <a:latin typeface="+mj-lt"/>
                          <a:ea typeface="Calibri" panose="020F0502020204030204" pitchFamily="34" charset="0"/>
                        </a:rPr>
                        <a:t>Floor Price</a:t>
                      </a:r>
                    </a:p>
                  </a:txBody>
                  <a:tcPr marL="62345" marR="62345" marT="31173" marB="31173"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fontAlgn="b">
                        <a:spcBef>
                          <a:spcPts val="0"/>
                        </a:spcBef>
                        <a:spcAft>
                          <a:spcPts val="0"/>
                        </a:spcAft>
                      </a:pPr>
                      <a:r>
                        <a:rPr lang="en-US" sz="1600">
                          <a:solidFill>
                            <a:schemeClr val="tx1"/>
                          </a:solidFill>
                          <a:effectLst/>
                          <a:latin typeface="+mj-lt"/>
                          <a:ea typeface="Calibri" panose="020F0502020204030204" pitchFamily="34" charset="0"/>
                        </a:rPr>
                        <a:t>$50K</a:t>
                      </a:r>
                    </a:p>
                  </a:txBody>
                  <a:tcPr marL="54645" marR="54645" marT="27323" marB="27323"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0105576"/>
                  </a:ext>
                </a:extLst>
              </a:tr>
            </a:tbl>
          </a:graphicData>
        </a:graphic>
      </p:graphicFrame>
      <p:sp>
        <p:nvSpPr>
          <p:cNvPr id="3" name="Rectangle 2">
            <a:extLst>
              <a:ext uri="{FF2B5EF4-FFF2-40B4-BE49-F238E27FC236}">
                <a16:creationId xmlns:a16="http://schemas.microsoft.com/office/drawing/2014/main" id="{60260E01-29A7-229A-2643-F96EAF8B10ED}"/>
              </a:ext>
            </a:extLst>
          </p:cNvPr>
          <p:cNvSpPr>
            <a:spLocks/>
          </p:cNvSpPr>
          <p:nvPr/>
        </p:nvSpPr>
        <p:spPr>
          <a:xfrm>
            <a:off x="1415479" y="2476239"/>
            <a:ext cx="4680521" cy="2821285"/>
          </a:xfrm>
          <a:prstGeom prst="rect">
            <a:avLst/>
          </a:prstGeom>
          <a:noFill/>
          <a:effectLst>
            <a:outerShdw blurRad="50800" dist="38100" dir="5400000" algn="t" rotWithShape="0">
              <a:prstClr val="black">
                <a:alpha val="5000"/>
              </a:prstClr>
            </a:outerShdw>
          </a:effectLst>
        </p:spPr>
        <p:txBody>
          <a:bodyPr wrap="square" lIns="0" tIns="0" rIns="0" bIns="0" anchor="t">
            <a:spAutoFit/>
          </a:bodyPr>
          <a:lstStyle/>
          <a:p>
            <a:pPr marL="0" marR="0" lvl="0" indent="0" algn="l" defTabSz="914367" rtl="0" eaLnBrk="1" fontAlgn="auto" latinLnBrk="0" hangingPunct="1">
              <a:lnSpc>
                <a:spcPct val="100000"/>
              </a:lnSpc>
              <a:spcBef>
                <a:spcPts val="200"/>
              </a:spcBef>
              <a:spcAft>
                <a:spcPts val="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How is pricing calculated?</a:t>
            </a:r>
          </a:p>
          <a:p>
            <a:pPr marL="285750" marR="0" lvl="0" indent="-2857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Segoe UI"/>
                <a:ea typeface="+mn-ea"/>
                <a:cs typeface="+mn-cs"/>
              </a:rPr>
              <a:t>Unified price is dependent on the Microsoft Licensing spend by product class, called Product Spend (P).</a:t>
            </a:r>
          </a:p>
          <a:p>
            <a:pPr marL="285750" lvl="0" indent="-285750" defTabSz="914367">
              <a:spcBef>
                <a:spcPts val="200"/>
              </a:spcBef>
              <a:spcAft>
                <a:spcPts val="400"/>
              </a:spcAft>
              <a:buFont typeface="Arial" panose="020B0604020202020204" pitchFamily="34" charset="0"/>
              <a:buChar char="•"/>
              <a:defRPr/>
            </a:pPr>
            <a:r>
              <a:rPr lang="en-US" sz="1300">
                <a:solidFill>
                  <a:srgbClr val="000000"/>
                </a:solidFill>
              </a:rPr>
              <a:t>For the Unified Bridge for Azure, we calculate your ‘P’ using your previous 12–months of Azure consumption, after discounts and before credits are applied</a:t>
            </a:r>
            <a:r>
              <a:rPr kumimoji="0" lang="en-US" sz="1300" b="0" i="0" u="none" strike="noStrike" kern="1200" cap="none" spc="0" normalizeH="0" baseline="0" noProof="0">
                <a:ln>
                  <a:noFill/>
                </a:ln>
                <a:solidFill>
                  <a:srgbClr val="000000"/>
                </a:solidFill>
                <a:effectLst/>
                <a:uLnTx/>
                <a:uFillTx/>
                <a:latin typeface="Segoe UI"/>
                <a:ea typeface="+mn-ea"/>
                <a:cs typeface="+mn-cs"/>
              </a:rPr>
              <a:t> </a:t>
            </a:r>
          </a:p>
          <a:p>
            <a:pPr marL="285750" lvl="0" indent="-285750" defTabSz="914367">
              <a:spcBef>
                <a:spcPts val="200"/>
              </a:spcBef>
              <a:spcAft>
                <a:spcPts val="400"/>
              </a:spcAft>
              <a:buFont typeface="Arial" panose="020B0604020202020204" pitchFamily="34" charset="0"/>
              <a:buChar char="•"/>
              <a:defRPr/>
            </a:pPr>
            <a:r>
              <a:rPr kumimoji="0" lang="en-US" sz="1300" b="0" i="0" u="none" strike="noStrike" kern="1200" cap="none" spc="0" normalizeH="0" baseline="0" noProof="0">
                <a:ln>
                  <a:noFill/>
                </a:ln>
                <a:solidFill>
                  <a:srgbClr val="000000"/>
                </a:solidFill>
                <a:effectLst/>
                <a:uLnTx/>
                <a:uFillTx/>
                <a:latin typeface="Segoe UI"/>
                <a:ea typeface="+mn-ea"/>
                <a:cs typeface="+mn-cs"/>
              </a:rPr>
              <a:t>Rates are graduated, so if you have $6M in annual Azure spend, it would be calculated as 10% of the first $1.8M and 7% of the next $4.2M ($1.8M-$6M)</a:t>
            </a:r>
          </a:p>
          <a:p>
            <a:pPr marL="285750" lvl="0" indent="-285750" defTabSz="914367">
              <a:spcBef>
                <a:spcPts val="200"/>
              </a:spcBef>
              <a:spcAft>
                <a:spcPts val="400"/>
              </a:spcAft>
              <a:buFont typeface="Arial" panose="020B0604020202020204" pitchFamily="34" charset="0"/>
              <a:buChar char="•"/>
              <a:defRPr/>
            </a:pPr>
            <a:r>
              <a:rPr lang="en-US" sz="1300">
                <a:solidFill>
                  <a:srgbClr val="000000"/>
                </a:solidFill>
                <a:latin typeface="Segoe UI"/>
              </a:rPr>
              <a:t>To maximize your Azure adoption, Microsoft recommends investing an additional 1-4% in Enhanced Solutions</a:t>
            </a:r>
            <a:endParaRPr kumimoji="0" lang="en-US" sz="1300" b="0" i="0" u="none" strike="noStrike" kern="1200" cap="none" spc="0" normalizeH="0" baseline="0" noProof="0">
              <a:ln>
                <a:noFill/>
              </a:ln>
              <a:solidFill>
                <a:srgbClr val="000000"/>
              </a:solidFill>
              <a:effectLst/>
              <a:uLnTx/>
              <a:uFillTx/>
              <a:latin typeface="Segoe UI"/>
              <a:ea typeface="+mn-ea"/>
              <a:cs typeface="+mn-cs"/>
            </a:endParaRPr>
          </a:p>
          <a:p>
            <a:pPr lvl="0" defTabSz="914367">
              <a:spcBef>
                <a:spcPts val="200"/>
              </a:spcBef>
              <a:spcAft>
                <a:spcPts val="400"/>
              </a:spcAft>
              <a:defRPr/>
            </a:pP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EDA2A429-4EF1-373C-A8FD-CB2821AE16A2}"/>
              </a:ext>
            </a:extLst>
          </p:cNvPr>
          <p:cNvSpPr>
            <a:spLocks/>
          </p:cNvSpPr>
          <p:nvPr/>
        </p:nvSpPr>
        <p:spPr>
          <a:xfrm>
            <a:off x="1415479" y="5107630"/>
            <a:ext cx="4490194" cy="943848"/>
          </a:xfrm>
          <a:prstGeom prst="rect">
            <a:avLst/>
          </a:prstGeom>
          <a:noFill/>
          <a:effectLst>
            <a:outerShdw blurRad="50800" dist="38100" dir="5400000" algn="t" rotWithShape="0">
              <a:prstClr val="black">
                <a:alpha val="5000"/>
              </a:prstClr>
            </a:outerShdw>
          </a:effectLst>
        </p:spPr>
        <p:txBody>
          <a:bodyPr wrap="square" lIns="0" tIns="0" rIns="0" bIns="0" anchor="t">
            <a:spAutoFit/>
          </a:bodyPr>
          <a:lstStyle/>
          <a:p>
            <a:pPr marL="0" marR="0" lvl="0" indent="0" algn="l" defTabSz="914367" rtl="0" eaLnBrk="1" fontAlgn="auto" latinLnBrk="0" hangingPunct="1">
              <a:lnSpc>
                <a:spcPct val="100000"/>
              </a:lnSpc>
              <a:spcBef>
                <a:spcPts val="200"/>
              </a:spcBef>
              <a:spcAft>
                <a:spcPts val="2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What products and services are covered?</a:t>
            </a:r>
          </a:p>
          <a:p>
            <a:pPr marL="285750" marR="0" lvl="0" indent="-2857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The Online Services for which technical support will be available can be found at </a:t>
            </a:r>
            <a:r>
              <a:rPr kumimoji="0" lang="en-US" sz="1400" b="0" i="0" u="none" strike="noStrike" kern="1200" cap="none" spc="0" normalizeH="0" baseline="0" noProof="0">
                <a:ln>
                  <a:noFill/>
                </a:ln>
                <a:solidFill>
                  <a:srgbClr val="000000"/>
                </a:solidFill>
                <a:effectLst/>
                <a:uLnTx/>
                <a:uFillTx/>
                <a:latin typeface="Segoe UI"/>
                <a:ea typeface="+mn-ea"/>
                <a:cs typeface="+mn-cs"/>
                <a:hlinkClick r:id="rId3"/>
              </a:rPr>
              <a:t>aka.ms/</a:t>
            </a:r>
            <a:r>
              <a:rPr kumimoji="0" lang="en-US" sz="1400" b="0" i="0" u="none" strike="noStrike" kern="1200" cap="none" spc="0" normalizeH="0" baseline="0" noProof="0" err="1">
                <a:ln>
                  <a:noFill/>
                </a:ln>
                <a:solidFill>
                  <a:srgbClr val="000000"/>
                </a:solidFill>
                <a:effectLst/>
                <a:uLnTx/>
                <a:uFillTx/>
                <a:latin typeface="Segoe UI"/>
                <a:ea typeface="+mn-ea"/>
                <a:cs typeface="+mn-cs"/>
                <a:hlinkClick r:id="rId3"/>
              </a:rPr>
              <a:t>UnifiedBridge</a:t>
            </a:r>
            <a:r>
              <a:rPr kumimoji="0" lang="en-US" sz="1400" b="0" i="0" u="none" strike="noStrike" kern="1200" cap="none" spc="0" normalizeH="0" baseline="0" noProof="0">
                <a:ln>
                  <a:noFill/>
                </a:ln>
                <a:solidFill>
                  <a:srgbClr val="000000"/>
                </a:solidFill>
                <a:effectLst/>
                <a:uLnTx/>
                <a:uFillTx/>
                <a:latin typeface="Segoe UI"/>
                <a:ea typeface="+mn-ea"/>
                <a:cs typeface="+mn-cs"/>
                <a:hlinkClick r:id="rId3"/>
              </a:rPr>
              <a:t>-Azure</a:t>
            </a:r>
            <a:r>
              <a:rPr kumimoji="0" lang="en-US" sz="1400" b="0" i="0" u="none" strike="noStrike" kern="1200" cap="none" spc="0" normalizeH="0" baseline="0" noProof="0">
                <a:ln>
                  <a:noFill/>
                </a:ln>
                <a:solidFill>
                  <a:srgbClr val="000000"/>
                </a:solidFill>
                <a:effectLst/>
                <a:uLnTx/>
                <a:uFillTx/>
                <a:latin typeface="Segoe UI"/>
                <a:ea typeface="+mn-ea"/>
                <a:cs typeface="+mn-cs"/>
              </a:rPr>
              <a:t> </a:t>
            </a:r>
          </a:p>
        </p:txBody>
      </p:sp>
      <p:sp>
        <p:nvSpPr>
          <p:cNvPr id="15" name="Freeform: Shape 14">
            <a:extLst>
              <a:ext uri="{FF2B5EF4-FFF2-40B4-BE49-F238E27FC236}">
                <a16:creationId xmlns:a16="http://schemas.microsoft.com/office/drawing/2014/main" id="{DDE319DA-2EA7-1BB7-7B74-256C5D969264}"/>
              </a:ext>
              <a:ext uri="{C183D7F6-B498-43B3-948B-1728B52AA6E4}">
                <adec:decorative xmlns:adec="http://schemas.microsoft.com/office/drawing/2017/decorative" val="1"/>
              </a:ext>
            </a:extLst>
          </p:cNvPr>
          <p:cNvSpPr>
            <a:spLocks/>
          </p:cNvSpPr>
          <p:nvPr/>
        </p:nvSpPr>
        <p:spPr>
          <a:xfrm>
            <a:off x="631894" y="2544479"/>
            <a:ext cx="571895" cy="571895"/>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7" name="TagLegacy_E1CB">
            <a:extLst>
              <a:ext uri="{FF2B5EF4-FFF2-40B4-BE49-F238E27FC236}">
                <a16:creationId xmlns:a16="http://schemas.microsoft.com/office/drawing/2014/main" id="{6A682C42-5029-7310-F263-53F7BABDFDFE}"/>
              </a:ext>
              <a:ext uri="{C183D7F6-B498-43B3-948B-1728B52AA6E4}">
                <adec:decorative xmlns:adec="http://schemas.microsoft.com/office/drawing/2017/decorative" val="1"/>
              </a:ext>
            </a:extLst>
          </p:cNvPr>
          <p:cNvSpPr>
            <a:spLocks noChangeAspect="1" noEditPoints="1"/>
          </p:cNvSpPr>
          <p:nvPr/>
        </p:nvSpPr>
        <p:spPr bwMode="auto">
          <a:xfrm>
            <a:off x="747283" y="2694286"/>
            <a:ext cx="341116" cy="272281"/>
          </a:xfrm>
          <a:custGeom>
            <a:avLst/>
            <a:gdLst>
              <a:gd name="T0" fmla="*/ 2950 w 3700"/>
              <a:gd name="T1" fmla="*/ 1330 h 2952"/>
              <a:gd name="T2" fmla="*/ 1328 w 3700"/>
              <a:gd name="T3" fmla="*/ 2952 h 2952"/>
              <a:gd name="T4" fmla="*/ 0 w 3700"/>
              <a:gd name="T5" fmla="*/ 1620 h 2952"/>
              <a:gd name="T6" fmla="*/ 1620 w 3700"/>
              <a:gd name="T7" fmla="*/ 0 h 2952"/>
              <a:gd name="T8" fmla="*/ 2951 w 3700"/>
              <a:gd name="T9" fmla="*/ 1 h 2952"/>
              <a:gd name="T10" fmla="*/ 2950 w 3700"/>
              <a:gd name="T11" fmla="*/ 1330 h 2952"/>
              <a:gd name="T12" fmla="*/ 1820 w 3700"/>
              <a:gd name="T13" fmla="*/ 2460 h 2952"/>
              <a:gd name="T14" fmla="*/ 2576 w 3700"/>
              <a:gd name="T15" fmla="*/ 2753 h 2952"/>
              <a:gd name="T16" fmla="*/ 3700 w 3700"/>
              <a:gd name="T17" fmla="*/ 1629 h 2952"/>
              <a:gd name="T18" fmla="*/ 2576 w 3700"/>
              <a:gd name="T19" fmla="*/ 505 h 2952"/>
              <a:gd name="T20" fmla="*/ 2421 w 3700"/>
              <a:gd name="T21" fmla="*/ 505 h 2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00" h="2952">
                <a:moveTo>
                  <a:pt x="2950" y="1330"/>
                </a:moveTo>
                <a:cubicBezTo>
                  <a:pt x="1328" y="2952"/>
                  <a:pt x="1328" y="2952"/>
                  <a:pt x="1328" y="2952"/>
                </a:cubicBezTo>
                <a:cubicBezTo>
                  <a:pt x="0" y="1620"/>
                  <a:pt x="0" y="1620"/>
                  <a:pt x="0" y="1620"/>
                </a:cubicBezTo>
                <a:cubicBezTo>
                  <a:pt x="1620" y="0"/>
                  <a:pt x="1620" y="0"/>
                  <a:pt x="1620" y="0"/>
                </a:cubicBezTo>
                <a:cubicBezTo>
                  <a:pt x="2951" y="1"/>
                  <a:pt x="2951" y="1"/>
                  <a:pt x="2951" y="1"/>
                </a:cubicBezTo>
                <a:lnTo>
                  <a:pt x="2950" y="1330"/>
                </a:lnTo>
                <a:close/>
                <a:moveTo>
                  <a:pt x="1820" y="2460"/>
                </a:moveTo>
                <a:cubicBezTo>
                  <a:pt x="2020" y="2642"/>
                  <a:pt x="2285" y="2753"/>
                  <a:pt x="2576" y="2753"/>
                </a:cubicBezTo>
                <a:cubicBezTo>
                  <a:pt x="3197" y="2753"/>
                  <a:pt x="3700" y="2249"/>
                  <a:pt x="3700" y="1629"/>
                </a:cubicBezTo>
                <a:cubicBezTo>
                  <a:pt x="3700" y="1008"/>
                  <a:pt x="3198" y="505"/>
                  <a:pt x="2576" y="505"/>
                </a:cubicBezTo>
                <a:cubicBezTo>
                  <a:pt x="2421" y="505"/>
                  <a:pt x="2421" y="505"/>
                  <a:pt x="2421" y="505"/>
                </a:cubicBezTo>
              </a:path>
            </a:pathLst>
          </a:custGeom>
          <a:noFill/>
          <a:ln w="63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A3302FE5-D16B-2C95-F269-B1B3FCADFFDB}"/>
              </a:ext>
              <a:ext uri="{C183D7F6-B498-43B3-948B-1728B52AA6E4}">
                <adec:decorative xmlns:adec="http://schemas.microsoft.com/office/drawing/2017/decorative" val="1"/>
              </a:ext>
            </a:extLst>
          </p:cNvPr>
          <p:cNvSpPr>
            <a:spLocks/>
          </p:cNvSpPr>
          <p:nvPr/>
        </p:nvSpPr>
        <p:spPr>
          <a:xfrm>
            <a:off x="631894" y="5175251"/>
            <a:ext cx="571895" cy="571895"/>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0" name="circle">
            <a:extLst>
              <a:ext uri="{FF2B5EF4-FFF2-40B4-BE49-F238E27FC236}">
                <a16:creationId xmlns:a16="http://schemas.microsoft.com/office/drawing/2014/main" id="{1803E93C-B941-C17D-0E34-795F31438A12}"/>
              </a:ext>
              <a:ext uri="{C183D7F6-B498-43B3-948B-1728B52AA6E4}">
                <adec:decorative xmlns:adec="http://schemas.microsoft.com/office/drawing/2017/decorative" val="1"/>
              </a:ext>
            </a:extLst>
          </p:cNvPr>
          <p:cNvSpPr>
            <a:spLocks noChangeAspect="1" noEditPoints="1"/>
          </p:cNvSpPr>
          <p:nvPr/>
        </p:nvSpPr>
        <p:spPr bwMode="auto">
          <a:xfrm>
            <a:off x="759021" y="5267841"/>
            <a:ext cx="317640" cy="322917"/>
          </a:xfrm>
          <a:custGeom>
            <a:avLst/>
            <a:gdLst>
              <a:gd name="T0" fmla="*/ 26 w 340"/>
              <a:gd name="T1" fmla="*/ 224 h 345"/>
              <a:gd name="T2" fmla="*/ 23 w 340"/>
              <a:gd name="T3" fmla="*/ 198 h 345"/>
              <a:gd name="T4" fmla="*/ 119 w 340"/>
              <a:gd name="T5" fmla="*/ 59 h 345"/>
              <a:gd name="T6" fmla="*/ 77 w 340"/>
              <a:gd name="T7" fmla="*/ 312 h 345"/>
              <a:gd name="T8" fmla="*/ 170 w 340"/>
              <a:gd name="T9" fmla="*/ 345 h 345"/>
              <a:gd name="T10" fmla="*/ 262 w 340"/>
              <a:gd name="T11" fmla="*/ 312 h 345"/>
              <a:gd name="T12" fmla="*/ 314 w 340"/>
              <a:gd name="T13" fmla="*/ 224 h 345"/>
              <a:gd name="T14" fmla="*/ 317 w 340"/>
              <a:gd name="T15" fmla="*/ 198 h 345"/>
              <a:gd name="T16" fmla="*/ 220 w 340"/>
              <a:gd name="T17" fmla="*/ 60 h 345"/>
              <a:gd name="T18" fmla="*/ 170 w 340"/>
              <a:gd name="T19" fmla="*/ 102 h 345"/>
              <a:gd name="T20" fmla="*/ 221 w 340"/>
              <a:gd name="T21" fmla="*/ 51 h 345"/>
              <a:gd name="T22" fmla="*/ 170 w 340"/>
              <a:gd name="T23" fmla="*/ 0 h 345"/>
              <a:gd name="T24" fmla="*/ 119 w 340"/>
              <a:gd name="T25" fmla="*/ 51 h 345"/>
              <a:gd name="T26" fmla="*/ 170 w 340"/>
              <a:gd name="T27" fmla="*/ 102 h 345"/>
              <a:gd name="T28" fmla="*/ 51 w 340"/>
              <a:gd name="T29" fmla="*/ 319 h 345"/>
              <a:gd name="T30" fmla="*/ 102 w 340"/>
              <a:gd name="T31" fmla="*/ 268 h 345"/>
              <a:gd name="T32" fmla="*/ 51 w 340"/>
              <a:gd name="T33" fmla="*/ 217 h 345"/>
              <a:gd name="T34" fmla="*/ 0 w 340"/>
              <a:gd name="T35" fmla="*/ 268 h 345"/>
              <a:gd name="T36" fmla="*/ 51 w 340"/>
              <a:gd name="T37" fmla="*/ 319 h 345"/>
              <a:gd name="T38" fmla="*/ 289 w 340"/>
              <a:gd name="T39" fmla="*/ 319 h 345"/>
              <a:gd name="T40" fmla="*/ 340 w 340"/>
              <a:gd name="T41" fmla="*/ 268 h 345"/>
              <a:gd name="T42" fmla="*/ 289 w 340"/>
              <a:gd name="T43" fmla="*/ 217 h 345"/>
              <a:gd name="T44" fmla="*/ 238 w 340"/>
              <a:gd name="T45" fmla="*/ 268 h 345"/>
              <a:gd name="T46" fmla="*/ 289 w 340"/>
              <a:gd name="T47" fmla="*/ 31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0" h="345">
                <a:moveTo>
                  <a:pt x="26" y="224"/>
                </a:moveTo>
                <a:cubicBezTo>
                  <a:pt x="24" y="215"/>
                  <a:pt x="23" y="208"/>
                  <a:pt x="23" y="198"/>
                </a:cubicBezTo>
                <a:cubicBezTo>
                  <a:pt x="23" y="136"/>
                  <a:pt x="65" y="81"/>
                  <a:pt x="119" y="59"/>
                </a:cubicBezTo>
                <a:moveTo>
                  <a:pt x="77" y="312"/>
                </a:moveTo>
                <a:cubicBezTo>
                  <a:pt x="103" y="334"/>
                  <a:pt x="134" y="345"/>
                  <a:pt x="170" y="345"/>
                </a:cubicBezTo>
                <a:cubicBezTo>
                  <a:pt x="207" y="345"/>
                  <a:pt x="236" y="334"/>
                  <a:pt x="262" y="312"/>
                </a:cubicBezTo>
                <a:moveTo>
                  <a:pt x="314" y="224"/>
                </a:moveTo>
                <a:cubicBezTo>
                  <a:pt x="316" y="214"/>
                  <a:pt x="317" y="208"/>
                  <a:pt x="317" y="198"/>
                </a:cubicBezTo>
                <a:cubicBezTo>
                  <a:pt x="317" y="134"/>
                  <a:pt x="277" y="80"/>
                  <a:pt x="220" y="60"/>
                </a:cubicBezTo>
                <a:moveTo>
                  <a:pt x="170" y="102"/>
                </a:moveTo>
                <a:cubicBezTo>
                  <a:pt x="198" y="102"/>
                  <a:pt x="221" y="79"/>
                  <a:pt x="221" y="51"/>
                </a:cubicBezTo>
                <a:cubicBezTo>
                  <a:pt x="221" y="23"/>
                  <a:pt x="198" y="0"/>
                  <a:pt x="170" y="0"/>
                </a:cubicBezTo>
                <a:cubicBezTo>
                  <a:pt x="142" y="0"/>
                  <a:pt x="119" y="23"/>
                  <a:pt x="119" y="51"/>
                </a:cubicBezTo>
                <a:cubicBezTo>
                  <a:pt x="119" y="79"/>
                  <a:pt x="142" y="102"/>
                  <a:pt x="170" y="102"/>
                </a:cubicBezTo>
                <a:close/>
                <a:moveTo>
                  <a:pt x="51" y="319"/>
                </a:moveTo>
                <a:cubicBezTo>
                  <a:pt x="79" y="319"/>
                  <a:pt x="102" y="297"/>
                  <a:pt x="102" y="268"/>
                </a:cubicBezTo>
                <a:cubicBezTo>
                  <a:pt x="102" y="240"/>
                  <a:pt x="79" y="217"/>
                  <a:pt x="51" y="217"/>
                </a:cubicBezTo>
                <a:cubicBezTo>
                  <a:pt x="23" y="217"/>
                  <a:pt x="0" y="240"/>
                  <a:pt x="0" y="268"/>
                </a:cubicBezTo>
                <a:cubicBezTo>
                  <a:pt x="0" y="297"/>
                  <a:pt x="23" y="319"/>
                  <a:pt x="51" y="319"/>
                </a:cubicBezTo>
                <a:close/>
                <a:moveTo>
                  <a:pt x="289" y="319"/>
                </a:moveTo>
                <a:cubicBezTo>
                  <a:pt x="317" y="319"/>
                  <a:pt x="340" y="297"/>
                  <a:pt x="340" y="268"/>
                </a:cubicBezTo>
                <a:cubicBezTo>
                  <a:pt x="340" y="240"/>
                  <a:pt x="317" y="217"/>
                  <a:pt x="289" y="217"/>
                </a:cubicBezTo>
                <a:cubicBezTo>
                  <a:pt x="261" y="217"/>
                  <a:pt x="238" y="240"/>
                  <a:pt x="238" y="268"/>
                </a:cubicBezTo>
                <a:cubicBezTo>
                  <a:pt x="238" y="297"/>
                  <a:pt x="261" y="319"/>
                  <a:pt x="289" y="319"/>
                </a:cubicBezTo>
                <a:close/>
              </a:path>
            </a:pathLst>
          </a:custGeom>
          <a:noFill/>
          <a:ln w="63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19644046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485F277-B883-6874-141F-D3F23D3370DD}"/>
              </a:ext>
              <a:ext uri="{C183D7F6-B498-43B3-948B-1728B52AA6E4}">
                <adec:decorative xmlns:adec="http://schemas.microsoft.com/office/drawing/2017/decorative" val="1"/>
              </a:ext>
            </a:extLst>
          </p:cNvPr>
          <p:cNvSpPr/>
          <p:nvPr/>
        </p:nvSpPr>
        <p:spPr bwMode="auto">
          <a:xfrm>
            <a:off x="0" y="1676399"/>
            <a:ext cx="12192000" cy="46975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4" name="Rectangle 13">
            <a:extLst>
              <a:ext uri="{FF2B5EF4-FFF2-40B4-BE49-F238E27FC236}">
                <a16:creationId xmlns:a16="http://schemas.microsoft.com/office/drawing/2014/main" id="{4BF0C709-B777-A636-CCED-99D0F62BFCFC}"/>
              </a:ext>
              <a:ext uri="{C183D7F6-B498-43B3-948B-1728B52AA6E4}">
                <adec:decorative xmlns:adec="http://schemas.microsoft.com/office/drawing/2017/decorative" val="1"/>
              </a:ext>
            </a:extLst>
          </p:cNvPr>
          <p:cNvSpPr>
            <a:spLocks/>
          </p:cNvSpPr>
          <p:nvPr/>
        </p:nvSpPr>
        <p:spPr bwMode="auto">
          <a:xfrm>
            <a:off x="0" y="0"/>
            <a:ext cx="12192000" cy="285161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Title 9">
            <a:extLst>
              <a:ext uri="{FF2B5EF4-FFF2-40B4-BE49-F238E27FC236}">
                <a16:creationId xmlns:a16="http://schemas.microsoft.com/office/drawing/2014/main" id="{DA6E636F-B365-1A4D-1EC2-10D137C14720}"/>
              </a:ext>
            </a:extLst>
          </p:cNvPr>
          <p:cNvSpPr>
            <a:spLocks noGrp="1"/>
          </p:cNvSpPr>
          <p:nvPr>
            <p:ph type="title"/>
          </p:nvPr>
        </p:nvSpPr>
        <p:spPr>
          <a:xfrm>
            <a:off x="575481" y="599436"/>
            <a:ext cx="11018520" cy="492443"/>
          </a:xfrm>
        </p:spPr>
        <p:txBody>
          <a:bodyPr/>
          <a:lstStyle/>
          <a:p>
            <a:r>
              <a:rPr lang="en-US" sz="3200" noProof="0"/>
              <a:t>Specialized services tailored to your outcomes</a:t>
            </a:r>
            <a:endParaRPr lang="en-US" sz="3200"/>
          </a:p>
        </p:txBody>
      </p:sp>
      <p:sp>
        <p:nvSpPr>
          <p:cNvPr id="2" name="Text Placeholder 1">
            <a:extLst>
              <a:ext uri="{FF2B5EF4-FFF2-40B4-BE49-F238E27FC236}">
                <a16:creationId xmlns:a16="http://schemas.microsoft.com/office/drawing/2014/main" id="{E122511E-7548-14A5-99AD-3E9533E79278}"/>
              </a:ext>
            </a:extLst>
          </p:cNvPr>
          <p:cNvSpPr>
            <a:spLocks noGrp="1"/>
          </p:cNvSpPr>
          <p:nvPr>
            <p:ph type="body" sz="quarter" idx="12"/>
          </p:nvPr>
        </p:nvSpPr>
        <p:spPr>
          <a:xfrm>
            <a:off x="584201" y="1205546"/>
            <a:ext cx="11018520" cy="276999"/>
          </a:xfrm>
        </p:spPr>
        <p:txBody>
          <a:bodyPr/>
          <a:lstStyle/>
          <a:p>
            <a:r>
              <a:rPr lang="en-US" sz="1800">
                <a:solidFill>
                  <a:schemeClr val="tx1"/>
                </a:solidFill>
              </a:rPr>
              <a:t>Apply the flexible portion of your agreement or purchase these services as add-ons</a:t>
            </a:r>
          </a:p>
        </p:txBody>
      </p:sp>
      <p:sp>
        <p:nvSpPr>
          <p:cNvPr id="35" name="Slide Number Placeholder 34">
            <a:extLst>
              <a:ext uri="{FF2B5EF4-FFF2-40B4-BE49-F238E27FC236}">
                <a16:creationId xmlns:a16="http://schemas.microsoft.com/office/drawing/2014/main" id="{E5A0057C-71D1-96F9-699E-66B2BA764D65}"/>
              </a:ext>
              <a:ext uri="{C183D7F6-B498-43B3-948B-1728B52AA6E4}">
                <adec:decorative xmlns:adec="http://schemas.microsoft.com/office/drawing/2017/decorative" val="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6" name="Rectangle 15">
            <a:extLst>
              <a:ext uri="{FF2B5EF4-FFF2-40B4-BE49-F238E27FC236}">
                <a16:creationId xmlns:a16="http://schemas.microsoft.com/office/drawing/2014/main" id="{572CB298-4E05-340A-9CA5-FA86A1182DB4}"/>
              </a:ext>
              <a:ext uri="{C183D7F6-B498-43B3-948B-1728B52AA6E4}">
                <adec:decorative xmlns:adec="http://schemas.microsoft.com/office/drawing/2017/decorative" val="1"/>
              </a:ext>
            </a:extLst>
          </p:cNvPr>
          <p:cNvSpPr>
            <a:spLocks/>
          </p:cNvSpPr>
          <p:nvPr/>
        </p:nvSpPr>
        <p:spPr bwMode="auto">
          <a:xfrm>
            <a:off x="576263" y="1895045"/>
            <a:ext cx="5319713" cy="4254743"/>
          </a:xfrm>
          <a:prstGeom prst="rect">
            <a:avLst/>
          </a:prstGeom>
          <a:solidFill>
            <a:schemeClr val="bg1"/>
          </a:solidFill>
          <a:ln w="3175">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37160" rIns="91440" bIns="13716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17" name="Rectangle 16">
            <a:extLst>
              <a:ext uri="{FF2B5EF4-FFF2-40B4-BE49-F238E27FC236}">
                <a16:creationId xmlns:a16="http://schemas.microsoft.com/office/drawing/2014/main" id="{E4CA5D63-CD30-D7DD-3814-4D4DC30A66AC}"/>
              </a:ext>
              <a:ext uri="{C183D7F6-B498-43B3-948B-1728B52AA6E4}">
                <adec:decorative xmlns:adec="http://schemas.microsoft.com/office/drawing/2017/decorative" val="1"/>
              </a:ext>
            </a:extLst>
          </p:cNvPr>
          <p:cNvSpPr>
            <a:spLocks/>
          </p:cNvSpPr>
          <p:nvPr/>
        </p:nvSpPr>
        <p:spPr bwMode="auto">
          <a:xfrm>
            <a:off x="6273800" y="1895045"/>
            <a:ext cx="5319713" cy="4254743"/>
          </a:xfrm>
          <a:prstGeom prst="rect">
            <a:avLst/>
          </a:prstGeom>
          <a:solidFill>
            <a:schemeClr val="bg1"/>
          </a:solidFill>
          <a:ln w="3175">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37160" rIns="91440" bIns="13716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21" name="Rectangle 20">
            <a:extLst>
              <a:ext uri="{FF2B5EF4-FFF2-40B4-BE49-F238E27FC236}">
                <a16:creationId xmlns:a16="http://schemas.microsoft.com/office/drawing/2014/main" id="{B5A0F739-9257-6D8D-424A-60E2F549467C}"/>
              </a:ext>
            </a:extLst>
          </p:cNvPr>
          <p:cNvSpPr>
            <a:spLocks/>
          </p:cNvSpPr>
          <p:nvPr/>
        </p:nvSpPr>
        <p:spPr bwMode="auto">
          <a:xfrm>
            <a:off x="576264" y="1895045"/>
            <a:ext cx="5319712" cy="85201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3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Value Acceleration Services </a:t>
            </a:r>
          </a:p>
          <a:p>
            <a:pPr marL="0" marR="0" lvl="0" indent="0" algn="l"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Expert-led engagements for your cloud journey</a:t>
            </a:r>
            <a:endParaRPr kumimoji="0" lang="en-IN" sz="1400" b="0" i="0" u="none" strike="noStrike" kern="1200" cap="none" spc="0" normalizeH="0" baseline="0" noProof="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endParaRPr>
          </a:p>
        </p:txBody>
      </p:sp>
      <p:sp>
        <p:nvSpPr>
          <p:cNvPr id="3" name="Rectangle: Rounded Corners 2" descr="Designated Engineering:&#10;Pre-packaged services that focus on a single workload delivered with expert advisory over the course of a few months&#10;">
            <a:extLst>
              <a:ext uri="{FF2B5EF4-FFF2-40B4-BE49-F238E27FC236}">
                <a16:creationId xmlns:a16="http://schemas.microsoft.com/office/drawing/2014/main" id="{F9E6D3F9-E2E3-927E-0DEA-059659EFCF8C}"/>
              </a:ext>
            </a:extLst>
          </p:cNvPr>
          <p:cNvSpPr/>
          <p:nvPr/>
        </p:nvSpPr>
        <p:spPr bwMode="auto">
          <a:xfrm>
            <a:off x="970359" y="2977198"/>
            <a:ext cx="4539853" cy="1167772"/>
          </a:xfrm>
          <a:prstGeom prst="roundRect">
            <a:avLst>
              <a:gd name="adj" fmla="val 7800"/>
            </a:avLst>
          </a:prstGeom>
          <a:solidFill>
            <a:schemeClr val="bg1"/>
          </a:solidFill>
          <a:ln>
            <a:noFill/>
            <a:headEnd type="none" w="med" len="med"/>
            <a:tailEnd type="none" w="med" len="med"/>
          </a:ln>
          <a:effectLst>
            <a:outerShdw blurRad="1778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Segoe UI Semibold"/>
                <a:ea typeface="+mn-ea"/>
                <a:cs typeface="Segoe UI" pitchFamily="34" charset="0"/>
              </a:rPr>
              <a:t>Designated Engineering</a:t>
            </a:r>
          </a:p>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rPr>
              <a:t>Pre-packaged services that focus on a single workload delivered with expert advisory over the course of a few months</a:t>
            </a:r>
          </a:p>
        </p:txBody>
      </p:sp>
      <p:sp>
        <p:nvSpPr>
          <p:cNvPr id="4" name="Rectangle: Rounded Corners 3" descr="Enhanced Designed Engineering&#10;Flexible, long-term engagements for your cloud solution success, delivered by designated, deep technical advisors&#10;">
            <a:extLst>
              <a:ext uri="{FF2B5EF4-FFF2-40B4-BE49-F238E27FC236}">
                <a16:creationId xmlns:a16="http://schemas.microsoft.com/office/drawing/2014/main" id="{526C4AF9-0F8E-46CD-86F2-80B21779D5F0}"/>
              </a:ext>
            </a:extLst>
          </p:cNvPr>
          <p:cNvSpPr/>
          <p:nvPr/>
        </p:nvSpPr>
        <p:spPr bwMode="auto">
          <a:xfrm>
            <a:off x="970359" y="4592603"/>
            <a:ext cx="4539853" cy="1167772"/>
          </a:xfrm>
          <a:prstGeom prst="roundRect">
            <a:avLst>
              <a:gd name="adj" fmla="val 7800"/>
            </a:avLst>
          </a:prstGeom>
          <a:solidFill>
            <a:schemeClr val="bg1"/>
          </a:solidFill>
          <a:ln>
            <a:noFill/>
            <a:headEnd type="none" w="med" len="med"/>
            <a:tailEnd type="none" w="med" len="med"/>
          </a:ln>
          <a:effectLst>
            <a:outerShdw blurRad="1778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600"/>
              </a:spcAft>
              <a:buClrTx/>
              <a:buSzPct val="90000"/>
              <a:buFontTx/>
              <a:buNone/>
              <a:tabLst/>
              <a:defRPr/>
            </a:pPr>
            <a:r>
              <a:rPr kumimoji="0" lang="en-US" sz="1400" b="0" i="0" u="none" strike="noStrike" kern="1200" cap="none" spc="0" normalizeH="0" baseline="0" noProof="0">
                <a:ln>
                  <a:noFill/>
                </a:ln>
                <a:solidFill>
                  <a:srgbClr val="0078D4"/>
                </a:solidFill>
                <a:effectLst/>
                <a:uLnTx/>
                <a:uFillTx/>
                <a:latin typeface="Segoe UI Semibold"/>
                <a:ea typeface="+mn-ea"/>
                <a:cs typeface="+mn-cs"/>
              </a:rPr>
              <a:t>Enhanced Designed Engineering</a:t>
            </a:r>
          </a:p>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rPr>
              <a:t>Flexible, long-term engagements for your cloud solution success, delivered by designated, deep technical advisors</a:t>
            </a:r>
          </a:p>
        </p:txBody>
      </p:sp>
      <p:sp>
        <p:nvSpPr>
          <p:cNvPr id="22" name="Rectangle 21">
            <a:extLst>
              <a:ext uri="{FF2B5EF4-FFF2-40B4-BE49-F238E27FC236}">
                <a16:creationId xmlns:a16="http://schemas.microsoft.com/office/drawing/2014/main" id="{3A240949-A591-9AE3-4483-35F4F4AD7A3C}"/>
              </a:ext>
            </a:extLst>
          </p:cNvPr>
          <p:cNvSpPr>
            <a:spLocks/>
          </p:cNvSpPr>
          <p:nvPr/>
        </p:nvSpPr>
        <p:spPr bwMode="auto">
          <a:xfrm>
            <a:off x="6273800" y="1895045"/>
            <a:ext cx="5319713" cy="852019"/>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3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Mission Critical Services </a:t>
            </a:r>
          </a:p>
          <a:p>
            <a:pPr marL="0" marR="0" lvl="0" indent="0" algn="l"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Full care for your most critical solutions </a:t>
            </a:r>
          </a:p>
        </p:txBody>
      </p:sp>
      <p:sp>
        <p:nvSpPr>
          <p:cNvPr id="23" name="Rectangle 22">
            <a:extLst>
              <a:ext uri="{FF2B5EF4-FFF2-40B4-BE49-F238E27FC236}">
                <a16:creationId xmlns:a16="http://schemas.microsoft.com/office/drawing/2014/main" id="{C3853091-EEE9-7E9C-A4D2-DC0305897C02}"/>
              </a:ext>
            </a:extLst>
          </p:cNvPr>
          <p:cNvSpPr>
            <a:spLocks/>
          </p:cNvSpPr>
          <p:nvPr/>
        </p:nvSpPr>
        <p:spPr bwMode="auto">
          <a:xfrm>
            <a:off x="7105244" y="2884964"/>
            <a:ext cx="4307100" cy="69762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243A5E"/>
                </a:solidFill>
                <a:effectLst/>
                <a:uLnTx/>
                <a:uFillTx/>
                <a:latin typeface="Segoe UI Semibold"/>
                <a:ea typeface="+mn-ea"/>
                <a:cs typeface="Segoe UI" pitchFamily="34" charset="0"/>
              </a:rPr>
              <a:t>Events</a:t>
            </a:r>
          </a:p>
          <a:p>
            <a:pPr marL="0" marR="0" lvl="0" indent="0" algn="l" defTabSz="932472" rtl="0" eaLnBrk="1" fontAlgn="base"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rPr>
              <a:t>Preventative guidance and heightened incident response before, during, and following a critical event</a:t>
            </a:r>
          </a:p>
        </p:txBody>
      </p:sp>
      <p:grpSp>
        <p:nvGrpSpPr>
          <p:cNvPr id="596" name="Group 595">
            <a:extLst>
              <a:ext uri="{FF2B5EF4-FFF2-40B4-BE49-F238E27FC236}">
                <a16:creationId xmlns:a16="http://schemas.microsoft.com/office/drawing/2014/main" id="{B3CBC895-DB45-58FB-C7FD-641C7EBB3587}"/>
              </a:ext>
              <a:ext uri="{C183D7F6-B498-43B3-948B-1728B52AA6E4}">
                <adec:decorative xmlns:adec="http://schemas.microsoft.com/office/drawing/2017/decorative" val="1"/>
              </a:ext>
            </a:extLst>
          </p:cNvPr>
          <p:cNvGrpSpPr/>
          <p:nvPr/>
        </p:nvGrpSpPr>
        <p:grpSpPr>
          <a:xfrm>
            <a:off x="6389283" y="2977198"/>
            <a:ext cx="513166" cy="513159"/>
            <a:chOff x="6351183" y="2977198"/>
            <a:chExt cx="513166" cy="513159"/>
          </a:xfrm>
        </p:grpSpPr>
        <p:sp>
          <p:nvSpPr>
            <p:cNvPr id="36" name="Freeform: Shape 35">
              <a:extLst>
                <a:ext uri="{FF2B5EF4-FFF2-40B4-BE49-F238E27FC236}">
                  <a16:creationId xmlns:a16="http://schemas.microsoft.com/office/drawing/2014/main" id="{733A2BFC-1454-58C7-50C9-C4951C02A3CA}"/>
                </a:ext>
              </a:extLst>
            </p:cNvPr>
            <p:cNvSpPr>
              <a:spLocks/>
            </p:cNvSpPr>
            <p:nvPr/>
          </p:nvSpPr>
          <p:spPr>
            <a:xfrm>
              <a:off x="6351183" y="2977198"/>
              <a:ext cx="513166" cy="513159"/>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tx2"/>
            </a:solidFill>
            <a:ln w="6350" cap="flat">
              <a:solidFill>
                <a:schemeClr val="tx2"/>
              </a:solidFill>
              <a:prstDash val="solid"/>
              <a:rou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43A5E"/>
                </a:solidFill>
                <a:effectLst/>
                <a:uLnTx/>
                <a:uFillTx/>
                <a:latin typeface="Segoe UI Semibold"/>
                <a:ea typeface="+mn-ea"/>
                <a:cs typeface="+mn-cs"/>
              </a:endParaRPr>
            </a:p>
          </p:txBody>
        </p:sp>
        <p:sp>
          <p:nvSpPr>
            <p:cNvPr id="28" name="Calendar" title="Icon of a calendar">
              <a:extLst>
                <a:ext uri="{FF2B5EF4-FFF2-40B4-BE49-F238E27FC236}">
                  <a16:creationId xmlns:a16="http://schemas.microsoft.com/office/drawing/2014/main" id="{FCBEF2DB-6E01-DDAF-57BA-8AC8CE2F8056}"/>
                </a:ext>
              </a:extLst>
            </p:cNvPr>
            <p:cNvSpPr>
              <a:spLocks noChangeAspect="1" noEditPoints="1"/>
            </p:cNvSpPr>
            <p:nvPr/>
          </p:nvSpPr>
          <p:spPr bwMode="auto">
            <a:xfrm>
              <a:off x="6481802" y="3112335"/>
              <a:ext cx="251927" cy="242885"/>
            </a:xfrm>
            <a:custGeom>
              <a:avLst/>
              <a:gdLst>
                <a:gd name="T0" fmla="*/ 598 w 598"/>
                <a:gd name="T1" fmla="*/ 573 h 573"/>
                <a:gd name="T2" fmla="*/ 0 w 598"/>
                <a:gd name="T3" fmla="*/ 59 h 573"/>
                <a:gd name="T4" fmla="*/ 598 w 598"/>
                <a:gd name="T5" fmla="*/ 341 h 573"/>
                <a:gd name="T6" fmla="*/ 598 w 598"/>
                <a:gd name="T7" fmla="*/ 176 h 573"/>
                <a:gd name="T8" fmla="*/ 120 w 598"/>
                <a:gd name="T9" fmla="*/ 121 h 573"/>
                <a:gd name="T10" fmla="*/ 477 w 598"/>
                <a:gd name="T11" fmla="*/ 121 h 573"/>
                <a:gd name="T12" fmla="*/ 246 w 598"/>
                <a:gd name="T13" fmla="*/ 252 h 573"/>
                <a:gd name="T14" fmla="*/ 232 w 598"/>
                <a:gd name="T15" fmla="*/ 266 h 573"/>
                <a:gd name="T16" fmla="*/ 246 w 598"/>
                <a:gd name="T17" fmla="*/ 259 h 573"/>
                <a:gd name="T18" fmla="*/ 365 w 598"/>
                <a:gd name="T19" fmla="*/ 252 h 573"/>
                <a:gd name="T20" fmla="*/ 351 w 598"/>
                <a:gd name="T21" fmla="*/ 266 h 573"/>
                <a:gd name="T22" fmla="*/ 365 w 598"/>
                <a:gd name="T23" fmla="*/ 257 h 573"/>
                <a:gd name="T24" fmla="*/ 484 w 598"/>
                <a:gd name="T25" fmla="*/ 252 h 573"/>
                <a:gd name="T26" fmla="*/ 470 w 598"/>
                <a:gd name="T27" fmla="*/ 266 h 573"/>
                <a:gd name="T28" fmla="*/ 484 w 598"/>
                <a:gd name="T29" fmla="*/ 259 h 573"/>
                <a:gd name="T30" fmla="*/ 246 w 598"/>
                <a:gd name="T31" fmla="*/ 332 h 573"/>
                <a:gd name="T32" fmla="*/ 232 w 598"/>
                <a:gd name="T33" fmla="*/ 344 h 573"/>
                <a:gd name="T34" fmla="*/ 246 w 598"/>
                <a:gd name="T35" fmla="*/ 339 h 573"/>
                <a:gd name="T36" fmla="*/ 365 w 598"/>
                <a:gd name="T37" fmla="*/ 332 h 573"/>
                <a:gd name="T38" fmla="*/ 351 w 598"/>
                <a:gd name="T39" fmla="*/ 344 h 573"/>
                <a:gd name="T40" fmla="*/ 365 w 598"/>
                <a:gd name="T41" fmla="*/ 337 h 573"/>
                <a:gd name="T42" fmla="*/ 484 w 598"/>
                <a:gd name="T43" fmla="*/ 332 h 573"/>
                <a:gd name="T44" fmla="*/ 470 w 598"/>
                <a:gd name="T45" fmla="*/ 344 h 573"/>
                <a:gd name="T46" fmla="*/ 484 w 598"/>
                <a:gd name="T47" fmla="*/ 339 h 573"/>
                <a:gd name="T48" fmla="*/ 127 w 598"/>
                <a:gd name="T49" fmla="*/ 332 h 573"/>
                <a:gd name="T50" fmla="*/ 113 w 598"/>
                <a:gd name="T51" fmla="*/ 344 h 573"/>
                <a:gd name="T52" fmla="*/ 127 w 598"/>
                <a:gd name="T53" fmla="*/ 337 h 573"/>
                <a:gd name="T54" fmla="*/ 246 w 598"/>
                <a:gd name="T55" fmla="*/ 410 h 573"/>
                <a:gd name="T56" fmla="*/ 232 w 598"/>
                <a:gd name="T57" fmla="*/ 424 h 573"/>
                <a:gd name="T58" fmla="*/ 246 w 598"/>
                <a:gd name="T59" fmla="*/ 417 h 573"/>
                <a:gd name="T60" fmla="*/ 365 w 598"/>
                <a:gd name="T61" fmla="*/ 410 h 573"/>
                <a:gd name="T62" fmla="*/ 351 w 598"/>
                <a:gd name="T63" fmla="*/ 424 h 573"/>
                <a:gd name="T64" fmla="*/ 365 w 598"/>
                <a:gd name="T65" fmla="*/ 417 h 573"/>
                <a:gd name="T66" fmla="*/ 484 w 598"/>
                <a:gd name="T67" fmla="*/ 410 h 573"/>
                <a:gd name="T68" fmla="*/ 470 w 598"/>
                <a:gd name="T69" fmla="*/ 424 h 573"/>
                <a:gd name="T70" fmla="*/ 484 w 598"/>
                <a:gd name="T71" fmla="*/ 417 h 573"/>
                <a:gd name="T72" fmla="*/ 127 w 598"/>
                <a:gd name="T73" fmla="*/ 410 h 573"/>
                <a:gd name="T74" fmla="*/ 113 w 598"/>
                <a:gd name="T75" fmla="*/ 424 h 573"/>
                <a:gd name="T76" fmla="*/ 127 w 598"/>
                <a:gd name="T77" fmla="*/ 417 h 573"/>
                <a:gd name="T78" fmla="*/ 246 w 598"/>
                <a:gd name="T79" fmla="*/ 490 h 573"/>
                <a:gd name="T80" fmla="*/ 232 w 598"/>
                <a:gd name="T81" fmla="*/ 504 h 573"/>
                <a:gd name="T82" fmla="*/ 246 w 598"/>
                <a:gd name="T83" fmla="*/ 497 h 573"/>
                <a:gd name="T84" fmla="*/ 365 w 598"/>
                <a:gd name="T85" fmla="*/ 490 h 573"/>
                <a:gd name="T86" fmla="*/ 351 w 598"/>
                <a:gd name="T87" fmla="*/ 504 h 573"/>
                <a:gd name="T88" fmla="*/ 365 w 598"/>
                <a:gd name="T89" fmla="*/ 497 h 573"/>
                <a:gd name="T90" fmla="*/ 127 w 598"/>
                <a:gd name="T91" fmla="*/ 490 h 573"/>
                <a:gd name="T92" fmla="*/ 113 w 598"/>
                <a:gd name="T93" fmla="*/ 504 h 573"/>
                <a:gd name="T94" fmla="*/ 127 w 598"/>
                <a:gd name="T95" fmla="*/ 495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8" h="573">
                  <a:moveTo>
                    <a:pt x="598" y="341"/>
                  </a:moveTo>
                  <a:lnTo>
                    <a:pt x="598" y="573"/>
                  </a:lnTo>
                  <a:lnTo>
                    <a:pt x="0" y="573"/>
                  </a:lnTo>
                  <a:lnTo>
                    <a:pt x="0" y="59"/>
                  </a:lnTo>
                  <a:lnTo>
                    <a:pt x="598" y="59"/>
                  </a:lnTo>
                  <a:lnTo>
                    <a:pt x="598" y="341"/>
                  </a:lnTo>
                  <a:moveTo>
                    <a:pt x="0" y="176"/>
                  </a:moveTo>
                  <a:lnTo>
                    <a:pt x="598" y="176"/>
                  </a:lnTo>
                  <a:moveTo>
                    <a:pt x="120" y="0"/>
                  </a:moveTo>
                  <a:lnTo>
                    <a:pt x="120" y="121"/>
                  </a:lnTo>
                  <a:moveTo>
                    <a:pt x="477" y="0"/>
                  </a:moveTo>
                  <a:lnTo>
                    <a:pt x="477" y="121"/>
                  </a:lnTo>
                  <a:moveTo>
                    <a:pt x="246" y="259"/>
                  </a:moveTo>
                  <a:lnTo>
                    <a:pt x="246" y="252"/>
                  </a:lnTo>
                  <a:lnTo>
                    <a:pt x="232" y="252"/>
                  </a:lnTo>
                  <a:lnTo>
                    <a:pt x="232" y="266"/>
                  </a:lnTo>
                  <a:lnTo>
                    <a:pt x="246" y="266"/>
                  </a:lnTo>
                  <a:lnTo>
                    <a:pt x="246" y="259"/>
                  </a:lnTo>
                  <a:moveTo>
                    <a:pt x="365" y="257"/>
                  </a:moveTo>
                  <a:lnTo>
                    <a:pt x="365" y="252"/>
                  </a:lnTo>
                  <a:lnTo>
                    <a:pt x="351" y="252"/>
                  </a:lnTo>
                  <a:lnTo>
                    <a:pt x="351" y="266"/>
                  </a:lnTo>
                  <a:lnTo>
                    <a:pt x="365" y="266"/>
                  </a:lnTo>
                  <a:lnTo>
                    <a:pt x="365" y="257"/>
                  </a:lnTo>
                  <a:moveTo>
                    <a:pt x="484" y="259"/>
                  </a:moveTo>
                  <a:lnTo>
                    <a:pt x="484" y="252"/>
                  </a:lnTo>
                  <a:lnTo>
                    <a:pt x="470" y="252"/>
                  </a:lnTo>
                  <a:lnTo>
                    <a:pt x="470" y="266"/>
                  </a:lnTo>
                  <a:lnTo>
                    <a:pt x="484" y="266"/>
                  </a:lnTo>
                  <a:lnTo>
                    <a:pt x="484" y="259"/>
                  </a:lnTo>
                  <a:moveTo>
                    <a:pt x="246" y="339"/>
                  </a:moveTo>
                  <a:lnTo>
                    <a:pt x="246" y="332"/>
                  </a:lnTo>
                  <a:lnTo>
                    <a:pt x="232" y="332"/>
                  </a:lnTo>
                  <a:lnTo>
                    <a:pt x="232" y="344"/>
                  </a:lnTo>
                  <a:lnTo>
                    <a:pt x="246" y="344"/>
                  </a:lnTo>
                  <a:lnTo>
                    <a:pt x="246" y="339"/>
                  </a:lnTo>
                  <a:moveTo>
                    <a:pt x="365" y="337"/>
                  </a:moveTo>
                  <a:lnTo>
                    <a:pt x="365" y="332"/>
                  </a:lnTo>
                  <a:lnTo>
                    <a:pt x="351" y="332"/>
                  </a:lnTo>
                  <a:lnTo>
                    <a:pt x="351" y="344"/>
                  </a:lnTo>
                  <a:lnTo>
                    <a:pt x="365" y="344"/>
                  </a:lnTo>
                  <a:lnTo>
                    <a:pt x="365" y="337"/>
                  </a:lnTo>
                  <a:moveTo>
                    <a:pt x="484" y="339"/>
                  </a:moveTo>
                  <a:lnTo>
                    <a:pt x="484" y="332"/>
                  </a:lnTo>
                  <a:lnTo>
                    <a:pt x="470" y="332"/>
                  </a:lnTo>
                  <a:lnTo>
                    <a:pt x="470" y="344"/>
                  </a:lnTo>
                  <a:lnTo>
                    <a:pt x="484" y="344"/>
                  </a:lnTo>
                  <a:lnTo>
                    <a:pt x="484" y="339"/>
                  </a:lnTo>
                  <a:moveTo>
                    <a:pt x="127" y="337"/>
                  </a:moveTo>
                  <a:lnTo>
                    <a:pt x="127" y="332"/>
                  </a:lnTo>
                  <a:lnTo>
                    <a:pt x="113" y="332"/>
                  </a:lnTo>
                  <a:lnTo>
                    <a:pt x="113" y="344"/>
                  </a:lnTo>
                  <a:lnTo>
                    <a:pt x="127" y="344"/>
                  </a:lnTo>
                  <a:lnTo>
                    <a:pt x="127" y="337"/>
                  </a:lnTo>
                  <a:moveTo>
                    <a:pt x="246" y="417"/>
                  </a:moveTo>
                  <a:lnTo>
                    <a:pt x="246" y="410"/>
                  </a:lnTo>
                  <a:lnTo>
                    <a:pt x="232" y="410"/>
                  </a:lnTo>
                  <a:lnTo>
                    <a:pt x="232" y="424"/>
                  </a:lnTo>
                  <a:lnTo>
                    <a:pt x="246" y="424"/>
                  </a:lnTo>
                  <a:lnTo>
                    <a:pt x="246" y="417"/>
                  </a:lnTo>
                  <a:moveTo>
                    <a:pt x="365" y="417"/>
                  </a:moveTo>
                  <a:lnTo>
                    <a:pt x="365" y="410"/>
                  </a:lnTo>
                  <a:lnTo>
                    <a:pt x="351" y="410"/>
                  </a:lnTo>
                  <a:lnTo>
                    <a:pt x="351" y="424"/>
                  </a:lnTo>
                  <a:lnTo>
                    <a:pt x="365" y="424"/>
                  </a:lnTo>
                  <a:lnTo>
                    <a:pt x="365" y="417"/>
                  </a:lnTo>
                  <a:moveTo>
                    <a:pt x="484" y="417"/>
                  </a:moveTo>
                  <a:lnTo>
                    <a:pt x="484" y="410"/>
                  </a:lnTo>
                  <a:lnTo>
                    <a:pt x="470" y="410"/>
                  </a:lnTo>
                  <a:lnTo>
                    <a:pt x="470" y="424"/>
                  </a:lnTo>
                  <a:lnTo>
                    <a:pt x="484" y="424"/>
                  </a:lnTo>
                  <a:lnTo>
                    <a:pt x="484" y="417"/>
                  </a:lnTo>
                  <a:moveTo>
                    <a:pt x="127" y="417"/>
                  </a:moveTo>
                  <a:lnTo>
                    <a:pt x="127" y="410"/>
                  </a:lnTo>
                  <a:lnTo>
                    <a:pt x="113" y="410"/>
                  </a:lnTo>
                  <a:lnTo>
                    <a:pt x="113" y="424"/>
                  </a:lnTo>
                  <a:lnTo>
                    <a:pt x="127" y="424"/>
                  </a:lnTo>
                  <a:lnTo>
                    <a:pt x="127" y="417"/>
                  </a:lnTo>
                  <a:moveTo>
                    <a:pt x="246" y="497"/>
                  </a:moveTo>
                  <a:lnTo>
                    <a:pt x="246" y="490"/>
                  </a:lnTo>
                  <a:lnTo>
                    <a:pt x="232" y="490"/>
                  </a:lnTo>
                  <a:lnTo>
                    <a:pt x="232" y="504"/>
                  </a:lnTo>
                  <a:lnTo>
                    <a:pt x="246" y="504"/>
                  </a:lnTo>
                  <a:lnTo>
                    <a:pt x="246" y="497"/>
                  </a:lnTo>
                  <a:moveTo>
                    <a:pt x="365" y="497"/>
                  </a:moveTo>
                  <a:lnTo>
                    <a:pt x="365" y="490"/>
                  </a:lnTo>
                  <a:lnTo>
                    <a:pt x="351" y="490"/>
                  </a:lnTo>
                  <a:lnTo>
                    <a:pt x="351" y="504"/>
                  </a:lnTo>
                  <a:lnTo>
                    <a:pt x="365" y="504"/>
                  </a:lnTo>
                  <a:lnTo>
                    <a:pt x="365" y="497"/>
                  </a:lnTo>
                  <a:moveTo>
                    <a:pt x="127" y="495"/>
                  </a:moveTo>
                  <a:lnTo>
                    <a:pt x="127" y="490"/>
                  </a:lnTo>
                  <a:lnTo>
                    <a:pt x="113" y="490"/>
                  </a:lnTo>
                  <a:lnTo>
                    <a:pt x="113" y="504"/>
                  </a:lnTo>
                  <a:lnTo>
                    <a:pt x="127" y="504"/>
                  </a:lnTo>
                  <a:lnTo>
                    <a:pt x="127" y="495"/>
                  </a:lnTo>
                </a:path>
              </a:pathLst>
            </a:custGeom>
            <a:noFill/>
            <a:ln w="952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Rectangle 23">
            <a:extLst>
              <a:ext uri="{FF2B5EF4-FFF2-40B4-BE49-F238E27FC236}">
                <a16:creationId xmlns:a16="http://schemas.microsoft.com/office/drawing/2014/main" id="{915770C2-382E-6FFD-12D3-9B01F2A5CD65}"/>
              </a:ext>
            </a:extLst>
          </p:cNvPr>
          <p:cNvSpPr>
            <a:spLocks/>
          </p:cNvSpPr>
          <p:nvPr/>
        </p:nvSpPr>
        <p:spPr bwMode="auto">
          <a:xfrm>
            <a:off x="7105244" y="3858391"/>
            <a:ext cx="4307100" cy="91307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243A5E"/>
                </a:solidFill>
                <a:effectLst/>
                <a:uLnTx/>
                <a:uFillTx/>
                <a:latin typeface="Segoe UI Semibold"/>
                <a:ea typeface="+mn-ea"/>
                <a:cs typeface="Segoe UI" pitchFamily="34" charset="0"/>
              </a:rPr>
              <a:t>Products</a:t>
            </a:r>
          </a:p>
          <a:p>
            <a:pPr marL="0" marR="0" lvl="0" indent="0" algn="l" defTabSz="932472" rtl="0" eaLnBrk="1" fontAlgn="base"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rPr>
              <a:t>Microsoft-led engagement driven by a designated technical advocate for the solutions your business relies on most</a:t>
            </a:r>
          </a:p>
        </p:txBody>
      </p:sp>
      <p:grpSp>
        <p:nvGrpSpPr>
          <p:cNvPr id="595" name="Group 594">
            <a:extLst>
              <a:ext uri="{FF2B5EF4-FFF2-40B4-BE49-F238E27FC236}">
                <a16:creationId xmlns:a16="http://schemas.microsoft.com/office/drawing/2014/main" id="{C1A24A1B-E5CB-7A5E-90D7-1754633670C5}"/>
              </a:ext>
              <a:ext uri="{C183D7F6-B498-43B3-948B-1728B52AA6E4}">
                <adec:decorative xmlns:adec="http://schemas.microsoft.com/office/drawing/2017/decorative" val="1"/>
              </a:ext>
            </a:extLst>
          </p:cNvPr>
          <p:cNvGrpSpPr/>
          <p:nvPr/>
        </p:nvGrpSpPr>
        <p:grpSpPr>
          <a:xfrm>
            <a:off x="6389283" y="4058346"/>
            <a:ext cx="513166" cy="513159"/>
            <a:chOff x="6351183" y="4058346"/>
            <a:chExt cx="513166" cy="513159"/>
          </a:xfrm>
        </p:grpSpPr>
        <p:sp>
          <p:nvSpPr>
            <p:cNvPr id="38" name="Freeform: Shape 37">
              <a:extLst>
                <a:ext uri="{FF2B5EF4-FFF2-40B4-BE49-F238E27FC236}">
                  <a16:creationId xmlns:a16="http://schemas.microsoft.com/office/drawing/2014/main" id="{F607B891-7E9B-72A3-8CCA-8B2B0691DD0F}"/>
                </a:ext>
              </a:extLst>
            </p:cNvPr>
            <p:cNvSpPr>
              <a:spLocks/>
            </p:cNvSpPr>
            <p:nvPr/>
          </p:nvSpPr>
          <p:spPr>
            <a:xfrm>
              <a:off x="6351183" y="4058346"/>
              <a:ext cx="513166" cy="513159"/>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tx2"/>
            </a:solidFill>
            <a:ln w="6350" cap="flat">
              <a:solidFill>
                <a:schemeClr val="tx2"/>
              </a:solidFill>
              <a:prstDash val="solid"/>
              <a:rou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43A5E"/>
                </a:solidFill>
                <a:effectLst/>
                <a:uLnTx/>
                <a:uFillTx/>
                <a:latin typeface="Segoe UI Semibold"/>
                <a:ea typeface="+mn-ea"/>
                <a:cs typeface="+mn-cs"/>
              </a:endParaRPr>
            </a:p>
          </p:txBody>
        </p:sp>
        <p:sp>
          <p:nvSpPr>
            <p:cNvPr id="31" name="Product_ECDC" title="Icon of a box">
              <a:extLst>
                <a:ext uri="{FF2B5EF4-FFF2-40B4-BE49-F238E27FC236}">
                  <a16:creationId xmlns:a16="http://schemas.microsoft.com/office/drawing/2014/main" id="{616632EE-56B9-83BB-BF48-0FBB2783E6EC}"/>
                </a:ext>
              </a:extLst>
            </p:cNvPr>
            <p:cNvSpPr>
              <a:spLocks noChangeAspect="1" noEditPoints="1"/>
            </p:cNvSpPr>
            <p:nvPr/>
          </p:nvSpPr>
          <p:spPr bwMode="auto">
            <a:xfrm>
              <a:off x="6462489" y="4150474"/>
              <a:ext cx="290554" cy="328901"/>
            </a:xfrm>
            <a:custGeom>
              <a:avLst/>
              <a:gdLst>
                <a:gd name="T0" fmla="*/ 3623 w 3623"/>
                <a:gd name="T1" fmla="*/ 906 h 4076"/>
                <a:gd name="T2" fmla="*/ 1812 w 3623"/>
                <a:gd name="T3" fmla="*/ 1812 h 4076"/>
                <a:gd name="T4" fmla="*/ 0 w 3623"/>
                <a:gd name="T5" fmla="*/ 906 h 4076"/>
                <a:gd name="T6" fmla="*/ 906 w 3623"/>
                <a:gd name="T7" fmla="*/ 453 h 4076"/>
                <a:gd name="T8" fmla="*/ 2699 w 3623"/>
                <a:gd name="T9" fmla="*/ 1358 h 4076"/>
                <a:gd name="T10" fmla="*/ 3623 w 3623"/>
                <a:gd name="T11" fmla="*/ 906 h 4076"/>
                <a:gd name="T12" fmla="*/ 1812 w 3623"/>
                <a:gd name="T13" fmla="*/ 0 h 4076"/>
                <a:gd name="T14" fmla="*/ 0 w 3623"/>
                <a:gd name="T15" fmla="*/ 906 h 4076"/>
                <a:gd name="T16" fmla="*/ 0 w 3623"/>
                <a:gd name="T17" fmla="*/ 3171 h 4076"/>
                <a:gd name="T18" fmla="*/ 1812 w 3623"/>
                <a:gd name="T19" fmla="*/ 4076 h 4076"/>
                <a:gd name="T20" fmla="*/ 3623 w 3623"/>
                <a:gd name="T21" fmla="*/ 3171 h 4076"/>
                <a:gd name="T22" fmla="*/ 3623 w 3623"/>
                <a:gd name="T23" fmla="*/ 906 h 4076"/>
                <a:gd name="T24" fmla="*/ 1812 w 3623"/>
                <a:gd name="T25" fmla="*/ 1812 h 4076"/>
                <a:gd name="T26" fmla="*/ 1812 w 3623"/>
                <a:gd name="T27" fmla="*/ 4076 h 4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23" h="4076">
                  <a:moveTo>
                    <a:pt x="3623" y="906"/>
                  </a:moveTo>
                  <a:lnTo>
                    <a:pt x="1812" y="1812"/>
                  </a:lnTo>
                  <a:lnTo>
                    <a:pt x="0" y="906"/>
                  </a:lnTo>
                  <a:moveTo>
                    <a:pt x="906" y="453"/>
                  </a:moveTo>
                  <a:lnTo>
                    <a:pt x="2699" y="1358"/>
                  </a:lnTo>
                  <a:moveTo>
                    <a:pt x="3623" y="906"/>
                  </a:moveTo>
                  <a:lnTo>
                    <a:pt x="1812" y="0"/>
                  </a:lnTo>
                  <a:lnTo>
                    <a:pt x="0" y="906"/>
                  </a:lnTo>
                  <a:lnTo>
                    <a:pt x="0" y="3171"/>
                  </a:lnTo>
                  <a:lnTo>
                    <a:pt x="1812" y="4076"/>
                  </a:lnTo>
                  <a:lnTo>
                    <a:pt x="3623" y="3171"/>
                  </a:lnTo>
                  <a:lnTo>
                    <a:pt x="3623" y="906"/>
                  </a:lnTo>
                  <a:moveTo>
                    <a:pt x="1812" y="1812"/>
                  </a:moveTo>
                  <a:lnTo>
                    <a:pt x="1812" y="4076"/>
                  </a:lnTo>
                </a:path>
              </a:pathLst>
            </a:custGeom>
            <a:noFill/>
            <a:ln w="952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5" name="Rectangle 24">
            <a:extLst>
              <a:ext uri="{FF2B5EF4-FFF2-40B4-BE49-F238E27FC236}">
                <a16:creationId xmlns:a16="http://schemas.microsoft.com/office/drawing/2014/main" id="{441D916B-98BA-0527-07F3-5D5149AED1DF}"/>
              </a:ext>
            </a:extLst>
          </p:cNvPr>
          <p:cNvSpPr>
            <a:spLocks/>
          </p:cNvSpPr>
          <p:nvPr/>
        </p:nvSpPr>
        <p:spPr bwMode="auto">
          <a:xfrm>
            <a:off x="7105244" y="5047261"/>
            <a:ext cx="4200931" cy="91307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243A5E"/>
                </a:solidFill>
                <a:effectLst/>
                <a:uLnTx/>
                <a:uFillTx/>
                <a:latin typeface="Segoe UI Semibold"/>
                <a:ea typeface="+mn-ea"/>
                <a:cs typeface="Segoe UI" pitchFamily="34" charset="0"/>
              </a:rPr>
              <a:t>Workloads</a:t>
            </a:r>
          </a:p>
          <a:p>
            <a:pPr marL="0" marR="0" lvl="0" indent="0" algn="l" defTabSz="932472" rtl="0" eaLnBrk="1" fontAlgn="base"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itchFamily="34" charset="0"/>
              </a:rPr>
              <a:t>Our most advanced service focused on your business-critical solutions delivered by a designated team of experts</a:t>
            </a:r>
          </a:p>
        </p:txBody>
      </p:sp>
      <p:grpSp>
        <p:nvGrpSpPr>
          <p:cNvPr id="41" name="Group 40">
            <a:extLst>
              <a:ext uri="{FF2B5EF4-FFF2-40B4-BE49-F238E27FC236}">
                <a16:creationId xmlns:a16="http://schemas.microsoft.com/office/drawing/2014/main" id="{8999B57B-AFDB-77B9-751D-79A47D189C1C}"/>
              </a:ext>
              <a:ext uri="{C183D7F6-B498-43B3-948B-1728B52AA6E4}">
                <adec:decorative xmlns:adec="http://schemas.microsoft.com/office/drawing/2017/decorative" val="1"/>
              </a:ext>
            </a:extLst>
          </p:cNvPr>
          <p:cNvGrpSpPr/>
          <p:nvPr/>
        </p:nvGrpSpPr>
        <p:grpSpPr>
          <a:xfrm>
            <a:off x="6389283" y="5247216"/>
            <a:ext cx="513166" cy="513159"/>
            <a:chOff x="6351183" y="5284320"/>
            <a:chExt cx="513166" cy="513159"/>
          </a:xfrm>
        </p:grpSpPr>
        <p:sp>
          <p:nvSpPr>
            <p:cNvPr id="37" name="Freeform: Shape 36">
              <a:extLst>
                <a:ext uri="{FF2B5EF4-FFF2-40B4-BE49-F238E27FC236}">
                  <a16:creationId xmlns:a16="http://schemas.microsoft.com/office/drawing/2014/main" id="{10F397BB-8DBA-C188-BD80-5D2D6E8C3609}"/>
                </a:ext>
              </a:extLst>
            </p:cNvPr>
            <p:cNvSpPr>
              <a:spLocks/>
            </p:cNvSpPr>
            <p:nvPr/>
          </p:nvSpPr>
          <p:spPr>
            <a:xfrm>
              <a:off x="6351183" y="5284320"/>
              <a:ext cx="513166" cy="513159"/>
            </a:xfrm>
            <a:custGeom>
              <a:avLst/>
              <a:gdLst>
                <a:gd name="connsiteX0" fmla="*/ 252 w 552450"/>
                <a:gd name="connsiteY0" fmla="*/ 275959 h 552450"/>
                <a:gd name="connsiteX1" fmla="*/ 276477 w 552450"/>
                <a:gd name="connsiteY1" fmla="*/ -266 h 552450"/>
                <a:gd name="connsiteX2" fmla="*/ 552702 w 552450"/>
                <a:gd name="connsiteY2" fmla="*/ 275959 h 552450"/>
                <a:gd name="connsiteX3" fmla="*/ 276477 w 552450"/>
                <a:gd name="connsiteY3" fmla="*/ 552184 h 552450"/>
                <a:gd name="connsiteX4" fmla="*/ 252 w 552450"/>
                <a:gd name="connsiteY4" fmla="*/ 275959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552450">
                  <a:moveTo>
                    <a:pt x="252" y="275959"/>
                  </a:moveTo>
                  <a:cubicBezTo>
                    <a:pt x="252" y="123407"/>
                    <a:pt x="123925" y="-266"/>
                    <a:pt x="276477" y="-266"/>
                  </a:cubicBezTo>
                  <a:cubicBezTo>
                    <a:pt x="429029" y="-266"/>
                    <a:pt x="552702" y="123407"/>
                    <a:pt x="552702" y="275959"/>
                  </a:cubicBezTo>
                  <a:cubicBezTo>
                    <a:pt x="552702" y="428511"/>
                    <a:pt x="429029" y="552184"/>
                    <a:pt x="276477" y="552184"/>
                  </a:cubicBezTo>
                  <a:cubicBezTo>
                    <a:pt x="123925" y="552184"/>
                    <a:pt x="252" y="428511"/>
                    <a:pt x="252" y="275959"/>
                  </a:cubicBezTo>
                  <a:close/>
                </a:path>
              </a:pathLst>
            </a:custGeom>
            <a:solidFill>
              <a:schemeClr val="tx2"/>
            </a:solidFill>
            <a:ln w="6350" cap="flat">
              <a:solidFill>
                <a:schemeClr val="tx2"/>
              </a:solidFill>
              <a:prstDash val="solid"/>
              <a:rou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43A5E"/>
                </a:solidFill>
                <a:effectLst/>
                <a:uLnTx/>
                <a:uFillTx/>
                <a:latin typeface="Segoe UI Semibold"/>
                <a:ea typeface="+mn-ea"/>
                <a:cs typeface="+mn-cs"/>
              </a:endParaRPr>
            </a:p>
          </p:txBody>
        </p:sp>
        <p:sp>
          <p:nvSpPr>
            <p:cNvPr id="34" name="CRMArticles_EFF5" title="Icon of two documents stacked together with writing on them">
              <a:extLst>
                <a:ext uri="{FF2B5EF4-FFF2-40B4-BE49-F238E27FC236}">
                  <a16:creationId xmlns:a16="http://schemas.microsoft.com/office/drawing/2014/main" id="{510E7840-825A-4553-20C1-F5B0AAF6028B}"/>
                </a:ext>
              </a:extLst>
            </p:cNvPr>
            <p:cNvSpPr>
              <a:spLocks noChangeAspect="1" noEditPoints="1"/>
            </p:cNvSpPr>
            <p:nvPr/>
          </p:nvSpPr>
          <p:spPr bwMode="auto">
            <a:xfrm>
              <a:off x="6491391" y="5408787"/>
              <a:ext cx="232750" cy="270332"/>
            </a:xfrm>
            <a:custGeom>
              <a:avLst/>
              <a:gdLst>
                <a:gd name="T0" fmla="*/ 551 w 3583"/>
                <a:gd name="T1" fmla="*/ 3585 h 4136"/>
                <a:gd name="T2" fmla="*/ 0 w 3583"/>
                <a:gd name="T3" fmla="*/ 3585 h 4136"/>
                <a:gd name="T4" fmla="*/ 0 w 3583"/>
                <a:gd name="T5" fmla="*/ 0 h 4136"/>
                <a:gd name="T6" fmla="*/ 3033 w 3583"/>
                <a:gd name="T7" fmla="*/ 0 h 4136"/>
                <a:gd name="T8" fmla="*/ 3033 w 3583"/>
                <a:gd name="T9" fmla="*/ 1103 h 4136"/>
                <a:gd name="T10" fmla="*/ 2480 w 3583"/>
                <a:gd name="T11" fmla="*/ 551 h 4136"/>
                <a:gd name="T12" fmla="*/ 2480 w 3583"/>
                <a:gd name="T13" fmla="*/ 1654 h 4136"/>
                <a:gd name="T14" fmla="*/ 3583 w 3583"/>
                <a:gd name="T15" fmla="*/ 1654 h 4136"/>
                <a:gd name="T16" fmla="*/ 3583 w 3583"/>
                <a:gd name="T17" fmla="*/ 1654 h 4136"/>
                <a:gd name="T18" fmla="*/ 2480 w 3583"/>
                <a:gd name="T19" fmla="*/ 551 h 4136"/>
                <a:gd name="T20" fmla="*/ 551 w 3583"/>
                <a:gd name="T21" fmla="*/ 551 h 4136"/>
                <a:gd name="T22" fmla="*/ 551 w 3583"/>
                <a:gd name="T23" fmla="*/ 4136 h 4136"/>
                <a:gd name="T24" fmla="*/ 3583 w 3583"/>
                <a:gd name="T25" fmla="*/ 4136 h 4136"/>
                <a:gd name="T26" fmla="*/ 3583 w 3583"/>
                <a:gd name="T27" fmla="*/ 1654 h 4136"/>
                <a:gd name="T28" fmla="*/ 965 w 3583"/>
                <a:gd name="T29" fmla="*/ 2757 h 4136"/>
                <a:gd name="T30" fmla="*/ 2894 w 3583"/>
                <a:gd name="T31" fmla="*/ 2757 h 4136"/>
                <a:gd name="T32" fmla="*/ 965 w 3583"/>
                <a:gd name="T33" fmla="*/ 2206 h 4136"/>
                <a:gd name="T34" fmla="*/ 2894 w 3583"/>
                <a:gd name="T35" fmla="*/ 2206 h 4136"/>
                <a:gd name="T36" fmla="*/ 965 w 3583"/>
                <a:gd name="T37" fmla="*/ 1654 h 4136"/>
                <a:gd name="T38" fmla="*/ 2068 w 3583"/>
                <a:gd name="T39" fmla="*/ 1654 h 4136"/>
                <a:gd name="T40" fmla="*/ 965 w 3583"/>
                <a:gd name="T41" fmla="*/ 1103 h 4136"/>
                <a:gd name="T42" fmla="*/ 2068 w 3583"/>
                <a:gd name="T43" fmla="*/ 1103 h 4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83" h="4136">
                  <a:moveTo>
                    <a:pt x="551" y="3585"/>
                  </a:moveTo>
                  <a:lnTo>
                    <a:pt x="0" y="3585"/>
                  </a:lnTo>
                  <a:lnTo>
                    <a:pt x="0" y="0"/>
                  </a:lnTo>
                  <a:lnTo>
                    <a:pt x="3033" y="0"/>
                  </a:lnTo>
                  <a:lnTo>
                    <a:pt x="3033" y="1103"/>
                  </a:lnTo>
                  <a:moveTo>
                    <a:pt x="2480" y="551"/>
                  </a:moveTo>
                  <a:lnTo>
                    <a:pt x="2480" y="1654"/>
                  </a:lnTo>
                  <a:lnTo>
                    <a:pt x="3583" y="1654"/>
                  </a:lnTo>
                  <a:moveTo>
                    <a:pt x="3583" y="1654"/>
                  </a:moveTo>
                  <a:lnTo>
                    <a:pt x="2480" y="551"/>
                  </a:lnTo>
                  <a:lnTo>
                    <a:pt x="551" y="551"/>
                  </a:lnTo>
                  <a:lnTo>
                    <a:pt x="551" y="4136"/>
                  </a:lnTo>
                  <a:lnTo>
                    <a:pt x="3583" y="4136"/>
                  </a:lnTo>
                  <a:lnTo>
                    <a:pt x="3583" y="1654"/>
                  </a:lnTo>
                  <a:moveTo>
                    <a:pt x="965" y="2757"/>
                  </a:moveTo>
                  <a:lnTo>
                    <a:pt x="2894" y="2757"/>
                  </a:lnTo>
                  <a:moveTo>
                    <a:pt x="965" y="2206"/>
                  </a:moveTo>
                  <a:lnTo>
                    <a:pt x="2894" y="2206"/>
                  </a:lnTo>
                  <a:moveTo>
                    <a:pt x="965" y="1654"/>
                  </a:moveTo>
                  <a:lnTo>
                    <a:pt x="2068" y="1654"/>
                  </a:lnTo>
                  <a:moveTo>
                    <a:pt x="965" y="1103"/>
                  </a:moveTo>
                  <a:lnTo>
                    <a:pt x="2068" y="1103"/>
                  </a:lnTo>
                </a:path>
              </a:pathLst>
            </a:custGeom>
            <a:noFill/>
            <a:ln w="952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48" name="Straight Connector 47">
            <a:extLst>
              <a:ext uri="{FF2B5EF4-FFF2-40B4-BE49-F238E27FC236}">
                <a16:creationId xmlns:a16="http://schemas.microsoft.com/office/drawing/2014/main" id="{BF7D1B44-1A0A-51FA-4980-C3CC4F71C5EE}"/>
              </a:ext>
              <a:ext uri="{C183D7F6-B498-43B3-948B-1728B52AA6E4}">
                <adec:decorative xmlns:adec="http://schemas.microsoft.com/office/drawing/2017/decorative" val="1"/>
              </a:ext>
            </a:extLst>
          </p:cNvPr>
          <p:cNvCxnSpPr>
            <a:cxnSpLocks/>
          </p:cNvCxnSpPr>
          <p:nvPr/>
        </p:nvCxnSpPr>
        <p:spPr>
          <a:xfrm flipH="1">
            <a:off x="7105244" y="4909361"/>
            <a:ext cx="4307100"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EC81D25-9250-CEA0-0680-ADDA124B9972}"/>
              </a:ext>
              <a:ext uri="{C183D7F6-B498-43B3-948B-1728B52AA6E4}">
                <adec:decorative xmlns:adec="http://schemas.microsoft.com/office/drawing/2017/decorative" val="1"/>
              </a:ext>
            </a:extLst>
          </p:cNvPr>
          <p:cNvCxnSpPr>
            <a:cxnSpLocks/>
          </p:cNvCxnSpPr>
          <p:nvPr/>
        </p:nvCxnSpPr>
        <p:spPr>
          <a:xfrm flipH="1">
            <a:off x="7105244" y="3720491"/>
            <a:ext cx="4307100"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469396E-2EED-AEBD-99DA-5F4BCA33CA39}"/>
              </a:ext>
              <a:ext uri="{C183D7F6-B498-43B3-948B-1728B52AA6E4}">
                <adec:decorative xmlns:adec="http://schemas.microsoft.com/office/drawing/2017/decorative" val="1"/>
              </a:ext>
            </a:extLst>
          </p:cNvPr>
          <p:cNvSpPr/>
          <p:nvPr/>
        </p:nvSpPr>
        <p:spPr bwMode="auto">
          <a:xfrm>
            <a:off x="970359" y="3140922"/>
            <a:ext cx="45719" cy="84730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AD80DDA9-2000-6E89-136B-CF36AB2B3CB2}"/>
              </a:ext>
              <a:ext uri="{C183D7F6-B498-43B3-948B-1728B52AA6E4}">
                <adec:decorative xmlns:adec="http://schemas.microsoft.com/office/drawing/2017/decorative" val="1"/>
              </a:ext>
            </a:extLst>
          </p:cNvPr>
          <p:cNvSpPr/>
          <p:nvPr/>
        </p:nvSpPr>
        <p:spPr bwMode="auto">
          <a:xfrm>
            <a:off x="989487" y="4756327"/>
            <a:ext cx="45719" cy="84730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9139668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22">
            <a:extLst>
              <a:ext uri="{FF2B5EF4-FFF2-40B4-BE49-F238E27FC236}">
                <a16:creationId xmlns:a16="http://schemas.microsoft.com/office/drawing/2014/main" id="{0688C517-B369-4249-B5AE-66EA1BC13F6B}"/>
              </a:ext>
            </a:extLst>
          </p:cNvPr>
          <p:cNvGraphicFramePr>
            <a:graphicFrameLocks noGrp="1"/>
          </p:cNvGraphicFramePr>
          <p:nvPr>
            <p:extLst>
              <p:ext uri="{D42A27DB-BD31-4B8C-83A1-F6EECF244321}">
                <p14:modId xmlns:p14="http://schemas.microsoft.com/office/powerpoint/2010/main" val="1554420969"/>
              </p:ext>
            </p:extLst>
          </p:nvPr>
        </p:nvGraphicFramePr>
        <p:xfrm>
          <a:off x="345904" y="2090453"/>
          <a:ext cx="11521440" cy="4620358"/>
        </p:xfrm>
        <a:graphic>
          <a:graphicData uri="http://schemas.openxmlformats.org/drawingml/2006/table">
            <a:tbl>
              <a:tblPr firstRow="1" bandRow="1">
                <a:tableStyleId>{5C22544A-7EE6-4342-B048-85BDC9FD1C3A}</a:tableStyleId>
              </a:tblPr>
              <a:tblGrid>
                <a:gridCol w="2316480">
                  <a:extLst>
                    <a:ext uri="{9D8B030D-6E8A-4147-A177-3AD203B41FA5}">
                      <a16:colId xmlns:a16="http://schemas.microsoft.com/office/drawing/2014/main" val="4161073840"/>
                    </a:ext>
                  </a:extLst>
                </a:gridCol>
                <a:gridCol w="2954645">
                  <a:extLst>
                    <a:ext uri="{9D8B030D-6E8A-4147-A177-3AD203B41FA5}">
                      <a16:colId xmlns:a16="http://schemas.microsoft.com/office/drawing/2014/main" val="3286670107"/>
                    </a:ext>
                  </a:extLst>
                </a:gridCol>
                <a:gridCol w="6250315">
                  <a:extLst>
                    <a:ext uri="{9D8B030D-6E8A-4147-A177-3AD203B41FA5}">
                      <a16:colId xmlns:a16="http://schemas.microsoft.com/office/drawing/2014/main" val="3305721556"/>
                    </a:ext>
                  </a:extLst>
                </a:gridCol>
              </a:tblGrid>
              <a:tr h="430836">
                <a:tc>
                  <a:txBody>
                    <a:bodyPr/>
                    <a:lstStyle/>
                    <a:p>
                      <a:pPr marL="0" marR="0" lvl="0" indent="0" algn="ctr"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a:pPr>
                      <a:r>
                        <a:rPr lang="en-US" sz="1000" b="0" kern="1200">
                          <a:solidFill>
                            <a:schemeClr val="accent2"/>
                          </a:solidFill>
                          <a:latin typeface="+mj-lt"/>
                          <a:ea typeface="+mn-ea"/>
                          <a:cs typeface="+mn-cs"/>
                        </a:rPr>
                        <a:t>Your priorities</a:t>
                      </a:r>
                    </a:p>
                  </a:txBody>
                  <a:tcPr marL="182880" marR="89642"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ctr"/>
                      <a:r>
                        <a:rPr lang="en-US" sz="1000" b="0" kern="1200">
                          <a:solidFill>
                            <a:schemeClr val="accent2"/>
                          </a:solidFill>
                          <a:latin typeface="+mj-lt"/>
                          <a:ea typeface="+mn-ea"/>
                          <a:cs typeface="+mn-cs"/>
                        </a:rPr>
                        <a:t>Description</a:t>
                      </a:r>
                    </a:p>
                  </a:txBody>
                  <a:tcPr marL="182880" marR="27432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ctr"/>
                      <a:r>
                        <a:rPr lang="en-US" sz="1000" b="0" kern="1200">
                          <a:solidFill>
                            <a:schemeClr val="accent2"/>
                          </a:solidFill>
                          <a:latin typeface="+mj-lt"/>
                          <a:ea typeface="+mn-ea"/>
                          <a:cs typeface="+mn-cs"/>
                        </a:rPr>
                        <a:t>How Unified can help</a:t>
                      </a:r>
                    </a:p>
                  </a:txBody>
                  <a:tcPr marL="182880" marR="89642"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437874757"/>
                  </a:ext>
                </a:extLst>
              </a:tr>
              <a:tr h="1030930">
                <a:tc>
                  <a:txBody>
                    <a:bodyPr/>
                    <a:lstStyle/>
                    <a:p>
                      <a:pPr marL="685800" lvl="0" indent="0" algn="l">
                        <a:lnSpc>
                          <a:spcPct val="100000"/>
                        </a:lnSpc>
                        <a:spcBef>
                          <a:spcPts val="200"/>
                        </a:spcBef>
                        <a:spcAft>
                          <a:spcPts val="0"/>
                        </a:spcAft>
                        <a:buFont typeface="Arial" panose="020B0604020202020204" pitchFamily="34" charset="0"/>
                        <a:buNone/>
                      </a:pPr>
                      <a:r>
                        <a:rPr lang="en-GB" sz="1000" spc="0">
                          <a:solidFill>
                            <a:schemeClr val="tx1"/>
                          </a:solidFill>
                          <a:latin typeface="+mj-lt"/>
                          <a:cs typeface="Segoe UI Semibold" panose="020B0702040204020203" pitchFamily="34" charset="0"/>
                        </a:rPr>
                        <a:t>Proactive Services and Risk Prevention</a:t>
                      </a:r>
                      <a:endParaRPr lang="en-US" sz="1000" spc="0">
                        <a:solidFill>
                          <a:schemeClr val="tx1"/>
                        </a:solidFill>
                        <a:latin typeface="+mj-lt"/>
                        <a:cs typeface="Segoe UI Semibold" panose="020B0702040204020203" pitchFamily="34" charset="0"/>
                      </a:endParaRPr>
                    </a:p>
                  </a:txBody>
                  <a:tcPr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GB" sz="1000" b="0">
                          <a:solidFill>
                            <a:schemeClr val="tx1"/>
                          </a:solidFill>
                        </a:rPr>
                        <a:t>pre-migration risk assessments, design validations, and best-practice guidance</a:t>
                      </a:r>
                      <a:endParaRPr lang="en-US" sz="1000" b="0">
                        <a:solidFill>
                          <a:schemeClr val="tx1"/>
                        </a:solidFill>
                      </a:endParaRPr>
                    </a:p>
                  </a:txBody>
                  <a:tcPr marL="64008" marR="64008" marT="36576" marB="36576"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GB" sz="1000" b="0" kern="1200">
                          <a:solidFill>
                            <a:schemeClr val="tx1"/>
                          </a:solidFill>
                          <a:latin typeface="+mn-lt"/>
                          <a:ea typeface="+mn-ea"/>
                          <a:cs typeface="+mn-cs"/>
                        </a:rPr>
                        <a:t>Unified allows dmg media to conduct pre-migration risk assessments, design validations, and best-practice guidance that reduce the likelihood of disruptions. Customers have access to "on-demand assessments that drive awareness of security and help manage and improve platform health across the Microsoft technology stack“ and Customer Success Programs.</a:t>
                      </a:r>
                      <a:endParaRPr lang="en-US" sz="1000" b="0" kern="1200" dirty="0">
                        <a:solidFill>
                          <a:schemeClr val="tx1"/>
                        </a:solidFill>
                        <a:latin typeface="+mn-lt"/>
                        <a:ea typeface="+mn-ea"/>
                        <a:cs typeface="+mn-cs"/>
                      </a:endParaRPr>
                    </a:p>
                  </a:txBody>
                  <a:tcPr marL="64008" marR="64008" marT="36576" marB="36576"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5228561"/>
                  </a:ext>
                </a:extLst>
              </a:tr>
              <a:tr h="938608">
                <a:tc>
                  <a:txBody>
                    <a:bodyPr/>
                    <a:lstStyle/>
                    <a:p>
                      <a:pPr marL="685800" marR="0" lvl="0" indent="0" algn="l" defTabSz="914016" rtl="0" eaLnBrk="1" fontAlgn="auto" latinLnBrk="0" hangingPunct="1">
                        <a:lnSpc>
                          <a:spcPct val="100000"/>
                        </a:lnSpc>
                        <a:spcBef>
                          <a:spcPts val="200"/>
                        </a:spcBef>
                        <a:spcAft>
                          <a:spcPts val="0"/>
                        </a:spcAft>
                        <a:buClrTx/>
                        <a:buSzTx/>
                        <a:buFont typeface="Arial" panose="020B0604020202020204" pitchFamily="34" charset="0"/>
                        <a:buNone/>
                        <a:tabLst/>
                        <a:defRPr/>
                      </a:pPr>
                      <a:r>
                        <a:rPr lang="en-GB" sz="1000" kern="1200" spc="0">
                          <a:solidFill>
                            <a:schemeClr val="tx1"/>
                          </a:solidFill>
                          <a:latin typeface="+mj-lt"/>
                          <a:ea typeface="+mn-ea"/>
                          <a:cs typeface="Segoe UI Semibold" panose="020B0702040204020203" pitchFamily="34" charset="0"/>
                        </a:rPr>
                        <a:t>Engineering Engagement and Expertise Access</a:t>
                      </a:r>
                      <a:endParaRPr lang="en-US" sz="1000" kern="1200" spc="0">
                        <a:solidFill>
                          <a:schemeClr val="tx1"/>
                        </a:solidFill>
                        <a:latin typeface="+mj-lt"/>
                        <a:ea typeface="+mn-ea"/>
                        <a:cs typeface="Segoe UI Semibold" panose="020B0702040204020203" pitchFamily="34" charset="0"/>
                      </a:endParaRPr>
                    </a:p>
                  </a:txBody>
                  <a:tcPr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rowSpan="2">
                  <a:txBody>
                    <a:bodyPr/>
                    <a:lstStyle/>
                    <a:p>
                      <a:r>
                        <a:rPr lang="en-GB" sz="1000">
                          <a:solidFill>
                            <a:schemeClr val="tx1"/>
                          </a:solidFill>
                        </a:rPr>
                        <a:t>direct access to Microsoft product engineers, Cloud Solution Architects, and Product Group advisors through Mission Critical Services</a:t>
                      </a:r>
                      <a:endParaRPr lang="en-US" sz="1000">
                        <a:solidFill>
                          <a:schemeClr val="tx1"/>
                        </a:solidFill>
                      </a:endParaRPr>
                    </a:p>
                  </a:txBody>
                  <a:tcPr marL="64008" marR="64008" marT="36576" marB="36576"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rowSpan="2">
                  <a:txBody>
                    <a:bodyPr/>
                    <a:lstStyle/>
                    <a:p>
                      <a:r>
                        <a:rPr lang="en-GB" sz="1000">
                          <a:solidFill>
                            <a:schemeClr val="tx1"/>
                          </a:solidFill>
                        </a:rPr>
                        <a:t>For Azure-related critical incidents, Unified provides a 15-minute first-call response with continuous 24×7 effort and a critical situation resource assigned immediately. Unified includes rapid escalation within Microsoft to product teams and notification of Microsoft senior executives as required for Severity 1 incidents under Mission Critical Services. This direct pipeline into product engineering is confirmed as exclusive to Unified Support. Routing all Azure support incidents to a designated team of engineers with cloud service expertise who retain primary responsibility 24×7×365. </a:t>
                      </a:r>
                      <a:endParaRPr lang="en-US" sz="1000">
                        <a:solidFill>
                          <a:schemeClr val="tx1"/>
                        </a:solidFill>
                      </a:endParaRPr>
                    </a:p>
                  </a:txBody>
                  <a:tcPr marL="64008" marR="64008" marT="36576" marB="36576"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45787673"/>
                  </a:ext>
                </a:extLst>
              </a:tr>
              <a:tr h="692416">
                <a:tc>
                  <a:txBody>
                    <a:bodyPr/>
                    <a:lstStyle/>
                    <a:p>
                      <a:pPr marL="685800" lvl="0" indent="0" algn="l">
                        <a:lnSpc>
                          <a:spcPct val="100000"/>
                        </a:lnSpc>
                        <a:spcBef>
                          <a:spcPts val="200"/>
                        </a:spcBef>
                        <a:spcAft>
                          <a:spcPts val="0"/>
                        </a:spcAft>
                        <a:buFont typeface="Arial" panose="020B0604020202020204" pitchFamily="34" charset="0"/>
                        <a:buNone/>
                      </a:pPr>
                      <a:r>
                        <a:rPr lang="en-US" sz="1000" kern="1200" spc="0">
                          <a:solidFill>
                            <a:schemeClr val="tx1"/>
                          </a:solidFill>
                          <a:latin typeface="+mj-lt"/>
                          <a:ea typeface="+mn-ea"/>
                          <a:cs typeface="Segoe UI Semibold" panose="020B0702040204020203" pitchFamily="34" charset="0"/>
                        </a:rPr>
                        <a:t>Support Escalation and Incident Response</a:t>
                      </a:r>
                    </a:p>
                  </a:txBody>
                  <a:tcPr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endParaRPr lang="en-US" sz="1200">
                        <a:solidFill>
                          <a:schemeClr val="tx1"/>
                        </a:solidFill>
                      </a:endParaRPr>
                    </a:p>
                  </a:txBody>
                  <a:tcPr marL="64008" marR="64008" marT="36576" marB="36576"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vMerge="1">
                  <a:txBody>
                    <a:bodyPr/>
                    <a:lstStyle/>
                    <a:p>
                      <a:endParaRPr lang="en-US" sz="1200">
                        <a:solidFill>
                          <a:schemeClr val="tx1"/>
                        </a:solidFill>
                      </a:endParaRPr>
                    </a:p>
                  </a:txBody>
                  <a:tcPr marL="64008" marR="64008" marT="36576" marB="36576"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50521647"/>
                  </a:ext>
                </a:extLst>
              </a:tr>
              <a:tr h="692416">
                <a:tc>
                  <a:txBody>
                    <a:bodyPr/>
                    <a:lstStyle/>
                    <a:p>
                      <a:pPr marL="685800" lvl="0" indent="0" algn="l">
                        <a:lnSpc>
                          <a:spcPct val="100000"/>
                        </a:lnSpc>
                        <a:spcBef>
                          <a:spcPts val="200"/>
                        </a:spcBef>
                        <a:spcAft>
                          <a:spcPts val="0"/>
                        </a:spcAft>
                        <a:buFont typeface="Arial" panose="020B0604020202020204" pitchFamily="34" charset="0"/>
                        <a:buNone/>
                      </a:pPr>
                      <a:r>
                        <a:rPr lang="en-US" sz="1000" kern="1200" spc="0">
                          <a:solidFill>
                            <a:schemeClr val="tx1"/>
                          </a:solidFill>
                          <a:latin typeface="+mj-lt"/>
                          <a:ea typeface="+mn-ea"/>
                          <a:cs typeface="Segoe UI Semibold" panose="020B0702040204020203" pitchFamily="34" charset="0"/>
                        </a:rPr>
                        <a:t>Training and Upskilling Programs</a:t>
                      </a:r>
                    </a:p>
                  </a:txBody>
                  <a:tcPr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1000">
                          <a:solidFill>
                            <a:schemeClr val="tx1"/>
                          </a:solidFill>
                        </a:rPr>
                        <a:t>On-demand learning and ESI</a:t>
                      </a:r>
                    </a:p>
                  </a:txBody>
                  <a:tcPr marL="64008" marR="64008" marT="36576" marB="36576"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GB" sz="1000">
                          <a:solidFill>
                            <a:schemeClr val="tx1"/>
                          </a:solidFill>
                        </a:rPr>
                        <a:t>personalized engagement with dedicated Microsoft experts as an integrated part of your team, maximizing solution effectiveness by identifying issues and enhancing operational performance". implementing solutions while simultaneously upskilling your team — a "train-the-trainer" approach where "engineers embedded within your team support your objectives and upskill your team". Reducing in training expenditures after leveraging </a:t>
                      </a:r>
                      <a:r>
                        <a:rPr lang="en-GB" sz="1000" err="1">
                          <a:solidFill>
                            <a:schemeClr val="tx1"/>
                          </a:solidFill>
                        </a:rPr>
                        <a:t>Unified's</a:t>
                      </a:r>
                      <a:r>
                        <a:rPr lang="en-GB" sz="1000">
                          <a:solidFill>
                            <a:schemeClr val="tx1"/>
                          </a:solidFill>
                        </a:rPr>
                        <a:t> learning resources.</a:t>
                      </a:r>
                      <a:endParaRPr lang="en-US" sz="1000">
                        <a:solidFill>
                          <a:schemeClr val="tx1"/>
                        </a:solidFill>
                      </a:endParaRPr>
                    </a:p>
                  </a:txBody>
                  <a:tcPr marL="64008" marR="64008" marT="36576" marB="36576"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7648094"/>
                  </a:ext>
                </a:extLst>
              </a:tr>
              <a:tr h="692416">
                <a:tc>
                  <a:txBody>
                    <a:bodyPr/>
                    <a:lstStyle/>
                    <a:p>
                      <a:pPr marL="685800" lvl="0" indent="0" algn="l">
                        <a:lnSpc>
                          <a:spcPct val="100000"/>
                        </a:lnSpc>
                        <a:spcBef>
                          <a:spcPts val="200"/>
                        </a:spcBef>
                        <a:spcAft>
                          <a:spcPts val="0"/>
                        </a:spcAft>
                        <a:buFont typeface="Arial" panose="020B0604020202020204" pitchFamily="34" charset="0"/>
                        <a:buNone/>
                      </a:pPr>
                      <a:r>
                        <a:rPr lang="en-GB" sz="1000" kern="1200" spc="0">
                          <a:solidFill>
                            <a:schemeClr val="tx1"/>
                          </a:solidFill>
                          <a:latin typeface="+mj-lt"/>
                          <a:ea typeface="+mn-ea"/>
                          <a:cs typeface="Segoe UI Semibold" panose="020B0702040204020203" pitchFamily="34" charset="0"/>
                        </a:rPr>
                        <a:t>Ongoing Optimisation and Continuous Improvement</a:t>
                      </a:r>
                      <a:endParaRPr lang="en-US" sz="1000" kern="1200" spc="0">
                        <a:solidFill>
                          <a:schemeClr val="tx1"/>
                        </a:solidFill>
                        <a:latin typeface="+mj-lt"/>
                        <a:ea typeface="+mn-ea"/>
                        <a:cs typeface="Segoe UI Semibold" panose="020B0702040204020203" pitchFamily="34" charset="0"/>
                      </a:endParaRPr>
                    </a:p>
                  </a:txBody>
                  <a:tcPr marT="89642" marB="89642"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lang="en-US" sz="1000">
                          <a:solidFill>
                            <a:schemeClr val="tx1"/>
                          </a:solidFill>
                        </a:rPr>
                        <a:t>Post-migration assessments and optimization through Enhanced Designated Engineering</a:t>
                      </a:r>
                    </a:p>
                  </a:txBody>
                  <a:tcPr marL="64008" marR="64008" marT="36576" marB="36576"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r>
                        <a:rPr lang="en-US" sz="1000">
                          <a:solidFill>
                            <a:schemeClr val="tx1"/>
                          </a:solidFill>
                        </a:rPr>
                        <a:t>Assess to technology roadmaps and adoption guidance, ongoing review and recommendation through planned assessments and tailored engagement</a:t>
                      </a:r>
                    </a:p>
                  </a:txBody>
                  <a:tcPr marL="64008" marR="64008" marT="36576" marB="36576"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918797"/>
                  </a:ext>
                </a:extLst>
              </a:tr>
            </a:tbl>
          </a:graphicData>
        </a:graphic>
      </p:graphicFrame>
      <p:sp>
        <p:nvSpPr>
          <p:cNvPr id="22" name="TextBox 21">
            <a:extLst>
              <a:ext uri="{FF2B5EF4-FFF2-40B4-BE49-F238E27FC236}">
                <a16:creationId xmlns:a16="http://schemas.microsoft.com/office/drawing/2014/main" id="{31FD3DD6-2E60-4B7B-9D9D-00170C11DA25}"/>
              </a:ext>
            </a:extLst>
          </p:cNvPr>
          <p:cNvSpPr txBox="1"/>
          <p:nvPr/>
        </p:nvSpPr>
        <p:spPr>
          <a:xfrm>
            <a:off x="597999" y="1815467"/>
            <a:ext cx="11017250" cy="27498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Our relationship – A continuously evolving collaboration</a:t>
            </a:r>
          </a:p>
        </p:txBody>
      </p:sp>
      <p:sp>
        <p:nvSpPr>
          <p:cNvPr id="73" name="Title 5">
            <a:extLst>
              <a:ext uri="{FF2B5EF4-FFF2-40B4-BE49-F238E27FC236}">
                <a16:creationId xmlns:a16="http://schemas.microsoft.com/office/drawing/2014/main" id="{393F1C81-A1C2-8536-A786-DF5C1CABE38E}"/>
              </a:ext>
            </a:extLst>
          </p:cNvPr>
          <p:cNvSpPr>
            <a:spLocks noGrp="1"/>
          </p:cNvSpPr>
          <p:nvPr>
            <p:ph type="title"/>
          </p:nvPr>
        </p:nvSpPr>
        <p:spPr>
          <a:xfrm>
            <a:off x="575481" y="599436"/>
            <a:ext cx="11018520" cy="615553"/>
          </a:xfrm>
        </p:spPr>
        <p:txBody>
          <a:bodyPr/>
          <a:lstStyle/>
          <a:p>
            <a:r>
              <a:rPr lang="en-US" sz="4000"/>
              <a:t>Why Microsoft Unified for </a:t>
            </a:r>
            <a:r>
              <a:rPr lang="en-US" sz="4000" dirty="0">
                <a:solidFill>
                  <a:srgbClr val="243A5E"/>
                </a:solidFill>
              </a:rPr>
              <a:t>dmg media</a:t>
            </a:r>
            <a:endParaRPr lang="en-US" sz="4000"/>
          </a:p>
        </p:txBody>
      </p:sp>
      <p:sp>
        <p:nvSpPr>
          <p:cNvPr id="74" name="Text Placeholder 6">
            <a:extLst>
              <a:ext uri="{FF2B5EF4-FFF2-40B4-BE49-F238E27FC236}">
                <a16:creationId xmlns:a16="http://schemas.microsoft.com/office/drawing/2014/main" id="{6AC2807F-F93D-C267-35F2-B3B9826C14DA}"/>
              </a:ext>
            </a:extLst>
          </p:cNvPr>
          <p:cNvSpPr>
            <a:spLocks noGrp="1"/>
          </p:cNvSpPr>
          <p:nvPr>
            <p:ph type="body" sz="quarter" idx="12"/>
          </p:nvPr>
        </p:nvSpPr>
        <p:spPr>
          <a:xfrm>
            <a:off x="565956" y="1252193"/>
            <a:ext cx="11036299" cy="492443"/>
          </a:xfrm>
        </p:spPr>
        <p:txBody>
          <a:bodyPr/>
          <a:lstStyle/>
          <a:p>
            <a:pPr lvl="0"/>
            <a:r>
              <a:rPr lang="en-US" noProof="0"/>
              <a:t>A modern approach to customer success that that meets the needs of your evolving organization and helps achieve business outcomes</a:t>
            </a:r>
          </a:p>
        </p:txBody>
      </p:sp>
    </p:spTree>
    <p:extLst>
      <p:ext uri="{BB962C8B-B14F-4D97-AF65-F5344CB8AC3E}">
        <p14:creationId xmlns:p14="http://schemas.microsoft.com/office/powerpoint/2010/main" val="15877749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E45C2-A97A-464E-FB97-775C67FD8F20}"/>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BA16850D-68B3-35B1-7B02-13E85D35D30B}"/>
              </a:ext>
              <a:ext uri="{C183D7F6-B498-43B3-948B-1728B52AA6E4}">
                <adec:decorative xmlns:adec="http://schemas.microsoft.com/office/drawing/2017/decorative" val="1"/>
              </a:ext>
            </a:extLst>
          </p:cNvPr>
          <p:cNvGrpSpPr/>
          <p:nvPr/>
        </p:nvGrpSpPr>
        <p:grpSpPr>
          <a:xfrm>
            <a:off x="0" y="0"/>
            <a:ext cx="12191998" cy="6562300"/>
            <a:chOff x="0" y="0"/>
            <a:chExt cx="12191998" cy="6562300"/>
          </a:xfrm>
        </p:grpSpPr>
        <p:pic>
          <p:nvPicPr>
            <p:cNvPr id="40" name="Picture 39" descr="People in an office">
              <a:extLst>
                <a:ext uri="{FF2B5EF4-FFF2-40B4-BE49-F238E27FC236}">
                  <a16:creationId xmlns:a16="http://schemas.microsoft.com/office/drawing/2014/main" id="{42B64C31-2F13-3EC9-5088-5887731A8DE4}"/>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8249" r="18249"/>
            <a:stretch/>
          </p:blipFill>
          <p:spPr>
            <a:xfrm>
              <a:off x="293688" y="1921562"/>
              <a:ext cx="4416077" cy="4640738"/>
            </a:xfrm>
            <a:custGeom>
              <a:avLst/>
              <a:gdLst>
                <a:gd name="connsiteX0" fmla="*/ 0 w 4416076"/>
                <a:gd name="connsiteY0" fmla="*/ 0 h 4640737"/>
                <a:gd name="connsiteX1" fmla="*/ 4416076 w 4416076"/>
                <a:gd name="connsiteY1" fmla="*/ 0 h 4640737"/>
                <a:gd name="connsiteX2" fmla="*/ 4416076 w 4416076"/>
                <a:gd name="connsiteY2" fmla="*/ 4640737 h 4640737"/>
                <a:gd name="connsiteX3" fmla="*/ 0 w 4416076"/>
                <a:gd name="connsiteY3" fmla="*/ 4640737 h 4640737"/>
              </a:gdLst>
              <a:ahLst/>
              <a:cxnLst>
                <a:cxn ang="0">
                  <a:pos x="connsiteX0" y="connsiteY0"/>
                </a:cxn>
                <a:cxn ang="0">
                  <a:pos x="connsiteX1" y="connsiteY1"/>
                </a:cxn>
                <a:cxn ang="0">
                  <a:pos x="connsiteX2" y="connsiteY2"/>
                </a:cxn>
                <a:cxn ang="0">
                  <a:pos x="connsiteX3" y="connsiteY3"/>
                </a:cxn>
              </a:cxnLst>
              <a:rect l="l" t="t" r="r" b="b"/>
              <a:pathLst>
                <a:path w="4416076" h="4640737">
                  <a:moveTo>
                    <a:pt x="0" y="0"/>
                  </a:moveTo>
                  <a:lnTo>
                    <a:pt x="4416076" y="0"/>
                  </a:lnTo>
                  <a:lnTo>
                    <a:pt x="4416076" y="4640737"/>
                  </a:lnTo>
                  <a:lnTo>
                    <a:pt x="0" y="4640737"/>
                  </a:lnTo>
                  <a:close/>
                </a:path>
              </a:pathLst>
            </a:custGeom>
            <a:noFill/>
            <a:effectLst>
              <a:outerShdw blurRad="50800" dist="38100" dir="5400000" algn="t" rotWithShape="0">
                <a:prstClr val="black">
                  <a:alpha val="20000"/>
                </a:prstClr>
              </a:outerShdw>
            </a:effectLst>
          </p:spPr>
        </p:pic>
        <p:sp>
          <p:nvSpPr>
            <p:cNvPr id="41" name="Freeform: Shape 40">
              <a:extLst>
                <a:ext uri="{FF2B5EF4-FFF2-40B4-BE49-F238E27FC236}">
                  <a16:creationId xmlns:a16="http://schemas.microsoft.com/office/drawing/2014/main" id="{02F7B64C-840D-F146-18AE-C5EC9C9C30A2}"/>
                </a:ext>
              </a:extLst>
            </p:cNvPr>
            <p:cNvSpPr>
              <a:spLocks/>
            </p:cNvSpPr>
            <p:nvPr/>
          </p:nvSpPr>
          <p:spPr bwMode="auto">
            <a:xfrm>
              <a:off x="1" y="0"/>
              <a:ext cx="12191997" cy="2348391"/>
            </a:xfrm>
            <a:custGeom>
              <a:avLst/>
              <a:gdLst>
                <a:gd name="connsiteX0" fmla="*/ 0 w 12191997"/>
                <a:gd name="connsiteY0" fmla="*/ 0 h 2348391"/>
                <a:gd name="connsiteX1" fmla="*/ 12191997 w 12191997"/>
                <a:gd name="connsiteY1" fmla="*/ 0 h 2348391"/>
                <a:gd name="connsiteX2" fmla="*/ 12191997 w 12191997"/>
                <a:gd name="connsiteY2" fmla="*/ 40262 h 2348391"/>
                <a:gd name="connsiteX3" fmla="*/ 12191997 w 12191997"/>
                <a:gd name="connsiteY3" fmla="*/ 1935102 h 2348391"/>
                <a:gd name="connsiteX4" fmla="*/ 12191997 w 12191997"/>
                <a:gd name="connsiteY4" fmla="*/ 2227202 h 2348391"/>
                <a:gd name="connsiteX5" fmla="*/ 954260 w 12191997"/>
                <a:gd name="connsiteY5" fmla="*/ 2227202 h 2348391"/>
                <a:gd name="connsiteX6" fmla="*/ 953580 w 12191997"/>
                <a:gd name="connsiteY6" fmla="*/ 2228027 h 2348391"/>
                <a:gd name="connsiteX7" fmla="*/ 662994 w 12191997"/>
                <a:gd name="connsiteY7" fmla="*/ 2348391 h 2348391"/>
                <a:gd name="connsiteX8" fmla="*/ 372409 w 12191997"/>
                <a:gd name="connsiteY8" fmla="*/ 2228027 h 2348391"/>
                <a:gd name="connsiteX9" fmla="*/ 371729 w 12191997"/>
                <a:gd name="connsiteY9" fmla="*/ 2227202 h 2348391"/>
                <a:gd name="connsiteX10" fmla="*/ 0 w 12191997"/>
                <a:gd name="connsiteY10" fmla="*/ 2227202 h 234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7" h="2348391">
                  <a:moveTo>
                    <a:pt x="0" y="0"/>
                  </a:moveTo>
                  <a:lnTo>
                    <a:pt x="12191997" y="0"/>
                  </a:lnTo>
                  <a:lnTo>
                    <a:pt x="12191997" y="40262"/>
                  </a:lnTo>
                  <a:lnTo>
                    <a:pt x="12191997" y="1935102"/>
                  </a:lnTo>
                  <a:lnTo>
                    <a:pt x="12191997" y="2227202"/>
                  </a:lnTo>
                  <a:lnTo>
                    <a:pt x="954260" y="2227202"/>
                  </a:lnTo>
                  <a:lnTo>
                    <a:pt x="953580" y="2228027"/>
                  </a:lnTo>
                  <a:cubicBezTo>
                    <a:pt x="879212" y="2302394"/>
                    <a:pt x="776475" y="2348391"/>
                    <a:pt x="662994" y="2348391"/>
                  </a:cubicBezTo>
                  <a:cubicBezTo>
                    <a:pt x="549514" y="2348391"/>
                    <a:pt x="446776" y="2302394"/>
                    <a:pt x="372409" y="2228027"/>
                  </a:cubicBezTo>
                  <a:lnTo>
                    <a:pt x="371729" y="2227202"/>
                  </a:lnTo>
                  <a:lnTo>
                    <a:pt x="0" y="2227202"/>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2" name="Rectangle 41">
              <a:extLst>
                <a:ext uri="{FF2B5EF4-FFF2-40B4-BE49-F238E27FC236}">
                  <a16:creationId xmlns:a16="http://schemas.microsoft.com/office/drawing/2014/main" id="{B5D11B8B-F4DE-72A6-085A-7A68097318CB}"/>
                </a:ext>
              </a:extLst>
            </p:cNvPr>
            <p:cNvSpPr>
              <a:spLocks/>
            </p:cNvSpPr>
            <p:nvPr/>
          </p:nvSpPr>
          <p:spPr bwMode="auto">
            <a:xfrm>
              <a:off x="6096000" y="292100"/>
              <a:ext cx="6095997" cy="162946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cxnSp>
          <p:nvCxnSpPr>
            <p:cNvPr id="43" name="Straight Connector 42">
              <a:extLst>
                <a:ext uri="{FF2B5EF4-FFF2-40B4-BE49-F238E27FC236}">
                  <a16:creationId xmlns:a16="http://schemas.microsoft.com/office/drawing/2014/main" id="{B1F2C3A8-1B46-FF5E-AFFD-BE8E162101A6}"/>
                </a:ext>
              </a:extLst>
            </p:cNvPr>
            <p:cNvCxnSpPr>
              <a:cxnSpLocks/>
              <a:endCxn id="44" idx="11"/>
            </p:cNvCxnSpPr>
            <p:nvPr/>
          </p:nvCxnSpPr>
          <p:spPr>
            <a:xfrm flipH="1">
              <a:off x="991608" y="1921566"/>
              <a:ext cx="11182103" cy="0"/>
            </a:xfrm>
            <a:prstGeom prst="line">
              <a:avLst/>
            </a:prstGeom>
            <a:solidFill>
              <a:schemeClr val="tx2"/>
            </a:solidFill>
            <a:ln w="15875" cap="flat">
              <a:solidFill>
                <a:schemeClr val="bg1"/>
              </a:solidFill>
              <a:prstDash val="solid"/>
              <a:miter lim="800000"/>
              <a:headEnd/>
              <a:tailEnd/>
            </a:ln>
          </p:spPr>
        </p:cxnSp>
        <p:sp>
          <p:nvSpPr>
            <p:cNvPr id="44" name="gear" title="Icon of a gear surrounded by a circle with lines of varying length">
              <a:extLst>
                <a:ext uri="{FF2B5EF4-FFF2-40B4-BE49-F238E27FC236}">
                  <a16:creationId xmlns:a16="http://schemas.microsoft.com/office/drawing/2014/main" id="{0AAE95CC-3B7F-DFD6-37C0-B81544507BDD}"/>
                </a:ext>
              </a:extLst>
            </p:cNvPr>
            <p:cNvSpPr>
              <a:spLocks noChangeAspect="1" noEditPoints="1"/>
            </p:cNvSpPr>
            <p:nvPr/>
          </p:nvSpPr>
          <p:spPr bwMode="auto">
            <a:xfrm>
              <a:off x="334380" y="1594376"/>
              <a:ext cx="657228" cy="654380"/>
            </a:xfrm>
            <a:custGeom>
              <a:avLst/>
              <a:gdLst>
                <a:gd name="T0" fmla="*/ 72 w 318"/>
                <a:gd name="T1" fmla="*/ 159 h 318"/>
                <a:gd name="T2" fmla="*/ 159 w 318"/>
                <a:gd name="T3" fmla="*/ 72 h 318"/>
                <a:gd name="T4" fmla="*/ 246 w 318"/>
                <a:gd name="T5" fmla="*/ 159 h 318"/>
                <a:gd name="T6" fmla="*/ 159 w 318"/>
                <a:gd name="T7" fmla="*/ 246 h 318"/>
                <a:gd name="T8" fmla="*/ 72 w 318"/>
                <a:gd name="T9" fmla="*/ 159 h 318"/>
                <a:gd name="T10" fmla="*/ 212 w 318"/>
                <a:gd name="T11" fmla="*/ 9 h 318"/>
                <a:gd name="T12" fmla="*/ 159 w 318"/>
                <a:gd name="T13" fmla="*/ 0 h 318"/>
                <a:gd name="T14" fmla="*/ 0 w 318"/>
                <a:gd name="T15" fmla="*/ 159 h 318"/>
                <a:gd name="T16" fmla="*/ 91 w 318"/>
                <a:gd name="T17" fmla="*/ 303 h 318"/>
                <a:gd name="T18" fmla="*/ 106 w 318"/>
                <a:gd name="T19" fmla="*/ 309 h 318"/>
                <a:gd name="T20" fmla="*/ 159 w 318"/>
                <a:gd name="T21" fmla="*/ 318 h 318"/>
                <a:gd name="T22" fmla="*/ 318 w 318"/>
                <a:gd name="T23" fmla="*/ 159 h 318"/>
                <a:gd name="T24" fmla="*/ 310 w 318"/>
                <a:gd name="T25" fmla="*/ 110 h 318"/>
                <a:gd name="T26" fmla="*/ 304 w 318"/>
                <a:gd name="T27" fmla="*/ 93 h 318"/>
                <a:gd name="T28" fmla="*/ 230 w 318"/>
                <a:gd name="T29" fmla="*/ 17 h 318"/>
                <a:gd name="T30" fmla="*/ 202 w 318"/>
                <a:gd name="T31" fmla="*/ 56 h 318"/>
                <a:gd name="T32" fmla="*/ 194 w 318"/>
                <a:gd name="T33" fmla="*/ 79 h 318"/>
                <a:gd name="T34" fmla="*/ 268 w 318"/>
                <a:gd name="T35" fmla="*/ 118 h 318"/>
                <a:gd name="T36" fmla="*/ 240 w 318"/>
                <a:gd name="T37" fmla="*/ 127 h 318"/>
                <a:gd name="T38" fmla="*/ 239 w 318"/>
                <a:gd name="T39" fmla="*/ 192 h 318"/>
                <a:gd name="T40" fmla="*/ 267 w 318"/>
                <a:gd name="T41" fmla="*/ 203 h 318"/>
                <a:gd name="T42" fmla="*/ 206 w 318"/>
                <a:gd name="T43" fmla="*/ 265 h 318"/>
                <a:gd name="T44" fmla="*/ 193 w 318"/>
                <a:gd name="T45" fmla="*/ 239 h 318"/>
                <a:gd name="T46" fmla="*/ 117 w 318"/>
                <a:gd name="T47" fmla="*/ 266 h 318"/>
                <a:gd name="T48" fmla="*/ 128 w 318"/>
                <a:gd name="T49" fmla="*/ 240 h 318"/>
                <a:gd name="T50" fmla="*/ 54 w 318"/>
                <a:gd name="T51" fmla="*/ 203 h 318"/>
                <a:gd name="T52" fmla="*/ 79 w 318"/>
                <a:gd name="T53" fmla="*/ 193 h 318"/>
                <a:gd name="T54" fmla="*/ 54 w 318"/>
                <a:gd name="T55" fmla="*/ 118 h 318"/>
                <a:gd name="T56" fmla="*/ 78 w 318"/>
                <a:gd name="T57" fmla="*/ 127 h 318"/>
                <a:gd name="T58" fmla="*/ 127 w 318"/>
                <a:gd name="T59" fmla="*/ 78 h 318"/>
                <a:gd name="T60" fmla="*/ 116 w 318"/>
                <a:gd name="T61" fmla="*/ 5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18" h="318">
                  <a:moveTo>
                    <a:pt x="72" y="159"/>
                  </a:moveTo>
                  <a:cubicBezTo>
                    <a:pt x="72" y="111"/>
                    <a:pt x="111" y="72"/>
                    <a:pt x="159" y="72"/>
                  </a:cubicBezTo>
                  <a:cubicBezTo>
                    <a:pt x="207" y="72"/>
                    <a:pt x="246" y="111"/>
                    <a:pt x="246" y="159"/>
                  </a:cubicBezTo>
                  <a:cubicBezTo>
                    <a:pt x="246" y="207"/>
                    <a:pt x="207" y="246"/>
                    <a:pt x="159" y="246"/>
                  </a:cubicBezTo>
                  <a:cubicBezTo>
                    <a:pt x="111" y="246"/>
                    <a:pt x="72" y="207"/>
                    <a:pt x="72" y="159"/>
                  </a:cubicBezTo>
                  <a:close/>
                  <a:moveTo>
                    <a:pt x="212" y="9"/>
                  </a:moveTo>
                  <a:cubicBezTo>
                    <a:pt x="195" y="3"/>
                    <a:pt x="177" y="0"/>
                    <a:pt x="159" y="0"/>
                  </a:cubicBezTo>
                  <a:cubicBezTo>
                    <a:pt x="71" y="0"/>
                    <a:pt x="0" y="71"/>
                    <a:pt x="0" y="159"/>
                  </a:cubicBezTo>
                  <a:cubicBezTo>
                    <a:pt x="0" y="223"/>
                    <a:pt x="37" y="277"/>
                    <a:pt x="91" y="303"/>
                  </a:cubicBezTo>
                  <a:moveTo>
                    <a:pt x="106" y="309"/>
                  </a:moveTo>
                  <a:cubicBezTo>
                    <a:pt x="122" y="315"/>
                    <a:pt x="140" y="318"/>
                    <a:pt x="159" y="318"/>
                  </a:cubicBezTo>
                  <a:cubicBezTo>
                    <a:pt x="247" y="318"/>
                    <a:pt x="318" y="247"/>
                    <a:pt x="318" y="159"/>
                  </a:cubicBezTo>
                  <a:cubicBezTo>
                    <a:pt x="318" y="142"/>
                    <a:pt x="315" y="126"/>
                    <a:pt x="310" y="110"/>
                  </a:cubicBezTo>
                  <a:moveTo>
                    <a:pt x="304" y="93"/>
                  </a:moveTo>
                  <a:cubicBezTo>
                    <a:pt x="289" y="60"/>
                    <a:pt x="262" y="33"/>
                    <a:pt x="230" y="17"/>
                  </a:cubicBezTo>
                  <a:moveTo>
                    <a:pt x="202" y="56"/>
                  </a:moveTo>
                  <a:cubicBezTo>
                    <a:pt x="194" y="79"/>
                    <a:pt x="194" y="79"/>
                    <a:pt x="194" y="79"/>
                  </a:cubicBezTo>
                  <a:moveTo>
                    <a:pt x="268" y="118"/>
                  </a:moveTo>
                  <a:cubicBezTo>
                    <a:pt x="240" y="127"/>
                    <a:pt x="240" y="127"/>
                    <a:pt x="240" y="127"/>
                  </a:cubicBezTo>
                  <a:moveTo>
                    <a:pt x="239" y="192"/>
                  </a:moveTo>
                  <a:cubicBezTo>
                    <a:pt x="267" y="203"/>
                    <a:pt x="267" y="203"/>
                    <a:pt x="267" y="203"/>
                  </a:cubicBezTo>
                  <a:moveTo>
                    <a:pt x="206" y="265"/>
                  </a:moveTo>
                  <a:cubicBezTo>
                    <a:pt x="193" y="239"/>
                    <a:pt x="193" y="239"/>
                    <a:pt x="193" y="239"/>
                  </a:cubicBezTo>
                  <a:moveTo>
                    <a:pt x="117" y="266"/>
                  </a:moveTo>
                  <a:cubicBezTo>
                    <a:pt x="128" y="240"/>
                    <a:pt x="128" y="240"/>
                    <a:pt x="128" y="240"/>
                  </a:cubicBezTo>
                  <a:moveTo>
                    <a:pt x="54" y="203"/>
                  </a:moveTo>
                  <a:cubicBezTo>
                    <a:pt x="79" y="193"/>
                    <a:pt x="79" y="193"/>
                    <a:pt x="79" y="193"/>
                  </a:cubicBezTo>
                  <a:moveTo>
                    <a:pt x="54" y="118"/>
                  </a:moveTo>
                  <a:cubicBezTo>
                    <a:pt x="78" y="127"/>
                    <a:pt x="78" y="127"/>
                    <a:pt x="78" y="127"/>
                  </a:cubicBezTo>
                  <a:moveTo>
                    <a:pt x="127" y="78"/>
                  </a:moveTo>
                  <a:cubicBezTo>
                    <a:pt x="116" y="56"/>
                    <a:pt x="116" y="56"/>
                    <a:pt x="116" y="56"/>
                  </a:cubicBezTo>
                </a:path>
              </a:pathLst>
            </a:custGeom>
            <a:solidFill>
              <a:schemeClr val="tx2"/>
            </a:solidFill>
            <a:ln w="1587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cxnSp>
          <p:nvCxnSpPr>
            <p:cNvPr id="45" name="Straight Connector 44">
              <a:extLst>
                <a:ext uri="{FF2B5EF4-FFF2-40B4-BE49-F238E27FC236}">
                  <a16:creationId xmlns:a16="http://schemas.microsoft.com/office/drawing/2014/main" id="{DB1EEF9A-8869-9F27-38CB-EF6BB5F7FB7D}"/>
                </a:ext>
              </a:extLst>
            </p:cNvPr>
            <p:cNvCxnSpPr>
              <a:cxnSpLocks/>
            </p:cNvCxnSpPr>
            <p:nvPr/>
          </p:nvCxnSpPr>
          <p:spPr>
            <a:xfrm flipH="1">
              <a:off x="0" y="1921566"/>
              <a:ext cx="293688" cy="0"/>
            </a:xfrm>
            <a:prstGeom prst="line">
              <a:avLst/>
            </a:prstGeom>
            <a:solidFill>
              <a:schemeClr val="tx2"/>
            </a:solidFill>
            <a:ln w="15875" cap="flat">
              <a:solidFill>
                <a:schemeClr val="bg1"/>
              </a:solidFill>
              <a:prstDash val="solid"/>
              <a:miter lim="800000"/>
              <a:headEnd/>
              <a:tailEnd/>
            </a:ln>
          </p:spPr>
        </p:cxnSp>
      </p:grpSp>
      <p:pic>
        <p:nvPicPr>
          <p:cNvPr id="46" name="Picture 45" descr="Microsoft Unified Logo">
            <a:extLst>
              <a:ext uri="{FF2B5EF4-FFF2-40B4-BE49-F238E27FC236}">
                <a16:creationId xmlns:a16="http://schemas.microsoft.com/office/drawing/2014/main" id="{124D8A72-C322-D995-7D61-8D8E8F8BED47}"/>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93688" y="292100"/>
            <a:ext cx="2208998" cy="293688"/>
          </a:xfrm>
          <a:prstGeom prst="rect">
            <a:avLst/>
          </a:prstGeom>
        </p:spPr>
      </p:pic>
      <p:sp>
        <p:nvSpPr>
          <p:cNvPr id="47" name="Title 2">
            <a:extLst>
              <a:ext uri="{FF2B5EF4-FFF2-40B4-BE49-F238E27FC236}">
                <a16:creationId xmlns:a16="http://schemas.microsoft.com/office/drawing/2014/main" id="{18D1537C-7A2B-1914-02DA-65C0E1A20F3F}"/>
              </a:ext>
            </a:extLst>
          </p:cNvPr>
          <p:cNvSpPr txBox="1">
            <a:spLocks/>
          </p:cNvSpPr>
          <p:nvPr/>
        </p:nvSpPr>
        <p:spPr>
          <a:xfrm>
            <a:off x="293688" y="891388"/>
            <a:ext cx="5679096" cy="430887"/>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pPr>
              <a:defRPr/>
            </a:pPr>
            <a:r>
              <a:rPr lang="en-IN" sz="2800" kern="700">
                <a:solidFill>
                  <a:schemeClr val="bg1"/>
                </a:solidFill>
                <a:latin typeface="+mn-lt"/>
                <a:cs typeface="Segoe UI Semibold" panose="020B0702040204020203" pitchFamily="34" charset="0"/>
              </a:rPr>
              <a:t>EDE </a:t>
            </a:r>
            <a:r>
              <a:rPr lang="en-IN" sz="2800" kern="700">
                <a:solidFill>
                  <a:schemeClr val="bg1"/>
                </a:solidFill>
                <a:cs typeface="Segoe UI Semibold" panose="020B0702040204020203" pitchFamily="34" charset="0"/>
              </a:rPr>
              <a:t>Azure Platform</a:t>
            </a:r>
          </a:p>
        </p:txBody>
      </p:sp>
      <p:sp>
        <p:nvSpPr>
          <p:cNvPr id="48" name="TextBox 47">
            <a:extLst>
              <a:ext uri="{FF2B5EF4-FFF2-40B4-BE49-F238E27FC236}">
                <a16:creationId xmlns:a16="http://schemas.microsoft.com/office/drawing/2014/main" id="{B384AB10-EAB0-8FBA-B482-80D0FA5D6600}"/>
              </a:ext>
            </a:extLst>
          </p:cNvPr>
          <p:cNvSpPr txBox="1"/>
          <p:nvPr/>
        </p:nvSpPr>
        <p:spPr>
          <a:xfrm>
            <a:off x="6343651" y="711852"/>
            <a:ext cx="5554662" cy="789959"/>
          </a:xfrm>
          <a:prstGeom prst="rect">
            <a:avLst/>
          </a:prstGeom>
          <a:noFill/>
        </p:spPr>
        <p:txBody>
          <a:bodyPr wrap="square" lIns="0" tIns="0" rIns="0" bIns="0" rtlCol="0" anchor="ctr">
            <a:noAutofit/>
          </a:bodyPr>
          <a:lstStyle/>
          <a:p>
            <a:pPr marL="0" marR="0" lvl="0" indent="0" algn="l" defTabSz="878559" rtl="0" eaLnBrk="1" fontAlgn="auto" latinLnBrk="0" hangingPunct="1">
              <a:lnSpc>
                <a:spcPct val="100000"/>
              </a:lnSpc>
              <a:spcBef>
                <a:spcPts val="0"/>
              </a:spcBef>
              <a:spcAft>
                <a:spcPts val="576"/>
              </a:spcAft>
              <a:buClrTx/>
              <a:buSzTx/>
              <a:buFontTx/>
              <a:buNone/>
              <a:tabLst/>
              <a:defRPr/>
            </a:pPr>
            <a:r>
              <a:rPr kumimoji="0" lang="en-US" b="0" i="0" u="none" strike="noStrike" kern="1200" cap="none" spc="0" normalizeH="0" baseline="0" noProof="0">
                <a:ln>
                  <a:noFill/>
                </a:ln>
                <a:solidFill>
                  <a:schemeClr val="bg1"/>
                </a:solidFill>
                <a:effectLst/>
                <a:uLnTx/>
                <a:uFillTx/>
                <a:latin typeface="+mj-lt"/>
                <a:ea typeface="+mn-ea"/>
                <a:cs typeface="Segoe UI" panose="020B0502040204020203" pitchFamily="34" charset="0"/>
              </a:rPr>
              <a:t>Accelerate innovation with a comprehensive, AI-assisted migration and modernization approach</a:t>
            </a:r>
            <a:endParaRPr kumimoji="0" lang="en-US" b="0" i="0" u="none" strike="noStrike" kern="1200" cap="none" spc="0" normalizeH="0" baseline="0" noProof="0">
              <a:ln>
                <a:noFill/>
              </a:ln>
              <a:solidFill>
                <a:schemeClr val="bg1"/>
              </a:solidFill>
              <a:effectLst/>
              <a:uLnTx/>
              <a:uFillTx/>
              <a:ea typeface="+mn-ea"/>
              <a:cs typeface="Segoe UI" panose="020B0502040204020203" pitchFamily="34" charset="0"/>
            </a:endParaRPr>
          </a:p>
        </p:txBody>
      </p:sp>
      <p:cxnSp>
        <p:nvCxnSpPr>
          <p:cNvPr id="49" name="Straight Connector 48">
            <a:extLst>
              <a:ext uri="{FF2B5EF4-FFF2-40B4-BE49-F238E27FC236}">
                <a16:creationId xmlns:a16="http://schemas.microsoft.com/office/drawing/2014/main" id="{8EA6957B-8F69-7B2C-90FA-29BEE3148877}"/>
              </a:ext>
              <a:ext uri="{C183D7F6-B498-43B3-948B-1728B52AA6E4}">
                <adec:decorative xmlns:adec="http://schemas.microsoft.com/office/drawing/2017/decorative" val="1"/>
              </a:ext>
            </a:extLst>
          </p:cNvPr>
          <p:cNvCxnSpPr>
            <a:cxnSpLocks/>
          </p:cNvCxnSpPr>
          <p:nvPr/>
        </p:nvCxnSpPr>
        <p:spPr>
          <a:xfrm>
            <a:off x="5902672" y="3631853"/>
            <a:ext cx="5995641" cy="0"/>
          </a:xfrm>
          <a:prstGeom prst="line">
            <a:avLst/>
          </a:prstGeom>
          <a:ln w="9525">
            <a:solidFill>
              <a:schemeClr val="bg1">
                <a:lumMod val="7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F387B46-6E0F-625E-2916-A938A192A5C5}"/>
              </a:ext>
              <a:ext uri="{C183D7F6-B498-43B3-948B-1728B52AA6E4}">
                <adec:decorative xmlns:adec="http://schemas.microsoft.com/office/drawing/2017/decorative" val="1"/>
              </a:ext>
            </a:extLst>
          </p:cNvPr>
          <p:cNvCxnSpPr>
            <a:cxnSpLocks/>
          </p:cNvCxnSpPr>
          <p:nvPr/>
        </p:nvCxnSpPr>
        <p:spPr>
          <a:xfrm>
            <a:off x="5902672" y="4872716"/>
            <a:ext cx="5995641" cy="0"/>
          </a:xfrm>
          <a:prstGeom prst="line">
            <a:avLst/>
          </a:prstGeom>
          <a:ln w="9525">
            <a:solidFill>
              <a:schemeClr val="bg1">
                <a:lumMod val="7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4DCB269A-EC55-2A5B-E76A-A4CCCB62AC10}"/>
              </a:ext>
            </a:extLst>
          </p:cNvPr>
          <p:cNvSpPr txBox="1"/>
          <p:nvPr/>
        </p:nvSpPr>
        <p:spPr>
          <a:xfrm>
            <a:off x="5902672" y="2324054"/>
            <a:ext cx="5995641" cy="1159292"/>
          </a:xfrm>
          <a:prstGeom prst="rect">
            <a:avLst/>
          </a:prstGeom>
          <a:noFill/>
        </p:spPr>
        <p:txBody>
          <a:bodyPr wrap="square" lIns="0" tIns="0" rIns="0" bIns="0" anchor="ctr">
            <a:spAutoFit/>
          </a:bodyPr>
          <a:lstStyle/>
          <a:p>
            <a:pPr defTabSz="914016">
              <a:spcBef>
                <a:spcPts val="196"/>
              </a:spcBef>
              <a:spcAft>
                <a:spcPts val="196"/>
              </a:spcAft>
              <a:defRPr/>
            </a:pPr>
            <a:r>
              <a:rPr lang="en-US" sz="1600">
                <a:solidFill>
                  <a:schemeClr val="tx2"/>
                </a:solidFill>
                <a:latin typeface="+mj-lt"/>
                <a:cs typeface="Segoe UI Semibold" panose="020B0702040204020203" pitchFamily="34" charset="0"/>
              </a:rPr>
              <a:t>Maximize business agility</a:t>
            </a:r>
          </a:p>
          <a:p>
            <a:pPr defTabSz="914016">
              <a:spcBef>
                <a:spcPts val="196"/>
              </a:spcBef>
              <a:spcAft>
                <a:spcPts val="196"/>
              </a:spcAft>
              <a:defRPr/>
            </a:pPr>
            <a:r>
              <a:rPr kumimoji="0" lang="en-US" sz="1400" b="0" i="0" u="none" strike="noStrike" kern="1200" cap="none" spc="0" normalizeH="0" baseline="0" noProof="0">
                <a:ln>
                  <a:noFill/>
                </a:ln>
                <a:effectLst/>
                <a:uLnTx/>
                <a:uFillTx/>
                <a:ea typeface="+mn-ea"/>
                <a:cs typeface="+mn-cs"/>
              </a:rPr>
              <a:t>Respond rapidly to changing market needs and bring new business opportunities to market faster. Streamline and automate operations across the Azure platform to boost productivity and optimize cost and performance.</a:t>
            </a:r>
          </a:p>
        </p:txBody>
      </p:sp>
      <p:sp>
        <p:nvSpPr>
          <p:cNvPr id="54" name="TextBox 53">
            <a:extLst>
              <a:ext uri="{FF2B5EF4-FFF2-40B4-BE49-F238E27FC236}">
                <a16:creationId xmlns:a16="http://schemas.microsoft.com/office/drawing/2014/main" id="{E19EE963-8904-61FE-4351-121BE76797A5}"/>
              </a:ext>
            </a:extLst>
          </p:cNvPr>
          <p:cNvSpPr txBox="1"/>
          <p:nvPr/>
        </p:nvSpPr>
        <p:spPr>
          <a:xfrm>
            <a:off x="5902671" y="3729064"/>
            <a:ext cx="5995641" cy="1046440"/>
          </a:xfrm>
          <a:prstGeom prst="rect">
            <a:avLst/>
          </a:prstGeom>
          <a:noFill/>
        </p:spPr>
        <p:txBody>
          <a:bodyPr wrap="square" lIns="0" tIns="0" rIns="0" bIns="0" anchor="ctr">
            <a:spAutoFit/>
          </a:bodyPr>
          <a:lstStyle/>
          <a:p>
            <a:pPr defTabSz="914016">
              <a:spcBef>
                <a:spcPts val="196"/>
              </a:spcBef>
              <a:spcAft>
                <a:spcPts val="196"/>
              </a:spcAft>
              <a:defRPr/>
            </a:pPr>
            <a:r>
              <a:rPr lang="en-US" sz="1600">
                <a:solidFill>
                  <a:schemeClr val="tx2"/>
                </a:solidFill>
                <a:latin typeface="+mj-lt"/>
                <a:cs typeface="Segoe UI Semibold" panose="020B0702040204020203" pitchFamily="34" charset="0"/>
              </a:rPr>
              <a:t>Unifying your data to unlock AI</a:t>
            </a:r>
          </a:p>
          <a:p>
            <a:pPr marL="0" marR="0" lvl="0" indent="0" algn="l" defTabSz="914016" rtl="0" eaLnBrk="1" fontAlgn="auto" latinLnBrk="0" hangingPunct="1">
              <a:lnSpc>
                <a:spcPct val="100000"/>
              </a:lnSpc>
              <a:spcBef>
                <a:spcPts val="196"/>
              </a:spcBef>
              <a:spcAft>
                <a:spcPts val="196"/>
              </a:spcAft>
              <a:buClrTx/>
              <a:buSzTx/>
              <a:buFontTx/>
              <a:buNone/>
              <a:tabLst/>
              <a:defRPr/>
            </a:pPr>
            <a:r>
              <a:rPr kumimoji="0" lang="en-US" sz="1400" b="0" i="0" u="none" strike="noStrike" kern="1200" cap="none" spc="0" normalizeH="0" baseline="0" noProof="0">
                <a:ln>
                  <a:noFill/>
                </a:ln>
                <a:effectLst/>
                <a:uLnTx/>
                <a:uFillTx/>
                <a:ea typeface="+mn-ea"/>
                <a:cs typeface="+mn-cs"/>
              </a:rPr>
              <a:t>Lay the foundation for AI by merging and modernizing your data estate, </a:t>
            </a:r>
          </a:p>
          <a:p>
            <a:pPr marL="0" marR="0" lvl="0" indent="0" algn="l" defTabSz="914016" rtl="0" eaLnBrk="1" fontAlgn="auto" latinLnBrk="0" hangingPunct="1">
              <a:lnSpc>
                <a:spcPct val="100000"/>
              </a:lnSpc>
              <a:spcBef>
                <a:spcPts val="196"/>
              </a:spcBef>
              <a:spcAft>
                <a:spcPts val="196"/>
              </a:spcAft>
              <a:buClrTx/>
              <a:buSzTx/>
              <a:buFontTx/>
              <a:buNone/>
              <a:tabLst/>
              <a:defRPr/>
            </a:pPr>
            <a:r>
              <a:rPr kumimoji="0" lang="en-US" sz="1400" b="0" i="0" u="none" strike="noStrike" kern="1200" cap="none" spc="0" normalizeH="0" baseline="0" noProof="0">
                <a:ln>
                  <a:noFill/>
                </a:ln>
                <a:effectLst/>
                <a:uLnTx/>
                <a:uFillTx/>
                <a:ea typeface="+mn-ea"/>
                <a:cs typeface="+mn-cs"/>
              </a:rPr>
              <a:t>enabling advanced analytics and intelligent applications. Ensure your </a:t>
            </a:r>
          </a:p>
          <a:p>
            <a:pPr marL="0" marR="0" lvl="0" indent="0" algn="l" defTabSz="914016" rtl="0" eaLnBrk="1" fontAlgn="auto" latinLnBrk="0" hangingPunct="1">
              <a:lnSpc>
                <a:spcPct val="100000"/>
              </a:lnSpc>
              <a:spcBef>
                <a:spcPts val="196"/>
              </a:spcBef>
              <a:spcAft>
                <a:spcPts val="196"/>
              </a:spcAft>
              <a:buClrTx/>
              <a:buSzTx/>
              <a:buFontTx/>
              <a:buNone/>
              <a:tabLst/>
              <a:defRPr/>
            </a:pPr>
            <a:r>
              <a:rPr kumimoji="0" lang="en-US" sz="1400" b="0" i="0" u="none" strike="noStrike" kern="1200" cap="none" spc="0" normalizeH="0" baseline="0" noProof="0">
                <a:ln>
                  <a:noFill/>
                </a:ln>
                <a:effectLst/>
                <a:uLnTx/>
                <a:uFillTx/>
                <a:ea typeface="+mn-ea"/>
                <a:cs typeface="+mn-cs"/>
              </a:rPr>
              <a:t>data is secure, scalable, and AI-ready across the Azure platform.</a:t>
            </a:r>
          </a:p>
        </p:txBody>
      </p:sp>
      <p:sp>
        <p:nvSpPr>
          <p:cNvPr id="55" name="TextBox 54">
            <a:extLst>
              <a:ext uri="{FF2B5EF4-FFF2-40B4-BE49-F238E27FC236}">
                <a16:creationId xmlns:a16="http://schemas.microsoft.com/office/drawing/2014/main" id="{ACAE08F9-BC0A-9B59-8ED3-F8AD8B993F56}"/>
              </a:ext>
            </a:extLst>
          </p:cNvPr>
          <p:cNvSpPr txBox="1"/>
          <p:nvPr/>
        </p:nvSpPr>
        <p:spPr>
          <a:xfrm>
            <a:off x="5902672" y="5021224"/>
            <a:ext cx="5995641" cy="943848"/>
          </a:xfrm>
          <a:prstGeom prst="rect">
            <a:avLst/>
          </a:prstGeom>
          <a:noFill/>
        </p:spPr>
        <p:txBody>
          <a:bodyPr wrap="square" lIns="0" tIns="0" rIns="0" bIns="0" anchor="ctr">
            <a:spAutoFit/>
          </a:bodyPr>
          <a:lstStyle/>
          <a:p>
            <a:pPr marL="0" marR="0" lvl="0" indent="0" algn="l" defTabSz="914192" rtl="0" eaLnBrk="1" fontAlgn="auto" latinLnBrk="0" hangingPunct="1">
              <a:lnSpc>
                <a:spcPct val="100000"/>
              </a:lnSpc>
              <a:spcBef>
                <a:spcPts val="196"/>
              </a:spcBef>
              <a:spcAft>
                <a:spcPts val="196"/>
              </a:spcAft>
              <a:buClrTx/>
              <a:buSzTx/>
              <a:buFontTx/>
              <a:buNone/>
              <a:tabLst/>
              <a:defRPr/>
            </a:pPr>
            <a:r>
              <a:rPr kumimoji="0" lang="en-US" sz="1600" b="0" i="0" u="none" strike="noStrike" kern="1200" cap="none" spc="0" normalizeH="0" baseline="0" noProof="0">
                <a:ln>
                  <a:noFill/>
                </a:ln>
                <a:solidFill>
                  <a:srgbClr val="243A5E"/>
                </a:solidFill>
                <a:effectLst/>
                <a:uLnTx/>
                <a:uFillTx/>
                <a:latin typeface="Segoe UI Semibold"/>
                <a:ea typeface="+mn-ea"/>
                <a:cs typeface="Segoe UI Semibold"/>
              </a:rPr>
              <a:t>Secure your workloads with cloud native security</a:t>
            </a:r>
          </a:p>
          <a:p>
            <a:pPr marL="0" marR="0" lvl="0" indent="0" algn="l" defTabSz="914192" rtl="0" eaLnBrk="1" fontAlgn="auto" latinLnBrk="0" hangingPunct="1">
              <a:lnSpc>
                <a:spcPct val="100000"/>
              </a:lnSpc>
              <a:spcBef>
                <a:spcPts val="196"/>
              </a:spcBef>
              <a:spcAft>
                <a:spcPts val="196"/>
              </a:spcAft>
              <a:buClrTx/>
              <a:buSzTx/>
              <a:buFontTx/>
              <a:buNone/>
              <a:tabLst/>
              <a:defRPr/>
            </a:pPr>
            <a:r>
              <a:rPr kumimoji="0" lang="en-US" sz="1400" b="0" i="0" u="none" strike="noStrike" kern="1200" cap="none" spc="0" normalizeH="0" baseline="0" noProof="0">
                <a:ln>
                  <a:noFill/>
                </a:ln>
                <a:effectLst/>
                <a:uLnTx/>
                <a:uFillTx/>
                <a:ea typeface="+mn-ea"/>
                <a:cs typeface="+mn-cs"/>
              </a:rPr>
              <a:t>Partner with our experts to apply security across the full stack by unifying threat remediations. Minimize risks and proactively protect your workloads, data, and applications from emerging threads and vulnerabilities.</a:t>
            </a:r>
          </a:p>
        </p:txBody>
      </p:sp>
      <p:sp>
        <p:nvSpPr>
          <p:cNvPr id="56" name="Rectangle 55">
            <a:extLst>
              <a:ext uri="{FF2B5EF4-FFF2-40B4-BE49-F238E27FC236}">
                <a16:creationId xmlns:a16="http://schemas.microsoft.com/office/drawing/2014/main" id="{ACD69C4C-509F-84A3-252E-2081507614AF}"/>
              </a:ext>
            </a:extLst>
          </p:cNvPr>
          <p:cNvSpPr/>
          <p:nvPr/>
        </p:nvSpPr>
        <p:spPr>
          <a:xfrm>
            <a:off x="5003451" y="6142451"/>
            <a:ext cx="6599270" cy="492443"/>
          </a:xfrm>
          <a:prstGeom prst="rect">
            <a:avLst/>
          </a:prstGeom>
        </p:spPr>
        <p:txBody>
          <a:bodyPr wrap="square" lIns="0" tIns="0" rIns="0" bIns="0" anchor="b">
            <a:spAutoFit/>
          </a:bodyPr>
          <a:lstStyle/>
          <a:p>
            <a:pPr marL="0" marR="0" lvl="0" indent="0" algn="l" defTabSz="448193" rtl="0" eaLnBrk="1" fontAlgn="auto" latinLnBrk="0" hangingPunct="1">
              <a:lnSpc>
                <a:spcPct val="100000"/>
              </a:lnSpc>
              <a:spcBef>
                <a:spcPts val="0"/>
              </a:spcBef>
              <a:spcAft>
                <a:spcPts val="0"/>
              </a:spcAft>
              <a:buClrTx/>
              <a:buSzTx/>
              <a:buFontTx/>
              <a:buNone/>
              <a:tabLst>
                <a:tab pos="7785800" algn="l"/>
              </a:tabLst>
              <a:defRPr/>
            </a:pPr>
            <a:r>
              <a:rPr kumimoji="0" lang="en-US" sz="800" b="0" i="0" u="none" strike="noStrike" kern="0" cap="none" spc="0" normalizeH="0" baseline="0" noProof="0">
                <a:ln>
                  <a:noFill/>
                </a:ln>
                <a:effectLst/>
                <a:uLnTx/>
                <a:uFillTx/>
                <a:ea typeface="+mn-ea"/>
                <a:cs typeface="+mn-cs"/>
              </a:rPr>
              <a:t>This presentation and all of the information contained herein is the Confidential Information of Microsoft and is disclosed to you pursuant to, and protected under, your company’s nondisclosure agreement with Microsoft. Do not reshare unless expressly authorized by Microsoft in writing. Further, this presentation is for discussion purposes only, subject to change, and should not be interpreted as a binding agreement or commitment on the part of Microsoft.</a:t>
            </a:r>
          </a:p>
        </p:txBody>
      </p:sp>
      <p:grpSp>
        <p:nvGrpSpPr>
          <p:cNvPr id="57" name="Group 56">
            <a:extLst>
              <a:ext uri="{FF2B5EF4-FFF2-40B4-BE49-F238E27FC236}">
                <a16:creationId xmlns:a16="http://schemas.microsoft.com/office/drawing/2014/main" id="{B836F9CE-56F7-8CC5-65B7-C1AF93EE9735}"/>
              </a:ext>
              <a:ext uri="{C183D7F6-B498-43B3-948B-1728B52AA6E4}">
                <adec:decorative xmlns:adec="http://schemas.microsoft.com/office/drawing/2017/decorative" val="1"/>
              </a:ext>
            </a:extLst>
          </p:cNvPr>
          <p:cNvGrpSpPr/>
          <p:nvPr/>
        </p:nvGrpSpPr>
        <p:grpSpPr>
          <a:xfrm>
            <a:off x="5003450" y="5189937"/>
            <a:ext cx="606422" cy="606422"/>
            <a:chOff x="5003450" y="5189937"/>
            <a:chExt cx="606422" cy="606422"/>
          </a:xfrm>
        </p:grpSpPr>
        <p:sp>
          <p:nvSpPr>
            <p:cNvPr id="58" name="Oval 57">
              <a:extLst>
                <a:ext uri="{FF2B5EF4-FFF2-40B4-BE49-F238E27FC236}">
                  <a16:creationId xmlns:a16="http://schemas.microsoft.com/office/drawing/2014/main" id="{709EE46F-FFB9-40CB-5E88-7307484AADCD}"/>
                </a:ext>
              </a:extLst>
            </p:cNvPr>
            <p:cNvSpPr/>
            <p:nvPr/>
          </p:nvSpPr>
          <p:spPr>
            <a:xfrm>
              <a:off x="5003450" y="5189937"/>
              <a:ext cx="606422" cy="60642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43A5E"/>
                </a:solidFill>
                <a:effectLst/>
                <a:uLnTx/>
                <a:uFillTx/>
                <a:latin typeface="Segoe UI Semibold"/>
                <a:ea typeface="+mn-ea"/>
                <a:cs typeface="+mn-cs"/>
              </a:endParaRPr>
            </a:p>
          </p:txBody>
        </p:sp>
        <p:sp>
          <p:nvSpPr>
            <p:cNvPr id="59" name="graduate">
              <a:extLst>
                <a:ext uri="{FF2B5EF4-FFF2-40B4-BE49-F238E27FC236}">
                  <a16:creationId xmlns:a16="http://schemas.microsoft.com/office/drawing/2014/main" id="{99234B09-2293-AC11-9EDA-E4B84C1869FE}"/>
                </a:ext>
                <a:ext uri="{C183D7F6-B498-43B3-948B-1728B52AA6E4}">
                  <adec:decorative xmlns:adec="http://schemas.microsoft.com/office/drawing/2017/decorative" val="1"/>
                </a:ext>
              </a:extLst>
            </p:cNvPr>
            <p:cNvSpPr>
              <a:spLocks noEditPoints="1"/>
            </p:cNvSpPr>
            <p:nvPr/>
          </p:nvSpPr>
          <p:spPr bwMode="auto">
            <a:xfrm>
              <a:off x="5107872" y="5322625"/>
              <a:ext cx="397578" cy="341046"/>
            </a:xfrm>
            <a:custGeom>
              <a:avLst/>
              <a:gdLst>
                <a:gd name="T0" fmla="*/ 103 w 312"/>
                <a:gd name="T1" fmla="*/ 32 h 268"/>
                <a:gd name="T2" fmla="*/ 165 w 312"/>
                <a:gd name="T3" fmla="*/ 0 h 268"/>
                <a:gd name="T4" fmla="*/ 312 w 312"/>
                <a:gd name="T5" fmla="*/ 74 h 268"/>
                <a:gd name="T6" fmla="*/ 165 w 312"/>
                <a:gd name="T7" fmla="*/ 147 h 268"/>
                <a:gd name="T8" fmla="*/ 21 w 312"/>
                <a:gd name="T9" fmla="*/ 74 h 268"/>
                <a:gd name="T10" fmla="*/ 103 w 312"/>
                <a:gd name="T11" fmla="*/ 32 h 268"/>
                <a:gd name="T12" fmla="*/ 87 w 312"/>
                <a:gd name="T13" fmla="*/ 108 h 268"/>
                <a:gd name="T14" fmla="*/ 69 w 312"/>
                <a:gd name="T15" fmla="*/ 174 h 268"/>
                <a:gd name="T16" fmla="*/ 165 w 312"/>
                <a:gd name="T17" fmla="*/ 224 h 268"/>
                <a:gd name="T18" fmla="*/ 260 w 312"/>
                <a:gd name="T19" fmla="*/ 174 h 268"/>
                <a:gd name="T20" fmla="*/ 243 w 312"/>
                <a:gd name="T21" fmla="*/ 108 h 268"/>
                <a:gd name="T22" fmla="*/ 53 w 312"/>
                <a:gd name="T23" fmla="*/ 268 h 268"/>
                <a:gd name="T24" fmla="*/ 53 w 312"/>
                <a:gd name="T25" fmla="*/ 226 h 268"/>
                <a:gd name="T26" fmla="*/ 26 w 312"/>
                <a:gd name="T27" fmla="*/ 200 h 268"/>
                <a:gd name="T28" fmla="*/ 26 w 312"/>
                <a:gd name="T29" fmla="*/ 200 h 268"/>
                <a:gd name="T30" fmla="*/ 0 w 312"/>
                <a:gd name="T31" fmla="*/ 226 h 268"/>
                <a:gd name="T32" fmla="*/ 0 w 312"/>
                <a:gd name="T33" fmla="*/ 268 h 268"/>
                <a:gd name="T34" fmla="*/ 53 w 312"/>
                <a:gd name="T35" fmla="*/ 268 h 268"/>
                <a:gd name="T36" fmla="*/ 26 w 312"/>
                <a:gd name="T37" fmla="*/ 77 h 268"/>
                <a:gd name="T38" fmla="*/ 26 w 312"/>
                <a:gd name="T39" fmla="*/ 20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2" h="268">
                  <a:moveTo>
                    <a:pt x="103" y="32"/>
                  </a:moveTo>
                  <a:cubicBezTo>
                    <a:pt x="165" y="0"/>
                    <a:pt x="165" y="0"/>
                    <a:pt x="165" y="0"/>
                  </a:cubicBezTo>
                  <a:cubicBezTo>
                    <a:pt x="312" y="74"/>
                    <a:pt x="312" y="74"/>
                    <a:pt x="312" y="74"/>
                  </a:cubicBezTo>
                  <a:cubicBezTo>
                    <a:pt x="165" y="147"/>
                    <a:pt x="165" y="147"/>
                    <a:pt x="165" y="147"/>
                  </a:cubicBezTo>
                  <a:cubicBezTo>
                    <a:pt x="21" y="74"/>
                    <a:pt x="21" y="74"/>
                    <a:pt x="21" y="74"/>
                  </a:cubicBezTo>
                  <a:lnTo>
                    <a:pt x="103" y="32"/>
                  </a:lnTo>
                  <a:close/>
                  <a:moveTo>
                    <a:pt x="87" y="108"/>
                  </a:moveTo>
                  <a:cubicBezTo>
                    <a:pt x="69" y="130"/>
                    <a:pt x="69" y="174"/>
                    <a:pt x="69" y="174"/>
                  </a:cubicBezTo>
                  <a:cubicBezTo>
                    <a:pt x="165" y="224"/>
                    <a:pt x="165" y="224"/>
                    <a:pt x="165" y="224"/>
                  </a:cubicBezTo>
                  <a:cubicBezTo>
                    <a:pt x="260" y="174"/>
                    <a:pt x="260" y="174"/>
                    <a:pt x="260" y="174"/>
                  </a:cubicBezTo>
                  <a:cubicBezTo>
                    <a:pt x="260" y="174"/>
                    <a:pt x="260" y="131"/>
                    <a:pt x="243" y="108"/>
                  </a:cubicBezTo>
                  <a:moveTo>
                    <a:pt x="53" y="268"/>
                  </a:moveTo>
                  <a:cubicBezTo>
                    <a:pt x="53" y="226"/>
                    <a:pt x="53" y="226"/>
                    <a:pt x="53" y="226"/>
                  </a:cubicBezTo>
                  <a:cubicBezTo>
                    <a:pt x="53" y="212"/>
                    <a:pt x="41" y="200"/>
                    <a:pt x="26" y="200"/>
                  </a:cubicBezTo>
                  <a:cubicBezTo>
                    <a:pt x="26" y="200"/>
                    <a:pt x="26" y="200"/>
                    <a:pt x="26" y="200"/>
                  </a:cubicBezTo>
                  <a:cubicBezTo>
                    <a:pt x="12" y="200"/>
                    <a:pt x="0" y="212"/>
                    <a:pt x="0" y="226"/>
                  </a:cubicBezTo>
                  <a:cubicBezTo>
                    <a:pt x="0" y="268"/>
                    <a:pt x="0" y="268"/>
                    <a:pt x="0" y="268"/>
                  </a:cubicBezTo>
                  <a:lnTo>
                    <a:pt x="53" y="268"/>
                  </a:lnTo>
                  <a:close/>
                  <a:moveTo>
                    <a:pt x="26" y="77"/>
                  </a:moveTo>
                  <a:cubicBezTo>
                    <a:pt x="26" y="200"/>
                    <a:pt x="26" y="200"/>
                    <a:pt x="26" y="200"/>
                  </a:cubicBez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endParaRPr lang="en-US" sz="1961">
                <a:solidFill>
                  <a:prstClr val="black"/>
                </a:solidFill>
                <a:latin typeface="Calibri" panose="020F0502020204030204"/>
              </a:endParaRPr>
            </a:p>
          </p:txBody>
        </p:sp>
      </p:grpSp>
      <p:grpSp>
        <p:nvGrpSpPr>
          <p:cNvPr id="60" name="Group 59">
            <a:extLst>
              <a:ext uri="{FF2B5EF4-FFF2-40B4-BE49-F238E27FC236}">
                <a16:creationId xmlns:a16="http://schemas.microsoft.com/office/drawing/2014/main" id="{34B38D3D-C86A-9C5B-7826-DA174DA8A19A}"/>
              </a:ext>
              <a:ext uri="{C183D7F6-B498-43B3-948B-1728B52AA6E4}">
                <adec:decorative xmlns:adec="http://schemas.microsoft.com/office/drawing/2017/decorative" val="1"/>
              </a:ext>
            </a:extLst>
          </p:cNvPr>
          <p:cNvGrpSpPr/>
          <p:nvPr/>
        </p:nvGrpSpPr>
        <p:grpSpPr>
          <a:xfrm>
            <a:off x="5003449" y="3949073"/>
            <a:ext cx="606422" cy="606422"/>
            <a:chOff x="5003449" y="3949073"/>
            <a:chExt cx="606422" cy="606422"/>
          </a:xfrm>
        </p:grpSpPr>
        <p:sp>
          <p:nvSpPr>
            <p:cNvPr id="61" name="Oval 60">
              <a:extLst>
                <a:ext uri="{FF2B5EF4-FFF2-40B4-BE49-F238E27FC236}">
                  <a16:creationId xmlns:a16="http://schemas.microsoft.com/office/drawing/2014/main" id="{FF223662-1526-5F91-AD23-6F21A85E53CD}"/>
                </a:ext>
              </a:extLst>
            </p:cNvPr>
            <p:cNvSpPr/>
            <p:nvPr/>
          </p:nvSpPr>
          <p:spPr>
            <a:xfrm>
              <a:off x="5003449" y="3949073"/>
              <a:ext cx="606422" cy="60642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43A5E"/>
                </a:solidFill>
                <a:effectLst/>
                <a:uLnTx/>
                <a:uFillTx/>
                <a:latin typeface="Segoe UI Semibold"/>
                <a:ea typeface="+mn-ea"/>
                <a:cs typeface="+mn-cs"/>
              </a:endParaRPr>
            </a:p>
          </p:txBody>
        </p:sp>
        <p:sp>
          <p:nvSpPr>
            <p:cNvPr id="62" name="server_2" title="Icon of a server tower with a padlock on the lower right corner">
              <a:extLst>
                <a:ext uri="{FF2B5EF4-FFF2-40B4-BE49-F238E27FC236}">
                  <a16:creationId xmlns:a16="http://schemas.microsoft.com/office/drawing/2014/main" id="{35FFB56E-22D7-655B-F721-FE99FA63B406}"/>
                </a:ext>
              </a:extLst>
            </p:cNvPr>
            <p:cNvSpPr>
              <a:spLocks noChangeAspect="1" noEditPoints="1"/>
            </p:cNvSpPr>
            <p:nvPr/>
          </p:nvSpPr>
          <p:spPr bwMode="auto">
            <a:xfrm>
              <a:off x="5179484" y="4094439"/>
              <a:ext cx="254352" cy="315691"/>
            </a:xfrm>
            <a:custGeom>
              <a:avLst/>
              <a:gdLst>
                <a:gd name="T0" fmla="*/ 122 w 270"/>
                <a:gd name="T1" fmla="*/ 336 h 336"/>
                <a:gd name="T2" fmla="*/ 0 w 270"/>
                <a:gd name="T3" fmla="*/ 336 h 336"/>
                <a:gd name="T4" fmla="*/ 0 w 270"/>
                <a:gd name="T5" fmla="*/ 0 h 336"/>
                <a:gd name="T6" fmla="*/ 201 w 270"/>
                <a:gd name="T7" fmla="*/ 0 h 336"/>
                <a:gd name="T8" fmla="*/ 201 w 270"/>
                <a:gd name="T9" fmla="*/ 138 h 336"/>
                <a:gd name="T10" fmla="*/ 270 w 270"/>
                <a:gd name="T11" fmla="*/ 245 h 336"/>
                <a:gd name="T12" fmla="*/ 155 w 270"/>
                <a:gd name="T13" fmla="*/ 245 h 336"/>
                <a:gd name="T14" fmla="*/ 155 w 270"/>
                <a:gd name="T15" fmla="*/ 336 h 336"/>
                <a:gd name="T16" fmla="*/ 270 w 270"/>
                <a:gd name="T17" fmla="*/ 336 h 336"/>
                <a:gd name="T18" fmla="*/ 270 w 270"/>
                <a:gd name="T19" fmla="*/ 245 h 336"/>
                <a:gd name="T20" fmla="*/ 245 w 270"/>
                <a:gd name="T21" fmla="*/ 245 h 336"/>
                <a:gd name="T22" fmla="*/ 245 w 270"/>
                <a:gd name="T23" fmla="*/ 211 h 336"/>
                <a:gd name="T24" fmla="*/ 213 w 270"/>
                <a:gd name="T25" fmla="*/ 179 h 336"/>
                <a:gd name="T26" fmla="*/ 181 w 270"/>
                <a:gd name="T27" fmla="*/ 211 h 336"/>
                <a:gd name="T28" fmla="*/ 181 w 270"/>
                <a:gd name="T29" fmla="*/ 245 h 336"/>
                <a:gd name="T30" fmla="*/ 77 w 270"/>
                <a:gd name="T31" fmla="*/ 290 h 336"/>
                <a:gd name="T32" fmla="*/ 122 w 270"/>
                <a:gd name="T33" fmla="*/ 29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36">
                  <a:moveTo>
                    <a:pt x="122" y="336"/>
                  </a:moveTo>
                  <a:cubicBezTo>
                    <a:pt x="0" y="336"/>
                    <a:pt x="0" y="336"/>
                    <a:pt x="0" y="336"/>
                  </a:cubicBezTo>
                  <a:cubicBezTo>
                    <a:pt x="0" y="0"/>
                    <a:pt x="0" y="0"/>
                    <a:pt x="0" y="0"/>
                  </a:cubicBezTo>
                  <a:cubicBezTo>
                    <a:pt x="201" y="0"/>
                    <a:pt x="201" y="0"/>
                    <a:pt x="201" y="0"/>
                  </a:cubicBezTo>
                  <a:cubicBezTo>
                    <a:pt x="201" y="138"/>
                    <a:pt x="201" y="138"/>
                    <a:pt x="201" y="138"/>
                  </a:cubicBezTo>
                  <a:moveTo>
                    <a:pt x="270" y="245"/>
                  </a:moveTo>
                  <a:cubicBezTo>
                    <a:pt x="155" y="245"/>
                    <a:pt x="155" y="245"/>
                    <a:pt x="155" y="245"/>
                  </a:cubicBezTo>
                  <a:cubicBezTo>
                    <a:pt x="155" y="336"/>
                    <a:pt x="155" y="336"/>
                    <a:pt x="155" y="336"/>
                  </a:cubicBezTo>
                  <a:cubicBezTo>
                    <a:pt x="270" y="336"/>
                    <a:pt x="270" y="336"/>
                    <a:pt x="270" y="336"/>
                  </a:cubicBezTo>
                  <a:lnTo>
                    <a:pt x="270" y="245"/>
                  </a:lnTo>
                  <a:close/>
                  <a:moveTo>
                    <a:pt x="245" y="245"/>
                  </a:moveTo>
                  <a:cubicBezTo>
                    <a:pt x="245" y="211"/>
                    <a:pt x="245" y="211"/>
                    <a:pt x="245" y="211"/>
                  </a:cubicBezTo>
                  <a:cubicBezTo>
                    <a:pt x="245" y="193"/>
                    <a:pt x="230" y="179"/>
                    <a:pt x="213" y="179"/>
                  </a:cubicBezTo>
                  <a:cubicBezTo>
                    <a:pt x="195" y="179"/>
                    <a:pt x="181" y="193"/>
                    <a:pt x="181" y="211"/>
                  </a:cubicBezTo>
                  <a:cubicBezTo>
                    <a:pt x="181" y="245"/>
                    <a:pt x="181" y="245"/>
                    <a:pt x="181" y="245"/>
                  </a:cubicBezTo>
                  <a:moveTo>
                    <a:pt x="77" y="290"/>
                  </a:moveTo>
                  <a:cubicBezTo>
                    <a:pt x="122" y="290"/>
                    <a:pt x="122" y="290"/>
                    <a:pt x="122" y="290"/>
                  </a:cubicBez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30" tIns="44814" rIns="89630" bIns="44814" numCol="1" anchor="t" anchorCtr="0" compatLnSpc="1">
              <a:prstTxWarp prst="textNoShape">
                <a:avLst/>
              </a:prstTxWarp>
            </a:bodyPr>
            <a:lstStyle/>
            <a:p>
              <a:pPr defTabSz="896214"/>
              <a:endParaRPr lang="en-US" sz="1600">
                <a:solidFill>
                  <a:prstClr val="black"/>
                </a:solidFill>
                <a:latin typeface="Segoe UI"/>
              </a:endParaRPr>
            </a:p>
          </p:txBody>
        </p:sp>
      </p:grpSp>
      <p:grpSp>
        <p:nvGrpSpPr>
          <p:cNvPr id="63" name="Group 62">
            <a:extLst>
              <a:ext uri="{FF2B5EF4-FFF2-40B4-BE49-F238E27FC236}">
                <a16:creationId xmlns:a16="http://schemas.microsoft.com/office/drawing/2014/main" id="{6EFDDFAF-FF80-8391-2529-2E20A2C95F14}"/>
              </a:ext>
              <a:ext uri="{C183D7F6-B498-43B3-948B-1728B52AA6E4}">
                <adec:decorative xmlns:adec="http://schemas.microsoft.com/office/drawing/2017/decorative" val="1"/>
              </a:ext>
            </a:extLst>
          </p:cNvPr>
          <p:cNvGrpSpPr/>
          <p:nvPr/>
        </p:nvGrpSpPr>
        <p:grpSpPr>
          <a:xfrm>
            <a:off x="5003450" y="2600488"/>
            <a:ext cx="606422" cy="606422"/>
            <a:chOff x="5003450" y="2600488"/>
            <a:chExt cx="606422" cy="606422"/>
          </a:xfrm>
        </p:grpSpPr>
        <p:sp>
          <p:nvSpPr>
            <p:cNvPr id="64" name="Oval 63">
              <a:extLst>
                <a:ext uri="{FF2B5EF4-FFF2-40B4-BE49-F238E27FC236}">
                  <a16:creationId xmlns:a16="http://schemas.microsoft.com/office/drawing/2014/main" id="{3725F918-A8BE-F192-0C39-69A0A8FB0F71}"/>
                </a:ext>
              </a:extLst>
            </p:cNvPr>
            <p:cNvSpPr/>
            <p:nvPr/>
          </p:nvSpPr>
          <p:spPr>
            <a:xfrm>
              <a:off x="5003450" y="2600488"/>
              <a:ext cx="606422" cy="60642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243A5E"/>
                </a:solidFill>
                <a:effectLst/>
                <a:uLnTx/>
                <a:uFillTx/>
                <a:latin typeface="Segoe UI Semibold"/>
                <a:ea typeface="+mn-ea"/>
                <a:cs typeface="+mn-cs"/>
              </a:endParaRPr>
            </a:p>
          </p:txBody>
        </p:sp>
        <p:sp>
          <p:nvSpPr>
            <p:cNvPr id="65" name="Telemarketer_E7B9">
              <a:extLst>
                <a:ext uri="{FF2B5EF4-FFF2-40B4-BE49-F238E27FC236}">
                  <a16:creationId xmlns:a16="http://schemas.microsoft.com/office/drawing/2014/main" id="{1C7DF95B-4F99-4D2D-4906-237C12644FD6}"/>
                </a:ext>
                <a:ext uri="{C183D7F6-B498-43B3-948B-1728B52AA6E4}">
                  <adec:decorative xmlns:adec="http://schemas.microsoft.com/office/drawing/2017/decorative" val="1"/>
                </a:ext>
              </a:extLst>
            </p:cNvPr>
            <p:cNvSpPr>
              <a:spLocks noChangeAspect="1" noEditPoints="1"/>
            </p:cNvSpPr>
            <p:nvPr/>
          </p:nvSpPr>
          <p:spPr bwMode="auto">
            <a:xfrm>
              <a:off x="5179309" y="2751817"/>
              <a:ext cx="254704" cy="303764"/>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p>
              <a:pPr marL="0" marR="0" lvl="0" indent="0" algn="l" defTabSz="896214" rtl="0" eaLnBrk="1" fontAlgn="auto" latinLnBrk="0" hangingPunct="1">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Segoe UI"/>
                <a:ea typeface="+mn-ea"/>
                <a:cs typeface="+mn-cs"/>
              </a:endParaRPr>
            </a:p>
          </p:txBody>
        </p:sp>
      </p:grpSp>
      <p:cxnSp>
        <p:nvCxnSpPr>
          <p:cNvPr id="66" name="Straight Connector 65">
            <a:extLst>
              <a:ext uri="{FF2B5EF4-FFF2-40B4-BE49-F238E27FC236}">
                <a16:creationId xmlns:a16="http://schemas.microsoft.com/office/drawing/2014/main" id="{4378B86B-43FA-A5BA-6841-8393BE94F7D8}"/>
              </a:ext>
              <a:ext uri="{C183D7F6-B498-43B3-948B-1728B52AA6E4}">
                <adec:decorative xmlns:adec="http://schemas.microsoft.com/office/drawing/2017/decorative" val="1"/>
              </a:ext>
            </a:extLst>
          </p:cNvPr>
          <p:cNvCxnSpPr>
            <a:cxnSpLocks/>
          </p:cNvCxnSpPr>
          <p:nvPr/>
        </p:nvCxnSpPr>
        <p:spPr>
          <a:xfrm flipV="1">
            <a:off x="5921359" y="576812"/>
            <a:ext cx="0" cy="1107996"/>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42423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Rounded Corners 97">
            <a:extLst>
              <a:ext uri="{FF2B5EF4-FFF2-40B4-BE49-F238E27FC236}">
                <a16:creationId xmlns:a16="http://schemas.microsoft.com/office/drawing/2014/main" id="{BD8F9F36-5A1E-5F43-65DB-4DD72D288344}"/>
              </a:ext>
              <a:ext uri="{C183D7F6-B498-43B3-948B-1728B52AA6E4}">
                <adec:decorative xmlns:adec="http://schemas.microsoft.com/office/drawing/2017/decorative" val="1"/>
              </a:ext>
            </a:extLst>
          </p:cNvPr>
          <p:cNvSpPr/>
          <p:nvPr/>
        </p:nvSpPr>
        <p:spPr bwMode="auto">
          <a:xfrm>
            <a:off x="3708888" y="1739900"/>
            <a:ext cx="7885113" cy="4518664"/>
          </a:xfrm>
          <a:prstGeom prst="roundRect">
            <a:avLst>
              <a:gd name="adj" fmla="val 1713"/>
            </a:avLst>
          </a:prstGeom>
          <a:solidFill>
            <a:schemeClr val="bg1"/>
          </a:solidFill>
          <a:ln>
            <a:no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43" name="Title 42">
            <a:extLst>
              <a:ext uri="{FF2B5EF4-FFF2-40B4-BE49-F238E27FC236}">
                <a16:creationId xmlns:a16="http://schemas.microsoft.com/office/drawing/2014/main" id="{B050E390-C34E-468E-34C5-38C7F4C05E77}"/>
              </a:ext>
            </a:extLst>
          </p:cNvPr>
          <p:cNvSpPr>
            <a:spLocks noGrp="1"/>
          </p:cNvSpPr>
          <p:nvPr>
            <p:ph type="title"/>
          </p:nvPr>
        </p:nvSpPr>
        <p:spPr/>
        <p:txBody>
          <a:bodyPr/>
          <a:lstStyle/>
          <a:p>
            <a:r>
              <a:rPr lang="en-US"/>
              <a:t>Mission Critical Services for Azure Platform  </a:t>
            </a:r>
          </a:p>
        </p:txBody>
      </p:sp>
      <p:sp>
        <p:nvSpPr>
          <p:cNvPr id="128" name="Text Placeholder 7">
            <a:extLst>
              <a:ext uri="{FF2B5EF4-FFF2-40B4-BE49-F238E27FC236}">
                <a16:creationId xmlns:a16="http://schemas.microsoft.com/office/drawing/2014/main" id="{ABA16356-5FAA-92C3-202D-3B3039728ED8}"/>
              </a:ext>
            </a:extLst>
          </p:cNvPr>
          <p:cNvSpPr txBox="1">
            <a:spLocks/>
          </p:cNvSpPr>
          <p:nvPr/>
        </p:nvSpPr>
        <p:spPr>
          <a:xfrm>
            <a:off x="575481" y="1208010"/>
            <a:ext cx="11018520" cy="246221"/>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600" kern="1200" spc="0" baseline="0">
                <a:solidFill>
                  <a:schemeClr val="accent6"/>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b="0" i="0" u="none" strike="noStrike" kern="1200" cap="none" spc="0" normalizeH="0" baseline="0" noProof="0">
                <a:ln>
                  <a:noFill/>
                </a:ln>
                <a:solidFill>
                  <a:schemeClr val="tx1"/>
                </a:solidFill>
                <a:effectLst/>
                <a:uLnTx/>
                <a:uFillTx/>
                <a:ea typeface="+mn-ea"/>
                <a:cs typeface="Segoe UI" panose="020B0502040204020203" pitchFamily="34" charset="0"/>
              </a:rPr>
              <a:t>Coverage across your entire Azure footprint </a:t>
            </a:r>
          </a:p>
        </p:txBody>
      </p:sp>
      <p:pic>
        <p:nvPicPr>
          <p:cNvPr id="68" name="Picture 67" descr="A person using a laptop view Azure solution powering retails">
            <a:extLst>
              <a:ext uri="{FF2B5EF4-FFF2-40B4-BE49-F238E27FC236}">
                <a16:creationId xmlns:a16="http://schemas.microsoft.com/office/drawing/2014/main" id="{191CC963-D7E4-8C21-27DF-DB6C18154A49}"/>
              </a:ext>
            </a:extLst>
          </p:cNvPr>
          <p:cNvPicPr>
            <a:picLocks noChangeAspect="1"/>
          </p:cNvPicPr>
          <p:nvPr/>
        </p:nvPicPr>
        <p:blipFill rotWithShape="1">
          <a:blip r:embed="rId3">
            <a:extLst>
              <a:ext uri="{28A0092B-C50C-407E-A947-70E740481C1C}">
                <a14:useLocalDpi xmlns:a14="http://schemas.microsoft.com/office/drawing/2010/main" val="0"/>
              </a:ext>
            </a:extLst>
          </a:blip>
          <a:srcRect l="22751" r="22751"/>
          <a:stretch/>
        </p:blipFill>
        <p:spPr>
          <a:xfrm>
            <a:off x="0" y="1739900"/>
            <a:ext cx="3479800" cy="4518664"/>
          </a:xfrm>
          <a:custGeom>
            <a:avLst/>
            <a:gdLst>
              <a:gd name="connsiteX0" fmla="*/ 0 w 3479800"/>
              <a:gd name="connsiteY0" fmla="*/ 0 h 4518664"/>
              <a:gd name="connsiteX1" fmla="*/ 3364653 w 3479800"/>
              <a:gd name="connsiteY1" fmla="*/ 0 h 4518664"/>
              <a:gd name="connsiteX2" fmla="*/ 3479800 w 3479800"/>
              <a:gd name="connsiteY2" fmla="*/ 115147 h 4518664"/>
              <a:gd name="connsiteX3" fmla="*/ 3479800 w 3479800"/>
              <a:gd name="connsiteY3" fmla="*/ 4403517 h 4518664"/>
              <a:gd name="connsiteX4" fmla="*/ 3364653 w 3479800"/>
              <a:gd name="connsiteY4" fmla="*/ 4518664 h 4518664"/>
              <a:gd name="connsiteX5" fmla="*/ 0 w 3479800"/>
              <a:gd name="connsiteY5" fmla="*/ 4518664 h 45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9800" h="4518664">
                <a:moveTo>
                  <a:pt x="0" y="0"/>
                </a:moveTo>
                <a:lnTo>
                  <a:pt x="3364653" y="0"/>
                </a:lnTo>
                <a:cubicBezTo>
                  <a:pt x="3428247" y="0"/>
                  <a:pt x="3479800" y="51553"/>
                  <a:pt x="3479800" y="115147"/>
                </a:cubicBezTo>
                <a:lnTo>
                  <a:pt x="3479800" y="4403517"/>
                </a:lnTo>
                <a:cubicBezTo>
                  <a:pt x="3479800" y="4467111"/>
                  <a:pt x="3428247" y="4518664"/>
                  <a:pt x="3364653" y="4518664"/>
                </a:cubicBezTo>
                <a:lnTo>
                  <a:pt x="0" y="4518664"/>
                </a:lnTo>
                <a:close/>
              </a:path>
            </a:pathLst>
          </a:custGeom>
        </p:spPr>
      </p:pic>
      <p:sp>
        <p:nvSpPr>
          <p:cNvPr id="142" name="Rectangle 141">
            <a:extLst>
              <a:ext uri="{FF2B5EF4-FFF2-40B4-BE49-F238E27FC236}">
                <a16:creationId xmlns:a16="http://schemas.microsoft.com/office/drawing/2014/main" id="{D775F6D4-FD0D-513E-04C0-C15857A21FC5}"/>
              </a:ext>
            </a:extLst>
          </p:cNvPr>
          <p:cNvSpPr/>
          <p:nvPr/>
        </p:nvSpPr>
        <p:spPr bwMode="auto">
          <a:xfrm>
            <a:off x="3748088" y="1822450"/>
            <a:ext cx="7854632" cy="673100"/>
          </a:xfrm>
          <a:prstGeom prst="rect">
            <a:avLst/>
          </a:prstGeom>
          <a:solidFill>
            <a:schemeClr val="bg2"/>
          </a:solidFill>
          <a:ln>
            <a:noFill/>
            <a:headEnd type="none" w="med" len="med"/>
            <a:tailEnd type="none" w="med" len="med"/>
          </a:ln>
          <a:effectLst>
            <a:outerShdw dist="38100" dir="10800000" algn="r" rotWithShape="0">
              <a:schemeClr val="tx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68096" tIns="146304" rIns="182880" bIns="146304"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a:noFill/>
                </a:ln>
                <a:solidFill>
                  <a:schemeClr val="tx1"/>
                </a:solidFill>
                <a:effectLst/>
                <a:uLnTx/>
                <a:uFillTx/>
                <a:ea typeface="+mn-ea"/>
                <a:cs typeface="Segoe UI"/>
              </a:rPr>
              <a:t>Thorough assessments of your platform usage, and how to improve return on investment</a:t>
            </a:r>
          </a:p>
        </p:txBody>
      </p:sp>
      <p:sp>
        <p:nvSpPr>
          <p:cNvPr id="193" name="Rectangle 192">
            <a:extLst>
              <a:ext uri="{FF2B5EF4-FFF2-40B4-BE49-F238E27FC236}">
                <a16:creationId xmlns:a16="http://schemas.microsoft.com/office/drawing/2014/main" id="{37000613-4332-B10D-D067-9B19A27346E9}"/>
              </a:ext>
            </a:extLst>
          </p:cNvPr>
          <p:cNvSpPr/>
          <p:nvPr/>
        </p:nvSpPr>
        <p:spPr bwMode="auto">
          <a:xfrm>
            <a:off x="3748088" y="2558543"/>
            <a:ext cx="7854632" cy="673100"/>
          </a:xfrm>
          <a:prstGeom prst="rect">
            <a:avLst/>
          </a:prstGeom>
          <a:solidFill>
            <a:schemeClr val="bg1">
              <a:lumMod val="95000"/>
            </a:schemeClr>
          </a:solidFill>
          <a:ln>
            <a:noFill/>
            <a:headEnd type="none" w="med" len="med"/>
            <a:tailEnd type="none" w="med" len="med"/>
          </a:ln>
          <a:effectLst>
            <a:outerShdw dist="38100" dir="10800000" algn="r" rotWithShape="0">
              <a:schemeClr val="tx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68096" tIns="146304" rIns="182880" bIns="146304"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a:noFill/>
                </a:ln>
                <a:solidFill>
                  <a:schemeClr val="tx1"/>
                </a:solidFill>
                <a:effectLst/>
                <a:uLnTx/>
                <a:uFillTx/>
                <a:ea typeface="+mn-ea"/>
                <a:cs typeface="Segoe UI"/>
              </a:rPr>
              <a:t>Microsoft engineering recommendations to remediate risks and implement enhancements to strengthen the platform reliability </a:t>
            </a:r>
          </a:p>
        </p:txBody>
      </p:sp>
      <p:sp>
        <p:nvSpPr>
          <p:cNvPr id="236" name="Rectangle 235">
            <a:extLst>
              <a:ext uri="{FF2B5EF4-FFF2-40B4-BE49-F238E27FC236}">
                <a16:creationId xmlns:a16="http://schemas.microsoft.com/office/drawing/2014/main" id="{742ABA01-8DDA-DCB1-F172-78DB37BCF625}"/>
              </a:ext>
            </a:extLst>
          </p:cNvPr>
          <p:cNvSpPr/>
          <p:nvPr/>
        </p:nvSpPr>
        <p:spPr bwMode="auto">
          <a:xfrm>
            <a:off x="3748088" y="3294636"/>
            <a:ext cx="7854632" cy="673100"/>
          </a:xfrm>
          <a:prstGeom prst="rect">
            <a:avLst/>
          </a:prstGeom>
          <a:solidFill>
            <a:schemeClr val="bg2"/>
          </a:solidFill>
          <a:ln>
            <a:noFill/>
            <a:headEnd type="none" w="med" len="med"/>
            <a:tailEnd type="none" w="med" len="med"/>
          </a:ln>
          <a:effectLst>
            <a:outerShdw dist="38100" dir="10800000" algn="r" rotWithShape="0">
              <a:schemeClr val="tx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68096" tIns="146304" rIns="182880" bIns="146304"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a:noFill/>
                </a:ln>
                <a:solidFill>
                  <a:schemeClr val="tx1"/>
                </a:solidFill>
                <a:effectLst/>
                <a:uLnTx/>
                <a:uFillTx/>
                <a:ea typeface="+mn-ea"/>
                <a:cs typeface="Segoe UI"/>
              </a:rPr>
              <a:t>Expedited mitigation plan that considers your critical use of the Azure platform and business impact when a critical incident occurs</a:t>
            </a:r>
          </a:p>
        </p:txBody>
      </p:sp>
      <p:sp>
        <p:nvSpPr>
          <p:cNvPr id="271" name="Rectangle 270">
            <a:extLst>
              <a:ext uri="{FF2B5EF4-FFF2-40B4-BE49-F238E27FC236}">
                <a16:creationId xmlns:a16="http://schemas.microsoft.com/office/drawing/2014/main" id="{879ECB95-1435-794B-1196-5D7DCDFDD95C}"/>
              </a:ext>
            </a:extLst>
          </p:cNvPr>
          <p:cNvSpPr/>
          <p:nvPr/>
        </p:nvSpPr>
        <p:spPr bwMode="auto">
          <a:xfrm>
            <a:off x="3748088" y="4030729"/>
            <a:ext cx="7854632" cy="673100"/>
          </a:xfrm>
          <a:prstGeom prst="rect">
            <a:avLst/>
          </a:prstGeom>
          <a:solidFill>
            <a:schemeClr val="bg1">
              <a:lumMod val="95000"/>
            </a:schemeClr>
          </a:solidFill>
          <a:ln>
            <a:noFill/>
            <a:headEnd type="none" w="med" len="med"/>
            <a:tailEnd type="none" w="med" len="med"/>
          </a:ln>
          <a:effectLst>
            <a:outerShdw dist="38100" dir="10800000" algn="r" rotWithShape="0">
              <a:schemeClr val="tx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68096" tIns="146304" rIns="182880" bIns="146304"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a:noFill/>
                </a:ln>
                <a:solidFill>
                  <a:schemeClr val="tx1"/>
                </a:solidFill>
                <a:effectLst/>
                <a:uLnTx/>
                <a:uFillTx/>
                <a:ea typeface="+mn-ea"/>
                <a:cs typeface="Segoe UI"/>
              </a:rPr>
              <a:t>15 minutes or less initial technical response and 24/7 incident leads and business knowledge on all critical incidents </a:t>
            </a:r>
          </a:p>
        </p:txBody>
      </p:sp>
      <p:sp>
        <p:nvSpPr>
          <p:cNvPr id="298" name="Rectangle 297">
            <a:extLst>
              <a:ext uri="{FF2B5EF4-FFF2-40B4-BE49-F238E27FC236}">
                <a16:creationId xmlns:a16="http://schemas.microsoft.com/office/drawing/2014/main" id="{09488D1C-EC7D-EFFD-1880-C1E184AAFAC3}"/>
              </a:ext>
            </a:extLst>
          </p:cNvPr>
          <p:cNvSpPr/>
          <p:nvPr/>
        </p:nvSpPr>
        <p:spPr bwMode="auto">
          <a:xfrm>
            <a:off x="3748088" y="4766822"/>
            <a:ext cx="7854632" cy="673100"/>
          </a:xfrm>
          <a:prstGeom prst="rect">
            <a:avLst/>
          </a:prstGeom>
          <a:solidFill>
            <a:schemeClr val="bg2"/>
          </a:solidFill>
          <a:ln>
            <a:noFill/>
            <a:headEnd type="none" w="med" len="med"/>
            <a:tailEnd type="none" w="med" len="med"/>
          </a:ln>
          <a:effectLst>
            <a:outerShdw dist="38100" dir="10800000" algn="r" rotWithShape="0">
              <a:schemeClr val="tx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68096" tIns="146304" rIns="182880" bIns="146304" numCol="1" spcCol="0" rtlCol="0" fromWordArt="0" anchor="ctr" anchorCtr="0" forceAA="0" compatLnSpc="1">
            <a:prstTxWarp prst="textNoShape">
              <a:avLst/>
            </a:prstTxWarp>
            <a:noAutofit/>
          </a:bodyPr>
          <a:lstStyle/>
          <a:p>
            <a:pPr defTabSz="932563">
              <a:spcBef>
                <a:spcPts val="200"/>
              </a:spcBef>
              <a:spcAft>
                <a:spcPts val="200"/>
              </a:spcAft>
              <a:defRPr/>
            </a:pPr>
            <a:r>
              <a:rPr kumimoji="0" lang="en-US" sz="1400" b="0" i="0" u="none" strike="noStrike" kern="1200" cap="none" spc="0" normalizeH="0" baseline="0" noProof="0">
                <a:ln>
                  <a:noFill/>
                </a:ln>
                <a:solidFill>
                  <a:schemeClr val="tx1"/>
                </a:solidFill>
                <a:effectLst/>
                <a:uLnTx/>
                <a:uFillTx/>
                <a:ea typeface="+mn-ea"/>
                <a:cs typeface="Segoe UI"/>
              </a:rPr>
              <a:t>Proactive platform monitoring that allows you to respond quicker to issues before they become problems*</a:t>
            </a:r>
          </a:p>
        </p:txBody>
      </p:sp>
      <p:sp>
        <p:nvSpPr>
          <p:cNvPr id="317" name="Rectangle 316">
            <a:extLst>
              <a:ext uri="{FF2B5EF4-FFF2-40B4-BE49-F238E27FC236}">
                <a16:creationId xmlns:a16="http://schemas.microsoft.com/office/drawing/2014/main" id="{77CFB36E-6785-E277-9697-99E60C9FBE03}"/>
              </a:ext>
            </a:extLst>
          </p:cNvPr>
          <p:cNvSpPr/>
          <p:nvPr/>
        </p:nvSpPr>
        <p:spPr bwMode="auto">
          <a:xfrm>
            <a:off x="3748088" y="5502914"/>
            <a:ext cx="7854632" cy="673100"/>
          </a:xfrm>
          <a:prstGeom prst="rect">
            <a:avLst/>
          </a:prstGeom>
          <a:solidFill>
            <a:schemeClr val="bg1">
              <a:lumMod val="95000"/>
            </a:schemeClr>
          </a:solidFill>
          <a:ln>
            <a:noFill/>
            <a:headEnd type="none" w="med" len="med"/>
            <a:tailEnd type="none" w="med" len="med"/>
          </a:ln>
          <a:effectLst>
            <a:outerShdw dist="38100" dir="10800000" algn="r" rotWithShape="0">
              <a:schemeClr val="tx2"/>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68096" tIns="146304" rIns="182880" bIns="146304"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a:noFill/>
                </a:ln>
                <a:solidFill>
                  <a:schemeClr val="tx1"/>
                </a:solidFill>
                <a:effectLst/>
                <a:uLnTx/>
                <a:uFillTx/>
                <a:ea typeface="+mn-ea"/>
                <a:cs typeface="Segoe UI"/>
              </a:rPr>
              <a:t>Tailored updates on the steps for mitigation and impact to your business during </a:t>
            </a:r>
            <a:br>
              <a:rPr kumimoji="0" lang="en-US" sz="1400" b="0" i="0" u="none" strike="noStrike" kern="1200" cap="none" spc="0" normalizeH="0" baseline="0" noProof="0">
                <a:ln>
                  <a:noFill/>
                </a:ln>
                <a:solidFill>
                  <a:schemeClr val="tx1"/>
                </a:solidFill>
                <a:effectLst/>
                <a:uLnTx/>
                <a:uFillTx/>
                <a:ea typeface="+mn-ea"/>
                <a:cs typeface="Segoe UI"/>
              </a:rPr>
            </a:br>
            <a:r>
              <a:rPr kumimoji="0" lang="en-US" sz="1400" b="0" i="0" u="none" strike="noStrike" kern="1200" cap="none" spc="0" normalizeH="0" baseline="0" noProof="0">
                <a:ln>
                  <a:noFill/>
                </a:ln>
                <a:solidFill>
                  <a:schemeClr val="tx1"/>
                </a:solidFill>
                <a:effectLst/>
                <a:uLnTx/>
                <a:uFillTx/>
                <a:ea typeface="+mn-ea"/>
                <a:cs typeface="Segoe UI"/>
              </a:rPr>
              <a:t>Azure outages*</a:t>
            </a:r>
          </a:p>
        </p:txBody>
      </p:sp>
      <p:sp>
        <p:nvSpPr>
          <p:cNvPr id="4" name="Text Placeholder 7">
            <a:extLst>
              <a:ext uri="{FF2B5EF4-FFF2-40B4-BE49-F238E27FC236}">
                <a16:creationId xmlns:a16="http://schemas.microsoft.com/office/drawing/2014/main" id="{13063FBE-2089-C6AA-149C-52743AEA917C}"/>
              </a:ext>
            </a:extLst>
          </p:cNvPr>
          <p:cNvSpPr txBox="1">
            <a:spLocks/>
          </p:cNvSpPr>
          <p:nvPr/>
        </p:nvSpPr>
        <p:spPr>
          <a:xfrm>
            <a:off x="256827" y="6396322"/>
            <a:ext cx="11018520" cy="169277"/>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600" kern="1200" spc="0" baseline="0">
                <a:solidFill>
                  <a:schemeClr val="accent6"/>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100" b="0" i="1" u="none" strike="noStrike" kern="1200" cap="none" spc="0" normalizeH="0" baseline="0" noProof="0">
                <a:ln>
                  <a:noFill/>
                </a:ln>
                <a:solidFill>
                  <a:schemeClr val="tx1"/>
                </a:solidFill>
                <a:effectLst/>
                <a:uLnTx/>
                <a:uFillTx/>
                <a:ea typeface="+mn-ea"/>
                <a:cs typeface="Segoe UI" panose="020B0502040204020203" pitchFamily="34" charset="0"/>
              </a:rPr>
              <a:t>*Mission Critical Services for Azure Platform Plus</a:t>
            </a:r>
          </a:p>
        </p:txBody>
      </p:sp>
      <p:grpSp>
        <p:nvGrpSpPr>
          <p:cNvPr id="173" name="Group 172">
            <a:extLst>
              <a:ext uri="{FF2B5EF4-FFF2-40B4-BE49-F238E27FC236}">
                <a16:creationId xmlns:a16="http://schemas.microsoft.com/office/drawing/2014/main" id="{0B04D9C2-870E-7569-A191-7848E31DC00F}"/>
              </a:ext>
              <a:ext uri="{C183D7F6-B498-43B3-948B-1728B52AA6E4}">
                <adec:decorative xmlns:adec="http://schemas.microsoft.com/office/drawing/2017/decorative" val="1"/>
              </a:ext>
            </a:extLst>
          </p:cNvPr>
          <p:cNvGrpSpPr/>
          <p:nvPr/>
        </p:nvGrpSpPr>
        <p:grpSpPr>
          <a:xfrm>
            <a:off x="3881607" y="1929437"/>
            <a:ext cx="459126" cy="459126"/>
            <a:chOff x="835275" y="1844880"/>
            <a:chExt cx="459126" cy="459126"/>
          </a:xfrm>
        </p:grpSpPr>
        <p:sp>
          <p:nvSpPr>
            <p:cNvPr id="174" name="Oval 173">
              <a:extLst>
                <a:ext uri="{FF2B5EF4-FFF2-40B4-BE49-F238E27FC236}">
                  <a16:creationId xmlns:a16="http://schemas.microsoft.com/office/drawing/2014/main" id="{986AE375-3C71-E3AA-B20E-B2D2307326E4}"/>
                </a:ext>
                <a:ext uri="{C183D7F6-B498-43B3-948B-1728B52AA6E4}">
                  <adec:decorative xmlns:adec="http://schemas.microsoft.com/office/drawing/2017/decorative" val="1"/>
                </a:ext>
              </a:extLst>
            </p:cNvPr>
            <p:cNvSpPr/>
            <p:nvPr/>
          </p:nvSpPr>
          <p:spPr bwMode="auto">
            <a:xfrm>
              <a:off x="835275" y="1844880"/>
              <a:ext cx="459126" cy="459126"/>
            </a:xfrm>
            <a:prstGeom prst="ellipse">
              <a:avLst/>
            </a:pr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75" name="Market_EAFC">
              <a:extLst>
                <a:ext uri="{FF2B5EF4-FFF2-40B4-BE49-F238E27FC236}">
                  <a16:creationId xmlns:a16="http://schemas.microsoft.com/office/drawing/2014/main" id="{AC19B209-1986-B8D2-DB94-485143BF3930}"/>
                </a:ext>
                <a:ext uri="{C183D7F6-B498-43B3-948B-1728B52AA6E4}">
                  <adec:decorative xmlns:adec="http://schemas.microsoft.com/office/drawing/2017/decorative" val="1"/>
                </a:ext>
              </a:extLst>
            </p:cNvPr>
            <p:cNvSpPr>
              <a:spLocks noChangeAspect="1" noEditPoints="1"/>
            </p:cNvSpPr>
            <p:nvPr/>
          </p:nvSpPr>
          <p:spPr bwMode="auto">
            <a:xfrm>
              <a:off x="945207" y="2001895"/>
              <a:ext cx="239262" cy="145096"/>
            </a:xfrm>
            <a:custGeom>
              <a:avLst/>
              <a:gdLst>
                <a:gd name="T0" fmla="*/ 4688 w 6657"/>
                <a:gd name="T1" fmla="*/ 0 h 4037"/>
                <a:gd name="T2" fmla="*/ 6657 w 6657"/>
                <a:gd name="T3" fmla="*/ 0 h 4037"/>
                <a:gd name="T4" fmla="*/ 6657 w 6657"/>
                <a:gd name="T5" fmla="*/ 1970 h 4037"/>
                <a:gd name="T6" fmla="*/ 0 w 6657"/>
                <a:gd name="T7" fmla="*/ 4037 h 4037"/>
                <a:gd name="T8" fmla="*/ 2501 w 6657"/>
                <a:gd name="T9" fmla="*/ 1532 h 4037"/>
                <a:gd name="T10" fmla="*/ 3813 w 6657"/>
                <a:gd name="T11" fmla="*/ 2846 h 4037"/>
                <a:gd name="T12" fmla="*/ 6657 w 6657"/>
                <a:gd name="T13" fmla="*/ 0 h 4037"/>
              </a:gdLst>
              <a:ahLst/>
              <a:cxnLst>
                <a:cxn ang="0">
                  <a:pos x="T0" y="T1"/>
                </a:cxn>
                <a:cxn ang="0">
                  <a:pos x="T2" y="T3"/>
                </a:cxn>
                <a:cxn ang="0">
                  <a:pos x="T4" y="T5"/>
                </a:cxn>
                <a:cxn ang="0">
                  <a:pos x="T6" y="T7"/>
                </a:cxn>
                <a:cxn ang="0">
                  <a:pos x="T8" y="T9"/>
                </a:cxn>
                <a:cxn ang="0">
                  <a:pos x="T10" y="T11"/>
                </a:cxn>
                <a:cxn ang="0">
                  <a:pos x="T12" y="T13"/>
                </a:cxn>
              </a:cxnLst>
              <a:rect l="0" t="0" r="r" b="b"/>
              <a:pathLst>
                <a:path w="6657" h="4037">
                  <a:moveTo>
                    <a:pt x="4688" y="0"/>
                  </a:moveTo>
                  <a:lnTo>
                    <a:pt x="6657" y="0"/>
                  </a:lnTo>
                  <a:lnTo>
                    <a:pt x="6657" y="1970"/>
                  </a:lnTo>
                  <a:moveTo>
                    <a:pt x="0" y="4037"/>
                  </a:moveTo>
                  <a:lnTo>
                    <a:pt x="2501" y="1532"/>
                  </a:lnTo>
                  <a:lnTo>
                    <a:pt x="3813" y="2846"/>
                  </a:lnTo>
                  <a:lnTo>
                    <a:pt x="6657" y="0"/>
                  </a:lnTo>
                </a:path>
              </a:pathLst>
            </a:custGeom>
            <a:noFill/>
            <a:ln w="9525" cap="sq">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219" name="Group 218">
            <a:extLst>
              <a:ext uri="{FF2B5EF4-FFF2-40B4-BE49-F238E27FC236}">
                <a16:creationId xmlns:a16="http://schemas.microsoft.com/office/drawing/2014/main" id="{5119847C-2F13-6F05-30A3-664C893CE75E}"/>
              </a:ext>
              <a:ext uri="{C183D7F6-B498-43B3-948B-1728B52AA6E4}">
                <adec:decorative xmlns:adec="http://schemas.microsoft.com/office/drawing/2017/decorative" val="1"/>
              </a:ext>
            </a:extLst>
          </p:cNvPr>
          <p:cNvGrpSpPr>
            <a:grpSpLocks/>
          </p:cNvGrpSpPr>
          <p:nvPr/>
        </p:nvGrpSpPr>
        <p:grpSpPr>
          <a:xfrm>
            <a:off x="3881607" y="2665530"/>
            <a:ext cx="459126" cy="459126"/>
            <a:chOff x="835275" y="2591648"/>
            <a:chExt cx="459126" cy="459126"/>
          </a:xfrm>
        </p:grpSpPr>
        <p:sp>
          <p:nvSpPr>
            <p:cNvPr id="220" name="Oval 219">
              <a:extLst>
                <a:ext uri="{FF2B5EF4-FFF2-40B4-BE49-F238E27FC236}">
                  <a16:creationId xmlns:a16="http://schemas.microsoft.com/office/drawing/2014/main" id="{D7CF109F-9013-600E-8239-DF41B579D025}"/>
                </a:ext>
                <a:ext uri="{C183D7F6-B498-43B3-948B-1728B52AA6E4}">
                  <adec:decorative xmlns:adec="http://schemas.microsoft.com/office/drawing/2017/decorative" val="1"/>
                </a:ext>
              </a:extLst>
            </p:cNvPr>
            <p:cNvSpPr/>
            <p:nvPr/>
          </p:nvSpPr>
          <p:spPr bwMode="auto">
            <a:xfrm>
              <a:off x="835275" y="2591648"/>
              <a:ext cx="459126" cy="459126"/>
            </a:xfrm>
            <a:prstGeom prst="ellipse">
              <a:avLst/>
            </a:pr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21" name="shield_3">
              <a:extLst>
                <a:ext uri="{FF2B5EF4-FFF2-40B4-BE49-F238E27FC236}">
                  <a16:creationId xmlns:a16="http://schemas.microsoft.com/office/drawing/2014/main" id="{8C4F1FC7-350F-103B-2B8C-225197280095}"/>
                </a:ext>
                <a:ext uri="{C183D7F6-B498-43B3-948B-1728B52AA6E4}">
                  <adec:decorative xmlns:adec="http://schemas.microsoft.com/office/drawing/2017/decorative" val="1"/>
                </a:ext>
              </a:extLst>
            </p:cNvPr>
            <p:cNvSpPr>
              <a:spLocks noChangeAspect="1" noEditPoints="1"/>
            </p:cNvSpPr>
            <p:nvPr/>
          </p:nvSpPr>
          <p:spPr bwMode="auto">
            <a:xfrm>
              <a:off x="945205" y="2699964"/>
              <a:ext cx="239264" cy="242494"/>
            </a:xfrm>
            <a:custGeom>
              <a:avLst/>
              <a:gdLst>
                <a:gd name="T0" fmla="*/ 55 w 322"/>
                <a:gd name="T1" fmla="*/ 246 h 329"/>
                <a:gd name="T2" fmla="*/ 4 w 322"/>
                <a:gd name="T3" fmla="*/ 101 h 329"/>
                <a:gd name="T4" fmla="*/ 4 w 322"/>
                <a:gd name="T5" fmla="*/ 44 h 329"/>
                <a:gd name="T6" fmla="*/ 72 w 322"/>
                <a:gd name="T7" fmla="*/ 34 h 329"/>
                <a:gd name="T8" fmla="*/ 161 w 322"/>
                <a:gd name="T9" fmla="*/ 0 h 329"/>
                <a:gd name="T10" fmla="*/ 250 w 322"/>
                <a:gd name="T11" fmla="*/ 34 h 329"/>
                <a:gd name="T12" fmla="*/ 318 w 322"/>
                <a:gd name="T13" fmla="*/ 44 h 329"/>
                <a:gd name="T14" fmla="*/ 318 w 322"/>
                <a:gd name="T15" fmla="*/ 101 h 329"/>
                <a:gd name="T16" fmla="*/ 267 w 322"/>
                <a:gd name="T17" fmla="*/ 246 h 329"/>
                <a:gd name="T18" fmla="*/ 161 w 322"/>
                <a:gd name="T19" fmla="*/ 329 h 329"/>
                <a:gd name="T20" fmla="*/ 55 w 322"/>
                <a:gd name="T21" fmla="*/ 246 h 329"/>
                <a:gd name="T22" fmla="*/ 161 w 322"/>
                <a:gd name="T23" fmla="*/ 53 h 329"/>
                <a:gd name="T24" fmla="*/ 161 w 322"/>
                <a:gd name="T25" fmla="*/ 207 h 329"/>
                <a:gd name="T26" fmla="*/ 161 w 322"/>
                <a:gd name="T27" fmla="*/ 231 h 329"/>
                <a:gd name="T28" fmla="*/ 161 w 322"/>
                <a:gd name="T29" fmla="*/ 25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2" h="329">
                  <a:moveTo>
                    <a:pt x="55" y="246"/>
                  </a:moveTo>
                  <a:cubicBezTo>
                    <a:pt x="0" y="179"/>
                    <a:pt x="4" y="101"/>
                    <a:pt x="4" y="101"/>
                  </a:cubicBezTo>
                  <a:cubicBezTo>
                    <a:pt x="4" y="44"/>
                    <a:pt x="4" y="44"/>
                    <a:pt x="4" y="44"/>
                  </a:cubicBezTo>
                  <a:cubicBezTo>
                    <a:pt x="4" y="44"/>
                    <a:pt x="38" y="45"/>
                    <a:pt x="72" y="34"/>
                  </a:cubicBezTo>
                  <a:cubicBezTo>
                    <a:pt x="107" y="22"/>
                    <a:pt x="124" y="0"/>
                    <a:pt x="161" y="0"/>
                  </a:cubicBezTo>
                  <a:cubicBezTo>
                    <a:pt x="198" y="0"/>
                    <a:pt x="215" y="22"/>
                    <a:pt x="250" y="34"/>
                  </a:cubicBezTo>
                  <a:cubicBezTo>
                    <a:pt x="284" y="45"/>
                    <a:pt x="318" y="44"/>
                    <a:pt x="318" y="44"/>
                  </a:cubicBezTo>
                  <a:cubicBezTo>
                    <a:pt x="318" y="101"/>
                    <a:pt x="318" y="101"/>
                    <a:pt x="318" y="101"/>
                  </a:cubicBezTo>
                  <a:cubicBezTo>
                    <a:pt x="318" y="101"/>
                    <a:pt x="322" y="179"/>
                    <a:pt x="267" y="246"/>
                  </a:cubicBezTo>
                  <a:cubicBezTo>
                    <a:pt x="234" y="286"/>
                    <a:pt x="161" y="329"/>
                    <a:pt x="161" y="329"/>
                  </a:cubicBezTo>
                  <a:cubicBezTo>
                    <a:pt x="161" y="329"/>
                    <a:pt x="88" y="286"/>
                    <a:pt x="55" y="246"/>
                  </a:cubicBezTo>
                  <a:close/>
                  <a:moveTo>
                    <a:pt x="161" y="53"/>
                  </a:moveTo>
                  <a:cubicBezTo>
                    <a:pt x="161" y="207"/>
                    <a:pt x="161" y="207"/>
                    <a:pt x="161" y="207"/>
                  </a:cubicBezTo>
                  <a:moveTo>
                    <a:pt x="161" y="231"/>
                  </a:moveTo>
                  <a:cubicBezTo>
                    <a:pt x="161" y="251"/>
                    <a:pt x="161" y="251"/>
                    <a:pt x="161" y="251"/>
                  </a:cubicBezTo>
                </a:path>
              </a:pathLst>
            </a:custGeom>
            <a:noFill/>
            <a:ln w="9525" cap="sq">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257" name="Group 256">
            <a:extLst>
              <a:ext uri="{FF2B5EF4-FFF2-40B4-BE49-F238E27FC236}">
                <a16:creationId xmlns:a16="http://schemas.microsoft.com/office/drawing/2014/main" id="{977847AC-DD53-0FA0-23E3-2705C441BE1D}"/>
              </a:ext>
              <a:ext uri="{C183D7F6-B498-43B3-948B-1728B52AA6E4}">
                <adec:decorative xmlns:adec="http://schemas.microsoft.com/office/drawing/2017/decorative" val="1"/>
              </a:ext>
            </a:extLst>
          </p:cNvPr>
          <p:cNvGrpSpPr>
            <a:grpSpLocks/>
          </p:cNvGrpSpPr>
          <p:nvPr/>
        </p:nvGrpSpPr>
        <p:grpSpPr>
          <a:xfrm>
            <a:off x="3881607" y="3401623"/>
            <a:ext cx="459126" cy="459126"/>
            <a:chOff x="835275" y="3446138"/>
            <a:chExt cx="459126" cy="459126"/>
          </a:xfrm>
        </p:grpSpPr>
        <p:sp>
          <p:nvSpPr>
            <p:cNvPr id="258" name="Oval 257">
              <a:extLst>
                <a:ext uri="{FF2B5EF4-FFF2-40B4-BE49-F238E27FC236}">
                  <a16:creationId xmlns:a16="http://schemas.microsoft.com/office/drawing/2014/main" id="{6FF951E3-D570-5872-5101-1AF7BA83B317}"/>
                </a:ext>
                <a:ext uri="{C183D7F6-B498-43B3-948B-1728B52AA6E4}">
                  <adec:decorative xmlns:adec="http://schemas.microsoft.com/office/drawing/2017/decorative" val="1"/>
                </a:ext>
              </a:extLst>
            </p:cNvPr>
            <p:cNvSpPr/>
            <p:nvPr/>
          </p:nvSpPr>
          <p:spPr bwMode="auto">
            <a:xfrm>
              <a:off x="835275" y="3446138"/>
              <a:ext cx="459126" cy="459126"/>
            </a:xfrm>
            <a:prstGeom prst="ellipse">
              <a:avLst/>
            </a:pr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59" name="Trackers_EADF_bidi">
              <a:extLst>
                <a:ext uri="{FF2B5EF4-FFF2-40B4-BE49-F238E27FC236}">
                  <a16:creationId xmlns:a16="http://schemas.microsoft.com/office/drawing/2014/main" id="{052FEB97-E8AB-DBA8-3028-478DBBC8D6E3}"/>
                </a:ext>
                <a:ext uri="{C183D7F6-B498-43B3-948B-1728B52AA6E4}">
                  <adec:decorative xmlns:adec="http://schemas.microsoft.com/office/drawing/2017/decorative" val="1"/>
                </a:ext>
              </a:extLst>
            </p:cNvPr>
            <p:cNvSpPr>
              <a:spLocks noChangeAspect="1" noEditPoints="1"/>
            </p:cNvSpPr>
            <p:nvPr/>
          </p:nvSpPr>
          <p:spPr bwMode="auto">
            <a:xfrm>
              <a:off x="960493" y="3533421"/>
              <a:ext cx="208690" cy="284560"/>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500 w 2750"/>
                <a:gd name="T33" fmla="*/ 1750 h 3750"/>
                <a:gd name="T34" fmla="*/ 1500 w 2750"/>
                <a:gd name="T35" fmla="*/ 1750 h 3750"/>
                <a:gd name="T36" fmla="*/ 1500 w 2750"/>
                <a:gd name="T37" fmla="*/ 2500 h 3750"/>
                <a:gd name="T38" fmla="*/ 500 w 2750"/>
                <a:gd name="T39" fmla="*/ 2500 h 3750"/>
                <a:gd name="T40" fmla="*/ 1500 w 2750"/>
                <a:gd name="T41" fmla="*/ 3250 h 3750"/>
                <a:gd name="T42" fmla="*/ 500 w 2750"/>
                <a:gd name="T43" fmla="*/ 3250 h 3750"/>
                <a:gd name="T44" fmla="*/ 1750 w 2750"/>
                <a:gd name="T45" fmla="*/ 1500 h 3750"/>
                <a:gd name="T46" fmla="*/ 2000 w 2750"/>
                <a:gd name="T47" fmla="*/ 1750 h 3750"/>
                <a:gd name="T48" fmla="*/ 2375 w 2750"/>
                <a:gd name="T49" fmla="*/ 1375 h 3750"/>
                <a:gd name="T50" fmla="*/ 1750 w 2750"/>
                <a:gd name="T51" fmla="*/ 2250 h 3750"/>
                <a:gd name="T52" fmla="*/ 2000 w 2750"/>
                <a:gd name="T53" fmla="*/ 2500 h 3750"/>
                <a:gd name="T54" fmla="*/ 2375 w 2750"/>
                <a:gd name="T55" fmla="*/ 2125 h 3750"/>
                <a:gd name="T56" fmla="*/ 1750 w 2750"/>
                <a:gd name="T57" fmla="*/ 3000 h 3750"/>
                <a:gd name="T58" fmla="*/ 2000 w 2750"/>
                <a:gd name="T59" fmla="*/ 3250 h 3750"/>
                <a:gd name="T60" fmla="*/ 237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500" y="1750"/>
                  </a:moveTo>
                  <a:cubicBezTo>
                    <a:pt x="1500" y="1750"/>
                    <a:pt x="1500" y="1750"/>
                    <a:pt x="1500" y="1750"/>
                  </a:cubicBezTo>
                  <a:moveTo>
                    <a:pt x="1500" y="2500"/>
                  </a:moveTo>
                  <a:cubicBezTo>
                    <a:pt x="500" y="2500"/>
                    <a:pt x="500" y="2500"/>
                    <a:pt x="500" y="2500"/>
                  </a:cubicBezTo>
                  <a:moveTo>
                    <a:pt x="1500" y="3250"/>
                  </a:moveTo>
                  <a:cubicBezTo>
                    <a:pt x="500" y="3250"/>
                    <a:pt x="500" y="3250"/>
                    <a:pt x="500" y="3250"/>
                  </a:cubicBezTo>
                  <a:moveTo>
                    <a:pt x="1750" y="1500"/>
                  </a:moveTo>
                  <a:cubicBezTo>
                    <a:pt x="2000" y="1750"/>
                    <a:pt x="2000" y="1750"/>
                    <a:pt x="2000" y="1750"/>
                  </a:cubicBezTo>
                  <a:cubicBezTo>
                    <a:pt x="2375" y="1375"/>
                    <a:pt x="2375" y="1375"/>
                    <a:pt x="2375" y="1375"/>
                  </a:cubicBezTo>
                  <a:moveTo>
                    <a:pt x="1750" y="2250"/>
                  </a:moveTo>
                  <a:cubicBezTo>
                    <a:pt x="2000" y="2500"/>
                    <a:pt x="2000" y="2500"/>
                    <a:pt x="2000" y="2500"/>
                  </a:cubicBezTo>
                  <a:cubicBezTo>
                    <a:pt x="2375" y="2125"/>
                    <a:pt x="2375" y="2125"/>
                    <a:pt x="2375" y="2125"/>
                  </a:cubicBezTo>
                  <a:moveTo>
                    <a:pt x="1750" y="3000"/>
                  </a:moveTo>
                  <a:cubicBezTo>
                    <a:pt x="2000" y="3250"/>
                    <a:pt x="2000" y="3250"/>
                    <a:pt x="2000" y="3250"/>
                  </a:cubicBezTo>
                  <a:cubicBezTo>
                    <a:pt x="2375" y="2875"/>
                    <a:pt x="2375" y="2875"/>
                    <a:pt x="2375" y="2875"/>
                  </a:cubicBezTo>
                </a:path>
              </a:pathLst>
            </a:custGeom>
            <a:noFill/>
            <a:ln w="9525" cap="sq">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287" name="Group 286">
            <a:extLst>
              <a:ext uri="{FF2B5EF4-FFF2-40B4-BE49-F238E27FC236}">
                <a16:creationId xmlns:a16="http://schemas.microsoft.com/office/drawing/2014/main" id="{A9BCD874-7BD8-9094-BD3A-BA7C191B80F5}"/>
              </a:ext>
              <a:ext uri="{C183D7F6-B498-43B3-948B-1728B52AA6E4}">
                <adec:decorative xmlns:adec="http://schemas.microsoft.com/office/drawing/2017/decorative" val="1"/>
              </a:ext>
            </a:extLst>
          </p:cNvPr>
          <p:cNvGrpSpPr>
            <a:grpSpLocks/>
          </p:cNvGrpSpPr>
          <p:nvPr/>
        </p:nvGrpSpPr>
        <p:grpSpPr>
          <a:xfrm>
            <a:off x="3881607" y="4137716"/>
            <a:ext cx="459126" cy="459126"/>
            <a:chOff x="835275" y="4299580"/>
            <a:chExt cx="459126" cy="459126"/>
          </a:xfrm>
        </p:grpSpPr>
        <p:sp>
          <p:nvSpPr>
            <p:cNvPr id="288" name="Oval 287">
              <a:extLst>
                <a:ext uri="{FF2B5EF4-FFF2-40B4-BE49-F238E27FC236}">
                  <a16:creationId xmlns:a16="http://schemas.microsoft.com/office/drawing/2014/main" id="{1A7E95B7-433E-4520-66BA-AC463848334D}"/>
                </a:ext>
                <a:ext uri="{C183D7F6-B498-43B3-948B-1728B52AA6E4}">
                  <adec:decorative xmlns:adec="http://schemas.microsoft.com/office/drawing/2017/decorative" val="1"/>
                </a:ext>
              </a:extLst>
            </p:cNvPr>
            <p:cNvSpPr/>
            <p:nvPr/>
          </p:nvSpPr>
          <p:spPr bwMode="auto">
            <a:xfrm>
              <a:off x="835275" y="4299580"/>
              <a:ext cx="459126" cy="459126"/>
            </a:xfrm>
            <a:prstGeom prst="ellipse">
              <a:avLst/>
            </a:pr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89" name="magnify">
              <a:extLst>
                <a:ext uri="{FF2B5EF4-FFF2-40B4-BE49-F238E27FC236}">
                  <a16:creationId xmlns:a16="http://schemas.microsoft.com/office/drawing/2014/main" id="{13BE2038-FD49-3083-58F0-C5DF090DF975}"/>
                </a:ext>
                <a:ext uri="{C183D7F6-B498-43B3-948B-1728B52AA6E4}">
                  <adec:decorative xmlns:adec="http://schemas.microsoft.com/office/drawing/2017/decorative" val="1"/>
                </a:ext>
              </a:extLst>
            </p:cNvPr>
            <p:cNvSpPr>
              <a:spLocks noChangeAspect="1" noEditPoints="1"/>
            </p:cNvSpPr>
            <p:nvPr/>
          </p:nvSpPr>
          <p:spPr bwMode="auto">
            <a:xfrm flipH="1">
              <a:off x="945344" y="4412981"/>
              <a:ext cx="238987" cy="234420"/>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952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309" name="Group 308">
            <a:extLst>
              <a:ext uri="{FF2B5EF4-FFF2-40B4-BE49-F238E27FC236}">
                <a16:creationId xmlns:a16="http://schemas.microsoft.com/office/drawing/2014/main" id="{B9B5D406-0CB3-796C-75BA-2F32463293E6}"/>
              </a:ext>
              <a:ext uri="{C183D7F6-B498-43B3-948B-1728B52AA6E4}">
                <adec:decorative xmlns:adec="http://schemas.microsoft.com/office/drawing/2017/decorative" val="1"/>
              </a:ext>
            </a:extLst>
          </p:cNvPr>
          <p:cNvGrpSpPr>
            <a:grpSpLocks/>
          </p:cNvGrpSpPr>
          <p:nvPr/>
        </p:nvGrpSpPr>
        <p:grpSpPr>
          <a:xfrm>
            <a:off x="3881607" y="4873809"/>
            <a:ext cx="459126" cy="459126"/>
            <a:chOff x="835275" y="5047398"/>
            <a:chExt cx="459126" cy="459126"/>
          </a:xfrm>
        </p:grpSpPr>
        <p:sp>
          <p:nvSpPr>
            <p:cNvPr id="310" name="Oval 309">
              <a:extLst>
                <a:ext uri="{FF2B5EF4-FFF2-40B4-BE49-F238E27FC236}">
                  <a16:creationId xmlns:a16="http://schemas.microsoft.com/office/drawing/2014/main" id="{2D372E80-A0CB-0EE4-0F64-C5C0D3FBAED3}"/>
                </a:ext>
                <a:ext uri="{C183D7F6-B498-43B3-948B-1728B52AA6E4}">
                  <adec:decorative xmlns:adec="http://schemas.microsoft.com/office/drawing/2017/decorative" val="1"/>
                </a:ext>
              </a:extLst>
            </p:cNvPr>
            <p:cNvSpPr/>
            <p:nvPr/>
          </p:nvSpPr>
          <p:spPr bwMode="auto">
            <a:xfrm>
              <a:off x="835275" y="5047398"/>
              <a:ext cx="459126" cy="459126"/>
            </a:xfrm>
            <a:prstGeom prst="ellipse">
              <a:avLst/>
            </a:pr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11" name="speedometer_2">
              <a:extLst>
                <a:ext uri="{FF2B5EF4-FFF2-40B4-BE49-F238E27FC236}">
                  <a16:creationId xmlns:a16="http://schemas.microsoft.com/office/drawing/2014/main" id="{4069EA9B-7A19-5837-B512-7EC728FB41A2}"/>
                </a:ext>
                <a:ext uri="{C183D7F6-B498-43B3-948B-1728B52AA6E4}">
                  <adec:decorative xmlns:adec="http://schemas.microsoft.com/office/drawing/2017/decorative" val="1"/>
                </a:ext>
              </a:extLst>
            </p:cNvPr>
            <p:cNvSpPr>
              <a:spLocks noChangeAspect="1" noEditPoints="1"/>
            </p:cNvSpPr>
            <p:nvPr/>
          </p:nvSpPr>
          <p:spPr bwMode="auto">
            <a:xfrm>
              <a:off x="945205" y="5157329"/>
              <a:ext cx="239264" cy="239264"/>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952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23" name="Group 322">
            <a:extLst>
              <a:ext uri="{FF2B5EF4-FFF2-40B4-BE49-F238E27FC236}">
                <a16:creationId xmlns:a16="http://schemas.microsoft.com/office/drawing/2014/main" id="{3565FDD3-7880-1325-4551-CCD3AB0CDB1F}"/>
              </a:ext>
              <a:ext uri="{C183D7F6-B498-43B3-948B-1728B52AA6E4}">
                <adec:decorative xmlns:adec="http://schemas.microsoft.com/office/drawing/2017/decorative" val="1"/>
              </a:ext>
            </a:extLst>
          </p:cNvPr>
          <p:cNvGrpSpPr>
            <a:grpSpLocks/>
          </p:cNvGrpSpPr>
          <p:nvPr/>
        </p:nvGrpSpPr>
        <p:grpSpPr>
          <a:xfrm>
            <a:off x="3881607" y="5609901"/>
            <a:ext cx="459126" cy="459126"/>
            <a:chOff x="835275" y="5686443"/>
            <a:chExt cx="459126" cy="459126"/>
          </a:xfrm>
        </p:grpSpPr>
        <p:sp>
          <p:nvSpPr>
            <p:cNvPr id="324" name="Oval 323">
              <a:extLst>
                <a:ext uri="{FF2B5EF4-FFF2-40B4-BE49-F238E27FC236}">
                  <a16:creationId xmlns:a16="http://schemas.microsoft.com/office/drawing/2014/main" id="{0C93290E-0AA9-5CF1-6745-74CEC905C7C9}"/>
                </a:ext>
                <a:ext uri="{C183D7F6-B498-43B3-948B-1728B52AA6E4}">
                  <adec:decorative xmlns:adec="http://schemas.microsoft.com/office/drawing/2017/decorative" val="1"/>
                </a:ext>
              </a:extLst>
            </p:cNvPr>
            <p:cNvSpPr/>
            <p:nvPr/>
          </p:nvSpPr>
          <p:spPr bwMode="auto">
            <a:xfrm>
              <a:off x="835275" y="5686443"/>
              <a:ext cx="459126" cy="459126"/>
            </a:xfrm>
            <a:prstGeom prst="ellipse">
              <a:avLst/>
            </a:prstGeom>
            <a:solidFill>
              <a:schemeClr val="bg1"/>
            </a:solidFill>
            <a:ln w="38100">
              <a:solidFill>
                <a:schemeClr val="accent1">
                  <a:lumMod val="20000"/>
                  <a:lumOff val="80000"/>
                  <a:alpha val="3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25" name="browser_3">
              <a:extLst>
                <a:ext uri="{FF2B5EF4-FFF2-40B4-BE49-F238E27FC236}">
                  <a16:creationId xmlns:a16="http://schemas.microsoft.com/office/drawing/2014/main" id="{A757A85B-07D0-3CBC-0925-C096BF513725}"/>
                </a:ext>
                <a:ext uri="{C183D7F6-B498-43B3-948B-1728B52AA6E4}">
                  <adec:decorative xmlns:adec="http://schemas.microsoft.com/office/drawing/2017/decorative" val="1"/>
                </a:ext>
              </a:extLst>
            </p:cNvPr>
            <p:cNvSpPr>
              <a:spLocks noChangeAspect="1" noEditPoints="1"/>
            </p:cNvSpPr>
            <p:nvPr/>
          </p:nvSpPr>
          <p:spPr bwMode="auto">
            <a:xfrm>
              <a:off x="959368" y="5815685"/>
              <a:ext cx="210940" cy="200642"/>
            </a:xfrm>
            <a:custGeom>
              <a:avLst/>
              <a:gdLst>
                <a:gd name="T0" fmla="*/ 130 w 335"/>
                <a:gd name="T1" fmla="*/ 33 h 318"/>
                <a:gd name="T2" fmla="*/ 335 w 335"/>
                <a:gd name="T3" fmla="*/ 33 h 318"/>
                <a:gd name="T4" fmla="*/ 335 w 335"/>
                <a:gd name="T5" fmla="*/ 318 h 318"/>
                <a:gd name="T6" fmla="*/ 0 w 335"/>
                <a:gd name="T7" fmla="*/ 318 h 318"/>
                <a:gd name="T8" fmla="*/ 0 w 335"/>
                <a:gd name="T9" fmla="*/ 33 h 318"/>
                <a:gd name="T10" fmla="*/ 0 w 335"/>
                <a:gd name="T11" fmla="*/ 33 h 318"/>
                <a:gd name="T12" fmla="*/ 71 w 335"/>
                <a:gd name="T13" fmla="*/ 33 h 318"/>
                <a:gd name="T14" fmla="*/ 130 w 335"/>
                <a:gd name="T15" fmla="*/ 97 h 318"/>
                <a:gd name="T16" fmla="*/ 335 w 335"/>
                <a:gd name="T17" fmla="*/ 97 h 318"/>
                <a:gd name="T18" fmla="*/ 0 w 335"/>
                <a:gd name="T19" fmla="*/ 97 h 318"/>
                <a:gd name="T20" fmla="*/ 67 w 335"/>
                <a:gd name="T21" fmla="*/ 97 h 318"/>
                <a:gd name="T22" fmla="*/ 293 w 335"/>
                <a:gd name="T23" fmla="*/ 69 h 318"/>
                <a:gd name="T24" fmla="*/ 298 w 335"/>
                <a:gd name="T25" fmla="*/ 64 h 318"/>
                <a:gd name="T26" fmla="*/ 293 w 335"/>
                <a:gd name="T27" fmla="*/ 60 h 318"/>
                <a:gd name="T28" fmla="*/ 289 w 335"/>
                <a:gd name="T29" fmla="*/ 64 h 318"/>
                <a:gd name="T30" fmla="*/ 293 w 335"/>
                <a:gd name="T31" fmla="*/ 69 h 318"/>
                <a:gd name="T32" fmla="*/ 240 w 335"/>
                <a:gd name="T33" fmla="*/ 69 h 318"/>
                <a:gd name="T34" fmla="*/ 245 w 335"/>
                <a:gd name="T35" fmla="*/ 64 h 318"/>
                <a:gd name="T36" fmla="*/ 240 w 335"/>
                <a:gd name="T37" fmla="*/ 60 h 318"/>
                <a:gd name="T38" fmla="*/ 235 w 335"/>
                <a:gd name="T39" fmla="*/ 64 h 318"/>
                <a:gd name="T40" fmla="*/ 240 w 335"/>
                <a:gd name="T41" fmla="*/ 69 h 318"/>
                <a:gd name="T42" fmla="*/ 187 w 335"/>
                <a:gd name="T43" fmla="*/ 69 h 318"/>
                <a:gd name="T44" fmla="*/ 192 w 335"/>
                <a:gd name="T45" fmla="*/ 64 h 318"/>
                <a:gd name="T46" fmla="*/ 187 w 335"/>
                <a:gd name="T47" fmla="*/ 60 h 318"/>
                <a:gd name="T48" fmla="*/ 182 w 335"/>
                <a:gd name="T49" fmla="*/ 64 h 318"/>
                <a:gd name="T50" fmla="*/ 187 w 335"/>
                <a:gd name="T51" fmla="*/ 69 h 318"/>
                <a:gd name="T52" fmla="*/ 49 w 335"/>
                <a:gd name="T53" fmla="*/ 190 h 318"/>
                <a:gd name="T54" fmla="*/ 100 w 335"/>
                <a:gd name="T55" fmla="*/ 240 h 318"/>
                <a:gd name="T56" fmla="*/ 151 w 335"/>
                <a:gd name="T57" fmla="*/ 190 h 318"/>
                <a:gd name="T58" fmla="*/ 100 w 335"/>
                <a:gd name="T59" fmla="*/ 0 h 318"/>
                <a:gd name="T60" fmla="*/ 100 w 335"/>
                <a:gd name="T61" fmla="*/ 24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5" h="318">
                  <a:moveTo>
                    <a:pt x="130" y="33"/>
                  </a:moveTo>
                  <a:cubicBezTo>
                    <a:pt x="335" y="33"/>
                    <a:pt x="335" y="33"/>
                    <a:pt x="335" y="33"/>
                  </a:cubicBezTo>
                  <a:cubicBezTo>
                    <a:pt x="335" y="318"/>
                    <a:pt x="335" y="318"/>
                    <a:pt x="335" y="318"/>
                  </a:cubicBezTo>
                  <a:cubicBezTo>
                    <a:pt x="0" y="318"/>
                    <a:pt x="0" y="318"/>
                    <a:pt x="0" y="318"/>
                  </a:cubicBezTo>
                  <a:cubicBezTo>
                    <a:pt x="0" y="33"/>
                    <a:pt x="0" y="33"/>
                    <a:pt x="0" y="33"/>
                  </a:cubicBezTo>
                  <a:cubicBezTo>
                    <a:pt x="0" y="33"/>
                    <a:pt x="0" y="33"/>
                    <a:pt x="0" y="33"/>
                  </a:cubicBezTo>
                  <a:cubicBezTo>
                    <a:pt x="71" y="33"/>
                    <a:pt x="71" y="33"/>
                    <a:pt x="71" y="33"/>
                  </a:cubicBezTo>
                  <a:moveTo>
                    <a:pt x="130" y="97"/>
                  </a:moveTo>
                  <a:cubicBezTo>
                    <a:pt x="335" y="97"/>
                    <a:pt x="335" y="97"/>
                    <a:pt x="335" y="97"/>
                  </a:cubicBezTo>
                  <a:moveTo>
                    <a:pt x="0" y="97"/>
                  </a:moveTo>
                  <a:cubicBezTo>
                    <a:pt x="67" y="97"/>
                    <a:pt x="67" y="97"/>
                    <a:pt x="67" y="97"/>
                  </a:cubicBezTo>
                  <a:moveTo>
                    <a:pt x="293" y="69"/>
                  </a:moveTo>
                  <a:cubicBezTo>
                    <a:pt x="296" y="69"/>
                    <a:pt x="298" y="67"/>
                    <a:pt x="298" y="64"/>
                  </a:cubicBezTo>
                  <a:cubicBezTo>
                    <a:pt x="298" y="62"/>
                    <a:pt x="296" y="60"/>
                    <a:pt x="293" y="60"/>
                  </a:cubicBezTo>
                  <a:cubicBezTo>
                    <a:pt x="291" y="60"/>
                    <a:pt x="289" y="62"/>
                    <a:pt x="289" y="64"/>
                  </a:cubicBezTo>
                  <a:cubicBezTo>
                    <a:pt x="289" y="67"/>
                    <a:pt x="291" y="69"/>
                    <a:pt x="293" y="69"/>
                  </a:cubicBezTo>
                  <a:close/>
                  <a:moveTo>
                    <a:pt x="240" y="69"/>
                  </a:moveTo>
                  <a:cubicBezTo>
                    <a:pt x="243" y="69"/>
                    <a:pt x="245" y="67"/>
                    <a:pt x="245" y="64"/>
                  </a:cubicBezTo>
                  <a:cubicBezTo>
                    <a:pt x="245" y="62"/>
                    <a:pt x="243" y="60"/>
                    <a:pt x="240" y="60"/>
                  </a:cubicBezTo>
                  <a:cubicBezTo>
                    <a:pt x="238" y="60"/>
                    <a:pt x="235" y="62"/>
                    <a:pt x="235" y="64"/>
                  </a:cubicBezTo>
                  <a:cubicBezTo>
                    <a:pt x="235" y="67"/>
                    <a:pt x="238" y="69"/>
                    <a:pt x="240" y="69"/>
                  </a:cubicBezTo>
                  <a:close/>
                  <a:moveTo>
                    <a:pt x="187" y="69"/>
                  </a:moveTo>
                  <a:cubicBezTo>
                    <a:pt x="189" y="69"/>
                    <a:pt x="192" y="67"/>
                    <a:pt x="192" y="64"/>
                  </a:cubicBezTo>
                  <a:cubicBezTo>
                    <a:pt x="192" y="62"/>
                    <a:pt x="189" y="60"/>
                    <a:pt x="187" y="60"/>
                  </a:cubicBezTo>
                  <a:cubicBezTo>
                    <a:pt x="184" y="60"/>
                    <a:pt x="182" y="62"/>
                    <a:pt x="182" y="64"/>
                  </a:cubicBezTo>
                  <a:cubicBezTo>
                    <a:pt x="182" y="67"/>
                    <a:pt x="184" y="69"/>
                    <a:pt x="187" y="69"/>
                  </a:cubicBezTo>
                  <a:close/>
                  <a:moveTo>
                    <a:pt x="49" y="190"/>
                  </a:moveTo>
                  <a:cubicBezTo>
                    <a:pt x="100" y="240"/>
                    <a:pt x="100" y="240"/>
                    <a:pt x="100" y="240"/>
                  </a:cubicBezTo>
                  <a:cubicBezTo>
                    <a:pt x="151" y="190"/>
                    <a:pt x="151" y="190"/>
                    <a:pt x="151" y="190"/>
                  </a:cubicBezTo>
                  <a:moveTo>
                    <a:pt x="100" y="0"/>
                  </a:moveTo>
                  <a:cubicBezTo>
                    <a:pt x="100" y="240"/>
                    <a:pt x="100" y="240"/>
                    <a:pt x="100" y="240"/>
                  </a:cubicBezTo>
                </a:path>
              </a:pathLst>
            </a:custGeom>
            <a:noFill/>
            <a:ln w="9525" cap="sq">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Tree>
    <p:extLst>
      <p:ext uri="{BB962C8B-B14F-4D97-AF65-F5344CB8AC3E}">
        <p14:creationId xmlns:p14="http://schemas.microsoft.com/office/powerpoint/2010/main" val="92770506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CFF6C-03C9-1654-27F1-95A972CEDB4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2E494E4-F460-5638-DA29-90BFE56D2B52}"/>
              </a:ext>
            </a:extLst>
          </p:cNvPr>
          <p:cNvSpPr>
            <a:spLocks noGrp="1"/>
          </p:cNvSpPr>
          <p:nvPr>
            <p:ph type="title"/>
          </p:nvPr>
        </p:nvSpPr>
        <p:spPr>
          <a:xfrm>
            <a:off x="575481" y="599436"/>
            <a:ext cx="11018520" cy="98488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200" b="0" kern="1200" cap="none" spc="0" baseline="0" dirty="0">
                <a:ln w="3175">
                  <a:noFill/>
                </a:ln>
                <a:solidFill>
                  <a:schemeClr val="tx2"/>
                </a:solidFill>
                <a:effectLst/>
                <a:latin typeface="+mj-lt"/>
                <a:ea typeface="+mn-ea"/>
                <a:cs typeface="Segoe UI" pitchFamily="34" charset="0"/>
              </a:defRPr>
            </a:lvl1pPr>
          </a:lstStyle>
          <a:p>
            <a:r>
              <a:rPr lang="en-US"/>
              <a:t>Streamline your Microsoft investment with Microsoft Unified Multi-Year </a:t>
            </a:r>
          </a:p>
        </p:txBody>
      </p:sp>
      <p:grpSp>
        <p:nvGrpSpPr>
          <p:cNvPr id="3" name="Group 2">
            <a:extLst>
              <a:ext uri="{FF2B5EF4-FFF2-40B4-BE49-F238E27FC236}">
                <a16:creationId xmlns:a16="http://schemas.microsoft.com/office/drawing/2014/main" id="{F6F04079-7BF1-7D7F-54D6-3F68DE8F0D1A}"/>
              </a:ext>
              <a:ext uri="{C183D7F6-B498-43B3-948B-1728B52AA6E4}">
                <adec:decorative xmlns:adec="http://schemas.microsoft.com/office/drawing/2017/decorative" val="1"/>
              </a:ext>
            </a:extLst>
          </p:cNvPr>
          <p:cNvGrpSpPr/>
          <p:nvPr/>
        </p:nvGrpSpPr>
        <p:grpSpPr>
          <a:xfrm>
            <a:off x="575481" y="1886988"/>
            <a:ext cx="11049000" cy="4009987"/>
            <a:chOff x="575481" y="1886988"/>
            <a:chExt cx="11049000" cy="4009987"/>
          </a:xfrm>
        </p:grpSpPr>
        <p:sp>
          <p:nvSpPr>
            <p:cNvPr id="4" name="Rectangle 3">
              <a:extLst>
                <a:ext uri="{FF2B5EF4-FFF2-40B4-BE49-F238E27FC236}">
                  <a16:creationId xmlns:a16="http://schemas.microsoft.com/office/drawing/2014/main" id="{97F1E96A-0542-93A0-BD87-B6CFA4B52B88}"/>
                </a:ext>
              </a:extLst>
            </p:cNvPr>
            <p:cNvSpPr>
              <a:spLocks/>
            </p:cNvSpPr>
            <p:nvPr/>
          </p:nvSpPr>
          <p:spPr bwMode="auto">
            <a:xfrm>
              <a:off x="575481" y="1886988"/>
              <a:ext cx="11049000" cy="4009987"/>
            </a:xfrm>
            <a:prstGeom prst="rect">
              <a:avLst/>
            </a:prstGeom>
            <a:solidFill>
              <a:schemeClr val="bg1"/>
            </a:solidFill>
            <a:ln w="31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5" name="Rectangle 4">
              <a:extLst>
                <a:ext uri="{FF2B5EF4-FFF2-40B4-BE49-F238E27FC236}">
                  <a16:creationId xmlns:a16="http://schemas.microsoft.com/office/drawing/2014/main" id="{203AAC91-48D3-BA69-0F33-F278332C4398}"/>
                </a:ext>
              </a:extLst>
            </p:cNvPr>
            <p:cNvSpPr>
              <a:spLocks/>
            </p:cNvSpPr>
            <p:nvPr/>
          </p:nvSpPr>
          <p:spPr bwMode="auto">
            <a:xfrm>
              <a:off x="754902" y="2807263"/>
              <a:ext cx="616698" cy="3089712"/>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 name="Group 5">
              <a:extLst>
                <a:ext uri="{FF2B5EF4-FFF2-40B4-BE49-F238E27FC236}">
                  <a16:creationId xmlns:a16="http://schemas.microsoft.com/office/drawing/2014/main" id="{09813EBE-91B0-B06D-DE5A-9F9E4793A0F4}"/>
                </a:ext>
              </a:extLst>
            </p:cNvPr>
            <p:cNvGrpSpPr/>
            <p:nvPr/>
          </p:nvGrpSpPr>
          <p:grpSpPr>
            <a:xfrm>
              <a:off x="848602" y="4468411"/>
              <a:ext cx="429299" cy="429299"/>
              <a:chOff x="848602" y="4468411"/>
              <a:chExt cx="429299" cy="429299"/>
            </a:xfrm>
          </p:grpSpPr>
          <p:sp>
            <p:nvSpPr>
              <p:cNvPr id="25" name="Oval 24">
                <a:extLst>
                  <a:ext uri="{FF2B5EF4-FFF2-40B4-BE49-F238E27FC236}">
                    <a16:creationId xmlns:a16="http://schemas.microsoft.com/office/drawing/2014/main" id="{43410454-17AE-70CB-5347-281349944150}"/>
                  </a:ext>
                </a:extLst>
              </p:cNvPr>
              <p:cNvSpPr/>
              <p:nvPr/>
            </p:nvSpPr>
            <p:spPr bwMode="auto">
              <a:xfrm>
                <a:off x="848602" y="4468411"/>
                <a:ext cx="429299" cy="429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6" name="TagLegacy_E1CB">
                <a:extLst>
                  <a:ext uri="{FF2B5EF4-FFF2-40B4-BE49-F238E27FC236}">
                    <a16:creationId xmlns:a16="http://schemas.microsoft.com/office/drawing/2014/main" id="{1E4615B4-9207-2E30-C68A-31FB1A787CE9}"/>
                  </a:ext>
                  <a:ext uri="{C183D7F6-B498-43B3-948B-1728B52AA6E4}">
                    <adec:decorative xmlns:adec="http://schemas.microsoft.com/office/drawing/2017/decorative" val="1"/>
                  </a:ext>
                </a:extLst>
              </p:cNvPr>
              <p:cNvSpPr>
                <a:spLocks noChangeAspect="1" noEditPoints="1"/>
              </p:cNvSpPr>
              <p:nvPr/>
            </p:nvSpPr>
            <p:spPr bwMode="auto">
              <a:xfrm>
                <a:off x="930513" y="4577107"/>
                <a:ext cx="265477" cy="211906"/>
              </a:xfrm>
              <a:custGeom>
                <a:avLst/>
                <a:gdLst>
                  <a:gd name="T0" fmla="*/ 2950 w 3700"/>
                  <a:gd name="T1" fmla="*/ 1330 h 2952"/>
                  <a:gd name="T2" fmla="*/ 1328 w 3700"/>
                  <a:gd name="T3" fmla="*/ 2952 h 2952"/>
                  <a:gd name="T4" fmla="*/ 0 w 3700"/>
                  <a:gd name="T5" fmla="*/ 1620 h 2952"/>
                  <a:gd name="T6" fmla="*/ 1620 w 3700"/>
                  <a:gd name="T7" fmla="*/ 0 h 2952"/>
                  <a:gd name="T8" fmla="*/ 2951 w 3700"/>
                  <a:gd name="T9" fmla="*/ 1 h 2952"/>
                  <a:gd name="T10" fmla="*/ 2950 w 3700"/>
                  <a:gd name="T11" fmla="*/ 1330 h 2952"/>
                  <a:gd name="T12" fmla="*/ 1820 w 3700"/>
                  <a:gd name="T13" fmla="*/ 2460 h 2952"/>
                  <a:gd name="T14" fmla="*/ 2576 w 3700"/>
                  <a:gd name="T15" fmla="*/ 2753 h 2952"/>
                  <a:gd name="T16" fmla="*/ 3700 w 3700"/>
                  <a:gd name="T17" fmla="*/ 1629 h 2952"/>
                  <a:gd name="T18" fmla="*/ 2576 w 3700"/>
                  <a:gd name="T19" fmla="*/ 505 h 2952"/>
                  <a:gd name="T20" fmla="*/ 2421 w 3700"/>
                  <a:gd name="T21" fmla="*/ 505 h 2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00" h="2952">
                    <a:moveTo>
                      <a:pt x="2950" y="1330"/>
                    </a:moveTo>
                    <a:cubicBezTo>
                      <a:pt x="1328" y="2952"/>
                      <a:pt x="1328" y="2952"/>
                      <a:pt x="1328" y="2952"/>
                    </a:cubicBezTo>
                    <a:cubicBezTo>
                      <a:pt x="0" y="1620"/>
                      <a:pt x="0" y="1620"/>
                      <a:pt x="0" y="1620"/>
                    </a:cubicBezTo>
                    <a:cubicBezTo>
                      <a:pt x="1620" y="0"/>
                      <a:pt x="1620" y="0"/>
                      <a:pt x="1620" y="0"/>
                    </a:cubicBezTo>
                    <a:cubicBezTo>
                      <a:pt x="2951" y="1"/>
                      <a:pt x="2951" y="1"/>
                      <a:pt x="2951" y="1"/>
                    </a:cubicBezTo>
                    <a:lnTo>
                      <a:pt x="2950" y="1330"/>
                    </a:lnTo>
                    <a:close/>
                    <a:moveTo>
                      <a:pt x="1820" y="2460"/>
                    </a:moveTo>
                    <a:cubicBezTo>
                      <a:pt x="2020" y="2642"/>
                      <a:pt x="2285" y="2753"/>
                      <a:pt x="2576" y="2753"/>
                    </a:cubicBezTo>
                    <a:cubicBezTo>
                      <a:pt x="3197" y="2753"/>
                      <a:pt x="3700" y="2249"/>
                      <a:pt x="3700" y="1629"/>
                    </a:cubicBezTo>
                    <a:cubicBezTo>
                      <a:pt x="3700" y="1008"/>
                      <a:pt x="3198" y="505"/>
                      <a:pt x="2576" y="505"/>
                    </a:cubicBezTo>
                    <a:cubicBezTo>
                      <a:pt x="2421" y="505"/>
                      <a:pt x="2421" y="505"/>
                      <a:pt x="2421" y="505"/>
                    </a:cubicBezTo>
                  </a:path>
                </a:pathLst>
              </a:custGeom>
              <a:noFill/>
              <a:ln w="12700" cap="sq">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0" cap="none" spc="0" normalizeH="0" baseline="0" noProof="0">
                  <a:ln>
                    <a:noFill/>
                  </a:ln>
                  <a:solidFill>
                    <a:srgbClr val="0D0D0D"/>
                  </a:solidFill>
                  <a:effectLst/>
                  <a:uLnTx/>
                  <a:uFillTx/>
                  <a:latin typeface="Segoe UI"/>
                  <a:ea typeface="+mn-ea"/>
                  <a:cs typeface="+mn-cs"/>
                </a:endParaRPr>
              </a:p>
            </p:txBody>
          </p:sp>
        </p:grpSp>
        <p:grpSp>
          <p:nvGrpSpPr>
            <p:cNvPr id="7" name="Group 6">
              <a:extLst>
                <a:ext uri="{FF2B5EF4-FFF2-40B4-BE49-F238E27FC236}">
                  <a16:creationId xmlns:a16="http://schemas.microsoft.com/office/drawing/2014/main" id="{B5ECCD24-8B36-CE09-DC0C-92F651EEE2F8}"/>
                </a:ext>
              </a:extLst>
            </p:cNvPr>
            <p:cNvGrpSpPr/>
            <p:nvPr/>
          </p:nvGrpSpPr>
          <p:grpSpPr>
            <a:xfrm>
              <a:off x="848602" y="5201994"/>
              <a:ext cx="429299" cy="429299"/>
              <a:chOff x="848602" y="5201994"/>
              <a:chExt cx="429299" cy="429299"/>
            </a:xfrm>
          </p:grpSpPr>
          <p:sp>
            <p:nvSpPr>
              <p:cNvPr id="23" name="Oval 22">
                <a:extLst>
                  <a:ext uri="{FF2B5EF4-FFF2-40B4-BE49-F238E27FC236}">
                    <a16:creationId xmlns:a16="http://schemas.microsoft.com/office/drawing/2014/main" id="{19349B70-EBE1-F2B6-0BBD-5BF4CE93C6AB}"/>
                  </a:ext>
                </a:extLst>
              </p:cNvPr>
              <p:cNvSpPr/>
              <p:nvPr/>
            </p:nvSpPr>
            <p:spPr bwMode="auto">
              <a:xfrm>
                <a:off x="848602" y="5201994"/>
                <a:ext cx="429299" cy="429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4" name="money_2">
                <a:extLst>
                  <a:ext uri="{FF2B5EF4-FFF2-40B4-BE49-F238E27FC236}">
                    <a16:creationId xmlns:a16="http://schemas.microsoft.com/office/drawing/2014/main" id="{A76524BA-815F-AA99-A8CF-7D46B47B4F6F}"/>
                  </a:ext>
                  <a:ext uri="{C183D7F6-B498-43B3-948B-1728B52AA6E4}">
                    <adec:decorative xmlns:adec="http://schemas.microsoft.com/office/drawing/2017/decorative" val="1"/>
                  </a:ext>
                </a:extLst>
              </p:cNvPr>
              <p:cNvSpPr>
                <a:spLocks noChangeAspect="1" noEditPoints="1"/>
              </p:cNvSpPr>
              <p:nvPr/>
            </p:nvSpPr>
            <p:spPr bwMode="auto">
              <a:xfrm>
                <a:off x="915351" y="5260701"/>
                <a:ext cx="295800" cy="311885"/>
              </a:xfrm>
              <a:custGeom>
                <a:avLst/>
                <a:gdLst>
                  <a:gd name="T0" fmla="*/ 307 w 307"/>
                  <a:gd name="T1" fmla="*/ 163 h 326"/>
                  <a:gd name="T2" fmla="*/ 282 w 307"/>
                  <a:gd name="T3" fmla="*/ 244 h 326"/>
                  <a:gd name="T4" fmla="*/ 82 w 307"/>
                  <a:gd name="T5" fmla="*/ 281 h 326"/>
                  <a:gd name="T6" fmla="*/ 45 w 307"/>
                  <a:gd name="T7" fmla="*/ 82 h 326"/>
                  <a:gd name="T8" fmla="*/ 245 w 307"/>
                  <a:gd name="T9" fmla="*/ 45 h 326"/>
                  <a:gd name="T10" fmla="*/ 297 w 307"/>
                  <a:gd name="T11" fmla="*/ 110 h 326"/>
                  <a:gd name="T12" fmla="*/ 257 w 307"/>
                  <a:gd name="T13" fmla="*/ 99 h 326"/>
                  <a:gd name="T14" fmla="*/ 297 w 307"/>
                  <a:gd name="T15" fmla="*/ 109 h 326"/>
                  <a:gd name="T16" fmla="*/ 307 w 307"/>
                  <a:gd name="T17" fmla="*/ 70 h 326"/>
                  <a:gd name="T18" fmla="*/ 126 w 307"/>
                  <a:gd name="T19" fmla="*/ 199 h 326"/>
                  <a:gd name="T20" fmla="*/ 182 w 307"/>
                  <a:gd name="T21" fmla="*/ 199 h 326"/>
                  <a:gd name="T22" fmla="*/ 202 w 307"/>
                  <a:gd name="T23" fmla="*/ 179 h 326"/>
                  <a:gd name="T24" fmla="*/ 182 w 307"/>
                  <a:gd name="T25" fmla="*/ 158 h 326"/>
                  <a:gd name="T26" fmla="*/ 147 w 307"/>
                  <a:gd name="T27" fmla="*/ 158 h 326"/>
                  <a:gd name="T28" fmla="*/ 126 w 307"/>
                  <a:gd name="T29" fmla="*/ 137 h 326"/>
                  <a:gd name="T30" fmla="*/ 147 w 307"/>
                  <a:gd name="T31" fmla="*/ 117 h 326"/>
                  <a:gd name="T32" fmla="*/ 201 w 307"/>
                  <a:gd name="T33" fmla="*/ 117 h 326"/>
                  <a:gd name="T34" fmla="*/ 164 w 307"/>
                  <a:gd name="T35" fmla="*/ 88 h 326"/>
                  <a:gd name="T36" fmla="*/ 164 w 307"/>
                  <a:gd name="T37" fmla="*/ 22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7" h="326">
                    <a:moveTo>
                      <a:pt x="307" y="163"/>
                    </a:moveTo>
                    <a:cubicBezTo>
                      <a:pt x="307" y="191"/>
                      <a:pt x="299" y="219"/>
                      <a:pt x="282" y="244"/>
                    </a:cubicBezTo>
                    <a:cubicBezTo>
                      <a:pt x="237" y="310"/>
                      <a:pt x="148" y="326"/>
                      <a:pt x="82" y="281"/>
                    </a:cubicBezTo>
                    <a:cubicBezTo>
                      <a:pt x="17" y="236"/>
                      <a:pt x="0" y="147"/>
                      <a:pt x="45" y="82"/>
                    </a:cubicBezTo>
                    <a:cubicBezTo>
                      <a:pt x="90" y="16"/>
                      <a:pt x="179" y="0"/>
                      <a:pt x="245" y="45"/>
                    </a:cubicBezTo>
                    <a:cubicBezTo>
                      <a:pt x="269" y="61"/>
                      <a:pt x="287" y="84"/>
                      <a:pt x="297" y="110"/>
                    </a:cubicBezTo>
                    <a:moveTo>
                      <a:pt x="257" y="99"/>
                    </a:moveTo>
                    <a:cubicBezTo>
                      <a:pt x="297" y="109"/>
                      <a:pt x="297" y="109"/>
                      <a:pt x="297" y="109"/>
                    </a:cubicBezTo>
                    <a:cubicBezTo>
                      <a:pt x="307" y="70"/>
                      <a:pt x="307" y="70"/>
                      <a:pt x="307" y="70"/>
                    </a:cubicBezTo>
                    <a:moveTo>
                      <a:pt x="126" y="199"/>
                    </a:moveTo>
                    <a:cubicBezTo>
                      <a:pt x="182" y="199"/>
                      <a:pt x="182" y="199"/>
                      <a:pt x="182" y="199"/>
                    </a:cubicBezTo>
                    <a:cubicBezTo>
                      <a:pt x="193" y="199"/>
                      <a:pt x="202" y="190"/>
                      <a:pt x="202" y="179"/>
                    </a:cubicBezTo>
                    <a:cubicBezTo>
                      <a:pt x="202" y="168"/>
                      <a:pt x="193" y="158"/>
                      <a:pt x="182" y="158"/>
                    </a:cubicBezTo>
                    <a:cubicBezTo>
                      <a:pt x="147" y="158"/>
                      <a:pt x="147" y="158"/>
                      <a:pt x="147" y="158"/>
                    </a:cubicBezTo>
                    <a:cubicBezTo>
                      <a:pt x="136" y="158"/>
                      <a:pt x="126" y="148"/>
                      <a:pt x="126" y="137"/>
                    </a:cubicBezTo>
                    <a:cubicBezTo>
                      <a:pt x="126" y="126"/>
                      <a:pt x="136" y="117"/>
                      <a:pt x="147" y="117"/>
                    </a:cubicBezTo>
                    <a:cubicBezTo>
                      <a:pt x="201" y="117"/>
                      <a:pt x="201" y="117"/>
                      <a:pt x="201" y="117"/>
                    </a:cubicBezTo>
                    <a:moveTo>
                      <a:pt x="164" y="88"/>
                    </a:moveTo>
                    <a:cubicBezTo>
                      <a:pt x="164" y="226"/>
                      <a:pt x="164" y="226"/>
                      <a:pt x="164" y="226"/>
                    </a:cubicBez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0" cap="none" spc="0" normalizeH="0" baseline="0" noProof="0">
                  <a:ln>
                    <a:noFill/>
                  </a:ln>
                  <a:solidFill>
                    <a:srgbClr val="0D0D0D"/>
                  </a:solidFill>
                  <a:effectLst/>
                  <a:uLnTx/>
                  <a:uFillTx/>
                  <a:latin typeface="Segoe UI"/>
                  <a:ea typeface="+mn-ea"/>
                  <a:cs typeface="+mn-cs"/>
                </a:endParaRPr>
              </a:p>
            </p:txBody>
          </p:sp>
        </p:grpSp>
        <p:grpSp>
          <p:nvGrpSpPr>
            <p:cNvPr id="8" name="Group 7">
              <a:extLst>
                <a:ext uri="{FF2B5EF4-FFF2-40B4-BE49-F238E27FC236}">
                  <a16:creationId xmlns:a16="http://schemas.microsoft.com/office/drawing/2014/main" id="{D6769189-6EB3-9BF3-374B-CE9574D08228}"/>
                </a:ext>
              </a:extLst>
            </p:cNvPr>
            <p:cNvGrpSpPr/>
            <p:nvPr/>
          </p:nvGrpSpPr>
          <p:grpSpPr>
            <a:xfrm>
              <a:off x="848602" y="3725211"/>
              <a:ext cx="429299" cy="429299"/>
              <a:chOff x="848602" y="3725211"/>
              <a:chExt cx="429299" cy="429299"/>
            </a:xfrm>
          </p:grpSpPr>
          <p:sp>
            <p:nvSpPr>
              <p:cNvPr id="21" name="Oval 20">
                <a:extLst>
                  <a:ext uri="{FF2B5EF4-FFF2-40B4-BE49-F238E27FC236}">
                    <a16:creationId xmlns:a16="http://schemas.microsoft.com/office/drawing/2014/main" id="{8341E392-1CE7-0B88-C32A-EBE7E563C176}"/>
                  </a:ext>
                </a:extLst>
              </p:cNvPr>
              <p:cNvSpPr/>
              <p:nvPr/>
            </p:nvSpPr>
            <p:spPr bwMode="auto">
              <a:xfrm>
                <a:off x="848602" y="3725211"/>
                <a:ext cx="429299" cy="429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2" name="Trackers_EADF_bidi">
                <a:extLst>
                  <a:ext uri="{FF2B5EF4-FFF2-40B4-BE49-F238E27FC236}">
                    <a16:creationId xmlns:a16="http://schemas.microsoft.com/office/drawing/2014/main" id="{D8036D1E-7D11-DBF5-4022-76F764E1DA8D}"/>
                  </a:ext>
                  <a:ext uri="{C183D7F6-B498-43B3-948B-1728B52AA6E4}">
                    <adec:decorative xmlns:adec="http://schemas.microsoft.com/office/drawing/2017/decorative" val="1"/>
                  </a:ext>
                </a:extLst>
              </p:cNvPr>
              <p:cNvSpPr>
                <a:spLocks noChangeAspect="1" noEditPoints="1"/>
              </p:cNvSpPr>
              <p:nvPr/>
            </p:nvSpPr>
            <p:spPr bwMode="auto">
              <a:xfrm>
                <a:off x="974199" y="3818434"/>
                <a:ext cx="178104" cy="242852"/>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500 w 2750"/>
                  <a:gd name="T33" fmla="*/ 1750 h 3750"/>
                  <a:gd name="T34" fmla="*/ 1500 w 2750"/>
                  <a:gd name="T35" fmla="*/ 1750 h 3750"/>
                  <a:gd name="T36" fmla="*/ 1500 w 2750"/>
                  <a:gd name="T37" fmla="*/ 2500 h 3750"/>
                  <a:gd name="T38" fmla="*/ 500 w 2750"/>
                  <a:gd name="T39" fmla="*/ 2500 h 3750"/>
                  <a:gd name="T40" fmla="*/ 1500 w 2750"/>
                  <a:gd name="T41" fmla="*/ 3250 h 3750"/>
                  <a:gd name="T42" fmla="*/ 500 w 2750"/>
                  <a:gd name="T43" fmla="*/ 3250 h 3750"/>
                  <a:gd name="T44" fmla="*/ 1750 w 2750"/>
                  <a:gd name="T45" fmla="*/ 1500 h 3750"/>
                  <a:gd name="T46" fmla="*/ 2000 w 2750"/>
                  <a:gd name="T47" fmla="*/ 1750 h 3750"/>
                  <a:gd name="T48" fmla="*/ 2375 w 2750"/>
                  <a:gd name="T49" fmla="*/ 1375 h 3750"/>
                  <a:gd name="T50" fmla="*/ 1750 w 2750"/>
                  <a:gd name="T51" fmla="*/ 2250 h 3750"/>
                  <a:gd name="T52" fmla="*/ 2000 w 2750"/>
                  <a:gd name="T53" fmla="*/ 2500 h 3750"/>
                  <a:gd name="T54" fmla="*/ 2375 w 2750"/>
                  <a:gd name="T55" fmla="*/ 2125 h 3750"/>
                  <a:gd name="T56" fmla="*/ 1750 w 2750"/>
                  <a:gd name="T57" fmla="*/ 3000 h 3750"/>
                  <a:gd name="T58" fmla="*/ 2000 w 2750"/>
                  <a:gd name="T59" fmla="*/ 3250 h 3750"/>
                  <a:gd name="T60" fmla="*/ 237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500" y="1750"/>
                    </a:moveTo>
                    <a:cubicBezTo>
                      <a:pt x="1500" y="1750"/>
                      <a:pt x="1500" y="1750"/>
                      <a:pt x="1500" y="1750"/>
                    </a:cubicBezTo>
                    <a:moveTo>
                      <a:pt x="1500" y="2500"/>
                    </a:moveTo>
                    <a:cubicBezTo>
                      <a:pt x="500" y="2500"/>
                      <a:pt x="500" y="2500"/>
                      <a:pt x="500" y="2500"/>
                    </a:cubicBezTo>
                    <a:moveTo>
                      <a:pt x="1500" y="3250"/>
                    </a:moveTo>
                    <a:cubicBezTo>
                      <a:pt x="500" y="3250"/>
                      <a:pt x="500" y="3250"/>
                      <a:pt x="500" y="3250"/>
                    </a:cubicBezTo>
                    <a:moveTo>
                      <a:pt x="1750" y="1500"/>
                    </a:moveTo>
                    <a:cubicBezTo>
                      <a:pt x="2000" y="1750"/>
                      <a:pt x="2000" y="1750"/>
                      <a:pt x="2000" y="1750"/>
                    </a:cubicBezTo>
                    <a:cubicBezTo>
                      <a:pt x="2375" y="1375"/>
                      <a:pt x="2375" y="1375"/>
                      <a:pt x="2375" y="1375"/>
                    </a:cubicBezTo>
                    <a:moveTo>
                      <a:pt x="1750" y="2250"/>
                    </a:moveTo>
                    <a:cubicBezTo>
                      <a:pt x="2000" y="2500"/>
                      <a:pt x="2000" y="2500"/>
                      <a:pt x="2000" y="2500"/>
                    </a:cubicBezTo>
                    <a:cubicBezTo>
                      <a:pt x="2375" y="2125"/>
                      <a:pt x="2375" y="2125"/>
                      <a:pt x="2375" y="2125"/>
                    </a:cubicBezTo>
                    <a:moveTo>
                      <a:pt x="1750" y="3000"/>
                    </a:moveTo>
                    <a:cubicBezTo>
                      <a:pt x="2000" y="3250"/>
                      <a:pt x="2000" y="3250"/>
                      <a:pt x="2000" y="3250"/>
                    </a:cubicBezTo>
                    <a:cubicBezTo>
                      <a:pt x="2375" y="2875"/>
                      <a:pt x="2375" y="2875"/>
                      <a:pt x="2375" y="2875"/>
                    </a:cubicBez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lumMod val="75000"/>
                      <a:lumOff val="25000"/>
                    </a:srgbClr>
                  </a:solidFill>
                  <a:effectLst/>
                  <a:uLnTx/>
                  <a:uFillTx/>
                  <a:latin typeface="Segoe UI"/>
                  <a:ea typeface="+mn-ea"/>
                  <a:cs typeface="+mn-cs"/>
                </a:endParaRPr>
              </a:p>
            </p:txBody>
          </p:sp>
        </p:grpSp>
        <p:grpSp>
          <p:nvGrpSpPr>
            <p:cNvPr id="9" name="Group 8">
              <a:extLst>
                <a:ext uri="{FF2B5EF4-FFF2-40B4-BE49-F238E27FC236}">
                  <a16:creationId xmlns:a16="http://schemas.microsoft.com/office/drawing/2014/main" id="{DA596BD9-CED1-3E7A-AA1E-6CB9BD5241E6}"/>
                </a:ext>
              </a:extLst>
            </p:cNvPr>
            <p:cNvGrpSpPr/>
            <p:nvPr/>
          </p:nvGrpSpPr>
          <p:grpSpPr>
            <a:xfrm>
              <a:off x="848602" y="3029816"/>
              <a:ext cx="429299" cy="429299"/>
              <a:chOff x="848602" y="3029816"/>
              <a:chExt cx="429299" cy="429299"/>
            </a:xfrm>
          </p:grpSpPr>
          <p:sp>
            <p:nvSpPr>
              <p:cNvPr id="19" name="Oval 18">
                <a:extLst>
                  <a:ext uri="{FF2B5EF4-FFF2-40B4-BE49-F238E27FC236}">
                    <a16:creationId xmlns:a16="http://schemas.microsoft.com/office/drawing/2014/main" id="{87208537-4900-7770-507C-39BE3BA8260C}"/>
                  </a:ext>
                </a:extLst>
              </p:cNvPr>
              <p:cNvSpPr/>
              <p:nvPr/>
            </p:nvSpPr>
            <p:spPr bwMode="auto">
              <a:xfrm>
                <a:off x="848602" y="3029816"/>
                <a:ext cx="429299" cy="429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DevUpdate_ECC5">
                <a:extLst>
                  <a:ext uri="{FF2B5EF4-FFF2-40B4-BE49-F238E27FC236}">
                    <a16:creationId xmlns:a16="http://schemas.microsoft.com/office/drawing/2014/main" id="{DC2216BD-CF06-AFE3-BDA1-04263205B057}"/>
                  </a:ext>
                  <a:ext uri="{C183D7F6-B498-43B3-948B-1728B52AA6E4}">
                    <adec:decorative xmlns:adec="http://schemas.microsoft.com/office/drawing/2017/decorative" val="1"/>
                  </a:ext>
                </a:extLst>
              </p:cNvPr>
              <p:cNvSpPr>
                <a:spLocks noChangeAspect="1" noEditPoints="1"/>
              </p:cNvSpPr>
              <p:nvPr/>
            </p:nvSpPr>
            <p:spPr bwMode="auto">
              <a:xfrm>
                <a:off x="935872" y="3117055"/>
                <a:ext cx="254759" cy="254821"/>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marL="0" marR="0" lvl="0" indent="0" algn="ctr" defTabSz="914224" rtl="0" eaLnBrk="1" fontAlgn="base"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0" name="Straight Connector 9">
              <a:extLst>
                <a:ext uri="{FF2B5EF4-FFF2-40B4-BE49-F238E27FC236}">
                  <a16:creationId xmlns:a16="http://schemas.microsoft.com/office/drawing/2014/main" id="{AF036A14-27D1-BE79-CC58-34A12FFA4BB2}"/>
                </a:ext>
              </a:extLst>
            </p:cNvPr>
            <p:cNvCxnSpPr/>
            <p:nvPr/>
          </p:nvCxnSpPr>
          <p:spPr>
            <a:xfrm>
              <a:off x="1549400" y="3568261"/>
              <a:ext cx="10071100" cy="0"/>
            </a:xfrm>
            <a:prstGeom prst="line">
              <a:avLst/>
            </a:prstGeom>
            <a:solidFill>
              <a:schemeClr val="bg1"/>
            </a:solidFill>
            <a:ln w="31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 name="Straight Connector 13">
              <a:extLst>
                <a:ext uri="{FF2B5EF4-FFF2-40B4-BE49-F238E27FC236}">
                  <a16:creationId xmlns:a16="http://schemas.microsoft.com/office/drawing/2014/main" id="{4DB73616-1F23-936B-51FA-ADA28206C4C4}"/>
                </a:ext>
              </a:extLst>
            </p:cNvPr>
            <p:cNvCxnSpPr/>
            <p:nvPr/>
          </p:nvCxnSpPr>
          <p:spPr>
            <a:xfrm>
              <a:off x="1549400" y="4311462"/>
              <a:ext cx="10071100" cy="0"/>
            </a:xfrm>
            <a:prstGeom prst="line">
              <a:avLst/>
            </a:prstGeom>
            <a:solidFill>
              <a:schemeClr val="bg1"/>
            </a:solidFill>
            <a:ln w="31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5" name="Straight Connector 14">
              <a:extLst>
                <a:ext uri="{FF2B5EF4-FFF2-40B4-BE49-F238E27FC236}">
                  <a16:creationId xmlns:a16="http://schemas.microsoft.com/office/drawing/2014/main" id="{B1E7DCF7-50B7-4110-7836-5D683642D207}"/>
                </a:ext>
              </a:extLst>
            </p:cNvPr>
            <p:cNvCxnSpPr/>
            <p:nvPr/>
          </p:nvCxnSpPr>
          <p:spPr>
            <a:xfrm>
              <a:off x="1549400" y="5054663"/>
              <a:ext cx="10071100" cy="0"/>
            </a:xfrm>
            <a:prstGeom prst="line">
              <a:avLst/>
            </a:prstGeom>
            <a:solidFill>
              <a:schemeClr val="bg1"/>
            </a:solidFill>
            <a:ln w="31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6" name="Straight Connector 15">
              <a:extLst>
                <a:ext uri="{FF2B5EF4-FFF2-40B4-BE49-F238E27FC236}">
                  <a16:creationId xmlns:a16="http://schemas.microsoft.com/office/drawing/2014/main" id="{B1AA6859-67E2-E44A-3839-DAFA2B9F4C8D}"/>
                </a:ext>
              </a:extLst>
            </p:cNvPr>
            <p:cNvCxnSpPr>
              <a:cxnSpLocks/>
            </p:cNvCxnSpPr>
            <p:nvPr/>
          </p:nvCxnSpPr>
          <p:spPr>
            <a:xfrm>
              <a:off x="888148" y="3568261"/>
              <a:ext cx="350207" cy="0"/>
            </a:xfrm>
            <a:prstGeom prst="line">
              <a:avLst/>
            </a:prstGeom>
            <a:noFill/>
            <a:ln w="9525" cap="flat" cmpd="sng" algn="ctr">
              <a:solidFill>
                <a:srgbClr val="FFFFFF"/>
              </a:solidFill>
              <a:prstDash val="solid"/>
              <a:headEnd type="none" w="lg" len="med"/>
              <a:tailEnd type="none" w="lg" len="med"/>
            </a:ln>
            <a:effectLst/>
          </p:spPr>
        </p:cxnSp>
        <p:cxnSp>
          <p:nvCxnSpPr>
            <p:cNvPr id="17" name="Straight Connector 16">
              <a:extLst>
                <a:ext uri="{FF2B5EF4-FFF2-40B4-BE49-F238E27FC236}">
                  <a16:creationId xmlns:a16="http://schemas.microsoft.com/office/drawing/2014/main" id="{F07BD553-901D-0949-EEE1-0843BD6030AA}"/>
                </a:ext>
              </a:extLst>
            </p:cNvPr>
            <p:cNvCxnSpPr>
              <a:cxnSpLocks/>
            </p:cNvCxnSpPr>
            <p:nvPr/>
          </p:nvCxnSpPr>
          <p:spPr>
            <a:xfrm>
              <a:off x="888148" y="4311462"/>
              <a:ext cx="350207" cy="0"/>
            </a:xfrm>
            <a:prstGeom prst="line">
              <a:avLst/>
            </a:prstGeom>
            <a:noFill/>
            <a:ln w="9525" cap="flat" cmpd="sng" algn="ctr">
              <a:solidFill>
                <a:srgbClr val="FFFFFF"/>
              </a:solidFill>
              <a:prstDash val="solid"/>
              <a:headEnd type="none" w="lg" len="med"/>
              <a:tailEnd type="none" w="lg" len="med"/>
            </a:ln>
            <a:effectLst/>
          </p:spPr>
        </p:cxnSp>
        <p:cxnSp>
          <p:nvCxnSpPr>
            <p:cNvPr id="18" name="Straight Connector 17">
              <a:extLst>
                <a:ext uri="{FF2B5EF4-FFF2-40B4-BE49-F238E27FC236}">
                  <a16:creationId xmlns:a16="http://schemas.microsoft.com/office/drawing/2014/main" id="{E5EFEB0B-F813-EF18-BC25-AE6D541C5DDF}"/>
                </a:ext>
              </a:extLst>
            </p:cNvPr>
            <p:cNvCxnSpPr>
              <a:cxnSpLocks/>
            </p:cNvCxnSpPr>
            <p:nvPr/>
          </p:nvCxnSpPr>
          <p:spPr>
            <a:xfrm>
              <a:off x="888148" y="5054663"/>
              <a:ext cx="350207" cy="0"/>
            </a:xfrm>
            <a:prstGeom prst="line">
              <a:avLst/>
            </a:prstGeom>
            <a:noFill/>
            <a:ln w="9525" cap="flat" cmpd="sng" algn="ctr">
              <a:solidFill>
                <a:srgbClr val="FFFFFF"/>
              </a:solidFill>
              <a:prstDash val="solid"/>
              <a:headEnd type="none" w="lg" len="med"/>
              <a:tailEnd type="none" w="lg" len="med"/>
            </a:ln>
            <a:effectLst/>
          </p:spPr>
        </p:cxnSp>
      </p:grpSp>
      <p:sp>
        <p:nvSpPr>
          <p:cNvPr id="40" name="Text Placeholder 5">
            <a:extLst>
              <a:ext uri="{FF2B5EF4-FFF2-40B4-BE49-F238E27FC236}">
                <a16:creationId xmlns:a16="http://schemas.microsoft.com/office/drawing/2014/main" id="{B44B9463-2FE0-7299-0F8D-97207088FCF3}"/>
              </a:ext>
            </a:extLst>
          </p:cNvPr>
          <p:cNvSpPr txBox="1">
            <a:spLocks/>
          </p:cNvSpPr>
          <p:nvPr/>
        </p:nvSpPr>
        <p:spPr>
          <a:xfrm>
            <a:off x="575481" y="2102701"/>
            <a:ext cx="11049000" cy="700800"/>
          </a:xfrm>
          <a:prstGeom prst="rect">
            <a:avLst/>
          </a:prstGeom>
          <a:solidFill>
            <a:srgbClr val="243A5E"/>
          </a:solidFill>
          <a:ln w="9525" cap="flat" cmpd="sng" algn="ctr">
            <a:noFill/>
            <a:prstDash val="solid"/>
            <a:headEnd type="none" w="med" len="med"/>
            <a:tailEnd type="none" w="med" len="med"/>
          </a:ln>
          <a:effectLst/>
        </p:spPr>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600" kern="1200" spc="0" baseline="0">
                <a:solidFill>
                  <a:schemeClr val="accent6"/>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lt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lt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lt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lt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marR="0" lvl="0" indent="0" algn="l" defTabSz="932742" rtl="0" eaLnBrk="1" fontAlgn="base" latinLnBrk="0" hangingPunct="1">
              <a:lnSpc>
                <a:spcPct val="100000"/>
              </a:lnSpc>
              <a:spcBef>
                <a:spcPts val="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Segoe UI"/>
              </a:rPr>
              <a:t>With Unified Multi-Year, you simplify your purchasing experience with a licensing agreement that extends up to three years while enjoying the following benefits:</a:t>
            </a:r>
          </a:p>
        </p:txBody>
      </p:sp>
      <p:sp>
        <p:nvSpPr>
          <p:cNvPr id="46" name="Rectangle 45">
            <a:extLst>
              <a:ext uri="{FF2B5EF4-FFF2-40B4-BE49-F238E27FC236}">
                <a16:creationId xmlns:a16="http://schemas.microsoft.com/office/drawing/2014/main" id="{3DCBE870-FFE6-7BE7-D4DF-16452A527007}"/>
              </a:ext>
            </a:extLst>
          </p:cNvPr>
          <p:cNvSpPr/>
          <p:nvPr/>
        </p:nvSpPr>
        <p:spPr>
          <a:xfrm>
            <a:off x="1549400" y="3073550"/>
            <a:ext cx="10071100" cy="246221"/>
          </a:xfrm>
          <a:prstGeom prst="rect">
            <a:avLst/>
          </a:prstGeom>
          <a:noFill/>
          <a:ln w="10795" cap="flat" cmpd="sng" algn="ctr">
            <a:noFill/>
            <a:prstDash val="solid"/>
          </a:ln>
          <a:effectLst/>
        </p:spPr>
        <p:txBody>
          <a:bodyPr wrap="square" lIns="0" tIns="0" rIns="0" bIns="0" rtlCol="0" anchor="t">
            <a:spAutoFit/>
          </a:bodyPr>
          <a:lstStyle/>
          <a:p>
            <a:pPr marL="0" marR="0" lvl="0" indent="0" algn="l" defTabSz="914367" rtl="0" eaLnBrk="1" fontAlgn="auto" latinLnBrk="0" hangingPunct="1">
              <a:lnSpc>
                <a:spcPct val="100000"/>
              </a:lnSpc>
              <a:spcBef>
                <a:spcPts val="200"/>
              </a:spcBef>
              <a:spcAft>
                <a:spcPts val="400"/>
              </a:spcAft>
              <a:buClrTx/>
              <a:buSzTx/>
              <a:buFontTx/>
              <a:buNone/>
              <a:tabLst/>
              <a:defRPr/>
            </a:pPr>
            <a:r>
              <a:rPr kumimoji="0" lang="en-US" sz="16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Longer-term predictability </a:t>
            </a:r>
            <a:r>
              <a:rPr kumimoji="0" lang="en-US" sz="16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in budget planning by locking in rates for the duration of the contract </a:t>
            </a:r>
          </a:p>
        </p:txBody>
      </p:sp>
      <p:sp>
        <p:nvSpPr>
          <p:cNvPr id="51" name="Rectangle 50">
            <a:extLst>
              <a:ext uri="{FF2B5EF4-FFF2-40B4-BE49-F238E27FC236}">
                <a16:creationId xmlns:a16="http://schemas.microsoft.com/office/drawing/2014/main" id="{D0B3DB3A-5538-AF4C-E40C-FD7DF6549332}"/>
              </a:ext>
            </a:extLst>
          </p:cNvPr>
          <p:cNvSpPr/>
          <p:nvPr/>
        </p:nvSpPr>
        <p:spPr>
          <a:xfrm>
            <a:off x="1549400" y="3816751"/>
            <a:ext cx="10071100" cy="246221"/>
          </a:xfrm>
          <a:prstGeom prst="rect">
            <a:avLst/>
          </a:prstGeom>
          <a:noFill/>
          <a:ln w="10795" cap="flat" cmpd="sng" algn="ctr">
            <a:noFill/>
            <a:prstDash val="solid"/>
          </a:ln>
          <a:effectLst/>
        </p:spPr>
        <p:txBody>
          <a:bodyPr wrap="square" lIns="0" tIns="0" rIns="0" bIns="0" rtlCol="0" anchor="t">
            <a:spAutoFit/>
          </a:bodyPr>
          <a:lstStyle/>
          <a:p>
            <a:pPr marL="0" marR="0" lvl="0" indent="0" algn="l" defTabSz="914367" rtl="0" eaLnBrk="1" fontAlgn="auto" latinLnBrk="0" hangingPunct="1">
              <a:lnSpc>
                <a:spcPct val="100000"/>
              </a:lnSpc>
              <a:spcBef>
                <a:spcPts val="200"/>
              </a:spcBef>
              <a:spcAft>
                <a:spcPts val="400"/>
              </a:spcAft>
              <a:buClrTx/>
              <a:buSzTx/>
              <a:buFontTx/>
              <a:buNone/>
              <a:tabLst/>
              <a:defRPr/>
            </a:pPr>
            <a:r>
              <a:rPr kumimoji="0" lang="en-US" sz="16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Aligned dates and length </a:t>
            </a:r>
            <a:r>
              <a:rPr kumimoji="0" lang="en-US" sz="16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for your support agreement and Microsoft licensing agreements</a:t>
            </a:r>
          </a:p>
        </p:txBody>
      </p:sp>
      <p:sp>
        <p:nvSpPr>
          <p:cNvPr id="54" name="Rectangle 53">
            <a:extLst>
              <a:ext uri="{FF2B5EF4-FFF2-40B4-BE49-F238E27FC236}">
                <a16:creationId xmlns:a16="http://schemas.microsoft.com/office/drawing/2014/main" id="{44A03445-B395-1D5E-12D3-FAC923337F5F}"/>
              </a:ext>
            </a:extLst>
          </p:cNvPr>
          <p:cNvSpPr/>
          <p:nvPr/>
        </p:nvSpPr>
        <p:spPr>
          <a:xfrm>
            <a:off x="1549400" y="4559952"/>
            <a:ext cx="10071100" cy="246221"/>
          </a:xfrm>
          <a:prstGeom prst="rect">
            <a:avLst/>
          </a:prstGeom>
          <a:noFill/>
          <a:ln w="10795" cap="flat" cmpd="sng" algn="ctr">
            <a:noFill/>
            <a:prstDash val="solid"/>
          </a:ln>
          <a:effectLst/>
        </p:spPr>
        <p:txBody>
          <a:bodyPr wrap="square" lIns="0" tIns="0" rIns="0" bIns="0" rtlCol="0" anchor="t">
            <a:spAutoFit/>
          </a:bodyPr>
          <a:lstStyle/>
          <a:p>
            <a:pPr marL="0" marR="0" lvl="0" indent="0" algn="l" defTabSz="914367" rtl="0" eaLnBrk="1" fontAlgn="auto" latinLnBrk="0" hangingPunct="1">
              <a:lnSpc>
                <a:spcPct val="100000"/>
              </a:lnSpc>
              <a:spcBef>
                <a:spcPts val="200"/>
              </a:spcBef>
              <a:spcAft>
                <a:spcPts val="400"/>
              </a:spcAft>
              <a:buClrTx/>
              <a:buSzTx/>
              <a:buFontTx/>
              <a:buNone/>
              <a:tabLst/>
              <a:defRPr/>
            </a:pPr>
            <a:r>
              <a:rPr kumimoji="0" lang="en-US" sz="16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Reduced administrative overhead </a:t>
            </a:r>
            <a:r>
              <a:rPr kumimoji="0" lang="en-US" sz="16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with a streamlined budgeting and purchase process</a:t>
            </a:r>
          </a:p>
        </p:txBody>
      </p:sp>
      <p:sp>
        <p:nvSpPr>
          <p:cNvPr id="63" name="Rectangle 62">
            <a:extLst>
              <a:ext uri="{FF2B5EF4-FFF2-40B4-BE49-F238E27FC236}">
                <a16:creationId xmlns:a16="http://schemas.microsoft.com/office/drawing/2014/main" id="{26D4E08D-B1C9-661C-7DE3-913CE4D513F5}"/>
              </a:ext>
            </a:extLst>
          </p:cNvPr>
          <p:cNvSpPr/>
          <p:nvPr/>
        </p:nvSpPr>
        <p:spPr>
          <a:xfrm>
            <a:off x="1549400" y="5303153"/>
            <a:ext cx="10071100" cy="246221"/>
          </a:xfrm>
          <a:prstGeom prst="rect">
            <a:avLst/>
          </a:prstGeom>
          <a:noFill/>
          <a:ln w="10795" cap="flat" cmpd="sng" algn="ctr">
            <a:noFill/>
            <a:prstDash val="solid"/>
          </a:ln>
          <a:effectLst/>
        </p:spPr>
        <p:txBody>
          <a:bodyPr wrap="square" lIns="0" tIns="0" rIns="0" bIns="0" rtlCol="0" anchor="t">
            <a:spAutoFit/>
          </a:bodyPr>
          <a:lstStyle/>
          <a:p>
            <a:pPr marL="0" marR="0" lvl="0" indent="0" algn="l" defTabSz="914367" rtl="0" eaLnBrk="1" fontAlgn="auto" latinLnBrk="0" hangingPunct="1">
              <a:lnSpc>
                <a:spcPct val="100000"/>
              </a:lnSpc>
              <a:spcBef>
                <a:spcPts val="200"/>
              </a:spcBef>
              <a:spcAft>
                <a:spcPts val="400"/>
              </a:spcAft>
              <a:buClrTx/>
              <a:buSzTx/>
              <a:buFontTx/>
              <a:buNone/>
              <a:tabLst/>
              <a:defRPr/>
            </a:pPr>
            <a:r>
              <a:rPr kumimoji="0" lang="en-US" sz="16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Fixed pricing </a:t>
            </a:r>
            <a:r>
              <a:rPr kumimoji="0" lang="en-US" sz="16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for the duration of the support period, unless new purchases exceed 10% of license spend</a:t>
            </a:r>
          </a:p>
        </p:txBody>
      </p:sp>
      <p:sp>
        <p:nvSpPr>
          <p:cNvPr id="77" name="Slide Number Placeholder 11">
            <a:extLst>
              <a:ext uri="{FF2B5EF4-FFF2-40B4-BE49-F238E27FC236}">
                <a16:creationId xmlns:a16="http://schemas.microsoft.com/office/drawing/2014/main" id="{0FE333AE-A765-4DC0-27BD-C452E17D740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1309920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7D72A-D295-31E3-CF02-6B309E44678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2C49BDF-4886-B355-5842-E654C46E10C5}"/>
              </a:ext>
            </a:extLst>
          </p:cNvPr>
          <p:cNvSpPr>
            <a:spLocks noGrp="1"/>
          </p:cNvSpPr>
          <p:nvPr>
            <p:ph type="title"/>
          </p:nvPr>
        </p:nvSpPr>
        <p:spPr>
          <a:xfrm>
            <a:off x="575481" y="603504"/>
            <a:ext cx="11045020" cy="98488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200" b="0" kern="1200" cap="none" spc="0" baseline="0" dirty="0">
                <a:ln w="3175">
                  <a:noFill/>
                </a:ln>
                <a:solidFill>
                  <a:schemeClr val="tx2"/>
                </a:solidFill>
                <a:effectLst/>
                <a:latin typeface="+mj-lt"/>
                <a:ea typeface="+mn-ea"/>
                <a:cs typeface="Segoe UI" pitchFamily="34" charset="0"/>
              </a:defRPr>
            </a:lvl1pPr>
          </a:lstStyle>
          <a:p>
            <a:r>
              <a:rPr lang="en-US" sz="3200"/>
              <a:t>Streamline your Microsoft investment with Microsoft Unified for MACC</a:t>
            </a:r>
          </a:p>
        </p:txBody>
      </p:sp>
      <p:sp>
        <p:nvSpPr>
          <p:cNvPr id="5" name="Rectangle 4">
            <a:extLst>
              <a:ext uri="{FF2B5EF4-FFF2-40B4-BE49-F238E27FC236}">
                <a16:creationId xmlns:a16="http://schemas.microsoft.com/office/drawing/2014/main" id="{AD220DD2-CB28-942D-E54D-1D1EB15B71C3}"/>
              </a:ext>
            </a:extLst>
          </p:cNvPr>
          <p:cNvSpPr>
            <a:spLocks/>
          </p:cNvSpPr>
          <p:nvPr/>
        </p:nvSpPr>
        <p:spPr bwMode="auto">
          <a:xfrm>
            <a:off x="754902" y="2724912"/>
            <a:ext cx="616698" cy="3277478"/>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 name="Group 5">
            <a:extLst>
              <a:ext uri="{FF2B5EF4-FFF2-40B4-BE49-F238E27FC236}">
                <a16:creationId xmlns:a16="http://schemas.microsoft.com/office/drawing/2014/main" id="{3A1AC3EE-89B6-F422-DDF9-952B93AA866F}"/>
              </a:ext>
            </a:extLst>
          </p:cNvPr>
          <p:cNvGrpSpPr/>
          <p:nvPr/>
        </p:nvGrpSpPr>
        <p:grpSpPr>
          <a:xfrm>
            <a:off x="851201" y="4412918"/>
            <a:ext cx="429299" cy="429299"/>
            <a:chOff x="848602" y="4468411"/>
            <a:chExt cx="429299" cy="429299"/>
          </a:xfrm>
        </p:grpSpPr>
        <p:sp>
          <p:nvSpPr>
            <p:cNvPr id="25" name="Oval 24">
              <a:extLst>
                <a:ext uri="{FF2B5EF4-FFF2-40B4-BE49-F238E27FC236}">
                  <a16:creationId xmlns:a16="http://schemas.microsoft.com/office/drawing/2014/main" id="{B7DAEAF6-1F09-A74F-6151-199907667ABA}"/>
                </a:ext>
              </a:extLst>
            </p:cNvPr>
            <p:cNvSpPr/>
            <p:nvPr/>
          </p:nvSpPr>
          <p:spPr bwMode="auto">
            <a:xfrm>
              <a:off x="848602" y="4468411"/>
              <a:ext cx="429299" cy="429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6" name="TagLegacy_E1CB">
              <a:extLst>
                <a:ext uri="{FF2B5EF4-FFF2-40B4-BE49-F238E27FC236}">
                  <a16:creationId xmlns:a16="http://schemas.microsoft.com/office/drawing/2014/main" id="{6CB3BF42-ACDF-BADF-1E16-F07F05DF99D2}"/>
                </a:ext>
                <a:ext uri="{C183D7F6-B498-43B3-948B-1728B52AA6E4}">
                  <adec:decorative xmlns:adec="http://schemas.microsoft.com/office/drawing/2017/decorative" val="1"/>
                </a:ext>
              </a:extLst>
            </p:cNvPr>
            <p:cNvSpPr>
              <a:spLocks noChangeAspect="1" noEditPoints="1"/>
            </p:cNvSpPr>
            <p:nvPr/>
          </p:nvSpPr>
          <p:spPr bwMode="auto">
            <a:xfrm>
              <a:off x="930513" y="4577107"/>
              <a:ext cx="265477" cy="211906"/>
            </a:xfrm>
            <a:custGeom>
              <a:avLst/>
              <a:gdLst>
                <a:gd name="T0" fmla="*/ 2950 w 3700"/>
                <a:gd name="T1" fmla="*/ 1330 h 2952"/>
                <a:gd name="T2" fmla="*/ 1328 w 3700"/>
                <a:gd name="T3" fmla="*/ 2952 h 2952"/>
                <a:gd name="T4" fmla="*/ 0 w 3700"/>
                <a:gd name="T5" fmla="*/ 1620 h 2952"/>
                <a:gd name="T6" fmla="*/ 1620 w 3700"/>
                <a:gd name="T7" fmla="*/ 0 h 2952"/>
                <a:gd name="T8" fmla="*/ 2951 w 3700"/>
                <a:gd name="T9" fmla="*/ 1 h 2952"/>
                <a:gd name="T10" fmla="*/ 2950 w 3700"/>
                <a:gd name="T11" fmla="*/ 1330 h 2952"/>
                <a:gd name="T12" fmla="*/ 1820 w 3700"/>
                <a:gd name="T13" fmla="*/ 2460 h 2952"/>
                <a:gd name="T14" fmla="*/ 2576 w 3700"/>
                <a:gd name="T15" fmla="*/ 2753 h 2952"/>
                <a:gd name="T16" fmla="*/ 3700 w 3700"/>
                <a:gd name="T17" fmla="*/ 1629 h 2952"/>
                <a:gd name="T18" fmla="*/ 2576 w 3700"/>
                <a:gd name="T19" fmla="*/ 505 h 2952"/>
                <a:gd name="T20" fmla="*/ 2421 w 3700"/>
                <a:gd name="T21" fmla="*/ 505 h 2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00" h="2952">
                  <a:moveTo>
                    <a:pt x="2950" y="1330"/>
                  </a:moveTo>
                  <a:cubicBezTo>
                    <a:pt x="1328" y="2952"/>
                    <a:pt x="1328" y="2952"/>
                    <a:pt x="1328" y="2952"/>
                  </a:cubicBezTo>
                  <a:cubicBezTo>
                    <a:pt x="0" y="1620"/>
                    <a:pt x="0" y="1620"/>
                    <a:pt x="0" y="1620"/>
                  </a:cubicBezTo>
                  <a:cubicBezTo>
                    <a:pt x="1620" y="0"/>
                    <a:pt x="1620" y="0"/>
                    <a:pt x="1620" y="0"/>
                  </a:cubicBezTo>
                  <a:cubicBezTo>
                    <a:pt x="2951" y="1"/>
                    <a:pt x="2951" y="1"/>
                    <a:pt x="2951" y="1"/>
                  </a:cubicBezTo>
                  <a:lnTo>
                    <a:pt x="2950" y="1330"/>
                  </a:lnTo>
                  <a:close/>
                  <a:moveTo>
                    <a:pt x="1820" y="2460"/>
                  </a:moveTo>
                  <a:cubicBezTo>
                    <a:pt x="2020" y="2642"/>
                    <a:pt x="2285" y="2753"/>
                    <a:pt x="2576" y="2753"/>
                  </a:cubicBezTo>
                  <a:cubicBezTo>
                    <a:pt x="3197" y="2753"/>
                    <a:pt x="3700" y="2249"/>
                    <a:pt x="3700" y="1629"/>
                  </a:cubicBezTo>
                  <a:cubicBezTo>
                    <a:pt x="3700" y="1008"/>
                    <a:pt x="3198" y="505"/>
                    <a:pt x="2576" y="505"/>
                  </a:cubicBezTo>
                  <a:cubicBezTo>
                    <a:pt x="2421" y="505"/>
                    <a:pt x="2421" y="505"/>
                    <a:pt x="2421" y="505"/>
                  </a:cubicBezTo>
                </a:path>
              </a:pathLst>
            </a:custGeom>
            <a:noFill/>
            <a:ln w="12700" cap="sq">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0" cap="none" spc="0" normalizeH="0" baseline="0" noProof="0">
                <a:ln>
                  <a:noFill/>
                </a:ln>
                <a:solidFill>
                  <a:srgbClr val="0D0D0D"/>
                </a:solidFill>
                <a:effectLst/>
                <a:uLnTx/>
                <a:uFillTx/>
                <a:latin typeface="Segoe UI"/>
                <a:ea typeface="+mn-ea"/>
                <a:cs typeface="+mn-cs"/>
              </a:endParaRPr>
            </a:p>
          </p:txBody>
        </p:sp>
      </p:grpSp>
      <p:grpSp>
        <p:nvGrpSpPr>
          <p:cNvPr id="9" name="Group 8">
            <a:extLst>
              <a:ext uri="{FF2B5EF4-FFF2-40B4-BE49-F238E27FC236}">
                <a16:creationId xmlns:a16="http://schemas.microsoft.com/office/drawing/2014/main" id="{0935C25C-8883-2A0D-6982-F3CFC98FB9B8}"/>
              </a:ext>
            </a:extLst>
          </p:cNvPr>
          <p:cNvGrpSpPr/>
          <p:nvPr/>
        </p:nvGrpSpPr>
        <p:grpSpPr>
          <a:xfrm>
            <a:off x="848602" y="2874083"/>
            <a:ext cx="429299" cy="429299"/>
            <a:chOff x="848602" y="3029816"/>
            <a:chExt cx="429299" cy="429299"/>
          </a:xfrm>
        </p:grpSpPr>
        <p:sp>
          <p:nvSpPr>
            <p:cNvPr id="19" name="Oval 18">
              <a:extLst>
                <a:ext uri="{FF2B5EF4-FFF2-40B4-BE49-F238E27FC236}">
                  <a16:creationId xmlns:a16="http://schemas.microsoft.com/office/drawing/2014/main" id="{5A795B81-BC19-B847-9A49-50EA9B5A6AC4}"/>
                </a:ext>
              </a:extLst>
            </p:cNvPr>
            <p:cNvSpPr/>
            <p:nvPr/>
          </p:nvSpPr>
          <p:spPr bwMode="auto">
            <a:xfrm>
              <a:off x="848602" y="3029816"/>
              <a:ext cx="429299" cy="429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DevUpdate_ECC5">
              <a:extLst>
                <a:ext uri="{FF2B5EF4-FFF2-40B4-BE49-F238E27FC236}">
                  <a16:creationId xmlns:a16="http://schemas.microsoft.com/office/drawing/2014/main" id="{5A673D24-23C8-0805-9517-D6DBAE8C3AC7}"/>
                </a:ext>
                <a:ext uri="{C183D7F6-B498-43B3-948B-1728B52AA6E4}">
                  <adec:decorative xmlns:adec="http://schemas.microsoft.com/office/drawing/2017/decorative" val="1"/>
                </a:ext>
              </a:extLst>
            </p:cNvPr>
            <p:cNvSpPr>
              <a:spLocks noChangeAspect="1" noEditPoints="1"/>
            </p:cNvSpPr>
            <p:nvPr/>
          </p:nvSpPr>
          <p:spPr bwMode="auto">
            <a:xfrm>
              <a:off x="935872" y="3117055"/>
              <a:ext cx="254759" cy="254821"/>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marL="0" marR="0" lvl="0" indent="0" algn="ctr" defTabSz="914224" rtl="0" eaLnBrk="1" fontAlgn="base"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cxnSp>
        <p:nvCxnSpPr>
          <p:cNvPr id="16" name="Straight Connector 15">
            <a:extLst>
              <a:ext uri="{FF2B5EF4-FFF2-40B4-BE49-F238E27FC236}">
                <a16:creationId xmlns:a16="http://schemas.microsoft.com/office/drawing/2014/main" id="{68E04C8B-1FE6-DBA3-F107-556A340D4385}"/>
              </a:ext>
            </a:extLst>
          </p:cNvPr>
          <p:cNvCxnSpPr>
            <a:cxnSpLocks/>
          </p:cNvCxnSpPr>
          <p:nvPr/>
        </p:nvCxnSpPr>
        <p:spPr>
          <a:xfrm>
            <a:off x="927694" y="4261104"/>
            <a:ext cx="350207" cy="0"/>
          </a:xfrm>
          <a:prstGeom prst="line">
            <a:avLst/>
          </a:prstGeom>
          <a:noFill/>
          <a:ln w="9525" cap="flat" cmpd="sng" algn="ctr">
            <a:solidFill>
              <a:srgbClr val="FFFFFF"/>
            </a:solidFill>
            <a:prstDash val="solid"/>
            <a:headEnd type="none" w="lg" len="med"/>
            <a:tailEnd type="none" w="lg" len="med"/>
          </a:ln>
          <a:effectLst/>
        </p:spPr>
      </p:cxnSp>
      <p:sp>
        <p:nvSpPr>
          <p:cNvPr id="40" name="Text Placeholder 5">
            <a:extLst>
              <a:ext uri="{FF2B5EF4-FFF2-40B4-BE49-F238E27FC236}">
                <a16:creationId xmlns:a16="http://schemas.microsoft.com/office/drawing/2014/main" id="{3E4F885A-E82F-919B-DD9A-31E8D6CBD7F9}"/>
              </a:ext>
            </a:extLst>
          </p:cNvPr>
          <p:cNvSpPr txBox="1">
            <a:spLocks/>
          </p:cNvSpPr>
          <p:nvPr/>
        </p:nvSpPr>
        <p:spPr>
          <a:xfrm>
            <a:off x="571500" y="1700519"/>
            <a:ext cx="11049000" cy="700800"/>
          </a:xfrm>
          <a:prstGeom prst="rect">
            <a:avLst/>
          </a:prstGeom>
          <a:solidFill>
            <a:srgbClr val="243A5E"/>
          </a:solidFill>
          <a:ln w="9525" cap="flat" cmpd="sng" algn="ctr">
            <a:noFill/>
            <a:prstDash val="solid"/>
            <a:headEnd type="none" w="med" len="med"/>
            <a:tailEnd type="none" w="med" len="med"/>
          </a:ln>
          <a:effectLst/>
        </p:spPr>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600" kern="1200" spc="0" baseline="0">
                <a:solidFill>
                  <a:schemeClr val="accent6"/>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lt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lt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lt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lt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marR="0" lvl="0" indent="0" algn="l" defTabSz="932742" rtl="0" eaLnBrk="1" fontAlgn="base" latinLnBrk="0" hangingPunct="1">
              <a:lnSpc>
                <a:spcPct val="100000"/>
              </a:lnSpc>
              <a:spcBef>
                <a:spcPts val="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a:rPr>
              <a:t>Meeting your desired outcomes through mutual investment in Unified Services to ensure the right level of services at the right time. </a:t>
            </a:r>
          </a:p>
        </p:txBody>
      </p:sp>
      <p:sp>
        <p:nvSpPr>
          <p:cNvPr id="46" name="Rectangle 45">
            <a:extLst>
              <a:ext uri="{FF2B5EF4-FFF2-40B4-BE49-F238E27FC236}">
                <a16:creationId xmlns:a16="http://schemas.microsoft.com/office/drawing/2014/main" id="{9417C75D-2899-6E64-1CB3-058D78600831}"/>
              </a:ext>
            </a:extLst>
          </p:cNvPr>
          <p:cNvSpPr/>
          <p:nvPr/>
        </p:nvSpPr>
        <p:spPr>
          <a:xfrm>
            <a:off x="1504846" y="3026441"/>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Longer-term predictability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in budget planning by locking in rates for the duration of the contract </a:t>
            </a:r>
          </a:p>
        </p:txBody>
      </p:sp>
      <p:sp>
        <p:nvSpPr>
          <p:cNvPr id="51" name="Rectangle 50">
            <a:extLst>
              <a:ext uri="{FF2B5EF4-FFF2-40B4-BE49-F238E27FC236}">
                <a16:creationId xmlns:a16="http://schemas.microsoft.com/office/drawing/2014/main" id="{6CCB8C77-3A7B-B8C8-68D0-984B2D8324BB}"/>
              </a:ext>
            </a:extLst>
          </p:cNvPr>
          <p:cNvSpPr/>
          <p:nvPr/>
        </p:nvSpPr>
        <p:spPr>
          <a:xfrm>
            <a:off x="1504846" y="4677808"/>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Unified agreement scope alignment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with Microsoft licensing agreement</a:t>
            </a:r>
          </a:p>
        </p:txBody>
      </p:sp>
      <p:sp>
        <p:nvSpPr>
          <p:cNvPr id="54" name="Rectangle 53">
            <a:extLst>
              <a:ext uri="{FF2B5EF4-FFF2-40B4-BE49-F238E27FC236}">
                <a16:creationId xmlns:a16="http://schemas.microsoft.com/office/drawing/2014/main" id="{C746D5E3-7F6C-9CC6-1D28-6F91929A07C9}"/>
              </a:ext>
            </a:extLst>
          </p:cNvPr>
          <p:cNvSpPr/>
          <p:nvPr/>
        </p:nvSpPr>
        <p:spPr>
          <a:xfrm>
            <a:off x="1504846" y="3310965"/>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Reduced administrative overhead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with a streamlined budgeting and purchase process</a:t>
            </a:r>
          </a:p>
        </p:txBody>
      </p:sp>
      <p:sp>
        <p:nvSpPr>
          <p:cNvPr id="63" name="Rectangle 62">
            <a:extLst>
              <a:ext uri="{FF2B5EF4-FFF2-40B4-BE49-F238E27FC236}">
                <a16:creationId xmlns:a16="http://schemas.microsoft.com/office/drawing/2014/main" id="{7FA73181-AF0F-AE3F-6061-1CDD55B008C1}"/>
              </a:ext>
            </a:extLst>
          </p:cNvPr>
          <p:cNvSpPr/>
          <p:nvPr/>
        </p:nvSpPr>
        <p:spPr>
          <a:xfrm>
            <a:off x="1504846" y="5532745"/>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Improved delivery experience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with extended multi-year engagements that allow delivery team to build deeper knowledge of your environment </a:t>
            </a:r>
          </a:p>
        </p:txBody>
      </p:sp>
      <p:sp>
        <p:nvSpPr>
          <p:cNvPr id="2" name="Rectangle 1">
            <a:extLst>
              <a:ext uri="{FF2B5EF4-FFF2-40B4-BE49-F238E27FC236}">
                <a16:creationId xmlns:a16="http://schemas.microsoft.com/office/drawing/2014/main" id="{B58566E0-34FE-5B08-A11D-252DCC1FE4BE}"/>
              </a:ext>
            </a:extLst>
          </p:cNvPr>
          <p:cNvSpPr/>
          <p:nvPr/>
        </p:nvSpPr>
        <p:spPr>
          <a:xfrm>
            <a:off x="1504846" y="4962787"/>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Outcome-focused services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delivered at the right time based on your priorities and readiness</a:t>
            </a:r>
          </a:p>
        </p:txBody>
      </p:sp>
      <p:sp>
        <p:nvSpPr>
          <p:cNvPr id="3" name="Rectangle 2">
            <a:extLst>
              <a:ext uri="{FF2B5EF4-FFF2-40B4-BE49-F238E27FC236}">
                <a16:creationId xmlns:a16="http://schemas.microsoft.com/office/drawing/2014/main" id="{619F2166-CAF9-1C78-410C-A0E33941E48D}"/>
              </a:ext>
            </a:extLst>
          </p:cNvPr>
          <p:cNvSpPr/>
          <p:nvPr/>
        </p:nvSpPr>
        <p:spPr>
          <a:xfrm>
            <a:off x="1504846" y="3595489"/>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Rate locking over multiple years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to protect you against inflation of prices</a:t>
            </a:r>
          </a:p>
        </p:txBody>
      </p:sp>
      <p:sp>
        <p:nvSpPr>
          <p:cNvPr id="11" name="Rectangle 10">
            <a:extLst>
              <a:ext uri="{FF2B5EF4-FFF2-40B4-BE49-F238E27FC236}">
                <a16:creationId xmlns:a16="http://schemas.microsoft.com/office/drawing/2014/main" id="{495AC803-9664-746B-DA3A-56689E7A84DB}"/>
              </a:ext>
            </a:extLst>
          </p:cNvPr>
          <p:cNvSpPr/>
          <p:nvPr/>
        </p:nvSpPr>
        <p:spPr>
          <a:xfrm>
            <a:off x="1504846" y="5817724"/>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Success management services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orchestrated by a Customer Success Account Manager (CSAM)</a:t>
            </a:r>
          </a:p>
        </p:txBody>
      </p:sp>
      <p:sp>
        <p:nvSpPr>
          <p:cNvPr id="12" name="Rectangle 11">
            <a:extLst>
              <a:ext uri="{FF2B5EF4-FFF2-40B4-BE49-F238E27FC236}">
                <a16:creationId xmlns:a16="http://schemas.microsoft.com/office/drawing/2014/main" id="{CB55E23A-29F7-5F58-4A44-88152599A05A}"/>
              </a:ext>
            </a:extLst>
          </p:cNvPr>
          <p:cNvSpPr/>
          <p:nvPr/>
        </p:nvSpPr>
        <p:spPr>
          <a:xfrm>
            <a:off x="1504846" y="3880013"/>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Maximize ROI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by committing to long-term Unified initiatives </a:t>
            </a:r>
          </a:p>
        </p:txBody>
      </p:sp>
      <p:sp>
        <p:nvSpPr>
          <p:cNvPr id="30" name="Rectangle 29">
            <a:extLst>
              <a:ext uri="{FF2B5EF4-FFF2-40B4-BE49-F238E27FC236}">
                <a16:creationId xmlns:a16="http://schemas.microsoft.com/office/drawing/2014/main" id="{28782A73-0C09-EF93-87C8-B4CC841AE06A}"/>
              </a:ext>
            </a:extLst>
          </p:cNvPr>
          <p:cNvSpPr/>
          <p:nvPr/>
        </p:nvSpPr>
        <p:spPr>
          <a:xfrm>
            <a:off x="1504846" y="5247766"/>
            <a:ext cx="10071100" cy="184666"/>
          </a:xfrm>
          <a:prstGeom prst="rect">
            <a:avLst/>
          </a:prstGeom>
          <a:noFill/>
          <a:ln w="10795" cap="flat" cmpd="sng" algn="ctr">
            <a:noFill/>
            <a:prstDash val="solid"/>
          </a:ln>
          <a:effectLst/>
        </p:spPr>
        <p:txBody>
          <a:bodyPr wrap="square" lIns="0" tIns="0" rIns="0" bIns="0" rtlCol="0" anchor="t">
            <a:spAutoFit/>
          </a:bodyPr>
          <a:lstStyle/>
          <a:p>
            <a:pPr marL="171450" marR="0" lvl="0" indent="-171450" algn="l" defTabSz="914367" rtl="0" eaLnBrk="1" fontAlgn="auto" latinLnBrk="0" hangingPunct="1">
              <a:lnSpc>
                <a:spcPct val="100000"/>
              </a:lnSpc>
              <a:spcBef>
                <a:spcPts val="200"/>
              </a:spcBef>
              <a:spcAft>
                <a:spcPts val="4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243A5E"/>
                </a:solidFill>
                <a:effectLst/>
                <a:uLnTx/>
                <a:uFillTx/>
                <a:latin typeface="Segoe UI Semibold"/>
                <a:ea typeface="+mn-ea"/>
                <a:cs typeface="Segoe UI Semibold" panose="020B0702040204020203" pitchFamily="34" charset="0"/>
              </a:rPr>
              <a:t>Highest tier of services for Azure availble </a:t>
            </a:r>
            <a:r>
              <a:rPr kumimoji="0" lang="en-US" sz="1200" b="0" i="0" u="none" strike="noStrike" kern="0" cap="none" spc="0" normalizeH="0" baseline="0" noProof="0">
                <a:ln>
                  <a:noFill/>
                </a:ln>
                <a:solidFill>
                  <a:srgbClr val="000000"/>
                </a:solidFill>
                <a:effectLst/>
                <a:uLnTx/>
                <a:uFillTx/>
                <a:latin typeface="Segoe UI"/>
                <a:ea typeface="+mn-ea"/>
                <a:cs typeface="Segoe UI Semibold" panose="020B0702040204020203" pitchFamily="34" charset="0"/>
              </a:rPr>
              <a:t>with direct access to Azure Engineers and the product group with insights and input into Azure roadmap</a:t>
            </a:r>
          </a:p>
        </p:txBody>
      </p:sp>
      <p:cxnSp>
        <p:nvCxnSpPr>
          <p:cNvPr id="32" name="Straight Connector 31">
            <a:extLst>
              <a:ext uri="{FF2B5EF4-FFF2-40B4-BE49-F238E27FC236}">
                <a16:creationId xmlns:a16="http://schemas.microsoft.com/office/drawing/2014/main" id="{71B3794E-DAAD-A782-F852-4BE9EFEF01C7}"/>
              </a:ext>
            </a:extLst>
          </p:cNvPr>
          <p:cNvCxnSpPr/>
          <p:nvPr/>
        </p:nvCxnSpPr>
        <p:spPr>
          <a:xfrm>
            <a:off x="1391412" y="4261104"/>
            <a:ext cx="9409176"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39D7809-72B0-CE1A-5B0D-5B7E854C53B5}"/>
              </a:ext>
            </a:extLst>
          </p:cNvPr>
          <p:cNvSpPr txBox="1"/>
          <p:nvPr/>
        </p:nvSpPr>
        <p:spPr>
          <a:xfrm>
            <a:off x="1504846" y="2689051"/>
            <a:ext cx="2929994"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Protect your investment</a:t>
            </a:r>
          </a:p>
        </p:txBody>
      </p:sp>
      <p:sp>
        <p:nvSpPr>
          <p:cNvPr id="34" name="TextBox 33">
            <a:extLst>
              <a:ext uri="{FF2B5EF4-FFF2-40B4-BE49-F238E27FC236}">
                <a16:creationId xmlns:a16="http://schemas.microsoft.com/office/drawing/2014/main" id="{0B3586CB-8DB4-01D8-1462-C2469016CCF1}"/>
              </a:ext>
            </a:extLst>
          </p:cNvPr>
          <p:cNvSpPr txBox="1"/>
          <p:nvPr/>
        </p:nvSpPr>
        <p:spPr>
          <a:xfrm>
            <a:off x="1504846" y="4341950"/>
            <a:ext cx="2929994"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Get the best available services</a:t>
            </a:r>
          </a:p>
        </p:txBody>
      </p:sp>
    </p:spTree>
    <p:extLst>
      <p:ext uri="{BB962C8B-B14F-4D97-AF65-F5344CB8AC3E}">
        <p14:creationId xmlns:p14="http://schemas.microsoft.com/office/powerpoint/2010/main" val="164548194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9E46731-A677-8FA6-0BF9-C4A3823DD22F}"/>
              </a:ext>
              <a:ext uri="{C183D7F6-B498-43B3-948B-1728B52AA6E4}">
                <adec:decorative xmlns:adec="http://schemas.microsoft.com/office/drawing/2017/decorative" val="1"/>
              </a:ext>
            </a:extLst>
          </p:cNvPr>
          <p:cNvGrpSpPr/>
          <p:nvPr/>
        </p:nvGrpSpPr>
        <p:grpSpPr>
          <a:xfrm>
            <a:off x="1824038" y="1807062"/>
            <a:ext cx="9805181" cy="4015658"/>
            <a:chOff x="1824038" y="1807062"/>
            <a:chExt cx="9805181" cy="4015658"/>
          </a:xfrm>
        </p:grpSpPr>
        <p:sp>
          <p:nvSpPr>
            <p:cNvPr id="2" name="Rectangle: Top Corners Rounded 1">
              <a:extLst>
                <a:ext uri="{FF2B5EF4-FFF2-40B4-BE49-F238E27FC236}">
                  <a16:creationId xmlns:a16="http://schemas.microsoft.com/office/drawing/2014/main" id="{7538C4FB-9750-993D-E4F4-6D3744AF5C12}"/>
                </a:ext>
              </a:extLst>
            </p:cNvPr>
            <p:cNvSpPr>
              <a:spLocks/>
            </p:cNvSpPr>
            <p:nvPr/>
          </p:nvSpPr>
          <p:spPr bwMode="auto">
            <a:xfrm rot="5400000">
              <a:off x="5757503" y="-48996"/>
              <a:ext cx="4015653" cy="7727779"/>
            </a:xfrm>
            <a:prstGeom prst="round2SameRect">
              <a:avLst>
                <a:gd name="adj1" fmla="val 1764"/>
                <a:gd name="adj2" fmla="val 0"/>
              </a:avLst>
            </a:prstGeom>
            <a:solidFill>
              <a:schemeClr val="bg1"/>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ysClr val="windowText" lastClr="000000"/>
                </a:solidFill>
                <a:effectLst/>
                <a:uLnTx/>
                <a:uFillTx/>
                <a:latin typeface="Segoe UI"/>
                <a:ea typeface="+mn-ea"/>
                <a:cs typeface="Segoe UI" pitchFamily="34" charset="0"/>
              </a:endParaRPr>
            </a:p>
          </p:txBody>
        </p:sp>
        <p:sp>
          <p:nvSpPr>
            <p:cNvPr id="4" name="Rectangle 3">
              <a:extLst>
                <a:ext uri="{FF2B5EF4-FFF2-40B4-BE49-F238E27FC236}">
                  <a16:creationId xmlns:a16="http://schemas.microsoft.com/office/drawing/2014/main" id="{AE2635AB-2D91-4A43-4683-FF963368A773}"/>
                </a:ext>
              </a:extLst>
            </p:cNvPr>
            <p:cNvSpPr>
              <a:spLocks/>
            </p:cNvSpPr>
            <p:nvPr/>
          </p:nvSpPr>
          <p:spPr bwMode="auto">
            <a:xfrm>
              <a:off x="1824038" y="1807062"/>
              <a:ext cx="2077402" cy="4015654"/>
            </a:xfrm>
            <a:prstGeom prst="rect">
              <a:avLst/>
            </a:prstGeom>
            <a:solidFill>
              <a:schemeClr val="bg1">
                <a:lumMod val="95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ysClr val="windowText" lastClr="000000"/>
                </a:solidFill>
                <a:effectLst/>
                <a:uLnTx/>
                <a:uFillTx/>
                <a:latin typeface="Segoe UI"/>
                <a:ea typeface="+mn-ea"/>
                <a:cs typeface="Segoe UI" pitchFamily="34" charset="0"/>
              </a:endParaRPr>
            </a:p>
          </p:txBody>
        </p:sp>
      </p:grpSp>
      <p:sp>
        <p:nvSpPr>
          <p:cNvPr id="11" name="Title 10">
            <a:extLst>
              <a:ext uri="{FF2B5EF4-FFF2-40B4-BE49-F238E27FC236}">
                <a16:creationId xmlns:a16="http://schemas.microsoft.com/office/drawing/2014/main" id="{16B1F0E0-0FE6-4A4A-B5A1-C5CED301BC58}"/>
              </a:ext>
            </a:extLst>
          </p:cNvPr>
          <p:cNvSpPr>
            <a:spLocks noGrp="1"/>
          </p:cNvSpPr>
          <p:nvPr>
            <p:ph type="title"/>
          </p:nvPr>
        </p:nvSpPr>
        <p:spPr>
          <a:xfrm>
            <a:off x="575481" y="599436"/>
            <a:ext cx="11018520" cy="492443"/>
          </a:xfrm>
        </p:spPr>
        <p:txBody>
          <a:bodyPr/>
          <a:lstStyle/>
          <a:p>
            <a:r>
              <a:rPr lang="en-US"/>
              <a:t>Benefit from a model that adapts to your needs</a:t>
            </a:r>
          </a:p>
        </p:txBody>
      </p:sp>
      <p:sp>
        <p:nvSpPr>
          <p:cNvPr id="13" name="Text Placeholder 12">
            <a:extLst>
              <a:ext uri="{FF2B5EF4-FFF2-40B4-BE49-F238E27FC236}">
                <a16:creationId xmlns:a16="http://schemas.microsoft.com/office/drawing/2014/main" id="{82678ED6-D4C0-4FB4-8078-906DDCED07DB}"/>
              </a:ext>
            </a:extLst>
          </p:cNvPr>
          <p:cNvSpPr>
            <a:spLocks noGrp="1"/>
          </p:cNvSpPr>
          <p:nvPr>
            <p:ph type="body" sz="quarter" idx="12"/>
          </p:nvPr>
        </p:nvSpPr>
        <p:spPr>
          <a:xfrm>
            <a:off x="575481" y="1208010"/>
            <a:ext cx="11018520" cy="246221"/>
          </a:xfrm>
        </p:spPr>
        <p:txBody>
          <a:bodyPr vert="horz" wrap="square" lIns="0" tIns="0" rIns="0" bIns="0" rtlCol="0" anchor="t">
            <a:spAutoFit/>
          </a:bodyPr>
          <a:lstStyle/>
          <a:p>
            <a:r>
              <a:rPr lang="en-US"/>
              <a:t>Personalize your experience through a mix of foundational and specialized services</a:t>
            </a:r>
          </a:p>
        </p:txBody>
      </p:sp>
      <p:graphicFrame>
        <p:nvGraphicFramePr>
          <p:cNvPr id="22" name="Table 6">
            <a:extLst>
              <a:ext uri="{FF2B5EF4-FFF2-40B4-BE49-F238E27FC236}">
                <a16:creationId xmlns:a16="http://schemas.microsoft.com/office/drawing/2014/main" id="{629BACD1-BCEF-FA7C-216F-302D72824853}"/>
              </a:ext>
            </a:extLst>
          </p:cNvPr>
          <p:cNvGraphicFramePr>
            <a:graphicFrameLocks noGrp="1"/>
          </p:cNvGraphicFramePr>
          <p:nvPr/>
        </p:nvGraphicFramePr>
        <p:xfrm>
          <a:off x="584200" y="1807062"/>
          <a:ext cx="11045019" cy="4021978"/>
        </p:xfrm>
        <a:graphic>
          <a:graphicData uri="http://schemas.openxmlformats.org/drawingml/2006/table">
            <a:tbl>
              <a:tblPr firstRow="1" bandRow="1"/>
              <a:tblGrid>
                <a:gridCol w="1246443">
                  <a:extLst>
                    <a:ext uri="{9D8B030D-6E8A-4147-A177-3AD203B41FA5}">
                      <a16:colId xmlns:a16="http://schemas.microsoft.com/office/drawing/2014/main" val="3170812865"/>
                    </a:ext>
                  </a:extLst>
                </a:gridCol>
                <a:gridCol w="2066682">
                  <a:extLst>
                    <a:ext uri="{9D8B030D-6E8A-4147-A177-3AD203B41FA5}">
                      <a16:colId xmlns:a16="http://schemas.microsoft.com/office/drawing/2014/main" val="1616726701"/>
                    </a:ext>
                  </a:extLst>
                </a:gridCol>
                <a:gridCol w="7731894">
                  <a:extLst>
                    <a:ext uri="{9D8B030D-6E8A-4147-A177-3AD203B41FA5}">
                      <a16:colId xmlns:a16="http://schemas.microsoft.com/office/drawing/2014/main" val="3309429115"/>
                    </a:ext>
                  </a:extLst>
                </a:gridCol>
              </a:tblGrid>
              <a:tr h="330697">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algn="r">
                        <a:lnSpc>
                          <a:spcPct val="100000"/>
                        </a:lnSpc>
                        <a:spcBef>
                          <a:spcPts val="0"/>
                        </a:spcBef>
                        <a:spcAft>
                          <a:spcPts val="0"/>
                        </a:spcAft>
                      </a:pPr>
                      <a:r>
                        <a:rPr lang="en-US" sz="1000">
                          <a:solidFill>
                            <a:schemeClr val="tx2"/>
                          </a:solidFill>
                          <a:latin typeface="+mj-lt"/>
                        </a:rPr>
                        <a:t>Success Management Services</a:t>
                      </a:r>
                      <a:endParaRPr lang="en-US" sz="1000" b="0">
                        <a:solidFill>
                          <a:schemeClr val="tx2"/>
                        </a:solidFill>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114300" marR="0" lvl="0" indent="-114300" algn="l" defTabSz="914016" rtl="0" eaLnBrk="1" fontAlgn="auto" latinLnBrk="0" hangingPunct="1">
                        <a:lnSpc>
                          <a:spcPct val="100000"/>
                        </a:lnSpc>
                        <a:spcBef>
                          <a:spcPts val="100"/>
                        </a:spcBef>
                        <a:spcAft>
                          <a:spcPts val="200"/>
                        </a:spcAft>
                        <a:buClrTx/>
                        <a:buSzTx/>
                        <a:buFont typeface="Arial" panose="020B0604020202020204" pitchFamily="34" charset="0"/>
                        <a:buChar char="•"/>
                        <a:tabLst/>
                        <a:defRPr/>
                      </a:pPr>
                      <a:r>
                        <a:rPr lang="en-US" sz="1000" u="none" kern="1200" noProof="0">
                          <a:solidFill>
                            <a:schemeClr val="tx1"/>
                          </a:solidFill>
                          <a:latin typeface="+mn-lt"/>
                        </a:rPr>
                        <a:t>Provided digitally and/or by Customer Success Account Managers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2822671"/>
                  </a:ext>
                </a:extLst>
              </a:tr>
              <a:tr h="330697">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0" marR="0" lvl="0" indent="0" algn="r" defTabSz="914016" rtl="0" eaLnBrk="1" fontAlgn="auto" latinLnBrk="0" hangingPunct="1">
                        <a:lnSpc>
                          <a:spcPct val="100000"/>
                        </a:lnSpc>
                        <a:spcBef>
                          <a:spcPts val="0"/>
                        </a:spcBef>
                        <a:spcAft>
                          <a:spcPts val="0"/>
                        </a:spcAft>
                        <a:buClrTx/>
                        <a:buSzTx/>
                        <a:buFontTx/>
                        <a:buNone/>
                        <a:tabLst/>
                        <a:defRPr/>
                      </a:pPr>
                      <a:r>
                        <a:rPr lang="en-US" sz="1000">
                          <a:solidFill>
                            <a:schemeClr val="tx2"/>
                          </a:solidFill>
                          <a:latin typeface="+mj-lt"/>
                        </a:rPr>
                        <a:t>Advisory</a:t>
                      </a:r>
                      <a:endParaRPr lang="en-US" sz="1000" b="0">
                        <a:solidFill>
                          <a:schemeClr val="tx2"/>
                        </a:solidFill>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114300" indent="-114300" algn="l">
                        <a:lnSpc>
                          <a:spcPct val="100000"/>
                        </a:lnSpc>
                        <a:spcBef>
                          <a:spcPts val="600"/>
                        </a:spcBef>
                        <a:spcAft>
                          <a:spcPts val="200"/>
                        </a:spcAft>
                        <a:buFont typeface="Arial" panose="020B0604020202020204" pitchFamily="34" charset="0"/>
                        <a:buChar char="•"/>
                      </a:pPr>
                      <a:r>
                        <a:rPr lang="en-US" sz="1000" u="none" kern="1200">
                          <a:solidFill>
                            <a:schemeClr val="tx1"/>
                          </a:solidFill>
                          <a:latin typeface="+mn-lt"/>
                        </a:rPr>
                        <a:t>As-needed Advisory Phone Support (limited to six hours or less per incident)</a:t>
                      </a:r>
                      <a:endParaRPr lang="en-US" sz="1000" u="none" kern="1200">
                        <a:solidFill>
                          <a:schemeClr val="tx1"/>
                        </a:solidFill>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6450343"/>
                  </a:ext>
                </a:extLst>
              </a:tr>
              <a:tr h="330697">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algn="r">
                        <a:lnSpc>
                          <a:spcPct val="100000"/>
                        </a:lnSpc>
                        <a:spcBef>
                          <a:spcPts val="0"/>
                        </a:spcBef>
                        <a:spcAft>
                          <a:spcPts val="0"/>
                        </a:spcAft>
                      </a:pPr>
                      <a:r>
                        <a:rPr lang="en-US" sz="1000" kern="1200">
                          <a:solidFill>
                            <a:schemeClr val="tx2"/>
                          </a:solidFill>
                          <a:latin typeface="+mj-lt"/>
                        </a:rPr>
                        <a:t>IT Health</a:t>
                      </a:r>
                      <a:endParaRPr lang="en-US" sz="1000" b="0" kern="1200">
                        <a:solidFill>
                          <a:schemeClr val="tx2"/>
                        </a:solidFill>
                        <a:latin typeface="+mj-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114300" marR="0" lvl="0" indent="-114300" algn="l" defTabSz="914016" rtl="0" eaLnBrk="1" fontAlgn="auto" latinLnBrk="0" hangingPunct="1">
                        <a:lnSpc>
                          <a:spcPct val="100000"/>
                        </a:lnSpc>
                        <a:spcBef>
                          <a:spcPts val="600"/>
                        </a:spcBef>
                        <a:spcAft>
                          <a:spcPts val="200"/>
                        </a:spcAft>
                        <a:buClrTx/>
                        <a:buSzTx/>
                        <a:buFont typeface="Arial" panose="020B0604020202020204" pitchFamily="34" charset="0"/>
                        <a:buChar char="•"/>
                        <a:tabLst/>
                        <a:defRPr/>
                      </a:pPr>
                      <a:r>
                        <a:rPr lang="en-US" sz="1000" u="none" kern="1200">
                          <a:solidFill>
                            <a:schemeClr val="tx1"/>
                          </a:solidFill>
                          <a:latin typeface="+mn-lt"/>
                        </a:rPr>
                        <a:t>As-needed on-demand assessments with setup and configuration services</a:t>
                      </a:r>
                      <a:endParaRPr lang="en-US" sz="1000" u="none" kern="1200">
                        <a:solidFill>
                          <a:schemeClr val="tx1"/>
                        </a:solidFill>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512808"/>
                  </a:ext>
                </a:extLst>
              </a:tr>
              <a:tr h="330697">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0" marR="0" lvl="0" indent="0" algn="r" defTabSz="914016" rtl="0" eaLnBrk="1" fontAlgn="auto" latinLnBrk="0" hangingPunct="1">
                        <a:lnSpc>
                          <a:spcPct val="100000"/>
                        </a:lnSpc>
                        <a:spcBef>
                          <a:spcPts val="0"/>
                        </a:spcBef>
                        <a:spcAft>
                          <a:spcPts val="0"/>
                        </a:spcAft>
                        <a:buClrTx/>
                        <a:buSzTx/>
                        <a:buFontTx/>
                        <a:buNone/>
                        <a:tabLst/>
                        <a:defRPr/>
                      </a:pPr>
                      <a:r>
                        <a:rPr lang="en-US" sz="1000">
                          <a:solidFill>
                            <a:schemeClr val="tx2"/>
                          </a:solidFill>
                          <a:latin typeface="+mj-lt"/>
                        </a:rPr>
                        <a:t>Technical Training</a:t>
                      </a:r>
                      <a:endParaRPr lang="en-US" sz="1000" b="0">
                        <a:solidFill>
                          <a:schemeClr val="tx2"/>
                        </a:solidFill>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114300" marR="0" lvl="0" indent="-114300" algn="l" rtl="0" eaLnBrk="1" fontAlgn="auto" latinLnBrk="0" hangingPunct="1">
                        <a:lnSpc>
                          <a:spcPct val="100000"/>
                        </a:lnSpc>
                        <a:spcBef>
                          <a:spcPts val="600"/>
                        </a:spcBef>
                        <a:spcAft>
                          <a:spcPts val="200"/>
                        </a:spcAft>
                        <a:buClrTx/>
                        <a:buSzTx/>
                        <a:buFont typeface="Arial" panose="020B0604020202020204" pitchFamily="34" charset="0"/>
                        <a:buChar char="•"/>
                      </a:pPr>
                      <a:r>
                        <a:rPr lang="en-US" sz="1000" u="none" kern="1200">
                          <a:solidFill>
                            <a:schemeClr val="tx1"/>
                          </a:solidFill>
                          <a:latin typeface="+mn-lt"/>
                        </a:rPr>
                        <a:t>On-demand videos, hands-on labs, learning paths, and expert-led webcasts </a:t>
                      </a:r>
                      <a:endParaRPr lang="en-US" sz="1000" u="none" kern="1200">
                        <a:solidFill>
                          <a:schemeClr val="tx1"/>
                        </a:solidFill>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4604725"/>
                  </a:ext>
                </a:extLst>
              </a:tr>
              <a:tr h="590709">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77240" rtl="0" eaLnBrk="1" latinLnBrk="0" hangingPunct="1">
                        <a:defRPr sz="1530" kern="1200">
                          <a:solidFill>
                            <a:schemeClr val="tx1"/>
                          </a:solidFill>
                          <a:latin typeface="Segoe UI"/>
                        </a:defRPr>
                      </a:lvl1pPr>
                      <a:lvl2pPr marL="388620" algn="l" defTabSz="777240" rtl="0" eaLnBrk="1" latinLnBrk="0" hangingPunct="1">
                        <a:defRPr sz="1530" kern="1200">
                          <a:solidFill>
                            <a:schemeClr val="tx1"/>
                          </a:solidFill>
                          <a:latin typeface="Segoe UI"/>
                        </a:defRPr>
                      </a:lvl2pPr>
                      <a:lvl3pPr marL="777240" algn="l" defTabSz="777240" rtl="0" eaLnBrk="1" latinLnBrk="0" hangingPunct="1">
                        <a:defRPr sz="1530" kern="1200">
                          <a:solidFill>
                            <a:schemeClr val="tx1"/>
                          </a:solidFill>
                          <a:latin typeface="Segoe UI"/>
                        </a:defRPr>
                      </a:lvl3pPr>
                      <a:lvl4pPr marL="1165860" algn="l" defTabSz="777240" rtl="0" eaLnBrk="1" latinLnBrk="0" hangingPunct="1">
                        <a:defRPr sz="1530" kern="1200">
                          <a:solidFill>
                            <a:schemeClr val="tx1"/>
                          </a:solidFill>
                          <a:latin typeface="Segoe UI"/>
                        </a:defRPr>
                      </a:lvl4pPr>
                      <a:lvl5pPr marL="1554480" algn="l" defTabSz="777240" rtl="0" eaLnBrk="1" latinLnBrk="0" hangingPunct="1">
                        <a:defRPr sz="1530" kern="1200">
                          <a:solidFill>
                            <a:schemeClr val="tx1"/>
                          </a:solidFill>
                          <a:latin typeface="Segoe UI"/>
                        </a:defRPr>
                      </a:lvl5pPr>
                      <a:lvl6pPr marL="1943100" algn="l" defTabSz="777240" rtl="0" eaLnBrk="1" latinLnBrk="0" hangingPunct="1">
                        <a:defRPr sz="1530" kern="1200">
                          <a:solidFill>
                            <a:schemeClr val="tx1"/>
                          </a:solidFill>
                          <a:latin typeface="Segoe UI"/>
                        </a:defRPr>
                      </a:lvl6pPr>
                      <a:lvl7pPr marL="2331720" algn="l" defTabSz="777240" rtl="0" eaLnBrk="1" latinLnBrk="0" hangingPunct="1">
                        <a:defRPr sz="1530" kern="1200">
                          <a:solidFill>
                            <a:schemeClr val="tx1"/>
                          </a:solidFill>
                          <a:latin typeface="Segoe UI"/>
                        </a:defRPr>
                      </a:lvl7pPr>
                      <a:lvl8pPr marL="2720340" algn="l" defTabSz="777240" rtl="0" eaLnBrk="1" latinLnBrk="0" hangingPunct="1">
                        <a:defRPr sz="1530" kern="1200">
                          <a:solidFill>
                            <a:schemeClr val="tx1"/>
                          </a:solidFill>
                          <a:latin typeface="Segoe UI"/>
                        </a:defRPr>
                      </a:lvl8pPr>
                      <a:lvl9pPr marL="3108960" algn="l" defTabSz="777240" rtl="0" eaLnBrk="1" latinLnBrk="0" hangingPunct="1">
                        <a:defRPr sz="1530" kern="1200">
                          <a:solidFill>
                            <a:schemeClr val="tx1"/>
                          </a:solidFill>
                          <a:latin typeface="Segoe UI"/>
                        </a:defRPr>
                      </a:lvl9pPr>
                    </a:lstStyle>
                    <a:p>
                      <a:pPr algn="r"/>
                      <a:r>
                        <a:rPr lang="en-US" sz="1000">
                          <a:solidFill>
                            <a:schemeClr val="tx2"/>
                          </a:solidFill>
                          <a:latin typeface="+mj-lt"/>
                        </a:rPr>
                        <a:t>Technical </a:t>
                      </a:r>
                      <a:r>
                        <a:rPr lang="en-US" sz="1000" b="1">
                          <a:solidFill>
                            <a:schemeClr val="tx2"/>
                          </a:solidFill>
                          <a:latin typeface="+mj-lt"/>
                        </a:rPr>
                        <a:t>Support (as-needed)</a:t>
                      </a:r>
                      <a:endParaRPr lang="en-US" sz="1000">
                        <a:solidFill>
                          <a:schemeClr val="tx2"/>
                        </a:solidFill>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77240" rtl="0" eaLnBrk="1" latinLnBrk="0" hangingPunct="1">
                        <a:defRPr sz="1530" kern="1200">
                          <a:solidFill>
                            <a:schemeClr val="tx1"/>
                          </a:solidFill>
                          <a:latin typeface="Segoe UI"/>
                        </a:defRPr>
                      </a:lvl1pPr>
                      <a:lvl2pPr marL="388620" algn="l" defTabSz="777240" rtl="0" eaLnBrk="1" latinLnBrk="0" hangingPunct="1">
                        <a:defRPr sz="1530" kern="1200">
                          <a:solidFill>
                            <a:schemeClr val="tx1"/>
                          </a:solidFill>
                          <a:latin typeface="Segoe UI"/>
                        </a:defRPr>
                      </a:lvl2pPr>
                      <a:lvl3pPr marL="777240" algn="l" defTabSz="777240" rtl="0" eaLnBrk="1" latinLnBrk="0" hangingPunct="1">
                        <a:defRPr sz="1530" kern="1200">
                          <a:solidFill>
                            <a:schemeClr val="tx1"/>
                          </a:solidFill>
                          <a:latin typeface="Segoe UI"/>
                        </a:defRPr>
                      </a:lvl3pPr>
                      <a:lvl4pPr marL="1165860" algn="l" defTabSz="777240" rtl="0" eaLnBrk="1" latinLnBrk="0" hangingPunct="1">
                        <a:defRPr sz="1530" kern="1200">
                          <a:solidFill>
                            <a:schemeClr val="tx1"/>
                          </a:solidFill>
                          <a:latin typeface="Segoe UI"/>
                        </a:defRPr>
                      </a:lvl4pPr>
                      <a:lvl5pPr marL="1554480" algn="l" defTabSz="777240" rtl="0" eaLnBrk="1" latinLnBrk="0" hangingPunct="1">
                        <a:defRPr sz="1530" kern="1200">
                          <a:solidFill>
                            <a:schemeClr val="tx1"/>
                          </a:solidFill>
                          <a:latin typeface="Segoe UI"/>
                        </a:defRPr>
                      </a:lvl5pPr>
                      <a:lvl6pPr marL="1943100" algn="l" defTabSz="777240" rtl="0" eaLnBrk="1" latinLnBrk="0" hangingPunct="1">
                        <a:defRPr sz="1530" kern="1200">
                          <a:solidFill>
                            <a:schemeClr val="tx1"/>
                          </a:solidFill>
                          <a:latin typeface="Segoe UI"/>
                        </a:defRPr>
                      </a:lvl6pPr>
                      <a:lvl7pPr marL="2331720" algn="l" defTabSz="777240" rtl="0" eaLnBrk="1" latinLnBrk="0" hangingPunct="1">
                        <a:defRPr sz="1530" kern="1200">
                          <a:solidFill>
                            <a:schemeClr val="tx1"/>
                          </a:solidFill>
                          <a:latin typeface="Segoe UI"/>
                        </a:defRPr>
                      </a:lvl7pPr>
                      <a:lvl8pPr marL="2720340" algn="l" defTabSz="777240" rtl="0" eaLnBrk="1" latinLnBrk="0" hangingPunct="1">
                        <a:defRPr sz="1530" kern="1200">
                          <a:solidFill>
                            <a:schemeClr val="tx1"/>
                          </a:solidFill>
                          <a:latin typeface="Segoe UI"/>
                        </a:defRPr>
                      </a:lvl8pPr>
                      <a:lvl9pPr marL="3108960" algn="l" defTabSz="777240" rtl="0" eaLnBrk="1" latinLnBrk="0" hangingPunct="1">
                        <a:defRPr sz="1530" kern="1200">
                          <a:solidFill>
                            <a:schemeClr val="tx1"/>
                          </a:solidFill>
                          <a:latin typeface="Segoe UI"/>
                        </a:defRPr>
                      </a:lvl9pPr>
                    </a:lstStyle>
                    <a:p>
                      <a:pPr marL="114300" marR="0" lvl="1" indent="-114300" algn="l" rtl="0" eaLnBrk="1" fontAlgn="auto" latinLnBrk="0" hangingPunct="1">
                        <a:lnSpc>
                          <a:spcPct val="100000"/>
                        </a:lnSpc>
                        <a:spcBef>
                          <a:spcPts val="0"/>
                        </a:spcBef>
                        <a:spcAft>
                          <a:spcPts val="200"/>
                        </a:spcAft>
                        <a:buFont typeface="Arial" panose="020B0604020202020204" pitchFamily="34" charset="0"/>
                        <a:buChar char="•"/>
                      </a:pPr>
                      <a:r>
                        <a:rPr lang="en-GB" sz="1000" u="none" kern="1200" noProof="0">
                          <a:solidFill>
                            <a:schemeClr val="tx1"/>
                          </a:solidFill>
                          <a:latin typeface="+mn-lt"/>
                        </a:rPr>
                        <a:t>Expected initial response times:</a:t>
                      </a:r>
                    </a:p>
                    <a:p>
                      <a:pPr marL="298450" marR="0" lvl="2" indent="-120650" algn="l" rtl="0" eaLnBrk="1" fontAlgn="auto" latinLnBrk="0" hangingPunct="1">
                        <a:lnSpc>
                          <a:spcPct val="100000"/>
                        </a:lnSpc>
                        <a:spcBef>
                          <a:spcPts val="0"/>
                        </a:spcBef>
                        <a:spcAft>
                          <a:spcPts val="400"/>
                        </a:spcAft>
                        <a:buFont typeface="Segoe UI" panose="020B0502040204020203" pitchFamily="34" charset="0"/>
                        <a:buChar char="–"/>
                      </a:pPr>
                      <a:r>
                        <a:rPr lang="en-GB" sz="900" u="none" kern="1200" noProof="0">
                          <a:solidFill>
                            <a:schemeClr val="tx1"/>
                          </a:solidFill>
                          <a:latin typeface="+mn-lt"/>
                        </a:rPr>
                        <a:t>Critical Sev 1: 15-minutes for Azure</a:t>
                      </a:r>
                      <a:r>
                        <a:rPr lang="en-GB" sz="900" u="none" kern="1200" baseline="30000" noProof="0">
                          <a:solidFill>
                            <a:schemeClr val="tx1"/>
                          </a:solidFill>
                          <a:latin typeface="+mn-lt"/>
                        </a:rPr>
                        <a:t>1</a:t>
                      </a:r>
                      <a:r>
                        <a:rPr lang="en-GB" sz="900" u="none" kern="1200" noProof="0">
                          <a:solidFill>
                            <a:schemeClr val="tx1"/>
                          </a:solidFill>
                          <a:latin typeface="+mn-lt"/>
                        </a:rPr>
                        <a:t>/1-hour for all other products (24x7)</a:t>
                      </a:r>
                    </a:p>
                    <a:p>
                      <a:pPr marL="298450" marR="0" lvl="2" indent="-120650" algn="l" rtl="0" eaLnBrk="1" fontAlgn="auto" latinLnBrk="0" hangingPunct="1">
                        <a:lnSpc>
                          <a:spcPct val="100000"/>
                        </a:lnSpc>
                        <a:spcBef>
                          <a:spcPts val="0"/>
                        </a:spcBef>
                        <a:spcAft>
                          <a:spcPts val="400"/>
                        </a:spcAft>
                        <a:buFont typeface="Segoe UI" panose="020B0502040204020203" pitchFamily="34" charset="0"/>
                        <a:buChar char="–"/>
                        <a:tabLst>
                          <a:tab pos="403225" algn="l"/>
                        </a:tabLst>
                      </a:pPr>
                      <a:r>
                        <a:rPr lang="en-US" sz="900" u="none" kern="1200" noProof="0">
                          <a:solidFill>
                            <a:schemeClr val="tx1"/>
                          </a:solidFill>
                          <a:latin typeface="+mn-lt"/>
                        </a:rPr>
                        <a:t>Sev A: 1 hr. (24x7) / Sev B: 2 hrs. (24x7 available upon request</a:t>
                      </a:r>
                      <a:r>
                        <a:rPr lang="en-US" sz="900" u="none" kern="1200" baseline="30000" noProof="0">
                          <a:solidFill>
                            <a:schemeClr val="tx1"/>
                          </a:solidFill>
                          <a:latin typeface="+mn-lt"/>
                        </a:rPr>
                        <a:t>2</a:t>
                      </a:r>
                      <a:r>
                        <a:rPr lang="en-US" sz="900" u="none" kern="1200" noProof="0">
                          <a:solidFill>
                            <a:schemeClr val="tx1"/>
                          </a:solidFill>
                          <a:latin typeface="+mn-lt"/>
                        </a:rPr>
                        <a:t>) / Sev C: 4 hrs. (business hours only</a:t>
                      </a:r>
                      <a:r>
                        <a:rPr lang="en-US" sz="900" u="none" kern="1200" baseline="30000" noProof="0">
                          <a:solidFill>
                            <a:schemeClr val="tx1"/>
                          </a:solidFill>
                          <a:latin typeface="+mn-lt"/>
                        </a:rPr>
                        <a:t>3</a:t>
                      </a:r>
                      <a:r>
                        <a:rPr lang="en-US" sz="900" u="none" kern="1200" noProof="0">
                          <a:solidFill>
                            <a:schemeClr val="tx1"/>
                          </a:solidFill>
                          <a:latin typeface="+mn-lt"/>
                        </a:rPr>
                        <a: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8768774"/>
                  </a:ext>
                </a:extLst>
              </a:tr>
              <a:tr h="431672">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77240" rtl="0" eaLnBrk="1" latinLnBrk="0" hangingPunct="1">
                        <a:defRPr sz="1530" kern="1200">
                          <a:solidFill>
                            <a:schemeClr val="tx1"/>
                          </a:solidFill>
                          <a:latin typeface="Segoe UI"/>
                        </a:defRPr>
                      </a:lvl1pPr>
                      <a:lvl2pPr marL="388620" algn="l" defTabSz="777240" rtl="0" eaLnBrk="1" latinLnBrk="0" hangingPunct="1">
                        <a:defRPr sz="1530" kern="1200">
                          <a:solidFill>
                            <a:schemeClr val="tx1"/>
                          </a:solidFill>
                          <a:latin typeface="Segoe UI"/>
                        </a:defRPr>
                      </a:lvl2pPr>
                      <a:lvl3pPr marL="777240" algn="l" defTabSz="777240" rtl="0" eaLnBrk="1" latinLnBrk="0" hangingPunct="1">
                        <a:defRPr sz="1530" kern="1200">
                          <a:solidFill>
                            <a:schemeClr val="tx1"/>
                          </a:solidFill>
                          <a:latin typeface="Segoe UI"/>
                        </a:defRPr>
                      </a:lvl3pPr>
                      <a:lvl4pPr marL="1165860" algn="l" defTabSz="777240" rtl="0" eaLnBrk="1" latinLnBrk="0" hangingPunct="1">
                        <a:defRPr sz="1530" kern="1200">
                          <a:solidFill>
                            <a:schemeClr val="tx1"/>
                          </a:solidFill>
                          <a:latin typeface="Segoe UI"/>
                        </a:defRPr>
                      </a:lvl4pPr>
                      <a:lvl5pPr marL="1554480" algn="l" defTabSz="777240" rtl="0" eaLnBrk="1" latinLnBrk="0" hangingPunct="1">
                        <a:defRPr sz="1530" kern="1200">
                          <a:solidFill>
                            <a:schemeClr val="tx1"/>
                          </a:solidFill>
                          <a:latin typeface="Segoe UI"/>
                        </a:defRPr>
                      </a:lvl5pPr>
                      <a:lvl6pPr marL="1943100" algn="l" defTabSz="777240" rtl="0" eaLnBrk="1" latinLnBrk="0" hangingPunct="1">
                        <a:defRPr sz="1530" kern="1200">
                          <a:solidFill>
                            <a:schemeClr val="tx1"/>
                          </a:solidFill>
                          <a:latin typeface="Segoe UI"/>
                        </a:defRPr>
                      </a:lvl6pPr>
                      <a:lvl7pPr marL="2331720" algn="l" defTabSz="777240" rtl="0" eaLnBrk="1" latinLnBrk="0" hangingPunct="1">
                        <a:defRPr sz="1530" kern="1200">
                          <a:solidFill>
                            <a:schemeClr val="tx1"/>
                          </a:solidFill>
                          <a:latin typeface="Segoe UI"/>
                        </a:defRPr>
                      </a:lvl7pPr>
                      <a:lvl8pPr marL="2720340" algn="l" defTabSz="777240" rtl="0" eaLnBrk="1" latinLnBrk="0" hangingPunct="1">
                        <a:defRPr sz="1530" kern="1200">
                          <a:solidFill>
                            <a:schemeClr val="tx1"/>
                          </a:solidFill>
                          <a:latin typeface="Segoe UI"/>
                        </a:defRPr>
                      </a:lvl8pPr>
                      <a:lvl9pPr marL="3108960" algn="l" defTabSz="777240" rtl="0" eaLnBrk="1" latinLnBrk="0" hangingPunct="1">
                        <a:defRPr sz="1530" kern="1200">
                          <a:solidFill>
                            <a:schemeClr val="tx1"/>
                          </a:solidFill>
                          <a:latin typeface="Segoe UI"/>
                        </a:defRPr>
                      </a:lvl9pPr>
                    </a:lstStyle>
                    <a:p>
                      <a:pPr algn="r"/>
                      <a:r>
                        <a:rPr lang="en-US" sz="1000">
                          <a:solidFill>
                            <a:schemeClr val="tx2"/>
                          </a:solidFill>
                          <a:latin typeface="+mj-lt"/>
                        </a:rPr>
                        <a:t>Escalation Management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77240" rtl="0" eaLnBrk="1" latinLnBrk="0" hangingPunct="1">
                        <a:defRPr sz="1530" kern="1200">
                          <a:solidFill>
                            <a:schemeClr val="tx1"/>
                          </a:solidFill>
                          <a:latin typeface="Segoe UI"/>
                        </a:defRPr>
                      </a:lvl1pPr>
                      <a:lvl2pPr marL="388620" algn="l" defTabSz="777240" rtl="0" eaLnBrk="1" latinLnBrk="0" hangingPunct="1">
                        <a:defRPr sz="1530" kern="1200">
                          <a:solidFill>
                            <a:schemeClr val="tx1"/>
                          </a:solidFill>
                          <a:latin typeface="Segoe UI"/>
                        </a:defRPr>
                      </a:lvl2pPr>
                      <a:lvl3pPr marL="777240" algn="l" defTabSz="777240" rtl="0" eaLnBrk="1" latinLnBrk="0" hangingPunct="1">
                        <a:defRPr sz="1530" kern="1200">
                          <a:solidFill>
                            <a:schemeClr val="tx1"/>
                          </a:solidFill>
                          <a:latin typeface="Segoe UI"/>
                        </a:defRPr>
                      </a:lvl3pPr>
                      <a:lvl4pPr marL="1165860" algn="l" defTabSz="777240" rtl="0" eaLnBrk="1" latinLnBrk="0" hangingPunct="1">
                        <a:defRPr sz="1530" kern="1200">
                          <a:solidFill>
                            <a:schemeClr val="tx1"/>
                          </a:solidFill>
                          <a:latin typeface="Segoe UI"/>
                        </a:defRPr>
                      </a:lvl4pPr>
                      <a:lvl5pPr marL="1554480" algn="l" defTabSz="777240" rtl="0" eaLnBrk="1" latinLnBrk="0" hangingPunct="1">
                        <a:defRPr sz="1530" kern="1200">
                          <a:solidFill>
                            <a:schemeClr val="tx1"/>
                          </a:solidFill>
                          <a:latin typeface="Segoe UI"/>
                        </a:defRPr>
                      </a:lvl5pPr>
                      <a:lvl6pPr marL="1943100" algn="l" defTabSz="777240" rtl="0" eaLnBrk="1" latinLnBrk="0" hangingPunct="1">
                        <a:defRPr sz="1530" kern="1200">
                          <a:solidFill>
                            <a:schemeClr val="tx1"/>
                          </a:solidFill>
                          <a:latin typeface="Segoe UI"/>
                        </a:defRPr>
                      </a:lvl6pPr>
                      <a:lvl7pPr marL="2331720" algn="l" defTabSz="777240" rtl="0" eaLnBrk="1" latinLnBrk="0" hangingPunct="1">
                        <a:defRPr sz="1530" kern="1200">
                          <a:solidFill>
                            <a:schemeClr val="tx1"/>
                          </a:solidFill>
                          <a:latin typeface="Segoe UI"/>
                        </a:defRPr>
                      </a:lvl7pPr>
                      <a:lvl8pPr marL="2720340" algn="l" defTabSz="777240" rtl="0" eaLnBrk="1" latinLnBrk="0" hangingPunct="1">
                        <a:defRPr sz="1530" kern="1200">
                          <a:solidFill>
                            <a:schemeClr val="tx1"/>
                          </a:solidFill>
                          <a:latin typeface="Segoe UI"/>
                        </a:defRPr>
                      </a:lvl8pPr>
                      <a:lvl9pPr marL="3108960" algn="l" defTabSz="777240" rtl="0" eaLnBrk="1" latinLnBrk="0" hangingPunct="1">
                        <a:defRPr sz="1530" kern="1200">
                          <a:solidFill>
                            <a:schemeClr val="tx1"/>
                          </a:solidFill>
                          <a:latin typeface="Segoe UI"/>
                        </a:defRPr>
                      </a:lvl9pPr>
                    </a:lstStyle>
                    <a:p>
                      <a:pPr marL="114300" marR="0" lvl="1" indent="-114300" algn="l" defTabSz="932742" rtl="0" eaLnBrk="1" fontAlgn="auto" latinLnBrk="0" hangingPunct="1">
                        <a:lnSpc>
                          <a:spcPct val="100000"/>
                        </a:lnSpc>
                        <a:spcBef>
                          <a:spcPts val="100"/>
                        </a:spcBef>
                        <a:spcAft>
                          <a:spcPts val="200"/>
                        </a:spcAft>
                        <a:buClrTx/>
                        <a:buSzTx/>
                        <a:buFont typeface="Arial" panose="020B0604020202020204" pitchFamily="34" charset="0"/>
                        <a:buChar char="•"/>
                        <a:tabLst/>
                        <a:defRPr/>
                      </a:pPr>
                      <a:r>
                        <a:rPr lang="en-US" sz="1000" u="none" kern="1200">
                          <a:solidFill>
                            <a:schemeClr val="tx1"/>
                          </a:solidFill>
                          <a:latin typeface="+mn-lt"/>
                        </a:rPr>
                        <a:t>For Critical Business System Down issues, resource assigned after 15-minutes for Azure or 1-hour for all other products</a:t>
                      </a:r>
                    </a:p>
                    <a:p>
                      <a:pPr marL="114300" marR="0" lvl="1" indent="-114300" algn="l" defTabSz="932742" rtl="0" eaLnBrk="1" fontAlgn="auto" latinLnBrk="0" hangingPunct="1">
                        <a:lnSpc>
                          <a:spcPct val="100000"/>
                        </a:lnSpc>
                        <a:spcBef>
                          <a:spcPts val="100"/>
                        </a:spcBef>
                        <a:spcAft>
                          <a:spcPts val="200"/>
                        </a:spcAft>
                        <a:buClrTx/>
                        <a:buSzTx/>
                        <a:buFont typeface="Arial" panose="020B0604020202020204" pitchFamily="34" charset="0"/>
                        <a:buChar char="•"/>
                        <a:tabLst/>
                        <a:defRPr/>
                      </a:pPr>
                      <a:r>
                        <a:rPr lang="en-US" sz="1000" u="none" kern="1200">
                          <a:solidFill>
                            <a:schemeClr val="tx1"/>
                          </a:solidFill>
                          <a:latin typeface="+mn-lt"/>
                        </a:rPr>
                        <a:t>For Critical Business System Degraded, resource assigned after 1-hour for all products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887488"/>
                  </a:ext>
                </a:extLst>
              </a:tr>
              <a:tr h="334098">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016" rtl="0" eaLnBrk="1" fontAlgn="auto" latinLnBrk="0" hangingPunct="1">
                        <a:lnSpc>
                          <a:spcPct val="100000"/>
                        </a:lnSpc>
                        <a:spcBef>
                          <a:spcPts val="0"/>
                        </a:spcBef>
                        <a:spcAft>
                          <a:spcPts val="0"/>
                        </a:spcAft>
                        <a:buClrTx/>
                        <a:buSzTx/>
                        <a:buFontTx/>
                        <a:buNone/>
                        <a:tabLst/>
                        <a:defRPr/>
                      </a:pPr>
                      <a:r>
                        <a:rPr lang="en-US" sz="1000" kern="1200">
                          <a:solidFill>
                            <a:schemeClr val="tx2"/>
                          </a:solidFill>
                          <a:latin typeface="+mj-lt"/>
                          <a:ea typeface="+mn-ea"/>
                          <a:cs typeface="+mn-cs"/>
                        </a:rPr>
                        <a:t>Case Management/Tooling</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indent="-114300" algn="l">
                        <a:lnSpc>
                          <a:spcPct val="100000"/>
                        </a:lnSpc>
                        <a:spcBef>
                          <a:spcPts val="100"/>
                        </a:spcBef>
                        <a:spcAft>
                          <a:spcPts val="100"/>
                        </a:spcAft>
                        <a:buFont typeface="Arial" panose="020B0604020202020204" pitchFamily="34" charset="0"/>
                        <a:buChar char="•"/>
                      </a:pPr>
                      <a:r>
                        <a:rPr lang="en-US" sz="1000" u="none" kern="1200">
                          <a:solidFill>
                            <a:schemeClr val="tx1"/>
                          </a:solidFill>
                          <a:latin typeface="+mn-lt"/>
                          <a:ea typeface="+mn-ea"/>
                          <a:cs typeface="+mn-cs"/>
                        </a:rPr>
                        <a:t>Services Hub portal for one-stop support management, recommendations, Microsoft Services catalog, and product updates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3327327"/>
                  </a:ext>
                </a:extLst>
              </a:tr>
              <a:tr h="334098">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0" algn="r" defTabSz="914016" rtl="0" eaLnBrk="1" latinLnBrk="0" hangingPunct="1">
                        <a:lnSpc>
                          <a:spcPct val="100000"/>
                        </a:lnSpc>
                        <a:spcBef>
                          <a:spcPts val="0"/>
                        </a:spcBef>
                        <a:spcAft>
                          <a:spcPts val="0"/>
                        </a:spcAft>
                      </a:pPr>
                      <a:r>
                        <a:rPr lang="en-US" sz="1000" kern="1200">
                          <a:solidFill>
                            <a:schemeClr val="tx2"/>
                          </a:solidFill>
                          <a:latin typeface="+mj-lt"/>
                        </a:rPr>
                        <a:t>Cloud Assistance</a:t>
                      </a:r>
                      <a:endParaRPr lang="en-US" sz="1000" b="0" kern="1200">
                        <a:solidFill>
                          <a:schemeClr val="tx2"/>
                        </a:solidFill>
                        <a:latin typeface="+mj-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114300" marR="0" lvl="1" indent="-114300" algn="l" defTabSz="914016" rtl="0" eaLnBrk="1" fontAlgn="auto" latinLnBrk="0" hangingPunct="1">
                        <a:lnSpc>
                          <a:spcPct val="100000"/>
                        </a:lnSpc>
                        <a:spcBef>
                          <a:spcPts val="600"/>
                        </a:spcBef>
                        <a:spcAft>
                          <a:spcPts val="200"/>
                        </a:spcAft>
                        <a:buClrTx/>
                        <a:buSzTx/>
                        <a:buFont typeface="Arial" panose="020B0604020202020204" pitchFamily="34" charset="0"/>
                        <a:buChar char="•"/>
                        <a:tabLst/>
                        <a:defRPr/>
                      </a:pPr>
                      <a:r>
                        <a:rPr lang="en-US" sz="1000" u="none" kern="1200">
                          <a:solidFill>
                            <a:schemeClr val="tx1"/>
                          </a:solidFill>
                          <a:latin typeface="+mn-lt"/>
                        </a:rPr>
                        <a:t>Billing support provided by the Azure Support team (included in the free support)</a:t>
                      </a:r>
                      <a:endParaRPr lang="en-US" sz="1000" u="none" kern="1200">
                        <a:solidFill>
                          <a:schemeClr val="tx1"/>
                        </a:solidFill>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022124"/>
                  </a:ext>
                </a:extLst>
              </a:tr>
              <a:tr h="334098">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alpha val="0"/>
                            </a:schemeClr>
                          </a:solidFill>
                          <a:effectLst/>
                          <a:uLnTx/>
                          <a:uFillTx/>
                          <a:latin typeface="Segoe UI"/>
                          <a:ea typeface="+mn-ea"/>
                          <a:cs typeface="+mn-cs"/>
                        </a:rPr>
                        <a:t>Foundational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spcBef>
                          <a:spcPts val="0"/>
                        </a:spcBef>
                        <a:spcAft>
                          <a:spcPts val="0"/>
                        </a:spcAft>
                      </a:pPr>
                      <a:r>
                        <a:rPr lang="en-US" sz="1000" kern="1200">
                          <a:solidFill>
                            <a:schemeClr val="tx2"/>
                          </a:solidFill>
                          <a:latin typeface="+mj-lt"/>
                          <a:ea typeface="+mn-ea"/>
                          <a:cs typeface="+mn-cs"/>
                        </a:rPr>
                        <a:t>Third-Party</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indent="-114300" algn="l">
                        <a:lnSpc>
                          <a:spcPct val="100000"/>
                        </a:lnSpc>
                        <a:spcBef>
                          <a:spcPts val="100"/>
                        </a:spcBef>
                        <a:spcAft>
                          <a:spcPts val="100"/>
                        </a:spcAft>
                        <a:buFont typeface="Arial" panose="020B0604020202020204" pitchFamily="34" charset="0"/>
                        <a:buChar char="•"/>
                      </a:pPr>
                      <a:r>
                        <a:rPr lang="en-US" sz="1000" u="none" kern="1200">
                          <a:solidFill>
                            <a:schemeClr val="tx1"/>
                          </a:solidFill>
                          <a:latin typeface="+mn-lt"/>
                          <a:ea typeface="+mn-ea"/>
                          <a:cs typeface="+mn-cs"/>
                        </a:rPr>
                        <a:t>Select third-party support with interoperability and configuration guidance and troubleshooting</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0976499"/>
                  </a:ext>
                </a:extLst>
              </a:tr>
              <a:tr h="334098">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800" b="0" kern="1200">
                          <a:solidFill>
                            <a:schemeClr val="tx2">
                              <a:alpha val="0"/>
                            </a:schemeClr>
                          </a:solidFill>
                          <a:latin typeface="+mn-lt"/>
                          <a:ea typeface="+mn-ea"/>
                          <a:cs typeface="+mn-cs"/>
                        </a:rPr>
                        <a:t>Specialized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algn="r">
                        <a:lnSpc>
                          <a:spcPct val="100000"/>
                        </a:lnSpc>
                        <a:spcBef>
                          <a:spcPts val="0"/>
                        </a:spcBef>
                        <a:spcAft>
                          <a:spcPts val="0"/>
                        </a:spcAft>
                      </a:pPr>
                      <a:r>
                        <a:rPr lang="en-US" sz="1000" b="0" kern="1200">
                          <a:solidFill>
                            <a:schemeClr val="tx2"/>
                          </a:solidFill>
                          <a:latin typeface="+mj-lt"/>
                          <a:ea typeface="+mn-ea"/>
                          <a:cs typeface="+mn-cs"/>
                        </a:rPr>
                        <a:t>Value Acceleration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114300" marR="0" lvl="0" indent="-114300" algn="l" defTabSz="457200" rtl="0" eaLnBrk="1" fontAlgn="auto" latinLnBrk="0" hangingPunct="1">
                        <a:lnSpc>
                          <a:spcPct val="100000"/>
                        </a:lnSpc>
                        <a:spcBef>
                          <a:spcPts val="600"/>
                        </a:spcBef>
                        <a:spcAft>
                          <a:spcPts val="200"/>
                        </a:spcAft>
                        <a:buClrTx/>
                        <a:buSzTx/>
                        <a:buFont typeface="Arial" panose="020B0604020202020204" pitchFamily="34" charset="0"/>
                        <a:buChar char="•"/>
                        <a:tabLst/>
                        <a:defRPr/>
                      </a:pPr>
                      <a:r>
                        <a:rPr lang="en-US" sz="1000" u="none" kern="1200">
                          <a:solidFill>
                            <a:schemeClr val="tx1"/>
                          </a:solidFill>
                          <a:latin typeface="+mn-lt"/>
                          <a:ea typeface="+mn-ea"/>
                          <a:cs typeface="+mn-cs"/>
                        </a:rPr>
                        <a:t>Expert-led engagements uniquely designed from Microsoft Intellectual Property to accelerate your cloud solution success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882291"/>
                  </a:ext>
                </a:extLst>
              </a:tr>
              <a:tr h="334098">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800" b="0" kern="1200">
                          <a:solidFill>
                            <a:schemeClr val="tx2">
                              <a:alpha val="0"/>
                            </a:schemeClr>
                          </a:solidFill>
                          <a:latin typeface="+mn-lt"/>
                          <a:ea typeface="+mn-ea"/>
                          <a:cs typeface="+mn-cs"/>
                        </a:rPr>
                        <a:t>Specialized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spcBef>
                          <a:spcPts val="0"/>
                        </a:spcBef>
                        <a:spcAft>
                          <a:spcPts val="0"/>
                        </a:spcAft>
                      </a:pPr>
                      <a:r>
                        <a:rPr lang="en-US" sz="1000" b="0" kern="1200">
                          <a:solidFill>
                            <a:schemeClr val="tx2"/>
                          </a:solidFill>
                          <a:latin typeface="+mj-lt"/>
                          <a:ea typeface="+mn-ea"/>
                          <a:cs typeface="+mn-cs"/>
                        </a:rPr>
                        <a:t>Mission Critical Services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114300" algn="l" defTabSz="457200" rtl="0" eaLnBrk="1" fontAlgn="auto" latinLnBrk="0" hangingPunct="1">
                        <a:lnSpc>
                          <a:spcPct val="100000"/>
                        </a:lnSpc>
                        <a:spcBef>
                          <a:spcPts val="600"/>
                        </a:spcBef>
                        <a:spcAft>
                          <a:spcPts val="200"/>
                        </a:spcAft>
                        <a:buClrTx/>
                        <a:buSzTx/>
                        <a:buFont typeface="Arial" panose="020B0604020202020204" pitchFamily="34" charset="0"/>
                        <a:buChar char="•"/>
                        <a:tabLst/>
                        <a:defRPr/>
                      </a:pPr>
                      <a:r>
                        <a:rPr lang="en-US" sz="1000" u="none" kern="1200">
                          <a:solidFill>
                            <a:schemeClr val="tx1"/>
                          </a:solidFill>
                          <a:latin typeface="+mn-lt"/>
                          <a:ea typeface="+mn-ea"/>
                          <a:cs typeface="+mn-cs"/>
                        </a:rPr>
                        <a:t>Assigned technical team, equipped with advanced capabilities for your high priority events, products, and workloads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1886400"/>
                  </a:ext>
                </a:extLst>
              </a:tr>
            </a:tbl>
          </a:graphicData>
        </a:graphic>
      </p:graphicFrame>
      <p:sp>
        <p:nvSpPr>
          <p:cNvPr id="23" name="TextBox 22">
            <a:extLst>
              <a:ext uri="{FF2B5EF4-FFF2-40B4-BE49-F238E27FC236}">
                <a16:creationId xmlns:a16="http://schemas.microsoft.com/office/drawing/2014/main" id="{33CF269F-8391-D392-A27B-C010B0DA8715}"/>
              </a:ext>
            </a:extLst>
          </p:cNvPr>
          <p:cNvSpPr txBox="1"/>
          <p:nvPr/>
        </p:nvSpPr>
        <p:spPr>
          <a:xfrm>
            <a:off x="576263" y="6074508"/>
            <a:ext cx="11017250" cy="61555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Read the full services description at </a:t>
            </a:r>
            <a:r>
              <a:rPr kumimoji="0" lang="en-US" sz="800" b="0" i="0" u="none" strike="noStrike" kern="1200" cap="none" spc="0" normalizeH="0" baseline="0" noProof="0">
                <a:ln>
                  <a:noFill/>
                </a:ln>
                <a:solidFill>
                  <a:srgbClr val="0078D4"/>
                </a:solidFill>
                <a:effectLst/>
                <a:uLnTx/>
                <a:uFillTx/>
                <a:latin typeface="Segoe UI"/>
                <a:ea typeface="+mn-ea"/>
                <a:cs typeface="+mn-cs"/>
                <a:hlinkClick r:id="rId4">
                  <a:extLst>
                    <a:ext uri="{A12FA001-AC4F-418D-AE19-62706E023703}">
                      <ahyp:hlinkClr xmlns:ahyp="http://schemas.microsoft.com/office/drawing/2018/hyperlinkcolor" val="tx"/>
                    </a:ext>
                  </a:extLst>
                </a:hlinkClick>
              </a:rPr>
              <a:t>https://aka.ms/UnifiedServicesDescription</a:t>
            </a:r>
            <a:r>
              <a:rPr kumimoji="0" lang="en-US" sz="800" b="0" i="0" u="none" strike="noStrike" kern="1200" cap="none" spc="0" normalizeH="0" baseline="0" noProof="0">
                <a:ln>
                  <a:noFill/>
                </a:ln>
                <a:solidFill>
                  <a:srgbClr val="0078D4"/>
                </a:solidFill>
                <a:effectLst/>
                <a:uLnTx/>
                <a:uFillTx/>
                <a:latin typeface="Segoe U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a:ln>
                  <a:noFill/>
                </a:ln>
                <a:solidFill>
                  <a:srgbClr val="000000"/>
                </a:solidFill>
                <a:effectLst/>
                <a:uLnTx/>
                <a:uFillTx/>
                <a:latin typeface="Segoe UI"/>
                <a:ea typeface="+mn-ea"/>
                <a:cs typeface="+mn-cs"/>
              </a:rPr>
              <a:t>1 </a:t>
            </a:r>
            <a:r>
              <a:rPr kumimoji="0" lang="en-US" sz="800" b="0" i="0" u="none" strike="noStrike" kern="1200" cap="none" spc="0" normalizeH="0" baseline="0" noProof="0">
                <a:ln>
                  <a:noFill/>
                </a:ln>
                <a:solidFill>
                  <a:srgbClr val="000000"/>
                </a:solidFill>
                <a:effectLst/>
                <a:uLnTx/>
                <a:uFillTx/>
                <a:latin typeface="Segoe UI"/>
                <a:ea typeface="+mn-ea"/>
                <a:cs typeface="+mn-cs"/>
              </a:rPr>
              <a:t>Does not apply to cases for Azure StorSimple, GitHub AE, Azure Communication Services or Billing &amp; Subscription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a:ln>
                  <a:noFill/>
                </a:ln>
                <a:solidFill>
                  <a:srgbClr val="000000"/>
                </a:solidFill>
                <a:effectLst/>
                <a:uLnTx/>
                <a:uFillTx/>
                <a:latin typeface="Segoe UI"/>
                <a:ea typeface="+mn-ea"/>
                <a:cs typeface="+mn-cs"/>
              </a:rPr>
              <a:t>2 </a:t>
            </a:r>
            <a:r>
              <a:rPr kumimoji="0" lang="en-US" sz="800" b="0" i="0" u="none" strike="noStrike" kern="1200" cap="none" spc="0" normalizeH="0" baseline="0" noProof="0">
                <a:ln>
                  <a:noFill/>
                </a:ln>
                <a:solidFill>
                  <a:srgbClr val="000000"/>
                </a:solidFill>
                <a:effectLst/>
                <a:uLnTx/>
                <a:uFillTx/>
                <a:latin typeface="Segoe UI"/>
                <a:ea typeface="+mn-ea"/>
                <a:cs typeface="+mn-cs"/>
              </a:rPr>
              <a:t>If you choose 24x7 when you submit the support request, you commit to a continuous, 24x7 operation, every day with the Microsoft team until resolution. Otherwise, Microsoft may at its discretion provide service during business hours only.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a:ln>
                  <a:noFill/>
                </a:ln>
                <a:solidFill>
                  <a:srgbClr val="000000"/>
                </a:solidFill>
                <a:effectLst/>
                <a:uLnTx/>
                <a:uFillTx/>
                <a:latin typeface="Segoe UI"/>
                <a:ea typeface="+mn-ea"/>
                <a:cs typeface="+mn-cs"/>
              </a:rPr>
              <a:t>3</a:t>
            </a:r>
            <a:r>
              <a:rPr kumimoji="0" lang="en-US" sz="800" b="0" i="0" u="none" strike="noStrike" kern="1200" cap="none" spc="0" normalizeH="0" baseline="0" noProof="0">
                <a:ln>
                  <a:noFill/>
                </a:ln>
                <a:solidFill>
                  <a:srgbClr val="000000"/>
                </a:solidFill>
                <a:effectLst/>
                <a:uLnTx/>
                <a:uFillTx/>
                <a:latin typeface="Segoe UI"/>
                <a:ea typeface="+mn-ea"/>
                <a:cs typeface="+mn-cs"/>
              </a:rPr>
              <a:t> Business hours are generally defined as 09:00 to 17:30 Local Standard Time, excluding holidays and weekends. Business hours may differ slightly in your country.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15" name="Group 14">
            <a:extLst>
              <a:ext uri="{FF2B5EF4-FFF2-40B4-BE49-F238E27FC236}">
                <a16:creationId xmlns:a16="http://schemas.microsoft.com/office/drawing/2014/main" id="{1E4B046C-E7D4-D42A-92DB-C813B7B1CD54}"/>
              </a:ext>
              <a:ext uri="{C183D7F6-B498-43B3-948B-1728B52AA6E4}">
                <adec:decorative xmlns:adec="http://schemas.microsoft.com/office/drawing/2017/decorative" val="1"/>
              </a:ext>
            </a:extLst>
          </p:cNvPr>
          <p:cNvGrpSpPr/>
          <p:nvPr/>
        </p:nvGrpSpPr>
        <p:grpSpPr>
          <a:xfrm>
            <a:off x="604056" y="1807063"/>
            <a:ext cx="1239838" cy="4015654"/>
            <a:chOff x="584200" y="1807063"/>
            <a:chExt cx="1239838" cy="4015654"/>
          </a:xfrm>
        </p:grpSpPr>
        <p:sp>
          <p:nvSpPr>
            <p:cNvPr id="8" name="Rectangle: Top Corners Rounded 7">
              <a:extLst>
                <a:ext uri="{FF2B5EF4-FFF2-40B4-BE49-F238E27FC236}">
                  <a16:creationId xmlns:a16="http://schemas.microsoft.com/office/drawing/2014/main" id="{4562CB45-8A23-EEB7-1118-D15F93D6ABBA}"/>
                </a:ext>
              </a:extLst>
            </p:cNvPr>
            <p:cNvSpPr>
              <a:spLocks/>
            </p:cNvSpPr>
            <p:nvPr/>
          </p:nvSpPr>
          <p:spPr bwMode="auto">
            <a:xfrm rot="16200000" flipH="1">
              <a:off x="-803708" y="3194971"/>
              <a:ext cx="4015654" cy="1239838"/>
            </a:xfrm>
            <a:prstGeom prst="round2SameRect">
              <a:avLst>
                <a:gd name="adj1" fmla="val 6379"/>
                <a:gd name="adj2" fmla="val 0"/>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ysClr val="windowText" lastClr="000000"/>
                </a:solidFill>
                <a:effectLst/>
                <a:uLnTx/>
                <a:uFillTx/>
                <a:latin typeface="Segoe UI"/>
                <a:ea typeface="+mn-ea"/>
                <a:cs typeface="Segoe UI" pitchFamily="34" charset="0"/>
              </a:endParaRPr>
            </a:p>
          </p:txBody>
        </p:sp>
        <p:cxnSp>
          <p:nvCxnSpPr>
            <p:cNvPr id="10" name="Straight Connector 9">
              <a:extLst>
                <a:ext uri="{FF2B5EF4-FFF2-40B4-BE49-F238E27FC236}">
                  <a16:creationId xmlns:a16="http://schemas.microsoft.com/office/drawing/2014/main" id="{C3A40045-A8E0-08DE-4422-316443961206}"/>
                </a:ext>
              </a:extLst>
            </p:cNvPr>
            <p:cNvCxnSpPr>
              <a:cxnSpLocks/>
            </p:cNvCxnSpPr>
            <p:nvPr/>
          </p:nvCxnSpPr>
          <p:spPr>
            <a:xfrm>
              <a:off x="584200" y="5157789"/>
              <a:ext cx="1239838"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88677844-4D12-F732-78AC-873BF062F203}"/>
              </a:ext>
              <a:ext uri="{C183D7F6-B498-43B3-948B-1728B52AA6E4}">
                <adec:decorative xmlns:adec="http://schemas.microsoft.com/office/drawing/2017/decorative" val="1"/>
              </a:ext>
            </a:extLst>
          </p:cNvPr>
          <p:cNvSpPr txBox="1"/>
          <p:nvPr/>
        </p:nvSpPr>
        <p:spPr>
          <a:xfrm>
            <a:off x="743876" y="3283880"/>
            <a:ext cx="960199" cy="36933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Foundational </a:t>
            </a:r>
            <a:br>
              <a:rPr kumimoji="0" lang="en-US" sz="1200" b="0" i="0" u="none" strike="noStrike" kern="1200" cap="none" spc="0" normalizeH="0" baseline="0" noProof="0">
                <a:ln>
                  <a:noFill/>
                </a:ln>
                <a:solidFill>
                  <a:srgbClr val="FFFFFF"/>
                </a:solidFill>
                <a:effectLst/>
                <a:uLnTx/>
                <a:uFillTx/>
                <a:latin typeface="Segoe UI Semibold"/>
                <a:ea typeface="+mn-ea"/>
                <a:cs typeface="+mn-cs"/>
              </a:rPr>
            </a:br>
            <a:r>
              <a:rPr kumimoji="0" lang="en-US" sz="1200" b="0" i="0" u="none" strike="noStrike" kern="1200" cap="none" spc="0" normalizeH="0" baseline="0" noProof="0">
                <a:ln>
                  <a:noFill/>
                </a:ln>
                <a:solidFill>
                  <a:srgbClr val="FFFFFF"/>
                </a:solidFill>
                <a:effectLst/>
                <a:uLnTx/>
                <a:uFillTx/>
                <a:latin typeface="Segoe UI Semibold"/>
                <a:ea typeface="+mn-ea"/>
                <a:cs typeface="+mn-cs"/>
              </a:rPr>
              <a:t>services</a:t>
            </a:r>
          </a:p>
        </p:txBody>
      </p:sp>
      <p:sp>
        <p:nvSpPr>
          <p:cNvPr id="20" name="TextBox 19">
            <a:extLst>
              <a:ext uri="{FF2B5EF4-FFF2-40B4-BE49-F238E27FC236}">
                <a16:creationId xmlns:a16="http://schemas.microsoft.com/office/drawing/2014/main" id="{4D801149-40CF-6A29-7F33-EA5C537071C2}"/>
              </a:ext>
              <a:ext uri="{C183D7F6-B498-43B3-948B-1728B52AA6E4}">
                <adec:decorative xmlns:adec="http://schemas.microsoft.com/office/drawing/2017/decorative" val="1"/>
              </a:ext>
            </a:extLst>
          </p:cNvPr>
          <p:cNvSpPr txBox="1"/>
          <p:nvPr/>
        </p:nvSpPr>
        <p:spPr>
          <a:xfrm>
            <a:off x="743876" y="5305587"/>
            <a:ext cx="960199" cy="36933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Specialized services</a:t>
            </a:r>
          </a:p>
        </p:txBody>
      </p:sp>
    </p:spTree>
    <p:extLst>
      <p:ext uri="{BB962C8B-B14F-4D97-AF65-F5344CB8AC3E}">
        <p14:creationId xmlns:p14="http://schemas.microsoft.com/office/powerpoint/2010/main" val="1703151792"/>
      </p:ext>
    </p:extLst>
  </p:cSld>
  <p:clrMapOvr>
    <a:masterClrMapping/>
  </p:clrMapOvr>
  <p:transition>
    <p:fade/>
  </p:transition>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0AA6331-1692-D6A8-22BE-8DFC1C1D4397}"/>
              </a:ext>
            </a:extLst>
          </p:cNvPr>
          <p:cNvSpPr/>
          <p:nvPr/>
        </p:nvSpPr>
        <p:spPr bwMode="auto">
          <a:xfrm rot="19800000">
            <a:off x="1076998" y="3013502"/>
            <a:ext cx="10038004" cy="83099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l" defTabSz="932472" fontAlgn="base">
              <a:spcBef>
                <a:spcPct val="0"/>
              </a:spcBef>
              <a:spcAft>
                <a:spcPct val="0"/>
              </a:spcAft>
            </a:pPr>
            <a:r>
              <a:rPr lang="en-US" sz="5400" spc="300">
                <a:solidFill>
                  <a:schemeClr val="bg1">
                    <a:lumMod val="75000"/>
                  </a:schemeClr>
                </a:solidFill>
                <a:ea typeface="Segoe UI" pitchFamily="34" charset="0"/>
                <a:cs typeface="Segoe UI" pitchFamily="34" charset="0"/>
              </a:rPr>
              <a:t>For Discussion Purposes Only</a:t>
            </a:r>
          </a:p>
        </p:txBody>
      </p:sp>
      <p:sp>
        <p:nvSpPr>
          <p:cNvPr id="3" name="Title 2">
            <a:extLst>
              <a:ext uri="{FF2B5EF4-FFF2-40B4-BE49-F238E27FC236}">
                <a16:creationId xmlns:a16="http://schemas.microsoft.com/office/drawing/2014/main" id="{9A5A03E7-7012-4384-A57A-5613CFDA6CFA}"/>
              </a:ext>
            </a:extLst>
          </p:cNvPr>
          <p:cNvSpPr>
            <a:spLocks noGrp="1"/>
          </p:cNvSpPr>
          <p:nvPr>
            <p:ph type="title" idx="4294967295"/>
          </p:nvPr>
        </p:nvSpPr>
        <p:spPr>
          <a:xfrm>
            <a:off x="571501" y="452439"/>
            <a:ext cx="11018520" cy="553998"/>
          </a:xfrm>
        </p:spPr>
        <p:txBody>
          <a:bodyPr/>
          <a:lstStyle/>
          <a:p>
            <a:r>
              <a:rPr lang="en-US" sz="3600">
                <a:solidFill>
                  <a:srgbClr val="002060"/>
                </a:solidFill>
                <a:latin typeface="+mj-lt"/>
              </a:rPr>
              <a:t>Summary of your Unified investment</a:t>
            </a:r>
          </a:p>
        </p:txBody>
      </p:sp>
      <p:graphicFrame>
        <p:nvGraphicFramePr>
          <p:cNvPr id="4" name="Table 3">
            <a:extLst>
              <a:ext uri="{FF2B5EF4-FFF2-40B4-BE49-F238E27FC236}">
                <a16:creationId xmlns:a16="http://schemas.microsoft.com/office/drawing/2014/main" id="{4AB32B5B-E35E-8D11-3B9B-1AE3789D7870}"/>
              </a:ext>
            </a:extLst>
          </p:cNvPr>
          <p:cNvGraphicFramePr>
            <a:graphicFrameLocks noGrp="1"/>
          </p:cNvGraphicFramePr>
          <p:nvPr>
            <p:extLst>
              <p:ext uri="{D42A27DB-BD31-4B8C-83A1-F6EECF244321}">
                <p14:modId xmlns:p14="http://schemas.microsoft.com/office/powerpoint/2010/main" val="3142344543"/>
              </p:ext>
            </p:extLst>
          </p:nvPr>
        </p:nvGraphicFramePr>
        <p:xfrm>
          <a:off x="601979" y="1417243"/>
          <a:ext cx="10719163" cy="4199787"/>
        </p:xfrm>
        <a:graphic>
          <a:graphicData uri="http://schemas.openxmlformats.org/drawingml/2006/table">
            <a:tbl>
              <a:tblPr/>
              <a:tblGrid>
                <a:gridCol w="3206474">
                  <a:extLst>
                    <a:ext uri="{9D8B030D-6E8A-4147-A177-3AD203B41FA5}">
                      <a16:colId xmlns:a16="http://schemas.microsoft.com/office/drawing/2014/main" val="4061335322"/>
                    </a:ext>
                  </a:extLst>
                </a:gridCol>
                <a:gridCol w="3577473">
                  <a:extLst>
                    <a:ext uri="{9D8B030D-6E8A-4147-A177-3AD203B41FA5}">
                      <a16:colId xmlns:a16="http://schemas.microsoft.com/office/drawing/2014/main" val="1949295049"/>
                    </a:ext>
                  </a:extLst>
                </a:gridCol>
                <a:gridCol w="1112990">
                  <a:extLst>
                    <a:ext uri="{9D8B030D-6E8A-4147-A177-3AD203B41FA5}">
                      <a16:colId xmlns:a16="http://schemas.microsoft.com/office/drawing/2014/main" val="889110456"/>
                    </a:ext>
                  </a:extLst>
                </a:gridCol>
                <a:gridCol w="940742">
                  <a:extLst>
                    <a:ext uri="{9D8B030D-6E8A-4147-A177-3AD203B41FA5}">
                      <a16:colId xmlns:a16="http://schemas.microsoft.com/office/drawing/2014/main" val="3733184542"/>
                    </a:ext>
                  </a:extLst>
                </a:gridCol>
                <a:gridCol w="940742">
                  <a:extLst>
                    <a:ext uri="{9D8B030D-6E8A-4147-A177-3AD203B41FA5}">
                      <a16:colId xmlns:a16="http://schemas.microsoft.com/office/drawing/2014/main" val="3709445113"/>
                    </a:ext>
                  </a:extLst>
                </a:gridCol>
                <a:gridCol w="940742">
                  <a:extLst>
                    <a:ext uri="{9D8B030D-6E8A-4147-A177-3AD203B41FA5}">
                      <a16:colId xmlns:a16="http://schemas.microsoft.com/office/drawing/2014/main" val="4229409741"/>
                    </a:ext>
                  </a:extLst>
                </a:gridCol>
              </a:tblGrid>
              <a:tr h="185094">
                <a:tc>
                  <a:txBody>
                    <a:bodyPr/>
                    <a:lstStyle/>
                    <a:p>
                      <a:pPr algn="l" rtl="0" fontAlgn="ctr">
                        <a:buNone/>
                      </a:pPr>
                      <a:r>
                        <a:rPr lang="en-GB" sz="1000" b="0" i="0" u="none" strike="noStrike">
                          <a:solidFill>
                            <a:srgbClr val="000000"/>
                          </a:solidFill>
                          <a:effectLst/>
                          <a:latin typeface="Arial" panose="020B0604020202020204" pitchFamily="34" charset="0"/>
                        </a:rPr>
                        <a:t> </a:t>
                      </a:r>
                    </a:p>
                  </a:txBody>
                  <a:tcPr marL="1578" marR="1578" marT="1578" marB="0" anchor="ctr">
                    <a:lnL>
                      <a:noFill/>
                    </a:lnL>
                    <a:lnR>
                      <a:noFill/>
                    </a:lnR>
                    <a:lnT>
                      <a:noFill/>
                    </a:lnT>
                    <a:lnB w="12700" cap="flat" cmpd="sng" algn="ctr">
                      <a:solidFill>
                        <a:srgbClr val="D9D9D9"/>
                      </a:solidFill>
                      <a:prstDash val="solid"/>
                      <a:round/>
                      <a:headEnd type="none" w="med" len="med"/>
                      <a:tailEnd type="none" w="med" len="med"/>
                    </a:lnB>
                    <a:noFill/>
                  </a:tcPr>
                </a:tc>
                <a:tc gridSpan="2">
                  <a:txBody>
                    <a:bodyPr/>
                    <a:lstStyle/>
                    <a:p>
                      <a:pPr algn="ctr" rtl="0" fontAlgn="ctr">
                        <a:buNone/>
                      </a:pPr>
                      <a:r>
                        <a:rPr lang="en-GB" sz="1000" b="0" i="0" u="none" strike="noStrike">
                          <a:solidFill>
                            <a:srgbClr val="FFFFFF"/>
                          </a:solidFill>
                          <a:effectLst/>
                          <a:latin typeface="Segoe UI Semibold" panose="020B0702040204020203" pitchFamily="34" charset="0"/>
                        </a:rPr>
                        <a:t>Your tailored Unified experience</a:t>
                      </a:r>
                    </a:p>
                  </a:txBody>
                  <a:tcPr marL="1578" marR="1578" marT="1578" marB="0" anchor="ctr">
                    <a:lnL>
                      <a:noFill/>
                    </a:lnL>
                    <a:lnR>
                      <a:noFill/>
                    </a:lnR>
                    <a:lnT>
                      <a:noFill/>
                    </a:lnT>
                    <a:lnB>
                      <a:noFill/>
                    </a:lnB>
                    <a:solidFill>
                      <a:srgbClr val="243A5E"/>
                    </a:solidFill>
                  </a:tcPr>
                </a:tc>
                <a:tc hMerge="1">
                  <a:txBody>
                    <a:bodyPr/>
                    <a:lstStyle/>
                    <a:p>
                      <a:endParaRPr lang="en-GB"/>
                    </a:p>
                  </a:txBody>
                  <a:tcPr/>
                </a:tc>
                <a:tc>
                  <a:txBody>
                    <a:bodyPr/>
                    <a:lstStyle/>
                    <a:p>
                      <a:pPr algn="ctr" rtl="0" fontAlgn="ctr">
                        <a:buNone/>
                      </a:pPr>
                      <a:r>
                        <a:rPr lang="en-GB" sz="1000" b="0" i="0" u="none" strike="noStrike">
                          <a:solidFill>
                            <a:srgbClr val="FFFFFF"/>
                          </a:solidFill>
                          <a:effectLst/>
                          <a:latin typeface="Segoe UI Semibold" panose="020B0702040204020203" pitchFamily="34" charset="0"/>
                        </a:rPr>
                        <a:t>YR1</a:t>
                      </a:r>
                    </a:p>
                  </a:txBody>
                  <a:tcPr marL="1578" marR="1578" marT="1578" marB="0" anchor="ctr">
                    <a:lnL>
                      <a:noFill/>
                    </a:lnL>
                    <a:lnR>
                      <a:noFill/>
                    </a:lnR>
                    <a:lnT>
                      <a:noFill/>
                    </a:lnT>
                    <a:lnB>
                      <a:noFill/>
                    </a:lnB>
                    <a:solidFill>
                      <a:srgbClr val="243A5E"/>
                    </a:solidFill>
                  </a:tcPr>
                </a:tc>
                <a:tc>
                  <a:txBody>
                    <a:bodyPr/>
                    <a:lstStyle/>
                    <a:p>
                      <a:pPr algn="ctr" rtl="0" fontAlgn="ctr">
                        <a:buNone/>
                      </a:pPr>
                      <a:r>
                        <a:rPr lang="en-GB" sz="1000" b="0" i="0" u="none" strike="noStrike">
                          <a:solidFill>
                            <a:srgbClr val="FFFFFF"/>
                          </a:solidFill>
                          <a:effectLst/>
                          <a:latin typeface="Segoe UI Semibold" panose="020B0702040204020203" pitchFamily="34" charset="0"/>
                        </a:rPr>
                        <a:t>YR2</a:t>
                      </a:r>
                    </a:p>
                  </a:txBody>
                  <a:tcPr marL="1578" marR="1578" marT="1578" marB="0" anchor="ctr">
                    <a:lnL>
                      <a:noFill/>
                    </a:lnL>
                    <a:lnR>
                      <a:noFill/>
                    </a:lnR>
                    <a:lnT>
                      <a:noFill/>
                    </a:lnT>
                    <a:lnB>
                      <a:noFill/>
                    </a:lnB>
                    <a:solidFill>
                      <a:srgbClr val="243A5E"/>
                    </a:solidFill>
                  </a:tcPr>
                </a:tc>
                <a:tc>
                  <a:txBody>
                    <a:bodyPr/>
                    <a:lstStyle/>
                    <a:p>
                      <a:pPr algn="ctr" rtl="0" fontAlgn="ctr">
                        <a:buNone/>
                      </a:pPr>
                      <a:r>
                        <a:rPr lang="en-GB" sz="1000" b="0" i="0" u="none" strike="noStrike">
                          <a:solidFill>
                            <a:srgbClr val="FFFFFF"/>
                          </a:solidFill>
                          <a:effectLst/>
                          <a:latin typeface="Segoe UI Semibold" panose="020B0702040204020203" pitchFamily="34" charset="0"/>
                        </a:rPr>
                        <a:t>YR3</a:t>
                      </a:r>
                    </a:p>
                  </a:txBody>
                  <a:tcPr marL="1578" marR="1578" marT="1578" marB="0" anchor="ctr">
                    <a:lnL>
                      <a:noFill/>
                    </a:lnL>
                    <a:lnR>
                      <a:noFill/>
                    </a:lnR>
                    <a:lnT>
                      <a:noFill/>
                    </a:lnT>
                    <a:lnB>
                      <a:noFill/>
                    </a:lnB>
                    <a:solidFill>
                      <a:srgbClr val="243A5E"/>
                    </a:solidFill>
                  </a:tcPr>
                </a:tc>
                <a:extLst>
                  <a:ext uri="{0D108BD9-81ED-4DB2-BD59-A6C34878D82A}">
                    <a16:rowId xmlns:a16="http://schemas.microsoft.com/office/drawing/2014/main" val="2432340946"/>
                  </a:ext>
                </a:extLst>
              </a:tr>
              <a:tr h="361429">
                <a:tc>
                  <a:txBody>
                    <a:bodyPr/>
                    <a:lstStyle/>
                    <a:p>
                      <a:pPr algn="r" rtl="0" fontAlgn="ctr">
                        <a:buNone/>
                      </a:pPr>
                      <a:r>
                        <a:rPr lang="en-GB" sz="1000" b="0" i="0" u="none" strike="noStrike">
                          <a:solidFill>
                            <a:srgbClr val="243A5E"/>
                          </a:solidFill>
                          <a:effectLst/>
                          <a:latin typeface="Segoe UI Semibold" panose="020B0702040204020203" pitchFamily="34" charset="0"/>
                        </a:rPr>
                        <a:t>Technical Support </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a:noFill/>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Critical Sev 1: 15-minutes for Azure*/1-hour for all other products</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a:noFill/>
                    </a:lnT>
                    <a:lnB>
                      <a:noFill/>
                    </a:lnB>
                    <a:noFill/>
                  </a:tcPr>
                </a:tc>
                <a:tc rowSpan="2">
                  <a:txBody>
                    <a:bodyPr/>
                    <a:lstStyle/>
                    <a:p>
                      <a:pPr algn="ctr" rtl="0" fontAlgn="ctr">
                        <a:buNone/>
                      </a:pPr>
                      <a:r>
                        <a:rPr lang="en-GB" sz="1000" b="0" i="0" u="none" strike="noStrike">
                          <a:solidFill>
                            <a:srgbClr val="000000"/>
                          </a:solidFill>
                          <a:effectLst/>
                          <a:latin typeface="Segoe UI" panose="020B0502040204020203" pitchFamily="34" charset="0"/>
                        </a:rPr>
                        <a:t>As-needed</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a:noFill/>
                    </a:lnT>
                    <a:lnB w="12700" cap="flat" cmpd="sng" algn="ctr">
                      <a:solidFill>
                        <a:srgbClr val="D9D9D9"/>
                      </a:solidFill>
                      <a:prstDash val="solid"/>
                      <a:round/>
                      <a:headEnd type="none" w="med" len="med"/>
                      <a:tailEnd type="none" w="med" len="med"/>
                    </a:lnB>
                    <a:noFill/>
                  </a:tcPr>
                </a:tc>
                <a:tc rowSpan="8">
                  <a:txBody>
                    <a:bodyPr/>
                    <a:lstStyle/>
                    <a:p>
                      <a:pPr algn="ctr" rtl="0" fontAlgn="ctr">
                        <a:buNone/>
                      </a:pPr>
                      <a:r>
                        <a:rPr lang="en-GB" sz="1000" b="0" i="0" u="none" strike="noStrike">
                          <a:solidFill>
                            <a:srgbClr val="000000"/>
                          </a:solidFill>
                          <a:effectLst/>
                          <a:latin typeface="Segoe UI" panose="020B0502040204020203" pitchFamily="34" charset="0"/>
                        </a:rPr>
                        <a:t>£200,599.57</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a:noFill/>
                    </a:lnT>
                    <a:lnB w="12700" cap="flat" cmpd="sng" algn="ctr">
                      <a:solidFill>
                        <a:srgbClr val="243A5E"/>
                      </a:solidFill>
                      <a:prstDash val="solid"/>
                      <a:round/>
                      <a:headEnd type="none" w="med" len="med"/>
                      <a:tailEnd type="none" w="med" len="med"/>
                    </a:lnB>
                    <a:noFill/>
                  </a:tcPr>
                </a:tc>
                <a:tc rowSpan="8">
                  <a:txBody>
                    <a:bodyPr/>
                    <a:lstStyle/>
                    <a:p>
                      <a:pPr algn="ctr" rtl="0" fontAlgn="ctr">
                        <a:buNone/>
                      </a:pPr>
                      <a:r>
                        <a:rPr lang="en-GB" sz="1000" b="0" i="0" u="none" strike="noStrike">
                          <a:solidFill>
                            <a:srgbClr val="000000"/>
                          </a:solidFill>
                          <a:effectLst/>
                          <a:latin typeface="Segoe UI" panose="020B0502040204020203" pitchFamily="34" charset="0"/>
                        </a:rPr>
                        <a:t>£155,819.00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a:noFill/>
                    </a:lnT>
                    <a:lnB w="12700" cap="flat" cmpd="sng" algn="ctr">
                      <a:solidFill>
                        <a:srgbClr val="243A5E"/>
                      </a:solidFill>
                      <a:prstDash val="solid"/>
                      <a:round/>
                      <a:headEnd type="none" w="med" len="med"/>
                      <a:tailEnd type="none" w="med" len="med"/>
                    </a:lnB>
                    <a:noFill/>
                  </a:tcPr>
                </a:tc>
                <a:tc rowSpan="8">
                  <a:txBody>
                    <a:bodyPr/>
                    <a:lstStyle/>
                    <a:p>
                      <a:pPr algn="ctr" rtl="0" fontAlgn="ctr">
                        <a:buNone/>
                      </a:pPr>
                      <a:r>
                        <a:rPr lang="en-GB" sz="1000" b="0" i="0" u="none" strike="noStrike">
                          <a:solidFill>
                            <a:srgbClr val="000000"/>
                          </a:solidFill>
                          <a:effectLst/>
                          <a:latin typeface="Segoe UI" panose="020B0502040204020203" pitchFamily="34" charset="0"/>
                        </a:rPr>
                        <a:t>£208,295.00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a:noFill/>
                    </a:lnT>
                    <a:lnB w="12700" cap="flat" cmpd="sng" algn="ctr">
                      <a:solidFill>
                        <a:srgbClr val="243A5E"/>
                      </a:solidFill>
                      <a:prstDash val="solid"/>
                      <a:round/>
                      <a:headEnd type="none" w="med" len="med"/>
                      <a:tailEnd type="none" w="med" len="med"/>
                    </a:lnB>
                    <a:noFill/>
                  </a:tcPr>
                </a:tc>
                <a:extLst>
                  <a:ext uri="{0D108BD9-81ED-4DB2-BD59-A6C34878D82A}">
                    <a16:rowId xmlns:a16="http://schemas.microsoft.com/office/drawing/2014/main" val="3516782611"/>
                  </a:ext>
                </a:extLst>
              </a:tr>
              <a:tr h="365809">
                <a:tc>
                  <a:txBody>
                    <a:bodyPr/>
                    <a:lstStyle/>
                    <a:p>
                      <a:pPr algn="r" rtl="0" fontAlgn="ctr">
                        <a:buNone/>
                      </a:pPr>
                      <a:r>
                        <a:rPr lang="en-GB" sz="1000" b="0" i="0" u="none" strike="noStrike">
                          <a:solidFill>
                            <a:srgbClr val="243A5E"/>
                          </a:solidFill>
                          <a:effectLst/>
                          <a:latin typeface="Segoe UI" panose="020B0502040204020203" pitchFamily="34" charset="0"/>
                        </a:rPr>
                        <a:t>(Organization-wide 24/7 problem resolution support)</a:t>
                      </a:r>
                    </a:p>
                  </a:txBody>
                  <a:tcPr marL="1578" marR="1578" marT="1578" marB="0" anchor="ctr">
                    <a:lnL>
                      <a:noFill/>
                    </a:lnL>
                    <a:lnR w="12700" cap="flat" cmpd="sng" algn="ctr">
                      <a:solidFill>
                        <a:srgbClr val="D9D9D9"/>
                      </a:solidFill>
                      <a:prstDash val="solid"/>
                      <a:round/>
                      <a:headEnd type="none" w="med" len="med"/>
                      <a:tailEnd type="none" w="med" len="med"/>
                    </a:lnR>
                    <a:lnT>
                      <a:noFill/>
                    </a:lnT>
                    <a:lnB w="12700" cap="flat" cmpd="sng" algn="ctr">
                      <a:solidFill>
                        <a:srgbClr val="D9D9D9"/>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1-hour Sev A/2-hour Sev B/4-hour Sev C</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a:noFill/>
                    </a:lnT>
                    <a:lnB w="12700" cap="flat" cmpd="sng" algn="ctr">
                      <a:solidFill>
                        <a:srgbClr val="D9D9D9"/>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78829014"/>
                  </a:ext>
                </a:extLst>
              </a:tr>
              <a:tr h="365809">
                <a:tc>
                  <a:txBody>
                    <a:bodyPr/>
                    <a:lstStyle/>
                    <a:p>
                      <a:pPr algn="r" rtl="0" fontAlgn="ctr">
                        <a:buNone/>
                      </a:pPr>
                      <a:r>
                        <a:rPr lang="en-GB" sz="1000" b="0" i="0" u="none" strike="noStrike">
                          <a:solidFill>
                            <a:srgbClr val="243A5E"/>
                          </a:solidFill>
                          <a:effectLst/>
                          <a:latin typeface="Segoe UI Semibold" panose="020B0702040204020203" pitchFamily="34" charset="0"/>
                        </a:rPr>
                        <a:t>Escalation Management</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For Critical business impact issues, resource assigned </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Included</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851566696"/>
                  </a:ext>
                </a:extLst>
              </a:tr>
              <a:tr h="365809">
                <a:tc>
                  <a:txBody>
                    <a:bodyPr/>
                    <a:lstStyle/>
                    <a:p>
                      <a:pPr algn="r" rtl="0" fontAlgn="ctr">
                        <a:buNone/>
                      </a:pPr>
                      <a:r>
                        <a:rPr lang="en-GB" sz="1000" b="0" i="0" u="none" strike="noStrike">
                          <a:solidFill>
                            <a:srgbClr val="243A5E"/>
                          </a:solidFill>
                          <a:effectLst/>
                          <a:latin typeface="Segoe UI Semibold" panose="020B0702040204020203" pitchFamily="34" charset="0"/>
                        </a:rPr>
                        <a:t>IT Health</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On-demand assessments and setup and configuration service</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As-needed</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731629161"/>
                  </a:ext>
                </a:extLst>
              </a:tr>
              <a:tr h="365809">
                <a:tc>
                  <a:txBody>
                    <a:bodyPr/>
                    <a:lstStyle/>
                    <a:p>
                      <a:pPr algn="r" rtl="0" fontAlgn="ctr">
                        <a:buNone/>
                      </a:pPr>
                      <a:r>
                        <a:rPr lang="en-GB" sz="1000" b="0" i="0" u="none" strike="noStrike">
                          <a:solidFill>
                            <a:srgbClr val="243A5E"/>
                          </a:solidFill>
                          <a:effectLst/>
                          <a:latin typeface="Segoe UI Semibold" panose="020B0702040204020203" pitchFamily="34" charset="0"/>
                        </a:rPr>
                        <a:t>Case Management/Tooling</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Services Hub portal for support management and recommendations</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As-needed</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56242547"/>
                  </a:ext>
                </a:extLst>
              </a:tr>
              <a:tr h="365809">
                <a:tc>
                  <a:txBody>
                    <a:bodyPr/>
                    <a:lstStyle/>
                    <a:p>
                      <a:pPr algn="r" rtl="0" fontAlgn="ctr">
                        <a:buNone/>
                      </a:pPr>
                      <a:r>
                        <a:rPr lang="en-GB" sz="1000" b="0" i="0" u="none" strike="noStrike">
                          <a:solidFill>
                            <a:srgbClr val="243A5E"/>
                          </a:solidFill>
                          <a:effectLst/>
                          <a:latin typeface="Segoe UI Semibold" panose="020B0702040204020203" pitchFamily="34" charset="0"/>
                        </a:rPr>
                        <a:t>Account Management</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Success Management Services orchestrated by a Customer Success Account Manager</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Included</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32150202"/>
                  </a:ext>
                </a:extLst>
              </a:tr>
              <a:tr h="185094">
                <a:tc>
                  <a:txBody>
                    <a:bodyPr/>
                    <a:lstStyle/>
                    <a:p>
                      <a:pPr algn="r" rtl="0" fontAlgn="ctr">
                        <a:buNone/>
                      </a:pPr>
                      <a:r>
                        <a:rPr lang="en-GB" sz="1000" b="1" i="0" u="none" strike="noStrike">
                          <a:solidFill>
                            <a:srgbClr val="243A5E"/>
                          </a:solidFill>
                          <a:effectLst/>
                          <a:latin typeface="Segoe UI Semibold" panose="020B0702040204020203" pitchFamily="34" charset="0"/>
                        </a:rPr>
                        <a:t>Advisory Support</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As-needed Advisory Phone Support</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Included</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684944445"/>
                  </a:ext>
                </a:extLst>
              </a:tr>
              <a:tr h="185094">
                <a:tc>
                  <a:txBody>
                    <a:bodyPr/>
                    <a:lstStyle/>
                    <a:p>
                      <a:pPr algn="r" rtl="0" fontAlgn="ctr">
                        <a:buNone/>
                      </a:pPr>
                      <a:r>
                        <a:rPr lang="en-GB" sz="1000" b="0" i="0" u="none" strike="noStrike">
                          <a:solidFill>
                            <a:srgbClr val="243A5E"/>
                          </a:solidFill>
                          <a:effectLst/>
                          <a:latin typeface="Segoe UI Semibold" panose="020B0702040204020203" pitchFamily="34" charset="0"/>
                        </a:rPr>
                        <a:t>Technical Training</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a:t>
                      </a:r>
                      <a:r>
                        <a:rPr lang="en-GB" sz="1000" b="0" i="0" u="none" strike="noStrike">
                          <a:solidFill>
                            <a:srgbClr val="000000"/>
                          </a:solidFill>
                          <a:effectLst/>
                          <a:latin typeface="Segoe UI" panose="020B0502040204020203" pitchFamily="34" charset="0"/>
                        </a:rPr>
                        <a:t>Access to on-demand videos and learning paths</a:t>
                      </a:r>
                      <a:endParaRPr lang="en-GB" sz="1000" b="0" i="0" u="none" strike="noStrike">
                        <a:solidFill>
                          <a:srgbClr val="000000"/>
                        </a:solidFill>
                        <a:effectLst/>
                        <a:latin typeface="Arial" panose="020B0604020202020204" pitchFamily="34" charset="0"/>
                      </a:endParaRP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Included</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251145600"/>
                  </a:ext>
                </a:extLst>
              </a:tr>
              <a:tr h="185094">
                <a:tc gridSpan="2">
                  <a:txBody>
                    <a:bodyPr/>
                    <a:lstStyle/>
                    <a:p>
                      <a:pPr algn="ctr" rtl="0" fontAlgn="ctr">
                        <a:buNone/>
                      </a:pPr>
                      <a:r>
                        <a:rPr lang="en-GB" sz="1000" b="0" i="0" u="none" strike="noStrike">
                          <a:solidFill>
                            <a:srgbClr val="000000"/>
                          </a:solidFill>
                          <a:effectLst/>
                          <a:latin typeface="Segoe UI Semibold" panose="020B0702040204020203" pitchFamily="34" charset="0"/>
                        </a:rPr>
                        <a:t>Flex Allowance</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hMerge="1">
                  <a:txBody>
                    <a:bodyPr/>
                    <a:lstStyle/>
                    <a:p>
                      <a:endParaRPr lang="en-GB"/>
                    </a:p>
                  </a:txBody>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-£40,119.91</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-£37,118.00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-£41,659.00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extLst>
                  <a:ext uri="{0D108BD9-81ED-4DB2-BD59-A6C34878D82A}">
                    <a16:rowId xmlns:a16="http://schemas.microsoft.com/office/drawing/2014/main" val="1452786065"/>
                  </a:ext>
                </a:extLst>
              </a:tr>
              <a:tr h="365809">
                <a:tc>
                  <a:txBody>
                    <a:bodyPr/>
                    <a:lstStyle/>
                    <a:p>
                      <a:pPr algn="ctr" rtl="0" fontAlgn="ctr">
                        <a:buNone/>
                      </a:pPr>
                      <a:r>
                        <a:rPr lang="en-GB" sz="1000" b="0" i="0" u="none" strike="noStrike">
                          <a:solidFill>
                            <a:srgbClr val="243A5E"/>
                          </a:solidFill>
                          <a:effectLst/>
                          <a:latin typeface="Segoe UI Semibold" panose="020B0702040204020203" pitchFamily="34" charset="0"/>
                        </a:rPr>
                        <a:t>Proactive Services and Enhanced Solutions</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Enhanced Designated Engineering | Azure Platform - 200 HRS</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Funded by Flex Allowance</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£73,500.80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£75,706.40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£77,977.60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4288653036"/>
                  </a:ext>
                </a:extLst>
              </a:tr>
              <a:tr h="185094">
                <a:tc>
                  <a:txBody>
                    <a:bodyPr/>
                    <a:lstStyle/>
                    <a:p>
                      <a:pPr algn="r" rtl="0" fontAlgn="ctr">
                        <a:buNone/>
                      </a:pPr>
                      <a:r>
                        <a:rPr lang="en-GB" sz="1000" b="0" i="0" u="none" strike="noStrike">
                          <a:solidFill>
                            <a:srgbClr val="243A5E"/>
                          </a:solidFill>
                          <a:effectLst/>
                          <a:latin typeface="Segoe UI Semibold" panose="020B0702040204020203" pitchFamily="34" charset="0"/>
                        </a:rPr>
                        <a:t>MS Discount</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 </a:t>
                      </a:r>
                    </a:p>
                  </a:txBody>
                  <a:tcPr marL="23673"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-£81,219.26</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solidFill>
                      <a:srgbClr val="F2F2F2"/>
                    </a:solid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-£28,011.37</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solidFill>
                      <a:srgbClr val="F2F2F2"/>
                    </a:solid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-£23,393.28</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solidFill>
                      <a:srgbClr val="F2F2F2"/>
                    </a:solidFill>
                  </a:tcPr>
                </a:tc>
                <a:extLst>
                  <a:ext uri="{0D108BD9-81ED-4DB2-BD59-A6C34878D82A}">
                    <a16:rowId xmlns:a16="http://schemas.microsoft.com/office/drawing/2014/main" val="4179817970"/>
                  </a:ext>
                </a:extLst>
              </a:tr>
              <a:tr h="185094">
                <a:tc gridSpan="2">
                  <a:txBody>
                    <a:bodyPr/>
                    <a:lstStyle/>
                    <a:p>
                      <a:pPr algn="r" rtl="0" fontAlgn="ctr">
                        <a:buNone/>
                      </a:pPr>
                      <a:r>
                        <a:rPr lang="en-GB" sz="1000" b="0" i="0" u="none" strike="noStrike">
                          <a:solidFill>
                            <a:srgbClr val="000000"/>
                          </a:solidFill>
                          <a:effectLst/>
                          <a:latin typeface="Segoe UI Semibold" panose="020B0702040204020203" pitchFamily="34" charset="0"/>
                        </a:rPr>
                        <a:t>TOTAL COST</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hMerge="1">
                  <a:txBody>
                    <a:bodyPr/>
                    <a:lstStyle/>
                    <a:p>
                      <a:endParaRPr lang="en-GB"/>
                    </a:p>
                  </a:txBody>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£152,761.20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£166,396.03</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£221,220.32</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extLst>
                  <a:ext uri="{0D108BD9-81ED-4DB2-BD59-A6C34878D82A}">
                    <a16:rowId xmlns:a16="http://schemas.microsoft.com/office/drawing/2014/main" val="3560202933"/>
                  </a:ext>
                </a:extLst>
              </a:tr>
              <a:tr h="162752">
                <a:tc>
                  <a:txBody>
                    <a:bodyPr/>
                    <a:lstStyle/>
                    <a:p>
                      <a:pPr algn="l" fontAlgn="b">
                        <a:buNone/>
                      </a:pPr>
                      <a:endParaRPr lang="en-GB" sz="1000" b="0" i="0" u="none" strike="noStrike">
                        <a:solidFill>
                          <a:srgbClr val="000000"/>
                        </a:solidFill>
                        <a:effectLst/>
                        <a:latin typeface="Aptos Narrow" panose="020B0004020202020204" pitchFamily="34" charset="0"/>
                      </a:endParaRPr>
                    </a:p>
                  </a:txBody>
                  <a:tcPr marL="1578" marR="1578" marT="1578" marB="0" anchor="b">
                    <a:lnL>
                      <a:noFill/>
                    </a:lnL>
                    <a:lnR>
                      <a:noFill/>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l" fontAlgn="b">
                        <a:buNone/>
                      </a:pPr>
                      <a:endParaRPr lang="en-GB" sz="1000" b="0" i="0" u="none" strike="noStrike">
                        <a:solidFill>
                          <a:srgbClr val="000000"/>
                        </a:solidFill>
                        <a:effectLst/>
                        <a:latin typeface="Aptos Narrow" panose="020B0004020202020204" pitchFamily="34" charset="0"/>
                      </a:endParaRPr>
                    </a:p>
                  </a:txBody>
                  <a:tcPr marL="1578" marR="1578" marT="1578" marB="0" anchor="b">
                    <a:lnL>
                      <a:noFill/>
                    </a:lnL>
                    <a:lnR>
                      <a:noFill/>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l" fontAlgn="b">
                        <a:buNone/>
                      </a:pPr>
                      <a:endParaRPr lang="en-GB" sz="1000" b="0" i="0" u="none" strike="noStrike">
                        <a:solidFill>
                          <a:srgbClr val="000000"/>
                        </a:solidFill>
                        <a:effectLst/>
                        <a:latin typeface="Aptos Narrow" panose="020B0004020202020204" pitchFamily="34" charset="0"/>
                      </a:endParaRPr>
                    </a:p>
                  </a:txBody>
                  <a:tcPr marL="1578" marR="1578" marT="1578" marB="0" anchor="b">
                    <a:lnL>
                      <a:noFill/>
                    </a:lnL>
                    <a:lnR>
                      <a:noFill/>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l" fontAlgn="b">
                        <a:buNone/>
                      </a:pPr>
                      <a:endParaRPr lang="en-GB" sz="1000" b="0" i="0" u="none" strike="noStrike">
                        <a:solidFill>
                          <a:srgbClr val="000000"/>
                        </a:solidFill>
                        <a:effectLst/>
                        <a:latin typeface="Aptos Narrow" panose="020B0004020202020204" pitchFamily="34" charset="0"/>
                      </a:endParaRPr>
                    </a:p>
                  </a:txBody>
                  <a:tcPr marL="1578" marR="1578" marT="1578" marB="0" anchor="b">
                    <a:lnL>
                      <a:noFill/>
                    </a:lnL>
                    <a:lnR>
                      <a:noFill/>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l" fontAlgn="b">
                        <a:buNone/>
                      </a:pPr>
                      <a:endParaRPr lang="en-GB" sz="1000" b="0" i="0" u="none" strike="noStrike">
                        <a:solidFill>
                          <a:srgbClr val="000000"/>
                        </a:solidFill>
                        <a:effectLst/>
                        <a:latin typeface="Aptos Narrow" panose="020B0004020202020204" pitchFamily="34" charset="0"/>
                      </a:endParaRPr>
                    </a:p>
                  </a:txBody>
                  <a:tcPr marL="1578" marR="1578" marT="1578" marB="0" anchor="b">
                    <a:lnL>
                      <a:noFill/>
                    </a:lnL>
                    <a:lnR>
                      <a:noFill/>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tc>
                  <a:txBody>
                    <a:bodyPr/>
                    <a:lstStyle/>
                    <a:p>
                      <a:pPr algn="l" fontAlgn="b">
                        <a:buNone/>
                      </a:pPr>
                      <a:endParaRPr lang="en-GB" sz="1000" b="0" i="0" u="none" strike="noStrike">
                        <a:solidFill>
                          <a:srgbClr val="000000"/>
                        </a:solidFill>
                        <a:effectLst/>
                        <a:latin typeface="Aptos Narrow" panose="020B0004020202020204" pitchFamily="34" charset="0"/>
                      </a:endParaRPr>
                    </a:p>
                  </a:txBody>
                  <a:tcPr marL="1578" marR="1578" marT="1578" marB="0" anchor="b">
                    <a:lnL>
                      <a:noFill/>
                    </a:lnL>
                    <a:lnR>
                      <a:noFill/>
                    </a:lnR>
                    <a:lnT w="12700" cap="flat" cmpd="sng" algn="ctr">
                      <a:solidFill>
                        <a:srgbClr val="D9D9D9"/>
                      </a:solidFill>
                      <a:prstDash val="solid"/>
                      <a:round/>
                      <a:headEnd type="none" w="med" len="med"/>
                      <a:tailEnd type="none" w="med" len="med"/>
                    </a:lnT>
                    <a:lnB w="12700" cap="flat" cmpd="sng" algn="ctr">
                      <a:solidFill>
                        <a:srgbClr val="243A5E"/>
                      </a:solidFill>
                      <a:prstDash val="solid"/>
                      <a:round/>
                      <a:headEnd type="none" w="med" len="med"/>
                      <a:tailEnd type="none" w="med" len="med"/>
                    </a:lnB>
                    <a:noFill/>
                  </a:tcPr>
                </a:tc>
                <a:extLst>
                  <a:ext uri="{0D108BD9-81ED-4DB2-BD59-A6C34878D82A}">
                    <a16:rowId xmlns:a16="http://schemas.microsoft.com/office/drawing/2014/main" val="1850667102"/>
                  </a:ext>
                </a:extLst>
              </a:tr>
              <a:tr h="185094">
                <a:tc>
                  <a:txBody>
                    <a:bodyPr/>
                    <a:lstStyle/>
                    <a:p>
                      <a:pPr algn="l" rtl="0" fontAlgn="ctr">
                        <a:buNone/>
                      </a:pPr>
                      <a:r>
                        <a:rPr lang="en-GB" sz="1000" b="0" i="0" u="none" strike="noStrike">
                          <a:solidFill>
                            <a:srgbClr val="000000"/>
                          </a:solidFill>
                          <a:effectLst/>
                          <a:latin typeface="Segoe UI Semibold" panose="020B0702040204020203" pitchFamily="34" charset="0"/>
                        </a:rPr>
                        <a:t>Optional Enhanced Offering</a:t>
                      </a:r>
                    </a:p>
                  </a:txBody>
                  <a:tcPr marL="1578" marR="1578" marT="1578" marB="0" anchor="ctr">
                    <a:lnL>
                      <a:noFill/>
                    </a:lnL>
                    <a:lnR>
                      <a:noFill/>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l" rtl="0" fontAlgn="ctr">
                        <a:buNone/>
                      </a:pPr>
                      <a:r>
                        <a:rPr lang="en-GB" sz="1000" b="0" i="0" u="none" strike="noStrike">
                          <a:solidFill>
                            <a:srgbClr val="000000"/>
                          </a:solidFill>
                          <a:effectLst/>
                          <a:latin typeface="Segoe UI Semibold" panose="020B0702040204020203" pitchFamily="34" charset="0"/>
                        </a:rPr>
                        <a:t> </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tc>
                  <a:txBody>
                    <a:bodyPr/>
                    <a:lstStyle/>
                    <a:p>
                      <a:pPr algn="ctr" rtl="0" fontAlgn="ctr">
                        <a:buNone/>
                      </a:pPr>
                      <a:r>
                        <a:rPr lang="en-GB" sz="1000" b="0" i="0" u="none" strike="noStrike">
                          <a:solidFill>
                            <a:srgbClr val="000000"/>
                          </a:solidFill>
                          <a:effectLst/>
                          <a:latin typeface="Segoe UI Semibold" panose="020B07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43A5E"/>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8D5EA"/>
                    </a:solidFill>
                  </a:tcPr>
                </a:tc>
                <a:extLst>
                  <a:ext uri="{0D108BD9-81ED-4DB2-BD59-A6C34878D82A}">
                    <a16:rowId xmlns:a16="http://schemas.microsoft.com/office/drawing/2014/main" val="1633464312"/>
                  </a:ext>
                </a:extLst>
              </a:tr>
              <a:tr h="185094">
                <a:tc>
                  <a:txBody>
                    <a:bodyPr/>
                    <a:lstStyle/>
                    <a:p>
                      <a:pPr algn="ctr" rtl="0" fontAlgn="ctr">
                        <a:buNone/>
                      </a:pPr>
                      <a:r>
                        <a:rPr lang="en-GB" sz="1000" b="0" i="0" u="none" strike="noStrike">
                          <a:solidFill>
                            <a:srgbClr val="243A5E"/>
                          </a:solidFill>
                          <a:effectLst/>
                          <a:latin typeface="Segoe UI Semibold" panose="020B0702040204020203" pitchFamily="34" charset="0"/>
                        </a:rPr>
                        <a:t>Mission Critical</a:t>
                      </a:r>
                    </a:p>
                  </a:txBody>
                  <a:tcPr marL="1578" marR="1578" marT="1578" marB="0" anchor="ctr">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a:noFill/>
                    </a:lnB>
                    <a:solidFill>
                      <a:srgbClr val="F2F2F2"/>
                    </a:solidFill>
                  </a:tcPr>
                </a:tc>
                <a:tc>
                  <a:txBody>
                    <a:bodyPr/>
                    <a:lstStyle/>
                    <a:p>
                      <a:pPr algn="l" rtl="0" fontAlgn="ctr">
                        <a:buNone/>
                      </a:pPr>
                      <a:r>
                        <a:rPr lang="en-GB" sz="1000" b="0" i="0" u="none" strike="noStrike">
                          <a:solidFill>
                            <a:srgbClr val="000000"/>
                          </a:solidFill>
                          <a:effectLst/>
                          <a:latin typeface="Arial" panose="020B0604020202020204" pitchFamily="34" charset="0"/>
                        </a:rPr>
                        <a:t>Mission Critical Azure Platform</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noFill/>
                  </a:tcPr>
                </a:tc>
                <a:tc>
                  <a:txBody>
                    <a:bodyPr/>
                    <a:lstStyle/>
                    <a:p>
                      <a:pPr algn="ctr" rtl="0" fontAlgn="ctr">
                        <a:buNone/>
                      </a:pPr>
                      <a:r>
                        <a:rPr lang="en-GB" sz="1000" b="0" i="0" u="none" strike="noStrike">
                          <a:solidFill>
                            <a:srgbClr val="000000"/>
                          </a:solidFill>
                          <a:effectLst/>
                          <a:latin typeface="Segoe UI" panose="020B0502040204020203" pitchFamily="34" charset="0"/>
                        </a:rPr>
                        <a:t> </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a:noFill/>
                    </a:lnB>
                    <a:no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£259,827.00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£260,539.00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rtl="0" fontAlgn="ctr">
                        <a:buNone/>
                      </a:pPr>
                      <a:r>
                        <a:rPr lang="en-GB" sz="1000" b="0" i="0" u="none" strike="noStrike">
                          <a:solidFill>
                            <a:srgbClr val="243A5E"/>
                          </a:solidFill>
                          <a:effectLst/>
                          <a:latin typeface="Segoe UI Semibold" panose="020B0702040204020203" pitchFamily="34" charset="0"/>
                        </a:rPr>
                        <a:t>£259,827.00</a:t>
                      </a:r>
                    </a:p>
                  </a:txBody>
                  <a:tcPr marL="1578" marR="1578" marT="1578"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404890259"/>
                  </a:ext>
                </a:extLst>
              </a:tr>
            </a:tbl>
          </a:graphicData>
        </a:graphic>
      </p:graphicFrame>
    </p:spTree>
    <p:extLst>
      <p:ext uri="{BB962C8B-B14F-4D97-AF65-F5344CB8AC3E}">
        <p14:creationId xmlns:p14="http://schemas.microsoft.com/office/powerpoint/2010/main" val="45150326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1CB0-DAE6-CB2B-0AE2-4BCB2009D7B2}"/>
            </a:ext>
          </a:extLst>
        </p:cNvPr>
        <p:cNvGrpSpPr/>
        <p:nvPr/>
      </p:nvGrpSpPr>
      <p:grpSpPr>
        <a:xfrm>
          <a:off x="0" y="0"/>
          <a:ext cx="0" cy="0"/>
          <a:chOff x="0" y="0"/>
          <a:chExt cx="0" cy="0"/>
        </a:xfrm>
      </p:grpSpPr>
      <p:grpSp>
        <p:nvGrpSpPr>
          <p:cNvPr id="70" name="Group 69">
            <a:extLst>
              <a:ext uri="{FF2B5EF4-FFF2-40B4-BE49-F238E27FC236}">
                <a16:creationId xmlns:a16="http://schemas.microsoft.com/office/drawing/2014/main" id="{613BE9E0-0FD4-C770-8750-81DD4F52D369}"/>
              </a:ext>
              <a:ext uri="{C183D7F6-B498-43B3-948B-1728B52AA6E4}">
                <adec:decorative xmlns:adec="http://schemas.microsoft.com/office/drawing/2017/decorative" val="1"/>
              </a:ext>
            </a:extLst>
          </p:cNvPr>
          <p:cNvGrpSpPr/>
          <p:nvPr/>
        </p:nvGrpSpPr>
        <p:grpSpPr>
          <a:xfrm>
            <a:off x="0" y="413277"/>
            <a:ext cx="12192004" cy="5631924"/>
            <a:chOff x="0" y="413277"/>
            <a:chExt cx="12192004" cy="5631924"/>
          </a:xfrm>
        </p:grpSpPr>
        <p:sp>
          <p:nvSpPr>
            <p:cNvPr id="27" name="Rectangle: Top Corners Rounded 26">
              <a:extLst>
                <a:ext uri="{FF2B5EF4-FFF2-40B4-BE49-F238E27FC236}">
                  <a16:creationId xmlns:a16="http://schemas.microsoft.com/office/drawing/2014/main" id="{A37A3EF8-4027-35C6-C171-C9DA3DD56822}"/>
                </a:ext>
              </a:extLst>
            </p:cNvPr>
            <p:cNvSpPr/>
            <p:nvPr/>
          </p:nvSpPr>
          <p:spPr bwMode="auto">
            <a:xfrm flipV="1">
              <a:off x="4529787" y="2400290"/>
              <a:ext cx="2284382" cy="3644905"/>
            </a:xfrm>
            <a:prstGeom prst="round2SameRect">
              <a:avLst>
                <a:gd name="adj1" fmla="val 5400"/>
                <a:gd name="adj2" fmla="val 0"/>
              </a:avLst>
            </a:prstGeom>
            <a:solidFill>
              <a:schemeClr val="accent1">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763E1CC0-29D5-40D7-6D43-9D251307BD4B}"/>
                </a:ext>
              </a:extLst>
            </p:cNvPr>
            <p:cNvSpPr/>
            <p:nvPr/>
          </p:nvSpPr>
          <p:spPr bwMode="auto">
            <a:xfrm flipV="1">
              <a:off x="6937056" y="2400290"/>
              <a:ext cx="2284382" cy="3644905"/>
            </a:xfrm>
            <a:prstGeom prst="round2SameRect">
              <a:avLst>
                <a:gd name="adj1" fmla="val 5400"/>
                <a:gd name="adj2" fmla="val 0"/>
              </a:avLst>
            </a:prstGeom>
            <a:solidFill>
              <a:schemeClr val="accent1">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9" name="Rectangle: Top Corners Rounded 28">
              <a:extLst>
                <a:ext uri="{FF2B5EF4-FFF2-40B4-BE49-F238E27FC236}">
                  <a16:creationId xmlns:a16="http://schemas.microsoft.com/office/drawing/2014/main" id="{B303A370-53DA-9A49-907A-9F2CE1D43A90}"/>
                </a:ext>
              </a:extLst>
            </p:cNvPr>
            <p:cNvSpPr/>
            <p:nvPr/>
          </p:nvSpPr>
          <p:spPr bwMode="auto">
            <a:xfrm flipV="1">
              <a:off x="9344326" y="2400290"/>
              <a:ext cx="2284382" cy="3644905"/>
            </a:xfrm>
            <a:prstGeom prst="round2SameRect">
              <a:avLst>
                <a:gd name="adj1" fmla="val 5400"/>
                <a:gd name="adj2" fmla="val 0"/>
              </a:avLst>
            </a:prstGeom>
            <a:solidFill>
              <a:schemeClr val="accent1">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Rectangle 50">
              <a:extLst>
                <a:ext uri="{FF2B5EF4-FFF2-40B4-BE49-F238E27FC236}">
                  <a16:creationId xmlns:a16="http://schemas.microsoft.com/office/drawing/2014/main" id="{130298E3-BA4A-9D0D-AEB2-E98816EAF353}"/>
                </a:ext>
              </a:extLst>
            </p:cNvPr>
            <p:cNvSpPr/>
            <p:nvPr/>
          </p:nvSpPr>
          <p:spPr bwMode="auto">
            <a:xfrm>
              <a:off x="4529787" y="2552483"/>
              <a:ext cx="2284381" cy="1803617"/>
            </a:xfrm>
            <a:prstGeom prst="rect">
              <a:avLst/>
            </a:prstGeom>
            <a:solidFill>
              <a:srgbClr val="E1F2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2" name="Rectangle 51">
              <a:extLst>
                <a:ext uri="{FF2B5EF4-FFF2-40B4-BE49-F238E27FC236}">
                  <a16:creationId xmlns:a16="http://schemas.microsoft.com/office/drawing/2014/main" id="{C8FEDA91-91B1-F9D9-A15C-89FB51825CFD}"/>
                </a:ext>
              </a:extLst>
            </p:cNvPr>
            <p:cNvSpPr/>
            <p:nvPr/>
          </p:nvSpPr>
          <p:spPr bwMode="auto">
            <a:xfrm>
              <a:off x="6937057" y="2552483"/>
              <a:ext cx="2284381" cy="1803617"/>
            </a:xfrm>
            <a:prstGeom prst="rect">
              <a:avLst/>
            </a:prstGeom>
            <a:solidFill>
              <a:srgbClr val="E1F2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3" name="Rectangle 52">
              <a:extLst>
                <a:ext uri="{FF2B5EF4-FFF2-40B4-BE49-F238E27FC236}">
                  <a16:creationId xmlns:a16="http://schemas.microsoft.com/office/drawing/2014/main" id="{386DECFF-A987-625C-48D3-8A2A3FA4F77F}"/>
                </a:ext>
              </a:extLst>
            </p:cNvPr>
            <p:cNvSpPr/>
            <p:nvPr/>
          </p:nvSpPr>
          <p:spPr bwMode="auto">
            <a:xfrm>
              <a:off x="9344327" y="2552483"/>
              <a:ext cx="2284381" cy="1803617"/>
            </a:xfrm>
            <a:prstGeom prst="rect">
              <a:avLst/>
            </a:prstGeom>
            <a:solidFill>
              <a:srgbClr val="E1F2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Top Corners Rounded 3">
              <a:extLst>
                <a:ext uri="{FF2B5EF4-FFF2-40B4-BE49-F238E27FC236}">
                  <a16:creationId xmlns:a16="http://schemas.microsoft.com/office/drawing/2014/main" id="{540FB268-0408-1160-574E-5717E03638FC}"/>
                </a:ext>
              </a:extLst>
            </p:cNvPr>
            <p:cNvSpPr/>
            <p:nvPr/>
          </p:nvSpPr>
          <p:spPr bwMode="auto">
            <a:xfrm rot="5400000">
              <a:off x="241300" y="1879602"/>
              <a:ext cx="3924299" cy="4406900"/>
            </a:xfrm>
            <a:prstGeom prst="round2SameRect">
              <a:avLst>
                <a:gd name="adj1" fmla="val 5386"/>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2" name="Rectangle: Top Corners Rounded 31">
              <a:extLst>
                <a:ext uri="{FF2B5EF4-FFF2-40B4-BE49-F238E27FC236}">
                  <a16:creationId xmlns:a16="http://schemas.microsoft.com/office/drawing/2014/main" id="{8F7E9C7A-5DE6-E0DD-9797-A774B7A0523C}"/>
                </a:ext>
              </a:extLst>
            </p:cNvPr>
            <p:cNvSpPr/>
            <p:nvPr/>
          </p:nvSpPr>
          <p:spPr bwMode="auto">
            <a:xfrm rot="5400000" flipV="1">
              <a:off x="9784289" y="-642432"/>
              <a:ext cx="1352006" cy="3463424"/>
            </a:xfrm>
            <a:prstGeom prst="round2SameRect">
              <a:avLst>
                <a:gd name="adj1" fmla="val 10847"/>
                <a:gd name="adj2" fmla="val 0"/>
              </a:avLst>
            </a:prstGeom>
            <a:gradFill>
              <a:gsLst>
                <a:gs pos="0">
                  <a:schemeClr val="tx2">
                    <a:lumMod val="75000"/>
                  </a:schemeClr>
                </a:gs>
                <a:gs pos="100000">
                  <a:srgbClr val="28416A"/>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3" name="Straight Connector 2">
              <a:extLst>
                <a:ext uri="{FF2B5EF4-FFF2-40B4-BE49-F238E27FC236}">
                  <a16:creationId xmlns:a16="http://schemas.microsoft.com/office/drawing/2014/main" id="{3539716C-86BC-3434-D449-1BA99D083427}"/>
                </a:ext>
              </a:extLst>
            </p:cNvPr>
            <p:cNvCxnSpPr/>
            <p:nvPr/>
          </p:nvCxnSpPr>
          <p:spPr>
            <a:xfrm>
              <a:off x="0" y="2400300"/>
              <a:ext cx="12192000"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 name="Title 6">
            <a:extLst>
              <a:ext uri="{FF2B5EF4-FFF2-40B4-BE49-F238E27FC236}">
                <a16:creationId xmlns:a16="http://schemas.microsoft.com/office/drawing/2014/main" id="{0BC44C90-6840-4699-7ABC-AFC730F818BD}"/>
              </a:ext>
            </a:extLst>
          </p:cNvPr>
          <p:cNvSpPr>
            <a:spLocks noGrp="1"/>
          </p:cNvSpPr>
          <p:nvPr>
            <p:ph type="title"/>
          </p:nvPr>
        </p:nvSpPr>
        <p:spPr>
          <a:xfrm>
            <a:off x="576263" y="600075"/>
            <a:ext cx="8326437" cy="554038"/>
          </a:xfrm>
        </p:spPr>
        <p:txBody>
          <a:bodyPr/>
          <a:lstStyle/>
          <a:p>
            <a:r>
              <a:rPr lang="en-US"/>
              <a:t>The value realized by our customers  </a:t>
            </a:r>
          </a:p>
        </p:txBody>
      </p:sp>
      <p:sp>
        <p:nvSpPr>
          <p:cNvPr id="5" name="Text Placeholder 4">
            <a:extLst>
              <a:ext uri="{FF2B5EF4-FFF2-40B4-BE49-F238E27FC236}">
                <a16:creationId xmlns:a16="http://schemas.microsoft.com/office/drawing/2014/main" id="{86942DEB-6979-52F6-BCEF-FF974C2A47B2}"/>
              </a:ext>
            </a:extLst>
          </p:cNvPr>
          <p:cNvSpPr>
            <a:spLocks noGrp="1"/>
          </p:cNvSpPr>
          <p:nvPr>
            <p:ph type="body" sz="quarter" idx="12"/>
          </p:nvPr>
        </p:nvSpPr>
        <p:spPr>
          <a:xfrm>
            <a:off x="584201" y="1211283"/>
            <a:ext cx="7872408" cy="553998"/>
          </a:xfrm>
        </p:spPr>
        <p:txBody>
          <a:bodyPr wrap="square" anchor="ctr">
            <a:spAutoFit/>
          </a:bodyPr>
          <a:lstStyle/>
          <a:p>
            <a:pPr lvl="0"/>
            <a:r>
              <a:rPr lang="en-US" noProof="0">
                <a:solidFill>
                  <a:schemeClr val="tx1"/>
                </a:solidFill>
              </a:rPr>
              <a:t>2025 Forrester study shows how customers benefit from a proactive approach and strategic partnership with Microsoft</a:t>
            </a:r>
          </a:p>
        </p:txBody>
      </p:sp>
      <p:sp>
        <p:nvSpPr>
          <p:cNvPr id="72" name="TextBox 71">
            <a:extLst>
              <a:ext uri="{FF2B5EF4-FFF2-40B4-BE49-F238E27FC236}">
                <a16:creationId xmlns:a16="http://schemas.microsoft.com/office/drawing/2014/main" id="{F01F439E-439B-E09D-EDD3-9949E2A0A36A}"/>
              </a:ext>
            </a:extLst>
          </p:cNvPr>
          <p:cNvSpPr txBox="1"/>
          <p:nvPr/>
        </p:nvSpPr>
        <p:spPr>
          <a:xfrm>
            <a:off x="9202833" y="627615"/>
            <a:ext cx="2373855" cy="923330"/>
          </a:xfrm>
          <a:prstGeom prst="rect">
            <a:avLst/>
          </a:prstGeom>
          <a:noFill/>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78D4">
                    <a:lumMod val="20000"/>
                    <a:lumOff val="80000"/>
                  </a:srgbClr>
                </a:solidFill>
                <a:effectLst/>
                <a:uLnTx/>
                <a:uFillTx/>
                <a:latin typeface="Segoe UI Semibold"/>
                <a:ea typeface="+mn-ea"/>
                <a:cs typeface="+mn-cs"/>
              </a:rPr>
              <a:t>225% ROI</a:t>
            </a:r>
            <a:r>
              <a:rPr kumimoji="0" lang="en-US" sz="4000" b="0" i="0" u="none" strike="noStrike" kern="1200" cap="none" spc="0" normalizeH="0" baseline="30000" noProof="0">
                <a:ln>
                  <a:noFill/>
                </a:ln>
                <a:solidFill>
                  <a:srgbClr val="0078D4">
                    <a:lumMod val="20000"/>
                    <a:lumOff val="80000"/>
                  </a:srgbClr>
                </a:solidFill>
                <a:effectLst/>
                <a:uLnTx/>
                <a:uFillTx/>
                <a:latin typeface="Segoe UI Semibold"/>
                <a:ea typeface="+mn-ea"/>
                <a:cs typeface="+mn-cs"/>
              </a:rPr>
              <a:t> </a:t>
            </a:r>
            <a:br>
              <a:rPr kumimoji="0" lang="en-US" sz="3600" b="0" i="0" u="none" strike="noStrike" kern="1200" cap="none" spc="0" normalizeH="0" baseline="0" noProof="0">
                <a:ln>
                  <a:noFill/>
                </a:ln>
                <a:solidFill>
                  <a:srgbClr val="50E6FF"/>
                </a:solidFill>
                <a:effectLst/>
                <a:uLnTx/>
                <a:uFillTx/>
                <a:latin typeface="Segoe UI Semibold"/>
                <a:ea typeface="+mn-ea"/>
                <a:cs typeface="+mn-cs"/>
              </a:rPr>
            </a:br>
            <a:r>
              <a:rPr kumimoji="0" lang="en-US" sz="20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over three years</a:t>
            </a:r>
            <a:r>
              <a:rPr kumimoji="0" lang="en-US" sz="2000" b="0" i="0" u="none" strike="noStrike" kern="1200" cap="none" spc="0" normalizeH="0" baseline="30000" noProof="0">
                <a:ln>
                  <a:noFill/>
                </a:ln>
                <a:solidFill>
                  <a:srgbClr val="FFFFFF"/>
                </a:solidFill>
                <a:effectLst/>
                <a:uLnTx/>
                <a:uFillTx/>
                <a:latin typeface="Segoe UI Semibold"/>
                <a:ea typeface="+mn-ea"/>
                <a:cs typeface="Segoe UI" panose="020B0502040204020203" pitchFamily="34" charset="0"/>
              </a:rPr>
              <a:t>1</a:t>
            </a:r>
            <a:endParaRPr kumimoji="0" lang="en-US" sz="2400" b="0" i="0" u="none" strike="noStrike" kern="1200" cap="none" spc="0" normalizeH="0" baseline="30000" noProof="0">
              <a:ln>
                <a:noFill/>
              </a:ln>
              <a:solidFill>
                <a:srgbClr val="FFFFFF"/>
              </a:solidFill>
              <a:effectLst/>
              <a:uLnTx/>
              <a:uFillTx/>
              <a:latin typeface="Segoe UI Semibold"/>
              <a:ea typeface="+mn-ea"/>
              <a:cs typeface="Segoe UI" panose="020B0502040204020203" pitchFamily="34" charset="0"/>
            </a:endParaRPr>
          </a:p>
        </p:txBody>
      </p:sp>
      <p:grpSp>
        <p:nvGrpSpPr>
          <p:cNvPr id="121" name="Group 120" descr="Open quotation">
            <a:extLst>
              <a:ext uri="{FF2B5EF4-FFF2-40B4-BE49-F238E27FC236}">
                <a16:creationId xmlns:a16="http://schemas.microsoft.com/office/drawing/2014/main" id="{8BC1DFA1-CFDE-D564-1B61-2753E459227C}"/>
              </a:ext>
            </a:extLst>
          </p:cNvPr>
          <p:cNvGrpSpPr/>
          <p:nvPr/>
        </p:nvGrpSpPr>
        <p:grpSpPr>
          <a:xfrm>
            <a:off x="584201" y="2400297"/>
            <a:ext cx="501650" cy="484250"/>
            <a:chOff x="584201" y="2400297"/>
            <a:chExt cx="501650" cy="484250"/>
          </a:xfrm>
        </p:grpSpPr>
        <p:sp>
          <p:nvSpPr>
            <p:cNvPr id="122" name="Rectangle: Top Corners Rounded 121">
              <a:extLst>
                <a:ext uri="{FF2B5EF4-FFF2-40B4-BE49-F238E27FC236}">
                  <a16:creationId xmlns:a16="http://schemas.microsoft.com/office/drawing/2014/main" id="{68271646-7547-098B-6883-E32B45C5F09D}"/>
                </a:ext>
              </a:extLst>
            </p:cNvPr>
            <p:cNvSpPr/>
            <p:nvPr/>
          </p:nvSpPr>
          <p:spPr bwMode="auto">
            <a:xfrm flipV="1">
              <a:off x="584201" y="2400297"/>
              <a:ext cx="501650" cy="484250"/>
            </a:xfrm>
            <a:prstGeom prst="round2SameRect">
              <a:avLst>
                <a:gd name="adj1" fmla="val 50000"/>
                <a:gd name="adj2" fmla="val 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23" name="Group 122" descr="Open quotation">
              <a:extLst>
                <a:ext uri="{FF2B5EF4-FFF2-40B4-BE49-F238E27FC236}">
                  <a16:creationId xmlns:a16="http://schemas.microsoft.com/office/drawing/2014/main" id="{7B29110B-215D-F1A9-4875-A0A4E1A60A79}"/>
                </a:ext>
              </a:extLst>
            </p:cNvPr>
            <p:cNvGrpSpPr/>
            <p:nvPr/>
          </p:nvGrpSpPr>
          <p:grpSpPr>
            <a:xfrm>
              <a:off x="650083" y="2444752"/>
              <a:ext cx="369886" cy="369886"/>
              <a:chOff x="808960" y="2245360"/>
              <a:chExt cx="362615" cy="362615"/>
            </a:xfrm>
          </p:grpSpPr>
          <p:sp>
            <p:nvSpPr>
              <p:cNvPr id="124" name="Oval 123">
                <a:extLst>
                  <a:ext uri="{FF2B5EF4-FFF2-40B4-BE49-F238E27FC236}">
                    <a16:creationId xmlns:a16="http://schemas.microsoft.com/office/drawing/2014/main" id="{001B1B8B-9B86-4208-B523-DBF4C9635319}"/>
                  </a:ext>
                </a:extLst>
              </p:cNvPr>
              <p:cNvSpPr/>
              <p:nvPr/>
            </p:nvSpPr>
            <p:spPr bwMode="auto">
              <a:xfrm>
                <a:off x="808960" y="2245360"/>
                <a:ext cx="362615" cy="362615"/>
              </a:xfrm>
              <a:prstGeom prst="ellipse">
                <a:avLst/>
              </a:prstGeom>
              <a:solidFill>
                <a:schemeClr val="bg1"/>
              </a:solidFill>
              <a:ln w="9525">
                <a:solidFill>
                  <a:srgbClr val="E1F2F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78D4"/>
                  </a:solidFill>
                  <a:effectLst/>
                  <a:uLnTx/>
                  <a:uFillTx/>
                  <a:latin typeface="Segoe UI Semibold"/>
                  <a:ea typeface="Segoe UI" pitchFamily="34" charset="0"/>
                  <a:cs typeface="Segoe UI" pitchFamily="34" charset="0"/>
                </a:endParaRPr>
              </a:p>
            </p:txBody>
          </p:sp>
          <p:sp>
            <p:nvSpPr>
              <p:cNvPr id="125" name="Graphic 56">
                <a:extLst>
                  <a:ext uri="{FF2B5EF4-FFF2-40B4-BE49-F238E27FC236}">
                    <a16:creationId xmlns:a16="http://schemas.microsoft.com/office/drawing/2014/main" id="{7EFBA94C-56A7-25F9-E6CD-9AF07678D8B7}"/>
                  </a:ext>
                  <a:ext uri="{C183D7F6-B498-43B3-948B-1728B52AA6E4}">
                    <adec:decorative xmlns:adec="http://schemas.microsoft.com/office/drawing/2017/decorative" val="1"/>
                  </a:ext>
                </a:extLst>
              </p:cNvPr>
              <p:cNvSpPr/>
              <p:nvPr/>
            </p:nvSpPr>
            <p:spPr>
              <a:xfrm flipH="1">
                <a:off x="881570" y="2350974"/>
                <a:ext cx="217394" cy="151387"/>
              </a:xfrm>
              <a:custGeom>
                <a:avLst/>
                <a:gdLst>
                  <a:gd name="connsiteX0" fmla="*/ 1143000 w 4876800"/>
                  <a:gd name="connsiteY0" fmla="*/ 0 h 3396073"/>
                  <a:gd name="connsiteX1" fmla="*/ 0 w 4876800"/>
                  <a:gd name="connsiteY1" fmla="*/ 1143000 h 3396073"/>
                  <a:gd name="connsiteX2" fmla="*/ 981427 w 4876800"/>
                  <a:gd name="connsiteY2" fmla="*/ 2274561 h 3396073"/>
                  <a:gd name="connsiteX3" fmla="*/ 621725 w 4876800"/>
                  <a:gd name="connsiteY3" fmla="*/ 3169482 h 3396073"/>
                  <a:gd name="connsiteX4" fmla="*/ 625631 w 4876800"/>
                  <a:gd name="connsiteY4" fmla="*/ 3341932 h 3396073"/>
                  <a:gd name="connsiteX5" fmla="*/ 792509 w 4876800"/>
                  <a:gd name="connsiteY5" fmla="*/ 3384909 h 3396073"/>
                  <a:gd name="connsiteX6" fmla="*/ 2286000 w 4876800"/>
                  <a:gd name="connsiteY6" fmla="*/ 1143000 h 3396073"/>
                  <a:gd name="connsiteX7" fmla="*/ 1143000 w 4876800"/>
                  <a:gd name="connsiteY7" fmla="*/ 0 h 3396073"/>
                  <a:gd name="connsiteX8" fmla="*/ 3733800 w 4876800"/>
                  <a:gd name="connsiteY8" fmla="*/ 0 h 3396073"/>
                  <a:gd name="connsiteX9" fmla="*/ 2590800 w 4876800"/>
                  <a:gd name="connsiteY9" fmla="*/ 1143000 h 3396073"/>
                  <a:gd name="connsiteX10" fmla="*/ 3572227 w 4876800"/>
                  <a:gd name="connsiteY10" fmla="*/ 2274561 h 3396073"/>
                  <a:gd name="connsiteX11" fmla="*/ 3212526 w 4876800"/>
                  <a:gd name="connsiteY11" fmla="*/ 3169482 h 3396073"/>
                  <a:gd name="connsiteX12" fmla="*/ 3216431 w 4876800"/>
                  <a:gd name="connsiteY12" fmla="*/ 3341932 h 3396073"/>
                  <a:gd name="connsiteX13" fmla="*/ 3383309 w 4876800"/>
                  <a:gd name="connsiteY13" fmla="*/ 3384909 h 3396073"/>
                  <a:gd name="connsiteX14" fmla="*/ 4876800 w 4876800"/>
                  <a:gd name="connsiteY14" fmla="*/ 1143000 h 3396073"/>
                  <a:gd name="connsiteX15" fmla="*/ 3733800 w 4876800"/>
                  <a:gd name="connsiteY15" fmla="*/ 0 h 339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76800" h="3396073">
                    <a:moveTo>
                      <a:pt x="1143000" y="0"/>
                    </a:moveTo>
                    <a:cubicBezTo>
                      <a:pt x="512616" y="0"/>
                      <a:pt x="0" y="512759"/>
                      <a:pt x="0" y="1143000"/>
                    </a:cubicBezTo>
                    <a:cubicBezTo>
                      <a:pt x="0" y="1718405"/>
                      <a:pt x="427234" y="2195865"/>
                      <a:pt x="981427" y="2274561"/>
                    </a:cubicBezTo>
                    <a:cubicBezTo>
                      <a:pt x="937060" y="2596867"/>
                      <a:pt x="813997" y="2903544"/>
                      <a:pt x="621725" y="3169482"/>
                    </a:cubicBezTo>
                    <a:cubicBezTo>
                      <a:pt x="584330" y="3221384"/>
                      <a:pt x="585730" y="3291707"/>
                      <a:pt x="625631" y="3341932"/>
                    </a:cubicBezTo>
                    <a:cubicBezTo>
                      <a:pt x="664778" y="3391357"/>
                      <a:pt x="732806" y="3410093"/>
                      <a:pt x="792509" y="3384909"/>
                    </a:cubicBezTo>
                    <a:cubicBezTo>
                      <a:pt x="1699708" y="3006242"/>
                      <a:pt x="2286000" y="2126104"/>
                      <a:pt x="2286000" y="1143000"/>
                    </a:cubicBezTo>
                    <a:cubicBezTo>
                      <a:pt x="2286000" y="512759"/>
                      <a:pt x="1773384" y="0"/>
                      <a:pt x="1143000" y="0"/>
                    </a:cubicBezTo>
                    <a:close/>
                    <a:moveTo>
                      <a:pt x="3733800" y="0"/>
                    </a:moveTo>
                    <a:cubicBezTo>
                      <a:pt x="3103417" y="0"/>
                      <a:pt x="2590800" y="512759"/>
                      <a:pt x="2590800" y="1143000"/>
                    </a:cubicBezTo>
                    <a:cubicBezTo>
                      <a:pt x="2590800" y="1718405"/>
                      <a:pt x="3018035" y="2195865"/>
                      <a:pt x="3572227" y="2274561"/>
                    </a:cubicBezTo>
                    <a:cubicBezTo>
                      <a:pt x="3527860" y="2596867"/>
                      <a:pt x="3404797" y="2903544"/>
                      <a:pt x="3212526" y="3169482"/>
                    </a:cubicBezTo>
                    <a:cubicBezTo>
                      <a:pt x="3175130" y="3221384"/>
                      <a:pt x="3176530" y="3291707"/>
                      <a:pt x="3216431" y="3341932"/>
                    </a:cubicBezTo>
                    <a:cubicBezTo>
                      <a:pt x="3255578" y="3391357"/>
                      <a:pt x="3323606" y="3410093"/>
                      <a:pt x="3383309" y="3384909"/>
                    </a:cubicBezTo>
                    <a:cubicBezTo>
                      <a:pt x="4290508" y="3006242"/>
                      <a:pt x="4876800" y="2126104"/>
                      <a:pt x="4876800" y="1143000"/>
                    </a:cubicBezTo>
                    <a:cubicBezTo>
                      <a:pt x="4876800" y="512759"/>
                      <a:pt x="4364184" y="0"/>
                      <a:pt x="3733800" y="0"/>
                    </a:cubicBezTo>
                    <a:close/>
                  </a:path>
                </a:pathLst>
              </a:custGeom>
              <a:gradFill flip="none" rotWithShape="1">
                <a:gsLst>
                  <a:gs pos="0">
                    <a:schemeClr val="accent1">
                      <a:lumMod val="50000"/>
                    </a:schemeClr>
                  </a:gs>
                  <a:gs pos="100000">
                    <a:schemeClr val="accent1"/>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grpSp>
      <p:sp>
        <p:nvSpPr>
          <p:cNvPr id="146" name="TextBox 145">
            <a:extLst>
              <a:ext uri="{FF2B5EF4-FFF2-40B4-BE49-F238E27FC236}">
                <a16:creationId xmlns:a16="http://schemas.microsoft.com/office/drawing/2014/main" id="{017ADCBF-C598-7673-D756-E77A9F61D463}"/>
              </a:ext>
            </a:extLst>
          </p:cNvPr>
          <p:cNvSpPr txBox="1">
            <a:spLocks/>
          </p:cNvSpPr>
          <p:nvPr/>
        </p:nvSpPr>
        <p:spPr>
          <a:xfrm>
            <a:off x="584199" y="2972678"/>
            <a:ext cx="3449907" cy="286232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Yu Gothic" panose="020B0400000000000000" pitchFamily="34" charset="-128"/>
                <a:cs typeface="Times New Roman" panose="02020603050405020304" pitchFamily="18" charset="0"/>
              </a:rPr>
              <a:t>The ability to access training resources helped us easily deploy Copilot across various parts of the organization… Unified helped us identify quick wins and use cases that could be deployed faster, allowing us to be more responsive to business stakeholders’ needs.”</a:t>
            </a:r>
          </a:p>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Yu Gothic" panose="020B0400000000000000" pitchFamily="34" charset="-128"/>
                <a:cs typeface="Times New Roman" panose="02020603050405020304" pitchFamily="18" charset="0"/>
              </a:rPr>
              <a:t>– Chief Legal and Compliance Officer Manufacturing company</a:t>
            </a:r>
            <a:endParaRPr kumimoji="0" lang="en-US" sz="1600" b="0" i="0" u="none" strike="noStrike" kern="1200" cap="none" spc="0" normalizeH="0" baseline="0" noProof="0">
              <a:ln>
                <a:noFill/>
              </a:ln>
              <a:solidFill>
                <a:srgbClr val="0078D4"/>
              </a:solidFill>
              <a:effectLst/>
              <a:uLnTx/>
              <a:uFillTx/>
              <a:latin typeface="Segoe UI Semibold"/>
              <a:ea typeface="+mn-ea"/>
              <a:cs typeface="+mn-cs"/>
            </a:endParaRPr>
          </a:p>
        </p:txBody>
      </p:sp>
      <p:grpSp>
        <p:nvGrpSpPr>
          <p:cNvPr id="170" name="Group 169" descr="35%">
            <a:extLst>
              <a:ext uri="{FF2B5EF4-FFF2-40B4-BE49-F238E27FC236}">
                <a16:creationId xmlns:a16="http://schemas.microsoft.com/office/drawing/2014/main" id="{95AA1C05-33B3-1669-38DB-0ECE497C7954}"/>
              </a:ext>
            </a:extLst>
          </p:cNvPr>
          <p:cNvGrpSpPr/>
          <p:nvPr/>
        </p:nvGrpSpPr>
        <p:grpSpPr>
          <a:xfrm>
            <a:off x="4960356" y="2742671"/>
            <a:ext cx="1423242" cy="1423240"/>
            <a:chOff x="4975458" y="2452035"/>
            <a:chExt cx="1408459" cy="1408459"/>
          </a:xfrm>
        </p:grpSpPr>
        <p:sp>
          <p:nvSpPr>
            <p:cNvPr id="171" name="Oval 170">
              <a:extLst>
                <a:ext uri="{FF2B5EF4-FFF2-40B4-BE49-F238E27FC236}">
                  <a16:creationId xmlns:a16="http://schemas.microsoft.com/office/drawing/2014/main" id="{88F44FB8-4128-1FA3-064C-C536B9E308BA}"/>
                </a:ext>
                <a:ext uri="{C183D7F6-B498-43B3-948B-1728B52AA6E4}">
                  <adec:decorative xmlns:adec="http://schemas.microsoft.com/office/drawing/2017/decorative" val="1"/>
                </a:ext>
              </a:extLst>
            </p:cNvPr>
            <p:cNvSpPr/>
            <p:nvPr/>
          </p:nvSpPr>
          <p:spPr bwMode="auto">
            <a:xfrm>
              <a:off x="4975458" y="2452035"/>
              <a:ext cx="1408459" cy="1408459"/>
            </a:xfrm>
            <a:prstGeom prst="ellipse">
              <a:avLst/>
            </a:prstGeom>
            <a:solidFill>
              <a:schemeClr val="bg1"/>
            </a:solidFill>
            <a:ln w="6350">
              <a:solidFill>
                <a:schemeClr val="accent1">
                  <a:lumMod val="20000"/>
                  <a:lumOff val="80000"/>
                </a:schemeClr>
              </a:solidFill>
              <a:headEnd type="none" w="med" len="med"/>
              <a:tailEnd type="none" w="med" len="med"/>
            </a:ln>
            <a:effectLst>
              <a:outerShdw blurRad="317500" dist="635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457162"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243A5E"/>
                  </a:solidFill>
                  <a:effectLst/>
                  <a:uLnTx/>
                  <a:uFillTx/>
                  <a:latin typeface="Segoe UI Semibold"/>
                  <a:ea typeface="+mn-ea"/>
                  <a:cs typeface="+mn-cs"/>
                </a:rPr>
                <a:t>35</a:t>
              </a:r>
              <a:r>
                <a:rPr kumimoji="0" lang="en-US" sz="2000" b="0" i="0" u="none" strike="noStrike" kern="1200" cap="none" spc="0" normalizeH="0" baseline="0" noProof="0">
                  <a:ln>
                    <a:noFill/>
                  </a:ln>
                  <a:solidFill>
                    <a:srgbClr val="243A5E"/>
                  </a:solidFill>
                  <a:effectLst/>
                  <a:uLnTx/>
                  <a:uFillTx/>
                  <a:latin typeface="Segoe UI Semibold"/>
                  <a:ea typeface="+mn-ea"/>
                  <a:cs typeface="+mn-cs"/>
                </a:rPr>
                <a:t>%</a:t>
              </a:r>
              <a:endParaRPr kumimoji="0" lang="en-US" sz="3200" b="0" i="0" u="none" strike="noStrike" kern="1200" cap="none" spc="0" normalizeH="0" baseline="0" noProof="0">
                <a:ln>
                  <a:noFill/>
                </a:ln>
                <a:solidFill>
                  <a:srgbClr val="243A5E"/>
                </a:solidFill>
                <a:effectLst/>
                <a:uLnTx/>
                <a:uFillTx/>
                <a:latin typeface="Segoe UI Semibold"/>
                <a:ea typeface="+mn-ea"/>
                <a:cs typeface="+mn-cs"/>
              </a:endParaRPr>
            </a:p>
          </p:txBody>
        </p:sp>
        <p:grpSp>
          <p:nvGrpSpPr>
            <p:cNvPr id="172" name="Group 171" descr="94 percent">
              <a:extLst>
                <a:ext uri="{FF2B5EF4-FFF2-40B4-BE49-F238E27FC236}">
                  <a16:creationId xmlns:a16="http://schemas.microsoft.com/office/drawing/2014/main" id="{EFC6918A-DE00-B98E-E999-D3416854C69E}"/>
                </a:ext>
              </a:extLst>
            </p:cNvPr>
            <p:cNvGrpSpPr/>
            <p:nvPr/>
          </p:nvGrpSpPr>
          <p:grpSpPr>
            <a:xfrm>
              <a:off x="5116924" y="2593501"/>
              <a:ext cx="1125526" cy="1125526"/>
              <a:chOff x="5051671" y="3538538"/>
              <a:chExt cx="1171048" cy="1171048"/>
            </a:xfrm>
          </p:grpSpPr>
          <p:sp>
            <p:nvSpPr>
              <p:cNvPr id="173" name="Oval 172">
                <a:extLst>
                  <a:ext uri="{FF2B5EF4-FFF2-40B4-BE49-F238E27FC236}">
                    <a16:creationId xmlns:a16="http://schemas.microsoft.com/office/drawing/2014/main" id="{F7B3C539-39EB-A324-3D74-BBD8170162D7}"/>
                  </a:ext>
                </a:extLst>
              </p:cNvPr>
              <p:cNvSpPr/>
              <p:nvPr/>
            </p:nvSpPr>
            <p:spPr bwMode="auto">
              <a:xfrm>
                <a:off x="5051671" y="3538538"/>
                <a:ext cx="1171048" cy="1171048"/>
              </a:xfrm>
              <a:prstGeom prst="ellipse">
                <a:avLst/>
              </a:prstGeom>
              <a:noFill/>
              <a:ln w="152400">
                <a:solidFill>
                  <a:schemeClr val="tx2">
                    <a:lumMod val="40000"/>
                    <a:lumOff val="60000"/>
                    <a:alpha val="3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a:ea typeface="Segoe UI" pitchFamily="34" charset="0"/>
                  <a:cs typeface="Segoe UI" pitchFamily="34" charset="0"/>
                </a:endParaRPr>
              </a:p>
            </p:txBody>
          </p:sp>
          <p:sp>
            <p:nvSpPr>
              <p:cNvPr id="174" name="Oval 76_1">
                <a:extLst>
                  <a:ext uri="{FF2B5EF4-FFF2-40B4-BE49-F238E27FC236}">
                    <a16:creationId xmlns:a16="http://schemas.microsoft.com/office/drawing/2014/main" id="{0DB98BDB-BB0C-DA5D-A1DD-2994012E3E90}"/>
                  </a:ext>
                </a:extLst>
              </p:cNvPr>
              <p:cNvSpPr/>
              <p:nvPr/>
            </p:nvSpPr>
            <p:spPr bwMode="auto">
              <a:xfrm>
                <a:off x="5051671" y="3538538"/>
                <a:ext cx="1171048" cy="1171048"/>
              </a:xfrm>
              <a:prstGeom prst="arc">
                <a:avLst>
                  <a:gd name="adj1" fmla="val 16200000"/>
                  <a:gd name="adj2" fmla="val 1963317"/>
                </a:avLst>
              </a:prstGeom>
              <a:noFill/>
              <a:ln w="152400" cap="rnd">
                <a:solidFill>
                  <a:schemeClr val="tx2"/>
                </a:solid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78D4"/>
                  </a:solidFill>
                  <a:effectLst/>
                  <a:uLnTx/>
                  <a:uFillTx/>
                  <a:latin typeface="Segoe UI"/>
                  <a:ea typeface="Segoe UI" pitchFamily="34" charset="0"/>
                  <a:cs typeface="Segoe UI" pitchFamily="34" charset="0"/>
                </a:endParaRPr>
              </a:p>
            </p:txBody>
          </p:sp>
        </p:grpSp>
      </p:grpSp>
      <p:sp>
        <p:nvSpPr>
          <p:cNvPr id="187" name="Text Placeholder 5">
            <a:extLst>
              <a:ext uri="{FF2B5EF4-FFF2-40B4-BE49-F238E27FC236}">
                <a16:creationId xmlns:a16="http://schemas.microsoft.com/office/drawing/2014/main" id="{A469CA0E-F99E-95CD-612B-58D2F67BD715}"/>
              </a:ext>
            </a:extLst>
          </p:cNvPr>
          <p:cNvSpPr txBox="1">
            <a:spLocks/>
          </p:cNvSpPr>
          <p:nvPr/>
        </p:nvSpPr>
        <p:spPr>
          <a:xfrm>
            <a:off x="4692035" y="4505219"/>
            <a:ext cx="1959886" cy="830997"/>
          </a:xfrm>
          <a:prstGeom prst="rect">
            <a:avLst/>
          </a:prstGeom>
        </p:spPr>
        <p:txBody>
          <a:bodyPr wrap="square" lIns="0" tIns="0" rIns="0" bIns="0" numCol="1">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Reduction in IT support ticket volume</a:t>
            </a:r>
            <a:r>
              <a:rPr kumimoji="0" lang="en-US" sz="1800" b="0" i="0" u="none" strike="noStrike" kern="1200" cap="none" spc="0" normalizeH="0" baseline="30000" noProof="0">
                <a:ln>
                  <a:noFill/>
                </a:ln>
                <a:solidFill>
                  <a:srgbClr val="000000"/>
                </a:solidFill>
                <a:effectLst/>
                <a:uLnTx/>
                <a:uFillTx/>
                <a:latin typeface="Segoe UI Semibold"/>
                <a:ea typeface="+mn-ea"/>
                <a:cs typeface="Segoe UI" panose="020B0502040204020203" pitchFamily="34" charset="0"/>
              </a:rPr>
              <a:t>1</a:t>
            </a:r>
          </a:p>
        </p:txBody>
      </p:sp>
      <p:grpSp>
        <p:nvGrpSpPr>
          <p:cNvPr id="204" name="Group 203" descr="60%">
            <a:extLst>
              <a:ext uri="{FF2B5EF4-FFF2-40B4-BE49-F238E27FC236}">
                <a16:creationId xmlns:a16="http://schemas.microsoft.com/office/drawing/2014/main" id="{743E55B9-6F30-C7E4-5C7A-4B7398188E32}"/>
              </a:ext>
            </a:extLst>
          </p:cNvPr>
          <p:cNvGrpSpPr/>
          <p:nvPr/>
        </p:nvGrpSpPr>
        <p:grpSpPr>
          <a:xfrm>
            <a:off x="7367626" y="2742671"/>
            <a:ext cx="1423242" cy="1423240"/>
            <a:chOff x="4975458" y="2452035"/>
            <a:chExt cx="1408459" cy="1408459"/>
          </a:xfrm>
        </p:grpSpPr>
        <p:sp>
          <p:nvSpPr>
            <p:cNvPr id="205" name="Oval 204">
              <a:extLst>
                <a:ext uri="{FF2B5EF4-FFF2-40B4-BE49-F238E27FC236}">
                  <a16:creationId xmlns:a16="http://schemas.microsoft.com/office/drawing/2014/main" id="{97DDF11D-FCDD-31CB-0AA7-F98F4DFC6EE0}"/>
                </a:ext>
                <a:ext uri="{C183D7F6-B498-43B3-948B-1728B52AA6E4}">
                  <adec:decorative xmlns:adec="http://schemas.microsoft.com/office/drawing/2017/decorative" val="1"/>
                </a:ext>
              </a:extLst>
            </p:cNvPr>
            <p:cNvSpPr/>
            <p:nvPr/>
          </p:nvSpPr>
          <p:spPr bwMode="auto">
            <a:xfrm>
              <a:off x="4975458" y="2452035"/>
              <a:ext cx="1408459" cy="1408459"/>
            </a:xfrm>
            <a:prstGeom prst="ellipse">
              <a:avLst/>
            </a:prstGeom>
            <a:solidFill>
              <a:schemeClr val="bg1"/>
            </a:solidFill>
            <a:ln w="6350">
              <a:solidFill>
                <a:schemeClr val="accent1">
                  <a:lumMod val="20000"/>
                  <a:lumOff val="80000"/>
                </a:schemeClr>
              </a:solidFill>
              <a:headEnd type="none" w="med" len="med"/>
              <a:tailEnd type="none" w="med" len="med"/>
            </a:ln>
            <a:effectLst>
              <a:outerShdw blurRad="317500" dist="635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457162"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243A5E"/>
                  </a:solidFill>
                  <a:effectLst/>
                  <a:uLnTx/>
                  <a:uFillTx/>
                  <a:latin typeface="Segoe UI Semibold"/>
                  <a:ea typeface="+mn-ea"/>
                  <a:cs typeface="+mn-cs"/>
                </a:rPr>
                <a:t>60</a:t>
              </a:r>
              <a:r>
                <a:rPr kumimoji="0" lang="en-US" sz="2000" b="0" i="0" u="none" strike="noStrike" kern="1200" cap="none" spc="0" normalizeH="0" baseline="0" noProof="0">
                  <a:ln>
                    <a:noFill/>
                  </a:ln>
                  <a:solidFill>
                    <a:srgbClr val="243A5E"/>
                  </a:solidFill>
                  <a:effectLst/>
                  <a:uLnTx/>
                  <a:uFillTx/>
                  <a:latin typeface="Segoe UI Semibold"/>
                  <a:ea typeface="+mn-ea"/>
                  <a:cs typeface="+mn-cs"/>
                </a:rPr>
                <a:t>%</a:t>
              </a:r>
              <a:endParaRPr kumimoji="0" lang="en-US" sz="3200" b="0" i="0" u="none" strike="noStrike" kern="1200" cap="none" spc="0" normalizeH="0" baseline="0" noProof="0">
                <a:ln>
                  <a:noFill/>
                </a:ln>
                <a:solidFill>
                  <a:srgbClr val="243A5E"/>
                </a:solidFill>
                <a:effectLst/>
                <a:uLnTx/>
                <a:uFillTx/>
                <a:latin typeface="Segoe UI Semibold"/>
                <a:ea typeface="+mn-ea"/>
                <a:cs typeface="+mn-cs"/>
              </a:endParaRPr>
            </a:p>
          </p:txBody>
        </p:sp>
        <p:grpSp>
          <p:nvGrpSpPr>
            <p:cNvPr id="206" name="Group 205" descr="94 percent">
              <a:extLst>
                <a:ext uri="{FF2B5EF4-FFF2-40B4-BE49-F238E27FC236}">
                  <a16:creationId xmlns:a16="http://schemas.microsoft.com/office/drawing/2014/main" id="{2FE2443D-02F2-5FB8-0AAB-63BFDA1BA084}"/>
                </a:ext>
              </a:extLst>
            </p:cNvPr>
            <p:cNvGrpSpPr/>
            <p:nvPr/>
          </p:nvGrpSpPr>
          <p:grpSpPr>
            <a:xfrm>
              <a:off x="5116924" y="2593501"/>
              <a:ext cx="1125526" cy="1125526"/>
              <a:chOff x="5051671" y="3538538"/>
              <a:chExt cx="1171048" cy="1171048"/>
            </a:xfrm>
          </p:grpSpPr>
          <p:sp>
            <p:nvSpPr>
              <p:cNvPr id="207" name="Oval 206">
                <a:extLst>
                  <a:ext uri="{FF2B5EF4-FFF2-40B4-BE49-F238E27FC236}">
                    <a16:creationId xmlns:a16="http://schemas.microsoft.com/office/drawing/2014/main" id="{DE48FEED-F826-6C01-58BA-FCB713F13646}"/>
                  </a:ext>
                </a:extLst>
              </p:cNvPr>
              <p:cNvSpPr/>
              <p:nvPr/>
            </p:nvSpPr>
            <p:spPr bwMode="auto">
              <a:xfrm>
                <a:off x="5051671" y="3538538"/>
                <a:ext cx="1171048" cy="1171048"/>
              </a:xfrm>
              <a:prstGeom prst="ellipse">
                <a:avLst/>
              </a:prstGeom>
              <a:noFill/>
              <a:ln w="152400">
                <a:solidFill>
                  <a:schemeClr val="tx2">
                    <a:lumMod val="40000"/>
                    <a:lumOff val="60000"/>
                    <a:alpha val="3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a:ea typeface="Segoe UI" pitchFamily="34" charset="0"/>
                  <a:cs typeface="Segoe UI" pitchFamily="34" charset="0"/>
                </a:endParaRPr>
              </a:p>
            </p:txBody>
          </p:sp>
          <p:sp>
            <p:nvSpPr>
              <p:cNvPr id="208" name="Oval 76_1">
                <a:extLst>
                  <a:ext uri="{FF2B5EF4-FFF2-40B4-BE49-F238E27FC236}">
                    <a16:creationId xmlns:a16="http://schemas.microsoft.com/office/drawing/2014/main" id="{304F7EB4-239D-AF73-754B-010CE79B0331}"/>
                  </a:ext>
                </a:extLst>
              </p:cNvPr>
              <p:cNvSpPr/>
              <p:nvPr/>
            </p:nvSpPr>
            <p:spPr bwMode="auto">
              <a:xfrm>
                <a:off x="5051671" y="3538538"/>
                <a:ext cx="1171048" cy="1171048"/>
              </a:xfrm>
              <a:prstGeom prst="arc">
                <a:avLst>
                  <a:gd name="adj1" fmla="val 16200000"/>
                  <a:gd name="adj2" fmla="val 7292816"/>
                </a:avLst>
              </a:prstGeom>
              <a:noFill/>
              <a:ln w="152400" cap="rnd">
                <a:solidFill>
                  <a:schemeClr val="tx2"/>
                </a:solid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78D4"/>
                  </a:solidFill>
                  <a:effectLst/>
                  <a:uLnTx/>
                  <a:uFillTx/>
                  <a:latin typeface="Segoe UI"/>
                  <a:ea typeface="Segoe UI" pitchFamily="34" charset="0"/>
                  <a:cs typeface="Segoe UI" pitchFamily="34" charset="0"/>
                </a:endParaRPr>
              </a:p>
            </p:txBody>
          </p:sp>
        </p:grpSp>
      </p:grpSp>
      <p:sp>
        <p:nvSpPr>
          <p:cNvPr id="216" name="Text Placeholder 5">
            <a:extLst>
              <a:ext uri="{FF2B5EF4-FFF2-40B4-BE49-F238E27FC236}">
                <a16:creationId xmlns:a16="http://schemas.microsoft.com/office/drawing/2014/main" id="{0DCB0637-0001-0829-CEF7-B20A3660CCA6}"/>
              </a:ext>
            </a:extLst>
          </p:cNvPr>
          <p:cNvSpPr txBox="1">
            <a:spLocks/>
          </p:cNvSpPr>
          <p:nvPr/>
        </p:nvSpPr>
        <p:spPr>
          <a:xfrm>
            <a:off x="7099304" y="4505219"/>
            <a:ext cx="1959886" cy="1384995"/>
          </a:xfrm>
          <a:prstGeom prst="rect">
            <a:avLst/>
          </a:prstGeom>
        </p:spPr>
        <p:txBody>
          <a:bodyPr wrap="square" lIns="0" tIns="0" rIns="0" bIns="0" numCol="1">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Reduction in implementation time for new Microsoft solutions</a:t>
            </a:r>
            <a:r>
              <a:rPr kumimoji="0" lang="en-US" sz="1800" b="0" i="0" u="none" strike="noStrike" kern="1200" cap="none" spc="0" normalizeH="0" baseline="30000" noProof="0">
                <a:ln>
                  <a:noFill/>
                </a:ln>
                <a:solidFill>
                  <a:srgbClr val="000000"/>
                </a:solidFill>
                <a:effectLst/>
                <a:uLnTx/>
                <a:uFillTx/>
                <a:latin typeface="Segoe UI Semibold"/>
                <a:ea typeface="+mn-ea"/>
                <a:cs typeface="Segoe UI" panose="020B0502040204020203" pitchFamily="34" charset="0"/>
              </a:rPr>
              <a:t>1</a:t>
            </a:r>
          </a:p>
        </p:txBody>
      </p:sp>
      <p:grpSp>
        <p:nvGrpSpPr>
          <p:cNvPr id="226" name="Group 225" descr="20%">
            <a:extLst>
              <a:ext uri="{FF2B5EF4-FFF2-40B4-BE49-F238E27FC236}">
                <a16:creationId xmlns:a16="http://schemas.microsoft.com/office/drawing/2014/main" id="{06DC2973-C21D-6A2A-D0B0-800C5D991861}"/>
              </a:ext>
            </a:extLst>
          </p:cNvPr>
          <p:cNvGrpSpPr/>
          <p:nvPr/>
        </p:nvGrpSpPr>
        <p:grpSpPr>
          <a:xfrm>
            <a:off x="9774896" y="2742671"/>
            <a:ext cx="1423242" cy="1423240"/>
            <a:chOff x="4975458" y="2452035"/>
            <a:chExt cx="1408459" cy="1408459"/>
          </a:xfrm>
        </p:grpSpPr>
        <p:sp>
          <p:nvSpPr>
            <p:cNvPr id="227" name="Oval 226">
              <a:extLst>
                <a:ext uri="{FF2B5EF4-FFF2-40B4-BE49-F238E27FC236}">
                  <a16:creationId xmlns:a16="http://schemas.microsoft.com/office/drawing/2014/main" id="{3FB62612-517F-4591-65FA-2926EFCA2054}"/>
                </a:ext>
                <a:ext uri="{C183D7F6-B498-43B3-948B-1728B52AA6E4}">
                  <adec:decorative xmlns:adec="http://schemas.microsoft.com/office/drawing/2017/decorative" val="1"/>
                </a:ext>
              </a:extLst>
            </p:cNvPr>
            <p:cNvSpPr/>
            <p:nvPr/>
          </p:nvSpPr>
          <p:spPr bwMode="auto">
            <a:xfrm>
              <a:off x="4975458" y="2452035"/>
              <a:ext cx="1408459" cy="1408459"/>
            </a:xfrm>
            <a:prstGeom prst="ellipse">
              <a:avLst/>
            </a:prstGeom>
            <a:solidFill>
              <a:schemeClr val="bg1"/>
            </a:solidFill>
            <a:ln w="6350">
              <a:solidFill>
                <a:schemeClr val="accent1">
                  <a:lumMod val="20000"/>
                  <a:lumOff val="80000"/>
                </a:schemeClr>
              </a:solidFill>
              <a:headEnd type="none" w="med" len="med"/>
              <a:tailEnd type="none" w="med" len="med"/>
            </a:ln>
            <a:effectLst>
              <a:outerShdw blurRad="317500" dist="63500" dir="5400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457162"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243A5E"/>
                  </a:solidFill>
                  <a:effectLst/>
                  <a:uLnTx/>
                  <a:uFillTx/>
                  <a:latin typeface="Segoe UI Semibold"/>
                  <a:ea typeface="+mn-ea"/>
                  <a:cs typeface="+mn-cs"/>
                </a:rPr>
                <a:t>20</a:t>
              </a:r>
              <a:r>
                <a:rPr kumimoji="0" lang="en-US" sz="2000" b="0" i="0" u="none" strike="noStrike" kern="1200" cap="none" spc="0" normalizeH="0" baseline="0" noProof="0">
                  <a:ln>
                    <a:noFill/>
                  </a:ln>
                  <a:solidFill>
                    <a:srgbClr val="243A5E"/>
                  </a:solidFill>
                  <a:effectLst/>
                  <a:uLnTx/>
                  <a:uFillTx/>
                  <a:latin typeface="Segoe UI Semibold"/>
                  <a:ea typeface="+mn-ea"/>
                  <a:cs typeface="+mn-cs"/>
                </a:rPr>
                <a:t>%</a:t>
              </a:r>
              <a:endParaRPr kumimoji="0" lang="en-US" sz="3200" b="0" i="0" u="none" strike="noStrike" kern="1200" cap="none" spc="0" normalizeH="0" baseline="0" noProof="0">
                <a:ln>
                  <a:noFill/>
                </a:ln>
                <a:solidFill>
                  <a:srgbClr val="243A5E"/>
                </a:solidFill>
                <a:effectLst/>
                <a:uLnTx/>
                <a:uFillTx/>
                <a:latin typeface="Segoe UI Semibold"/>
                <a:ea typeface="+mn-ea"/>
                <a:cs typeface="+mn-cs"/>
              </a:endParaRPr>
            </a:p>
          </p:txBody>
        </p:sp>
        <p:grpSp>
          <p:nvGrpSpPr>
            <p:cNvPr id="228" name="Group 227" descr="94 percent">
              <a:extLst>
                <a:ext uri="{FF2B5EF4-FFF2-40B4-BE49-F238E27FC236}">
                  <a16:creationId xmlns:a16="http://schemas.microsoft.com/office/drawing/2014/main" id="{1CD9C3B3-2515-583E-3C61-5D8304CFDEF9}"/>
                </a:ext>
              </a:extLst>
            </p:cNvPr>
            <p:cNvGrpSpPr/>
            <p:nvPr/>
          </p:nvGrpSpPr>
          <p:grpSpPr>
            <a:xfrm>
              <a:off x="5116924" y="2593501"/>
              <a:ext cx="1125526" cy="1125526"/>
              <a:chOff x="5051671" y="3538538"/>
              <a:chExt cx="1171048" cy="1171048"/>
            </a:xfrm>
          </p:grpSpPr>
          <p:sp>
            <p:nvSpPr>
              <p:cNvPr id="229" name="Oval 228">
                <a:extLst>
                  <a:ext uri="{FF2B5EF4-FFF2-40B4-BE49-F238E27FC236}">
                    <a16:creationId xmlns:a16="http://schemas.microsoft.com/office/drawing/2014/main" id="{4F0F9E8C-6567-952D-D0A3-57BA3957CD4E}"/>
                  </a:ext>
                </a:extLst>
              </p:cNvPr>
              <p:cNvSpPr/>
              <p:nvPr/>
            </p:nvSpPr>
            <p:spPr bwMode="auto">
              <a:xfrm>
                <a:off x="5051671" y="3538538"/>
                <a:ext cx="1171048" cy="1171048"/>
              </a:xfrm>
              <a:prstGeom prst="ellipse">
                <a:avLst/>
              </a:prstGeom>
              <a:noFill/>
              <a:ln w="152400">
                <a:solidFill>
                  <a:schemeClr val="tx2">
                    <a:lumMod val="40000"/>
                    <a:lumOff val="60000"/>
                    <a:alpha val="3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a:ea typeface="Segoe UI" pitchFamily="34" charset="0"/>
                  <a:cs typeface="Segoe UI" pitchFamily="34" charset="0"/>
                </a:endParaRPr>
              </a:p>
            </p:txBody>
          </p:sp>
          <p:sp>
            <p:nvSpPr>
              <p:cNvPr id="230" name="Oval 76_1">
                <a:extLst>
                  <a:ext uri="{FF2B5EF4-FFF2-40B4-BE49-F238E27FC236}">
                    <a16:creationId xmlns:a16="http://schemas.microsoft.com/office/drawing/2014/main" id="{8AFE77E4-DC26-56BA-F374-1D14B923CDBC}"/>
                  </a:ext>
                </a:extLst>
              </p:cNvPr>
              <p:cNvSpPr/>
              <p:nvPr/>
            </p:nvSpPr>
            <p:spPr bwMode="auto">
              <a:xfrm>
                <a:off x="5051671" y="3538538"/>
                <a:ext cx="1171048" cy="1171048"/>
              </a:xfrm>
              <a:prstGeom prst="arc">
                <a:avLst>
                  <a:gd name="adj1" fmla="val 16200000"/>
                  <a:gd name="adj2" fmla="val 20118653"/>
                </a:avLst>
              </a:prstGeom>
              <a:noFill/>
              <a:ln w="152400" cap="rnd">
                <a:solidFill>
                  <a:schemeClr val="tx2"/>
                </a:solid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78D4"/>
                  </a:solidFill>
                  <a:effectLst/>
                  <a:uLnTx/>
                  <a:uFillTx/>
                  <a:latin typeface="Segoe UI"/>
                  <a:ea typeface="Segoe UI" pitchFamily="34" charset="0"/>
                  <a:cs typeface="Segoe UI" pitchFamily="34" charset="0"/>
                </a:endParaRPr>
              </a:p>
            </p:txBody>
          </p:sp>
        </p:grpSp>
      </p:grpSp>
      <p:sp>
        <p:nvSpPr>
          <p:cNvPr id="233" name="Text Placeholder 5">
            <a:extLst>
              <a:ext uri="{FF2B5EF4-FFF2-40B4-BE49-F238E27FC236}">
                <a16:creationId xmlns:a16="http://schemas.microsoft.com/office/drawing/2014/main" id="{7E40D56B-3540-9F34-4E06-6E40A507979B}"/>
              </a:ext>
            </a:extLst>
          </p:cNvPr>
          <p:cNvSpPr txBox="1">
            <a:spLocks/>
          </p:cNvSpPr>
          <p:nvPr/>
        </p:nvSpPr>
        <p:spPr>
          <a:xfrm>
            <a:off x="9506574" y="4505219"/>
            <a:ext cx="1959886" cy="1107996"/>
          </a:xfrm>
          <a:prstGeom prst="rect">
            <a:avLst/>
          </a:prstGeom>
        </p:spPr>
        <p:txBody>
          <a:bodyPr wrap="square" lIns="0" tIns="0" rIns="0" bIns="0" numCol="1">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Reduction in </a:t>
            </a:r>
            <a:b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b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time to execute cloud workload migration</a:t>
            </a:r>
            <a:r>
              <a:rPr kumimoji="0" lang="en-US" sz="1800" b="0" i="0" u="none" strike="noStrike" kern="1200" cap="none" spc="0" normalizeH="0" baseline="30000" noProof="0">
                <a:ln>
                  <a:noFill/>
                </a:ln>
                <a:solidFill>
                  <a:srgbClr val="000000"/>
                </a:solidFill>
                <a:effectLst/>
                <a:uLnTx/>
                <a:uFillTx/>
                <a:latin typeface="Segoe UI Semibold"/>
                <a:ea typeface="+mn-ea"/>
                <a:cs typeface="Segoe UI" panose="020B0502040204020203" pitchFamily="34" charset="0"/>
              </a:rPr>
              <a:t>1</a:t>
            </a:r>
          </a:p>
        </p:txBody>
      </p:sp>
      <p:sp>
        <p:nvSpPr>
          <p:cNvPr id="235" name="TextBox 234">
            <a:extLst>
              <a:ext uri="{FF2B5EF4-FFF2-40B4-BE49-F238E27FC236}">
                <a16:creationId xmlns:a16="http://schemas.microsoft.com/office/drawing/2014/main" id="{6C96ED7F-5D62-DA6E-A05E-25BBD33CB89D}"/>
              </a:ext>
            </a:extLst>
          </p:cNvPr>
          <p:cNvSpPr txBox="1"/>
          <p:nvPr/>
        </p:nvSpPr>
        <p:spPr>
          <a:xfrm>
            <a:off x="576263" y="6271130"/>
            <a:ext cx="6259727" cy="138499"/>
          </a:xfrm>
          <a:prstGeom prst="rect">
            <a:avLst/>
          </a:prstGeom>
          <a:noFill/>
        </p:spPr>
        <p:txBody>
          <a:bodyPr wrap="none" lIns="0" tIns="0" rIns="0" bIns="0" anchor="b">
            <a:spAutoFit/>
          </a:bodyPr>
          <a:lstStyle/>
          <a:p>
            <a:pPr lvl="0">
              <a:defRPr/>
            </a:pPr>
            <a:r>
              <a:rPr lang="en-US" sz="900" baseline="30000">
                <a:solidFill>
                  <a:srgbClr val="0078D4"/>
                </a:solidFill>
              </a:rPr>
              <a:t>1</a:t>
            </a:r>
            <a:r>
              <a:rPr lang="en-US" sz="900">
                <a:solidFill>
                  <a:srgbClr val="0078D4"/>
                </a:solidFill>
                <a:hlinkClick r:id="rId3">
                  <a:extLst>
                    <a:ext uri="{A12FA001-AC4F-418D-AE19-62706E023703}">
                      <ahyp:hlinkClr xmlns:ahyp="http://schemas.microsoft.com/office/drawing/2018/hyperlinkcolor" val="tx"/>
                    </a:ext>
                  </a:extLst>
                </a:hlinkClick>
              </a:rPr>
              <a:t>The Total Economic </a:t>
            </a:r>
            <a:r>
              <a:rPr lang="en-US" sz="900" err="1">
                <a:solidFill>
                  <a:srgbClr val="0078D4"/>
                </a:solidFill>
                <a:hlinkClick r:id="rId3">
                  <a:extLst>
                    <a:ext uri="{A12FA001-AC4F-418D-AE19-62706E023703}">
                      <ahyp:hlinkClr xmlns:ahyp="http://schemas.microsoft.com/office/drawing/2018/hyperlinkcolor" val="tx"/>
                    </a:ext>
                  </a:extLst>
                </a:hlinkClick>
              </a:rPr>
              <a:t>Impact</a:t>
            </a:r>
            <a:r>
              <a:rPr lang="en-US" sz="900" baseline="30000" err="1">
                <a:solidFill>
                  <a:srgbClr val="0078D4"/>
                </a:solidFill>
                <a:hlinkClick r:id="rId3">
                  <a:extLst>
                    <a:ext uri="{A12FA001-AC4F-418D-AE19-62706E023703}">
                      <ahyp:hlinkClr xmlns:ahyp="http://schemas.microsoft.com/office/drawing/2018/hyperlinkcolor" val="tx"/>
                    </a:ext>
                  </a:extLst>
                </a:hlinkClick>
              </a:rPr>
              <a:t>TM</a:t>
            </a:r>
            <a:r>
              <a:rPr lang="en-US" sz="900">
                <a:solidFill>
                  <a:srgbClr val="0078D4"/>
                </a:solidFill>
                <a:hlinkClick r:id="rId3">
                  <a:extLst>
                    <a:ext uri="{A12FA001-AC4F-418D-AE19-62706E023703}">
                      <ahyp:hlinkClr xmlns:ahyp="http://schemas.microsoft.com/office/drawing/2018/hyperlinkcolor" val="tx"/>
                    </a:ext>
                  </a:extLst>
                </a:hlinkClick>
              </a:rPr>
              <a:t> of Microsoft Unified</a:t>
            </a:r>
            <a:r>
              <a:rPr lang="en-US" sz="900">
                <a:solidFill>
                  <a:srgbClr val="000000"/>
                </a:solidFill>
              </a:rPr>
              <a:t>, </a:t>
            </a:r>
            <a:r>
              <a:rPr kumimoji="0" lang="en-US" sz="900" b="0" i="0" u="none" strike="noStrike" kern="1200" cap="none" spc="0" normalizeH="0" baseline="0" noProof="0">
                <a:ln>
                  <a:noFill/>
                </a:ln>
                <a:solidFill>
                  <a:srgbClr val="000000"/>
                </a:solidFill>
                <a:effectLst/>
                <a:uLnTx/>
                <a:uFillTx/>
                <a:latin typeface="Segoe UI"/>
                <a:ea typeface="+mn-ea"/>
                <a:cs typeface="+mn-cs"/>
              </a:rPr>
              <a:t>March 2025: A commissioned study conducted by Forrester Consulting​</a:t>
            </a:r>
          </a:p>
        </p:txBody>
      </p:sp>
      <p:sp>
        <p:nvSpPr>
          <p:cNvPr id="236" name="Slide Number Placeholder 35">
            <a:extLst>
              <a:ext uri="{FF2B5EF4-FFF2-40B4-BE49-F238E27FC236}">
                <a16:creationId xmlns:a16="http://schemas.microsoft.com/office/drawing/2014/main" id="{F899C7D8-4A4C-25DE-1FBB-59F79D065528}"/>
              </a:ext>
            </a:extLst>
          </p:cNvPr>
          <p:cNvSpPr>
            <a:spLocks noGrp="1"/>
          </p:cNvSpPr>
          <p:nvPr>
            <p:ph type="sldNum" sz="quarter" idx="4"/>
          </p:nvPr>
        </p:nvSpPr>
        <p:spPr>
          <a:xfrm>
            <a:off x="11733275" y="6564314"/>
            <a:ext cx="332233" cy="12311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16D17C3-7140-4F20-8D47-B36B7FB3A655}"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3989943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0EDF-8D1E-6182-DA67-79221B11B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C4399-1EDE-1C08-2D8B-12A339F6A149}"/>
              </a:ext>
            </a:extLst>
          </p:cNvPr>
          <p:cNvSpPr>
            <a:spLocks noGrp="1"/>
          </p:cNvSpPr>
          <p:nvPr>
            <p:ph type="title"/>
          </p:nvPr>
        </p:nvSpPr>
        <p:spPr>
          <a:xfrm>
            <a:off x="575481" y="599436"/>
            <a:ext cx="11018520" cy="67710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GB"/>
              <a:t>Pricing Assumptions</a:t>
            </a:r>
          </a:p>
        </p:txBody>
      </p:sp>
      <p:sp>
        <p:nvSpPr>
          <p:cNvPr id="3" name="TextBox 2">
            <a:extLst>
              <a:ext uri="{FF2B5EF4-FFF2-40B4-BE49-F238E27FC236}">
                <a16:creationId xmlns:a16="http://schemas.microsoft.com/office/drawing/2014/main" id="{239D7C66-D998-7906-6918-AE36D602A958}"/>
              </a:ext>
            </a:extLst>
          </p:cNvPr>
          <p:cNvSpPr txBox="1"/>
          <p:nvPr/>
        </p:nvSpPr>
        <p:spPr>
          <a:xfrm>
            <a:off x="575481" y="1461052"/>
            <a:ext cx="10804823" cy="4093428"/>
          </a:xfrm>
          <a:prstGeom prst="rect">
            <a:avLst/>
          </a:prstGeom>
          <a:noFill/>
        </p:spPr>
        <p:txBody>
          <a:bodyPr wrap="square" lIns="0" tIns="0" rIns="0" bIns="0" rtlCol="0">
            <a:spAutoFit/>
          </a:bodyPr>
          <a:lstStyle/>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Segoe UI"/>
                <a:ea typeface="+mn-ea"/>
                <a:cs typeface="+mn-cs"/>
              </a:rPr>
              <a:t>CONFIDENTIAL – FOR DISCUSSION ONLY</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Segoe UI"/>
                <a:ea typeface="+mn-ea"/>
                <a:cs typeface="+mn-cs"/>
              </a:rPr>
              <a:t>Pricing Valid to 30</a:t>
            </a:r>
            <a:r>
              <a:rPr kumimoji="0" lang="en-GB" sz="1600" b="0" i="0" u="none" strike="noStrike" kern="1200" cap="none" spc="0" normalizeH="0" baseline="30000" noProof="0">
                <a:ln>
                  <a:noFill/>
                </a:ln>
                <a:solidFill>
                  <a:srgbClr val="000000"/>
                </a:solidFill>
                <a:effectLst/>
                <a:uLnTx/>
                <a:uFillTx/>
                <a:latin typeface="Segoe UI"/>
                <a:ea typeface="+mn-ea"/>
                <a:cs typeface="+mn-cs"/>
              </a:rPr>
              <a:t>th</a:t>
            </a:r>
            <a:r>
              <a:rPr kumimoji="0" lang="en-GB" sz="1600" b="0" i="0" u="none" strike="noStrike" kern="1200" cap="none" spc="0" normalizeH="0" baseline="0" noProof="0">
                <a:ln>
                  <a:noFill/>
                </a:ln>
                <a:solidFill>
                  <a:srgbClr val="000000"/>
                </a:solidFill>
                <a:effectLst/>
                <a:uLnTx/>
                <a:uFillTx/>
                <a:latin typeface="Segoe UI"/>
                <a:ea typeface="+mn-ea"/>
                <a:cs typeface="+mn-cs"/>
              </a:rPr>
              <a:t> June 2026</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600">
                <a:solidFill>
                  <a:srgbClr val="000000"/>
                </a:solidFill>
                <a:latin typeface="Segoe UI"/>
              </a:rPr>
              <a:t>Assume Service for Azure Cloud only, aligned to MACC assumptions</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Segoe UI"/>
                <a:ea typeface="+mn-ea"/>
                <a:cs typeface="+mn-cs"/>
              </a:rPr>
              <a:t>Subject to Service Scoping and planning to align to </a:t>
            </a:r>
            <a:r>
              <a:rPr kumimoji="0" lang="en-GB" sz="1600" b="0" i="0" u="none" strike="noStrike" kern="1200" cap="none" spc="0" normalizeH="0" baseline="0" noProof="0" dirty="0">
                <a:ln>
                  <a:noFill/>
                </a:ln>
                <a:solidFill>
                  <a:srgbClr val="000000"/>
                </a:solidFill>
                <a:effectLst/>
                <a:uLnTx/>
                <a:uFillTx/>
                <a:latin typeface="Segoe UI"/>
                <a:ea typeface="+mn-ea"/>
                <a:cs typeface="+mn-cs"/>
              </a:rPr>
              <a:t>dmg media</a:t>
            </a:r>
            <a:r>
              <a:rPr kumimoji="0" lang="en-GB" sz="1600" b="0" i="0" u="none" strike="noStrike" kern="1200" cap="none" spc="0" normalizeH="0" baseline="0" noProof="0">
                <a:ln>
                  <a:noFill/>
                </a:ln>
                <a:solidFill>
                  <a:srgbClr val="000000"/>
                </a:solidFill>
                <a:effectLst/>
                <a:uLnTx/>
                <a:uFillTx/>
                <a:latin typeface="Segoe UI"/>
                <a:ea typeface="+mn-ea"/>
                <a:cs typeface="+mn-cs"/>
              </a:rPr>
              <a:t> priorities</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Segoe UI"/>
                <a:ea typeface="+mn-ea"/>
                <a:cs typeface="+mn-cs"/>
              </a:rPr>
              <a:t>Unified Standard Terms &amp; conditions are non negotiable</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Segoe UI"/>
                <a:ea typeface="+mn-ea"/>
                <a:cs typeface="+mn-cs"/>
              </a:rPr>
              <a:t>30-day payment terms</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This proposal includes information that should not be disclosed to any parties and should not be duplicated, used, or disclosed for any purpose other than internal evaluation.</a:t>
            </a:r>
            <a:endParaRPr kumimoji="0" lang="en-US" sz="16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Segoe UI"/>
                <a:ea typeface="+mn-ea"/>
                <a:cs typeface="+mn-cs"/>
              </a:rPr>
              <a:t>This proposal is subject to the terms of your Microsoft Business and Service Agreement</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Microsoft’s proposal is predicated solely and exclusively upon the agreements and information contained in Microsoft’s proposal response, and no other terms and conditions shall apply.</a:t>
            </a:r>
            <a:endParaRPr kumimoji="0" lang="en-GB" sz="16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00000"/>
              </a:solidFill>
              <a:effectLst/>
              <a:uLnTx/>
              <a:uFillTx/>
              <a:latin typeface="Segoe UI"/>
              <a:ea typeface="+mn-ea"/>
              <a:cs typeface="+mn-cs"/>
            </a:endParaRPr>
          </a:p>
          <a:p>
            <a:pPr marL="342900" marR="0" lvl="0" indent="-3429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06016468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EISMICINSTANCE" val="{&quot;format&quot;:&quot;pptx&quot;,&quot;origin&quot;:{&quot;formId&quot;:&quot;855cff4c-1c50-41af-9240-88851eb24b0b&quot;,&quot;content&quot;:{&quot;id&quot;:&quot;e58a9d7f-089c-4cc5-9002-1ca8f7b843f3&quot;,&quot;name&quot;:&quot;The Microsoft Unified LiveDoc&quot;,&quot;format&quot;:&quot;pptx&quot;,&quot;version&quot;:&quot;30.0&quot;,&quot;versionId&quot;:&quot;e742b74b-8e14-4470-a030-59d3b2eda0b0&quot;},&quot;formName&quot;:&quot;The Microsoft Unified LiveDoc&quot;,&quot;contentId&quot;:&quot;e58a9d7f-089c-4cc5-9002-1ca8f7b843f3&quot;,&quot;profileId&quot;:&quot;710b93e6-9a29-4d96-87e5-da3d62d0c325&quot;,&quot;fullPathId&quot;:&quot;/ddc57a8970-c204-46ba-cd8d-81b96f6f378a/dfYTZjNDRiZDMtMzEwZS1kNWZkLTNjOGEtNjliYWJjMjhmMmUw,PT0=,UHJvZ3JhbSBQaXRjaCBEZWNr/lfe742b74b-8e14-4470-a030-59d3b2eda0b0&quot;,&quot;repository&quot;:&quot;doccenter&quot;,&quot;teamsiteId&quot;:&quot;1&quot;,&quot;fullPathName&quot;:&quot;\\Browse by Content Type\\Program Pitch Deck\\The Microsoft Unified LiveDoc&quot;,&quot;contentVersionId&quot;:&quot;e742b74b-8e14-4470-a030-59d3b2eda0b0&quot;,&quot;profileVersionId&quot;:&quot;c2644760-f6ed-446c-b3c4-1f3cf4ee3b70&quot;},&quot;storages&quot;:[],&quot;generator&quot;:&quot;LiveDoc&quot;,&quot;instanceId&quot;:&quot;23fbfa57-bb81-4cc4-b490-104dc86665e7&quot;,&quot;generationId&quot;:&quot;a9e6bfa8-6b09-41e8-8b12-5a4bebb80894&quot;,&quot;regionalFormat&quot;:{&quot;name&quot;:&quot;en-US&quot;,&quot;displayName&quot;:&quot;English (United States)&quot;},&quot;instanceStageId&quot;:&quot;d84357ba-6392-413a-b631-836751075ecf&quot;,&quot;instanceStageType&quot;:2}"/>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SE_White Template">
  <a:themeElements>
    <a:clrScheme name="Custom 1">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2_White Template">
  <a:themeElements>
    <a:clrScheme name="Custom 3">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3.xml><?xml version="1.0" encoding="utf-8"?>
<a:theme xmlns:a="http://schemas.openxmlformats.org/drawingml/2006/main" name="14_White Template_82fc66af8fe945b9bdb8e26aedb6f845">
  <a:themeElements>
    <a:clrScheme name="Custom 3">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4.xml><?xml version="1.0" encoding="utf-8"?>
<a:theme xmlns:a="http://schemas.openxmlformats.org/drawingml/2006/main" name="2_White Template_1f7f26bd95cb4546b7bf0771d77b1ba7">
  <a:themeElements>
    <a:clrScheme name="Custom 3">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5.xml><?xml version="1.0" encoding="utf-8"?>
<a:theme xmlns:a="http://schemas.openxmlformats.org/drawingml/2006/main" name="White Template_c8bbc20ad8c64475b687c169ec62f3e1">
  <a:themeElements>
    <a:clrScheme name="Unified">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Unified">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6.xml><?xml version="1.0" encoding="utf-8"?>
<a:theme xmlns:a="http://schemas.openxmlformats.org/drawingml/2006/main" name="USE_White Template_598c555cf0e74821ad63661c8dbe0eda">
  <a:themeElements>
    <a:clrScheme name="Custom 1">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7.xml><?xml version="1.0" encoding="utf-8"?>
<a:theme xmlns:a="http://schemas.openxmlformats.org/drawingml/2006/main" name="White Template_4e1a5f85e68342bab16d6ed38697dacd">
  <a:themeElements>
    <a:clrScheme name="Unified">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Unified">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8.xml><?xml version="1.0" encoding="utf-8"?>
<a:theme xmlns:a="http://schemas.openxmlformats.org/drawingml/2006/main" name="2_White Template_14447e568d7645b4b585e88553a78ed9">
  <a:themeElements>
    <a:clrScheme name="Custom 3">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9.xml><?xml version="1.0" encoding="utf-8"?>
<a:theme xmlns:a="http://schemas.openxmlformats.org/drawingml/2006/main" name="White Template_1b6e9a8cea794290bd58eb7947a46630">
  <a:themeElements>
    <a:clrScheme name="Custom 3">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85000"/>
            </a:schemeClr>
          </a:solidFill>
          <a:prstDash val="dash"/>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10.xml><?xml version="1.0" encoding="utf-8"?>
<a:theme xmlns:a="http://schemas.openxmlformats.org/drawingml/2006/main" name="White Template_b43ed172759343cd8836b92659390ba6">
  <a:themeElements>
    <a:clrScheme name="Custom 3">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11.xml><?xml version="1.0" encoding="utf-8"?>
<a:theme xmlns:a="http://schemas.openxmlformats.org/drawingml/2006/main" name="5_White Template_8c3c66bd7ae6409d9e07eb735a5d707f">
  <a:themeElements>
    <a:clrScheme name="Unified">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Unified">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12.xml><?xml version="1.0" encoding="utf-8"?>
<a:theme xmlns:a="http://schemas.openxmlformats.org/drawingml/2006/main" name="1_USE_White Template">
  <a:themeElements>
    <a:clrScheme name="Custom 1">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4" ma:contentTypeDescription="Create a new document." ma:contentTypeScope="" ma:versionID="40948e22bc3c5fc56b3589e180180867">
  <xsd:schema xmlns:xsd="http://www.w3.org/2001/XMLSchema" xmlns:xs="http://www.w3.org/2001/XMLSchema" xmlns:p="http://schemas.microsoft.com/office/2006/metadata/properties" xmlns:ns2="236d467e-fe90-4ae0-9fe2-011d77897820" xmlns:ns3="4544b03d-ed08-46e1-a5f8-632fc735be33" targetNamespace="http://schemas.microsoft.com/office/2006/metadata/properties" ma:root="true" ma:fieldsID="d8ffb09f5a9b81b82a3526b32c263078" ns2:_="" ns3:_="">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36d467e-fe90-4ae0-9fe2-011d77897820">
      <Terms xmlns="http://schemas.microsoft.com/office/infopath/2007/PartnerControls"/>
    </lcf76f155ced4ddcb4097134ff3c332f>
    <TaxCatchAll xmlns="4544b03d-ed08-46e1-a5f8-632fc735be33" xsi:nil="true"/>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documentManagement>
</p:properties>
</file>

<file path=customXml/itemProps1.xml><?xml version="1.0" encoding="utf-8"?>
<ds:datastoreItem xmlns:ds="http://schemas.openxmlformats.org/officeDocument/2006/customXml" ds:itemID="{0AB90066-94DF-48A3-A159-8439955D6D70}"/>
</file>

<file path=customXml/itemProps2.xml><?xml version="1.0" encoding="utf-8"?>
<ds:datastoreItem xmlns:ds="http://schemas.openxmlformats.org/officeDocument/2006/customXml" ds:itemID="{015F9C66-CB63-4713-953F-E0B1130A786E}"/>
</file>

<file path=customXml/itemProps3.xml><?xml version="1.0" encoding="utf-8"?>
<ds:datastoreItem xmlns:ds="http://schemas.openxmlformats.org/officeDocument/2006/customXml" ds:itemID="{61E0A3B7-7AB9-4510-847B-33552AC3C5B9}"/>
</file>

<file path=docMetadata/LabelInfo.xml><?xml version="1.0" encoding="utf-8"?>
<clbl:labelList xmlns:clbl="http://schemas.microsoft.com/office/2020/mipLabelMetadata">
  <clbl:label id="{87867195-f2b8-4ac2-b0b6-6bb73cb33afc}" enabled="1" method="Privileged" siteId="{72f988bf-86f1-41af-91ab-2d7cd011db47}" removed="0"/>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otalTime>0</TotalTime>
  <Words>3801</Words>
  <Application>Microsoft Office PowerPoint</Application>
  <PresentationFormat>Widescreen</PresentationFormat>
  <Paragraphs>373</Paragraphs>
  <Slides>17</Slides>
  <Notes>16</Notes>
  <HiddenSlides>0</HiddenSlides>
  <MMClips>0</MMClips>
  <ScaleCrop>false</ScaleCrop>
  <HeadingPairs>
    <vt:vector size="8" baseType="variant">
      <vt:variant>
        <vt:lpstr>Fonts Used</vt:lpstr>
      </vt:variant>
      <vt:variant>
        <vt:i4>8</vt:i4>
      </vt:variant>
      <vt:variant>
        <vt:lpstr>Theme</vt:lpstr>
      </vt:variant>
      <vt:variant>
        <vt:i4>12</vt:i4>
      </vt:variant>
      <vt:variant>
        <vt:lpstr>Embedded OLE Servers</vt:lpstr>
      </vt:variant>
      <vt:variant>
        <vt:i4>1</vt:i4>
      </vt:variant>
      <vt:variant>
        <vt:lpstr>Slide Titles</vt:lpstr>
      </vt:variant>
      <vt:variant>
        <vt:i4>17</vt:i4>
      </vt:variant>
    </vt:vector>
  </HeadingPairs>
  <TitlesOfParts>
    <vt:vector size="38" baseType="lpstr">
      <vt:lpstr>Segoe UI Semilight</vt:lpstr>
      <vt:lpstr>Calibri</vt:lpstr>
      <vt:lpstr>Aptos</vt:lpstr>
      <vt:lpstr>Segoe UI</vt:lpstr>
      <vt:lpstr>Segoe UI Semibold</vt:lpstr>
      <vt:lpstr>Aptos Narrow</vt:lpstr>
      <vt:lpstr>Arial</vt:lpstr>
      <vt:lpstr>Wingdings</vt:lpstr>
      <vt:lpstr>USE_White Template</vt:lpstr>
      <vt:lpstr>2_White Template</vt:lpstr>
      <vt:lpstr>14_White Template_82fc66af8fe945b9bdb8e26aedb6f845</vt:lpstr>
      <vt:lpstr>2_White Template_1f7f26bd95cb4546b7bf0771d77b1ba7</vt:lpstr>
      <vt:lpstr>White Template_c8bbc20ad8c64475b687c169ec62f3e1</vt:lpstr>
      <vt:lpstr>USE_White Template_598c555cf0e74821ad63661c8dbe0eda</vt:lpstr>
      <vt:lpstr>White Template_4e1a5f85e68342bab16d6ed38697dacd</vt:lpstr>
      <vt:lpstr>2_White Template_14447e568d7645b4b585e88553a78ed9</vt:lpstr>
      <vt:lpstr>White Template_1b6e9a8cea794290bd58eb7947a46630</vt:lpstr>
      <vt:lpstr>White Template_b43ed172759343cd8836b92659390ba6</vt:lpstr>
      <vt:lpstr>5_White Template_8c3c66bd7ae6409d9e07eb735a5d707f</vt:lpstr>
      <vt:lpstr>1_USE_White Template</vt:lpstr>
      <vt:lpstr>think-cell Slide</vt:lpstr>
      <vt:lpstr>Confidentiality Notice</vt:lpstr>
      <vt:lpstr>Driving success for  dmg media with Microsoft Unified – Azure Bridge</vt:lpstr>
      <vt:lpstr>A partnership for your transformation journey</vt:lpstr>
      <vt:lpstr>Your journey—with the full power of Microsoft beside you</vt:lpstr>
      <vt:lpstr>A connected, flexible experience</vt:lpstr>
      <vt:lpstr>Coverage to match your needs</vt:lpstr>
      <vt:lpstr>Graduated pricing rates for Azure</vt:lpstr>
      <vt:lpstr>Specialized services tailored to your outcomes</vt:lpstr>
      <vt:lpstr>Why Microsoft Unified for dmg media</vt:lpstr>
      <vt:lpstr>PowerPoint Presentation</vt:lpstr>
      <vt:lpstr>Mission Critical Services for Azure Platform  </vt:lpstr>
      <vt:lpstr>Streamline your Microsoft investment with Microsoft Unified Multi-Year </vt:lpstr>
      <vt:lpstr>Streamline your Microsoft investment with Microsoft Unified for MACC</vt:lpstr>
      <vt:lpstr>Benefit from a model that adapts to your needs</vt:lpstr>
      <vt:lpstr>Summary of your Unified investment</vt:lpstr>
      <vt:lpstr>The value realized by our customers  </vt:lpstr>
      <vt:lpstr>Pricing 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Unified | Inform Presentation</dc:title>
  <dc:creator>Alex Mueller</dc:creator>
  <cp:lastModifiedBy>Bernice Soutter</cp:lastModifiedBy>
  <cp:revision>1</cp:revision>
  <dcterms:created xsi:type="dcterms:W3CDTF">2024-06-11T03:38:05Z</dcterms:created>
  <dcterms:modified xsi:type="dcterms:W3CDTF">2026-04-09T08:00:04Z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b562966-c66d-4b83-aa77-49bdfed04c11_Enabled">
    <vt:lpwstr>true</vt:lpwstr>
  </property>
  <property fmtid="{D5CDD505-2E9C-101B-9397-08002B2CF9AE}" pid="3" name="MSIP_Label_cb562966-c66d-4b83-aa77-49bdfed04c11_SetDate">
    <vt:lpwstr>2024-06-11T03:49:18Z</vt:lpwstr>
  </property>
  <property fmtid="{D5CDD505-2E9C-101B-9397-08002B2CF9AE}" pid="4" name="MSIP_Label_cb562966-c66d-4b83-aa77-49bdfed04c11_Method">
    <vt:lpwstr>Standard</vt:lpwstr>
  </property>
  <property fmtid="{D5CDD505-2E9C-101B-9397-08002B2CF9AE}" pid="5" name="MSIP_Label_cb562966-c66d-4b83-aa77-49bdfed04c11_Name">
    <vt:lpwstr>Non-Confidential</vt:lpwstr>
  </property>
  <property fmtid="{D5CDD505-2E9C-101B-9397-08002B2CF9AE}" pid="6" name="MSIP_Label_cb562966-c66d-4b83-aa77-49bdfed04c11_SiteId">
    <vt:lpwstr>a57507b2-d296-4dca-a9ae-67b1484e02a9</vt:lpwstr>
  </property>
  <property fmtid="{D5CDD505-2E9C-101B-9397-08002B2CF9AE}" pid="7" name="MSIP_Label_cb562966-c66d-4b83-aa77-49bdfed04c11_ActionId">
    <vt:lpwstr>125eee6d-c6ef-449a-8d9e-3320a3ce321e</vt:lpwstr>
  </property>
  <property fmtid="{D5CDD505-2E9C-101B-9397-08002B2CF9AE}" pid="8" name="MSIP_Label_cb562966-c66d-4b83-aa77-49bdfed04c11_ContentBits">
    <vt:lpwstr>0</vt:lpwstr>
  </property>
  <property fmtid="{D5CDD505-2E9C-101B-9397-08002B2CF9AE}" pid="9" name="ContentTypeId">
    <vt:lpwstr>0x010100B104D1C152C32946844AA72ED5B510AE</vt:lpwstr>
  </property>
  <property fmtid="{D5CDD505-2E9C-101B-9397-08002B2CF9AE}" pid="10" name="MediaServiceImageTags">
    <vt:lpwstr/>
  </property>
</Properties>
</file>